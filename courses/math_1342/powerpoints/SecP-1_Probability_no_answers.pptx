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326" r:id="rId2"/>
    <p:sldId id="293" r:id="rId3"/>
    <p:sldId id="259" r:id="rId4"/>
    <p:sldId id="294" r:id="rId5"/>
    <p:sldId id="261" r:id="rId6"/>
    <p:sldId id="263" r:id="rId7"/>
    <p:sldId id="297" r:id="rId8"/>
    <p:sldId id="269" r:id="rId9"/>
    <p:sldId id="299" r:id="rId10"/>
    <p:sldId id="323" r:id="rId11"/>
    <p:sldId id="327" r:id="rId12"/>
    <p:sldId id="328" r:id="rId13"/>
    <p:sldId id="329" r:id="rId14"/>
    <p:sldId id="330" r:id="rId15"/>
    <p:sldId id="331" r:id="rId16"/>
    <p:sldId id="300" r:id="rId17"/>
    <p:sldId id="301" r:id="rId18"/>
    <p:sldId id="271" r:id="rId19"/>
    <p:sldId id="303" r:id="rId20"/>
    <p:sldId id="302" r:id="rId21"/>
    <p:sldId id="272" r:id="rId22"/>
    <p:sldId id="295" r:id="rId23"/>
    <p:sldId id="273" r:id="rId24"/>
    <p:sldId id="304" r:id="rId25"/>
    <p:sldId id="305" r:id="rId26"/>
    <p:sldId id="315" r:id="rId27"/>
    <p:sldId id="277" r:id="rId28"/>
    <p:sldId id="316" r:id="rId29"/>
    <p:sldId id="276" r:id="rId30"/>
    <p:sldId id="278" r:id="rId31"/>
    <p:sldId id="279" r:id="rId32"/>
    <p:sldId id="280" r:id="rId33"/>
    <p:sldId id="306" r:id="rId34"/>
    <p:sldId id="307" r:id="rId35"/>
    <p:sldId id="308" r:id="rId36"/>
    <p:sldId id="286" r:id="rId37"/>
    <p:sldId id="321" r:id="rId38"/>
    <p:sldId id="319" r:id="rId39"/>
    <p:sldId id="318" r:id="rId40"/>
    <p:sldId id="314" r:id="rId41"/>
    <p:sldId id="288" r:id="rId42"/>
    <p:sldId id="282" r:id="rId43"/>
  </p:sldIdLst>
  <p:sldSz cx="9144000" cy="6858000" type="screen4x3"/>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E44222"/>
    <a:srgbClr val="ED9583"/>
    <a:srgbClr val="84E0E2"/>
    <a:srgbClr val="E1E89E"/>
    <a:srgbClr val="CC3300"/>
    <a:srgbClr val="7B234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845"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195108224"/>
        <c:axId val="195118208"/>
        <c:axId val="64161536"/>
      </c:bar3DChart>
      <c:catAx>
        <c:axId val="195108224"/>
        <c:scaling>
          <c:orientation val="minMax"/>
        </c:scaling>
        <c:delete val="0"/>
        <c:axPos val="b"/>
        <c:majorTickMark val="out"/>
        <c:minorTickMark val="none"/>
        <c:tickLblPos val="nextTo"/>
        <c:crossAx val="195118208"/>
        <c:crosses val="autoZero"/>
        <c:auto val="1"/>
        <c:lblAlgn val="ctr"/>
        <c:lblOffset val="100"/>
        <c:noMultiLvlLbl val="0"/>
      </c:catAx>
      <c:valAx>
        <c:axId val="195118208"/>
        <c:scaling>
          <c:orientation val="minMax"/>
        </c:scaling>
        <c:delete val="0"/>
        <c:axPos val="l"/>
        <c:majorGridlines/>
        <c:numFmt formatCode="General" sourceLinked="1"/>
        <c:majorTickMark val="out"/>
        <c:minorTickMark val="none"/>
        <c:tickLblPos val="nextTo"/>
        <c:crossAx val="195108224"/>
        <c:crosses val="autoZero"/>
        <c:crossBetween val="between"/>
      </c:valAx>
      <c:serAx>
        <c:axId val="64161536"/>
        <c:scaling>
          <c:orientation val="minMax"/>
        </c:scaling>
        <c:delete val="0"/>
        <c:axPos val="b"/>
        <c:majorTickMark val="out"/>
        <c:minorTickMark val="none"/>
        <c:tickLblPos val="nextTo"/>
        <c:crossAx val="195118208"/>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4"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5.wmf"/><Relationship Id="rId5" Type="http://schemas.openxmlformats.org/officeDocument/2006/relationships/image" Target="../media/image49.wmf"/><Relationship Id="rId4" Type="http://schemas.openxmlformats.org/officeDocument/2006/relationships/image" Target="../media/image4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8C6D4-0494-4FEB-B60F-3E5A4F5D0291}" type="datetimeFigureOut">
              <a:rPr lang="en-US" smtClean="0"/>
              <a:t>6/30/2017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B48697-57AA-4C2B-A409-CD16EAA397E2}" type="slidenum">
              <a:rPr lang="en-US" smtClean="0"/>
              <a:t>‹#›</a:t>
            </a:fld>
            <a:endParaRPr lang="en-US"/>
          </a:p>
        </p:txBody>
      </p:sp>
    </p:spTree>
    <p:extLst>
      <p:ext uri="{BB962C8B-B14F-4D97-AF65-F5344CB8AC3E}">
        <p14:creationId xmlns:p14="http://schemas.microsoft.com/office/powerpoint/2010/main" val="371017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1150938" y="692150"/>
            <a:ext cx="4556125" cy="3416300"/>
          </a:xfrm>
          <a:ln/>
        </p:spPr>
      </p:sp>
      <p:sp>
        <p:nvSpPr>
          <p:cNvPr id="2867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B48697-57AA-4C2B-A409-CD16EAA397E2}" type="slidenum">
              <a:rPr lang="en-US" smtClean="0"/>
              <a:t>11</a:t>
            </a:fld>
            <a:endParaRPr lang="en-US"/>
          </a:p>
        </p:txBody>
      </p:sp>
    </p:spTree>
    <p:extLst>
      <p:ext uri="{BB962C8B-B14F-4D97-AF65-F5344CB8AC3E}">
        <p14:creationId xmlns:p14="http://schemas.microsoft.com/office/powerpoint/2010/main" val="3430252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6/30/2017</a:t>
            </a:fld>
            <a:endParaRPr lang="en-US" sz="2000" dirty="0">
              <a:solidFill>
                <a:srgbClr val="FFFFFF"/>
              </a:solidFill>
            </a:endParaRPr>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
        <p:nvSpPr>
          <p:cNvPr id="14" name="Footer Placeholder 13"/>
          <p:cNvSpPr>
            <a:spLocks noGrp="1"/>
          </p:cNvSpPr>
          <p:nvPr>
            <p:ph type="ftr" sz="quarter" idx="12"/>
          </p:nvPr>
        </p:nvSpPr>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pPr eaLnBrk="1" latinLnBrk="0" hangingPunct="1"/>
            <a:fld id="{23A271A1-F6D6-438B-A432-4747EE7ECD40}" type="datetimeFigureOut">
              <a:rPr lang="en-US" smtClean="0"/>
              <a:pPr eaLnBrk="1" latinLnBrk="0" hangingPunct="1"/>
              <a:t>6/30/2017</a:t>
            </a:fld>
            <a:endParaRPr lang="en-US"/>
          </a:p>
        </p:txBody>
      </p:sp>
      <p:sp>
        <p:nvSpPr>
          <p:cNvPr id="10" name="Slide Number Placeholder 9"/>
          <p:cNvSpPr>
            <a:spLocks noGrp="1"/>
          </p:cNvSpPr>
          <p:nvPr>
            <p:ph type="sldNum" sz="quarter" idx="16"/>
          </p:nvPr>
        </p:nvSpPr>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2" name="Footer Placeholder 11"/>
          <p:cNvSpPr>
            <a:spLocks noGrp="1"/>
          </p:cNvSpPr>
          <p:nvPr>
            <p:ph type="ftr" sz="quarter" idx="17"/>
          </p:nvPr>
        </p:nvSpPr>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pPr eaLnBrk="1" latinLnBrk="0" hangingPunct="1"/>
            <a:fld id="{23A271A1-F6D6-438B-A432-4747EE7ECD40}" type="datetimeFigureOut">
              <a:rPr lang="en-US" smtClean="0"/>
              <a:pPr eaLnBrk="1" latinLnBrk="0" hangingPunct="1"/>
              <a:t>6/30/2017</a:t>
            </a:fld>
            <a:endParaRPr lang="en-US"/>
          </a:p>
        </p:txBody>
      </p:sp>
      <p:sp>
        <p:nvSpPr>
          <p:cNvPr id="12" name="Slide Number Placeholder 11"/>
          <p:cNvSpPr>
            <a:spLocks noGrp="1"/>
          </p:cNvSpPr>
          <p:nvPr>
            <p:ph type="sldNum" sz="quarter" idx="16"/>
          </p:nvPr>
        </p:nvSpPr>
        <p:spPr/>
        <p:txBody>
          <a:bodyPr rtlCol="0"/>
          <a:lstStyle/>
          <a:p>
            <a:pPr algn="ctr" eaLnBrk="1" latinLnBrk="0" hangingPunct="1"/>
            <a:fld id="{F0C94032-CD4C-4C25-B0C2-CEC720522D92}" type="slidenum">
              <a:rPr kumimoji="0" lang="en-US" smtClean="0"/>
              <a:pPr algn="ctr" eaLnBrk="1" latinLnBrk="0" hangingPunct="1"/>
              <a:t>‹#›</a:t>
            </a:fld>
            <a:endParaRPr kumimoji="0" lang="en-US"/>
          </a:p>
        </p:txBody>
      </p:sp>
      <p:sp>
        <p:nvSpPr>
          <p:cNvPr id="14" name="Footer Placeholder 13"/>
          <p:cNvSpPr>
            <a:spLocks noGrp="1"/>
          </p:cNvSpPr>
          <p:nvPr>
            <p:ph type="ftr" sz="quarter" idx="17"/>
          </p:nvPr>
        </p:nvSpPr>
        <p:spPr/>
        <p:txBody>
          <a:bodyPr rtlCol="0"/>
          <a:lstStyle/>
          <a:p>
            <a:endParaRPr kumimoji="0"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F0C94032-CD4C-4C25-B0C2-CEC720522D92}" type="slidenum">
              <a:rPr kumimoji="0" lang="en-US" smtClean="0"/>
              <a:pPr eaLnBrk="1" latinLnBrk="0" hangingPunct="1"/>
              <a:t>‹#›</a:t>
            </a:fld>
            <a:endParaRPr kumimoji="0"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F0C94032-CD4C-4C25-B0C2-CEC720522D92}" type="slidenum">
              <a:rPr kumimoji="0" lang="en-US" smtClean="0"/>
              <a:pPr eaLnBrk="1" latinLnBrk="0" hangingPunct="1"/>
              <a:t>‹#›</a:t>
            </a:fld>
            <a:endParaRPr kumimoji="0" lang="en-US" dirty="0">
              <a:solidFill>
                <a:srgbClr val="FFFFFF"/>
              </a:solidFill>
            </a:endParaRP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pPr eaLnBrk="1" latinLnBrk="0" hangingPunct="1"/>
            <a:fld id="{23A271A1-F6D6-438B-A432-4747EE7ECD40}" type="datetimeFigureOut">
              <a:rPr lang="en-US" smtClean="0"/>
              <a:pPr eaLnBrk="1" latinLnBrk="0" hangingPunct="1"/>
              <a:t>6/30/2017</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pPr algn="ctr" eaLnBrk="1" latinLnBrk="0" hangingPunct="1"/>
            <a:fld id="{F0C94032-CD4C-4C25-B0C2-CEC720522D92}" type="slidenum">
              <a:rPr kumimoji="0" lang="en-US" smtClean="0"/>
              <a:pPr algn="ctr" eaLnBrk="1" latinLnBrk="0" hangingPunct="1"/>
              <a:t>‹#›</a:t>
            </a:fld>
            <a:endParaRPr kumimoji="0" lang="en-US" sz="2800" dirty="0"/>
          </a:p>
        </p:txBody>
      </p:sp>
      <p:sp>
        <p:nvSpPr>
          <p:cNvPr id="14" name="Footer Placeholder 13"/>
          <p:cNvSpPr>
            <a:spLocks noGrp="1"/>
          </p:cNvSpPr>
          <p:nvPr>
            <p:ph type="ftr" sz="quarter" idx="12"/>
          </p:nvPr>
        </p:nvSpPr>
        <p:spPr>
          <a:xfrm>
            <a:off x="1600200" y="6248206"/>
            <a:ext cx="4572000" cy="365125"/>
          </a:xfrm>
        </p:spPr>
        <p:txBody>
          <a:bodyPr rtlCol="0"/>
          <a:lstStyle/>
          <a:p>
            <a:endParaRPr kumimoji="0"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F0C94032-CD4C-4C25-B0C2-CEC720522D92}"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pPr eaLnBrk="1" latinLnBrk="0" hangingPunct="1"/>
            <a:fld id="{23A271A1-F6D6-438B-A432-4747EE7ECD40}" type="datetimeFigureOut">
              <a:rPr lang="en-US" smtClean="0"/>
              <a:pPr eaLnBrk="1" latinLnBrk="0" hangingPunct="1"/>
              <a:t>6/30/2017</a:t>
            </a:fld>
            <a:endParaRPr lang="en-US" dirty="0"/>
          </a:p>
        </p:txBody>
      </p:sp>
      <p:sp>
        <p:nvSpPr>
          <p:cNvPr id="5" name="Footer Placeholder 4"/>
          <p:cNvSpPr>
            <a:spLocks noGrp="1"/>
          </p:cNvSpPr>
          <p:nvPr>
            <p:ph type="ftr" sz="quarter" idx="11"/>
          </p:nvPr>
        </p:nvSpPr>
        <p:spPr>
          <a:xfrm>
            <a:off x="457201" y="6248207"/>
            <a:ext cx="5573483" cy="365125"/>
          </a:xfrm>
        </p:spPr>
        <p:txBody>
          <a:bodyPr/>
          <a:lstStyle/>
          <a:p>
            <a:endParaRPr kumimoji="0" lang="en-US" dirty="0"/>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F0C94032-CD4C-4C25-B0C2-CEC720522D92}" type="slidenum">
              <a:rPr kumimoji="0" lang="en-US" smtClean="0"/>
              <a:pPr eaLnBrk="1" latinLnBrk="0" hangingPunct="1"/>
              <a:t>‹#›</a:t>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eaLnBrk="1" latinLnBrk="0" hangingPunct="1"/>
            <a:fld id="{23A271A1-F6D6-438B-A432-4747EE7ECD40}" type="datetimeFigureOut">
              <a:rPr lang="en-US" smtClean="0"/>
              <a:pPr eaLnBrk="1" latinLnBrk="0" hangingPunct="1"/>
              <a:t>6/30/2017</a:t>
            </a:fld>
            <a:endParaRPr lang="en-US" sz="1400" dirty="0">
              <a:solidFill>
                <a:schemeClr val="tx2"/>
              </a:solidFill>
            </a:endParaRPr>
          </a:p>
        </p:txBody>
      </p:sp>
      <p:sp>
        <p:nvSpPr>
          <p:cNvPr id="4" name="Footer Placeholder 3"/>
          <p:cNvSpPr>
            <a:spLocks noGrp="1"/>
          </p:cNvSpPr>
          <p:nvPr>
            <p:ph type="ftr" sz="quarter" idx="11"/>
          </p:nvPr>
        </p:nvSpPr>
        <p:spPr/>
        <p:txBody>
          <a:bodyPr/>
          <a:lstStyle/>
          <a:p>
            <a:pPr algn="r" eaLnBrk="1" latinLnBrk="0" hangingPunct="1"/>
            <a:endParaRPr kumimoji="0" lang="en-US" sz="1400" dirty="0">
              <a:solidFill>
                <a:schemeClr val="tx2"/>
              </a:solidFill>
            </a:endParaRPr>
          </a:p>
        </p:txBody>
      </p:sp>
      <p:sp>
        <p:nvSpPr>
          <p:cNvPr id="5" name="Slide Number Placeholder 4"/>
          <p:cNvSpPr>
            <a:spLocks noGrp="1"/>
          </p:cNvSpPr>
          <p:nvPr>
            <p:ph type="sldNum" sz="quarter" idx="12"/>
          </p:nvPr>
        </p:nvSpPr>
        <p:spPr/>
        <p:txBody>
          <a:bodyPr/>
          <a:lstStyle/>
          <a:p>
            <a:pPr algn="ctr" eaLnBrk="1" latinLnBrk="0" hangingPunct="1"/>
            <a:fld id="{F0C94032-CD4C-4C25-B0C2-CEC720522D92}" type="slidenum">
              <a:rPr kumimoji="0" lang="en-US" smtClean="0"/>
              <a:pPr algn="ctr" eaLnBrk="1" latinLnBrk="0" hangingPunct="1"/>
              <a:t>‹#›</a:t>
            </a:fld>
            <a:endParaRPr kumimoji="0" lang="en-US" sz="1400" b="1" dirty="0">
              <a:solidFill>
                <a:srgbClr val="FFFFFF"/>
              </a:solidFill>
            </a:endParaRPr>
          </a:p>
        </p:txBody>
      </p:sp>
      <p:graphicFrame>
        <p:nvGraphicFramePr>
          <p:cNvPr id="6" name="TPChart" hidden="1"/>
          <p:cNvGraphicFramePr/>
          <p:nvPr userDrawn="1">
            <p:extLst>
              <p:ext uri="{D42A27DB-BD31-4B8C-83A1-F6EECF244321}">
                <p14:modId xmlns:p14="http://schemas.microsoft.com/office/powerpoint/2010/main" val="3351760197"/>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562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eaLnBrk="1" latinLnBrk="0" hangingPunct="1"/>
            <a:fld id="{23A271A1-F6D6-438B-A432-4747EE7ECD40}" type="datetimeFigureOut">
              <a:rPr lang="en-US" smtClean="0"/>
              <a:pPr eaLnBrk="1" latinLnBrk="0" hangingPunct="1"/>
              <a:t>6/30/2017</a:t>
            </a:fld>
            <a:endParaRPr lang="en-US" sz="1400" dirty="0">
              <a:solidFill>
                <a:schemeClr val="tx2"/>
              </a:solidFill>
            </a:endParaRPr>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pPr algn="ctr" eaLnBrk="1" latinLnBrk="0" hangingPunct="1"/>
            <a:fld id="{F0C94032-CD4C-4C25-B0C2-CEC720522D92}" type="slidenum">
              <a:rPr kumimoji="0" lang="en-US" smtClean="0"/>
              <a:pPr algn="ctr" eaLnBrk="1" latinLnBrk="0" hangingPunct="1"/>
              <a:t>‹#›</a:t>
            </a:fld>
            <a:endParaRPr kumimoji="0"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hyperlink" Target="http://www.rockhall.com/inductees/" TargetMode="Externa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slideLayout" Target="../slideLayouts/slideLayout6.xml"/><Relationship Id="rId7" Type="http://schemas.openxmlformats.org/officeDocument/2006/relationships/oleObject" Target="../embeddings/oleObject2.bin"/><Relationship Id="rId2" Type="http://schemas.openxmlformats.org/officeDocument/2006/relationships/tags" Target="../tags/tag11.xml"/><Relationship Id="rId1" Type="http://schemas.openxmlformats.org/officeDocument/2006/relationships/vmlDrawing" Target="../drawings/vmlDrawing2.v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6.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4.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7.wmf"/><Relationship Id="rId2" Type="http://schemas.openxmlformats.org/officeDocument/2006/relationships/tags" Target="../tags/tag23.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16.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vmlDrawing" Target="../drawings/vmlDrawing4.vml"/><Relationship Id="rId6" Type="http://schemas.openxmlformats.org/officeDocument/2006/relationships/image" Target="../media/image18.wmf"/><Relationship Id="rId5" Type="http://schemas.openxmlformats.org/officeDocument/2006/relationships/oleObject" Target="../embeddings/oleObject5.bin"/><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slideLayout" Target="../slideLayouts/slideLayout2.xml"/><Relationship Id="rId7" Type="http://schemas.openxmlformats.org/officeDocument/2006/relationships/image" Target="../media/image22.wmf"/><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21.wmf"/><Relationship Id="rId4" Type="http://schemas.openxmlformats.org/officeDocument/2006/relationships/oleObject" Target="../embeddings/oleObject7.bin"/><Relationship Id="rId9"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slideLayout" Target="../slideLayouts/slideLayout7.xml"/><Relationship Id="rId7" Type="http://schemas.openxmlformats.org/officeDocument/2006/relationships/image" Target="../media/image25.wmf"/><Relationship Id="rId2" Type="http://schemas.openxmlformats.org/officeDocument/2006/relationships/tags" Target="../tags/tag36.xml"/><Relationship Id="rId1" Type="http://schemas.openxmlformats.org/officeDocument/2006/relationships/vmlDrawing" Target="../drawings/vmlDrawing7.vml"/><Relationship Id="rId6" Type="http://schemas.openxmlformats.org/officeDocument/2006/relationships/oleObject" Target="../embeddings/oleObject11.bin"/><Relationship Id="rId5" Type="http://schemas.openxmlformats.org/officeDocument/2006/relationships/image" Target="../media/image24.wmf"/><Relationship Id="rId4" Type="http://schemas.openxmlformats.org/officeDocument/2006/relationships/oleObject" Target="../embeddings/oleObject10.bin"/><Relationship Id="rId9" Type="http://schemas.openxmlformats.org/officeDocument/2006/relationships/image" Target="../media/image26.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slideLayout" Target="../slideLayouts/slideLayout7.xml"/><Relationship Id="rId7" Type="http://schemas.openxmlformats.org/officeDocument/2006/relationships/image" Target="../media/image28.wmf"/><Relationship Id="rId2" Type="http://schemas.openxmlformats.org/officeDocument/2006/relationships/tags" Target="../tags/tag37.xml"/><Relationship Id="rId1" Type="http://schemas.openxmlformats.org/officeDocument/2006/relationships/vmlDrawing" Target="../drawings/vmlDrawing8.vml"/><Relationship Id="rId6" Type="http://schemas.openxmlformats.org/officeDocument/2006/relationships/oleObject" Target="../embeddings/oleObject14.bin"/><Relationship Id="rId5" Type="http://schemas.openxmlformats.org/officeDocument/2006/relationships/image" Target="../media/image27.wmf"/><Relationship Id="rId4" Type="http://schemas.openxmlformats.org/officeDocument/2006/relationships/oleObject" Target="../embeddings/oleObject13.bin"/><Relationship Id="rId9" Type="http://schemas.openxmlformats.org/officeDocument/2006/relationships/image" Target="../media/image29.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0.wmf"/><Relationship Id="rId5" Type="http://schemas.openxmlformats.org/officeDocument/2006/relationships/oleObject" Target="../embeddings/oleObject17.bin"/><Relationship Id="rId4" Type="http://schemas.openxmlformats.org/officeDocument/2006/relationships/image" Target="../media/image24.wmf"/></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8.xml"/><Relationship Id="rId1" Type="http://schemas.openxmlformats.org/officeDocument/2006/relationships/vmlDrawing" Target="../drawings/vmlDrawing10.vml"/><Relationship Id="rId5" Type="http://schemas.openxmlformats.org/officeDocument/2006/relationships/image" Target="../media/image31.wmf"/><Relationship Id="rId4" Type="http://schemas.openxmlformats.org/officeDocument/2006/relationships/oleObject" Target="../embeddings/oleObject18.bin"/></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xml"/><Relationship Id="rId1" Type="http://schemas.openxmlformats.org/officeDocument/2006/relationships/tags" Target="../tags/tag3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slideLayout" Target="../slideLayouts/slideLayout6.xml"/><Relationship Id="rId7" Type="http://schemas.openxmlformats.org/officeDocument/2006/relationships/image" Target="../media/image33.wmf"/><Relationship Id="rId2" Type="http://schemas.openxmlformats.org/officeDocument/2006/relationships/tags" Target="../tags/tag42.xml"/><Relationship Id="rId1" Type="http://schemas.openxmlformats.org/officeDocument/2006/relationships/vmlDrawing" Target="../drawings/vmlDrawing11.vml"/><Relationship Id="rId6" Type="http://schemas.openxmlformats.org/officeDocument/2006/relationships/oleObject" Target="../embeddings/oleObject20.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34.wmf"/></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vmlDrawing" Target="../drawings/vmlDrawing12.vml"/><Relationship Id="rId5" Type="http://schemas.openxmlformats.org/officeDocument/2006/relationships/image" Target="../media/image36.wmf"/><Relationship Id="rId4" Type="http://schemas.openxmlformats.org/officeDocument/2006/relationships/oleObject" Target="../embeddings/oleObject23.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8.wmf"/><Relationship Id="rId2" Type="http://schemas.openxmlformats.org/officeDocument/2006/relationships/tags" Target="../tags/tag44.xml"/><Relationship Id="rId1" Type="http://schemas.openxmlformats.org/officeDocument/2006/relationships/vmlDrawing" Target="../drawings/vmlDrawing13.vml"/><Relationship Id="rId6" Type="http://schemas.openxmlformats.org/officeDocument/2006/relationships/oleObject" Target="../embeddings/oleObject25.bin"/><Relationship Id="rId5" Type="http://schemas.openxmlformats.org/officeDocument/2006/relationships/image" Target="../media/image37.wmf"/><Relationship Id="rId4" Type="http://schemas.openxmlformats.org/officeDocument/2006/relationships/oleObject" Target="../embeddings/oleObject24.bin"/></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vmlDrawing" Target="../drawings/vmlDrawing14.vml"/><Relationship Id="rId5" Type="http://schemas.openxmlformats.org/officeDocument/2006/relationships/image" Target="../media/image39.wmf"/><Relationship Id="rId4" Type="http://schemas.openxmlformats.org/officeDocument/2006/relationships/oleObject" Target="../embeddings/oleObject26.bin"/></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8.xml"/><Relationship Id="rId1" Type="http://schemas.openxmlformats.org/officeDocument/2006/relationships/vmlDrawing" Target="../drawings/vmlDrawing15.vml"/><Relationship Id="rId6" Type="http://schemas.openxmlformats.org/officeDocument/2006/relationships/image" Target="../media/image40.png"/><Relationship Id="rId5" Type="http://schemas.openxmlformats.org/officeDocument/2006/relationships/image" Target="../media/image41.wmf"/><Relationship Id="rId4" Type="http://schemas.openxmlformats.org/officeDocument/2006/relationships/oleObject" Target="../embeddings/oleObject27.bin"/></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2.wmf"/><Relationship Id="rId2" Type="http://schemas.openxmlformats.org/officeDocument/2006/relationships/tags" Target="../tags/tag49.xml"/><Relationship Id="rId1" Type="http://schemas.openxmlformats.org/officeDocument/2006/relationships/vmlDrawing" Target="../drawings/vmlDrawing16.vml"/><Relationship Id="rId6" Type="http://schemas.openxmlformats.org/officeDocument/2006/relationships/oleObject" Target="../embeddings/oleObject29.bin"/><Relationship Id="rId5" Type="http://schemas.openxmlformats.org/officeDocument/2006/relationships/image" Target="../media/image36.wmf"/><Relationship Id="rId4" Type="http://schemas.openxmlformats.org/officeDocument/2006/relationships/oleObject" Target="../embeddings/oleObject28.bin"/></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1.xml"/><Relationship Id="rId1" Type="http://schemas.openxmlformats.org/officeDocument/2006/relationships/tags" Target="../tags/tag50.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slideLayout" Target="../slideLayouts/slideLayout6.xml"/><Relationship Id="rId7" Type="http://schemas.openxmlformats.org/officeDocument/2006/relationships/image" Target="../media/image44.wmf"/><Relationship Id="rId2" Type="http://schemas.openxmlformats.org/officeDocument/2006/relationships/tags" Target="../tags/tag52.xml"/><Relationship Id="rId1" Type="http://schemas.openxmlformats.org/officeDocument/2006/relationships/vmlDrawing" Target="../drawings/vmlDrawing17.vml"/><Relationship Id="rId6" Type="http://schemas.openxmlformats.org/officeDocument/2006/relationships/oleObject" Target="../embeddings/oleObject31.bin"/><Relationship Id="rId5" Type="http://schemas.openxmlformats.org/officeDocument/2006/relationships/image" Target="../media/image43.wmf"/><Relationship Id="rId4" Type="http://schemas.openxmlformats.org/officeDocument/2006/relationships/oleObject" Target="../embeddings/oleObject30.bin"/><Relationship Id="rId9" Type="http://schemas.openxmlformats.org/officeDocument/2006/relationships/image" Target="../media/image45.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9.wmf"/><Relationship Id="rId3" Type="http://schemas.openxmlformats.org/officeDocument/2006/relationships/slideLayout" Target="../slideLayouts/slideLayout6.xml"/><Relationship Id="rId7" Type="http://schemas.openxmlformats.org/officeDocument/2006/relationships/image" Target="../media/image46.wmf"/><Relationship Id="rId12" Type="http://schemas.openxmlformats.org/officeDocument/2006/relationships/oleObject" Target="../embeddings/oleObject37.bin"/><Relationship Id="rId2" Type="http://schemas.openxmlformats.org/officeDocument/2006/relationships/tags" Target="../tags/tag53.xml"/><Relationship Id="rId1" Type="http://schemas.openxmlformats.org/officeDocument/2006/relationships/vmlDrawing" Target="../drawings/vmlDrawing18.vml"/><Relationship Id="rId6" Type="http://schemas.openxmlformats.org/officeDocument/2006/relationships/oleObject" Target="../embeddings/oleObject34.bin"/><Relationship Id="rId11" Type="http://schemas.openxmlformats.org/officeDocument/2006/relationships/image" Target="../media/image48.wmf"/><Relationship Id="rId5" Type="http://schemas.openxmlformats.org/officeDocument/2006/relationships/image" Target="../media/image5.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a:bodyPr>
          <a:lstStyle/>
          <a:p>
            <a:pPr>
              <a:spcBef>
                <a:spcPct val="20000"/>
              </a:spcBef>
              <a:defRPr/>
            </a:pPr>
            <a:r>
              <a:rPr lang="en-US" sz="3200" dirty="0">
                <a:solidFill>
                  <a:srgbClr val="EBDDC3"/>
                </a:solidFill>
              </a:rPr>
              <a:t>Section </a:t>
            </a:r>
            <a:r>
              <a:rPr lang="en-US" sz="3200" dirty="0" smtClean="0">
                <a:solidFill>
                  <a:srgbClr val="EBDDC3"/>
                </a:solidFill>
              </a:rPr>
              <a:t>P.1:</a:t>
            </a:r>
            <a:endParaRPr lang="en-US" sz="3200" dirty="0">
              <a:solidFill>
                <a:srgbClr val="EBDDC3"/>
              </a:solidFill>
            </a:endParaRPr>
          </a:p>
          <a:p>
            <a:pPr>
              <a:spcBef>
                <a:spcPct val="20000"/>
              </a:spcBef>
              <a:defRPr/>
            </a:pPr>
            <a:r>
              <a:rPr lang="en-US" sz="4000" b="1" dirty="0" smtClean="0">
                <a:solidFill>
                  <a:srgbClr val="EBDDC3"/>
                </a:solidFill>
              </a:rPr>
              <a:t>Probability Rules</a:t>
            </a:r>
            <a:endParaRPr lang="en-US" sz="40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42828409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374650" y="100013"/>
            <a:ext cx="8074025" cy="160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90000"/>
              </a:lnSpc>
            </a:pPr>
            <a:endParaRPr lang="en-US" sz="6000" b="1">
              <a:solidFill>
                <a:srgbClr val="00279F"/>
              </a:solidFill>
            </a:endParaRPr>
          </a:p>
          <a:p>
            <a:pPr eaLnBrk="0" hangingPunct="0">
              <a:lnSpc>
                <a:spcPct val="90000"/>
              </a:lnSpc>
              <a:spcBef>
                <a:spcPct val="14000"/>
              </a:spcBef>
            </a:pPr>
            <a:r>
              <a:rPr lang="en-US" sz="4400">
                <a:solidFill>
                  <a:schemeClr val="hlink"/>
                </a:solidFill>
              </a:rPr>
              <a:t>     </a:t>
            </a:r>
            <a:endParaRPr lang="en-US" sz="4800" b="1">
              <a:solidFill>
                <a:schemeClr val="hlink"/>
              </a:solidFill>
            </a:endParaRPr>
          </a:p>
        </p:txBody>
      </p:sp>
      <p:sp>
        <p:nvSpPr>
          <p:cNvPr id="7171" name="Rectangle 5"/>
          <p:cNvSpPr>
            <a:spLocks noGrp="1" noChangeArrowheads="1"/>
          </p:cNvSpPr>
          <p:nvPr>
            <p:ph type="title"/>
          </p:nvPr>
        </p:nvSpPr>
        <p:spPr>
          <a:xfrm>
            <a:off x="0" y="0"/>
            <a:ext cx="8991600" cy="863600"/>
          </a:xfrm>
          <a:noFill/>
        </p:spPr>
        <p:txBody>
          <a:bodyPr lIns="90488" tIns="44450" rIns="90488" bIns="44450" anchor="ctr">
            <a:normAutofit/>
          </a:bodyPr>
          <a:lstStyle/>
          <a:p>
            <a:pPr algn="ctr" eaLnBrk="1" hangingPunct="1"/>
            <a:r>
              <a:rPr lang="en-US" b="1" dirty="0">
                <a:solidFill>
                  <a:schemeClr val="accent6">
                    <a:lumMod val="75000"/>
                  </a:schemeClr>
                </a:solidFill>
                <a:latin typeface="+mn-lt"/>
                <a:ea typeface="+mn-ea"/>
                <a:cs typeface="Times New Roman" pitchFamily="18" charset="0"/>
              </a:rPr>
              <a:t>Events</a:t>
            </a:r>
          </a:p>
        </p:txBody>
      </p:sp>
      <p:sp>
        <p:nvSpPr>
          <p:cNvPr id="7172" name="Text Box 7"/>
          <p:cNvSpPr txBox="1">
            <a:spLocks noChangeArrowheads="1"/>
          </p:cNvSpPr>
          <p:nvPr/>
        </p:nvSpPr>
        <p:spPr bwMode="auto">
          <a:xfrm>
            <a:off x="9378" y="1463818"/>
            <a:ext cx="9144000" cy="490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342900" indent="-342900">
              <a:lnSpc>
                <a:spcPct val="90000"/>
              </a:lnSpc>
              <a:spcBef>
                <a:spcPct val="50000"/>
              </a:spcBef>
              <a:buClr>
                <a:schemeClr val="accent2"/>
              </a:buClr>
              <a:buFont typeface="Wingdings" pitchFamily="2" charset="2"/>
              <a:buChar char="§"/>
            </a:pPr>
            <a:r>
              <a:rPr lang="en-US" sz="3400" dirty="0"/>
              <a:t> </a:t>
            </a:r>
            <a:r>
              <a:rPr lang="en-US" sz="3400" dirty="0">
                <a:solidFill>
                  <a:prstClr val="black"/>
                </a:solidFill>
                <a:latin typeface="+mn-lt"/>
                <a:cs typeface="Times New Roman" pitchFamily="18" charset="0"/>
              </a:rPr>
              <a:t>An</a:t>
            </a:r>
            <a:r>
              <a:rPr lang="en-US" sz="3400" dirty="0"/>
              <a:t> </a:t>
            </a:r>
            <a:r>
              <a:rPr lang="en-US" sz="3400" b="1" dirty="0">
                <a:solidFill>
                  <a:schemeClr val="accent5">
                    <a:lumMod val="50000"/>
                  </a:schemeClr>
                </a:solidFill>
                <a:latin typeface="+mn-lt"/>
                <a:cs typeface="Times New Roman" pitchFamily="18" charset="0"/>
              </a:rPr>
              <a:t>event</a:t>
            </a:r>
            <a:r>
              <a:rPr lang="en-US" sz="3400" b="1" dirty="0" smtClean="0">
                <a:solidFill>
                  <a:schemeClr val="accent5">
                    <a:lumMod val="50000"/>
                  </a:schemeClr>
                </a:solidFill>
              </a:rPr>
              <a:t> </a:t>
            </a:r>
            <a:r>
              <a:rPr lang="en-US" sz="3400" dirty="0">
                <a:solidFill>
                  <a:prstClr val="black"/>
                </a:solidFill>
                <a:latin typeface="+mn-lt"/>
                <a:cs typeface="Times New Roman" pitchFamily="18" charset="0"/>
              </a:rPr>
              <a:t>is any collection of results or outcomes of a procedure or an experiment</a:t>
            </a:r>
          </a:p>
          <a:p>
            <a:pPr>
              <a:lnSpc>
                <a:spcPct val="90000"/>
              </a:lnSpc>
              <a:spcBef>
                <a:spcPct val="50000"/>
              </a:spcBef>
              <a:buClr>
                <a:schemeClr val="accent2"/>
              </a:buClr>
            </a:pPr>
            <a:r>
              <a:rPr lang="en-US" sz="3400" dirty="0">
                <a:solidFill>
                  <a:prstClr val="black"/>
                </a:solidFill>
                <a:latin typeface="+mn-lt"/>
                <a:cs typeface="Times New Roman" pitchFamily="18" charset="0"/>
              </a:rPr>
              <a:t>Examples of events: </a:t>
            </a:r>
          </a:p>
          <a:p>
            <a:pPr marL="514350" indent="-514350">
              <a:lnSpc>
                <a:spcPct val="90000"/>
              </a:lnSpc>
              <a:spcBef>
                <a:spcPct val="50000"/>
              </a:spcBef>
              <a:buClr>
                <a:schemeClr val="accent2"/>
              </a:buClr>
              <a:buFont typeface="+mj-lt"/>
              <a:buAutoNum type="arabicPeriod"/>
            </a:pPr>
            <a:r>
              <a:rPr lang="en-US" sz="3400" dirty="0">
                <a:solidFill>
                  <a:prstClr val="black"/>
                </a:solidFill>
                <a:latin typeface="+mn-lt"/>
                <a:cs typeface="Times New Roman" pitchFamily="18" charset="0"/>
              </a:rPr>
              <a:t>Drawing a spade from a shuffled deck of cards </a:t>
            </a:r>
          </a:p>
          <a:p>
            <a:pPr marL="514350" indent="-514350">
              <a:lnSpc>
                <a:spcPct val="90000"/>
              </a:lnSpc>
              <a:spcBef>
                <a:spcPct val="50000"/>
              </a:spcBef>
              <a:buClr>
                <a:schemeClr val="accent2"/>
              </a:buClr>
              <a:buFont typeface="+mj-lt"/>
              <a:buAutoNum type="arabicPeriod"/>
            </a:pPr>
            <a:r>
              <a:rPr lang="en-US" sz="3400" dirty="0">
                <a:solidFill>
                  <a:prstClr val="black"/>
                </a:solidFill>
                <a:latin typeface="+mn-lt"/>
                <a:cs typeface="Times New Roman" pitchFamily="18" charset="0"/>
              </a:rPr>
              <a:t>Randomly selecting a woman who works in the medical field</a:t>
            </a:r>
          </a:p>
          <a:p>
            <a:pPr marL="514350" indent="-514350">
              <a:lnSpc>
                <a:spcPct val="90000"/>
              </a:lnSpc>
              <a:spcBef>
                <a:spcPct val="50000"/>
              </a:spcBef>
              <a:buClr>
                <a:schemeClr val="accent2"/>
              </a:buClr>
              <a:buFont typeface="+mj-lt"/>
              <a:buAutoNum type="arabicPeriod"/>
            </a:pPr>
            <a:r>
              <a:rPr lang="en-US" sz="3400" dirty="0">
                <a:solidFill>
                  <a:prstClr val="black"/>
                </a:solidFill>
                <a:latin typeface="+mn-lt"/>
                <a:cs typeface="Times New Roman" pitchFamily="18" charset="0"/>
              </a:rPr>
              <a:t>Randomly selecting an American who is color blind</a:t>
            </a:r>
          </a:p>
        </p:txBody>
      </p:sp>
    </p:spTree>
    <p:custDataLst>
      <p:tags r:id="rId1"/>
    </p:custDataLst>
    <p:extLst>
      <p:ext uri="{BB962C8B-B14F-4D97-AF65-F5344CB8AC3E}">
        <p14:creationId xmlns:p14="http://schemas.microsoft.com/office/powerpoint/2010/main" val="14693770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762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Probability</a:t>
            </a:r>
            <a:endParaRPr lang="en-US" sz="4000" b="1" dirty="0">
              <a:solidFill>
                <a:schemeClr val="accent6">
                  <a:lumMod val="75000"/>
                </a:schemeClr>
              </a:solidFill>
            </a:endParaRPr>
          </a:p>
        </p:txBody>
      </p:sp>
      <p:sp>
        <p:nvSpPr>
          <p:cNvPr id="4" name="TextBox 3"/>
          <p:cNvSpPr txBox="1"/>
          <p:nvPr/>
        </p:nvSpPr>
        <p:spPr>
          <a:xfrm>
            <a:off x="-18758" y="1524000"/>
            <a:ext cx="9162757" cy="4231928"/>
          </a:xfrm>
          <a:prstGeom prst="rect">
            <a:avLst/>
          </a:prstGeom>
          <a:noFill/>
        </p:spPr>
        <p:txBody>
          <a:bodyPr wrap="square" rtlCol="0">
            <a:spAutoFit/>
          </a:bodyPr>
          <a:lstStyle/>
          <a:p>
            <a:pPr>
              <a:spcAft>
                <a:spcPts val="1800"/>
              </a:spcAft>
              <a:buFont typeface="Arial" pitchFamily="34" charset="0"/>
              <a:buChar char="•"/>
            </a:pPr>
            <a:r>
              <a:rPr lang="en-US" sz="3200" dirty="0" smtClean="0">
                <a:solidFill>
                  <a:prstClr val="black"/>
                </a:solidFill>
                <a:cs typeface="Times New Roman" pitchFamily="18" charset="0"/>
              </a:rPr>
              <a:t> The </a:t>
            </a:r>
            <a:r>
              <a:rPr lang="en-US" sz="3200" b="1" i="1" dirty="0" smtClean="0">
                <a:solidFill>
                  <a:schemeClr val="accent5">
                    <a:lumMod val="50000"/>
                  </a:schemeClr>
                </a:solidFill>
                <a:cs typeface="Times New Roman" pitchFamily="18" charset="0"/>
              </a:rPr>
              <a:t>probability </a:t>
            </a:r>
            <a:r>
              <a:rPr lang="en-US" sz="3200" dirty="0" smtClean="0">
                <a:solidFill>
                  <a:prstClr val="black"/>
                </a:solidFill>
                <a:cs typeface="Times New Roman" pitchFamily="18" charset="0"/>
              </a:rPr>
              <a:t>of event A, denoted </a:t>
            </a:r>
            <a:r>
              <a:rPr lang="en-US" sz="3200" b="1" i="1" dirty="0" smtClean="0">
                <a:solidFill>
                  <a:schemeClr val="accent5">
                    <a:lumMod val="50000"/>
                  </a:schemeClr>
                </a:solidFill>
                <a:cs typeface="Times New Roman" pitchFamily="18" charset="0"/>
              </a:rPr>
              <a:t>P(A)</a:t>
            </a:r>
            <a:r>
              <a:rPr lang="en-US" sz="3200" dirty="0" smtClean="0">
                <a:solidFill>
                  <a:prstClr val="black"/>
                </a:solidFill>
                <a:cs typeface="Times New Roman" pitchFamily="18" charset="0"/>
              </a:rPr>
              <a:t>, is the long run frequency or proportion of times the event occurs</a:t>
            </a:r>
          </a:p>
          <a:p>
            <a:pPr>
              <a:spcAft>
                <a:spcPts val="1800"/>
              </a:spcAft>
              <a:buFont typeface="Arial" pitchFamily="34" charset="0"/>
              <a:buChar char="•"/>
            </a:pPr>
            <a:r>
              <a:rPr lang="en-US" sz="3200" dirty="0" smtClean="0">
                <a:solidFill>
                  <a:prstClr val="black"/>
                </a:solidFill>
                <a:cs typeface="Times New Roman" pitchFamily="18" charset="0"/>
              </a:rPr>
              <a:t> A probability is always </a:t>
            </a:r>
            <a:r>
              <a:rPr lang="en-US" sz="3200" b="1" dirty="0" smtClean="0">
                <a:solidFill>
                  <a:schemeClr val="accent5">
                    <a:lumMod val="50000"/>
                  </a:schemeClr>
                </a:solidFill>
                <a:cs typeface="Times New Roman" pitchFamily="18" charset="0"/>
              </a:rPr>
              <a:t>between 0 and 1</a:t>
            </a:r>
            <a:r>
              <a:rPr lang="en-US" sz="3200" dirty="0" smtClean="0">
                <a:solidFill>
                  <a:prstClr val="black"/>
                </a:solidFill>
                <a:cs typeface="Times New Roman" pitchFamily="18" charset="0"/>
              </a:rPr>
              <a:t>, when expressed as a decimal and, equivalently, between </a:t>
            </a:r>
            <a:r>
              <a:rPr lang="en-US" sz="3200" b="1" dirty="0" smtClean="0">
                <a:solidFill>
                  <a:schemeClr val="accent5">
                    <a:lumMod val="50000"/>
                  </a:schemeClr>
                </a:solidFill>
                <a:cs typeface="Times New Roman" pitchFamily="18" charset="0"/>
              </a:rPr>
              <a:t>0% and 100% </a:t>
            </a:r>
            <a:r>
              <a:rPr lang="en-US" sz="3200" dirty="0" smtClean="0">
                <a:solidFill>
                  <a:prstClr val="black"/>
                </a:solidFill>
                <a:cs typeface="Times New Roman" pitchFamily="18" charset="0"/>
              </a:rPr>
              <a:t>when expressed as a percentage.</a:t>
            </a:r>
          </a:p>
          <a:p>
            <a:pPr>
              <a:spcAft>
                <a:spcPts val="1800"/>
              </a:spcAft>
              <a:buFont typeface="Arial" pitchFamily="34" charset="0"/>
              <a:buChar char="•"/>
            </a:pPr>
            <a:r>
              <a:rPr lang="en-US" sz="3200" dirty="0" smtClean="0">
                <a:solidFill>
                  <a:prstClr val="black"/>
                </a:solidFill>
                <a:cs typeface="Times New Roman" pitchFamily="18" charset="0"/>
              </a:rPr>
              <a:t>P(A) = 1 means A will definitely happen</a:t>
            </a:r>
          </a:p>
          <a:p>
            <a:pPr>
              <a:spcAft>
                <a:spcPts val="1800"/>
              </a:spcAft>
              <a:buFont typeface="Arial" pitchFamily="34" charset="0"/>
              <a:buChar char="•"/>
            </a:pPr>
            <a:r>
              <a:rPr lang="en-US" sz="3200" dirty="0" smtClean="0">
                <a:solidFill>
                  <a:prstClr val="black"/>
                </a:solidFill>
                <a:cs typeface="Times New Roman" pitchFamily="18" charset="0"/>
              </a:rPr>
              <a:t> P(A) = 0 means A will definitely not happen</a:t>
            </a:r>
          </a:p>
        </p:txBody>
      </p:sp>
    </p:spTree>
    <p:custDataLst>
      <p:tags r:id="rId1"/>
    </p:custDataLst>
    <p:extLst>
      <p:ext uri="{BB962C8B-B14F-4D97-AF65-F5344CB8AC3E}">
        <p14:creationId xmlns:p14="http://schemas.microsoft.com/office/powerpoint/2010/main" val="1409893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accent6">
                    <a:lumMod val="75000"/>
                  </a:schemeClr>
                </a:solidFill>
              </a:rPr>
              <a:t>Equally Likely Outcomes</a:t>
            </a:r>
            <a:endParaRPr lang="en-US" dirty="0"/>
          </a:p>
        </p:txBody>
      </p:sp>
      <p:sp>
        <p:nvSpPr>
          <p:cNvPr id="3" name="Content Placeholder 2"/>
          <p:cNvSpPr>
            <a:spLocks noGrp="1"/>
          </p:cNvSpPr>
          <p:nvPr>
            <p:ph sz="quarter" idx="1"/>
          </p:nvPr>
        </p:nvSpPr>
        <p:spPr>
          <a:xfrm>
            <a:off x="0" y="1524000"/>
            <a:ext cx="9144000" cy="5334000"/>
          </a:xfrm>
        </p:spPr>
        <p:txBody>
          <a:bodyPr>
            <a:normAutofit/>
          </a:bodyPr>
          <a:lstStyle/>
          <a:p>
            <a:r>
              <a:rPr lang="en-US" sz="3200" dirty="0" smtClean="0"/>
              <a:t>When outcomes are </a:t>
            </a:r>
            <a:r>
              <a:rPr lang="en-US" sz="3200" b="1" dirty="0" smtClean="0">
                <a:solidFill>
                  <a:srgbClr val="CC3300"/>
                </a:solidFill>
              </a:rPr>
              <a:t>equally likely</a:t>
            </a:r>
            <a:r>
              <a:rPr lang="en-US" sz="3200" dirty="0" smtClean="0"/>
              <a:t>,</a:t>
            </a:r>
          </a:p>
          <a:p>
            <a:pPr marL="0" indent="0">
              <a:buNone/>
            </a:pPr>
            <a:endParaRPr lang="en-US" sz="3200" dirty="0"/>
          </a:p>
          <a:p>
            <a:pPr marL="0" indent="0">
              <a:buNone/>
            </a:pPr>
            <a:endParaRPr lang="en-US" sz="3200" dirty="0" smtClean="0"/>
          </a:p>
          <a:p>
            <a:pPr marL="0" indent="0">
              <a:buNone/>
            </a:pPr>
            <a:endParaRPr lang="en-US" sz="3200" dirty="0"/>
          </a:p>
          <a:p>
            <a:pPr marL="0" indent="0">
              <a:buNone/>
            </a:pPr>
            <a:endParaRPr lang="en-US" sz="3200" dirty="0" smtClean="0"/>
          </a:p>
          <a:p>
            <a:pPr marL="0" indent="0">
              <a:buNone/>
            </a:pPr>
            <a:r>
              <a:rPr lang="en-US" sz="3200" dirty="0" smtClean="0"/>
              <a:t>Examples:</a:t>
            </a:r>
          </a:p>
          <a:p>
            <a:pPr marL="514350" indent="-514350">
              <a:buFont typeface="+mj-lt"/>
              <a:buAutoNum type="arabicParenR"/>
            </a:pPr>
            <a:r>
              <a:rPr lang="en-US" sz="3200" dirty="0" smtClean="0"/>
              <a:t>P(</a:t>
            </a:r>
            <a:r>
              <a:rPr lang="en-US" sz="3200" i="1" dirty="0" smtClean="0"/>
              <a:t>rolling a fair die and getting a five</a:t>
            </a:r>
            <a:r>
              <a:rPr lang="en-US" sz="3200" dirty="0" smtClean="0"/>
              <a:t>) =</a:t>
            </a:r>
            <a:r>
              <a:rPr lang="en-US" sz="3200" b="1" dirty="0" smtClean="0">
                <a:solidFill>
                  <a:schemeClr val="accent5">
                    <a:lumMod val="50000"/>
                  </a:schemeClr>
                </a:solidFill>
              </a:rPr>
              <a:t>1/6</a:t>
            </a:r>
            <a:r>
              <a:rPr lang="en-US" sz="3200" dirty="0" smtClean="0"/>
              <a:t> ≈ </a:t>
            </a:r>
            <a:r>
              <a:rPr lang="en-US" sz="3200" b="1" dirty="0" smtClean="0">
                <a:solidFill>
                  <a:schemeClr val="accent5">
                    <a:lumMod val="50000"/>
                  </a:schemeClr>
                </a:solidFill>
              </a:rPr>
              <a:t>0.167</a:t>
            </a:r>
          </a:p>
          <a:p>
            <a:pPr marL="514350" indent="-514350">
              <a:buFont typeface="+mj-lt"/>
              <a:buAutoNum type="arabicParenR"/>
            </a:pPr>
            <a:r>
              <a:rPr lang="en-US" sz="3200" i="1" dirty="0" smtClean="0"/>
              <a:t>P(rolling a fair die and getting an even #</a:t>
            </a:r>
            <a:r>
              <a:rPr lang="en-US" sz="3200" dirty="0" smtClean="0"/>
              <a:t>)</a:t>
            </a:r>
          </a:p>
          <a:p>
            <a:pPr marL="0" indent="0">
              <a:buNone/>
            </a:pPr>
            <a:r>
              <a:rPr lang="en-US" sz="3200" dirty="0"/>
              <a:t>	</a:t>
            </a:r>
            <a:r>
              <a:rPr lang="en-US" sz="3200" dirty="0" smtClean="0"/>
              <a:t>= P(</a:t>
            </a:r>
            <a:r>
              <a:rPr lang="en-US" sz="3200" i="1" dirty="0" smtClean="0"/>
              <a:t>rolling a 2, 4, or 6</a:t>
            </a:r>
            <a:r>
              <a:rPr lang="en-US" sz="3200" dirty="0" smtClean="0"/>
              <a:t>) = </a:t>
            </a:r>
            <a:r>
              <a:rPr lang="en-US" sz="3200" b="1" dirty="0" smtClean="0">
                <a:solidFill>
                  <a:schemeClr val="accent5">
                    <a:lumMod val="50000"/>
                  </a:schemeClr>
                </a:solidFill>
              </a:rPr>
              <a:t>3/6</a:t>
            </a:r>
            <a:r>
              <a:rPr lang="en-US" sz="3200" dirty="0" smtClean="0"/>
              <a:t> = </a:t>
            </a:r>
            <a:r>
              <a:rPr lang="en-US" sz="3200" b="1" dirty="0" smtClean="0">
                <a:solidFill>
                  <a:schemeClr val="accent5">
                    <a:lumMod val="50000"/>
                  </a:schemeClr>
                </a:solidFill>
              </a:rPr>
              <a:t>0.5</a:t>
            </a:r>
            <a:endParaRPr lang="en-US" sz="3200" b="1" dirty="0">
              <a:solidFill>
                <a:schemeClr val="accent5">
                  <a:lumMod val="50000"/>
                </a:schemeClr>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558389232"/>
              </p:ext>
            </p:extLst>
          </p:nvPr>
        </p:nvGraphicFramePr>
        <p:xfrm>
          <a:off x="152400" y="2362200"/>
          <a:ext cx="8769096" cy="1600200"/>
        </p:xfrm>
        <a:graphic>
          <a:graphicData uri="http://schemas.openxmlformats.org/presentationml/2006/ole">
            <mc:AlternateContent xmlns:mc="http://schemas.openxmlformats.org/markup-compatibility/2006">
              <mc:Choice xmlns:v="urn:schemas-microsoft-com:vml" Requires="v">
                <p:oleObj spid="_x0000_s10286" name="Equation" r:id="rId4" imgW="3479760" imgH="634680" progId="Equation.DSMT4">
                  <p:embed/>
                </p:oleObj>
              </mc:Choice>
              <mc:Fallback>
                <p:oleObj name="Equation" r:id="rId4" imgW="3479760" imgH="634680" progId="Equation.DSMT4">
                  <p:embed/>
                  <p:pic>
                    <p:nvPicPr>
                      <p:cNvPr id="0" name=""/>
                      <p:cNvPicPr/>
                      <p:nvPr/>
                    </p:nvPicPr>
                    <p:blipFill>
                      <a:blip r:embed="rId5"/>
                      <a:stretch>
                        <a:fillRect/>
                      </a:stretch>
                    </p:blipFill>
                    <p:spPr>
                      <a:xfrm>
                        <a:off x="152400" y="2362200"/>
                        <a:ext cx="8769096" cy="1600200"/>
                      </a:xfrm>
                      <a:prstGeom prst="rect">
                        <a:avLst/>
                      </a:prstGeom>
                      <a:ln cmpd="dbl">
                        <a:solidFill>
                          <a:schemeClr val="accent1">
                            <a:lumMod val="50000"/>
                          </a:schemeClr>
                        </a:solidFill>
                      </a:ln>
                    </p:spPr>
                  </p:pic>
                </p:oleObj>
              </mc:Fallback>
            </mc:AlternateContent>
          </a:graphicData>
        </a:graphic>
      </p:graphicFrame>
    </p:spTree>
    <p:custDataLst>
      <p:tags r:id="rId2"/>
    </p:custDataLst>
    <p:extLst>
      <p:ext uri="{BB962C8B-B14F-4D97-AF65-F5344CB8AC3E}">
        <p14:creationId xmlns:p14="http://schemas.microsoft.com/office/powerpoint/2010/main" val="3049228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7034" y="0"/>
            <a:ext cx="9136966" cy="1219200"/>
          </a:xfrm>
          <a:prstGeom prst="rect">
            <a:avLst/>
          </a:prstGeom>
        </p:spPr>
        <p:txBody>
          <a:bodyPr/>
          <a:lstStyle/>
          <a:p>
            <a:pPr lvl="0" algn="ctr">
              <a:spcBef>
                <a:spcPct val="0"/>
              </a:spcBef>
              <a:defRPr/>
            </a:pPr>
            <a:r>
              <a:rPr lang="en-US" sz="4400" b="1" dirty="0" smtClean="0">
                <a:solidFill>
                  <a:schemeClr val="accent6">
                    <a:lumMod val="75000"/>
                  </a:schemeClr>
                </a:solidFill>
              </a:rPr>
              <a:t>Rock and Roll Hall of Fame</a:t>
            </a:r>
            <a:endParaRPr lang="en-US" sz="4000" b="1" dirty="0">
              <a:solidFill>
                <a:schemeClr val="accent6">
                  <a:lumMod val="75000"/>
                </a:schemeClr>
              </a:solidFill>
            </a:endParaRPr>
          </a:p>
        </p:txBody>
      </p:sp>
      <p:sp>
        <p:nvSpPr>
          <p:cNvPr id="4" name="TextBox 3"/>
          <p:cNvSpPr txBox="1"/>
          <p:nvPr/>
        </p:nvSpPr>
        <p:spPr>
          <a:xfrm>
            <a:off x="7034" y="1469384"/>
            <a:ext cx="9136966" cy="3539430"/>
          </a:xfrm>
          <a:prstGeom prst="rect">
            <a:avLst/>
          </a:prstGeom>
          <a:noFill/>
        </p:spPr>
        <p:txBody>
          <a:bodyPr wrap="square" rtlCol="0">
            <a:spAutoFit/>
          </a:bodyPr>
          <a:lstStyle/>
          <a:p>
            <a:pPr>
              <a:spcAft>
                <a:spcPts val="1800"/>
              </a:spcAft>
            </a:pPr>
            <a:r>
              <a:rPr lang="en-US" sz="3200" dirty="0" smtClean="0"/>
              <a:t>From its founding through 2012, the Rock and Roll Hall of Fame has inducted 273 groups or individuals (</a:t>
            </a:r>
            <a:r>
              <a:rPr lang="en-US" sz="3200" dirty="0"/>
              <a:t>see </a:t>
            </a:r>
            <a:r>
              <a:rPr lang="en-US" sz="3200" dirty="0">
                <a:hlinkClick r:id="rId3"/>
              </a:rPr>
              <a:t>http://www.rockhall.com/inductees</a:t>
            </a:r>
            <a:r>
              <a:rPr lang="en-US" sz="3200" dirty="0" smtClean="0">
                <a:hlinkClick r:id="rId3"/>
              </a:rPr>
              <a:t>/</a:t>
            </a:r>
            <a:r>
              <a:rPr lang="en-US" sz="3200" dirty="0" smtClean="0"/>
              <a:t>) The table on the next slide shows how many of the inductees have been female or have included female members and also shows how many of the inductees have been music performers. </a:t>
            </a:r>
          </a:p>
        </p:txBody>
      </p:sp>
    </p:spTree>
    <p:custDataLst>
      <p:tags r:id="rId1"/>
    </p:custDataLst>
    <p:extLst>
      <p:ext uri="{BB962C8B-B14F-4D97-AF65-F5344CB8AC3E}">
        <p14:creationId xmlns:p14="http://schemas.microsoft.com/office/powerpoint/2010/main" val="41423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2345" y="-17398"/>
            <a:ext cx="9141655" cy="1219200"/>
          </a:xfrm>
          <a:prstGeom prst="rect">
            <a:avLst/>
          </a:prstGeom>
        </p:spPr>
        <p:txBody>
          <a:bodyPr/>
          <a:lstStyle/>
          <a:p>
            <a:pPr marL="400050"/>
            <a:endParaRPr lang="en-US" sz="4000" dirty="0"/>
          </a:p>
        </p:txBody>
      </p:sp>
      <p:graphicFrame>
        <p:nvGraphicFramePr>
          <p:cNvPr id="10" name="Table 9"/>
          <p:cNvGraphicFramePr>
            <a:graphicFrameLocks noGrp="1"/>
          </p:cNvGraphicFramePr>
          <p:nvPr>
            <p:extLst>
              <p:ext uri="{D42A27DB-BD31-4B8C-83A1-F6EECF244321}">
                <p14:modId xmlns:p14="http://schemas.microsoft.com/office/powerpoint/2010/main" val="3471468882"/>
              </p:ext>
            </p:extLst>
          </p:nvPr>
        </p:nvGraphicFramePr>
        <p:xfrm>
          <a:off x="152400" y="1346687"/>
          <a:ext cx="8839199" cy="2190856"/>
        </p:xfrm>
        <a:graphic>
          <a:graphicData uri="http://schemas.openxmlformats.org/drawingml/2006/table">
            <a:tbl>
              <a:tblPr firstRow="1" bandRow="1">
                <a:tableStyleId>{5C22544A-7EE6-4342-B048-85BDC9FD1C3A}</a:tableStyleId>
              </a:tblPr>
              <a:tblGrid>
                <a:gridCol w="2438400"/>
                <a:gridCol w="2743200"/>
                <a:gridCol w="2667000"/>
                <a:gridCol w="990599"/>
              </a:tblGrid>
              <a:tr h="568056">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Female Members</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400" dirty="0" smtClean="0">
                          <a:solidFill>
                            <a:schemeClr val="tx1"/>
                          </a:solidFill>
                        </a:rPr>
                        <a:t>No Females</a:t>
                      </a:r>
                      <a:endParaRPr lang="en-US" sz="24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Total</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86480">
                <a:tc>
                  <a:txBody>
                    <a:bodyPr/>
                    <a:lstStyle/>
                    <a:p>
                      <a:r>
                        <a:rPr lang="en-US" sz="2800" b="1" dirty="0" smtClean="0"/>
                        <a:t>Performer (MP)</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32</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149</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181</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63889">
                <a:tc>
                  <a:txBody>
                    <a:bodyPr/>
                    <a:lstStyle/>
                    <a:p>
                      <a:r>
                        <a:rPr lang="en-US" sz="2800" b="1" dirty="0" smtClean="0"/>
                        <a:t>Not performer</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83</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92</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63889">
                <a:tc>
                  <a:txBody>
                    <a:bodyPr/>
                    <a:lstStyle/>
                    <a:p>
                      <a:r>
                        <a:rPr lang="en-US" sz="2800" b="1" dirty="0" smtClean="0"/>
                        <a:t>Total</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41</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232</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273</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2" name="TPQuestion"/>
          <p:cNvSpPr>
            <a:spLocks noGrp="1"/>
          </p:cNvSpPr>
          <p:nvPr>
            <p:ph type="title" idx="4294967295"/>
          </p:nvPr>
        </p:nvSpPr>
        <p:spPr>
          <a:xfrm>
            <a:off x="0" y="-17463"/>
            <a:ext cx="9159875" cy="1389063"/>
          </a:xfrm>
        </p:spPr>
        <p:txBody>
          <a:bodyPr>
            <a:normAutofit fontScale="90000"/>
          </a:bodyPr>
          <a:lstStyle/>
          <a:p>
            <a:r>
              <a:rPr lang="en-US" dirty="0"/>
              <a:t>What is the probability that an inductee chosen at random is a performer?</a:t>
            </a:r>
          </a:p>
        </p:txBody>
      </p:sp>
      <p:sp>
        <p:nvSpPr>
          <p:cNvPr id="9" name="TPAnswers"/>
          <p:cNvSpPr>
            <a:spLocks noGrp="1"/>
          </p:cNvSpPr>
          <p:nvPr>
            <p:ph sz="quarter" idx="4294967295"/>
            <p:custDataLst>
              <p:tags r:id="rId2"/>
            </p:custDataLst>
          </p:nvPr>
        </p:nvSpPr>
        <p:spPr>
          <a:xfrm>
            <a:off x="0" y="4343400"/>
            <a:ext cx="5943600" cy="2514600"/>
          </a:xfrm>
        </p:spPr>
        <p:txBody>
          <a:bodyPr>
            <a:noAutofit/>
          </a:bodyPr>
          <a:lstStyle/>
          <a:p>
            <a:pPr marL="914400" indent="-514350">
              <a:spcBef>
                <a:spcPct val="20000"/>
              </a:spcBef>
              <a:buFont typeface="+mj-lt"/>
              <a:buAutoNum type="alphaLcPeriod"/>
            </a:pPr>
            <a:r>
              <a:rPr lang="en-US" sz="2800" dirty="0"/>
              <a:t>181/273 = 0.663</a:t>
            </a:r>
          </a:p>
          <a:p>
            <a:pPr marL="914400" indent="-514350">
              <a:spcBef>
                <a:spcPct val="20000"/>
              </a:spcBef>
              <a:buFont typeface="+mj-lt"/>
              <a:buAutoNum type="alphaLcPeriod"/>
            </a:pPr>
            <a:r>
              <a:rPr lang="en-US" sz="2800" dirty="0"/>
              <a:t>181/232 = 0.780</a:t>
            </a:r>
          </a:p>
          <a:p>
            <a:pPr marL="914400" indent="-514350">
              <a:spcBef>
                <a:spcPct val="20000"/>
              </a:spcBef>
              <a:buFont typeface="+mj-lt"/>
              <a:buAutoNum type="alphaLcPeriod"/>
            </a:pPr>
            <a:r>
              <a:rPr lang="en-US" sz="2800" dirty="0"/>
              <a:t>32/181 = 0.177</a:t>
            </a:r>
          </a:p>
          <a:p>
            <a:pPr marL="914400" indent="-514350">
              <a:spcBef>
                <a:spcPct val="20000"/>
              </a:spcBef>
              <a:buFont typeface="+mj-lt"/>
              <a:buAutoNum type="alphaLcPeriod"/>
            </a:pPr>
            <a:r>
              <a:rPr lang="en-US" sz="2800" dirty="0"/>
              <a:t>I got a different answer</a:t>
            </a:r>
            <a:endParaRPr lang="en-US" dirty="0"/>
          </a:p>
        </p:txBody>
      </p:sp>
    </p:spTree>
    <p:custDataLst>
      <p:tags r:id="rId1"/>
    </p:custDataLst>
    <p:extLst>
      <p:ext uri="{BB962C8B-B14F-4D97-AF65-F5344CB8AC3E}">
        <p14:creationId xmlns:p14="http://schemas.microsoft.com/office/powerpoint/2010/main" val="2190108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1869096471"/>
              </p:ext>
            </p:extLst>
          </p:nvPr>
        </p:nvGraphicFramePr>
        <p:xfrm>
          <a:off x="58716" y="1143001"/>
          <a:ext cx="9085285" cy="2707505"/>
        </p:xfrm>
        <a:graphic>
          <a:graphicData uri="http://schemas.openxmlformats.org/drawingml/2006/table">
            <a:tbl>
              <a:tblPr firstRow="1" bandRow="1">
                <a:tableStyleId>{5C22544A-7EE6-4342-B048-85BDC9FD1C3A}</a:tableStyleId>
              </a:tblPr>
              <a:tblGrid>
                <a:gridCol w="2455884"/>
                <a:gridCol w="2670491"/>
                <a:gridCol w="2122469"/>
                <a:gridCol w="1836441"/>
              </a:tblGrid>
              <a:tr h="904375">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Female Members</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No Females</a:t>
                      </a:r>
                      <a:endParaRPr lang="en-US" sz="28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Total</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71690">
                <a:tc>
                  <a:txBody>
                    <a:bodyPr/>
                    <a:lstStyle/>
                    <a:p>
                      <a:r>
                        <a:rPr lang="en-US" sz="2800" b="1" dirty="0" smtClean="0"/>
                        <a:t>Performer (MP)</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32</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149</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181</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619245">
                <a:tc>
                  <a:txBody>
                    <a:bodyPr/>
                    <a:lstStyle/>
                    <a:p>
                      <a:r>
                        <a:rPr lang="en-US" sz="2800" b="1" dirty="0" smtClean="0"/>
                        <a:t>Not performer</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83</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92</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71690">
                <a:tc>
                  <a:txBody>
                    <a:bodyPr/>
                    <a:lstStyle/>
                    <a:p>
                      <a:r>
                        <a:rPr lang="en-US" sz="2800" b="1" dirty="0" smtClean="0"/>
                        <a:t>Total</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41</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232</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273</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5" name="TPQuestion"/>
          <p:cNvSpPr>
            <a:spLocks noGrp="1"/>
          </p:cNvSpPr>
          <p:nvPr>
            <p:ph type="title" idx="4294967295"/>
          </p:nvPr>
        </p:nvSpPr>
        <p:spPr>
          <a:xfrm>
            <a:off x="11113" y="0"/>
            <a:ext cx="9132887" cy="1295400"/>
          </a:xfrm>
        </p:spPr>
        <p:txBody>
          <a:bodyPr>
            <a:normAutofit/>
          </a:bodyPr>
          <a:lstStyle/>
          <a:p>
            <a:pPr marL="400050"/>
            <a:r>
              <a:rPr lang="en-US" sz="3200" b="1" dirty="0"/>
              <a:t>What is the probability that an inductee chosen at random has a female member </a:t>
            </a:r>
            <a:r>
              <a:rPr lang="en-US" sz="3200" b="1" dirty="0">
                <a:solidFill>
                  <a:schemeClr val="accent3">
                    <a:lumMod val="75000"/>
                  </a:schemeClr>
                </a:solidFill>
              </a:rPr>
              <a:t>or</a:t>
            </a:r>
            <a:r>
              <a:rPr lang="en-US" sz="3200" b="1" dirty="0"/>
              <a:t> is a performer?</a:t>
            </a:r>
          </a:p>
        </p:txBody>
      </p:sp>
      <p:sp>
        <p:nvSpPr>
          <p:cNvPr id="12" name="TPAnswers"/>
          <p:cNvSpPr>
            <a:spLocks noGrp="1"/>
          </p:cNvSpPr>
          <p:nvPr>
            <p:ph sz="quarter" idx="4294967295"/>
            <p:custDataLst>
              <p:tags r:id="rId2"/>
            </p:custDataLst>
          </p:nvPr>
        </p:nvSpPr>
        <p:spPr>
          <a:xfrm>
            <a:off x="0" y="3873500"/>
            <a:ext cx="3935413" cy="2984500"/>
          </a:xfrm>
        </p:spPr>
        <p:txBody>
          <a:bodyPr>
            <a:noAutofit/>
          </a:bodyPr>
          <a:lstStyle/>
          <a:p>
            <a:pPr marL="914400" indent="-514350">
              <a:spcBef>
                <a:spcPct val="20000"/>
              </a:spcBef>
              <a:buFont typeface="+mj-lt"/>
              <a:buAutoNum type="alphaLcPeriod"/>
            </a:pPr>
            <a:r>
              <a:rPr lang="en-US" sz="2800" dirty="0"/>
              <a:t>222/273 = 0.813</a:t>
            </a:r>
          </a:p>
          <a:p>
            <a:pPr marL="914400" indent="-514350">
              <a:spcBef>
                <a:spcPct val="20000"/>
              </a:spcBef>
              <a:buFont typeface="+mj-lt"/>
              <a:buAutoNum type="alphaLcPeriod"/>
            </a:pPr>
            <a:r>
              <a:rPr lang="en-US" sz="2800" dirty="0"/>
              <a:t>32/273 = 0.117</a:t>
            </a:r>
          </a:p>
          <a:p>
            <a:pPr marL="914400" indent="-514350">
              <a:spcBef>
                <a:spcPct val="20000"/>
              </a:spcBef>
              <a:buFont typeface="+mj-lt"/>
              <a:buAutoNum type="alphaLcPeriod"/>
            </a:pPr>
            <a:r>
              <a:rPr lang="en-US" sz="2800" dirty="0"/>
              <a:t>190/273 = 0.696</a:t>
            </a:r>
          </a:p>
          <a:p>
            <a:pPr marL="914400" indent="-514350">
              <a:spcBef>
                <a:spcPct val="20000"/>
              </a:spcBef>
              <a:buFont typeface="+mj-lt"/>
              <a:buAutoNum type="alphaLcPeriod"/>
            </a:pPr>
            <a:r>
              <a:rPr lang="en-US" sz="2800" dirty="0"/>
              <a:t>I got a different answer</a:t>
            </a:r>
            <a:endParaRPr lang="en-US" sz="2400" dirty="0"/>
          </a:p>
        </p:txBody>
      </p:sp>
    </p:spTree>
    <p:custDataLst>
      <p:tags r:id="rId1"/>
    </p:custDataLst>
    <p:extLst>
      <p:ext uri="{BB962C8B-B14F-4D97-AF65-F5344CB8AC3E}">
        <p14:creationId xmlns:p14="http://schemas.microsoft.com/office/powerpoint/2010/main" val="31699166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7593" y="1636086"/>
            <a:ext cx="2501107" cy="66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6491" y="1614790"/>
            <a:ext cx="2484106"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76324" y="1639028"/>
            <a:ext cx="1114876" cy="662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txBox="1">
            <a:spLocks/>
          </p:cNvSpPr>
          <p:nvPr/>
        </p:nvSpPr>
        <p:spPr>
          <a:xfrm>
            <a:off x="0" y="0"/>
            <a:ext cx="9144000" cy="1219200"/>
          </a:xfrm>
          <a:prstGeom prst="rect">
            <a:avLst/>
          </a:prstGeom>
        </p:spPr>
        <p:txBody>
          <a:bodyPr/>
          <a:lstStyle/>
          <a:p>
            <a:pPr lvl="0" algn="ctr">
              <a:spcBef>
                <a:spcPct val="0"/>
              </a:spcBef>
              <a:defRPr/>
            </a:pPr>
            <a:r>
              <a:rPr lang="en-US" sz="4400" b="1" dirty="0" smtClean="0">
                <a:solidFill>
                  <a:schemeClr val="accent6">
                    <a:lumMod val="75000"/>
                  </a:schemeClr>
                </a:solidFill>
              </a:rPr>
              <a:t>P(A or B): The General Addition Rule</a:t>
            </a:r>
            <a:endParaRPr lang="en-US" sz="4000" b="1" dirty="0">
              <a:solidFill>
                <a:schemeClr val="accent6">
                  <a:lumMod val="75000"/>
                </a:schemeClr>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529798033"/>
              </p:ext>
            </p:extLst>
          </p:nvPr>
        </p:nvGraphicFramePr>
        <p:xfrm>
          <a:off x="491340" y="1645559"/>
          <a:ext cx="8143875" cy="685800"/>
        </p:xfrm>
        <a:graphic>
          <a:graphicData uri="http://schemas.openxmlformats.org/presentationml/2006/ole">
            <mc:AlternateContent xmlns:mc="http://schemas.openxmlformats.org/markup-compatibility/2006">
              <mc:Choice xmlns:v="urn:schemas-microsoft-com:vml" Requires="v">
                <p:oleObj spid="_x0000_s1085" name="Equation" r:id="rId7" imgW="2412720" imgH="203040" progId="Equation.DSMT4">
                  <p:embed/>
                </p:oleObj>
              </mc:Choice>
              <mc:Fallback>
                <p:oleObj name="Equation" r:id="rId7" imgW="241272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340" y="1645559"/>
                        <a:ext cx="8143875" cy="685800"/>
                      </a:xfrm>
                      <a:prstGeom prst="rect">
                        <a:avLst/>
                      </a:prstGeom>
                      <a:noFill/>
                      <a:ln w="15875" cmpd="sng">
                        <a:solidFill>
                          <a:schemeClr val="accent1">
                            <a:lumMod val="50000"/>
                          </a:schemeClr>
                        </a:solidFill>
                        <a:miter lim="800000"/>
                        <a:headEnd/>
                        <a:tailEnd/>
                      </a:ln>
                      <a:extLst/>
                    </p:spPr>
                  </p:pic>
                </p:oleObj>
              </mc:Fallback>
            </mc:AlternateContent>
          </a:graphicData>
        </a:graphic>
      </p:graphicFrame>
      <p:sp>
        <p:nvSpPr>
          <p:cNvPr id="4" name="Oval 5"/>
          <p:cNvSpPr>
            <a:spLocks noChangeArrowheads="1"/>
          </p:cNvSpPr>
          <p:nvPr/>
        </p:nvSpPr>
        <p:spPr bwMode="auto">
          <a:xfrm>
            <a:off x="2967038" y="2567496"/>
            <a:ext cx="2443162" cy="2392363"/>
          </a:xfrm>
          <a:prstGeom prst="ellipse">
            <a:avLst/>
          </a:prstGeom>
          <a:solidFill>
            <a:srgbClr val="FFFF00"/>
          </a:solidFill>
          <a:ln w="38100">
            <a:solidFill>
              <a:schemeClr val="tx1"/>
            </a:solidFill>
            <a:round/>
            <a:headEnd/>
            <a:tailEnd/>
          </a:ln>
        </p:spPr>
        <p:txBody>
          <a:bodyPr wrap="none" anchor="ctr"/>
          <a:lstStyle/>
          <a:p>
            <a:endParaRPr lang="en-US"/>
          </a:p>
        </p:txBody>
      </p:sp>
      <p:sp>
        <p:nvSpPr>
          <p:cNvPr id="5" name="Oval 6"/>
          <p:cNvSpPr>
            <a:spLocks noChangeArrowheads="1"/>
          </p:cNvSpPr>
          <p:nvPr/>
        </p:nvSpPr>
        <p:spPr bwMode="auto">
          <a:xfrm>
            <a:off x="4038600" y="3558096"/>
            <a:ext cx="2438400" cy="2385504"/>
          </a:xfrm>
          <a:prstGeom prst="ellipse">
            <a:avLst/>
          </a:prstGeom>
          <a:solidFill>
            <a:srgbClr val="800080">
              <a:alpha val="54901"/>
            </a:srgbClr>
          </a:solidFill>
          <a:ln w="9525">
            <a:solidFill>
              <a:schemeClr val="tx1"/>
            </a:solidFill>
            <a:round/>
            <a:headEnd/>
            <a:tailEnd/>
          </a:ln>
        </p:spPr>
        <p:txBody>
          <a:bodyPr wrap="none" anchor="ctr"/>
          <a:lstStyle/>
          <a:p>
            <a:endParaRPr lang="en-US"/>
          </a:p>
        </p:txBody>
      </p:sp>
      <p:sp>
        <p:nvSpPr>
          <p:cNvPr id="6" name="Rectangle 8"/>
          <p:cNvSpPr>
            <a:spLocks noChangeArrowheads="1"/>
          </p:cNvSpPr>
          <p:nvPr/>
        </p:nvSpPr>
        <p:spPr bwMode="auto">
          <a:xfrm>
            <a:off x="3886200" y="2796096"/>
            <a:ext cx="838200" cy="796230"/>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B</a:t>
            </a:r>
          </a:p>
        </p:txBody>
      </p:sp>
      <p:sp>
        <p:nvSpPr>
          <p:cNvPr id="8" name="Rectangle 11"/>
          <p:cNvSpPr>
            <a:spLocks noChangeArrowheads="1"/>
          </p:cNvSpPr>
          <p:nvPr/>
        </p:nvSpPr>
        <p:spPr bwMode="auto">
          <a:xfrm>
            <a:off x="5334000" y="4624896"/>
            <a:ext cx="685800" cy="766197"/>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A</a:t>
            </a:r>
            <a:endParaRPr lang="en-US" sz="3600" dirty="0">
              <a:sym typeface="Symbol" pitchFamily="18" charset="2"/>
            </a:endParaRPr>
          </a:p>
        </p:txBody>
      </p:sp>
      <p:pic>
        <p:nvPicPr>
          <p:cNvPr id="102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15936" y="3807849"/>
            <a:ext cx="2073276" cy="94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1187" y="1611736"/>
            <a:ext cx="1154113" cy="68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extLst>
      <p:ext uri="{BB962C8B-B14F-4D97-AF65-F5344CB8AC3E}">
        <p14:creationId xmlns:p14="http://schemas.microsoft.com/office/powerpoint/2010/main" val="298946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02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3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03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03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Disjoint Events</a:t>
            </a:r>
            <a:endParaRPr lang="en-US" sz="4000" b="1" dirty="0">
              <a:solidFill>
                <a:schemeClr val="accent6">
                  <a:lumMod val="75000"/>
                </a:schemeClr>
              </a:solidFill>
            </a:endParaRPr>
          </a:p>
        </p:txBody>
      </p:sp>
      <p:sp>
        <p:nvSpPr>
          <p:cNvPr id="7" name="TextBox 6"/>
          <p:cNvSpPr txBox="1"/>
          <p:nvPr/>
        </p:nvSpPr>
        <p:spPr>
          <a:xfrm>
            <a:off x="15240" y="1600200"/>
            <a:ext cx="9128760" cy="1892826"/>
          </a:xfrm>
          <a:prstGeom prst="rect">
            <a:avLst/>
          </a:prstGeom>
          <a:noFill/>
        </p:spPr>
        <p:txBody>
          <a:bodyPr wrap="square" rtlCol="0">
            <a:spAutoFit/>
          </a:bodyPr>
          <a:lstStyle/>
          <a:p>
            <a:pPr>
              <a:spcAft>
                <a:spcPts val="1800"/>
              </a:spcAft>
              <a:buFont typeface="Arial" pitchFamily="34" charset="0"/>
              <a:buChar char="•"/>
            </a:pPr>
            <a:r>
              <a:rPr lang="en-US" sz="3200" dirty="0" smtClean="0">
                <a:solidFill>
                  <a:prstClr val="black"/>
                </a:solidFill>
                <a:cs typeface="Times New Roman" pitchFamily="18" charset="0"/>
              </a:rPr>
              <a:t> </a:t>
            </a:r>
            <a:r>
              <a:rPr lang="en-US" sz="3400" dirty="0" smtClean="0">
                <a:solidFill>
                  <a:prstClr val="black"/>
                </a:solidFill>
                <a:cs typeface="Times New Roman" pitchFamily="18" charset="0"/>
              </a:rPr>
              <a:t>Events A and B are called </a:t>
            </a:r>
            <a:r>
              <a:rPr lang="en-US" sz="3400" b="1" i="1" dirty="0" smtClean="0">
                <a:solidFill>
                  <a:schemeClr val="accent5">
                    <a:lumMod val="50000"/>
                  </a:schemeClr>
                </a:solidFill>
                <a:cs typeface="Times New Roman" pitchFamily="18" charset="0"/>
              </a:rPr>
              <a:t>disjoint</a:t>
            </a:r>
            <a:r>
              <a:rPr lang="en-US" sz="3400" dirty="0" smtClean="0">
                <a:solidFill>
                  <a:prstClr val="black"/>
                </a:solidFill>
                <a:cs typeface="Times New Roman" pitchFamily="18" charset="0"/>
              </a:rPr>
              <a:t> or </a:t>
            </a:r>
            <a:r>
              <a:rPr lang="en-US" sz="3400" b="1" i="1" dirty="0" smtClean="0">
                <a:solidFill>
                  <a:schemeClr val="accent5">
                    <a:lumMod val="50000"/>
                  </a:schemeClr>
                </a:solidFill>
                <a:cs typeface="Times New Roman" pitchFamily="18" charset="0"/>
              </a:rPr>
              <a:t>mutually exclusive</a:t>
            </a:r>
            <a:r>
              <a:rPr lang="en-US" sz="3400" dirty="0" smtClean="0">
                <a:solidFill>
                  <a:srgbClr val="C00000"/>
                </a:solidFill>
                <a:cs typeface="Times New Roman" pitchFamily="18" charset="0"/>
              </a:rPr>
              <a:t> </a:t>
            </a:r>
            <a:r>
              <a:rPr lang="en-US" sz="3400" dirty="0" smtClean="0">
                <a:solidFill>
                  <a:prstClr val="black"/>
                </a:solidFill>
                <a:cs typeface="Times New Roman" pitchFamily="18" charset="0"/>
              </a:rPr>
              <a:t>if only one of the two events can happen</a:t>
            </a:r>
          </a:p>
          <a:p>
            <a:pPr>
              <a:spcAft>
                <a:spcPts val="1800"/>
              </a:spcAft>
            </a:pPr>
            <a:endParaRPr lang="en-US" sz="3400" dirty="0" smtClean="0">
              <a:solidFill>
                <a:prstClr val="black"/>
              </a:solidFill>
              <a:cs typeface="Times New Roman" pitchFamily="18" charset="0"/>
            </a:endParaRPr>
          </a:p>
        </p:txBody>
      </p:sp>
      <p:pic>
        <p:nvPicPr>
          <p:cNvPr id="419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916" y="3414328"/>
            <a:ext cx="3124200"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939942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Disjoint Events</a:t>
            </a:r>
            <a:endParaRPr lang="en-US" sz="4000" b="1" dirty="0">
              <a:solidFill>
                <a:schemeClr val="accent6">
                  <a:lumMod val="75000"/>
                </a:schemeClr>
              </a:solidFill>
            </a:endParaRPr>
          </a:p>
        </p:txBody>
      </p:sp>
      <p:sp>
        <p:nvSpPr>
          <p:cNvPr id="7" name="TextBox 6"/>
          <p:cNvSpPr txBox="1"/>
          <p:nvPr/>
        </p:nvSpPr>
        <p:spPr>
          <a:xfrm>
            <a:off x="15240" y="1600199"/>
            <a:ext cx="9128760" cy="3323987"/>
          </a:xfrm>
          <a:prstGeom prst="rect">
            <a:avLst/>
          </a:prstGeom>
          <a:noFill/>
        </p:spPr>
        <p:txBody>
          <a:bodyPr wrap="square" rtlCol="0">
            <a:spAutoFit/>
          </a:bodyPr>
          <a:lstStyle/>
          <a:p>
            <a:pPr>
              <a:spcAft>
                <a:spcPts val="1800"/>
              </a:spcAft>
            </a:pPr>
            <a:r>
              <a:rPr lang="en-US" sz="3000" b="1" u="sng" dirty="0">
                <a:solidFill>
                  <a:schemeClr val="accent1">
                    <a:lumMod val="75000"/>
                  </a:schemeClr>
                </a:solidFill>
                <a:cs typeface="Times New Roman" pitchFamily="18" charset="0"/>
              </a:rPr>
              <a:t>Examples of Disjoint Events:</a:t>
            </a:r>
          </a:p>
          <a:p>
            <a:pPr marL="514350" indent="-514350">
              <a:spcAft>
                <a:spcPts val="1800"/>
              </a:spcAft>
              <a:buFont typeface="+mj-lt"/>
              <a:buAutoNum type="arabicPeriod"/>
            </a:pPr>
            <a:r>
              <a:rPr lang="en-US" sz="3000" b="1" dirty="0" smtClean="0">
                <a:solidFill>
                  <a:schemeClr val="accent6">
                    <a:lumMod val="50000"/>
                  </a:schemeClr>
                </a:solidFill>
                <a:cs typeface="Times New Roman" pitchFamily="18" charset="0"/>
              </a:rPr>
              <a:t>A = Selecting a character from </a:t>
            </a:r>
            <a:r>
              <a:rPr lang="en-US" sz="3000" b="1" i="1" dirty="0">
                <a:solidFill>
                  <a:schemeClr val="accent6">
                    <a:lumMod val="50000"/>
                  </a:schemeClr>
                </a:solidFill>
                <a:cs typeface="Times New Roman" pitchFamily="18" charset="0"/>
              </a:rPr>
              <a:t>T</a:t>
            </a:r>
            <a:r>
              <a:rPr lang="en-US" sz="3000" b="1" i="1" dirty="0" smtClean="0">
                <a:solidFill>
                  <a:schemeClr val="accent6">
                    <a:lumMod val="50000"/>
                  </a:schemeClr>
                </a:solidFill>
                <a:cs typeface="Times New Roman" pitchFamily="18" charset="0"/>
              </a:rPr>
              <a:t>he Lord of the Rings; </a:t>
            </a:r>
          </a:p>
          <a:p>
            <a:pPr>
              <a:spcAft>
                <a:spcPts val="1800"/>
              </a:spcAft>
            </a:pPr>
            <a:r>
              <a:rPr lang="en-US" sz="3000" b="1" i="1" dirty="0" smtClean="0">
                <a:solidFill>
                  <a:schemeClr val="accent6">
                    <a:lumMod val="50000"/>
                  </a:schemeClr>
                </a:solidFill>
                <a:cs typeface="Times New Roman" pitchFamily="18" charset="0"/>
              </a:rPr>
              <a:t>      </a:t>
            </a:r>
            <a:r>
              <a:rPr lang="en-US" sz="3000" b="1" dirty="0" smtClean="0">
                <a:solidFill>
                  <a:schemeClr val="accent6">
                    <a:lumMod val="50000"/>
                  </a:schemeClr>
                </a:solidFill>
                <a:cs typeface="Times New Roman" pitchFamily="18" charset="0"/>
              </a:rPr>
              <a:t>B = Selecting a character from </a:t>
            </a:r>
            <a:r>
              <a:rPr lang="en-US" sz="3000" b="1" i="1" dirty="0" smtClean="0">
                <a:solidFill>
                  <a:schemeClr val="accent6">
                    <a:lumMod val="50000"/>
                  </a:schemeClr>
                </a:solidFill>
                <a:cs typeface="Times New Roman" pitchFamily="18" charset="0"/>
              </a:rPr>
              <a:t>Harry Potter</a:t>
            </a:r>
            <a:endParaRPr lang="en-US" sz="3000" b="1" i="1" dirty="0">
              <a:solidFill>
                <a:schemeClr val="accent6">
                  <a:lumMod val="50000"/>
                </a:schemeClr>
              </a:solidFill>
              <a:cs typeface="Times New Roman" pitchFamily="18" charset="0"/>
            </a:endParaRPr>
          </a:p>
          <a:p>
            <a:pPr>
              <a:spcAft>
                <a:spcPts val="1800"/>
              </a:spcAft>
            </a:pPr>
            <a:endParaRPr lang="en-US" sz="3000" b="1" i="1" dirty="0" smtClean="0">
              <a:solidFill>
                <a:schemeClr val="accent6">
                  <a:lumMod val="50000"/>
                </a:schemeClr>
              </a:solidFill>
              <a:cs typeface="Times New Roman" pitchFamily="18" charset="0"/>
            </a:endParaRPr>
          </a:p>
          <a:p>
            <a:pPr>
              <a:spcAft>
                <a:spcPts val="1800"/>
              </a:spcAft>
            </a:pPr>
            <a:endParaRPr lang="en-US" sz="3000" b="1" i="1" dirty="0" smtClean="0">
              <a:solidFill>
                <a:schemeClr val="accent6">
                  <a:lumMod val="50000"/>
                </a:schemeClr>
              </a:solidFill>
              <a:cs typeface="Times New Roman" pitchFamily="18" charset="0"/>
            </a:endParaRPr>
          </a:p>
        </p:txBody>
      </p:sp>
      <p:pic>
        <p:nvPicPr>
          <p:cNvPr id="409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2606" y="3467296"/>
            <a:ext cx="5538788" cy="32690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057400" y="4304617"/>
            <a:ext cx="533400" cy="461665"/>
          </a:xfrm>
          <a:prstGeom prst="rect">
            <a:avLst/>
          </a:prstGeom>
          <a:noFill/>
        </p:spPr>
        <p:txBody>
          <a:bodyPr wrap="square" rtlCol="0">
            <a:spAutoFit/>
          </a:bodyPr>
          <a:lstStyle/>
          <a:p>
            <a:r>
              <a:rPr lang="en-US" sz="2400" b="1" dirty="0" smtClean="0">
                <a:solidFill>
                  <a:schemeClr val="tx1">
                    <a:lumMod val="85000"/>
                    <a:lumOff val="15000"/>
                  </a:schemeClr>
                </a:solidFill>
              </a:rPr>
              <a:t>A</a:t>
            </a:r>
            <a:endParaRPr lang="en-US" sz="2400" b="1" dirty="0">
              <a:solidFill>
                <a:schemeClr val="tx1">
                  <a:lumMod val="85000"/>
                  <a:lumOff val="15000"/>
                </a:schemeClr>
              </a:solidFill>
            </a:endParaRPr>
          </a:p>
        </p:txBody>
      </p:sp>
      <p:sp>
        <p:nvSpPr>
          <p:cNvPr id="10" name="TextBox 9"/>
          <p:cNvSpPr txBox="1"/>
          <p:nvPr/>
        </p:nvSpPr>
        <p:spPr>
          <a:xfrm>
            <a:off x="5074467" y="4234934"/>
            <a:ext cx="533400" cy="461665"/>
          </a:xfrm>
          <a:prstGeom prst="rect">
            <a:avLst/>
          </a:prstGeom>
          <a:noFill/>
        </p:spPr>
        <p:txBody>
          <a:bodyPr wrap="square" rtlCol="0">
            <a:spAutoFit/>
          </a:bodyPr>
          <a:lstStyle/>
          <a:p>
            <a:r>
              <a:rPr lang="en-US" sz="2400" b="1" dirty="0" smtClean="0">
                <a:solidFill>
                  <a:schemeClr val="tx1">
                    <a:lumMod val="85000"/>
                    <a:lumOff val="15000"/>
                  </a:schemeClr>
                </a:solidFill>
              </a:rPr>
              <a:t>B</a:t>
            </a:r>
            <a:endParaRPr lang="en-US" sz="2400" b="1" dirty="0">
              <a:solidFill>
                <a:schemeClr val="tx1">
                  <a:lumMod val="85000"/>
                  <a:lumOff val="15000"/>
                </a:schemeClr>
              </a:solidFill>
            </a:endParaRPr>
          </a:p>
        </p:txBody>
      </p:sp>
      <p:sp>
        <p:nvSpPr>
          <p:cNvPr id="4" name="TextBox 3"/>
          <p:cNvSpPr txBox="1"/>
          <p:nvPr/>
        </p:nvSpPr>
        <p:spPr>
          <a:xfrm>
            <a:off x="1981200" y="4820731"/>
            <a:ext cx="990600" cy="369332"/>
          </a:xfrm>
          <a:prstGeom prst="rect">
            <a:avLst/>
          </a:prstGeom>
          <a:noFill/>
        </p:spPr>
        <p:txBody>
          <a:bodyPr wrap="square" rtlCol="0">
            <a:spAutoFit/>
          </a:bodyPr>
          <a:lstStyle/>
          <a:p>
            <a:r>
              <a:rPr lang="en-US" dirty="0" smtClean="0">
                <a:latin typeface="Segoe Print" panose="02000600000000000000" pitchFamily="2" charset="0"/>
              </a:rPr>
              <a:t>Frodo</a:t>
            </a:r>
            <a:endParaRPr lang="en-US" dirty="0">
              <a:latin typeface="Segoe Print" panose="02000600000000000000" pitchFamily="2" charset="0"/>
            </a:endParaRPr>
          </a:p>
        </p:txBody>
      </p:sp>
      <p:sp>
        <p:nvSpPr>
          <p:cNvPr id="12" name="TextBox 11"/>
          <p:cNvSpPr txBox="1"/>
          <p:nvPr/>
        </p:nvSpPr>
        <p:spPr>
          <a:xfrm>
            <a:off x="2743200" y="4333591"/>
            <a:ext cx="1219200" cy="369332"/>
          </a:xfrm>
          <a:prstGeom prst="rect">
            <a:avLst/>
          </a:prstGeom>
          <a:noFill/>
        </p:spPr>
        <p:txBody>
          <a:bodyPr wrap="square" rtlCol="0">
            <a:spAutoFit/>
          </a:bodyPr>
          <a:lstStyle/>
          <a:p>
            <a:r>
              <a:rPr lang="en-US" dirty="0" smtClean="0">
                <a:latin typeface="Segoe Print" panose="02000600000000000000" pitchFamily="2" charset="0"/>
              </a:rPr>
              <a:t>Gollum</a:t>
            </a:r>
            <a:endParaRPr lang="en-US" dirty="0">
              <a:latin typeface="Segoe Print" panose="02000600000000000000" pitchFamily="2" charset="0"/>
            </a:endParaRPr>
          </a:p>
        </p:txBody>
      </p:sp>
      <p:sp>
        <p:nvSpPr>
          <p:cNvPr id="13" name="TextBox 12"/>
          <p:cNvSpPr txBox="1"/>
          <p:nvPr/>
        </p:nvSpPr>
        <p:spPr>
          <a:xfrm>
            <a:off x="3156259" y="5226981"/>
            <a:ext cx="1174687" cy="369332"/>
          </a:xfrm>
          <a:prstGeom prst="rect">
            <a:avLst/>
          </a:prstGeom>
          <a:noFill/>
        </p:spPr>
        <p:txBody>
          <a:bodyPr wrap="square" rtlCol="0">
            <a:spAutoFit/>
          </a:bodyPr>
          <a:lstStyle/>
          <a:p>
            <a:r>
              <a:rPr lang="en-US" dirty="0" smtClean="0">
                <a:latin typeface="Segoe Print" panose="02000600000000000000" pitchFamily="2" charset="0"/>
              </a:rPr>
              <a:t>Gandalf</a:t>
            </a:r>
            <a:endParaRPr lang="en-US" dirty="0">
              <a:latin typeface="Segoe Print" panose="02000600000000000000" pitchFamily="2" charset="0"/>
            </a:endParaRPr>
          </a:p>
        </p:txBody>
      </p:sp>
      <p:sp>
        <p:nvSpPr>
          <p:cNvPr id="14" name="TextBox 13"/>
          <p:cNvSpPr txBox="1"/>
          <p:nvPr/>
        </p:nvSpPr>
        <p:spPr>
          <a:xfrm>
            <a:off x="2552700" y="4104298"/>
            <a:ext cx="990600" cy="369332"/>
          </a:xfrm>
          <a:prstGeom prst="rect">
            <a:avLst/>
          </a:prstGeom>
          <a:noFill/>
        </p:spPr>
        <p:txBody>
          <a:bodyPr wrap="square" rtlCol="0">
            <a:spAutoFit/>
          </a:bodyPr>
          <a:lstStyle/>
          <a:p>
            <a:r>
              <a:rPr lang="en-US" dirty="0" smtClean="0">
                <a:latin typeface="Segoe Print" panose="02000600000000000000" pitchFamily="2" charset="0"/>
              </a:rPr>
              <a:t>Sam</a:t>
            </a:r>
            <a:endParaRPr lang="en-US" dirty="0">
              <a:latin typeface="Segoe Print" panose="02000600000000000000" pitchFamily="2" charset="0"/>
            </a:endParaRPr>
          </a:p>
        </p:txBody>
      </p:sp>
      <p:sp>
        <p:nvSpPr>
          <p:cNvPr id="15" name="TextBox 14"/>
          <p:cNvSpPr txBox="1"/>
          <p:nvPr/>
        </p:nvSpPr>
        <p:spPr>
          <a:xfrm>
            <a:off x="2971800" y="5596313"/>
            <a:ext cx="990600" cy="369332"/>
          </a:xfrm>
          <a:prstGeom prst="rect">
            <a:avLst/>
          </a:prstGeom>
          <a:noFill/>
        </p:spPr>
        <p:txBody>
          <a:bodyPr wrap="square" rtlCol="0">
            <a:spAutoFit/>
          </a:bodyPr>
          <a:lstStyle/>
          <a:p>
            <a:r>
              <a:rPr lang="en-US" dirty="0" smtClean="0">
                <a:latin typeface="Segoe Print" panose="02000600000000000000" pitchFamily="2" charset="0"/>
              </a:rPr>
              <a:t>Gimli…</a:t>
            </a:r>
            <a:endParaRPr lang="en-US" dirty="0">
              <a:latin typeface="Segoe Print" panose="02000600000000000000" pitchFamily="2" charset="0"/>
            </a:endParaRPr>
          </a:p>
        </p:txBody>
      </p:sp>
      <p:sp>
        <p:nvSpPr>
          <p:cNvPr id="17" name="TextBox 16"/>
          <p:cNvSpPr txBox="1"/>
          <p:nvPr/>
        </p:nvSpPr>
        <p:spPr>
          <a:xfrm>
            <a:off x="2264875" y="5113300"/>
            <a:ext cx="990600" cy="369332"/>
          </a:xfrm>
          <a:prstGeom prst="rect">
            <a:avLst/>
          </a:prstGeom>
          <a:noFill/>
        </p:spPr>
        <p:txBody>
          <a:bodyPr wrap="square" rtlCol="0">
            <a:spAutoFit/>
          </a:bodyPr>
          <a:lstStyle>
            <a:defPPr>
              <a:defRPr lang="en-US"/>
            </a:defPPr>
            <a:lvl1pPr>
              <a:defRPr>
                <a:latin typeface="Segoe Print" panose="02000600000000000000" pitchFamily="2" charset="0"/>
              </a:defRPr>
            </a:lvl1pPr>
          </a:lstStyle>
          <a:p>
            <a:r>
              <a:rPr lang="en-US" dirty="0" err="1"/>
              <a:t>Éowyn</a:t>
            </a:r>
            <a:endParaRPr lang="en-US" dirty="0"/>
          </a:p>
        </p:txBody>
      </p:sp>
      <p:sp>
        <p:nvSpPr>
          <p:cNvPr id="18" name="TextBox 17"/>
          <p:cNvSpPr txBox="1"/>
          <p:nvPr/>
        </p:nvSpPr>
        <p:spPr>
          <a:xfrm>
            <a:off x="2270156" y="5486400"/>
            <a:ext cx="990600" cy="369332"/>
          </a:xfrm>
          <a:prstGeom prst="rect">
            <a:avLst/>
          </a:prstGeom>
          <a:noFill/>
        </p:spPr>
        <p:txBody>
          <a:bodyPr wrap="square" rtlCol="0">
            <a:spAutoFit/>
          </a:bodyPr>
          <a:lstStyle>
            <a:defPPr>
              <a:defRPr lang="en-US"/>
            </a:defPPr>
            <a:lvl1pPr>
              <a:defRPr>
                <a:latin typeface="Segoe Print" panose="02000600000000000000" pitchFamily="2" charset="0"/>
              </a:defRPr>
            </a:lvl1pPr>
          </a:lstStyle>
          <a:p>
            <a:r>
              <a:rPr lang="en-US" dirty="0" smtClean="0"/>
              <a:t>Bilbo</a:t>
            </a:r>
            <a:endParaRPr lang="en-US" dirty="0"/>
          </a:p>
        </p:txBody>
      </p:sp>
      <p:sp>
        <p:nvSpPr>
          <p:cNvPr id="5" name="Rectangle 4"/>
          <p:cNvSpPr/>
          <p:nvPr/>
        </p:nvSpPr>
        <p:spPr>
          <a:xfrm>
            <a:off x="2817892" y="4696599"/>
            <a:ext cx="1358064" cy="369332"/>
          </a:xfrm>
          <a:prstGeom prst="rect">
            <a:avLst/>
          </a:prstGeom>
        </p:spPr>
        <p:txBody>
          <a:bodyPr wrap="none">
            <a:spAutoFit/>
          </a:bodyPr>
          <a:lstStyle/>
          <a:p>
            <a:r>
              <a:rPr lang="en-US" dirty="0" err="1">
                <a:latin typeface="Segoe Print" panose="02000600000000000000" pitchFamily="2" charset="0"/>
              </a:rPr>
              <a:t>Treebeard</a:t>
            </a:r>
            <a:endParaRPr lang="en-US" dirty="0">
              <a:latin typeface="Segoe Print" panose="02000600000000000000" pitchFamily="2" charset="0"/>
            </a:endParaRPr>
          </a:p>
        </p:txBody>
      </p:sp>
      <p:sp>
        <p:nvSpPr>
          <p:cNvPr id="6" name="TextBox 5"/>
          <p:cNvSpPr txBox="1"/>
          <p:nvPr/>
        </p:nvSpPr>
        <p:spPr>
          <a:xfrm>
            <a:off x="4883967" y="4802562"/>
            <a:ext cx="914400" cy="369332"/>
          </a:xfrm>
          <a:prstGeom prst="rect">
            <a:avLst/>
          </a:prstGeom>
          <a:noFill/>
        </p:spPr>
        <p:txBody>
          <a:bodyPr wrap="square" rtlCol="0">
            <a:spAutoFit/>
          </a:bodyPr>
          <a:lstStyle/>
          <a:p>
            <a:r>
              <a:rPr lang="en-US" dirty="0">
                <a:latin typeface="Segoe Print" panose="02000600000000000000" pitchFamily="2" charset="0"/>
              </a:rPr>
              <a:t>Harry</a:t>
            </a:r>
          </a:p>
        </p:txBody>
      </p:sp>
      <p:sp>
        <p:nvSpPr>
          <p:cNvPr id="21" name="TextBox 20"/>
          <p:cNvSpPr txBox="1"/>
          <p:nvPr/>
        </p:nvSpPr>
        <p:spPr>
          <a:xfrm>
            <a:off x="5486400" y="4447047"/>
            <a:ext cx="1600200" cy="369332"/>
          </a:xfrm>
          <a:prstGeom prst="rect">
            <a:avLst/>
          </a:prstGeom>
          <a:noFill/>
        </p:spPr>
        <p:txBody>
          <a:bodyPr wrap="square" rtlCol="0">
            <a:spAutoFit/>
          </a:bodyPr>
          <a:lstStyle/>
          <a:p>
            <a:r>
              <a:rPr lang="en-US" dirty="0" smtClean="0">
                <a:latin typeface="Segoe Print" panose="02000600000000000000" pitchFamily="2" charset="0"/>
              </a:rPr>
              <a:t>Voldemort</a:t>
            </a:r>
            <a:endParaRPr lang="en-US" dirty="0">
              <a:latin typeface="Segoe Print" panose="02000600000000000000" pitchFamily="2" charset="0"/>
            </a:endParaRPr>
          </a:p>
        </p:txBody>
      </p:sp>
      <p:sp>
        <p:nvSpPr>
          <p:cNvPr id="22" name="TextBox 21"/>
          <p:cNvSpPr txBox="1"/>
          <p:nvPr/>
        </p:nvSpPr>
        <p:spPr>
          <a:xfrm>
            <a:off x="5497716" y="4076484"/>
            <a:ext cx="914400" cy="369332"/>
          </a:xfrm>
          <a:prstGeom prst="rect">
            <a:avLst/>
          </a:prstGeom>
          <a:noFill/>
        </p:spPr>
        <p:txBody>
          <a:bodyPr wrap="square" rtlCol="0">
            <a:spAutoFit/>
          </a:bodyPr>
          <a:lstStyle/>
          <a:p>
            <a:r>
              <a:rPr lang="en-US" dirty="0" smtClean="0">
                <a:latin typeface="Segoe Print" panose="02000600000000000000" pitchFamily="2" charset="0"/>
              </a:rPr>
              <a:t>Ron</a:t>
            </a:r>
            <a:endParaRPr lang="en-US" dirty="0">
              <a:latin typeface="Segoe Print" panose="02000600000000000000" pitchFamily="2" charset="0"/>
            </a:endParaRPr>
          </a:p>
        </p:txBody>
      </p:sp>
      <p:sp>
        <p:nvSpPr>
          <p:cNvPr id="23" name="TextBox 22"/>
          <p:cNvSpPr txBox="1"/>
          <p:nvPr/>
        </p:nvSpPr>
        <p:spPr>
          <a:xfrm>
            <a:off x="5954916" y="4743968"/>
            <a:ext cx="914400" cy="369332"/>
          </a:xfrm>
          <a:prstGeom prst="rect">
            <a:avLst/>
          </a:prstGeom>
          <a:noFill/>
        </p:spPr>
        <p:txBody>
          <a:bodyPr wrap="square" rtlCol="0">
            <a:spAutoFit/>
          </a:bodyPr>
          <a:lstStyle/>
          <a:p>
            <a:r>
              <a:rPr lang="en-US" dirty="0" smtClean="0">
                <a:latin typeface="Segoe Print" panose="02000600000000000000" pitchFamily="2" charset="0"/>
              </a:rPr>
              <a:t>Dobby</a:t>
            </a:r>
            <a:endParaRPr lang="en-US" dirty="0">
              <a:latin typeface="Segoe Print" panose="02000600000000000000" pitchFamily="2" charset="0"/>
            </a:endParaRPr>
          </a:p>
        </p:txBody>
      </p:sp>
      <p:sp>
        <p:nvSpPr>
          <p:cNvPr id="24" name="TextBox 23"/>
          <p:cNvSpPr txBox="1"/>
          <p:nvPr/>
        </p:nvSpPr>
        <p:spPr>
          <a:xfrm>
            <a:off x="4800600" y="5117068"/>
            <a:ext cx="1371600" cy="369332"/>
          </a:xfrm>
          <a:prstGeom prst="rect">
            <a:avLst/>
          </a:prstGeom>
          <a:noFill/>
        </p:spPr>
        <p:txBody>
          <a:bodyPr wrap="square" rtlCol="0">
            <a:spAutoFit/>
          </a:bodyPr>
          <a:lstStyle/>
          <a:p>
            <a:r>
              <a:rPr lang="en-US" dirty="0" smtClean="0">
                <a:latin typeface="Segoe Print" panose="02000600000000000000" pitchFamily="2" charset="0"/>
              </a:rPr>
              <a:t>Hermione</a:t>
            </a:r>
            <a:endParaRPr lang="en-US" dirty="0">
              <a:latin typeface="Segoe Print" panose="02000600000000000000" pitchFamily="2" charset="0"/>
            </a:endParaRPr>
          </a:p>
        </p:txBody>
      </p:sp>
      <p:sp>
        <p:nvSpPr>
          <p:cNvPr id="25" name="TextBox 24"/>
          <p:cNvSpPr txBox="1"/>
          <p:nvPr/>
        </p:nvSpPr>
        <p:spPr>
          <a:xfrm>
            <a:off x="5380770" y="5411647"/>
            <a:ext cx="1705830" cy="369332"/>
          </a:xfrm>
          <a:prstGeom prst="rect">
            <a:avLst/>
          </a:prstGeom>
          <a:noFill/>
        </p:spPr>
        <p:txBody>
          <a:bodyPr wrap="square" rtlCol="0">
            <a:spAutoFit/>
          </a:bodyPr>
          <a:lstStyle/>
          <a:p>
            <a:r>
              <a:rPr lang="en-US" dirty="0" smtClean="0">
                <a:latin typeface="Segoe Print" panose="02000600000000000000" pitchFamily="2" charset="0"/>
              </a:rPr>
              <a:t>Dumbledore</a:t>
            </a:r>
            <a:endParaRPr lang="en-US" dirty="0">
              <a:latin typeface="Segoe Print" panose="02000600000000000000" pitchFamily="2" charset="0"/>
            </a:endParaRPr>
          </a:p>
        </p:txBody>
      </p:sp>
      <p:sp>
        <p:nvSpPr>
          <p:cNvPr id="26" name="TextBox 25"/>
          <p:cNvSpPr txBox="1"/>
          <p:nvPr/>
        </p:nvSpPr>
        <p:spPr>
          <a:xfrm>
            <a:off x="5408310" y="5736549"/>
            <a:ext cx="1144890" cy="369332"/>
          </a:xfrm>
          <a:prstGeom prst="rect">
            <a:avLst/>
          </a:prstGeom>
          <a:noFill/>
        </p:spPr>
        <p:txBody>
          <a:bodyPr wrap="square" rtlCol="0">
            <a:spAutoFit/>
          </a:bodyPr>
          <a:lstStyle>
            <a:defPPr>
              <a:defRPr lang="en-US"/>
            </a:defPPr>
            <a:lvl1pPr>
              <a:defRPr>
                <a:latin typeface="Segoe Print" panose="02000600000000000000" pitchFamily="2" charset="0"/>
              </a:defRPr>
            </a:lvl1pPr>
          </a:lstStyle>
          <a:p>
            <a:r>
              <a:rPr lang="en-US" dirty="0" smtClean="0"/>
              <a:t>Neville…</a:t>
            </a:r>
            <a:endParaRPr lang="en-US" dirty="0"/>
          </a:p>
        </p:txBody>
      </p:sp>
    </p:spTree>
    <p:custDataLst>
      <p:tags r:id="rId1"/>
    </p:custDataLst>
    <p:extLst>
      <p:ext uri="{BB962C8B-B14F-4D97-AF65-F5344CB8AC3E}">
        <p14:creationId xmlns:p14="http://schemas.microsoft.com/office/powerpoint/2010/main" val="19944799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5" grpId="0"/>
      <p:bldP spid="17" grpId="0"/>
      <p:bldP spid="18" grpId="0"/>
      <p:bldP spid="5" grpId="0"/>
      <p:bldP spid="6" grpId="0"/>
      <p:bldP spid="21" grpId="0"/>
      <p:bldP spid="22" grpId="0"/>
      <p:bldP spid="23" grpId="0"/>
      <p:bldP spid="24"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Disjoint Events</a:t>
            </a:r>
            <a:endParaRPr lang="en-US" sz="4000" b="1" dirty="0">
              <a:solidFill>
                <a:schemeClr val="accent6">
                  <a:lumMod val="75000"/>
                </a:schemeClr>
              </a:solidFill>
            </a:endParaRPr>
          </a:p>
        </p:txBody>
      </p:sp>
      <p:sp>
        <p:nvSpPr>
          <p:cNvPr id="7" name="TextBox 6"/>
          <p:cNvSpPr txBox="1"/>
          <p:nvPr/>
        </p:nvSpPr>
        <p:spPr>
          <a:xfrm>
            <a:off x="15240" y="1600199"/>
            <a:ext cx="9128760" cy="1938992"/>
          </a:xfrm>
          <a:prstGeom prst="rect">
            <a:avLst/>
          </a:prstGeom>
          <a:noFill/>
        </p:spPr>
        <p:txBody>
          <a:bodyPr wrap="square" rtlCol="0">
            <a:spAutoFit/>
          </a:bodyPr>
          <a:lstStyle/>
          <a:p>
            <a:pPr>
              <a:spcAft>
                <a:spcPts val="1800"/>
              </a:spcAft>
            </a:pPr>
            <a:r>
              <a:rPr lang="en-US" sz="3000" b="1" u="sng" dirty="0">
                <a:solidFill>
                  <a:schemeClr val="accent1">
                    <a:lumMod val="75000"/>
                  </a:schemeClr>
                </a:solidFill>
                <a:cs typeface="Times New Roman" pitchFamily="18" charset="0"/>
              </a:rPr>
              <a:t>Examples of Disjoint Events:</a:t>
            </a:r>
          </a:p>
          <a:p>
            <a:pPr>
              <a:spcAft>
                <a:spcPts val="1800"/>
              </a:spcAft>
            </a:pPr>
            <a:r>
              <a:rPr lang="en-US" sz="3000" b="1" dirty="0" smtClean="0">
                <a:solidFill>
                  <a:schemeClr val="accent6">
                    <a:lumMod val="50000"/>
                  </a:schemeClr>
                </a:solidFill>
                <a:cs typeface="Times New Roman" pitchFamily="18" charset="0"/>
              </a:rPr>
              <a:t>2.  When drawing a single playing card</a:t>
            </a:r>
          </a:p>
          <a:p>
            <a:pPr>
              <a:spcAft>
                <a:spcPts val="1800"/>
              </a:spcAft>
            </a:pPr>
            <a:r>
              <a:rPr lang="en-US" sz="3000" b="1" dirty="0">
                <a:solidFill>
                  <a:schemeClr val="accent6">
                    <a:lumMod val="50000"/>
                  </a:schemeClr>
                </a:solidFill>
                <a:cs typeface="Times New Roman" pitchFamily="18" charset="0"/>
              </a:rPr>
              <a:t> </a:t>
            </a:r>
            <a:r>
              <a:rPr lang="en-US" sz="3000" b="1" dirty="0" smtClean="0">
                <a:solidFill>
                  <a:schemeClr val="accent6">
                    <a:lumMod val="50000"/>
                  </a:schemeClr>
                </a:solidFill>
                <a:cs typeface="Times New Roman" pitchFamily="18" charset="0"/>
              </a:rPr>
              <a:t>   C = Drawing a heart;  D = Drawing a spade.</a:t>
            </a:r>
          </a:p>
        </p:txBody>
      </p:sp>
      <p:pic>
        <p:nvPicPr>
          <p:cNvPr id="419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4959" y="3484026"/>
            <a:ext cx="5629322" cy="3322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2128128" y="4240081"/>
            <a:ext cx="457200" cy="461665"/>
          </a:xfrm>
          <a:prstGeom prst="rect">
            <a:avLst/>
          </a:prstGeom>
          <a:noFill/>
        </p:spPr>
        <p:txBody>
          <a:bodyPr wrap="square" rtlCol="0">
            <a:spAutoFit/>
          </a:bodyPr>
          <a:lstStyle/>
          <a:p>
            <a:r>
              <a:rPr lang="en-US" sz="2400" b="1" dirty="0" smtClean="0">
                <a:solidFill>
                  <a:schemeClr val="tx1">
                    <a:lumMod val="85000"/>
                    <a:lumOff val="15000"/>
                  </a:schemeClr>
                </a:solidFill>
              </a:rPr>
              <a:t>C</a:t>
            </a:r>
            <a:endParaRPr lang="en-US" sz="2400" b="1" dirty="0">
              <a:solidFill>
                <a:schemeClr val="tx1">
                  <a:lumMod val="85000"/>
                  <a:lumOff val="15000"/>
                </a:schemeClr>
              </a:solidFill>
            </a:endParaRPr>
          </a:p>
        </p:txBody>
      </p:sp>
      <p:sp>
        <p:nvSpPr>
          <p:cNvPr id="10" name="TextBox 9"/>
          <p:cNvSpPr txBox="1"/>
          <p:nvPr/>
        </p:nvSpPr>
        <p:spPr>
          <a:xfrm>
            <a:off x="5104845" y="4240081"/>
            <a:ext cx="457200" cy="461665"/>
          </a:xfrm>
          <a:prstGeom prst="rect">
            <a:avLst/>
          </a:prstGeom>
          <a:noFill/>
        </p:spPr>
        <p:txBody>
          <a:bodyPr wrap="square" rtlCol="0">
            <a:spAutoFit/>
          </a:bodyPr>
          <a:lstStyle/>
          <a:p>
            <a:r>
              <a:rPr lang="en-US" sz="2400" b="1" dirty="0">
                <a:solidFill>
                  <a:schemeClr val="tx1">
                    <a:lumMod val="85000"/>
                    <a:lumOff val="15000"/>
                  </a:schemeClr>
                </a:solidFill>
              </a:rPr>
              <a:t>D</a:t>
            </a:r>
          </a:p>
        </p:txBody>
      </p:sp>
      <p:sp>
        <p:nvSpPr>
          <p:cNvPr id="4" name="TextBox 3"/>
          <p:cNvSpPr txBox="1"/>
          <p:nvPr/>
        </p:nvSpPr>
        <p:spPr>
          <a:xfrm>
            <a:off x="2632482" y="3918336"/>
            <a:ext cx="644495"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A</a:t>
            </a:r>
            <a:r>
              <a:rPr lang="en-US" sz="2800" dirty="0" smtClean="0">
                <a:solidFill>
                  <a:srgbClr val="FF0000"/>
                </a:solidFill>
                <a:cs typeface="Times New Roman"/>
              </a:rPr>
              <a:t>♥</a:t>
            </a:r>
            <a:endParaRPr lang="en-US" sz="2800" dirty="0">
              <a:solidFill>
                <a:srgbClr val="FF0000"/>
              </a:solidFill>
            </a:endParaRPr>
          </a:p>
        </p:txBody>
      </p:sp>
      <p:sp>
        <p:nvSpPr>
          <p:cNvPr id="13" name="TextBox 12"/>
          <p:cNvSpPr txBox="1"/>
          <p:nvPr/>
        </p:nvSpPr>
        <p:spPr>
          <a:xfrm>
            <a:off x="1946870" y="5055038"/>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7</a:t>
            </a:r>
            <a:r>
              <a:rPr lang="en-US" sz="2800" dirty="0" smtClean="0">
                <a:solidFill>
                  <a:srgbClr val="FF0000"/>
                </a:solidFill>
                <a:cs typeface="Times New Roman"/>
              </a:rPr>
              <a:t>♥</a:t>
            </a:r>
            <a:endParaRPr lang="en-US" sz="2800" dirty="0">
              <a:solidFill>
                <a:srgbClr val="FF0000"/>
              </a:solidFill>
            </a:endParaRPr>
          </a:p>
        </p:txBody>
      </p:sp>
      <p:sp>
        <p:nvSpPr>
          <p:cNvPr id="14" name="TextBox 13"/>
          <p:cNvSpPr txBox="1"/>
          <p:nvPr/>
        </p:nvSpPr>
        <p:spPr>
          <a:xfrm>
            <a:off x="3030835" y="5334000"/>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J</a:t>
            </a:r>
            <a:r>
              <a:rPr lang="en-US" sz="2800" dirty="0" smtClean="0">
                <a:solidFill>
                  <a:srgbClr val="FF0000"/>
                </a:solidFill>
                <a:cs typeface="Times New Roman"/>
              </a:rPr>
              <a:t>♥</a:t>
            </a:r>
            <a:endParaRPr lang="en-US" sz="2800" dirty="0">
              <a:solidFill>
                <a:srgbClr val="FF0000"/>
              </a:solidFill>
            </a:endParaRPr>
          </a:p>
        </p:txBody>
      </p:sp>
      <p:sp>
        <p:nvSpPr>
          <p:cNvPr id="15" name="TextBox 14"/>
          <p:cNvSpPr txBox="1"/>
          <p:nvPr/>
        </p:nvSpPr>
        <p:spPr>
          <a:xfrm>
            <a:off x="2365970" y="5643600"/>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Q</a:t>
            </a:r>
            <a:r>
              <a:rPr lang="en-US" sz="2800" dirty="0" smtClean="0">
                <a:solidFill>
                  <a:srgbClr val="FF0000"/>
                </a:solidFill>
                <a:cs typeface="Times New Roman"/>
              </a:rPr>
              <a:t>♥</a:t>
            </a:r>
            <a:endParaRPr lang="en-US" sz="2800" dirty="0">
              <a:solidFill>
                <a:srgbClr val="FF0000"/>
              </a:solidFill>
            </a:endParaRPr>
          </a:p>
        </p:txBody>
      </p:sp>
      <p:sp>
        <p:nvSpPr>
          <p:cNvPr id="16" name="TextBox 15"/>
          <p:cNvSpPr txBox="1"/>
          <p:nvPr/>
        </p:nvSpPr>
        <p:spPr>
          <a:xfrm>
            <a:off x="2950856" y="5643600"/>
            <a:ext cx="834051"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K</a:t>
            </a:r>
            <a:r>
              <a:rPr lang="en-US" sz="2800" dirty="0" smtClean="0">
                <a:solidFill>
                  <a:srgbClr val="FF0000"/>
                </a:solidFill>
                <a:cs typeface="Times New Roman"/>
              </a:rPr>
              <a:t>♥</a:t>
            </a:r>
            <a:endParaRPr lang="en-US" sz="2800" dirty="0">
              <a:solidFill>
                <a:srgbClr val="FF0000"/>
              </a:solidFill>
            </a:endParaRPr>
          </a:p>
        </p:txBody>
      </p:sp>
      <p:sp>
        <p:nvSpPr>
          <p:cNvPr id="17" name="TextBox 16"/>
          <p:cNvSpPr txBox="1"/>
          <p:nvPr/>
        </p:nvSpPr>
        <p:spPr>
          <a:xfrm>
            <a:off x="2612112" y="4281844"/>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2</a:t>
            </a:r>
            <a:r>
              <a:rPr lang="en-US" sz="2800" dirty="0" smtClean="0">
                <a:solidFill>
                  <a:srgbClr val="FF0000"/>
                </a:solidFill>
                <a:cs typeface="Times New Roman"/>
              </a:rPr>
              <a:t>♥</a:t>
            </a:r>
            <a:endParaRPr lang="en-US" sz="2800" dirty="0">
              <a:solidFill>
                <a:srgbClr val="FF0000"/>
              </a:solidFill>
            </a:endParaRPr>
          </a:p>
        </p:txBody>
      </p:sp>
      <p:sp>
        <p:nvSpPr>
          <p:cNvPr id="18" name="TextBox 17"/>
          <p:cNvSpPr txBox="1"/>
          <p:nvPr/>
        </p:nvSpPr>
        <p:spPr>
          <a:xfrm>
            <a:off x="1987611" y="4641159"/>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4</a:t>
            </a:r>
            <a:r>
              <a:rPr lang="en-US" sz="2800" dirty="0" smtClean="0">
                <a:solidFill>
                  <a:srgbClr val="FF0000"/>
                </a:solidFill>
                <a:cs typeface="Times New Roman"/>
              </a:rPr>
              <a:t>♥</a:t>
            </a:r>
            <a:endParaRPr lang="en-US" sz="2800" dirty="0">
              <a:solidFill>
                <a:srgbClr val="FF0000"/>
              </a:solidFill>
            </a:endParaRPr>
          </a:p>
        </p:txBody>
      </p:sp>
      <p:sp>
        <p:nvSpPr>
          <p:cNvPr id="19" name="TextBox 18"/>
          <p:cNvSpPr txBox="1"/>
          <p:nvPr/>
        </p:nvSpPr>
        <p:spPr>
          <a:xfrm>
            <a:off x="3240763" y="4270036"/>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3</a:t>
            </a:r>
            <a:r>
              <a:rPr lang="en-US" sz="2800" dirty="0" smtClean="0">
                <a:solidFill>
                  <a:srgbClr val="FF0000"/>
                </a:solidFill>
                <a:cs typeface="Times New Roman"/>
              </a:rPr>
              <a:t>♥</a:t>
            </a:r>
            <a:endParaRPr lang="en-US" sz="2800" dirty="0">
              <a:solidFill>
                <a:srgbClr val="FF0000"/>
              </a:solidFill>
            </a:endParaRPr>
          </a:p>
        </p:txBody>
      </p:sp>
      <p:sp>
        <p:nvSpPr>
          <p:cNvPr id="20" name="TextBox 19"/>
          <p:cNvSpPr txBox="1"/>
          <p:nvPr/>
        </p:nvSpPr>
        <p:spPr>
          <a:xfrm>
            <a:off x="2660397" y="4641159"/>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5</a:t>
            </a:r>
            <a:r>
              <a:rPr lang="en-US" sz="2800" dirty="0" smtClean="0">
                <a:solidFill>
                  <a:srgbClr val="FF0000"/>
                </a:solidFill>
                <a:cs typeface="Times New Roman"/>
              </a:rPr>
              <a:t>♥</a:t>
            </a:r>
            <a:endParaRPr lang="en-US" sz="2800" dirty="0">
              <a:solidFill>
                <a:srgbClr val="FF0000"/>
              </a:solidFill>
            </a:endParaRPr>
          </a:p>
        </p:txBody>
      </p:sp>
      <p:sp>
        <p:nvSpPr>
          <p:cNvPr id="21" name="TextBox 20"/>
          <p:cNvSpPr txBox="1"/>
          <p:nvPr/>
        </p:nvSpPr>
        <p:spPr>
          <a:xfrm>
            <a:off x="3345628" y="4622046"/>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6</a:t>
            </a:r>
            <a:r>
              <a:rPr lang="en-US" sz="2800" dirty="0" smtClean="0">
                <a:solidFill>
                  <a:srgbClr val="FF0000"/>
                </a:solidFill>
                <a:cs typeface="Times New Roman"/>
              </a:rPr>
              <a:t>♥</a:t>
            </a:r>
            <a:endParaRPr lang="en-US" sz="2800" dirty="0">
              <a:solidFill>
                <a:srgbClr val="FF0000"/>
              </a:solidFill>
            </a:endParaRPr>
          </a:p>
        </p:txBody>
      </p:sp>
      <p:sp>
        <p:nvSpPr>
          <p:cNvPr id="22" name="TextBox 21"/>
          <p:cNvSpPr txBox="1"/>
          <p:nvPr/>
        </p:nvSpPr>
        <p:spPr>
          <a:xfrm>
            <a:off x="2057117" y="5334000"/>
            <a:ext cx="897612"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10</a:t>
            </a:r>
            <a:r>
              <a:rPr lang="en-US" sz="2800" dirty="0" smtClean="0">
                <a:solidFill>
                  <a:srgbClr val="FF0000"/>
                </a:solidFill>
                <a:cs typeface="Times New Roman"/>
              </a:rPr>
              <a:t>♥</a:t>
            </a:r>
            <a:endParaRPr lang="en-US" sz="2800" dirty="0">
              <a:solidFill>
                <a:srgbClr val="FF0000"/>
              </a:solidFill>
            </a:endParaRPr>
          </a:p>
        </p:txBody>
      </p:sp>
      <p:sp>
        <p:nvSpPr>
          <p:cNvPr id="23" name="TextBox 22"/>
          <p:cNvSpPr txBox="1"/>
          <p:nvPr/>
        </p:nvSpPr>
        <p:spPr>
          <a:xfrm>
            <a:off x="2612112" y="5047680"/>
            <a:ext cx="838200"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8</a:t>
            </a:r>
            <a:r>
              <a:rPr lang="en-US" sz="2800" dirty="0" smtClean="0">
                <a:solidFill>
                  <a:srgbClr val="FF0000"/>
                </a:solidFill>
                <a:cs typeface="Times New Roman"/>
              </a:rPr>
              <a:t>♥</a:t>
            </a:r>
            <a:endParaRPr lang="en-US" sz="2800" dirty="0">
              <a:solidFill>
                <a:srgbClr val="FF0000"/>
              </a:solidFill>
            </a:endParaRPr>
          </a:p>
        </p:txBody>
      </p:sp>
      <p:sp>
        <p:nvSpPr>
          <p:cNvPr id="24" name="TextBox 23"/>
          <p:cNvSpPr txBox="1"/>
          <p:nvPr/>
        </p:nvSpPr>
        <p:spPr>
          <a:xfrm>
            <a:off x="3367882" y="5055038"/>
            <a:ext cx="838200"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9</a:t>
            </a:r>
            <a:r>
              <a:rPr lang="en-US" sz="2800" dirty="0" smtClean="0">
                <a:solidFill>
                  <a:srgbClr val="FF0000"/>
                </a:solidFill>
                <a:cs typeface="Times New Roman"/>
              </a:rPr>
              <a:t>♥</a:t>
            </a:r>
            <a:endParaRPr lang="en-US" sz="2800" dirty="0">
              <a:solidFill>
                <a:srgbClr val="FF0000"/>
              </a:solidFill>
            </a:endParaRPr>
          </a:p>
        </p:txBody>
      </p:sp>
      <p:sp>
        <p:nvSpPr>
          <p:cNvPr id="25" name="TextBox 24"/>
          <p:cNvSpPr txBox="1"/>
          <p:nvPr/>
        </p:nvSpPr>
        <p:spPr>
          <a:xfrm>
            <a:off x="5625226" y="3998036"/>
            <a:ext cx="644495"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A</a:t>
            </a:r>
            <a:r>
              <a:rPr lang="en-US" sz="2800" dirty="0">
                <a:cs typeface="Times New Roman"/>
              </a:rPr>
              <a:t>♠</a:t>
            </a:r>
            <a:endParaRPr lang="en-US" sz="2800" dirty="0"/>
          </a:p>
        </p:txBody>
      </p:sp>
      <p:sp>
        <p:nvSpPr>
          <p:cNvPr id="26" name="TextBox 25"/>
          <p:cNvSpPr txBox="1"/>
          <p:nvPr/>
        </p:nvSpPr>
        <p:spPr>
          <a:xfrm>
            <a:off x="4939614" y="5134738"/>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7</a:t>
            </a:r>
            <a:r>
              <a:rPr lang="en-US" sz="2800" dirty="0">
                <a:cs typeface="Times New Roman"/>
              </a:rPr>
              <a:t> ♠</a:t>
            </a:r>
            <a:endParaRPr lang="en-US" sz="2800" dirty="0"/>
          </a:p>
        </p:txBody>
      </p:sp>
      <p:sp>
        <p:nvSpPr>
          <p:cNvPr id="27" name="TextBox 26"/>
          <p:cNvSpPr txBox="1"/>
          <p:nvPr/>
        </p:nvSpPr>
        <p:spPr>
          <a:xfrm>
            <a:off x="6023579" y="5413700"/>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J</a:t>
            </a:r>
            <a:r>
              <a:rPr lang="en-US" sz="2800" dirty="0">
                <a:cs typeface="Times New Roman"/>
              </a:rPr>
              <a:t> ♠</a:t>
            </a:r>
            <a:endParaRPr lang="en-US" sz="2800" dirty="0"/>
          </a:p>
        </p:txBody>
      </p:sp>
      <p:sp>
        <p:nvSpPr>
          <p:cNvPr id="28" name="TextBox 27"/>
          <p:cNvSpPr txBox="1"/>
          <p:nvPr/>
        </p:nvSpPr>
        <p:spPr>
          <a:xfrm>
            <a:off x="5358714" y="5723300"/>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Q</a:t>
            </a:r>
            <a:r>
              <a:rPr lang="en-US" sz="2800" dirty="0">
                <a:cs typeface="Times New Roman"/>
              </a:rPr>
              <a:t> ♠</a:t>
            </a:r>
            <a:endParaRPr lang="en-US" sz="2800" dirty="0"/>
          </a:p>
        </p:txBody>
      </p:sp>
      <p:sp>
        <p:nvSpPr>
          <p:cNvPr id="29" name="TextBox 28"/>
          <p:cNvSpPr txBox="1"/>
          <p:nvPr/>
        </p:nvSpPr>
        <p:spPr>
          <a:xfrm>
            <a:off x="5943600" y="5723300"/>
            <a:ext cx="834051"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K</a:t>
            </a:r>
            <a:r>
              <a:rPr lang="en-US" sz="2800" dirty="0">
                <a:cs typeface="Times New Roman"/>
              </a:rPr>
              <a:t> ♠</a:t>
            </a:r>
            <a:endParaRPr lang="en-US" sz="2800" dirty="0"/>
          </a:p>
        </p:txBody>
      </p:sp>
      <p:sp>
        <p:nvSpPr>
          <p:cNvPr id="30" name="TextBox 29"/>
          <p:cNvSpPr txBox="1"/>
          <p:nvPr/>
        </p:nvSpPr>
        <p:spPr>
          <a:xfrm>
            <a:off x="5604856" y="4361544"/>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2</a:t>
            </a:r>
            <a:r>
              <a:rPr lang="en-US" sz="2800" dirty="0">
                <a:cs typeface="Times New Roman"/>
              </a:rPr>
              <a:t> ♠</a:t>
            </a:r>
            <a:endParaRPr lang="en-US" sz="2800" dirty="0"/>
          </a:p>
        </p:txBody>
      </p:sp>
      <p:sp>
        <p:nvSpPr>
          <p:cNvPr id="31" name="TextBox 30"/>
          <p:cNvSpPr txBox="1"/>
          <p:nvPr/>
        </p:nvSpPr>
        <p:spPr>
          <a:xfrm>
            <a:off x="4980355" y="4720859"/>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4</a:t>
            </a:r>
            <a:r>
              <a:rPr lang="en-US" sz="2800" dirty="0">
                <a:cs typeface="Times New Roman"/>
              </a:rPr>
              <a:t> ♠</a:t>
            </a:r>
            <a:endParaRPr lang="en-US" sz="2800" dirty="0"/>
          </a:p>
        </p:txBody>
      </p:sp>
      <p:sp>
        <p:nvSpPr>
          <p:cNvPr id="32" name="TextBox 31"/>
          <p:cNvSpPr txBox="1"/>
          <p:nvPr/>
        </p:nvSpPr>
        <p:spPr>
          <a:xfrm>
            <a:off x="6233507" y="4349736"/>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3</a:t>
            </a:r>
            <a:r>
              <a:rPr lang="en-US" sz="2800" dirty="0">
                <a:cs typeface="Times New Roman"/>
              </a:rPr>
              <a:t> ♠</a:t>
            </a:r>
            <a:endParaRPr lang="en-US" sz="2800" dirty="0"/>
          </a:p>
        </p:txBody>
      </p:sp>
      <p:sp>
        <p:nvSpPr>
          <p:cNvPr id="33" name="TextBox 32"/>
          <p:cNvSpPr txBox="1"/>
          <p:nvPr/>
        </p:nvSpPr>
        <p:spPr>
          <a:xfrm>
            <a:off x="5653141" y="4720859"/>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5</a:t>
            </a:r>
            <a:r>
              <a:rPr lang="en-US" sz="2800" dirty="0">
                <a:cs typeface="Times New Roman"/>
              </a:rPr>
              <a:t> ♠</a:t>
            </a:r>
            <a:endParaRPr lang="en-US" sz="2800" dirty="0"/>
          </a:p>
        </p:txBody>
      </p:sp>
      <p:sp>
        <p:nvSpPr>
          <p:cNvPr id="34" name="TextBox 33"/>
          <p:cNvSpPr txBox="1"/>
          <p:nvPr/>
        </p:nvSpPr>
        <p:spPr>
          <a:xfrm>
            <a:off x="6338372" y="4701746"/>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6</a:t>
            </a:r>
            <a:r>
              <a:rPr lang="en-US" sz="2800" dirty="0">
                <a:cs typeface="Times New Roman"/>
              </a:rPr>
              <a:t> ♠</a:t>
            </a:r>
            <a:endParaRPr lang="en-US" sz="2800" dirty="0"/>
          </a:p>
        </p:txBody>
      </p:sp>
      <p:sp>
        <p:nvSpPr>
          <p:cNvPr id="35" name="TextBox 34"/>
          <p:cNvSpPr txBox="1"/>
          <p:nvPr/>
        </p:nvSpPr>
        <p:spPr>
          <a:xfrm>
            <a:off x="5049860" y="5413700"/>
            <a:ext cx="974095"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10</a:t>
            </a:r>
            <a:r>
              <a:rPr lang="en-US" sz="2800" dirty="0">
                <a:cs typeface="Times New Roman"/>
              </a:rPr>
              <a:t> ♠</a:t>
            </a:r>
            <a:endParaRPr lang="en-US" sz="2800" dirty="0"/>
          </a:p>
        </p:txBody>
      </p:sp>
      <p:sp>
        <p:nvSpPr>
          <p:cNvPr id="36" name="TextBox 35"/>
          <p:cNvSpPr txBox="1"/>
          <p:nvPr/>
        </p:nvSpPr>
        <p:spPr>
          <a:xfrm>
            <a:off x="5581089" y="5127380"/>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8</a:t>
            </a:r>
            <a:r>
              <a:rPr lang="en-US" sz="2800" dirty="0">
                <a:cs typeface="Times New Roman"/>
              </a:rPr>
              <a:t> ♠</a:t>
            </a:r>
            <a:endParaRPr lang="en-US" sz="2800" dirty="0"/>
          </a:p>
        </p:txBody>
      </p:sp>
      <p:sp>
        <p:nvSpPr>
          <p:cNvPr id="37" name="TextBox 36"/>
          <p:cNvSpPr txBox="1"/>
          <p:nvPr/>
        </p:nvSpPr>
        <p:spPr>
          <a:xfrm>
            <a:off x="6360626" y="5134738"/>
            <a:ext cx="838200" cy="523220"/>
          </a:xfrm>
          <a:prstGeom prst="rect">
            <a:avLst/>
          </a:prstGeom>
          <a:noFill/>
        </p:spPr>
        <p:txBody>
          <a:bodyPr wrap="square" rtlCol="0">
            <a:spAutoFit/>
          </a:bodyPr>
          <a:lstStyle/>
          <a:p>
            <a:r>
              <a:rPr lang="en-US" sz="2400" dirty="0" smtClean="0">
                <a:latin typeface="Segoe Print" panose="02000600000000000000" pitchFamily="2" charset="0"/>
                <a:cs typeface="Times New Roman"/>
              </a:rPr>
              <a:t>9</a:t>
            </a:r>
            <a:r>
              <a:rPr lang="en-US" sz="2800" dirty="0">
                <a:cs typeface="Times New Roman"/>
              </a:rPr>
              <a:t> ♠</a:t>
            </a:r>
            <a:endParaRPr lang="en-US" sz="2800" dirty="0"/>
          </a:p>
        </p:txBody>
      </p:sp>
    </p:spTree>
    <p:custDataLst>
      <p:tags r:id="rId1"/>
    </p:custDataLst>
    <p:extLst>
      <p:ext uri="{BB962C8B-B14F-4D97-AF65-F5344CB8AC3E}">
        <p14:creationId xmlns:p14="http://schemas.microsoft.com/office/powerpoint/2010/main" val="134159456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Disjoint Events</a:t>
            </a:r>
            <a:endParaRPr lang="en-US" sz="4000" b="1" dirty="0">
              <a:solidFill>
                <a:schemeClr val="accent6">
                  <a:lumMod val="75000"/>
                </a:schemeClr>
              </a:solidFill>
            </a:endParaRPr>
          </a:p>
        </p:txBody>
      </p:sp>
      <p:sp>
        <p:nvSpPr>
          <p:cNvPr id="7" name="TextBox 6"/>
          <p:cNvSpPr txBox="1"/>
          <p:nvPr/>
        </p:nvSpPr>
        <p:spPr>
          <a:xfrm>
            <a:off x="15240" y="1600199"/>
            <a:ext cx="9128760" cy="3323987"/>
          </a:xfrm>
          <a:prstGeom prst="rect">
            <a:avLst/>
          </a:prstGeom>
          <a:noFill/>
        </p:spPr>
        <p:txBody>
          <a:bodyPr wrap="square" rtlCol="0">
            <a:spAutoFit/>
          </a:bodyPr>
          <a:lstStyle/>
          <a:p>
            <a:pPr>
              <a:spcAft>
                <a:spcPts val="1800"/>
              </a:spcAft>
            </a:pPr>
            <a:r>
              <a:rPr lang="en-US" sz="3000" b="1" u="sng" dirty="0">
                <a:solidFill>
                  <a:schemeClr val="accent1">
                    <a:lumMod val="75000"/>
                  </a:schemeClr>
                </a:solidFill>
                <a:cs typeface="Times New Roman" pitchFamily="18" charset="0"/>
              </a:rPr>
              <a:t>Examples of Events that are </a:t>
            </a:r>
            <a:r>
              <a:rPr lang="en-US" sz="3000" b="1" u="sng" dirty="0">
                <a:solidFill>
                  <a:schemeClr val="accent2">
                    <a:lumMod val="75000"/>
                  </a:schemeClr>
                </a:solidFill>
                <a:cs typeface="Times New Roman" pitchFamily="18" charset="0"/>
              </a:rPr>
              <a:t>NOT</a:t>
            </a:r>
            <a:r>
              <a:rPr lang="en-US" sz="3000" b="1" u="sng" dirty="0">
                <a:solidFill>
                  <a:schemeClr val="accent1">
                    <a:lumMod val="75000"/>
                  </a:schemeClr>
                </a:solidFill>
                <a:cs typeface="Times New Roman" pitchFamily="18" charset="0"/>
              </a:rPr>
              <a:t> Disjoint:</a:t>
            </a:r>
          </a:p>
          <a:p>
            <a:pPr marL="514350" indent="-514350">
              <a:spcAft>
                <a:spcPts val="1800"/>
              </a:spcAft>
              <a:buFont typeface="+mj-lt"/>
              <a:buAutoNum type="arabicPeriod"/>
            </a:pPr>
            <a:r>
              <a:rPr lang="en-US" sz="3000" b="1" dirty="0" smtClean="0">
                <a:solidFill>
                  <a:schemeClr val="accent6">
                    <a:lumMod val="50000"/>
                  </a:schemeClr>
                </a:solidFill>
                <a:cs typeface="Times New Roman" pitchFamily="18" charset="0"/>
              </a:rPr>
              <a:t>A = Selecting a character from </a:t>
            </a:r>
            <a:r>
              <a:rPr lang="en-US" sz="3000" b="1" i="1" dirty="0">
                <a:solidFill>
                  <a:schemeClr val="accent6">
                    <a:lumMod val="50000"/>
                  </a:schemeClr>
                </a:solidFill>
                <a:cs typeface="Times New Roman" pitchFamily="18" charset="0"/>
              </a:rPr>
              <a:t>T</a:t>
            </a:r>
            <a:r>
              <a:rPr lang="en-US" sz="3000" b="1" i="1" dirty="0" smtClean="0">
                <a:solidFill>
                  <a:schemeClr val="accent6">
                    <a:lumMod val="50000"/>
                  </a:schemeClr>
                </a:solidFill>
                <a:cs typeface="Times New Roman" pitchFamily="18" charset="0"/>
              </a:rPr>
              <a:t>he Lord of the Rings; </a:t>
            </a:r>
          </a:p>
          <a:p>
            <a:pPr>
              <a:spcAft>
                <a:spcPts val="1800"/>
              </a:spcAft>
            </a:pPr>
            <a:r>
              <a:rPr lang="en-US" sz="3000" b="1" i="1" dirty="0" smtClean="0">
                <a:solidFill>
                  <a:schemeClr val="accent6">
                    <a:lumMod val="50000"/>
                  </a:schemeClr>
                </a:solidFill>
                <a:cs typeface="Times New Roman" pitchFamily="18" charset="0"/>
              </a:rPr>
              <a:t>      </a:t>
            </a:r>
            <a:r>
              <a:rPr lang="en-US" sz="3000" b="1" dirty="0">
                <a:solidFill>
                  <a:schemeClr val="accent6">
                    <a:lumMod val="50000"/>
                  </a:schemeClr>
                </a:solidFill>
                <a:cs typeface="Times New Roman" pitchFamily="18" charset="0"/>
              </a:rPr>
              <a:t>E</a:t>
            </a:r>
            <a:r>
              <a:rPr lang="en-US" sz="3000" b="1" dirty="0" smtClean="0">
                <a:solidFill>
                  <a:schemeClr val="accent6">
                    <a:lumMod val="50000"/>
                  </a:schemeClr>
                </a:solidFill>
                <a:cs typeface="Times New Roman" pitchFamily="18" charset="0"/>
              </a:rPr>
              <a:t> = Selecting a character from </a:t>
            </a:r>
            <a:r>
              <a:rPr lang="en-US" sz="3000" b="1" i="1" dirty="0" smtClean="0">
                <a:solidFill>
                  <a:schemeClr val="accent6">
                    <a:lumMod val="50000"/>
                  </a:schemeClr>
                </a:solidFill>
                <a:cs typeface="Times New Roman" pitchFamily="18" charset="0"/>
              </a:rPr>
              <a:t>The Hobbit</a:t>
            </a:r>
            <a:endParaRPr lang="en-US" sz="3000" b="1" i="1" dirty="0">
              <a:solidFill>
                <a:schemeClr val="accent6">
                  <a:lumMod val="50000"/>
                </a:schemeClr>
              </a:solidFill>
              <a:cs typeface="Times New Roman" pitchFamily="18" charset="0"/>
            </a:endParaRPr>
          </a:p>
          <a:p>
            <a:pPr>
              <a:spcAft>
                <a:spcPts val="1800"/>
              </a:spcAft>
            </a:pPr>
            <a:endParaRPr lang="en-US" sz="3000" b="1" i="1" dirty="0" smtClean="0">
              <a:solidFill>
                <a:schemeClr val="accent6">
                  <a:lumMod val="50000"/>
                </a:schemeClr>
              </a:solidFill>
              <a:cs typeface="Times New Roman" pitchFamily="18" charset="0"/>
            </a:endParaRPr>
          </a:p>
          <a:p>
            <a:pPr>
              <a:spcAft>
                <a:spcPts val="1800"/>
              </a:spcAft>
            </a:pPr>
            <a:endParaRPr lang="en-US" sz="3000" b="1" i="1" dirty="0" smtClean="0">
              <a:solidFill>
                <a:schemeClr val="accent6">
                  <a:lumMod val="50000"/>
                </a:schemeClr>
              </a:solidFill>
              <a:cs typeface="Times New Roman" pitchFamily="18" charset="0"/>
            </a:endParaRPr>
          </a:p>
        </p:txBody>
      </p:sp>
      <p:pic>
        <p:nvPicPr>
          <p:cNvPr id="40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433" y="3540658"/>
            <a:ext cx="5543356" cy="3317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3543300" y="4626497"/>
            <a:ext cx="1219200" cy="369332"/>
          </a:xfrm>
          <a:prstGeom prst="rect">
            <a:avLst/>
          </a:prstGeom>
          <a:noFill/>
        </p:spPr>
        <p:txBody>
          <a:bodyPr wrap="square" rtlCol="0">
            <a:spAutoFit/>
          </a:bodyPr>
          <a:lstStyle/>
          <a:p>
            <a:r>
              <a:rPr lang="en-US" dirty="0" smtClean="0">
                <a:latin typeface="Segoe Print" panose="02000600000000000000" pitchFamily="2" charset="0"/>
              </a:rPr>
              <a:t>Gollum</a:t>
            </a:r>
            <a:endParaRPr lang="en-US" dirty="0">
              <a:latin typeface="Segoe Print" panose="02000600000000000000" pitchFamily="2" charset="0"/>
            </a:endParaRPr>
          </a:p>
        </p:txBody>
      </p:sp>
      <p:sp>
        <p:nvSpPr>
          <p:cNvPr id="8" name="TextBox 7"/>
          <p:cNvSpPr txBox="1"/>
          <p:nvPr/>
        </p:nvSpPr>
        <p:spPr>
          <a:xfrm>
            <a:off x="3496976" y="5014663"/>
            <a:ext cx="1174687" cy="369332"/>
          </a:xfrm>
          <a:prstGeom prst="rect">
            <a:avLst/>
          </a:prstGeom>
          <a:noFill/>
        </p:spPr>
        <p:txBody>
          <a:bodyPr wrap="square" rtlCol="0">
            <a:spAutoFit/>
          </a:bodyPr>
          <a:lstStyle/>
          <a:p>
            <a:r>
              <a:rPr lang="en-US" dirty="0" smtClean="0">
                <a:latin typeface="Segoe Print" panose="02000600000000000000" pitchFamily="2" charset="0"/>
              </a:rPr>
              <a:t>Gandalf</a:t>
            </a:r>
            <a:endParaRPr lang="en-US" dirty="0">
              <a:latin typeface="Segoe Print" panose="02000600000000000000" pitchFamily="2" charset="0"/>
            </a:endParaRPr>
          </a:p>
        </p:txBody>
      </p:sp>
      <p:sp>
        <p:nvSpPr>
          <p:cNvPr id="10" name="TextBox 9"/>
          <p:cNvSpPr txBox="1"/>
          <p:nvPr/>
        </p:nvSpPr>
        <p:spPr>
          <a:xfrm>
            <a:off x="2107948" y="5741545"/>
            <a:ext cx="990600" cy="369332"/>
          </a:xfrm>
          <a:prstGeom prst="rect">
            <a:avLst/>
          </a:prstGeom>
          <a:noFill/>
        </p:spPr>
        <p:txBody>
          <a:bodyPr wrap="square" rtlCol="0">
            <a:spAutoFit/>
          </a:bodyPr>
          <a:lstStyle/>
          <a:p>
            <a:r>
              <a:rPr lang="en-US" dirty="0" smtClean="0">
                <a:latin typeface="Segoe Print" panose="02000600000000000000" pitchFamily="2" charset="0"/>
              </a:rPr>
              <a:t>Gimli…</a:t>
            </a:r>
            <a:endParaRPr lang="en-US" dirty="0">
              <a:latin typeface="Segoe Print" panose="02000600000000000000" pitchFamily="2" charset="0"/>
            </a:endParaRPr>
          </a:p>
        </p:txBody>
      </p:sp>
      <p:sp>
        <p:nvSpPr>
          <p:cNvPr id="11" name="TextBox 10"/>
          <p:cNvSpPr txBox="1"/>
          <p:nvPr/>
        </p:nvSpPr>
        <p:spPr>
          <a:xfrm>
            <a:off x="1779361" y="5163971"/>
            <a:ext cx="990600" cy="369332"/>
          </a:xfrm>
          <a:prstGeom prst="rect">
            <a:avLst/>
          </a:prstGeom>
          <a:noFill/>
        </p:spPr>
        <p:txBody>
          <a:bodyPr wrap="square" rtlCol="0">
            <a:spAutoFit/>
          </a:bodyPr>
          <a:lstStyle>
            <a:defPPr>
              <a:defRPr lang="en-US"/>
            </a:defPPr>
            <a:lvl1pPr>
              <a:defRPr>
                <a:latin typeface="Segoe Print" panose="02000600000000000000" pitchFamily="2" charset="0"/>
              </a:defRPr>
            </a:lvl1pPr>
          </a:lstStyle>
          <a:p>
            <a:r>
              <a:rPr lang="en-US" dirty="0" err="1"/>
              <a:t>Éowyn</a:t>
            </a:r>
            <a:endParaRPr lang="en-US" dirty="0"/>
          </a:p>
        </p:txBody>
      </p:sp>
      <p:sp>
        <p:nvSpPr>
          <p:cNvPr id="12" name="TextBox 11"/>
          <p:cNvSpPr txBox="1"/>
          <p:nvPr/>
        </p:nvSpPr>
        <p:spPr>
          <a:xfrm>
            <a:off x="3589020" y="5383995"/>
            <a:ext cx="990600" cy="369332"/>
          </a:xfrm>
          <a:prstGeom prst="rect">
            <a:avLst/>
          </a:prstGeom>
          <a:noFill/>
        </p:spPr>
        <p:txBody>
          <a:bodyPr wrap="square" rtlCol="0">
            <a:spAutoFit/>
          </a:bodyPr>
          <a:lstStyle>
            <a:defPPr>
              <a:defRPr lang="en-US"/>
            </a:defPPr>
            <a:lvl1pPr>
              <a:defRPr>
                <a:latin typeface="Segoe Print" panose="02000600000000000000" pitchFamily="2" charset="0"/>
              </a:defRPr>
            </a:lvl1pPr>
          </a:lstStyle>
          <a:p>
            <a:r>
              <a:rPr lang="en-US" dirty="0" smtClean="0"/>
              <a:t>Bilbo…</a:t>
            </a:r>
            <a:endParaRPr lang="en-US" dirty="0"/>
          </a:p>
        </p:txBody>
      </p:sp>
      <p:sp>
        <p:nvSpPr>
          <p:cNvPr id="13" name="Rectangle 12"/>
          <p:cNvSpPr/>
          <p:nvPr/>
        </p:nvSpPr>
        <p:spPr>
          <a:xfrm>
            <a:off x="1797468" y="4611969"/>
            <a:ext cx="1358064" cy="369332"/>
          </a:xfrm>
          <a:prstGeom prst="rect">
            <a:avLst/>
          </a:prstGeom>
        </p:spPr>
        <p:txBody>
          <a:bodyPr wrap="none">
            <a:spAutoFit/>
          </a:bodyPr>
          <a:lstStyle/>
          <a:p>
            <a:r>
              <a:rPr lang="en-US" dirty="0" err="1">
                <a:latin typeface="Segoe Print" panose="02000600000000000000" pitchFamily="2" charset="0"/>
              </a:rPr>
              <a:t>Treebeard</a:t>
            </a:r>
            <a:endParaRPr lang="en-US" dirty="0">
              <a:latin typeface="Segoe Print" panose="02000600000000000000" pitchFamily="2" charset="0"/>
            </a:endParaRPr>
          </a:p>
        </p:txBody>
      </p:sp>
      <p:sp>
        <p:nvSpPr>
          <p:cNvPr id="2" name="Rectangle 1"/>
          <p:cNvSpPr/>
          <p:nvPr/>
        </p:nvSpPr>
        <p:spPr>
          <a:xfrm>
            <a:off x="4738433" y="5723332"/>
            <a:ext cx="966931" cy="369332"/>
          </a:xfrm>
          <a:prstGeom prst="rect">
            <a:avLst/>
          </a:prstGeom>
        </p:spPr>
        <p:txBody>
          <a:bodyPr wrap="none">
            <a:spAutoFit/>
          </a:bodyPr>
          <a:lstStyle/>
          <a:p>
            <a:r>
              <a:rPr lang="en-US" dirty="0" err="1" smtClean="0">
                <a:latin typeface="Segoe Print" panose="02000600000000000000" pitchFamily="2" charset="0"/>
              </a:rPr>
              <a:t>Glóin</a:t>
            </a:r>
            <a:r>
              <a:rPr lang="en-US" dirty="0" smtClean="0">
                <a:latin typeface="Segoe Print" panose="02000600000000000000" pitchFamily="2" charset="0"/>
              </a:rPr>
              <a:t>…</a:t>
            </a:r>
            <a:endParaRPr lang="en-US" dirty="0">
              <a:latin typeface="Segoe Print" panose="02000600000000000000" pitchFamily="2" charset="0"/>
            </a:endParaRPr>
          </a:p>
        </p:txBody>
      </p:sp>
      <p:sp>
        <p:nvSpPr>
          <p:cNvPr id="14" name="TextBox 13"/>
          <p:cNvSpPr txBox="1"/>
          <p:nvPr/>
        </p:nvSpPr>
        <p:spPr>
          <a:xfrm>
            <a:off x="2552700" y="4104298"/>
            <a:ext cx="990600" cy="369332"/>
          </a:xfrm>
          <a:prstGeom prst="rect">
            <a:avLst/>
          </a:prstGeom>
          <a:noFill/>
        </p:spPr>
        <p:txBody>
          <a:bodyPr wrap="square" rtlCol="0">
            <a:spAutoFit/>
          </a:bodyPr>
          <a:lstStyle/>
          <a:p>
            <a:r>
              <a:rPr lang="en-US" dirty="0" smtClean="0">
                <a:latin typeface="Segoe Print" panose="02000600000000000000" pitchFamily="2" charset="0"/>
              </a:rPr>
              <a:t>Sam</a:t>
            </a:r>
            <a:endParaRPr lang="en-US" dirty="0">
              <a:latin typeface="Segoe Print" panose="02000600000000000000" pitchFamily="2" charset="0"/>
            </a:endParaRPr>
          </a:p>
        </p:txBody>
      </p:sp>
      <p:sp>
        <p:nvSpPr>
          <p:cNvPr id="15" name="TextBox 14"/>
          <p:cNvSpPr txBox="1"/>
          <p:nvPr/>
        </p:nvSpPr>
        <p:spPr>
          <a:xfrm>
            <a:off x="4634695" y="4185676"/>
            <a:ext cx="990600" cy="369332"/>
          </a:xfrm>
          <a:prstGeom prst="rect">
            <a:avLst/>
          </a:prstGeom>
          <a:noFill/>
        </p:spPr>
        <p:txBody>
          <a:bodyPr wrap="square" rtlCol="0">
            <a:spAutoFit/>
          </a:bodyPr>
          <a:lstStyle/>
          <a:p>
            <a:r>
              <a:rPr lang="en-US" dirty="0" err="1" smtClean="0">
                <a:latin typeface="Segoe Print" panose="02000600000000000000" pitchFamily="2" charset="0"/>
              </a:rPr>
              <a:t>Smaug</a:t>
            </a:r>
            <a:endParaRPr lang="en-US" dirty="0">
              <a:latin typeface="Segoe Print" panose="02000600000000000000" pitchFamily="2" charset="0"/>
            </a:endParaRPr>
          </a:p>
        </p:txBody>
      </p:sp>
      <p:sp>
        <p:nvSpPr>
          <p:cNvPr id="16" name="TextBox 15"/>
          <p:cNvSpPr txBox="1"/>
          <p:nvPr/>
        </p:nvSpPr>
        <p:spPr>
          <a:xfrm>
            <a:off x="5029200" y="4979305"/>
            <a:ext cx="990600" cy="369332"/>
          </a:xfrm>
          <a:prstGeom prst="rect">
            <a:avLst/>
          </a:prstGeom>
          <a:noFill/>
        </p:spPr>
        <p:txBody>
          <a:bodyPr wrap="square" rtlCol="0">
            <a:spAutoFit/>
          </a:bodyPr>
          <a:lstStyle/>
          <a:p>
            <a:r>
              <a:rPr lang="en-US" dirty="0" err="1" smtClean="0">
                <a:latin typeface="Segoe Print" panose="02000600000000000000" pitchFamily="2" charset="0"/>
              </a:rPr>
              <a:t>Thorin</a:t>
            </a:r>
            <a:endParaRPr lang="en-US" dirty="0">
              <a:latin typeface="Segoe Print" panose="02000600000000000000" pitchFamily="2" charset="0"/>
            </a:endParaRPr>
          </a:p>
        </p:txBody>
      </p:sp>
      <p:sp>
        <p:nvSpPr>
          <p:cNvPr id="17" name="TextBox 16"/>
          <p:cNvSpPr txBox="1"/>
          <p:nvPr/>
        </p:nvSpPr>
        <p:spPr>
          <a:xfrm>
            <a:off x="2007228" y="4157616"/>
            <a:ext cx="533400" cy="461665"/>
          </a:xfrm>
          <a:prstGeom prst="rect">
            <a:avLst/>
          </a:prstGeom>
          <a:noFill/>
        </p:spPr>
        <p:txBody>
          <a:bodyPr wrap="square" rtlCol="0">
            <a:spAutoFit/>
          </a:bodyPr>
          <a:lstStyle/>
          <a:p>
            <a:r>
              <a:rPr lang="en-US" sz="2400" b="1" dirty="0" smtClean="0">
                <a:solidFill>
                  <a:schemeClr val="tx1">
                    <a:lumMod val="85000"/>
                    <a:lumOff val="15000"/>
                  </a:schemeClr>
                </a:solidFill>
              </a:rPr>
              <a:t>A</a:t>
            </a:r>
            <a:endParaRPr lang="en-US" sz="2400" b="1" dirty="0">
              <a:solidFill>
                <a:schemeClr val="tx1">
                  <a:lumMod val="85000"/>
                  <a:lumOff val="15000"/>
                </a:schemeClr>
              </a:solidFill>
            </a:endParaRPr>
          </a:p>
        </p:txBody>
      </p:sp>
      <p:sp>
        <p:nvSpPr>
          <p:cNvPr id="18" name="TextBox 17"/>
          <p:cNvSpPr txBox="1"/>
          <p:nvPr/>
        </p:nvSpPr>
        <p:spPr>
          <a:xfrm>
            <a:off x="5753100" y="4150304"/>
            <a:ext cx="533400" cy="461665"/>
          </a:xfrm>
          <a:prstGeom prst="rect">
            <a:avLst/>
          </a:prstGeom>
          <a:noFill/>
        </p:spPr>
        <p:txBody>
          <a:bodyPr wrap="square" rtlCol="0">
            <a:spAutoFit/>
          </a:bodyPr>
          <a:lstStyle/>
          <a:p>
            <a:r>
              <a:rPr lang="en-US" sz="2400" b="1" dirty="0">
                <a:solidFill>
                  <a:schemeClr val="tx1">
                    <a:lumMod val="85000"/>
                    <a:lumOff val="15000"/>
                  </a:schemeClr>
                </a:solidFill>
              </a:rPr>
              <a:t>E</a:t>
            </a:r>
          </a:p>
        </p:txBody>
      </p:sp>
    </p:spTree>
    <p:custDataLst>
      <p:tags r:id="rId1"/>
    </p:custDataLst>
    <p:extLst>
      <p:ext uri="{BB962C8B-B14F-4D97-AF65-F5344CB8AC3E}">
        <p14:creationId xmlns:p14="http://schemas.microsoft.com/office/powerpoint/2010/main" val="2354897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P spid="12" grpId="0"/>
      <p:bldP spid="13" grpId="0"/>
      <p:bldP spid="2" grpId="0"/>
      <p:bldP spid="14" grpId="0"/>
      <p:bldP spid="15"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Disjoint Events</a:t>
            </a:r>
            <a:endParaRPr lang="en-US" sz="4000" b="1" dirty="0">
              <a:solidFill>
                <a:schemeClr val="accent6">
                  <a:lumMod val="75000"/>
                </a:schemeClr>
              </a:solidFill>
            </a:endParaRPr>
          </a:p>
        </p:txBody>
      </p:sp>
      <p:sp>
        <p:nvSpPr>
          <p:cNvPr id="7" name="TextBox 6"/>
          <p:cNvSpPr txBox="1"/>
          <p:nvPr/>
        </p:nvSpPr>
        <p:spPr>
          <a:xfrm>
            <a:off x="15240" y="1600199"/>
            <a:ext cx="9128760" cy="1938992"/>
          </a:xfrm>
          <a:prstGeom prst="rect">
            <a:avLst/>
          </a:prstGeom>
          <a:noFill/>
        </p:spPr>
        <p:txBody>
          <a:bodyPr wrap="square" rtlCol="0">
            <a:spAutoFit/>
          </a:bodyPr>
          <a:lstStyle/>
          <a:p>
            <a:pPr>
              <a:spcAft>
                <a:spcPts val="1800"/>
              </a:spcAft>
            </a:pPr>
            <a:r>
              <a:rPr lang="en-US" sz="3000" b="1" u="sng" dirty="0">
                <a:solidFill>
                  <a:schemeClr val="accent1">
                    <a:lumMod val="75000"/>
                  </a:schemeClr>
                </a:solidFill>
                <a:cs typeface="Times New Roman" pitchFamily="18" charset="0"/>
              </a:rPr>
              <a:t>Examples of Events that are </a:t>
            </a:r>
            <a:r>
              <a:rPr lang="en-US" sz="3000" b="1" u="sng" dirty="0">
                <a:solidFill>
                  <a:schemeClr val="accent2">
                    <a:lumMod val="75000"/>
                  </a:schemeClr>
                </a:solidFill>
                <a:cs typeface="Times New Roman" pitchFamily="18" charset="0"/>
              </a:rPr>
              <a:t>NOT</a:t>
            </a:r>
            <a:r>
              <a:rPr lang="en-US" sz="3000" b="1" u="sng" dirty="0">
                <a:solidFill>
                  <a:schemeClr val="accent1">
                    <a:lumMod val="75000"/>
                  </a:schemeClr>
                </a:solidFill>
                <a:cs typeface="Times New Roman" pitchFamily="18" charset="0"/>
              </a:rPr>
              <a:t> Disjoint:</a:t>
            </a:r>
          </a:p>
          <a:p>
            <a:pPr>
              <a:spcAft>
                <a:spcPts val="1800"/>
              </a:spcAft>
            </a:pPr>
            <a:r>
              <a:rPr lang="en-US" sz="3000" b="1" dirty="0" smtClean="0">
                <a:solidFill>
                  <a:schemeClr val="accent6">
                    <a:lumMod val="50000"/>
                  </a:schemeClr>
                </a:solidFill>
                <a:cs typeface="Times New Roman" pitchFamily="18" charset="0"/>
              </a:rPr>
              <a:t>2.  When drawing a single playing card</a:t>
            </a:r>
          </a:p>
          <a:p>
            <a:pPr>
              <a:spcAft>
                <a:spcPts val="1800"/>
              </a:spcAft>
            </a:pPr>
            <a:r>
              <a:rPr lang="en-US" sz="3000" b="1" dirty="0">
                <a:solidFill>
                  <a:schemeClr val="accent6">
                    <a:lumMod val="50000"/>
                  </a:schemeClr>
                </a:solidFill>
                <a:cs typeface="Times New Roman" pitchFamily="18" charset="0"/>
              </a:rPr>
              <a:t> </a:t>
            </a:r>
            <a:r>
              <a:rPr lang="en-US" sz="3000" b="1" dirty="0" smtClean="0">
                <a:solidFill>
                  <a:schemeClr val="accent6">
                    <a:lumMod val="50000"/>
                  </a:schemeClr>
                </a:solidFill>
                <a:cs typeface="Times New Roman" pitchFamily="18" charset="0"/>
              </a:rPr>
              <a:t>   C = Drawing a heart;  F = Drawing a queen</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6277" y="3540659"/>
            <a:ext cx="5543356" cy="3317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632482" y="3918336"/>
            <a:ext cx="644495"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A</a:t>
            </a:r>
            <a:r>
              <a:rPr lang="en-US" sz="2800" dirty="0" smtClean="0">
                <a:solidFill>
                  <a:srgbClr val="FF0000"/>
                </a:solidFill>
                <a:cs typeface="Times New Roman"/>
              </a:rPr>
              <a:t>♥</a:t>
            </a:r>
            <a:endParaRPr lang="en-US" sz="2800" dirty="0">
              <a:solidFill>
                <a:srgbClr val="FF0000"/>
              </a:solidFill>
            </a:endParaRPr>
          </a:p>
        </p:txBody>
      </p:sp>
      <p:sp>
        <p:nvSpPr>
          <p:cNvPr id="8" name="TextBox 7"/>
          <p:cNvSpPr txBox="1"/>
          <p:nvPr/>
        </p:nvSpPr>
        <p:spPr>
          <a:xfrm>
            <a:off x="1693281" y="5086343"/>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7</a:t>
            </a:r>
            <a:r>
              <a:rPr lang="en-US" sz="2800" dirty="0" smtClean="0">
                <a:solidFill>
                  <a:srgbClr val="FF0000"/>
                </a:solidFill>
                <a:cs typeface="Times New Roman"/>
              </a:rPr>
              <a:t>♥</a:t>
            </a:r>
            <a:endParaRPr lang="en-US" sz="2800" dirty="0">
              <a:solidFill>
                <a:srgbClr val="FF0000"/>
              </a:solidFill>
            </a:endParaRPr>
          </a:p>
        </p:txBody>
      </p:sp>
      <p:sp>
        <p:nvSpPr>
          <p:cNvPr id="9" name="TextBox 8"/>
          <p:cNvSpPr txBox="1"/>
          <p:nvPr/>
        </p:nvSpPr>
        <p:spPr>
          <a:xfrm>
            <a:off x="2789969" y="5595610"/>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J</a:t>
            </a:r>
            <a:r>
              <a:rPr lang="en-US" sz="2800" dirty="0" smtClean="0">
                <a:solidFill>
                  <a:srgbClr val="FF0000"/>
                </a:solidFill>
                <a:cs typeface="Times New Roman"/>
              </a:rPr>
              <a:t>♥</a:t>
            </a:r>
            <a:endParaRPr lang="en-US" sz="2800" dirty="0">
              <a:solidFill>
                <a:srgbClr val="FF0000"/>
              </a:solidFill>
            </a:endParaRPr>
          </a:p>
        </p:txBody>
      </p:sp>
      <p:sp>
        <p:nvSpPr>
          <p:cNvPr id="10" name="TextBox 9"/>
          <p:cNvSpPr txBox="1"/>
          <p:nvPr/>
        </p:nvSpPr>
        <p:spPr>
          <a:xfrm>
            <a:off x="3659863" y="4937719"/>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Q</a:t>
            </a:r>
            <a:r>
              <a:rPr lang="en-US" sz="2800" dirty="0" smtClean="0">
                <a:solidFill>
                  <a:srgbClr val="FF0000"/>
                </a:solidFill>
                <a:cs typeface="Times New Roman"/>
              </a:rPr>
              <a:t>♥</a:t>
            </a:r>
            <a:endParaRPr lang="en-US" sz="2800" dirty="0">
              <a:solidFill>
                <a:srgbClr val="FF0000"/>
              </a:solidFill>
            </a:endParaRPr>
          </a:p>
        </p:txBody>
      </p:sp>
      <p:sp>
        <p:nvSpPr>
          <p:cNvPr id="11" name="TextBox 10"/>
          <p:cNvSpPr txBox="1"/>
          <p:nvPr/>
        </p:nvSpPr>
        <p:spPr>
          <a:xfrm>
            <a:off x="2850520" y="6091562"/>
            <a:ext cx="834051"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K</a:t>
            </a:r>
            <a:r>
              <a:rPr lang="en-US" sz="2800" dirty="0" smtClean="0">
                <a:solidFill>
                  <a:srgbClr val="FF0000"/>
                </a:solidFill>
                <a:cs typeface="Times New Roman"/>
              </a:rPr>
              <a:t>♥</a:t>
            </a:r>
            <a:endParaRPr lang="en-US" sz="2800" dirty="0">
              <a:solidFill>
                <a:srgbClr val="FF0000"/>
              </a:solidFill>
            </a:endParaRPr>
          </a:p>
        </p:txBody>
      </p:sp>
      <p:sp>
        <p:nvSpPr>
          <p:cNvPr id="12" name="TextBox 11"/>
          <p:cNvSpPr txBox="1"/>
          <p:nvPr/>
        </p:nvSpPr>
        <p:spPr>
          <a:xfrm>
            <a:off x="2429346" y="4274069"/>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2</a:t>
            </a:r>
            <a:r>
              <a:rPr lang="en-US" sz="2800" dirty="0" smtClean="0">
                <a:solidFill>
                  <a:srgbClr val="FF0000"/>
                </a:solidFill>
                <a:cs typeface="Times New Roman"/>
              </a:rPr>
              <a:t>♥</a:t>
            </a:r>
            <a:endParaRPr lang="en-US" sz="2800" dirty="0">
              <a:solidFill>
                <a:srgbClr val="FF0000"/>
              </a:solidFill>
            </a:endParaRPr>
          </a:p>
        </p:txBody>
      </p:sp>
      <p:sp>
        <p:nvSpPr>
          <p:cNvPr id="13" name="TextBox 12"/>
          <p:cNvSpPr txBox="1"/>
          <p:nvPr/>
        </p:nvSpPr>
        <p:spPr>
          <a:xfrm>
            <a:off x="1714123" y="4722994"/>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4</a:t>
            </a:r>
            <a:r>
              <a:rPr lang="en-US" sz="2800" dirty="0" smtClean="0">
                <a:solidFill>
                  <a:srgbClr val="FF0000"/>
                </a:solidFill>
                <a:cs typeface="Times New Roman"/>
              </a:rPr>
              <a:t>♥</a:t>
            </a:r>
            <a:endParaRPr lang="en-US" sz="2800" dirty="0">
              <a:solidFill>
                <a:srgbClr val="FF0000"/>
              </a:solidFill>
            </a:endParaRPr>
          </a:p>
        </p:txBody>
      </p:sp>
      <p:sp>
        <p:nvSpPr>
          <p:cNvPr id="14" name="TextBox 13"/>
          <p:cNvSpPr txBox="1"/>
          <p:nvPr/>
        </p:nvSpPr>
        <p:spPr>
          <a:xfrm>
            <a:off x="3030835" y="4270034"/>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3</a:t>
            </a:r>
            <a:r>
              <a:rPr lang="en-US" sz="2800" dirty="0" smtClean="0">
                <a:solidFill>
                  <a:srgbClr val="FF0000"/>
                </a:solidFill>
                <a:cs typeface="Times New Roman"/>
              </a:rPr>
              <a:t>♥</a:t>
            </a:r>
            <a:endParaRPr lang="en-US" sz="2800" dirty="0">
              <a:solidFill>
                <a:srgbClr val="FF0000"/>
              </a:solidFill>
            </a:endParaRPr>
          </a:p>
        </p:txBody>
      </p:sp>
      <p:sp>
        <p:nvSpPr>
          <p:cNvPr id="15" name="TextBox 14"/>
          <p:cNvSpPr txBox="1"/>
          <p:nvPr/>
        </p:nvSpPr>
        <p:spPr>
          <a:xfrm>
            <a:off x="2365970" y="4722994"/>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5</a:t>
            </a:r>
            <a:r>
              <a:rPr lang="en-US" sz="2800" dirty="0" smtClean="0">
                <a:solidFill>
                  <a:srgbClr val="FF0000"/>
                </a:solidFill>
                <a:cs typeface="Times New Roman"/>
              </a:rPr>
              <a:t>♥</a:t>
            </a:r>
            <a:endParaRPr lang="en-US" sz="2800" dirty="0">
              <a:solidFill>
                <a:srgbClr val="FF0000"/>
              </a:solidFill>
            </a:endParaRPr>
          </a:p>
        </p:txBody>
      </p:sp>
      <p:sp>
        <p:nvSpPr>
          <p:cNvPr id="16" name="TextBox 15"/>
          <p:cNvSpPr txBox="1"/>
          <p:nvPr/>
        </p:nvSpPr>
        <p:spPr>
          <a:xfrm>
            <a:off x="2926528" y="4722994"/>
            <a:ext cx="838200" cy="523220"/>
          </a:xfrm>
          <a:prstGeom prst="rect">
            <a:avLst/>
          </a:prstGeom>
          <a:noFill/>
        </p:spPr>
        <p:txBody>
          <a:bodyPr wrap="square" rtlCol="0">
            <a:spAutoFit/>
          </a:bodyPr>
          <a:lstStyle/>
          <a:p>
            <a:r>
              <a:rPr lang="en-US" sz="2400" dirty="0">
                <a:solidFill>
                  <a:srgbClr val="FF0000"/>
                </a:solidFill>
                <a:latin typeface="Segoe Print" panose="02000600000000000000" pitchFamily="2" charset="0"/>
                <a:cs typeface="Times New Roman"/>
              </a:rPr>
              <a:t>6</a:t>
            </a:r>
            <a:r>
              <a:rPr lang="en-US" sz="2800" dirty="0" smtClean="0">
                <a:solidFill>
                  <a:srgbClr val="FF0000"/>
                </a:solidFill>
                <a:cs typeface="Times New Roman"/>
              </a:rPr>
              <a:t>♥</a:t>
            </a:r>
            <a:endParaRPr lang="en-US" sz="2800" dirty="0">
              <a:solidFill>
                <a:srgbClr val="FF0000"/>
              </a:solidFill>
            </a:endParaRPr>
          </a:p>
        </p:txBody>
      </p:sp>
      <p:sp>
        <p:nvSpPr>
          <p:cNvPr id="17" name="TextBox 16"/>
          <p:cNvSpPr txBox="1"/>
          <p:nvPr/>
        </p:nvSpPr>
        <p:spPr>
          <a:xfrm>
            <a:off x="1950834" y="5570900"/>
            <a:ext cx="897612"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10</a:t>
            </a:r>
            <a:r>
              <a:rPr lang="en-US" sz="2800" dirty="0" smtClean="0">
                <a:solidFill>
                  <a:srgbClr val="FF0000"/>
                </a:solidFill>
                <a:cs typeface="Times New Roman"/>
              </a:rPr>
              <a:t>♥</a:t>
            </a:r>
            <a:endParaRPr lang="en-US" sz="2800" dirty="0">
              <a:solidFill>
                <a:srgbClr val="FF0000"/>
              </a:solidFill>
            </a:endParaRPr>
          </a:p>
        </p:txBody>
      </p:sp>
      <p:sp>
        <p:nvSpPr>
          <p:cNvPr id="18" name="TextBox 17"/>
          <p:cNvSpPr txBox="1"/>
          <p:nvPr/>
        </p:nvSpPr>
        <p:spPr>
          <a:xfrm>
            <a:off x="2257612" y="5114531"/>
            <a:ext cx="838200"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8</a:t>
            </a:r>
            <a:r>
              <a:rPr lang="en-US" sz="2800" dirty="0" smtClean="0">
                <a:solidFill>
                  <a:srgbClr val="FF0000"/>
                </a:solidFill>
                <a:cs typeface="Times New Roman"/>
              </a:rPr>
              <a:t>♥</a:t>
            </a:r>
            <a:endParaRPr lang="en-US" sz="2800" dirty="0">
              <a:solidFill>
                <a:srgbClr val="FF0000"/>
              </a:solidFill>
            </a:endParaRPr>
          </a:p>
        </p:txBody>
      </p:sp>
      <p:sp>
        <p:nvSpPr>
          <p:cNvPr id="19" name="TextBox 18"/>
          <p:cNvSpPr txBox="1"/>
          <p:nvPr/>
        </p:nvSpPr>
        <p:spPr>
          <a:xfrm>
            <a:off x="2850520" y="5106879"/>
            <a:ext cx="838200" cy="523220"/>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9</a:t>
            </a:r>
            <a:r>
              <a:rPr lang="en-US" sz="2800" dirty="0" smtClean="0">
                <a:solidFill>
                  <a:srgbClr val="FF0000"/>
                </a:solidFill>
                <a:cs typeface="Times New Roman"/>
              </a:rPr>
              <a:t>♥</a:t>
            </a:r>
            <a:endParaRPr lang="en-US" sz="2800" dirty="0">
              <a:solidFill>
                <a:srgbClr val="FF0000"/>
              </a:solidFill>
            </a:endParaRPr>
          </a:p>
        </p:txBody>
      </p:sp>
      <p:sp>
        <p:nvSpPr>
          <p:cNvPr id="20" name="TextBox 19"/>
          <p:cNvSpPr txBox="1"/>
          <p:nvPr/>
        </p:nvSpPr>
        <p:spPr>
          <a:xfrm>
            <a:off x="1950834" y="4210723"/>
            <a:ext cx="457200" cy="461665"/>
          </a:xfrm>
          <a:prstGeom prst="rect">
            <a:avLst/>
          </a:prstGeom>
          <a:noFill/>
        </p:spPr>
        <p:txBody>
          <a:bodyPr wrap="square" rtlCol="0">
            <a:spAutoFit/>
          </a:bodyPr>
          <a:lstStyle/>
          <a:p>
            <a:r>
              <a:rPr lang="en-US" sz="2400" b="1" dirty="0" smtClean="0">
                <a:solidFill>
                  <a:schemeClr val="tx1">
                    <a:lumMod val="85000"/>
                    <a:lumOff val="15000"/>
                  </a:schemeClr>
                </a:solidFill>
              </a:rPr>
              <a:t>C</a:t>
            </a:r>
            <a:endParaRPr lang="en-US" sz="2400" b="1" dirty="0">
              <a:solidFill>
                <a:schemeClr val="tx1">
                  <a:lumMod val="85000"/>
                  <a:lumOff val="15000"/>
                </a:schemeClr>
              </a:solidFill>
            </a:endParaRPr>
          </a:p>
        </p:txBody>
      </p:sp>
      <p:sp>
        <p:nvSpPr>
          <p:cNvPr id="21" name="TextBox 20"/>
          <p:cNvSpPr txBox="1"/>
          <p:nvPr/>
        </p:nvSpPr>
        <p:spPr>
          <a:xfrm>
            <a:off x="5823642" y="4203382"/>
            <a:ext cx="457200" cy="461665"/>
          </a:xfrm>
          <a:prstGeom prst="rect">
            <a:avLst/>
          </a:prstGeom>
          <a:noFill/>
        </p:spPr>
        <p:txBody>
          <a:bodyPr wrap="square" rtlCol="0">
            <a:spAutoFit/>
          </a:bodyPr>
          <a:lstStyle/>
          <a:p>
            <a:r>
              <a:rPr lang="en-US" sz="2400" b="1" dirty="0">
                <a:solidFill>
                  <a:schemeClr val="tx1">
                    <a:lumMod val="85000"/>
                    <a:lumOff val="15000"/>
                  </a:schemeClr>
                </a:solidFill>
              </a:rPr>
              <a:t>F</a:t>
            </a:r>
          </a:p>
        </p:txBody>
      </p:sp>
      <p:sp>
        <p:nvSpPr>
          <p:cNvPr id="22" name="TextBox 21"/>
          <p:cNvSpPr txBox="1"/>
          <p:nvPr/>
        </p:nvSpPr>
        <p:spPr>
          <a:xfrm>
            <a:off x="4701012" y="5715000"/>
            <a:ext cx="838200" cy="461665"/>
          </a:xfrm>
          <a:prstGeom prst="rect">
            <a:avLst/>
          </a:prstGeom>
          <a:noFill/>
        </p:spPr>
        <p:txBody>
          <a:bodyPr wrap="square" rtlCol="0">
            <a:spAutoFit/>
          </a:bodyPr>
          <a:lstStyle>
            <a:defPPr>
              <a:defRPr lang="en-US"/>
            </a:defPPr>
            <a:lvl1pPr>
              <a:defRPr sz="2400">
                <a:latin typeface="Segoe Print" panose="02000600000000000000" pitchFamily="2" charset="0"/>
                <a:cs typeface="Times New Roman"/>
              </a:defRPr>
            </a:lvl1pPr>
          </a:lstStyle>
          <a:p>
            <a:r>
              <a:rPr lang="en-US" dirty="0" smtClean="0"/>
              <a:t>Q</a:t>
            </a:r>
            <a:r>
              <a:rPr lang="en-US" dirty="0" smtClean="0">
                <a:latin typeface="Times New Roman"/>
              </a:rPr>
              <a:t>♣</a:t>
            </a:r>
            <a:endParaRPr lang="en-US" dirty="0"/>
          </a:p>
        </p:txBody>
      </p:sp>
      <p:sp>
        <p:nvSpPr>
          <p:cNvPr id="23" name="TextBox 22"/>
          <p:cNvSpPr txBox="1"/>
          <p:nvPr/>
        </p:nvSpPr>
        <p:spPr>
          <a:xfrm>
            <a:off x="4894152" y="4938073"/>
            <a:ext cx="838200" cy="461665"/>
          </a:xfrm>
          <a:prstGeom prst="rect">
            <a:avLst/>
          </a:prstGeom>
          <a:noFill/>
        </p:spPr>
        <p:txBody>
          <a:bodyPr wrap="square" rtlCol="0">
            <a:spAutoFit/>
          </a:bodyPr>
          <a:lstStyle/>
          <a:p>
            <a:r>
              <a:rPr lang="en-US" sz="2400" dirty="0" smtClean="0">
                <a:latin typeface="Segoe Print" panose="02000600000000000000" pitchFamily="2" charset="0"/>
                <a:cs typeface="Times New Roman"/>
              </a:rPr>
              <a:t>Q</a:t>
            </a:r>
            <a:r>
              <a:rPr lang="en-US" sz="2400" dirty="0" smtClean="0">
                <a:latin typeface="Times New Roman"/>
                <a:cs typeface="Times New Roman"/>
              </a:rPr>
              <a:t>♠</a:t>
            </a:r>
            <a:endParaRPr lang="en-US" sz="2800" dirty="0"/>
          </a:p>
        </p:txBody>
      </p:sp>
      <p:sp>
        <p:nvSpPr>
          <p:cNvPr id="24" name="TextBox 23"/>
          <p:cNvSpPr txBox="1"/>
          <p:nvPr/>
        </p:nvSpPr>
        <p:spPr>
          <a:xfrm>
            <a:off x="4536163" y="4274069"/>
            <a:ext cx="838200" cy="461665"/>
          </a:xfrm>
          <a:prstGeom prst="rect">
            <a:avLst/>
          </a:prstGeom>
          <a:noFill/>
        </p:spPr>
        <p:txBody>
          <a:bodyPr wrap="square" rtlCol="0">
            <a:spAutoFit/>
          </a:bodyPr>
          <a:lstStyle/>
          <a:p>
            <a:r>
              <a:rPr lang="en-US" sz="2400" dirty="0" smtClean="0">
                <a:solidFill>
                  <a:srgbClr val="FF0000"/>
                </a:solidFill>
                <a:latin typeface="Segoe Print" panose="02000600000000000000" pitchFamily="2" charset="0"/>
                <a:cs typeface="Times New Roman"/>
              </a:rPr>
              <a:t>Q</a:t>
            </a:r>
            <a:r>
              <a:rPr lang="en-US" sz="2400" dirty="0" smtClean="0">
                <a:solidFill>
                  <a:srgbClr val="FF0000"/>
                </a:solidFill>
                <a:latin typeface="Times New Roman"/>
                <a:cs typeface="Times New Roman"/>
              </a:rPr>
              <a:t>♦</a:t>
            </a:r>
            <a:endParaRPr lang="en-US" sz="2800" dirty="0">
              <a:solidFill>
                <a:srgbClr val="FF0000"/>
              </a:solidFill>
            </a:endParaRPr>
          </a:p>
        </p:txBody>
      </p:sp>
    </p:spTree>
    <p:custDataLst>
      <p:tags r:id="rId1"/>
    </p:custDataLst>
    <p:extLst>
      <p:ext uri="{BB962C8B-B14F-4D97-AF65-F5344CB8AC3E}">
        <p14:creationId xmlns:p14="http://schemas.microsoft.com/office/powerpoint/2010/main" val="14222403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152400"/>
            <a:ext cx="9144000" cy="1600200"/>
          </a:xfrm>
        </p:spPr>
        <p:txBody>
          <a:bodyPr>
            <a:noAutofit/>
          </a:bodyPr>
          <a:lstStyle/>
          <a:p>
            <a:r>
              <a:rPr lang="en-US" sz="3600" dirty="0" smtClean="0"/>
              <a:t>When drawing a single card from a standard 52 card deck, what is the probability that the card is </a:t>
            </a:r>
            <a:r>
              <a:rPr lang="en-US" sz="3600" b="1" dirty="0">
                <a:solidFill>
                  <a:srgbClr val="FF0000"/>
                </a:solidFill>
              </a:rPr>
              <a:t>a</a:t>
            </a:r>
            <a:r>
              <a:rPr lang="en-US" sz="3600" dirty="0" smtClean="0"/>
              <a:t> </a:t>
            </a:r>
            <a:r>
              <a:rPr lang="en-US" sz="3600" b="1" dirty="0" smtClean="0">
                <a:solidFill>
                  <a:srgbClr val="FF0000"/>
                </a:solidFill>
              </a:rPr>
              <a:t>heart</a:t>
            </a:r>
            <a:r>
              <a:rPr lang="en-US" sz="3600" dirty="0" smtClean="0"/>
              <a:t> </a:t>
            </a:r>
            <a:r>
              <a:rPr lang="en-US" sz="3600" b="1" dirty="0" smtClean="0"/>
              <a:t>or</a:t>
            </a:r>
            <a:r>
              <a:rPr lang="en-US" sz="3600" dirty="0" smtClean="0"/>
              <a:t> </a:t>
            </a:r>
            <a:r>
              <a:rPr lang="en-US" sz="3600" b="1" dirty="0">
                <a:solidFill>
                  <a:schemeClr val="tx1"/>
                </a:solidFill>
              </a:rPr>
              <a:t>a</a:t>
            </a:r>
            <a:r>
              <a:rPr lang="en-US" sz="3600" dirty="0" smtClean="0"/>
              <a:t> </a:t>
            </a:r>
            <a:r>
              <a:rPr lang="en-US" sz="3600" b="1" dirty="0" smtClean="0">
                <a:solidFill>
                  <a:schemeClr val="tx1"/>
                </a:solidFill>
              </a:rPr>
              <a:t>spade</a:t>
            </a:r>
            <a:r>
              <a:rPr lang="en-US" sz="3600" dirty="0" smtClean="0"/>
              <a:t>? </a:t>
            </a:r>
            <a:endParaRPr lang="en-US" sz="3600" dirty="0"/>
          </a:p>
        </p:txBody>
      </p:sp>
      <p:sp>
        <p:nvSpPr>
          <p:cNvPr id="3" name="TPAnswers"/>
          <p:cNvSpPr>
            <a:spLocks noGrp="1"/>
          </p:cNvSpPr>
          <p:nvPr>
            <p:ph sz="quarter" idx="4294967295"/>
            <p:custDataLst>
              <p:tags r:id="rId2"/>
            </p:custDataLst>
          </p:nvPr>
        </p:nvSpPr>
        <p:spPr>
          <a:xfrm>
            <a:off x="0" y="1981200"/>
            <a:ext cx="3505200" cy="2667000"/>
          </a:xfrm>
        </p:spPr>
        <p:txBody>
          <a:bodyPr>
            <a:normAutofit/>
          </a:bodyPr>
          <a:lstStyle/>
          <a:p>
            <a:pPr marL="514350" indent="-514350">
              <a:buFont typeface="+mj-lt"/>
              <a:buAutoNum type="alphaUcPeriod"/>
            </a:pPr>
            <a:r>
              <a:rPr lang="en-US" sz="3200" dirty="0" smtClean="0">
                <a:solidFill>
                  <a:schemeClr val="accent6">
                    <a:lumMod val="75000"/>
                  </a:schemeClr>
                </a:solidFill>
              </a:rPr>
              <a:t>0.063</a:t>
            </a:r>
          </a:p>
          <a:p>
            <a:pPr marL="514350" indent="-514350">
              <a:buFont typeface="+mj-lt"/>
              <a:buAutoNum type="alphaUcPeriod"/>
            </a:pPr>
            <a:r>
              <a:rPr lang="en-US" sz="3200" dirty="0" smtClean="0">
                <a:solidFill>
                  <a:schemeClr val="accent6">
                    <a:lumMod val="75000"/>
                  </a:schemeClr>
                </a:solidFill>
              </a:rPr>
              <a:t>0.327</a:t>
            </a:r>
          </a:p>
          <a:p>
            <a:pPr marL="514350" indent="-514350">
              <a:buFont typeface="+mj-lt"/>
              <a:buAutoNum type="alphaUcPeriod"/>
            </a:pPr>
            <a:r>
              <a:rPr lang="en-US" sz="3200" dirty="0" smtClean="0">
                <a:solidFill>
                  <a:schemeClr val="accent6">
                    <a:lumMod val="75000"/>
                  </a:schemeClr>
                </a:solidFill>
              </a:rPr>
              <a:t>0.308</a:t>
            </a:r>
          </a:p>
          <a:p>
            <a:pPr marL="514350" indent="-514350">
              <a:buFont typeface="+mj-lt"/>
              <a:buAutoNum type="alphaUcPeriod"/>
            </a:pPr>
            <a:r>
              <a:rPr lang="en-US" sz="3200" dirty="0" smtClean="0">
                <a:solidFill>
                  <a:schemeClr val="accent6">
                    <a:lumMod val="75000"/>
                  </a:schemeClr>
                </a:solidFill>
              </a:rPr>
              <a:t>0.5</a:t>
            </a:r>
            <a:endParaRPr lang="en-US" sz="3200" dirty="0">
              <a:solidFill>
                <a:schemeClr val="accent6">
                  <a:lumMod val="75000"/>
                </a:schemeClr>
              </a:solidFill>
            </a:endParaRPr>
          </a:p>
        </p:txBody>
      </p:sp>
      <p:pic>
        <p:nvPicPr>
          <p:cNvPr id="440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1" y="4813193"/>
            <a:ext cx="4343399" cy="1949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944568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1798637"/>
          </a:xfrm>
        </p:spPr>
        <p:txBody>
          <a:bodyPr>
            <a:noAutofit/>
          </a:bodyPr>
          <a:lstStyle/>
          <a:p>
            <a:r>
              <a:rPr lang="en-US" sz="3600" dirty="0" smtClean="0"/>
              <a:t>When drawing a single card from a standard 52 card deck, what is the probability that the card is </a:t>
            </a:r>
            <a:r>
              <a:rPr lang="en-US" sz="3600" b="1" dirty="0" smtClean="0">
                <a:solidFill>
                  <a:srgbClr val="FF0000"/>
                </a:solidFill>
              </a:rPr>
              <a:t>a</a:t>
            </a:r>
            <a:r>
              <a:rPr lang="en-US" sz="3600" dirty="0" smtClean="0"/>
              <a:t> </a:t>
            </a:r>
            <a:r>
              <a:rPr lang="en-US" sz="3600" b="1" dirty="0" smtClean="0">
                <a:solidFill>
                  <a:srgbClr val="FF0000"/>
                </a:solidFill>
              </a:rPr>
              <a:t>heart</a:t>
            </a:r>
            <a:r>
              <a:rPr lang="en-US" sz="3600" dirty="0" smtClean="0"/>
              <a:t> </a:t>
            </a:r>
            <a:r>
              <a:rPr lang="en-US" sz="3600" b="1" dirty="0" smtClean="0"/>
              <a:t>or </a:t>
            </a:r>
            <a:r>
              <a:rPr lang="en-US" sz="3600" b="1" dirty="0"/>
              <a:t>a</a:t>
            </a:r>
            <a:r>
              <a:rPr lang="en-US" sz="3600" dirty="0" smtClean="0"/>
              <a:t> </a:t>
            </a:r>
            <a:r>
              <a:rPr lang="en-US" sz="3600" b="1" dirty="0" smtClean="0"/>
              <a:t>queen</a:t>
            </a:r>
            <a:r>
              <a:rPr lang="en-US" sz="3600" dirty="0" smtClean="0"/>
              <a:t>? </a:t>
            </a:r>
            <a:endParaRPr lang="en-US" sz="3600" dirty="0"/>
          </a:p>
        </p:txBody>
      </p:sp>
      <p:sp>
        <p:nvSpPr>
          <p:cNvPr id="9" name="TPAnswers"/>
          <p:cNvSpPr>
            <a:spLocks noGrp="1"/>
          </p:cNvSpPr>
          <p:nvPr>
            <p:ph sz="quarter" idx="4294967295"/>
            <p:custDataLst>
              <p:tags r:id="rId2"/>
            </p:custDataLst>
          </p:nvPr>
        </p:nvSpPr>
        <p:spPr>
          <a:xfrm>
            <a:off x="0" y="2057400"/>
            <a:ext cx="3581400" cy="2590800"/>
          </a:xfrm>
        </p:spPr>
        <p:txBody>
          <a:bodyPr>
            <a:normAutofit/>
          </a:bodyPr>
          <a:lstStyle/>
          <a:p>
            <a:pPr marL="514350" indent="-514350">
              <a:buFont typeface="+mj-lt"/>
              <a:buAutoNum type="alphaUcPeriod"/>
            </a:pPr>
            <a:r>
              <a:rPr lang="en-US" sz="3200" dirty="0" smtClean="0">
                <a:solidFill>
                  <a:schemeClr val="accent6">
                    <a:lumMod val="75000"/>
                  </a:schemeClr>
                </a:solidFill>
              </a:rPr>
              <a:t>0.063</a:t>
            </a:r>
          </a:p>
          <a:p>
            <a:pPr marL="514350" indent="-514350">
              <a:buFont typeface="+mj-lt"/>
              <a:buAutoNum type="alphaUcPeriod"/>
            </a:pPr>
            <a:r>
              <a:rPr lang="en-US" sz="3200" dirty="0" smtClean="0">
                <a:solidFill>
                  <a:schemeClr val="accent6">
                    <a:lumMod val="75000"/>
                  </a:schemeClr>
                </a:solidFill>
              </a:rPr>
              <a:t>0.327</a:t>
            </a:r>
          </a:p>
          <a:p>
            <a:pPr marL="514350" indent="-514350">
              <a:buFont typeface="+mj-lt"/>
              <a:buAutoNum type="alphaUcPeriod"/>
            </a:pPr>
            <a:r>
              <a:rPr lang="en-US" sz="3200" dirty="0" smtClean="0">
                <a:solidFill>
                  <a:schemeClr val="accent6">
                    <a:lumMod val="75000"/>
                  </a:schemeClr>
                </a:solidFill>
              </a:rPr>
              <a:t>0.308</a:t>
            </a:r>
          </a:p>
          <a:p>
            <a:pPr marL="514350" indent="-514350">
              <a:buFont typeface="+mj-lt"/>
              <a:buAutoNum type="alphaUcPeriod"/>
            </a:pPr>
            <a:r>
              <a:rPr lang="en-US" sz="3200" dirty="0" smtClean="0">
                <a:solidFill>
                  <a:schemeClr val="accent6">
                    <a:lumMod val="75000"/>
                  </a:schemeClr>
                </a:solidFill>
              </a:rPr>
              <a:t>0.5</a:t>
            </a:r>
            <a:endParaRPr lang="en-US" sz="3200" dirty="0">
              <a:solidFill>
                <a:schemeClr val="accent6">
                  <a:lumMod val="75000"/>
                </a:schemeClr>
              </a:solidFill>
            </a:endParaRPr>
          </a:p>
        </p:txBody>
      </p:sp>
      <p:pic>
        <p:nvPicPr>
          <p:cNvPr id="450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1" y="4599906"/>
            <a:ext cx="3886200" cy="2191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36287909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PAnswers"/>
          <p:cNvSpPr>
            <a:spLocks noGrp="1"/>
          </p:cNvSpPr>
          <p:nvPr>
            <p:ph sz="quarter" idx="4294967295"/>
            <p:custDataLst>
              <p:tags r:id="rId2"/>
            </p:custDataLst>
          </p:nvPr>
        </p:nvSpPr>
        <p:spPr>
          <a:xfrm>
            <a:off x="0" y="762000"/>
            <a:ext cx="6705600" cy="2566988"/>
          </a:xfrm>
        </p:spPr>
        <p:txBody>
          <a:bodyPr>
            <a:noAutofit/>
          </a:bodyPr>
          <a:lstStyle/>
          <a:p>
            <a:pPr marL="742950" indent="-742950">
              <a:spcBef>
                <a:spcPct val="20000"/>
              </a:spcBef>
              <a:buFont typeface="+mj-lt"/>
              <a:buAutoNum type="alphaLcPeriod"/>
            </a:pPr>
            <a:r>
              <a:rPr lang="en-US" sz="2800" dirty="0">
                <a:solidFill>
                  <a:prstClr val="black"/>
                </a:solidFill>
                <a:cs typeface="Times New Roman" pitchFamily="18" charset="0"/>
              </a:rPr>
              <a:t>P(A or B) = P(A) + P(B)</a:t>
            </a:r>
          </a:p>
          <a:p>
            <a:pPr marL="742950" indent="-742950">
              <a:spcBef>
                <a:spcPct val="20000"/>
              </a:spcBef>
              <a:buFont typeface="+mj-lt"/>
              <a:buAutoNum type="alphaLcPeriod"/>
            </a:pPr>
            <a:r>
              <a:rPr lang="en-US" sz="2800" dirty="0">
                <a:solidFill>
                  <a:prstClr val="black"/>
                </a:solidFill>
                <a:cs typeface="Times New Roman" pitchFamily="18" charset="0"/>
              </a:rPr>
              <a:t>P(A or B) = P(A) + P(B) – P(A and B)</a:t>
            </a:r>
          </a:p>
          <a:p>
            <a:pPr marL="742950" indent="-742950">
              <a:spcBef>
                <a:spcPct val="20000"/>
              </a:spcBef>
              <a:buFont typeface="+mj-lt"/>
              <a:buAutoNum type="alphaLcPeriod"/>
            </a:pPr>
            <a:r>
              <a:rPr lang="en-US" sz="2800" dirty="0">
                <a:solidFill>
                  <a:prstClr val="black"/>
                </a:solidFill>
                <a:cs typeface="Times New Roman" pitchFamily="18" charset="0"/>
              </a:rPr>
              <a:t>Neither a) nor b) are correct</a:t>
            </a:r>
          </a:p>
          <a:p>
            <a:pPr marL="742950" indent="-742950">
              <a:spcBef>
                <a:spcPct val="20000"/>
              </a:spcBef>
              <a:buFont typeface="+mj-lt"/>
              <a:buAutoNum type="alphaLcPeriod"/>
            </a:pPr>
            <a:r>
              <a:rPr lang="en-US" sz="2800" dirty="0">
                <a:solidFill>
                  <a:prstClr val="black"/>
                </a:solidFill>
                <a:cs typeface="Times New Roman" pitchFamily="18" charset="0"/>
              </a:rPr>
              <a:t>Both a) and b) are correct</a:t>
            </a:r>
          </a:p>
        </p:txBody>
      </p:sp>
      <p:sp>
        <p:nvSpPr>
          <p:cNvPr id="4" name="TPQuestion"/>
          <p:cNvSpPr>
            <a:spLocks noGrp="1"/>
          </p:cNvSpPr>
          <p:nvPr>
            <p:ph type="title" idx="4294967295"/>
          </p:nvPr>
        </p:nvSpPr>
        <p:spPr>
          <a:xfrm>
            <a:off x="0" y="28575"/>
            <a:ext cx="8077200" cy="657225"/>
          </a:xfrm>
        </p:spPr>
        <p:txBody>
          <a:bodyPr>
            <a:normAutofit fontScale="90000"/>
          </a:bodyPr>
          <a:lstStyle/>
          <a:p>
            <a:pPr>
              <a:spcAft>
                <a:spcPts val="1800"/>
              </a:spcAft>
            </a:pPr>
            <a:r>
              <a:rPr lang="en-US" dirty="0">
                <a:solidFill>
                  <a:prstClr val="black"/>
                </a:solidFill>
                <a:cs typeface="Times New Roman" pitchFamily="18" charset="0"/>
              </a:rPr>
              <a:t>If A and B are disjoint, then</a:t>
            </a:r>
          </a:p>
        </p:txBody>
      </p:sp>
    </p:spTree>
    <p:custDataLst>
      <p:tags r:id="rId1"/>
    </p:custDataLst>
    <p:extLst>
      <p:ext uri="{BB962C8B-B14F-4D97-AF65-F5344CB8AC3E}">
        <p14:creationId xmlns:p14="http://schemas.microsoft.com/office/powerpoint/2010/main" val="147442194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95300" y="1524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Addition Rules</a:t>
            </a:r>
            <a:endParaRPr lang="en-US" sz="4000" b="1" dirty="0">
              <a:solidFill>
                <a:schemeClr val="accent6">
                  <a:lumMod val="75000"/>
                </a:schemeClr>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763286469"/>
              </p:ext>
            </p:extLst>
          </p:nvPr>
        </p:nvGraphicFramePr>
        <p:xfrm>
          <a:off x="1" y="1119696"/>
          <a:ext cx="4953000" cy="1752600"/>
        </p:xfrm>
        <a:graphic>
          <a:graphicData uri="http://schemas.openxmlformats.org/presentationml/2006/ole">
            <mc:AlternateContent xmlns:mc="http://schemas.openxmlformats.org/markup-compatibility/2006">
              <mc:Choice xmlns:v="urn:schemas-microsoft-com:vml" Requires="v">
                <p:oleObj spid="_x0000_s12381" name="Equation" r:id="rId4" imgW="1676160" imgH="583920" progId="Equation.DSMT4">
                  <p:embed/>
                </p:oleObj>
              </mc:Choice>
              <mc:Fallback>
                <p:oleObj name="Equation" r:id="rId4" imgW="1676160" imgH="583920" progId="Equation.DSMT4">
                  <p:embed/>
                  <p:pic>
                    <p:nvPicPr>
                      <p:cNvPr id="0" name=""/>
                      <p:cNvPicPr>
                        <a:picLocks noChangeAspect="1" noChangeArrowheads="1"/>
                      </p:cNvPicPr>
                      <p:nvPr/>
                    </p:nvPicPr>
                    <p:blipFill>
                      <a:blip r:embed="rId5"/>
                      <a:srcRect/>
                      <a:stretch>
                        <a:fillRect/>
                      </a:stretch>
                    </p:blipFill>
                    <p:spPr bwMode="auto">
                      <a:xfrm>
                        <a:off x="1" y="1119696"/>
                        <a:ext cx="4953000" cy="1752600"/>
                      </a:xfrm>
                      <a:prstGeom prst="rect">
                        <a:avLst/>
                      </a:prstGeom>
                      <a:noFill/>
                      <a:ln w="9525">
                        <a:solidFill>
                          <a:schemeClr val="accent5">
                            <a:lumMod val="50000"/>
                          </a:schemeClr>
                        </a:solidFill>
                        <a:miter lim="800000"/>
                        <a:headEnd/>
                        <a:tailEnd/>
                      </a:ln>
                      <a:extLst/>
                    </p:spPr>
                  </p:pic>
                </p:oleObj>
              </mc:Fallback>
            </mc:AlternateContent>
          </a:graphicData>
        </a:graphic>
      </p:graphicFrame>
      <p:sp>
        <p:nvSpPr>
          <p:cNvPr id="4" name="Oval 5"/>
          <p:cNvSpPr>
            <a:spLocks noChangeArrowheads="1"/>
          </p:cNvSpPr>
          <p:nvPr/>
        </p:nvSpPr>
        <p:spPr bwMode="auto">
          <a:xfrm>
            <a:off x="307181" y="3265722"/>
            <a:ext cx="2443162" cy="2392363"/>
          </a:xfrm>
          <a:prstGeom prst="ellipse">
            <a:avLst/>
          </a:prstGeom>
          <a:solidFill>
            <a:srgbClr val="FFFF00"/>
          </a:solidFill>
          <a:ln w="38100">
            <a:solidFill>
              <a:schemeClr val="tx1"/>
            </a:solidFill>
            <a:round/>
            <a:headEnd/>
            <a:tailEnd/>
          </a:ln>
        </p:spPr>
        <p:txBody>
          <a:bodyPr wrap="none" anchor="ctr"/>
          <a:lstStyle/>
          <a:p>
            <a:endParaRPr lang="en-US"/>
          </a:p>
        </p:txBody>
      </p:sp>
      <p:sp>
        <p:nvSpPr>
          <p:cNvPr id="5" name="Oval 6"/>
          <p:cNvSpPr>
            <a:spLocks noChangeArrowheads="1"/>
          </p:cNvSpPr>
          <p:nvPr/>
        </p:nvSpPr>
        <p:spPr bwMode="auto">
          <a:xfrm>
            <a:off x="1703436" y="4267200"/>
            <a:ext cx="2209800" cy="2080704"/>
          </a:xfrm>
          <a:prstGeom prst="ellipse">
            <a:avLst/>
          </a:prstGeom>
          <a:solidFill>
            <a:srgbClr val="800080">
              <a:alpha val="54901"/>
            </a:srgbClr>
          </a:solidFill>
          <a:ln w="9525">
            <a:solidFill>
              <a:schemeClr val="tx1"/>
            </a:solidFill>
            <a:round/>
            <a:headEnd/>
            <a:tailEnd/>
          </a:ln>
        </p:spPr>
        <p:txBody>
          <a:bodyPr wrap="none" anchor="ctr"/>
          <a:lstStyle/>
          <a:p>
            <a:endParaRPr lang="en-US"/>
          </a:p>
        </p:txBody>
      </p:sp>
      <p:sp>
        <p:nvSpPr>
          <p:cNvPr id="6" name="Rectangle 8"/>
          <p:cNvSpPr>
            <a:spLocks noChangeArrowheads="1"/>
          </p:cNvSpPr>
          <p:nvPr/>
        </p:nvSpPr>
        <p:spPr bwMode="auto">
          <a:xfrm>
            <a:off x="880476" y="3665673"/>
            <a:ext cx="838200" cy="796230"/>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B</a:t>
            </a:r>
          </a:p>
        </p:txBody>
      </p:sp>
      <p:sp>
        <p:nvSpPr>
          <p:cNvPr id="8" name="Rectangle 11"/>
          <p:cNvSpPr>
            <a:spLocks noChangeArrowheads="1"/>
          </p:cNvSpPr>
          <p:nvPr/>
        </p:nvSpPr>
        <p:spPr bwMode="auto">
          <a:xfrm>
            <a:off x="2976562" y="4548696"/>
            <a:ext cx="685800" cy="766197"/>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A</a:t>
            </a:r>
            <a:endParaRPr lang="en-US" sz="3600" dirty="0">
              <a:sym typeface="Symbol" pitchFamily="18" charset="2"/>
            </a:endParaRPr>
          </a:p>
        </p:txBody>
      </p:sp>
      <p:graphicFrame>
        <p:nvGraphicFramePr>
          <p:cNvPr id="131075" name="Object 3"/>
          <p:cNvGraphicFramePr>
            <a:graphicFrameLocks noChangeAspect="1"/>
          </p:cNvGraphicFramePr>
          <p:nvPr>
            <p:extLst>
              <p:ext uri="{D42A27DB-BD31-4B8C-83A1-F6EECF244321}">
                <p14:modId xmlns:p14="http://schemas.microsoft.com/office/powerpoint/2010/main" val="2492424500"/>
              </p:ext>
            </p:extLst>
          </p:nvPr>
        </p:nvGraphicFramePr>
        <p:xfrm>
          <a:off x="4937125" y="1143000"/>
          <a:ext cx="4224338" cy="1728788"/>
        </p:xfrm>
        <a:graphic>
          <a:graphicData uri="http://schemas.openxmlformats.org/presentationml/2006/ole">
            <mc:AlternateContent xmlns:mc="http://schemas.openxmlformats.org/markup-compatibility/2006">
              <mc:Choice xmlns:v="urn:schemas-microsoft-com:vml" Requires="v">
                <p:oleObj spid="_x0000_s12382" name="Equation" r:id="rId6" imgW="1587240" imgH="583920" progId="Equation.DSMT4">
                  <p:embed/>
                </p:oleObj>
              </mc:Choice>
              <mc:Fallback>
                <p:oleObj name="Equation" r:id="rId6" imgW="1587240" imgH="583920" progId="Equation.DSMT4">
                  <p:embed/>
                  <p:pic>
                    <p:nvPicPr>
                      <p:cNvPr id="0" name=""/>
                      <p:cNvPicPr>
                        <a:picLocks noChangeAspect="1" noChangeArrowheads="1"/>
                      </p:cNvPicPr>
                      <p:nvPr/>
                    </p:nvPicPr>
                    <p:blipFill>
                      <a:blip r:embed="rId7"/>
                      <a:srcRect/>
                      <a:stretch>
                        <a:fillRect/>
                      </a:stretch>
                    </p:blipFill>
                    <p:spPr bwMode="auto">
                      <a:xfrm>
                        <a:off x="4937125" y="1143000"/>
                        <a:ext cx="4224338" cy="1728788"/>
                      </a:xfrm>
                      <a:prstGeom prst="rect">
                        <a:avLst/>
                      </a:prstGeom>
                      <a:noFill/>
                      <a:ln w="9525">
                        <a:solidFill>
                          <a:schemeClr val="accent6">
                            <a:lumMod val="50000"/>
                          </a:schemeClr>
                        </a:solidFill>
                        <a:miter lim="800000"/>
                        <a:headEnd/>
                        <a:tailEnd/>
                      </a:ln>
                      <a:extLst/>
                    </p:spPr>
                  </p:pic>
                </p:oleObj>
              </mc:Fallback>
            </mc:AlternateContent>
          </a:graphicData>
        </a:graphic>
      </p:graphicFrame>
      <p:sp>
        <p:nvSpPr>
          <p:cNvPr id="9" name="Oval 5"/>
          <p:cNvSpPr>
            <a:spLocks noChangeArrowheads="1"/>
          </p:cNvSpPr>
          <p:nvPr/>
        </p:nvSpPr>
        <p:spPr bwMode="auto">
          <a:xfrm>
            <a:off x="4417219" y="3109892"/>
            <a:ext cx="2443162" cy="2392363"/>
          </a:xfrm>
          <a:prstGeom prst="ellipse">
            <a:avLst/>
          </a:prstGeom>
          <a:solidFill>
            <a:srgbClr val="FFFF00"/>
          </a:solidFill>
          <a:ln w="38100">
            <a:solidFill>
              <a:schemeClr val="tx1"/>
            </a:solidFill>
            <a:round/>
            <a:headEnd/>
            <a:tailEnd/>
          </a:ln>
        </p:spPr>
        <p:txBody>
          <a:bodyPr wrap="none" anchor="ctr"/>
          <a:lstStyle/>
          <a:p>
            <a:endParaRPr lang="en-US"/>
          </a:p>
        </p:txBody>
      </p:sp>
      <p:sp>
        <p:nvSpPr>
          <p:cNvPr id="10" name="Oval 6"/>
          <p:cNvSpPr>
            <a:spLocks noChangeArrowheads="1"/>
          </p:cNvSpPr>
          <p:nvPr/>
        </p:nvSpPr>
        <p:spPr bwMode="auto">
          <a:xfrm>
            <a:off x="6839866" y="4461903"/>
            <a:ext cx="2209800" cy="2080704"/>
          </a:xfrm>
          <a:prstGeom prst="ellipse">
            <a:avLst/>
          </a:prstGeom>
          <a:solidFill>
            <a:srgbClr val="800080">
              <a:alpha val="54901"/>
            </a:srgbClr>
          </a:solidFill>
          <a:ln w="9525">
            <a:solidFill>
              <a:schemeClr val="tx1"/>
            </a:solidFill>
            <a:round/>
            <a:headEnd/>
            <a:tailEnd/>
          </a:ln>
        </p:spPr>
        <p:txBody>
          <a:bodyPr wrap="none" anchor="ctr"/>
          <a:lstStyle/>
          <a:p>
            <a:endParaRPr lang="en-US"/>
          </a:p>
        </p:txBody>
      </p:sp>
      <p:sp>
        <p:nvSpPr>
          <p:cNvPr id="11" name="Rectangle 8"/>
          <p:cNvSpPr>
            <a:spLocks noChangeArrowheads="1"/>
          </p:cNvSpPr>
          <p:nvPr/>
        </p:nvSpPr>
        <p:spPr bwMode="auto">
          <a:xfrm>
            <a:off x="4953000" y="3509843"/>
            <a:ext cx="838200" cy="796230"/>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B</a:t>
            </a:r>
          </a:p>
        </p:txBody>
      </p:sp>
      <p:sp>
        <p:nvSpPr>
          <p:cNvPr id="12" name="Rectangle 11"/>
          <p:cNvSpPr>
            <a:spLocks noChangeArrowheads="1"/>
          </p:cNvSpPr>
          <p:nvPr/>
        </p:nvSpPr>
        <p:spPr bwMode="auto">
          <a:xfrm>
            <a:off x="8091268" y="4889193"/>
            <a:ext cx="685800" cy="766197"/>
          </a:xfrm>
          <a:prstGeom prst="rect">
            <a:avLst/>
          </a:prstGeom>
          <a:noFill/>
          <a:ln w="9525">
            <a:noFill/>
            <a:miter lim="800000"/>
            <a:headEnd/>
            <a:tailEnd/>
          </a:ln>
        </p:spPr>
        <p:txBody>
          <a:bodyPr/>
          <a:lstStyle/>
          <a:p>
            <a:pPr marL="342900" indent="-342900" eaLnBrk="1" hangingPunct="1">
              <a:lnSpc>
                <a:spcPct val="90000"/>
              </a:lnSpc>
              <a:spcBef>
                <a:spcPct val="20000"/>
              </a:spcBef>
              <a:buClr>
                <a:schemeClr val="bg2"/>
              </a:buClr>
              <a:buSzPct val="75000"/>
              <a:buFont typeface="Wingdings" pitchFamily="2" charset="2"/>
              <a:buNone/>
            </a:pPr>
            <a:r>
              <a:rPr lang="en-US" sz="3600" dirty="0"/>
              <a:t>A</a:t>
            </a:r>
            <a:endParaRPr lang="en-US" sz="3600" dirty="0">
              <a:sym typeface="Symbol" pitchFamily="18" charset="2"/>
            </a:endParaRPr>
          </a:p>
        </p:txBody>
      </p:sp>
    </p:spTree>
    <p:custDataLst>
      <p:tags r:id="rId2"/>
    </p:custDataLst>
    <p:extLst>
      <p:ext uri="{BB962C8B-B14F-4D97-AF65-F5344CB8AC3E}">
        <p14:creationId xmlns:p14="http://schemas.microsoft.com/office/powerpoint/2010/main" val="112479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4" presetID="53"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par>
                                <p:cTn id="19" presetID="53"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par>
                                <p:cTn id="24" presetID="53"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P(not A)</a:t>
            </a:r>
            <a:endParaRPr lang="en-US" sz="4000" b="1" dirty="0">
              <a:solidFill>
                <a:schemeClr val="accent6">
                  <a:lumMod val="75000"/>
                </a:schemeClr>
              </a:solidFill>
            </a:endParaRPr>
          </a:p>
        </p:txBody>
      </p:sp>
      <p:pic>
        <p:nvPicPr>
          <p:cNvPr id="2055" name="Picture 7"/>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tretch>
            <a:fillRect/>
          </a:stretch>
        </p:blipFill>
        <p:spPr bwMode="auto">
          <a:xfrm>
            <a:off x="17585" y="1600200"/>
            <a:ext cx="3470513" cy="2499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3657600" y="1579655"/>
            <a:ext cx="5334000" cy="2800767"/>
          </a:xfrm>
          <a:prstGeom prst="rect">
            <a:avLst/>
          </a:prstGeom>
          <a:noFill/>
        </p:spPr>
        <p:txBody>
          <a:bodyPr wrap="square" rtlCol="0">
            <a:spAutoFit/>
          </a:bodyPr>
          <a:lstStyle/>
          <a:p>
            <a:r>
              <a:rPr lang="en-US" sz="3600" dirty="0" smtClean="0"/>
              <a:t>Events “A” and “not A” are disjoint events.  Therefore, we can apply our special case of the addition rule:</a:t>
            </a:r>
          </a:p>
          <a:p>
            <a:endParaRPr lang="en-US" sz="3200" dirty="0"/>
          </a:p>
        </p:txBody>
      </p:sp>
      <p:graphicFrame>
        <p:nvGraphicFramePr>
          <p:cNvPr id="14" name="Object 13"/>
          <p:cNvGraphicFramePr>
            <a:graphicFrameLocks noChangeAspect="1"/>
          </p:cNvGraphicFramePr>
          <p:nvPr>
            <p:extLst>
              <p:ext uri="{D42A27DB-BD31-4B8C-83A1-F6EECF244321}">
                <p14:modId xmlns:p14="http://schemas.microsoft.com/office/powerpoint/2010/main" val="1426353102"/>
              </p:ext>
            </p:extLst>
          </p:nvPr>
        </p:nvGraphicFramePr>
        <p:xfrm>
          <a:off x="1519237" y="4724400"/>
          <a:ext cx="6105525" cy="671378"/>
        </p:xfrm>
        <a:graphic>
          <a:graphicData uri="http://schemas.openxmlformats.org/presentationml/2006/ole">
            <mc:AlternateContent xmlns:mc="http://schemas.openxmlformats.org/markup-compatibility/2006">
              <mc:Choice xmlns:v="urn:schemas-microsoft-com:vml" Requires="v">
                <p:oleObj spid="_x0000_s2099" name="Equation" r:id="rId5" imgW="2057400" imgH="203040" progId="Equation.DSMT4">
                  <p:embed/>
                </p:oleObj>
              </mc:Choice>
              <mc:Fallback>
                <p:oleObj name="Equation" r:id="rId5" imgW="2057400" imgH="203040" progId="Equation.DSMT4">
                  <p:embed/>
                  <p:pic>
                    <p:nvPicPr>
                      <p:cNvPr id="0" name="Object 3"/>
                      <p:cNvPicPr>
                        <a:picLocks noChangeAspect="1" noChangeArrowheads="1"/>
                      </p:cNvPicPr>
                      <p:nvPr/>
                    </p:nvPicPr>
                    <p:blipFill>
                      <a:blip r:embed="rId6"/>
                      <a:srcRect/>
                      <a:stretch>
                        <a:fillRect/>
                      </a:stretch>
                    </p:blipFill>
                    <p:spPr bwMode="auto">
                      <a:xfrm>
                        <a:off x="1519237" y="4724400"/>
                        <a:ext cx="6105525" cy="671378"/>
                      </a:xfrm>
                      <a:prstGeom prst="rect">
                        <a:avLst/>
                      </a:prstGeom>
                      <a:noFill/>
                      <a:ln w="9525">
                        <a:solidFill>
                          <a:srgbClr val="4C4545"/>
                        </a:solidFill>
                        <a:miter lim="800000"/>
                        <a:headEnd/>
                        <a:tailEnd/>
                      </a:ln>
                    </p:spPr>
                  </p:pic>
                </p:oleObj>
              </mc:Fallback>
            </mc:AlternateContent>
          </a:graphicData>
        </a:graphic>
      </p:graphicFrame>
    </p:spTree>
    <p:custDataLst>
      <p:tags r:id="rId2"/>
    </p:custDataLst>
    <p:extLst>
      <p:ext uri="{BB962C8B-B14F-4D97-AF65-F5344CB8AC3E}">
        <p14:creationId xmlns:p14="http://schemas.microsoft.com/office/powerpoint/2010/main" val="36613149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P(not A)</a:t>
            </a:r>
            <a:endParaRPr lang="en-US" sz="4000" b="1" dirty="0">
              <a:solidFill>
                <a:schemeClr val="accent6">
                  <a:lumMod val="75000"/>
                </a:schemeClr>
              </a:solidFill>
            </a:endParaRPr>
          </a:p>
        </p:txBody>
      </p:sp>
      <p:pic>
        <p:nvPicPr>
          <p:cNvPr id="2055" name="Picture 7"/>
          <p:cNvPicPr>
            <a:picLocks noGrp="1" noChangeAspect="1" noChangeArrowheads="1"/>
          </p:cNvPicPr>
          <p:nvPr>
            <p:ph sz="quarter" idx="1"/>
          </p:nvPr>
        </p:nvPicPr>
        <p:blipFill>
          <a:blip r:embed="rId4">
            <a:extLst>
              <a:ext uri="{28A0092B-C50C-407E-A947-70E740481C1C}">
                <a14:useLocalDpi xmlns:a14="http://schemas.microsoft.com/office/drawing/2010/main" val="0"/>
              </a:ext>
            </a:extLst>
          </a:blip>
          <a:stretch>
            <a:fillRect/>
          </a:stretch>
        </p:blipFill>
        <p:spPr bwMode="auto">
          <a:xfrm>
            <a:off x="17585" y="1600200"/>
            <a:ext cx="3470513" cy="2499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3739662" y="1579655"/>
            <a:ext cx="5334000" cy="2246769"/>
          </a:xfrm>
          <a:prstGeom prst="rect">
            <a:avLst/>
          </a:prstGeom>
          <a:noFill/>
        </p:spPr>
        <p:txBody>
          <a:bodyPr wrap="square" rtlCol="0">
            <a:spAutoFit/>
          </a:bodyPr>
          <a:lstStyle/>
          <a:p>
            <a:r>
              <a:rPr lang="en-US" sz="3600" dirty="0" smtClean="0"/>
              <a:t>Moreover, it is </a:t>
            </a:r>
            <a:r>
              <a:rPr lang="en-US" sz="3600" i="1" dirty="0" smtClean="0"/>
              <a:t>certain</a:t>
            </a:r>
            <a:r>
              <a:rPr lang="en-US" sz="3600" dirty="0" smtClean="0"/>
              <a:t> that either the event</a:t>
            </a:r>
            <a:r>
              <a:rPr lang="en-US" sz="3600" i="1" dirty="0" smtClean="0"/>
              <a:t> A </a:t>
            </a:r>
            <a:r>
              <a:rPr lang="en-US" sz="3600" dirty="0" smtClean="0"/>
              <a:t>or the event </a:t>
            </a:r>
            <a:r>
              <a:rPr lang="en-US" sz="3600" i="1" dirty="0" smtClean="0"/>
              <a:t>not A </a:t>
            </a:r>
            <a:r>
              <a:rPr lang="en-US" sz="3600" dirty="0" smtClean="0"/>
              <a:t>will occur. Thus:</a:t>
            </a:r>
          </a:p>
          <a:p>
            <a:endParaRPr lang="en-US" sz="3200" dirty="0"/>
          </a:p>
        </p:txBody>
      </p:sp>
      <p:graphicFrame>
        <p:nvGraphicFramePr>
          <p:cNvPr id="14" name="Object 13"/>
          <p:cNvGraphicFramePr>
            <a:graphicFrameLocks noChangeAspect="1"/>
          </p:cNvGraphicFramePr>
          <p:nvPr>
            <p:extLst>
              <p:ext uri="{D42A27DB-BD31-4B8C-83A1-F6EECF244321}">
                <p14:modId xmlns:p14="http://schemas.microsoft.com/office/powerpoint/2010/main" val="4031949246"/>
              </p:ext>
            </p:extLst>
          </p:nvPr>
        </p:nvGraphicFramePr>
        <p:xfrm>
          <a:off x="2913063" y="4724400"/>
          <a:ext cx="3316287" cy="671513"/>
        </p:xfrm>
        <a:graphic>
          <a:graphicData uri="http://schemas.openxmlformats.org/presentationml/2006/ole">
            <mc:AlternateContent xmlns:mc="http://schemas.openxmlformats.org/markup-compatibility/2006">
              <mc:Choice xmlns:v="urn:schemas-microsoft-com:vml" Requires="v">
                <p:oleObj spid="_x0000_s15404" name="Equation" r:id="rId5" imgW="1117440" imgH="203040" progId="Equation.DSMT4">
                  <p:embed/>
                </p:oleObj>
              </mc:Choice>
              <mc:Fallback>
                <p:oleObj name="Equation" r:id="rId5" imgW="1117440" imgH="203040" progId="Equation.DSMT4">
                  <p:embed/>
                  <p:pic>
                    <p:nvPicPr>
                      <p:cNvPr id="0" name=""/>
                      <p:cNvPicPr>
                        <a:picLocks noChangeAspect="1" noChangeArrowheads="1"/>
                      </p:cNvPicPr>
                      <p:nvPr/>
                    </p:nvPicPr>
                    <p:blipFill>
                      <a:blip r:embed="rId6"/>
                      <a:srcRect/>
                      <a:stretch>
                        <a:fillRect/>
                      </a:stretch>
                    </p:blipFill>
                    <p:spPr bwMode="auto">
                      <a:xfrm>
                        <a:off x="2913063" y="4724400"/>
                        <a:ext cx="3316287" cy="671513"/>
                      </a:xfrm>
                      <a:prstGeom prst="rect">
                        <a:avLst/>
                      </a:prstGeom>
                      <a:noFill/>
                      <a:ln w="9525">
                        <a:solidFill>
                          <a:srgbClr val="4C4545"/>
                        </a:solidFill>
                        <a:miter lim="800000"/>
                        <a:headEnd/>
                        <a:tailEnd/>
                      </a:ln>
                    </p:spPr>
                  </p:pic>
                </p:oleObj>
              </mc:Fallback>
            </mc:AlternateContent>
          </a:graphicData>
        </a:graphic>
      </p:graphicFrame>
    </p:spTree>
    <p:custDataLst>
      <p:tags r:id="rId2"/>
    </p:custDataLst>
    <p:extLst>
      <p:ext uri="{BB962C8B-B14F-4D97-AF65-F5344CB8AC3E}">
        <p14:creationId xmlns:p14="http://schemas.microsoft.com/office/powerpoint/2010/main" val="168340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10562" y="1524000"/>
            <a:ext cx="9133438" cy="5334000"/>
          </a:xfrm>
        </p:spPr>
        <p:txBody>
          <a:bodyPr/>
          <a:lstStyle/>
          <a:p>
            <a:pPr marL="0" indent="0">
              <a:buNone/>
            </a:pPr>
            <a:r>
              <a:rPr lang="en-US" sz="3200" dirty="0"/>
              <a:t>We can use the previous two facts to form what is called the </a:t>
            </a:r>
            <a:r>
              <a:rPr lang="en-US" sz="3200" b="1" dirty="0">
                <a:solidFill>
                  <a:schemeClr val="accent5">
                    <a:lumMod val="50000"/>
                  </a:schemeClr>
                </a:solidFill>
              </a:rPr>
              <a:t>Complement Rule</a:t>
            </a:r>
            <a:r>
              <a:rPr lang="en-US" sz="3200" dirty="0" smtClean="0"/>
              <a:t>.</a:t>
            </a:r>
          </a:p>
          <a:p>
            <a:pPr marL="0" indent="0">
              <a:buNone/>
            </a:pPr>
            <a:endParaRPr lang="en-US" sz="3200" dirty="0"/>
          </a:p>
          <a:p>
            <a:pPr marL="0" indent="0">
              <a:buNone/>
            </a:pPr>
            <a:endParaRPr lang="en-US" sz="3200" dirty="0" smtClean="0"/>
          </a:p>
          <a:p>
            <a:pPr marL="0" indent="0">
              <a:buNone/>
            </a:pPr>
            <a:r>
              <a:rPr lang="en-US" sz="3200" dirty="0" smtClean="0"/>
              <a:t>Equivalent and more useful forms are:</a:t>
            </a:r>
            <a:endParaRPr lang="en-US" sz="3200" dirty="0"/>
          </a:p>
          <a:p>
            <a:endParaRPr lang="en-US" dirty="0"/>
          </a:p>
        </p:txBody>
      </p:sp>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P(not A): The Complement Rule</a:t>
            </a:r>
            <a:endParaRPr lang="en-US" sz="4000" b="1" dirty="0">
              <a:solidFill>
                <a:schemeClr val="accent6">
                  <a:lumMod val="75000"/>
                </a:schemeClr>
              </a:solidFill>
            </a:endParaRPr>
          </a:p>
        </p:txBody>
      </p:sp>
      <p:graphicFrame>
        <p:nvGraphicFramePr>
          <p:cNvPr id="14" name="Object 13"/>
          <p:cNvGraphicFramePr>
            <a:graphicFrameLocks noChangeAspect="1"/>
          </p:cNvGraphicFramePr>
          <p:nvPr>
            <p:extLst>
              <p:ext uri="{D42A27DB-BD31-4B8C-83A1-F6EECF244321}">
                <p14:modId xmlns:p14="http://schemas.microsoft.com/office/powerpoint/2010/main" val="4152757686"/>
              </p:ext>
            </p:extLst>
          </p:nvPr>
        </p:nvGraphicFramePr>
        <p:xfrm>
          <a:off x="2286000" y="2590800"/>
          <a:ext cx="4197628" cy="739243"/>
        </p:xfrm>
        <a:graphic>
          <a:graphicData uri="http://schemas.openxmlformats.org/presentationml/2006/ole">
            <mc:AlternateContent xmlns:mc="http://schemas.openxmlformats.org/markup-compatibility/2006">
              <mc:Choice xmlns:v="urn:schemas-microsoft-com:vml" Requires="v">
                <p:oleObj spid="_x0000_s14434" name="Equation" r:id="rId4" imgW="1282680" imgH="203040" progId="Equation.DSMT4">
                  <p:embed/>
                </p:oleObj>
              </mc:Choice>
              <mc:Fallback>
                <p:oleObj name="Equation" r:id="rId4" imgW="1282680" imgH="203040" progId="Equation.DSMT4">
                  <p:embed/>
                  <p:pic>
                    <p:nvPicPr>
                      <p:cNvPr id="0" name=""/>
                      <p:cNvPicPr>
                        <a:picLocks noChangeAspect="1" noChangeArrowheads="1"/>
                      </p:cNvPicPr>
                      <p:nvPr/>
                    </p:nvPicPr>
                    <p:blipFill>
                      <a:blip r:embed="rId5"/>
                      <a:srcRect/>
                      <a:stretch>
                        <a:fillRect/>
                      </a:stretch>
                    </p:blipFill>
                    <p:spPr bwMode="auto">
                      <a:xfrm>
                        <a:off x="2286000" y="2590800"/>
                        <a:ext cx="4197628" cy="739243"/>
                      </a:xfrm>
                      <a:prstGeom prst="rect">
                        <a:avLst/>
                      </a:prstGeom>
                      <a:noFill/>
                      <a:ln w="9525">
                        <a:solidFill>
                          <a:srgbClr val="4C4545"/>
                        </a:solidFill>
                        <a:miter lim="800000"/>
                        <a:headEnd/>
                        <a:tailEnd/>
                      </a:ln>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64383797"/>
              </p:ext>
            </p:extLst>
          </p:nvPr>
        </p:nvGraphicFramePr>
        <p:xfrm>
          <a:off x="1905000" y="4343400"/>
          <a:ext cx="5105400" cy="917299"/>
        </p:xfrm>
        <a:graphic>
          <a:graphicData uri="http://schemas.openxmlformats.org/presentationml/2006/ole">
            <mc:AlternateContent xmlns:mc="http://schemas.openxmlformats.org/markup-compatibility/2006">
              <mc:Choice xmlns:v="urn:schemas-microsoft-com:vml" Requires="v">
                <p:oleObj spid="_x0000_s14435" name="Equation" r:id="rId6" imgW="1257120" imgH="203040" progId="Equation.DSMT4">
                  <p:embed/>
                </p:oleObj>
              </mc:Choice>
              <mc:Fallback>
                <p:oleObj name="Equation" r:id="rId6" imgW="1257120" imgH="203040" progId="Equation.DSMT4">
                  <p:embed/>
                  <p:pic>
                    <p:nvPicPr>
                      <p:cNvPr id="0" name="Object 13"/>
                      <p:cNvPicPr>
                        <a:picLocks noChangeAspect="1" noChangeArrowheads="1"/>
                      </p:cNvPicPr>
                      <p:nvPr/>
                    </p:nvPicPr>
                    <p:blipFill>
                      <a:blip r:embed="rId7"/>
                      <a:srcRect/>
                      <a:stretch>
                        <a:fillRect/>
                      </a:stretch>
                    </p:blipFill>
                    <p:spPr bwMode="auto">
                      <a:xfrm>
                        <a:off x="1905000" y="4343400"/>
                        <a:ext cx="5105400" cy="917299"/>
                      </a:xfrm>
                      <a:prstGeom prst="rect">
                        <a:avLst/>
                      </a:prstGeom>
                      <a:solidFill>
                        <a:srgbClr val="FFC000">
                          <a:alpha val="38000"/>
                        </a:srgbClr>
                      </a:solidFill>
                      <a:ln w="31750">
                        <a:solidFill>
                          <a:schemeClr val="accent2">
                            <a:lumMod val="75000"/>
                          </a:schemeClr>
                        </a:solidFill>
                        <a:miter lim="800000"/>
                        <a:headEnd/>
                        <a:tailEnd/>
                      </a:ln>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834526847"/>
              </p:ext>
            </p:extLst>
          </p:nvPr>
        </p:nvGraphicFramePr>
        <p:xfrm>
          <a:off x="1955800" y="5562600"/>
          <a:ext cx="5002213" cy="917575"/>
        </p:xfrm>
        <a:graphic>
          <a:graphicData uri="http://schemas.openxmlformats.org/presentationml/2006/ole">
            <mc:AlternateContent xmlns:mc="http://schemas.openxmlformats.org/markup-compatibility/2006">
              <mc:Choice xmlns:v="urn:schemas-microsoft-com:vml" Requires="v">
                <p:oleObj spid="_x0000_s14436" name="Equation" r:id="rId8" imgW="1231560" imgH="203040" progId="Equation.DSMT4">
                  <p:embed/>
                </p:oleObj>
              </mc:Choice>
              <mc:Fallback>
                <p:oleObj name="Equation" r:id="rId8" imgW="1231560" imgH="203040" progId="Equation.DSMT4">
                  <p:embed/>
                  <p:pic>
                    <p:nvPicPr>
                      <p:cNvPr id="0" name="Object 3"/>
                      <p:cNvPicPr>
                        <a:picLocks noChangeAspect="1" noChangeArrowheads="1"/>
                      </p:cNvPicPr>
                      <p:nvPr/>
                    </p:nvPicPr>
                    <p:blipFill>
                      <a:blip r:embed="rId9"/>
                      <a:srcRect/>
                      <a:stretch>
                        <a:fillRect/>
                      </a:stretch>
                    </p:blipFill>
                    <p:spPr bwMode="auto">
                      <a:xfrm>
                        <a:off x="1955800" y="5562600"/>
                        <a:ext cx="5002213" cy="917575"/>
                      </a:xfrm>
                      <a:prstGeom prst="rect">
                        <a:avLst/>
                      </a:prstGeom>
                      <a:solidFill>
                        <a:srgbClr val="FFC000">
                          <a:alpha val="38039"/>
                        </a:srgbClr>
                      </a:solidFill>
                      <a:ln w="31750">
                        <a:solidFill>
                          <a:srgbClr val="B95B22"/>
                        </a:solidFill>
                        <a:miter lim="800000"/>
                        <a:headEnd/>
                        <a:tailEnd/>
                      </a:ln>
                    </p:spPr>
                  </p:pic>
                </p:oleObj>
              </mc:Fallback>
            </mc:AlternateContent>
          </a:graphicData>
        </a:graphic>
      </p:graphicFrame>
    </p:spTree>
    <p:custDataLst>
      <p:tags r:id="rId2"/>
    </p:custDataLst>
    <p:extLst>
      <p:ext uri="{BB962C8B-B14F-4D97-AF65-F5344CB8AC3E}">
        <p14:creationId xmlns:p14="http://schemas.microsoft.com/office/powerpoint/2010/main" val="36512666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0" y="2947988"/>
            <a:ext cx="4492625" cy="3910012"/>
          </a:xfrm>
        </p:spPr>
        <p:txBody>
          <a:bodyPr>
            <a:noAutofit/>
          </a:bodyPr>
          <a:lstStyle/>
          <a:p>
            <a:pPr marL="914400" indent="-514350">
              <a:spcBef>
                <a:spcPct val="20000"/>
              </a:spcBef>
              <a:buFont typeface="+mj-lt"/>
              <a:buAutoNum type="alphaLcPeriod"/>
            </a:pPr>
            <a:r>
              <a:rPr lang="en-US" sz="2800" dirty="0">
                <a:solidFill>
                  <a:prstClr val="black"/>
                </a:solidFill>
                <a:cs typeface="Times New Roman" pitchFamily="18" charset="0"/>
              </a:rPr>
              <a:t>63%</a:t>
            </a:r>
          </a:p>
          <a:p>
            <a:pPr marL="914400" indent="-514350">
              <a:spcBef>
                <a:spcPct val="20000"/>
              </a:spcBef>
              <a:buFont typeface="+mj-lt"/>
              <a:buAutoNum type="alphaLcPeriod"/>
            </a:pPr>
            <a:r>
              <a:rPr lang="en-US" sz="2800" dirty="0">
                <a:solidFill>
                  <a:prstClr val="black"/>
                </a:solidFill>
                <a:cs typeface="Times New Roman" pitchFamily="18" charset="0"/>
              </a:rPr>
              <a:t>38%</a:t>
            </a:r>
          </a:p>
          <a:p>
            <a:pPr marL="914400" indent="-514350">
              <a:spcBef>
                <a:spcPct val="20000"/>
              </a:spcBef>
              <a:buFont typeface="+mj-lt"/>
              <a:buAutoNum type="alphaLcPeriod"/>
            </a:pPr>
            <a:r>
              <a:rPr lang="en-US" sz="2800" dirty="0">
                <a:solidFill>
                  <a:prstClr val="black"/>
                </a:solidFill>
                <a:cs typeface="Times New Roman" pitchFamily="18" charset="0"/>
              </a:rPr>
              <a:t>0%</a:t>
            </a:r>
          </a:p>
          <a:p>
            <a:pPr marL="914400" indent="-514350">
              <a:spcBef>
                <a:spcPct val="20000"/>
              </a:spcBef>
              <a:buFont typeface="+mj-lt"/>
              <a:buAutoNum type="alphaLcPeriod"/>
            </a:pPr>
            <a:r>
              <a:rPr lang="en-US" sz="2800" dirty="0">
                <a:solidFill>
                  <a:prstClr val="black"/>
                </a:solidFill>
                <a:cs typeface="Times New Roman" pitchFamily="18" charset="0"/>
              </a:rPr>
              <a:t>37%</a:t>
            </a:r>
          </a:p>
        </p:txBody>
      </p:sp>
      <p:sp>
        <p:nvSpPr>
          <p:cNvPr id="2" name="TPQuestion"/>
          <p:cNvSpPr>
            <a:spLocks noGrp="1"/>
          </p:cNvSpPr>
          <p:nvPr>
            <p:ph type="title" idx="4294967295"/>
          </p:nvPr>
        </p:nvSpPr>
        <p:spPr>
          <a:xfrm>
            <a:off x="0" y="7938"/>
            <a:ext cx="9144000" cy="2782887"/>
          </a:xfrm>
        </p:spPr>
        <p:txBody>
          <a:bodyPr>
            <a:noAutofit/>
          </a:bodyPr>
          <a:lstStyle/>
          <a:p>
            <a:pPr>
              <a:spcAft>
                <a:spcPts val="1200"/>
              </a:spcAft>
            </a:pPr>
            <a:r>
              <a:rPr lang="en-US" sz="3200" b="1" dirty="0">
                <a:solidFill>
                  <a:prstClr val="black"/>
                </a:solidFill>
                <a:cs typeface="Times New Roman" pitchFamily="18" charset="0"/>
              </a:rPr>
              <a:t>Based on survey data, 52% of students drink caffeine in the morning, 47% of students drink caffeine in the afternoon, and 37% drink caffeine in the morning and the afternoon.  What percent of students do not drink caffeine in the morning or in the afternoon?</a:t>
            </a:r>
          </a:p>
        </p:txBody>
      </p:sp>
    </p:spTree>
    <p:custDataLst>
      <p:tags r:id="rId1"/>
    </p:custDataLst>
    <p:extLst>
      <p:ext uri="{BB962C8B-B14F-4D97-AF65-F5344CB8AC3E}">
        <p14:creationId xmlns:p14="http://schemas.microsoft.com/office/powerpoint/2010/main" val="1893163142"/>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PAnswers"/>
          <p:cNvSpPr>
            <a:spLocks noGrp="1"/>
          </p:cNvSpPr>
          <p:nvPr>
            <p:ph sz="quarter" idx="4294967295"/>
            <p:custDataLst>
              <p:tags r:id="rId2"/>
            </p:custDataLst>
          </p:nvPr>
        </p:nvSpPr>
        <p:spPr>
          <a:xfrm>
            <a:off x="0" y="4762500"/>
            <a:ext cx="4833938" cy="2057400"/>
          </a:xfrm>
        </p:spPr>
        <p:txBody>
          <a:bodyPr>
            <a:noAutofit/>
          </a:bodyPr>
          <a:lstStyle/>
          <a:p>
            <a:pPr marL="914400" indent="-514350">
              <a:spcBef>
                <a:spcPct val="20000"/>
              </a:spcBef>
              <a:buFont typeface="+mj-lt"/>
              <a:buAutoNum type="alphaLcPeriod"/>
            </a:pPr>
            <a:r>
              <a:rPr lang="en-US" sz="2800" dirty="0"/>
              <a:t>222/273 = 0.813</a:t>
            </a:r>
          </a:p>
          <a:p>
            <a:pPr marL="914400" indent="-514350">
              <a:spcBef>
                <a:spcPct val="20000"/>
              </a:spcBef>
              <a:buFont typeface="+mj-lt"/>
              <a:buAutoNum type="alphaLcPeriod"/>
            </a:pPr>
            <a:r>
              <a:rPr lang="en-US" sz="2800" dirty="0"/>
              <a:t>41/273 = 0.150</a:t>
            </a:r>
          </a:p>
          <a:p>
            <a:pPr marL="914400" indent="-514350">
              <a:spcBef>
                <a:spcPct val="20000"/>
              </a:spcBef>
              <a:buFont typeface="+mj-lt"/>
              <a:buAutoNum type="alphaLcPeriod"/>
            </a:pPr>
            <a:r>
              <a:rPr lang="en-US" sz="2800" dirty="0"/>
              <a:t>32/273 = 0.117</a:t>
            </a:r>
          </a:p>
          <a:p>
            <a:pPr marL="914400" indent="-514350">
              <a:spcBef>
                <a:spcPct val="20000"/>
              </a:spcBef>
              <a:buFont typeface="+mj-lt"/>
              <a:buAutoNum type="alphaLcPeriod"/>
            </a:pPr>
            <a:r>
              <a:rPr lang="en-US" sz="2800" dirty="0"/>
              <a:t>I got a different answer</a:t>
            </a:r>
            <a:endParaRPr lang="en-US" sz="2400" dirty="0"/>
          </a:p>
        </p:txBody>
      </p:sp>
      <p:graphicFrame>
        <p:nvGraphicFramePr>
          <p:cNvPr id="10" name="Table 9"/>
          <p:cNvGraphicFramePr>
            <a:graphicFrameLocks noGrp="1"/>
          </p:cNvGraphicFramePr>
          <p:nvPr>
            <p:extLst>
              <p:ext uri="{D42A27DB-BD31-4B8C-83A1-F6EECF244321}">
                <p14:modId xmlns:p14="http://schemas.microsoft.com/office/powerpoint/2010/main" val="3169997785"/>
              </p:ext>
            </p:extLst>
          </p:nvPr>
        </p:nvGraphicFramePr>
        <p:xfrm>
          <a:off x="0" y="1324780"/>
          <a:ext cx="9144001" cy="2409020"/>
        </p:xfrm>
        <a:graphic>
          <a:graphicData uri="http://schemas.openxmlformats.org/drawingml/2006/table">
            <a:tbl>
              <a:tblPr firstRow="1" bandRow="1">
                <a:tableStyleId>{5C22544A-7EE6-4342-B048-85BDC9FD1C3A}</a:tableStyleId>
              </a:tblPr>
              <a:tblGrid>
                <a:gridCol w="2417137"/>
                <a:gridCol w="2742368"/>
                <a:gridCol w="2532104"/>
                <a:gridCol w="1452392"/>
              </a:tblGrid>
              <a:tr h="795222">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Female Members</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No Females</a:t>
                      </a:r>
                      <a:endParaRPr lang="en-US" sz="28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Total</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47819">
                <a:tc>
                  <a:txBody>
                    <a:bodyPr/>
                    <a:lstStyle/>
                    <a:p>
                      <a:r>
                        <a:rPr lang="en-US" sz="2800" b="1" dirty="0" smtClean="0"/>
                        <a:t>Performer (MP)</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32</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149</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181</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47819">
                <a:tc>
                  <a:txBody>
                    <a:bodyPr/>
                    <a:lstStyle/>
                    <a:p>
                      <a:r>
                        <a:rPr lang="en-US" sz="2800" b="1" dirty="0" smtClean="0"/>
                        <a:t>Not performer</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83</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92</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18939">
                <a:tc>
                  <a:txBody>
                    <a:bodyPr/>
                    <a:lstStyle/>
                    <a:p>
                      <a:r>
                        <a:rPr lang="en-US" sz="2800" b="1" dirty="0" smtClean="0"/>
                        <a:t>Total</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41</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232</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273</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TPQuestion"/>
          <p:cNvSpPr>
            <a:spLocks noGrp="1"/>
          </p:cNvSpPr>
          <p:nvPr>
            <p:ph type="title" idx="4294967295"/>
          </p:nvPr>
        </p:nvSpPr>
        <p:spPr>
          <a:xfrm>
            <a:off x="0" y="0"/>
            <a:ext cx="9144000" cy="1295400"/>
          </a:xfrm>
        </p:spPr>
        <p:txBody>
          <a:bodyPr>
            <a:normAutofit/>
          </a:bodyPr>
          <a:lstStyle/>
          <a:p>
            <a:pPr marL="400050"/>
            <a:r>
              <a:rPr lang="en-US" sz="3200" b="1" dirty="0"/>
              <a:t>What is the probability that an inductee chosen at random has a female member </a:t>
            </a:r>
            <a:r>
              <a:rPr lang="en-US" sz="3200" b="1" dirty="0">
                <a:solidFill>
                  <a:schemeClr val="accent3">
                    <a:lumMod val="75000"/>
                  </a:schemeClr>
                </a:solidFill>
              </a:rPr>
              <a:t>and </a:t>
            </a:r>
            <a:r>
              <a:rPr lang="en-US" sz="3200" b="1" dirty="0"/>
              <a:t>is a performer?</a:t>
            </a:r>
          </a:p>
        </p:txBody>
      </p:sp>
    </p:spTree>
    <p:custDataLst>
      <p:tags r:id="rId1"/>
    </p:custDataLst>
    <p:extLst>
      <p:ext uri="{BB962C8B-B14F-4D97-AF65-F5344CB8AC3E}">
        <p14:creationId xmlns:p14="http://schemas.microsoft.com/office/powerpoint/2010/main" val="40646233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Conditional Probability</a:t>
            </a:r>
            <a:endParaRPr lang="en-US" sz="4000" b="1" dirty="0">
              <a:solidFill>
                <a:schemeClr val="accent6">
                  <a:lumMod val="75000"/>
                </a:schemeClr>
              </a:solidFill>
            </a:endParaRPr>
          </a:p>
        </p:txBody>
      </p:sp>
      <p:sp>
        <p:nvSpPr>
          <p:cNvPr id="7" name="TextBox 6"/>
          <p:cNvSpPr txBox="1"/>
          <p:nvPr/>
        </p:nvSpPr>
        <p:spPr>
          <a:xfrm>
            <a:off x="11722" y="1524000"/>
            <a:ext cx="9132278" cy="4909036"/>
          </a:xfrm>
          <a:prstGeom prst="rect">
            <a:avLst/>
          </a:prstGeom>
          <a:noFill/>
        </p:spPr>
        <p:txBody>
          <a:bodyPr wrap="square" rtlCol="0">
            <a:spAutoFit/>
          </a:bodyPr>
          <a:lstStyle/>
          <a:p>
            <a:pPr>
              <a:spcAft>
                <a:spcPts val="1800"/>
              </a:spcAft>
              <a:buFont typeface="Arial" pitchFamily="34" charset="0"/>
              <a:buChar char="•"/>
            </a:pPr>
            <a:r>
              <a:rPr lang="en-US" sz="3200" dirty="0" smtClean="0">
                <a:solidFill>
                  <a:prstClr val="black"/>
                </a:solidFill>
                <a:cs typeface="Times New Roman" pitchFamily="18" charset="0"/>
              </a:rPr>
              <a:t> </a:t>
            </a:r>
            <a:r>
              <a:rPr lang="en-US" sz="3600" b="1" i="1" dirty="0" smtClean="0">
                <a:solidFill>
                  <a:schemeClr val="accent1">
                    <a:lumMod val="50000"/>
                  </a:schemeClr>
                </a:solidFill>
                <a:cs typeface="Times New Roman" pitchFamily="18" charset="0"/>
              </a:rPr>
              <a:t>P(A if B)</a:t>
            </a:r>
            <a:r>
              <a:rPr lang="en-US" sz="3600" b="1" dirty="0" smtClean="0">
                <a:solidFill>
                  <a:schemeClr val="accent1">
                    <a:lumMod val="50000"/>
                  </a:schemeClr>
                </a:solidFill>
                <a:cs typeface="Times New Roman" pitchFamily="18" charset="0"/>
              </a:rPr>
              <a:t> </a:t>
            </a:r>
            <a:r>
              <a:rPr lang="en-US" sz="3600" dirty="0" smtClean="0">
                <a:solidFill>
                  <a:prstClr val="black"/>
                </a:solidFill>
                <a:cs typeface="Times New Roman" pitchFamily="18" charset="0"/>
              </a:rPr>
              <a:t>is the probability of A, if we know B has happened</a:t>
            </a:r>
          </a:p>
          <a:p>
            <a:pPr>
              <a:spcAft>
                <a:spcPts val="1200"/>
              </a:spcAft>
              <a:buFont typeface="Arial" pitchFamily="34" charset="0"/>
              <a:buChar char="•"/>
            </a:pPr>
            <a:r>
              <a:rPr lang="en-US" sz="3600" dirty="0" smtClean="0">
                <a:solidFill>
                  <a:prstClr val="black"/>
                </a:solidFill>
                <a:cs typeface="Times New Roman" pitchFamily="18" charset="0"/>
              </a:rPr>
              <a:t> This is read in multiple ways:</a:t>
            </a:r>
          </a:p>
          <a:p>
            <a:pPr lvl="1">
              <a:buFont typeface="Arial" pitchFamily="34" charset="0"/>
              <a:buChar char="•"/>
            </a:pPr>
            <a:r>
              <a:rPr lang="en-US" sz="3600" dirty="0" smtClean="0">
                <a:solidFill>
                  <a:prstClr val="black"/>
                </a:solidFill>
                <a:cs typeface="Times New Roman" pitchFamily="18" charset="0"/>
              </a:rPr>
              <a:t> “probability of A if B”</a:t>
            </a:r>
          </a:p>
          <a:p>
            <a:pPr lvl="1">
              <a:buFont typeface="Arial" pitchFamily="34" charset="0"/>
              <a:buChar char="•"/>
            </a:pPr>
            <a:r>
              <a:rPr lang="en-US" sz="3600" dirty="0" smtClean="0">
                <a:solidFill>
                  <a:prstClr val="black"/>
                </a:solidFill>
                <a:cs typeface="Times New Roman" pitchFamily="18" charset="0"/>
              </a:rPr>
              <a:t> “probability of A given B” </a:t>
            </a:r>
          </a:p>
          <a:p>
            <a:pPr lvl="1">
              <a:buFont typeface="Arial" pitchFamily="34" charset="0"/>
              <a:buChar char="•"/>
            </a:pPr>
            <a:r>
              <a:rPr lang="en-US" sz="3600" dirty="0" smtClean="0">
                <a:solidFill>
                  <a:prstClr val="black"/>
                </a:solidFill>
                <a:cs typeface="Times New Roman" pitchFamily="18" charset="0"/>
              </a:rPr>
              <a:t> “probability of A conditional on B”</a:t>
            </a:r>
          </a:p>
          <a:p>
            <a:pPr lvl="1"/>
            <a:endParaRPr lang="en-US" sz="3600" dirty="0" smtClean="0">
              <a:solidFill>
                <a:prstClr val="black"/>
              </a:solidFill>
              <a:cs typeface="Times New Roman" pitchFamily="18" charset="0"/>
            </a:endParaRPr>
          </a:p>
          <a:p>
            <a:pPr>
              <a:spcAft>
                <a:spcPts val="1200"/>
              </a:spcAft>
              <a:buFont typeface="Arial" pitchFamily="34" charset="0"/>
              <a:buChar char="•"/>
            </a:pPr>
            <a:r>
              <a:rPr lang="en-US" sz="3600" dirty="0" smtClean="0">
                <a:solidFill>
                  <a:prstClr val="black"/>
                </a:solidFill>
                <a:cs typeface="Times New Roman" pitchFamily="18" charset="0"/>
              </a:rPr>
              <a:t> You may also see this written as P(A | B)</a:t>
            </a:r>
            <a:endParaRPr lang="en-US" sz="3200" dirty="0" smtClean="0">
              <a:solidFill>
                <a:prstClr val="black"/>
              </a:solidFill>
              <a:cs typeface="Times New Roman" pitchFamily="18" charset="0"/>
            </a:endParaRPr>
          </a:p>
        </p:txBody>
      </p:sp>
    </p:spTree>
    <p:custDataLst>
      <p:tags r:id="rId1"/>
    </p:custDataLst>
    <p:extLst>
      <p:ext uri="{BB962C8B-B14F-4D97-AF65-F5344CB8AC3E}">
        <p14:creationId xmlns:p14="http://schemas.microsoft.com/office/powerpoint/2010/main" val="27781625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2916435693"/>
              </p:ext>
            </p:extLst>
          </p:nvPr>
        </p:nvGraphicFramePr>
        <p:xfrm>
          <a:off x="0" y="1295400"/>
          <a:ext cx="9144000" cy="2514600"/>
        </p:xfrm>
        <a:graphic>
          <a:graphicData uri="http://schemas.openxmlformats.org/drawingml/2006/table">
            <a:tbl>
              <a:tblPr firstRow="1" bandRow="1">
                <a:tableStyleId>{5C22544A-7EE6-4342-B048-85BDC9FD1C3A}</a:tableStyleId>
              </a:tblPr>
              <a:tblGrid>
                <a:gridCol w="2438400"/>
                <a:gridCol w="2721105"/>
                <a:gridCol w="2136186"/>
                <a:gridCol w="1848309"/>
              </a:tblGrid>
              <a:tr h="793341">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Female Members</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No Females</a:t>
                      </a:r>
                      <a:endParaRPr lang="en-US" sz="28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Total</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58273">
                <a:tc>
                  <a:txBody>
                    <a:bodyPr/>
                    <a:lstStyle/>
                    <a:p>
                      <a:r>
                        <a:rPr lang="en-US" sz="2800" b="1" dirty="0" smtClean="0"/>
                        <a:t>Performer (MP)</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32</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149</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181</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604713">
                <a:tc>
                  <a:txBody>
                    <a:bodyPr/>
                    <a:lstStyle/>
                    <a:p>
                      <a:r>
                        <a:rPr lang="en-US" sz="2800" b="1" dirty="0" smtClean="0"/>
                        <a:t>Not performer</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83</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92</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558273">
                <a:tc>
                  <a:txBody>
                    <a:bodyPr/>
                    <a:lstStyle/>
                    <a:p>
                      <a:r>
                        <a:rPr lang="en-US" sz="2800" b="1" dirty="0" smtClean="0"/>
                        <a:t>Total</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41</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232</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273</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TPQuestion"/>
          <p:cNvSpPr>
            <a:spLocks noGrp="1"/>
          </p:cNvSpPr>
          <p:nvPr>
            <p:ph type="title" idx="4294967295"/>
          </p:nvPr>
        </p:nvSpPr>
        <p:spPr>
          <a:xfrm>
            <a:off x="0" y="0"/>
            <a:ext cx="9148763" cy="1600200"/>
          </a:xfrm>
        </p:spPr>
        <p:txBody>
          <a:bodyPr>
            <a:normAutofit/>
          </a:bodyPr>
          <a:lstStyle/>
          <a:p>
            <a:pPr marL="400050"/>
            <a:r>
              <a:rPr lang="en-US" sz="3200" b="1" dirty="0"/>
              <a:t>What is the probability that an inductee chosen at random has a female member if it is a performer?</a:t>
            </a:r>
          </a:p>
        </p:txBody>
      </p:sp>
      <p:sp>
        <p:nvSpPr>
          <p:cNvPr id="5" name="TPAnswers"/>
          <p:cNvSpPr>
            <a:spLocks noGrp="1"/>
          </p:cNvSpPr>
          <p:nvPr>
            <p:ph sz="quarter" idx="4294967295"/>
            <p:custDataLst>
              <p:tags r:id="rId2"/>
            </p:custDataLst>
          </p:nvPr>
        </p:nvSpPr>
        <p:spPr>
          <a:xfrm>
            <a:off x="0" y="4343400"/>
            <a:ext cx="3959225" cy="2514600"/>
          </a:xfrm>
        </p:spPr>
        <p:txBody>
          <a:bodyPr>
            <a:noAutofit/>
          </a:bodyPr>
          <a:lstStyle/>
          <a:p>
            <a:pPr marL="914400" indent="-514350">
              <a:spcBef>
                <a:spcPct val="20000"/>
              </a:spcBef>
              <a:buFont typeface="+mj-lt"/>
              <a:buAutoNum type="alphaLcPeriod"/>
            </a:pPr>
            <a:r>
              <a:rPr lang="en-US" sz="2800" dirty="0"/>
              <a:t>181/273 = 0.663</a:t>
            </a:r>
          </a:p>
          <a:p>
            <a:pPr marL="914400" indent="-514350">
              <a:spcBef>
                <a:spcPct val="20000"/>
              </a:spcBef>
              <a:buFont typeface="+mj-lt"/>
              <a:buAutoNum type="alphaLcPeriod"/>
            </a:pPr>
            <a:r>
              <a:rPr lang="en-US" sz="2800" dirty="0"/>
              <a:t>32/41 = 0.780</a:t>
            </a:r>
          </a:p>
          <a:p>
            <a:pPr marL="914400" indent="-514350">
              <a:spcBef>
                <a:spcPct val="20000"/>
              </a:spcBef>
              <a:buFont typeface="+mj-lt"/>
              <a:buAutoNum type="alphaLcPeriod"/>
            </a:pPr>
            <a:r>
              <a:rPr lang="en-US" sz="2800" dirty="0"/>
              <a:t>32/181 = 0.177</a:t>
            </a:r>
          </a:p>
          <a:p>
            <a:pPr marL="914400" indent="-514350">
              <a:spcBef>
                <a:spcPct val="20000"/>
              </a:spcBef>
              <a:buFont typeface="+mj-lt"/>
              <a:buAutoNum type="alphaLcPeriod"/>
            </a:pPr>
            <a:r>
              <a:rPr lang="en-US" sz="2800" dirty="0"/>
              <a:t>I got a different answer</a:t>
            </a:r>
            <a:endParaRPr lang="en-US" sz="2400" dirty="0"/>
          </a:p>
        </p:txBody>
      </p:sp>
    </p:spTree>
    <p:custDataLst>
      <p:tags r:id="rId1"/>
    </p:custDataLst>
    <p:extLst>
      <p:ext uri="{BB962C8B-B14F-4D97-AF65-F5344CB8AC3E}">
        <p14:creationId xmlns:p14="http://schemas.microsoft.com/office/powerpoint/2010/main" val="17591954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114948424"/>
              </p:ext>
            </p:extLst>
          </p:nvPr>
        </p:nvGraphicFramePr>
        <p:xfrm>
          <a:off x="7882" y="1066800"/>
          <a:ext cx="9136117" cy="2499360"/>
        </p:xfrm>
        <a:graphic>
          <a:graphicData uri="http://schemas.openxmlformats.org/drawingml/2006/table">
            <a:tbl>
              <a:tblPr firstRow="1" bandRow="1">
                <a:tableStyleId>{5C22544A-7EE6-4342-B048-85BDC9FD1C3A}</a:tableStyleId>
              </a:tblPr>
              <a:tblGrid>
                <a:gridCol w="2506718"/>
                <a:gridCol w="2648339"/>
                <a:gridCol w="2134344"/>
                <a:gridCol w="1846716"/>
              </a:tblGrid>
              <a:tr h="727676">
                <a:tc>
                  <a:txBody>
                    <a:bodyPr/>
                    <a:lstStyle/>
                    <a:p>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Female Members</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No Females</a:t>
                      </a:r>
                      <a:endParaRPr lang="en-US" sz="28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solidFill>
                            <a:schemeClr val="tx1"/>
                          </a:solidFill>
                        </a:rPr>
                        <a:t>Total</a:t>
                      </a:r>
                      <a:endParaRPr lang="en-US" sz="2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55997">
                <a:tc>
                  <a:txBody>
                    <a:bodyPr/>
                    <a:lstStyle/>
                    <a:p>
                      <a:r>
                        <a:rPr lang="en-US" sz="2800" b="1" dirty="0" smtClean="0"/>
                        <a:t>Performer (MP)</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32</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149</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181</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93929">
                <a:tc>
                  <a:txBody>
                    <a:bodyPr/>
                    <a:lstStyle/>
                    <a:p>
                      <a:r>
                        <a:rPr lang="en-US" sz="2800" b="1" dirty="0" smtClean="0"/>
                        <a:t>Not performer</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83</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92</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455997">
                <a:tc>
                  <a:txBody>
                    <a:bodyPr/>
                    <a:lstStyle/>
                    <a:p>
                      <a:r>
                        <a:rPr lang="en-US" sz="2800" b="1" dirty="0" smtClean="0"/>
                        <a:t>Total</a:t>
                      </a:r>
                      <a:endParaRPr lang="en-US"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41</a:t>
                      </a:r>
                      <a:endParaRPr lang="en-US" sz="28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232</a:t>
                      </a:r>
                      <a:endParaRPr lang="en-US" sz="28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800" dirty="0" smtClean="0"/>
                        <a:t>273</a:t>
                      </a:r>
                      <a:endParaRPr 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 name="TPQuestion"/>
          <p:cNvSpPr>
            <a:spLocks noGrp="1"/>
          </p:cNvSpPr>
          <p:nvPr>
            <p:ph type="title"/>
          </p:nvPr>
        </p:nvSpPr>
        <p:spPr>
          <a:xfrm>
            <a:off x="-21303" y="0"/>
            <a:ext cx="9167648" cy="1143000"/>
          </a:xfrm>
        </p:spPr>
        <p:txBody>
          <a:bodyPr>
            <a:noAutofit/>
          </a:bodyPr>
          <a:lstStyle/>
          <a:p>
            <a:pPr marL="400050"/>
            <a:r>
              <a:rPr lang="en-US" sz="3200" b="1" dirty="0"/>
              <a:t>What is the probability that an inductee chosen at random is a performer if it has female members?</a:t>
            </a:r>
          </a:p>
        </p:txBody>
      </p:sp>
      <p:sp>
        <p:nvSpPr>
          <p:cNvPr id="5" name="TPAnswers"/>
          <p:cNvSpPr>
            <a:spLocks noGrp="1"/>
          </p:cNvSpPr>
          <p:nvPr>
            <p:ph sz="quarter" idx="1"/>
            <p:custDataLst>
              <p:tags r:id="rId2"/>
            </p:custDataLst>
          </p:nvPr>
        </p:nvSpPr>
        <p:spPr>
          <a:xfrm>
            <a:off x="-22634" y="4343400"/>
            <a:ext cx="4290848" cy="2362200"/>
          </a:xfrm>
        </p:spPr>
        <p:txBody>
          <a:bodyPr>
            <a:noAutofit/>
          </a:bodyPr>
          <a:lstStyle/>
          <a:p>
            <a:pPr marL="914400" indent="-514350">
              <a:spcBef>
                <a:spcPct val="20000"/>
              </a:spcBef>
              <a:buFont typeface="+mj-lt"/>
              <a:buAutoNum type="alphaLcPeriod"/>
            </a:pPr>
            <a:r>
              <a:rPr lang="en-US" sz="2800" dirty="0"/>
              <a:t>181/273 = 0.663</a:t>
            </a:r>
          </a:p>
          <a:p>
            <a:pPr marL="914400" indent="-514350">
              <a:spcBef>
                <a:spcPct val="20000"/>
              </a:spcBef>
              <a:buFont typeface="+mj-lt"/>
              <a:buAutoNum type="alphaLcPeriod"/>
            </a:pPr>
            <a:r>
              <a:rPr lang="en-US" sz="2800" dirty="0"/>
              <a:t>32/41 = 0.780</a:t>
            </a:r>
          </a:p>
          <a:p>
            <a:pPr marL="914400" indent="-514350">
              <a:spcBef>
                <a:spcPct val="20000"/>
              </a:spcBef>
              <a:buFont typeface="+mj-lt"/>
              <a:buAutoNum type="alphaLcPeriod"/>
            </a:pPr>
            <a:r>
              <a:rPr lang="en-US" sz="2800" dirty="0"/>
              <a:t>32/181 = 0.177</a:t>
            </a:r>
          </a:p>
          <a:p>
            <a:pPr marL="914400" indent="-514350">
              <a:spcBef>
                <a:spcPct val="20000"/>
              </a:spcBef>
              <a:buFont typeface="+mj-lt"/>
              <a:buAutoNum type="alphaLcPeriod"/>
            </a:pPr>
            <a:r>
              <a:rPr lang="en-US" sz="2800" dirty="0"/>
              <a:t>I got a different answer</a:t>
            </a:r>
            <a:endParaRPr lang="en-US" sz="2400" dirty="0"/>
          </a:p>
        </p:txBody>
      </p:sp>
    </p:spTree>
    <p:custDataLst>
      <p:tags r:id="rId1"/>
    </p:custDataLst>
    <p:extLst>
      <p:ext uri="{BB962C8B-B14F-4D97-AF65-F5344CB8AC3E}">
        <p14:creationId xmlns:p14="http://schemas.microsoft.com/office/powerpoint/2010/main" val="25392831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72" y="15240"/>
            <a:ext cx="9142828" cy="1219200"/>
          </a:xfrm>
          <a:prstGeom prst="rect">
            <a:avLst/>
          </a:prstGeom>
        </p:spPr>
        <p:txBody>
          <a:bodyPr/>
          <a:lstStyle/>
          <a:p>
            <a:pPr lvl="0" algn="ctr">
              <a:spcBef>
                <a:spcPct val="0"/>
              </a:spcBef>
              <a:defRPr/>
            </a:pPr>
            <a:r>
              <a:rPr lang="en-US" sz="4400" b="1" dirty="0" smtClean="0">
                <a:solidFill>
                  <a:schemeClr val="accent6">
                    <a:lumMod val="75000"/>
                  </a:schemeClr>
                </a:solidFill>
              </a:rPr>
              <a:t>P(A if B): Conditional Probability Rule</a:t>
            </a:r>
            <a:endParaRPr lang="en-US" sz="4000" b="1" dirty="0">
              <a:solidFill>
                <a:schemeClr val="accent6">
                  <a:lumMod val="75000"/>
                </a:schemeClr>
              </a:solidFill>
            </a:endParaRPr>
          </a:p>
        </p:txBody>
      </p:sp>
      <p:graphicFrame>
        <p:nvGraphicFramePr>
          <p:cNvPr id="72706" name="Object 2"/>
          <p:cNvGraphicFramePr>
            <a:graphicFrameLocks noChangeAspect="1"/>
          </p:cNvGraphicFramePr>
          <p:nvPr>
            <p:extLst>
              <p:ext uri="{D42A27DB-BD31-4B8C-83A1-F6EECF244321}">
                <p14:modId xmlns:p14="http://schemas.microsoft.com/office/powerpoint/2010/main" val="864025288"/>
              </p:ext>
            </p:extLst>
          </p:nvPr>
        </p:nvGraphicFramePr>
        <p:xfrm>
          <a:off x="2209800" y="1066800"/>
          <a:ext cx="4947425" cy="1371600"/>
        </p:xfrm>
        <a:graphic>
          <a:graphicData uri="http://schemas.openxmlformats.org/presentationml/2006/ole">
            <mc:AlternateContent xmlns:mc="http://schemas.openxmlformats.org/markup-compatibility/2006">
              <mc:Choice xmlns:v="urn:schemas-microsoft-com:vml" Requires="v">
                <p:oleObj spid="_x0000_s36965" name="Equation" r:id="rId4" imgW="1511280" imgH="419040" progId="Equation.DSMT4">
                  <p:embed/>
                </p:oleObj>
              </mc:Choice>
              <mc:Fallback>
                <p:oleObj name="Equation" r:id="rId4" imgW="1511280" imgH="419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066800"/>
                        <a:ext cx="4947425" cy="1371600"/>
                      </a:xfrm>
                      <a:prstGeom prst="rect">
                        <a:avLst/>
                      </a:prstGeom>
                      <a:solidFill>
                        <a:srgbClr val="E1E89E"/>
                      </a:solidFill>
                      <a:ln w="22225">
                        <a:solidFill>
                          <a:schemeClr val="accent1">
                            <a:lumMod val="50000"/>
                          </a:schemeClr>
                        </a:solidFill>
                        <a:miter lim="800000"/>
                        <a:headEnd/>
                        <a:tailEnd/>
                      </a:ln>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275134367"/>
              </p:ext>
            </p:extLst>
          </p:nvPr>
        </p:nvGraphicFramePr>
        <p:xfrm>
          <a:off x="115680" y="2514600"/>
          <a:ext cx="8913812" cy="842963"/>
        </p:xfrm>
        <a:graphic>
          <a:graphicData uri="http://schemas.openxmlformats.org/presentationml/2006/ole">
            <mc:AlternateContent xmlns:mc="http://schemas.openxmlformats.org/markup-compatibility/2006">
              <mc:Choice xmlns:v="urn:schemas-microsoft-com:vml" Requires="v">
                <p:oleObj spid="_x0000_s36966" name="Equation" r:id="rId6" imgW="4431960" imgH="419040" progId="Equation.BREE4">
                  <p:embed/>
                </p:oleObj>
              </mc:Choice>
              <mc:Fallback>
                <p:oleObj name="Equation" r:id="rId6" imgW="4431960" imgH="419040" progId="Equation.BREE4">
                  <p:embed/>
                  <p:pic>
                    <p:nvPicPr>
                      <p:cNvPr id="0" name="Object 8"/>
                      <p:cNvPicPr>
                        <a:picLocks noChangeAspect="1" noChangeArrowheads="1"/>
                      </p:cNvPicPr>
                      <p:nvPr/>
                    </p:nvPicPr>
                    <p:blipFill>
                      <a:blip r:embed="rId7"/>
                      <a:srcRect/>
                      <a:stretch>
                        <a:fillRect/>
                      </a:stretch>
                    </p:blipFill>
                    <p:spPr bwMode="auto">
                      <a:xfrm>
                        <a:off x="115680" y="2514600"/>
                        <a:ext cx="8913812"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198325175"/>
              </p:ext>
            </p:extLst>
          </p:nvPr>
        </p:nvGraphicFramePr>
        <p:xfrm>
          <a:off x="177123" y="3200400"/>
          <a:ext cx="5083175" cy="1531937"/>
        </p:xfrm>
        <a:graphic>
          <a:graphicData uri="http://schemas.openxmlformats.org/presentationml/2006/ole">
            <mc:AlternateContent xmlns:mc="http://schemas.openxmlformats.org/markup-compatibility/2006">
              <mc:Choice xmlns:v="urn:schemas-microsoft-com:vml" Requires="v">
                <p:oleObj spid="_x0000_s36967" name="Equation" r:id="rId8" imgW="2527200" imgH="761760" progId="Equation.BREE4">
                  <p:embed/>
                </p:oleObj>
              </mc:Choice>
              <mc:Fallback>
                <p:oleObj name="Equation" r:id="rId8" imgW="2527200" imgH="761760" progId="Equation.BREE4">
                  <p:embed/>
                  <p:pic>
                    <p:nvPicPr>
                      <p:cNvPr id="0" name="Object 8"/>
                      <p:cNvPicPr>
                        <a:picLocks noChangeAspect="1" noChangeArrowheads="1"/>
                      </p:cNvPicPr>
                      <p:nvPr/>
                    </p:nvPicPr>
                    <p:blipFill>
                      <a:blip r:embed="rId9"/>
                      <a:srcRect/>
                      <a:stretch>
                        <a:fillRect/>
                      </a:stretch>
                    </p:blipFill>
                    <p:spPr bwMode="auto">
                      <a:xfrm>
                        <a:off x="177123" y="3200400"/>
                        <a:ext cx="5083175"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23939201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172" y="15240"/>
            <a:ext cx="9142828" cy="1219200"/>
          </a:xfrm>
          <a:prstGeom prst="rect">
            <a:avLst/>
          </a:prstGeom>
        </p:spPr>
        <p:txBody>
          <a:bodyPr/>
          <a:lstStyle/>
          <a:p>
            <a:pPr lvl="0" algn="ctr">
              <a:spcBef>
                <a:spcPct val="0"/>
              </a:spcBef>
              <a:defRPr/>
            </a:pPr>
            <a:r>
              <a:rPr lang="en-US" sz="4400" b="1" dirty="0" smtClean="0">
                <a:solidFill>
                  <a:schemeClr val="accent6">
                    <a:lumMod val="75000"/>
                  </a:schemeClr>
                </a:solidFill>
              </a:rPr>
              <a:t>P(A if B): Conditional Probability Rule</a:t>
            </a:r>
            <a:endParaRPr lang="en-US" sz="4000" b="1" dirty="0">
              <a:solidFill>
                <a:schemeClr val="accent6">
                  <a:lumMod val="75000"/>
                </a:schemeClr>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4227605090"/>
              </p:ext>
            </p:extLst>
          </p:nvPr>
        </p:nvGraphicFramePr>
        <p:xfrm>
          <a:off x="2114989" y="1066800"/>
          <a:ext cx="4915193" cy="1329222"/>
        </p:xfrm>
        <a:graphic>
          <a:graphicData uri="http://schemas.openxmlformats.org/presentationml/2006/ole">
            <mc:AlternateContent xmlns:mc="http://schemas.openxmlformats.org/markup-compatibility/2006">
              <mc:Choice xmlns:v="urn:schemas-microsoft-com:vml" Requires="v">
                <p:oleObj spid="_x0000_s4241" name="Equation" r:id="rId4" imgW="1549080" imgH="419040" progId="Equation.DSMT4">
                  <p:embed/>
                </p:oleObj>
              </mc:Choice>
              <mc:Fallback>
                <p:oleObj name="Equation" r:id="rId4" imgW="1549080" imgH="419040" progId="Equation.DSMT4">
                  <p:embed/>
                  <p:pic>
                    <p:nvPicPr>
                      <p:cNvPr id="0" name="Object 2"/>
                      <p:cNvPicPr>
                        <a:picLocks noChangeAspect="1" noChangeArrowheads="1"/>
                      </p:cNvPicPr>
                      <p:nvPr/>
                    </p:nvPicPr>
                    <p:blipFill>
                      <a:blip r:embed="rId5"/>
                      <a:srcRect/>
                      <a:stretch>
                        <a:fillRect/>
                      </a:stretch>
                    </p:blipFill>
                    <p:spPr bwMode="auto">
                      <a:xfrm>
                        <a:off x="2114989" y="1066800"/>
                        <a:ext cx="4915193" cy="1329222"/>
                      </a:xfrm>
                      <a:prstGeom prst="rect">
                        <a:avLst/>
                      </a:prstGeom>
                      <a:solidFill>
                        <a:srgbClr val="E1E89E"/>
                      </a:solidFill>
                      <a:ln w="22225">
                        <a:solidFill>
                          <a:srgbClr val="355D7E"/>
                        </a:solidFill>
                        <a:miter lim="800000"/>
                        <a:headEnd/>
                        <a:tailEnd/>
                      </a:ln>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404027537"/>
              </p:ext>
            </p:extLst>
          </p:nvPr>
        </p:nvGraphicFramePr>
        <p:xfrm>
          <a:off x="4273290" y="3599514"/>
          <a:ext cx="885825" cy="1562100"/>
        </p:xfrm>
        <a:graphic>
          <a:graphicData uri="http://schemas.openxmlformats.org/presentationml/2006/ole">
            <mc:AlternateContent xmlns:mc="http://schemas.openxmlformats.org/markup-compatibility/2006">
              <mc:Choice xmlns:v="urn:schemas-microsoft-com:vml" Requires="v">
                <p:oleObj spid="_x0000_s4242" name="Equation" r:id="rId6" imgW="431640" imgH="761760" progId="Equation.BREE4">
                  <p:embed/>
                </p:oleObj>
              </mc:Choice>
              <mc:Fallback>
                <p:oleObj name="Equation" r:id="rId6" imgW="431640" imgH="761760" progId="Equation.BREE4">
                  <p:embed/>
                  <p:pic>
                    <p:nvPicPr>
                      <p:cNvPr id="0" name="Object 8"/>
                      <p:cNvPicPr>
                        <a:picLocks noChangeAspect="1" noChangeArrowheads="1"/>
                      </p:cNvPicPr>
                      <p:nvPr/>
                    </p:nvPicPr>
                    <p:blipFill>
                      <a:blip r:embed="rId7"/>
                      <a:srcRect/>
                      <a:stretch>
                        <a:fillRect/>
                      </a:stretch>
                    </p:blipFill>
                    <p:spPr bwMode="auto">
                      <a:xfrm>
                        <a:off x="4273290" y="3599514"/>
                        <a:ext cx="885825"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71141468"/>
              </p:ext>
            </p:extLst>
          </p:nvPr>
        </p:nvGraphicFramePr>
        <p:xfrm>
          <a:off x="60325" y="2514600"/>
          <a:ext cx="9007475" cy="884238"/>
        </p:xfrm>
        <a:graphic>
          <a:graphicData uri="http://schemas.openxmlformats.org/presentationml/2006/ole">
            <mc:AlternateContent xmlns:mc="http://schemas.openxmlformats.org/markup-compatibility/2006">
              <mc:Choice xmlns:v="urn:schemas-microsoft-com:vml" Requires="v">
                <p:oleObj spid="_x0000_s4243" name="Equation" r:id="rId8" imgW="4431960" imgH="431640" progId="Equation.BREE4">
                  <p:embed/>
                </p:oleObj>
              </mc:Choice>
              <mc:Fallback>
                <p:oleObj name="Equation" r:id="rId8" imgW="4431960" imgH="431640" progId="Equation.BREE4">
                  <p:embed/>
                  <p:pic>
                    <p:nvPicPr>
                      <p:cNvPr id="0" name="Object 8"/>
                      <p:cNvPicPr>
                        <a:picLocks noChangeAspect="1" noChangeArrowheads="1"/>
                      </p:cNvPicPr>
                      <p:nvPr/>
                    </p:nvPicPr>
                    <p:blipFill>
                      <a:blip r:embed="rId9"/>
                      <a:srcRect/>
                      <a:stretch>
                        <a:fillRect/>
                      </a:stretch>
                    </p:blipFill>
                    <p:spPr bwMode="auto">
                      <a:xfrm>
                        <a:off x="60325" y="2514600"/>
                        <a:ext cx="9007475" cy="884238"/>
                      </a:xfrm>
                      <a:prstGeom prst="rect">
                        <a:avLst/>
                      </a:prstGeom>
                      <a:noFill/>
                      <a:ln>
                        <a:noFill/>
                      </a:ln>
                    </p:spPr>
                  </p:pic>
                </p:oleObj>
              </mc:Fallback>
            </mc:AlternateContent>
          </a:graphicData>
        </a:graphic>
      </p:graphicFrame>
    </p:spTree>
    <p:custDataLst>
      <p:tags r:id="rId2"/>
    </p:custDataLst>
    <p:extLst>
      <p:ext uri="{BB962C8B-B14F-4D97-AF65-F5344CB8AC3E}">
        <p14:creationId xmlns:p14="http://schemas.microsoft.com/office/powerpoint/2010/main" val="30948991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908310" y="4343400"/>
            <a:ext cx="381000" cy="609600"/>
          </a:xfrm>
          <a:prstGeom prst="rect">
            <a:avLst/>
          </a:prstGeom>
          <a:solidFill>
            <a:srgbClr val="ED95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657600" y="3886200"/>
            <a:ext cx="381000" cy="609600"/>
          </a:xfrm>
          <a:prstGeom prst="rect">
            <a:avLst/>
          </a:prstGeom>
          <a:solidFill>
            <a:srgbClr val="ED958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839605" y="2106118"/>
            <a:ext cx="404110" cy="609600"/>
          </a:xfrm>
          <a:prstGeom prst="rect">
            <a:avLst/>
          </a:prstGeom>
          <a:solidFill>
            <a:srgbClr val="84E0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657600" y="1676400"/>
            <a:ext cx="381000" cy="635833"/>
          </a:xfrm>
          <a:prstGeom prst="rect">
            <a:avLst/>
          </a:prstGeom>
          <a:solidFill>
            <a:srgbClr val="84E0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3937617084"/>
              </p:ext>
            </p:extLst>
          </p:nvPr>
        </p:nvGraphicFramePr>
        <p:xfrm>
          <a:off x="2212975" y="1344118"/>
          <a:ext cx="4946650" cy="1371600"/>
        </p:xfrm>
        <a:graphic>
          <a:graphicData uri="http://schemas.openxmlformats.org/presentationml/2006/ole">
            <mc:AlternateContent xmlns:mc="http://schemas.openxmlformats.org/markup-compatibility/2006">
              <mc:Choice xmlns:v="urn:schemas-microsoft-com:vml" Requires="v">
                <p:oleObj spid="_x0000_s37938" name="Equation" r:id="rId3" imgW="1511300" imgH="419100" progId="Equation.DSMT4">
                  <p:embed/>
                </p:oleObj>
              </mc:Choice>
              <mc:Fallback>
                <p:oleObj name="Equation" r:id="rId3" imgW="1511300" imgH="4191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2975" y="1344118"/>
                        <a:ext cx="4946650" cy="1371600"/>
                      </a:xfrm>
                      <a:prstGeom prst="rect">
                        <a:avLst/>
                      </a:prstGeom>
                      <a:noFill/>
                      <a:ln w="22225">
                        <a:solidFill>
                          <a:srgbClr val="355D7E"/>
                        </a:solidFill>
                        <a:miter lim="800000"/>
                        <a:headEnd/>
                        <a:tailEnd/>
                      </a:ln>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3347464733"/>
              </p:ext>
            </p:extLst>
          </p:nvPr>
        </p:nvGraphicFramePr>
        <p:xfrm>
          <a:off x="2192337" y="3601387"/>
          <a:ext cx="4987925" cy="1371600"/>
        </p:xfrm>
        <a:graphic>
          <a:graphicData uri="http://schemas.openxmlformats.org/presentationml/2006/ole">
            <mc:AlternateContent xmlns:mc="http://schemas.openxmlformats.org/markup-compatibility/2006">
              <mc:Choice xmlns:v="urn:schemas-microsoft-com:vml" Requires="v">
                <p:oleObj spid="_x0000_s37939" name="Equation" r:id="rId5" imgW="1523880" imgH="419040" progId="Equation.DSMT4">
                  <p:embed/>
                </p:oleObj>
              </mc:Choice>
              <mc:Fallback>
                <p:oleObj name="Equation" r:id="rId5" imgW="1523880" imgH="419040" progId="Equation.DSMT4">
                  <p:embed/>
                  <p:pic>
                    <p:nvPicPr>
                      <p:cNvPr id="0" name="Object 2"/>
                      <p:cNvPicPr>
                        <a:picLocks noChangeAspect="1" noChangeArrowheads="1"/>
                      </p:cNvPicPr>
                      <p:nvPr/>
                    </p:nvPicPr>
                    <p:blipFill>
                      <a:blip r:embed="rId6"/>
                      <a:srcRect/>
                      <a:stretch>
                        <a:fillRect/>
                      </a:stretch>
                    </p:blipFill>
                    <p:spPr bwMode="auto">
                      <a:xfrm>
                        <a:off x="2192337" y="3601387"/>
                        <a:ext cx="4987925" cy="1371600"/>
                      </a:xfrm>
                      <a:prstGeom prst="rect">
                        <a:avLst/>
                      </a:prstGeom>
                      <a:noFill/>
                      <a:ln w="22225">
                        <a:solidFill>
                          <a:srgbClr val="355D7E"/>
                        </a:solidFill>
                        <a:miter lim="800000"/>
                        <a:headEnd/>
                        <a:tailEnd/>
                      </a:ln>
                    </p:spPr>
                  </p:pic>
                </p:oleObj>
              </mc:Fallback>
            </mc:AlternateContent>
          </a:graphicData>
        </a:graphic>
      </p:graphicFrame>
      <p:sp>
        <p:nvSpPr>
          <p:cNvPr id="4" name="Rectangle 3"/>
          <p:cNvSpPr/>
          <p:nvPr/>
        </p:nvSpPr>
        <p:spPr>
          <a:xfrm>
            <a:off x="838200" y="228600"/>
            <a:ext cx="7696200" cy="707886"/>
          </a:xfrm>
          <a:prstGeom prst="rect">
            <a:avLst/>
          </a:prstGeom>
        </p:spPr>
        <p:txBody>
          <a:bodyPr wrap="square">
            <a:spAutoFit/>
          </a:bodyPr>
          <a:lstStyle/>
          <a:p>
            <a:pPr algn="ctr"/>
            <a:r>
              <a:rPr lang="en-US" sz="4000" b="1" dirty="0">
                <a:solidFill>
                  <a:schemeClr val="accent6">
                    <a:lumMod val="75000"/>
                  </a:schemeClr>
                </a:solidFill>
              </a:rPr>
              <a:t>Conditional Probability Rule</a:t>
            </a:r>
            <a:endParaRPr lang="en-US" sz="4000" dirty="0"/>
          </a:p>
        </p:txBody>
      </p:sp>
    </p:spTree>
    <p:extLst>
      <p:ext uri="{BB962C8B-B14F-4D97-AF65-F5344CB8AC3E}">
        <p14:creationId xmlns:p14="http://schemas.microsoft.com/office/powerpoint/2010/main" val="1260986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5"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Conditional Probability</a:t>
            </a:r>
            <a:endParaRPr lang="en-US" sz="4000" b="1" dirty="0">
              <a:solidFill>
                <a:schemeClr val="accent6">
                  <a:lumMod val="75000"/>
                </a:schemeClr>
              </a:solidFill>
            </a:endParaRPr>
          </a:p>
        </p:txBody>
      </p:sp>
      <p:sp>
        <p:nvSpPr>
          <p:cNvPr id="7" name="TextBox 6"/>
          <p:cNvSpPr txBox="1"/>
          <p:nvPr/>
        </p:nvSpPr>
        <p:spPr>
          <a:xfrm>
            <a:off x="15240" y="3886200"/>
            <a:ext cx="9128760" cy="1077218"/>
          </a:xfrm>
          <a:prstGeom prst="rect">
            <a:avLst/>
          </a:prstGeom>
          <a:noFill/>
        </p:spPr>
        <p:txBody>
          <a:bodyPr wrap="square" rtlCol="0">
            <a:spAutoFit/>
          </a:bodyPr>
          <a:lstStyle/>
          <a:p>
            <a:pPr marL="914400" indent="-514350">
              <a:buFont typeface="+mj-lt"/>
              <a:buAutoNum type="alphaLcParenR"/>
            </a:pPr>
            <a:r>
              <a:rPr lang="en-US" sz="3200" dirty="0" smtClean="0">
                <a:solidFill>
                  <a:prstClr val="black"/>
                </a:solidFill>
                <a:cs typeface="Times New Roman" pitchFamily="18" charset="0"/>
              </a:rPr>
              <a:t>P(has female members if performer) = </a:t>
            </a:r>
            <a:r>
              <a:rPr lang="en-US" sz="3200" dirty="0"/>
              <a:t>0.177</a:t>
            </a:r>
          </a:p>
          <a:p>
            <a:pPr marL="914400" indent="-514350">
              <a:buFont typeface="+mj-lt"/>
              <a:buAutoNum type="alphaLcParenR"/>
            </a:pPr>
            <a:r>
              <a:rPr lang="en-US" sz="3200" dirty="0" smtClean="0">
                <a:solidFill>
                  <a:prstClr val="black"/>
                </a:solidFill>
                <a:cs typeface="Times New Roman" pitchFamily="18" charset="0"/>
              </a:rPr>
              <a:t>P(performer if has female members) = </a:t>
            </a:r>
            <a:r>
              <a:rPr lang="en-US" sz="3200" dirty="0"/>
              <a:t>0.780</a:t>
            </a:r>
          </a:p>
        </p:txBody>
      </p:sp>
      <p:graphicFrame>
        <p:nvGraphicFramePr>
          <p:cNvPr id="71682" name="Object 2"/>
          <p:cNvGraphicFramePr>
            <a:graphicFrameLocks noChangeAspect="1"/>
          </p:cNvGraphicFramePr>
          <p:nvPr>
            <p:extLst>
              <p:ext uri="{D42A27DB-BD31-4B8C-83A1-F6EECF244321}">
                <p14:modId xmlns:p14="http://schemas.microsoft.com/office/powerpoint/2010/main" val="1549209393"/>
              </p:ext>
            </p:extLst>
          </p:nvPr>
        </p:nvGraphicFramePr>
        <p:xfrm>
          <a:off x="1066800" y="1905000"/>
          <a:ext cx="7134225" cy="1066800"/>
        </p:xfrm>
        <a:graphic>
          <a:graphicData uri="http://schemas.openxmlformats.org/presentationml/2006/ole">
            <mc:AlternateContent xmlns:mc="http://schemas.openxmlformats.org/markup-compatibility/2006">
              <mc:Choice xmlns:v="urn:schemas-microsoft-com:vml" Requires="v">
                <p:oleObj spid="_x0000_s3121" name="Equation" r:id="rId4" imgW="1358640" imgH="203040" progId="Equation.DSMT4">
                  <p:embed/>
                </p:oleObj>
              </mc:Choice>
              <mc:Fallback>
                <p:oleObj name="Equation" r:id="rId4" imgW="135864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905000"/>
                        <a:ext cx="7134225" cy="1066800"/>
                      </a:xfrm>
                      <a:prstGeom prst="rect">
                        <a:avLst/>
                      </a:prstGeom>
                      <a:noFill/>
                      <a:ln w="22225">
                        <a:solidFill>
                          <a:srgbClr val="FF0000"/>
                        </a:solidFill>
                        <a:miter lim="800000"/>
                        <a:headEnd/>
                        <a:tailEnd/>
                      </a:ln>
                      <a:extLst/>
                    </p:spPr>
                  </p:pic>
                </p:oleObj>
              </mc:Fallback>
            </mc:AlternateContent>
          </a:graphicData>
        </a:graphic>
      </p:graphicFrame>
    </p:spTree>
    <p:custDataLst>
      <p:tags r:id="rId2"/>
    </p:custDataLst>
    <p:extLst>
      <p:ext uri="{BB962C8B-B14F-4D97-AF65-F5344CB8AC3E}">
        <p14:creationId xmlns:p14="http://schemas.microsoft.com/office/powerpoint/2010/main" val="30574606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71682"/>
                                        </p:tgtEl>
                                        <p:attrNameLst>
                                          <p:attrName>style.visibility</p:attrName>
                                        </p:attrNameLst>
                                      </p:cBhvr>
                                      <p:to>
                                        <p:strVal val="visible"/>
                                      </p:to>
                                    </p:set>
                                    <p:animEffect transition="in" filter="fade">
                                      <p:cBhvr>
                                        <p:cTn id="7" dur="2000"/>
                                        <p:tgtEl>
                                          <p:spTgt spid="71682"/>
                                        </p:tgtEl>
                                      </p:cBhvr>
                                    </p:animEffect>
                                    <p:anim calcmode="lin" valueType="num">
                                      <p:cBhvr>
                                        <p:cTn id="8" dur="2000" fill="hold"/>
                                        <p:tgtEl>
                                          <p:spTgt spid="71682"/>
                                        </p:tgtEl>
                                        <p:attrNameLst>
                                          <p:attrName>style.rotation</p:attrName>
                                        </p:attrNameLst>
                                      </p:cBhvr>
                                      <p:tavLst>
                                        <p:tav tm="0">
                                          <p:val>
                                            <p:fltVal val="720"/>
                                          </p:val>
                                        </p:tav>
                                        <p:tav tm="100000">
                                          <p:val>
                                            <p:fltVal val="0"/>
                                          </p:val>
                                        </p:tav>
                                      </p:tavLst>
                                    </p:anim>
                                    <p:anim calcmode="lin" valueType="num">
                                      <p:cBhvr>
                                        <p:cTn id="9" dur="2000" fill="hold"/>
                                        <p:tgtEl>
                                          <p:spTgt spid="71682"/>
                                        </p:tgtEl>
                                        <p:attrNameLst>
                                          <p:attrName>ppt_h</p:attrName>
                                        </p:attrNameLst>
                                      </p:cBhvr>
                                      <p:tavLst>
                                        <p:tav tm="0">
                                          <p:val>
                                            <p:fltVal val="0"/>
                                          </p:val>
                                        </p:tav>
                                        <p:tav tm="100000">
                                          <p:val>
                                            <p:strVal val="#ppt_h"/>
                                          </p:val>
                                        </p:tav>
                                      </p:tavLst>
                                    </p:anim>
                                    <p:anim calcmode="lin" valueType="num">
                                      <p:cBhvr>
                                        <p:cTn id="10" dur="2000" fill="hold"/>
                                        <p:tgtEl>
                                          <p:spTgt spid="7168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0"/>
            <a:ext cx="9144000" cy="2876550"/>
          </a:xfrm>
        </p:spPr>
        <p:txBody>
          <a:bodyPr>
            <a:noAutofit/>
          </a:bodyPr>
          <a:lstStyle/>
          <a:p>
            <a:pPr>
              <a:spcAft>
                <a:spcPts val="1200"/>
              </a:spcAft>
            </a:pPr>
            <a:r>
              <a:rPr lang="en-US" sz="3200" b="1" dirty="0">
                <a:solidFill>
                  <a:schemeClr val="accent6">
                    <a:lumMod val="50000"/>
                  </a:schemeClr>
                </a:solidFill>
                <a:cs typeface="Times New Roman" pitchFamily="18" charset="0"/>
              </a:rPr>
              <a:t>Based on survey data, 52% of students drink caffeine in the morning, 47% of students drink caffeine in the afternoon, and 37% drink caffeine in the morning and the afternoon.  What percent of students who drink caffeine in the morning also drink caffeine in the afternoon?</a:t>
            </a:r>
          </a:p>
        </p:txBody>
      </p:sp>
      <p:sp>
        <p:nvSpPr>
          <p:cNvPr id="4" name="TPAnswers"/>
          <p:cNvSpPr>
            <a:spLocks noGrp="1"/>
          </p:cNvSpPr>
          <p:nvPr>
            <p:ph sz="quarter" idx="4294967295"/>
            <p:custDataLst>
              <p:tags r:id="rId2"/>
            </p:custDataLst>
          </p:nvPr>
        </p:nvSpPr>
        <p:spPr>
          <a:xfrm>
            <a:off x="0" y="2895600"/>
            <a:ext cx="3962400" cy="1600200"/>
          </a:xfrm>
        </p:spPr>
        <p:txBody>
          <a:bodyPr>
            <a:noAutofit/>
          </a:bodyPr>
          <a:lstStyle/>
          <a:p>
            <a:pPr marL="914400" indent="-514350">
              <a:spcBef>
                <a:spcPct val="20000"/>
              </a:spcBef>
              <a:buFont typeface="+mj-lt"/>
              <a:buAutoNum type="alphaLcPeriod"/>
            </a:pPr>
            <a:r>
              <a:rPr lang="en-US" sz="2800" dirty="0">
                <a:solidFill>
                  <a:schemeClr val="accent6">
                    <a:lumMod val="50000"/>
                  </a:schemeClr>
                </a:solidFill>
                <a:cs typeface="Times New Roman" pitchFamily="18" charset="0"/>
              </a:rPr>
              <a:t>77%</a:t>
            </a:r>
          </a:p>
          <a:p>
            <a:pPr marL="914400" indent="-514350">
              <a:spcBef>
                <a:spcPct val="20000"/>
              </a:spcBef>
              <a:buFont typeface="+mj-lt"/>
              <a:buAutoNum type="alphaLcPeriod"/>
            </a:pPr>
            <a:r>
              <a:rPr lang="en-US" sz="2800" dirty="0">
                <a:solidFill>
                  <a:schemeClr val="accent6">
                    <a:lumMod val="50000"/>
                  </a:schemeClr>
                </a:solidFill>
                <a:cs typeface="Times New Roman" pitchFamily="18" charset="0"/>
              </a:rPr>
              <a:t>38%</a:t>
            </a:r>
          </a:p>
          <a:p>
            <a:pPr marL="914400" indent="-514350">
              <a:spcBef>
                <a:spcPct val="20000"/>
              </a:spcBef>
              <a:buFont typeface="+mj-lt"/>
              <a:buAutoNum type="alphaLcPeriod"/>
            </a:pPr>
            <a:r>
              <a:rPr lang="en-US" sz="2800" dirty="0">
                <a:solidFill>
                  <a:schemeClr val="accent6">
                    <a:lumMod val="50000"/>
                  </a:schemeClr>
                </a:solidFill>
                <a:cs typeface="Times New Roman" pitchFamily="18" charset="0"/>
              </a:rPr>
              <a:t>71%</a:t>
            </a:r>
          </a:p>
        </p:txBody>
      </p:sp>
    </p:spTree>
    <p:custDataLst>
      <p:tags r:id="rId1"/>
    </p:custDataLst>
    <p:extLst>
      <p:ext uri="{BB962C8B-B14F-4D97-AF65-F5344CB8AC3E}">
        <p14:creationId xmlns:p14="http://schemas.microsoft.com/office/powerpoint/2010/main" val="3649370939"/>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762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Helpful Tip</a:t>
            </a:r>
            <a:endParaRPr lang="en-US" sz="4000" b="1" dirty="0">
              <a:solidFill>
                <a:schemeClr val="accent6">
                  <a:lumMod val="75000"/>
                </a:schemeClr>
              </a:solidFill>
            </a:endParaRPr>
          </a:p>
        </p:txBody>
      </p:sp>
      <p:sp>
        <p:nvSpPr>
          <p:cNvPr id="7" name="TextBox 6"/>
          <p:cNvSpPr txBox="1"/>
          <p:nvPr/>
        </p:nvSpPr>
        <p:spPr>
          <a:xfrm>
            <a:off x="76200" y="685800"/>
            <a:ext cx="8915400" cy="4570482"/>
          </a:xfrm>
          <a:prstGeom prst="rect">
            <a:avLst/>
          </a:prstGeom>
          <a:noFill/>
        </p:spPr>
        <p:txBody>
          <a:bodyPr wrap="square" rtlCol="0">
            <a:spAutoFit/>
          </a:bodyPr>
          <a:lstStyle/>
          <a:p>
            <a:pPr>
              <a:spcAft>
                <a:spcPts val="1200"/>
              </a:spcAft>
            </a:pPr>
            <a:r>
              <a:rPr lang="en-US" sz="3200" dirty="0" smtClean="0">
                <a:solidFill>
                  <a:prstClr val="black"/>
                </a:solidFill>
                <a:cs typeface="Times New Roman" pitchFamily="18" charset="0"/>
              </a:rPr>
              <a:t>If the table problems are easier for you than the sentence problems, try to first convert what you know into a table.</a:t>
            </a:r>
          </a:p>
          <a:p>
            <a:pPr>
              <a:spcAft>
                <a:spcPts val="1200"/>
              </a:spcAft>
            </a:pPr>
            <a:r>
              <a:rPr lang="en-US" sz="3200" b="1" i="1" dirty="0" smtClean="0">
                <a:solidFill>
                  <a:schemeClr val="accent1">
                    <a:lumMod val="50000"/>
                  </a:schemeClr>
                </a:solidFill>
                <a:cs typeface="Times New Roman" pitchFamily="18" charset="0"/>
              </a:rPr>
              <a:t>52</a:t>
            </a:r>
            <a:r>
              <a:rPr lang="en-US" sz="3200" i="1" dirty="0" smtClean="0">
                <a:solidFill>
                  <a:prstClr val="black"/>
                </a:solidFill>
                <a:cs typeface="Times New Roman" pitchFamily="18" charset="0"/>
              </a:rPr>
              <a:t>% of students drink caffeine in the morning, </a:t>
            </a:r>
            <a:r>
              <a:rPr lang="en-US" sz="3200" b="1" i="1" dirty="0">
                <a:solidFill>
                  <a:schemeClr val="accent1">
                    <a:lumMod val="50000"/>
                  </a:schemeClr>
                </a:solidFill>
                <a:cs typeface="Times New Roman" pitchFamily="18" charset="0"/>
              </a:rPr>
              <a:t>47</a:t>
            </a:r>
            <a:r>
              <a:rPr lang="en-US" sz="3200" i="1" dirty="0" smtClean="0">
                <a:solidFill>
                  <a:prstClr val="black"/>
                </a:solidFill>
                <a:cs typeface="Times New Roman" pitchFamily="18" charset="0"/>
              </a:rPr>
              <a:t>% of students drink caffeine in the afternoon, and </a:t>
            </a:r>
            <a:r>
              <a:rPr lang="en-US" sz="3200" b="1" i="1" dirty="0">
                <a:solidFill>
                  <a:schemeClr val="accent1">
                    <a:lumMod val="50000"/>
                  </a:schemeClr>
                </a:solidFill>
                <a:cs typeface="Times New Roman" pitchFamily="18" charset="0"/>
              </a:rPr>
              <a:t>37</a:t>
            </a:r>
            <a:r>
              <a:rPr lang="en-US" sz="3200" i="1" dirty="0" smtClean="0">
                <a:solidFill>
                  <a:prstClr val="black"/>
                </a:solidFill>
                <a:cs typeface="Times New Roman" pitchFamily="18" charset="0"/>
              </a:rPr>
              <a:t>% drink caffeine in the morning and the afternoon</a:t>
            </a:r>
          </a:p>
          <a:p>
            <a:pPr>
              <a:spcAft>
                <a:spcPts val="1800"/>
              </a:spcAft>
            </a:pPr>
            <a:endParaRPr lang="en-US" sz="3200" dirty="0" smtClean="0">
              <a:solidFill>
                <a:prstClr val="black"/>
              </a:solidFill>
              <a:cs typeface="Times New Roman" pitchFamily="18" charset="0"/>
            </a:endParaRPr>
          </a:p>
          <a:p>
            <a:pPr>
              <a:spcAft>
                <a:spcPts val="1800"/>
              </a:spcAft>
            </a:pPr>
            <a:endParaRPr lang="en-US" sz="3200" dirty="0" smtClean="0">
              <a:solidFill>
                <a:prstClr val="black"/>
              </a:solidFill>
              <a:cs typeface="Times New Roman"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879647652"/>
              </p:ext>
            </p:extLst>
          </p:nvPr>
        </p:nvGraphicFramePr>
        <p:xfrm>
          <a:off x="228600" y="4059406"/>
          <a:ext cx="8534400" cy="1981200"/>
        </p:xfrm>
        <a:graphic>
          <a:graphicData uri="http://schemas.openxmlformats.org/drawingml/2006/table">
            <a:tbl>
              <a:tblPr firstRow="1" bandRow="1">
                <a:tableStyleId>{5C22544A-7EE6-4342-B048-85BDC9FD1C3A}</a:tableStyleId>
              </a:tblPr>
              <a:tblGrid>
                <a:gridCol w="3097530"/>
                <a:gridCol w="1855470"/>
                <a:gridCol w="2133600"/>
                <a:gridCol w="1447800"/>
              </a:tblGrid>
              <a:tr h="274320">
                <a:tc>
                  <a:txBody>
                    <a:bodyPr/>
                    <a:lstStyle/>
                    <a:p>
                      <a:endParaRPr lang="en-US" sz="2600" dirty="0">
                        <a:solidFill>
                          <a:schemeClr val="tx1"/>
                        </a:solidFill>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600" dirty="0" smtClean="0">
                          <a:solidFill>
                            <a:schemeClr val="tx1"/>
                          </a:solidFill>
                        </a:rPr>
                        <a:t>Caffeine</a:t>
                      </a:r>
                      <a:r>
                        <a:rPr lang="en-US" sz="2600" baseline="0" dirty="0" smtClean="0">
                          <a:solidFill>
                            <a:schemeClr val="tx1"/>
                          </a:solidFill>
                        </a:rPr>
                        <a:t> Afternoon</a:t>
                      </a:r>
                      <a:endParaRPr lang="en-US" sz="2600" dirty="0">
                        <a:solidFill>
                          <a:schemeClr val="tx1"/>
                        </a:solidFill>
                      </a:endParaRPr>
                    </a:p>
                  </a:txBody>
                  <a:tcPr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600" dirty="0" smtClean="0">
                          <a:solidFill>
                            <a:schemeClr val="tx1"/>
                          </a:solidFill>
                        </a:rPr>
                        <a:t>No Caffeine</a:t>
                      </a:r>
                      <a:r>
                        <a:rPr lang="en-US" sz="2600" baseline="0" dirty="0" smtClean="0">
                          <a:solidFill>
                            <a:schemeClr val="tx1"/>
                          </a:solidFill>
                        </a:rPr>
                        <a:t> Afternoon</a:t>
                      </a:r>
                      <a:endParaRPr lang="en-US" sz="2600" dirty="0">
                        <a:solidFill>
                          <a:schemeClr val="tx1"/>
                        </a:solidFill>
                      </a:endParaRPr>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600" dirty="0" smtClean="0">
                          <a:solidFill>
                            <a:schemeClr val="tx1"/>
                          </a:solidFill>
                        </a:rPr>
                        <a:t>Total</a:t>
                      </a:r>
                      <a:endParaRPr lang="en-US" sz="2600" dirty="0">
                        <a:solidFill>
                          <a:schemeClr val="tx1"/>
                        </a:solidFill>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r>
                        <a:rPr lang="en-US" sz="2600" b="1" dirty="0" smtClean="0"/>
                        <a:t>Caffeine</a:t>
                      </a:r>
                      <a:r>
                        <a:rPr lang="en-US" sz="2600" b="1" baseline="0" dirty="0" smtClean="0"/>
                        <a:t> Morning</a:t>
                      </a:r>
                      <a:endParaRPr lang="en-US" sz="2600" b="1"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r>
                        <a:rPr lang="en-US" sz="2600" b="1" dirty="0" smtClean="0"/>
                        <a:t>No</a:t>
                      </a:r>
                      <a:r>
                        <a:rPr lang="en-US" sz="2600" b="1" baseline="0" dirty="0" smtClean="0"/>
                        <a:t> Caffeine Morning</a:t>
                      </a:r>
                      <a:endParaRPr lang="en-US" sz="2600" b="1"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274320">
                <a:tc>
                  <a:txBody>
                    <a:bodyPr/>
                    <a:lstStyle/>
                    <a:p>
                      <a:r>
                        <a:rPr lang="en-US" sz="2600" b="1" dirty="0" smtClean="0"/>
                        <a:t>Total</a:t>
                      </a:r>
                      <a:endParaRPr lang="en-US" sz="2600" b="1"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600" dirty="0"/>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ustDataLst>
      <p:tags r:id="rId1"/>
    </p:custDataLst>
    <p:extLst>
      <p:ext uri="{BB962C8B-B14F-4D97-AF65-F5344CB8AC3E}">
        <p14:creationId xmlns:p14="http://schemas.microsoft.com/office/powerpoint/2010/main" val="5524835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500" fill="hold"/>
                                        <p:tgtEl>
                                          <p:spTgt spid="9"/>
                                        </p:tgtEl>
                                        <p:attrNameLst>
                                          <p:attrName>ppt_w</p:attrName>
                                        </p:attrNameLst>
                                      </p:cBhvr>
                                      <p:tavLst>
                                        <p:tav tm="0">
                                          <p:val>
                                            <p:fltVal val="0"/>
                                          </p:val>
                                        </p:tav>
                                        <p:tav tm="100000">
                                          <p:val>
                                            <p:strVal val="#ppt_w"/>
                                          </p:val>
                                        </p:tav>
                                      </p:tavLst>
                                    </p:anim>
                                    <p:anim calcmode="lin" valueType="num">
                                      <p:cBhvr>
                                        <p:cTn id="16" dur="500" fill="hold"/>
                                        <p:tgtEl>
                                          <p:spTgt spid="9"/>
                                        </p:tgtEl>
                                        <p:attrNameLst>
                                          <p:attrName>ppt_h</p:attrName>
                                        </p:attrNameLst>
                                      </p:cBhvr>
                                      <p:tavLst>
                                        <p:tav tm="0">
                                          <p:val>
                                            <p:fltVal val="0"/>
                                          </p:val>
                                        </p:tav>
                                        <p:tav tm="100000">
                                          <p:val>
                                            <p:strVal val="#ppt_h"/>
                                          </p:val>
                                        </p:tav>
                                      </p:tavLst>
                                    </p:anim>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29308"/>
            <a:ext cx="9144000" cy="1219200"/>
          </a:xfrm>
          <a:prstGeom prst="rect">
            <a:avLst/>
          </a:prstGeom>
        </p:spPr>
        <p:txBody>
          <a:bodyPr/>
          <a:lstStyle/>
          <a:p>
            <a:pPr lvl="0" algn="ctr">
              <a:spcBef>
                <a:spcPct val="0"/>
              </a:spcBef>
              <a:defRPr/>
            </a:pPr>
            <a:r>
              <a:rPr lang="en-US" sz="4400" b="1" dirty="0" smtClean="0">
                <a:solidFill>
                  <a:schemeClr val="accent6">
                    <a:lumMod val="75000"/>
                  </a:schemeClr>
                </a:solidFill>
              </a:rPr>
              <a:t>P(A and B): The Multiplication Rule</a:t>
            </a:r>
            <a:endParaRPr lang="en-US" sz="4000" b="1" dirty="0">
              <a:solidFill>
                <a:schemeClr val="accent6">
                  <a:lumMod val="75000"/>
                </a:schemeClr>
              </a:solidFill>
            </a:endParaRPr>
          </a:p>
        </p:txBody>
      </p:sp>
      <p:graphicFrame>
        <p:nvGraphicFramePr>
          <p:cNvPr id="72706" name="Object 2"/>
          <p:cNvGraphicFramePr>
            <a:graphicFrameLocks noChangeAspect="1"/>
          </p:cNvGraphicFramePr>
          <p:nvPr>
            <p:extLst>
              <p:ext uri="{D42A27DB-BD31-4B8C-83A1-F6EECF244321}">
                <p14:modId xmlns:p14="http://schemas.microsoft.com/office/powerpoint/2010/main" val="1078675159"/>
              </p:ext>
            </p:extLst>
          </p:nvPr>
        </p:nvGraphicFramePr>
        <p:xfrm>
          <a:off x="990600" y="3200400"/>
          <a:ext cx="7420769" cy="796375"/>
        </p:xfrm>
        <a:graphic>
          <a:graphicData uri="http://schemas.openxmlformats.org/presentationml/2006/ole">
            <mc:AlternateContent xmlns:mc="http://schemas.openxmlformats.org/markup-compatibility/2006">
              <mc:Choice xmlns:v="urn:schemas-microsoft-com:vml" Requires="v">
                <p:oleObj spid="_x0000_s5302" name="Equation" r:id="rId4" imgW="1892160" imgH="203040" progId="Equation.DSMT4">
                  <p:embed/>
                </p:oleObj>
              </mc:Choice>
              <mc:Fallback>
                <p:oleObj name="Equation" r:id="rId4" imgW="1892160" imgH="203040" progId="Equation.DSMT4">
                  <p:embed/>
                  <p:pic>
                    <p:nvPicPr>
                      <p:cNvPr id="0" name=""/>
                      <p:cNvPicPr>
                        <a:picLocks noChangeAspect="1" noChangeArrowheads="1"/>
                      </p:cNvPicPr>
                      <p:nvPr/>
                    </p:nvPicPr>
                    <p:blipFill>
                      <a:blip r:embed="rId5"/>
                      <a:srcRect/>
                      <a:stretch>
                        <a:fillRect/>
                      </a:stretch>
                    </p:blipFill>
                    <p:spPr bwMode="auto">
                      <a:xfrm>
                        <a:off x="990600" y="3200400"/>
                        <a:ext cx="7420769" cy="796375"/>
                      </a:xfrm>
                      <a:prstGeom prst="rect">
                        <a:avLst/>
                      </a:prstGeom>
                      <a:noFill/>
                      <a:ln w="31750">
                        <a:solidFill>
                          <a:schemeClr val="accent1">
                            <a:lumMod val="50000"/>
                          </a:schemeClr>
                        </a:solidFill>
                        <a:miter lim="800000"/>
                        <a:headEnd/>
                        <a:tailEnd/>
                      </a:ln>
                      <a:extLst/>
                    </p:spPr>
                  </p:pic>
                </p:oleObj>
              </mc:Fallback>
            </mc:AlternateContent>
          </a:graphicData>
        </a:graphic>
      </p:graphicFrame>
      <p:graphicFrame>
        <p:nvGraphicFramePr>
          <p:cNvPr id="74755" name="Object 3"/>
          <p:cNvGraphicFramePr>
            <a:graphicFrameLocks noChangeAspect="1"/>
          </p:cNvGraphicFramePr>
          <p:nvPr>
            <p:extLst>
              <p:ext uri="{D42A27DB-BD31-4B8C-83A1-F6EECF244321}">
                <p14:modId xmlns:p14="http://schemas.microsoft.com/office/powerpoint/2010/main" val="2731889552"/>
              </p:ext>
            </p:extLst>
          </p:nvPr>
        </p:nvGraphicFramePr>
        <p:xfrm>
          <a:off x="1752600" y="1524000"/>
          <a:ext cx="5410200" cy="1499897"/>
        </p:xfrm>
        <a:graphic>
          <a:graphicData uri="http://schemas.openxmlformats.org/presentationml/2006/ole">
            <mc:AlternateContent xmlns:mc="http://schemas.openxmlformats.org/markup-compatibility/2006">
              <mc:Choice xmlns:v="urn:schemas-microsoft-com:vml" Requires="v">
                <p:oleObj spid="_x0000_s5303" name="Equation" r:id="rId6" imgW="1511280" imgH="419040" progId="Equation.DSMT4">
                  <p:embed/>
                </p:oleObj>
              </mc:Choice>
              <mc:Fallback>
                <p:oleObj name="Equation" r:id="rId6" imgW="1511280" imgH="4190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1524000"/>
                        <a:ext cx="5410200" cy="1499897"/>
                      </a:xfrm>
                      <a:prstGeom prst="rect">
                        <a:avLst/>
                      </a:prstGeom>
                      <a:noFill/>
                      <a:ln>
                        <a:noFill/>
                      </a:ln>
                      <a:extLst/>
                    </p:spPr>
                  </p:pic>
                </p:oleObj>
              </mc:Fallback>
            </mc:AlternateContent>
          </a:graphicData>
        </a:graphic>
      </p:graphicFrame>
      <p:sp>
        <p:nvSpPr>
          <p:cNvPr id="4" name="Right Arrow 3"/>
          <p:cNvSpPr/>
          <p:nvPr/>
        </p:nvSpPr>
        <p:spPr>
          <a:xfrm>
            <a:off x="262481" y="3396644"/>
            <a:ext cx="48920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p:cNvGraphicFramePr>
            <a:graphicFrameLocks noChangeAspect="1"/>
          </p:cNvGraphicFramePr>
          <p:nvPr>
            <p:extLst>
              <p:ext uri="{D42A27DB-BD31-4B8C-83A1-F6EECF244321}">
                <p14:modId xmlns:p14="http://schemas.microsoft.com/office/powerpoint/2010/main" val="732725817"/>
              </p:ext>
            </p:extLst>
          </p:nvPr>
        </p:nvGraphicFramePr>
        <p:xfrm>
          <a:off x="1716087" y="4142935"/>
          <a:ext cx="5711825" cy="1545286"/>
        </p:xfrm>
        <a:graphic>
          <a:graphicData uri="http://schemas.openxmlformats.org/presentationml/2006/ole">
            <mc:AlternateContent xmlns:mc="http://schemas.openxmlformats.org/markup-compatibility/2006">
              <mc:Choice xmlns:v="urn:schemas-microsoft-com:vml" Requires="v">
                <p:oleObj spid="_x0000_s5304" name="Equation" r:id="rId8" imgW="1549080" imgH="419040" progId="Equation.DSMT4">
                  <p:embed/>
                </p:oleObj>
              </mc:Choice>
              <mc:Fallback>
                <p:oleObj name="Equation" r:id="rId8" imgW="1549080" imgH="419040" progId="Equation.DSMT4">
                  <p:embed/>
                  <p:pic>
                    <p:nvPicPr>
                      <p:cNvPr id="0" name="Object 3"/>
                      <p:cNvPicPr>
                        <a:picLocks noChangeAspect="1" noChangeArrowheads="1"/>
                      </p:cNvPicPr>
                      <p:nvPr/>
                    </p:nvPicPr>
                    <p:blipFill>
                      <a:blip r:embed="rId9"/>
                      <a:srcRect/>
                      <a:stretch>
                        <a:fillRect/>
                      </a:stretch>
                    </p:blipFill>
                    <p:spPr bwMode="auto">
                      <a:xfrm>
                        <a:off x="1716087" y="4142935"/>
                        <a:ext cx="5711825" cy="1545286"/>
                      </a:xfrm>
                      <a:prstGeom prst="rect">
                        <a:avLst/>
                      </a:prstGeom>
                      <a:noFill/>
                      <a:ln>
                        <a:noFill/>
                      </a:ln>
                    </p:spPr>
                  </p:pic>
                </p:oleObj>
              </mc:Fallback>
            </mc:AlternateContent>
          </a:graphicData>
        </a:graphic>
      </p:graphicFrame>
      <p:sp>
        <p:nvSpPr>
          <p:cNvPr id="8" name="Right Arrow 7"/>
          <p:cNvSpPr/>
          <p:nvPr/>
        </p:nvSpPr>
        <p:spPr>
          <a:xfrm>
            <a:off x="262481" y="6033516"/>
            <a:ext cx="48920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371345508"/>
              </p:ext>
            </p:extLst>
          </p:nvPr>
        </p:nvGraphicFramePr>
        <p:xfrm>
          <a:off x="990600" y="5791200"/>
          <a:ext cx="7504112" cy="794774"/>
        </p:xfrm>
        <a:graphic>
          <a:graphicData uri="http://schemas.openxmlformats.org/presentationml/2006/ole">
            <mc:AlternateContent xmlns:mc="http://schemas.openxmlformats.org/markup-compatibility/2006">
              <mc:Choice xmlns:v="urn:schemas-microsoft-com:vml" Requires="v">
                <p:oleObj spid="_x0000_s5305" name="Equation" r:id="rId10" imgW="1917360" imgH="203040" progId="Equation.DSMT4">
                  <p:embed/>
                </p:oleObj>
              </mc:Choice>
              <mc:Fallback>
                <p:oleObj name="Equation" r:id="rId10" imgW="1917360" imgH="203040" progId="Equation.DSMT4">
                  <p:embed/>
                  <p:pic>
                    <p:nvPicPr>
                      <p:cNvPr id="0" name="Object 2"/>
                      <p:cNvPicPr>
                        <a:picLocks noChangeAspect="1" noChangeArrowheads="1"/>
                      </p:cNvPicPr>
                      <p:nvPr/>
                    </p:nvPicPr>
                    <p:blipFill>
                      <a:blip r:embed="rId11"/>
                      <a:srcRect/>
                      <a:stretch>
                        <a:fillRect/>
                      </a:stretch>
                    </p:blipFill>
                    <p:spPr bwMode="auto">
                      <a:xfrm>
                        <a:off x="990600" y="5791200"/>
                        <a:ext cx="7504112" cy="794774"/>
                      </a:xfrm>
                      <a:prstGeom prst="rect">
                        <a:avLst/>
                      </a:prstGeom>
                      <a:noFill/>
                      <a:ln w="31750">
                        <a:solidFill>
                          <a:srgbClr val="355D7E"/>
                        </a:solidFill>
                        <a:miter lim="800000"/>
                        <a:headEnd/>
                        <a:tailEnd/>
                      </a:ln>
                    </p:spPr>
                  </p:pic>
                </p:oleObj>
              </mc:Fallback>
            </mc:AlternateContent>
          </a:graphicData>
        </a:graphic>
      </p:graphicFrame>
      <p:sp>
        <p:nvSpPr>
          <p:cNvPr id="7" name="Rounded Rectangle 6"/>
          <p:cNvSpPr/>
          <p:nvPr/>
        </p:nvSpPr>
        <p:spPr>
          <a:xfrm>
            <a:off x="152400" y="1600200"/>
            <a:ext cx="8839200" cy="2514600"/>
          </a:xfrm>
          <a:prstGeom prst="roundRect">
            <a:avLst/>
          </a:prstGeom>
          <a:noFill/>
          <a:ln w="31750">
            <a:solidFill>
              <a:srgbClr val="E442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152400" y="4142935"/>
            <a:ext cx="8839200" cy="2590800"/>
          </a:xfrm>
          <a:prstGeom prst="roundRect">
            <a:avLst/>
          </a:prstGeom>
          <a:noFill/>
          <a:ln w="31750">
            <a:solidFill>
              <a:srgbClr val="E442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105400" y="3276600"/>
            <a:ext cx="381000" cy="604676"/>
          </a:xfrm>
          <a:prstGeom prst="rect">
            <a:avLst/>
          </a:prstGeom>
          <a:solidFill>
            <a:srgbClr val="FFC0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72400" y="3276600"/>
            <a:ext cx="381000" cy="604676"/>
          </a:xfrm>
          <a:prstGeom prst="rect">
            <a:avLst/>
          </a:prstGeom>
          <a:solidFill>
            <a:srgbClr val="FFC00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105400" y="5943600"/>
            <a:ext cx="457200" cy="574548"/>
          </a:xfrm>
          <a:prstGeom prst="rect">
            <a:avLst/>
          </a:prstGeom>
          <a:solidFill>
            <a:schemeClr val="tx2">
              <a:lumMod val="60000"/>
              <a:lumOff val="40000"/>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747782" y="5943600"/>
            <a:ext cx="457200" cy="574548"/>
          </a:xfrm>
          <a:prstGeom prst="rect">
            <a:avLst/>
          </a:prstGeom>
          <a:solidFill>
            <a:schemeClr val="tx2">
              <a:lumMod val="60000"/>
              <a:lumOff val="40000"/>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2"/>
    </p:custDataLst>
    <p:extLst>
      <p:ext uri="{BB962C8B-B14F-4D97-AF65-F5344CB8AC3E}">
        <p14:creationId xmlns:p14="http://schemas.microsoft.com/office/powerpoint/2010/main" val="732991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7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0" grpId="0" animBg="1"/>
      <p:bldP spid="13" grpId="0" animBg="1"/>
      <p:bldP spid="11" grpId="0"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Drawing Cards</a:t>
            </a:r>
            <a:endParaRPr lang="en-US" b="1" dirty="0"/>
          </a:p>
        </p:txBody>
      </p:sp>
      <p:sp>
        <p:nvSpPr>
          <p:cNvPr id="3" name="Content Placeholder 2"/>
          <p:cNvSpPr>
            <a:spLocks noGrp="1"/>
          </p:cNvSpPr>
          <p:nvPr>
            <p:ph sz="quarter" idx="1"/>
          </p:nvPr>
        </p:nvSpPr>
        <p:spPr>
          <a:xfrm>
            <a:off x="-37514" y="1524000"/>
            <a:ext cx="9181514" cy="2133600"/>
          </a:xfrm>
        </p:spPr>
        <p:txBody>
          <a:bodyPr>
            <a:normAutofit/>
          </a:bodyPr>
          <a:lstStyle/>
          <a:p>
            <a:r>
              <a:rPr lang="en-US" sz="3200" dirty="0" smtClean="0"/>
              <a:t>Suppose we draw two cards (without replacement) from a standard 52 card deck.</a:t>
            </a:r>
          </a:p>
          <a:p>
            <a:pPr marL="0" indent="0">
              <a:buNone/>
            </a:pPr>
            <a:r>
              <a:rPr lang="en-US" sz="3200" dirty="0" smtClean="0"/>
              <a:t>a) What is the probability that both the first and second cards are aces?</a:t>
            </a:r>
          </a:p>
        </p:txBody>
      </p:sp>
      <p:sp>
        <p:nvSpPr>
          <p:cNvPr id="4" name="TextBox 3"/>
          <p:cNvSpPr txBox="1"/>
          <p:nvPr/>
        </p:nvSpPr>
        <p:spPr>
          <a:xfrm>
            <a:off x="0" y="3655478"/>
            <a:ext cx="9067800" cy="584775"/>
          </a:xfrm>
          <a:prstGeom prst="rect">
            <a:avLst/>
          </a:prstGeom>
          <a:noFill/>
        </p:spPr>
        <p:txBody>
          <a:bodyPr wrap="square" rtlCol="0">
            <a:spAutoFit/>
          </a:bodyPr>
          <a:lstStyle/>
          <a:p>
            <a:r>
              <a:rPr lang="en-US" sz="3200" b="1" dirty="0">
                <a:solidFill>
                  <a:schemeClr val="accent1">
                    <a:lumMod val="50000"/>
                  </a:schemeClr>
                </a:solidFill>
                <a:latin typeface="Segoe Print" pitchFamily="2" charset="0"/>
              </a:rPr>
              <a:t>P(1st card is ace </a:t>
            </a:r>
            <a:r>
              <a:rPr lang="en-US" sz="3200" b="1" dirty="0">
                <a:solidFill>
                  <a:schemeClr val="accent2">
                    <a:lumMod val="50000"/>
                  </a:schemeClr>
                </a:solidFill>
                <a:latin typeface="Segoe Print" pitchFamily="2" charset="0"/>
              </a:rPr>
              <a:t>and</a:t>
            </a:r>
            <a:r>
              <a:rPr lang="en-US" sz="3200" b="1" dirty="0">
                <a:solidFill>
                  <a:schemeClr val="accent1">
                    <a:lumMod val="50000"/>
                  </a:schemeClr>
                </a:solidFill>
                <a:latin typeface="Segoe Print" pitchFamily="2" charset="0"/>
              </a:rPr>
              <a:t> 2nd card is ace)</a:t>
            </a:r>
          </a:p>
        </p:txBody>
      </p:sp>
      <p:graphicFrame>
        <p:nvGraphicFramePr>
          <p:cNvPr id="5" name="Object 4"/>
          <p:cNvGraphicFramePr>
            <a:graphicFrameLocks noChangeAspect="1"/>
          </p:cNvGraphicFramePr>
          <p:nvPr>
            <p:extLst>
              <p:ext uri="{D42A27DB-BD31-4B8C-83A1-F6EECF244321}">
                <p14:modId xmlns:p14="http://schemas.microsoft.com/office/powerpoint/2010/main" val="1128100498"/>
              </p:ext>
            </p:extLst>
          </p:nvPr>
        </p:nvGraphicFramePr>
        <p:xfrm>
          <a:off x="63500" y="4240213"/>
          <a:ext cx="9018588" cy="544512"/>
        </p:xfrm>
        <a:graphic>
          <a:graphicData uri="http://schemas.openxmlformats.org/presentationml/2006/ole">
            <mc:AlternateContent xmlns:mc="http://schemas.openxmlformats.org/markup-compatibility/2006">
              <mc:Choice xmlns:v="urn:schemas-microsoft-com:vml" Requires="v">
                <p:oleObj spid="_x0000_s18517" name="Equation" r:id="rId4" imgW="4356000" imgH="241200" progId="Equation.DSMT4">
                  <p:embed/>
                </p:oleObj>
              </mc:Choice>
              <mc:Fallback>
                <p:oleObj name="Equation" r:id="rId4" imgW="4356000" imgH="241200" progId="Equation.DSMT4">
                  <p:embed/>
                  <p:pic>
                    <p:nvPicPr>
                      <p:cNvPr id="0" name=""/>
                      <p:cNvPicPr/>
                      <p:nvPr/>
                    </p:nvPicPr>
                    <p:blipFill>
                      <a:blip r:embed="rId5"/>
                      <a:stretch>
                        <a:fillRect/>
                      </a:stretch>
                    </p:blipFill>
                    <p:spPr>
                      <a:xfrm>
                        <a:off x="63500" y="4240213"/>
                        <a:ext cx="9018588" cy="544512"/>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53588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Cards</a:t>
            </a:r>
            <a:endParaRPr lang="en-US" dirty="0"/>
          </a:p>
        </p:txBody>
      </p:sp>
      <p:sp>
        <p:nvSpPr>
          <p:cNvPr id="3" name="Content Placeholder 2"/>
          <p:cNvSpPr>
            <a:spLocks noGrp="1"/>
          </p:cNvSpPr>
          <p:nvPr>
            <p:ph sz="quarter" idx="1"/>
          </p:nvPr>
        </p:nvSpPr>
        <p:spPr>
          <a:xfrm>
            <a:off x="0" y="1524000"/>
            <a:ext cx="9144000" cy="990600"/>
          </a:xfrm>
        </p:spPr>
        <p:txBody>
          <a:bodyPr/>
          <a:lstStyle/>
          <a:p>
            <a:pPr marL="0" indent="0">
              <a:buNone/>
            </a:pPr>
            <a:r>
              <a:rPr lang="en-US" dirty="0" smtClean="0"/>
              <a:t>b) What is the probability that both cards are of the same suit?</a:t>
            </a:r>
            <a:endParaRPr lang="en-US" dirty="0"/>
          </a:p>
        </p:txBody>
      </p:sp>
      <p:sp>
        <p:nvSpPr>
          <p:cNvPr id="4" name="TextBox 3"/>
          <p:cNvSpPr txBox="1"/>
          <p:nvPr/>
        </p:nvSpPr>
        <p:spPr>
          <a:xfrm>
            <a:off x="0" y="2514600"/>
            <a:ext cx="9144000" cy="954107"/>
          </a:xfrm>
          <a:prstGeom prst="rect">
            <a:avLst/>
          </a:prstGeom>
          <a:noFill/>
        </p:spPr>
        <p:txBody>
          <a:bodyPr wrap="square" rtlCol="0">
            <a:spAutoFit/>
          </a:bodyPr>
          <a:lstStyle/>
          <a:p>
            <a:r>
              <a:rPr lang="en-US" sz="2800" b="1" dirty="0">
                <a:solidFill>
                  <a:schemeClr val="accent1">
                    <a:lumMod val="50000"/>
                  </a:schemeClr>
                </a:solidFill>
                <a:latin typeface="Segoe Print" pitchFamily="2" charset="0"/>
              </a:rPr>
              <a:t>P(same suit) = P(both hearts </a:t>
            </a:r>
            <a:r>
              <a:rPr lang="en-US" sz="2800" b="1" dirty="0">
                <a:solidFill>
                  <a:schemeClr val="accent2">
                    <a:lumMod val="50000"/>
                  </a:schemeClr>
                </a:solidFill>
                <a:latin typeface="Segoe Print" pitchFamily="2" charset="0"/>
              </a:rPr>
              <a:t>or</a:t>
            </a:r>
            <a:r>
              <a:rPr lang="en-US" sz="2800" b="1" dirty="0">
                <a:solidFill>
                  <a:schemeClr val="accent1">
                    <a:lumMod val="50000"/>
                  </a:schemeClr>
                </a:solidFill>
                <a:latin typeface="Segoe Print" pitchFamily="2" charset="0"/>
              </a:rPr>
              <a:t> both diamonds </a:t>
            </a:r>
            <a:r>
              <a:rPr lang="en-US" sz="2800" b="1" dirty="0" smtClean="0">
                <a:solidFill>
                  <a:schemeClr val="accent1">
                    <a:lumMod val="50000"/>
                  </a:schemeClr>
                </a:solidFill>
                <a:latin typeface="Segoe Print" pitchFamily="2" charset="0"/>
              </a:rPr>
              <a:t>  </a:t>
            </a:r>
          </a:p>
          <a:p>
            <a:r>
              <a:rPr lang="en-US" sz="2800" b="1" dirty="0">
                <a:solidFill>
                  <a:schemeClr val="accent1">
                    <a:lumMod val="50000"/>
                  </a:schemeClr>
                </a:solidFill>
                <a:latin typeface="Segoe Print" pitchFamily="2" charset="0"/>
              </a:rPr>
              <a:t> </a:t>
            </a:r>
            <a:r>
              <a:rPr lang="en-US" sz="2800" b="1" dirty="0" smtClean="0">
                <a:solidFill>
                  <a:schemeClr val="accent1">
                    <a:lumMod val="50000"/>
                  </a:schemeClr>
                </a:solidFill>
                <a:latin typeface="Segoe Print" pitchFamily="2" charset="0"/>
              </a:rPr>
              <a:t>                 </a:t>
            </a:r>
            <a:r>
              <a:rPr lang="en-US" sz="2800" b="1" dirty="0" smtClean="0">
                <a:solidFill>
                  <a:schemeClr val="accent2">
                    <a:lumMod val="50000"/>
                  </a:schemeClr>
                </a:solidFill>
                <a:latin typeface="Segoe Print" pitchFamily="2" charset="0"/>
              </a:rPr>
              <a:t>or</a:t>
            </a:r>
            <a:r>
              <a:rPr lang="en-US" sz="2800" b="1" dirty="0" smtClean="0">
                <a:solidFill>
                  <a:schemeClr val="accent1">
                    <a:lumMod val="50000"/>
                  </a:schemeClr>
                </a:solidFill>
                <a:latin typeface="Segoe Print" pitchFamily="2" charset="0"/>
              </a:rPr>
              <a:t> </a:t>
            </a:r>
            <a:r>
              <a:rPr lang="en-US" sz="2800" b="1" dirty="0">
                <a:solidFill>
                  <a:schemeClr val="accent1">
                    <a:lumMod val="50000"/>
                  </a:schemeClr>
                </a:solidFill>
                <a:latin typeface="Segoe Print" pitchFamily="2" charset="0"/>
              </a:rPr>
              <a:t>both spades </a:t>
            </a:r>
            <a:r>
              <a:rPr lang="en-US" sz="2800" b="1" dirty="0">
                <a:solidFill>
                  <a:schemeClr val="accent2">
                    <a:lumMod val="50000"/>
                  </a:schemeClr>
                </a:solidFill>
                <a:latin typeface="Segoe Print" pitchFamily="2" charset="0"/>
              </a:rPr>
              <a:t>or</a:t>
            </a:r>
            <a:r>
              <a:rPr lang="en-US" sz="2800" b="1" dirty="0">
                <a:solidFill>
                  <a:schemeClr val="accent1">
                    <a:lumMod val="50000"/>
                  </a:schemeClr>
                </a:solidFill>
                <a:latin typeface="Segoe Print" pitchFamily="2" charset="0"/>
              </a:rPr>
              <a:t> both clubs)</a:t>
            </a:r>
          </a:p>
        </p:txBody>
      </p:sp>
      <p:sp>
        <p:nvSpPr>
          <p:cNvPr id="6" name="TextBox 5"/>
          <p:cNvSpPr txBox="1"/>
          <p:nvPr/>
        </p:nvSpPr>
        <p:spPr>
          <a:xfrm>
            <a:off x="-4689" y="3468707"/>
            <a:ext cx="9144000" cy="1077218"/>
          </a:xfrm>
          <a:prstGeom prst="rect">
            <a:avLst/>
          </a:prstGeom>
          <a:noFill/>
        </p:spPr>
        <p:txBody>
          <a:bodyPr wrap="square" rtlCol="0">
            <a:spAutoFit/>
          </a:bodyPr>
          <a:lstStyle/>
          <a:p>
            <a:r>
              <a:rPr lang="en-US" sz="2800" b="1" dirty="0">
                <a:solidFill>
                  <a:schemeClr val="accent1">
                    <a:lumMod val="50000"/>
                  </a:schemeClr>
                </a:solidFill>
                <a:latin typeface="Segoe Print" pitchFamily="2" charset="0"/>
              </a:rPr>
              <a:t> </a:t>
            </a:r>
            <a:r>
              <a:rPr lang="en-US" sz="2800" b="1" dirty="0" smtClean="0">
                <a:solidFill>
                  <a:schemeClr val="accent1">
                    <a:lumMod val="50000"/>
                  </a:schemeClr>
                </a:solidFill>
                <a:latin typeface="Segoe Print" pitchFamily="2" charset="0"/>
              </a:rPr>
              <a:t>  </a:t>
            </a:r>
            <a:r>
              <a:rPr lang="en-US" sz="3200" b="1" dirty="0" smtClean="0">
                <a:solidFill>
                  <a:schemeClr val="accent1">
                    <a:lumMod val="50000"/>
                  </a:schemeClr>
                </a:solidFill>
                <a:latin typeface="Segoe Print" pitchFamily="2" charset="0"/>
              </a:rPr>
              <a:t>= </a:t>
            </a:r>
            <a:r>
              <a:rPr lang="en-US" sz="3200" b="1" dirty="0" smtClean="0">
                <a:solidFill>
                  <a:srgbClr val="FF0000"/>
                </a:solidFill>
                <a:latin typeface="Segoe Print" pitchFamily="2" charset="0"/>
              </a:rPr>
              <a:t>P(both </a:t>
            </a:r>
            <a:r>
              <a:rPr lang="en-US" sz="3200" b="1" dirty="0">
                <a:solidFill>
                  <a:srgbClr val="FF0000"/>
                </a:solidFill>
                <a:latin typeface="Segoe Print" pitchFamily="2" charset="0"/>
              </a:rPr>
              <a:t>hearts) </a:t>
            </a:r>
            <a:r>
              <a:rPr lang="en-US" sz="3200" b="1" dirty="0">
                <a:solidFill>
                  <a:schemeClr val="accent2">
                    <a:lumMod val="50000"/>
                  </a:schemeClr>
                </a:solidFill>
                <a:latin typeface="Segoe Print" pitchFamily="2" charset="0"/>
              </a:rPr>
              <a:t>+</a:t>
            </a:r>
            <a:r>
              <a:rPr lang="en-US" sz="3200" b="1" dirty="0">
                <a:solidFill>
                  <a:schemeClr val="accent1">
                    <a:lumMod val="50000"/>
                  </a:schemeClr>
                </a:solidFill>
                <a:latin typeface="Segoe Print" pitchFamily="2" charset="0"/>
              </a:rPr>
              <a:t> </a:t>
            </a:r>
            <a:r>
              <a:rPr lang="en-US" sz="3200" b="1" dirty="0">
                <a:solidFill>
                  <a:srgbClr val="ED9583"/>
                </a:solidFill>
                <a:latin typeface="Segoe Print" pitchFamily="2" charset="0"/>
              </a:rPr>
              <a:t>P(both diamonds)</a:t>
            </a:r>
            <a:r>
              <a:rPr lang="en-US" sz="3200" b="1" dirty="0">
                <a:solidFill>
                  <a:schemeClr val="accent1">
                    <a:lumMod val="50000"/>
                  </a:schemeClr>
                </a:solidFill>
                <a:latin typeface="Segoe Print" pitchFamily="2" charset="0"/>
              </a:rPr>
              <a:t> </a:t>
            </a:r>
            <a:r>
              <a:rPr lang="en-US" sz="3200" b="1" dirty="0">
                <a:solidFill>
                  <a:schemeClr val="accent2">
                    <a:lumMod val="50000"/>
                  </a:schemeClr>
                </a:solidFill>
                <a:latin typeface="Segoe Print" pitchFamily="2" charset="0"/>
              </a:rPr>
              <a:t>+</a:t>
            </a:r>
            <a:r>
              <a:rPr lang="en-US" sz="3200" b="1" dirty="0">
                <a:solidFill>
                  <a:schemeClr val="accent1">
                    <a:lumMod val="50000"/>
                  </a:schemeClr>
                </a:solidFill>
                <a:latin typeface="Segoe Print" pitchFamily="2" charset="0"/>
              </a:rPr>
              <a:t> </a:t>
            </a:r>
            <a:r>
              <a:rPr lang="en-US" sz="3200" b="1" dirty="0" smtClean="0">
                <a:solidFill>
                  <a:schemeClr val="accent1">
                    <a:lumMod val="50000"/>
                  </a:schemeClr>
                </a:solidFill>
                <a:latin typeface="Segoe Print" pitchFamily="2" charset="0"/>
              </a:rPr>
              <a:t>	  	   </a:t>
            </a:r>
            <a:r>
              <a:rPr lang="en-US" sz="3200" b="1" dirty="0" smtClean="0">
                <a:solidFill>
                  <a:srgbClr val="7B234F"/>
                </a:solidFill>
                <a:latin typeface="Segoe Print" pitchFamily="2" charset="0"/>
              </a:rPr>
              <a:t>P(both </a:t>
            </a:r>
            <a:r>
              <a:rPr lang="en-US" sz="3200" b="1" dirty="0">
                <a:solidFill>
                  <a:srgbClr val="7B234F"/>
                </a:solidFill>
                <a:latin typeface="Segoe Print" pitchFamily="2" charset="0"/>
              </a:rPr>
              <a:t>spades)</a:t>
            </a:r>
            <a:r>
              <a:rPr lang="en-US" sz="3200" b="1" dirty="0">
                <a:solidFill>
                  <a:schemeClr val="accent1">
                    <a:lumMod val="50000"/>
                  </a:schemeClr>
                </a:solidFill>
                <a:latin typeface="Segoe Print" pitchFamily="2" charset="0"/>
              </a:rPr>
              <a:t> </a:t>
            </a:r>
            <a:r>
              <a:rPr lang="en-US" sz="3200" b="1" dirty="0">
                <a:solidFill>
                  <a:schemeClr val="accent2">
                    <a:lumMod val="50000"/>
                  </a:schemeClr>
                </a:solidFill>
                <a:latin typeface="Segoe Print" pitchFamily="2" charset="0"/>
              </a:rPr>
              <a:t>+</a:t>
            </a:r>
            <a:r>
              <a:rPr lang="en-US" sz="3200" b="1" dirty="0">
                <a:solidFill>
                  <a:schemeClr val="accent1">
                    <a:lumMod val="50000"/>
                  </a:schemeClr>
                </a:solidFill>
                <a:latin typeface="Segoe Print" pitchFamily="2" charset="0"/>
              </a:rPr>
              <a:t> </a:t>
            </a:r>
            <a:r>
              <a:rPr lang="en-US" sz="3200" b="1" dirty="0">
                <a:latin typeface="Segoe Print" pitchFamily="2" charset="0"/>
              </a:rPr>
              <a:t>P(both clubs)</a:t>
            </a:r>
          </a:p>
        </p:txBody>
      </p:sp>
      <p:graphicFrame>
        <p:nvGraphicFramePr>
          <p:cNvPr id="8" name="Object 7"/>
          <p:cNvGraphicFramePr>
            <a:graphicFrameLocks noChangeAspect="1"/>
          </p:cNvGraphicFramePr>
          <p:nvPr>
            <p:extLst>
              <p:ext uri="{D42A27DB-BD31-4B8C-83A1-F6EECF244321}">
                <p14:modId xmlns:p14="http://schemas.microsoft.com/office/powerpoint/2010/main" val="3918696975"/>
              </p:ext>
            </p:extLst>
          </p:nvPr>
        </p:nvGraphicFramePr>
        <p:xfrm>
          <a:off x="606425" y="4343400"/>
          <a:ext cx="6072188" cy="1239838"/>
        </p:xfrm>
        <a:graphic>
          <a:graphicData uri="http://schemas.openxmlformats.org/presentationml/2006/ole">
            <mc:AlternateContent xmlns:mc="http://schemas.openxmlformats.org/markup-compatibility/2006">
              <mc:Choice xmlns:v="urn:schemas-microsoft-com:vml" Requires="v">
                <p:oleObj spid="_x0000_s19529" name="Equation" r:id="rId4" imgW="2628720" imgH="507960" progId="Equation.DSMT4">
                  <p:embed/>
                </p:oleObj>
              </mc:Choice>
              <mc:Fallback>
                <p:oleObj name="Equation" r:id="rId4" imgW="2628720" imgH="507960" progId="Equation.DSMT4">
                  <p:embed/>
                  <p:pic>
                    <p:nvPicPr>
                      <p:cNvPr id="0" name=""/>
                      <p:cNvPicPr/>
                      <p:nvPr/>
                    </p:nvPicPr>
                    <p:blipFill>
                      <a:blip r:embed="rId5"/>
                      <a:stretch>
                        <a:fillRect/>
                      </a:stretch>
                    </p:blipFill>
                    <p:spPr>
                      <a:xfrm>
                        <a:off x="606425" y="4343400"/>
                        <a:ext cx="6072188" cy="1239838"/>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282485168"/>
              </p:ext>
            </p:extLst>
          </p:nvPr>
        </p:nvGraphicFramePr>
        <p:xfrm>
          <a:off x="635000" y="5619750"/>
          <a:ext cx="7362825" cy="1238250"/>
        </p:xfrm>
        <a:graphic>
          <a:graphicData uri="http://schemas.openxmlformats.org/presentationml/2006/ole">
            <mc:AlternateContent xmlns:mc="http://schemas.openxmlformats.org/markup-compatibility/2006">
              <mc:Choice xmlns:v="urn:schemas-microsoft-com:vml" Requires="v">
                <p:oleObj spid="_x0000_s19530" name="Equation" r:id="rId6" imgW="3187440" imgH="507960" progId="Equation.DSMT4">
                  <p:embed/>
                </p:oleObj>
              </mc:Choice>
              <mc:Fallback>
                <p:oleObj name="Equation" r:id="rId6" imgW="3187440" imgH="507960" progId="Equation.DSMT4">
                  <p:embed/>
                  <p:pic>
                    <p:nvPicPr>
                      <p:cNvPr id="0" name="Object 7"/>
                      <p:cNvPicPr>
                        <a:picLocks noChangeAspect="1" noChangeArrowheads="1"/>
                      </p:cNvPicPr>
                      <p:nvPr/>
                    </p:nvPicPr>
                    <p:blipFill>
                      <a:blip r:embed="rId7"/>
                      <a:srcRect/>
                      <a:stretch>
                        <a:fillRect/>
                      </a:stretch>
                    </p:blipFill>
                    <p:spPr bwMode="auto">
                      <a:xfrm>
                        <a:off x="635000" y="5619750"/>
                        <a:ext cx="736282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26244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Drawing Cards</a:t>
            </a:r>
            <a:endParaRPr lang="en-US" dirty="0"/>
          </a:p>
        </p:txBody>
      </p:sp>
      <p:sp>
        <p:nvSpPr>
          <p:cNvPr id="3" name="Content Placeholder 2"/>
          <p:cNvSpPr>
            <a:spLocks noGrp="1"/>
          </p:cNvSpPr>
          <p:nvPr>
            <p:ph sz="quarter" idx="1"/>
          </p:nvPr>
        </p:nvSpPr>
        <p:spPr>
          <a:xfrm>
            <a:off x="10550" y="1524000"/>
            <a:ext cx="9133449" cy="5334000"/>
          </a:xfrm>
        </p:spPr>
        <p:txBody>
          <a:bodyPr/>
          <a:lstStyle/>
          <a:p>
            <a:pPr marL="0" indent="0">
              <a:buNone/>
            </a:pPr>
            <a:r>
              <a:rPr lang="en-US" dirty="0"/>
              <a:t>b) What is the probability that both cards are of the same suit</a:t>
            </a:r>
            <a:r>
              <a:rPr lang="en-US" dirty="0" smtClean="0"/>
              <a:t>? (cont’d)</a:t>
            </a:r>
            <a:endParaRPr 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978926469"/>
              </p:ext>
            </p:extLst>
          </p:nvPr>
        </p:nvGraphicFramePr>
        <p:xfrm>
          <a:off x="152400" y="2362200"/>
          <a:ext cx="8839200" cy="1482725"/>
        </p:xfrm>
        <a:graphic>
          <a:graphicData uri="http://schemas.openxmlformats.org/presentationml/2006/ole">
            <mc:AlternateContent xmlns:mc="http://schemas.openxmlformats.org/markup-compatibility/2006">
              <mc:Choice xmlns:v="urn:schemas-microsoft-com:vml" Requires="v">
                <p:oleObj spid="_x0000_s20569" name="Equation" r:id="rId4" imgW="3200400" imgH="507960" progId="Equation.DSMT4">
                  <p:embed/>
                </p:oleObj>
              </mc:Choice>
              <mc:Fallback>
                <p:oleObj name="Equation" r:id="rId4" imgW="3200400" imgH="507960" progId="Equation.DSMT4">
                  <p:embed/>
                  <p:pic>
                    <p:nvPicPr>
                      <p:cNvPr id="0" name="Object 7"/>
                      <p:cNvPicPr>
                        <a:picLocks noChangeAspect="1" noChangeArrowheads="1"/>
                      </p:cNvPicPr>
                      <p:nvPr/>
                    </p:nvPicPr>
                    <p:blipFill>
                      <a:blip r:embed="rId5"/>
                      <a:srcRect/>
                      <a:stretch>
                        <a:fillRect/>
                      </a:stretch>
                    </p:blipFill>
                    <p:spPr bwMode="auto">
                      <a:xfrm>
                        <a:off x="152400" y="2362200"/>
                        <a:ext cx="8839200" cy="1482725"/>
                      </a:xfrm>
                      <a:prstGeom prst="rect">
                        <a:avLst/>
                      </a:prstGeom>
                      <a:noFill/>
                      <a:ln>
                        <a:noFill/>
                      </a:ln>
                    </p:spPr>
                  </p:pic>
                </p:oleObj>
              </mc:Fallback>
            </mc:AlternateContent>
          </a:graphicData>
        </a:graphic>
      </p:graphicFrame>
    </p:spTree>
    <p:custDataLst>
      <p:tags r:id="rId2"/>
    </p:custDataLst>
    <p:extLst>
      <p:ext uri="{BB962C8B-B14F-4D97-AF65-F5344CB8AC3E}">
        <p14:creationId xmlns:p14="http://schemas.microsoft.com/office/powerpoint/2010/main" val="71689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Independence</a:t>
            </a:r>
            <a:endParaRPr lang="en-US" sz="4000" b="1" dirty="0">
              <a:solidFill>
                <a:schemeClr val="accent6">
                  <a:lumMod val="75000"/>
                </a:schemeClr>
              </a:solidFill>
            </a:endParaRPr>
          </a:p>
        </p:txBody>
      </p:sp>
      <p:sp>
        <p:nvSpPr>
          <p:cNvPr id="7" name="TextBox 6"/>
          <p:cNvSpPr txBox="1"/>
          <p:nvPr/>
        </p:nvSpPr>
        <p:spPr>
          <a:xfrm>
            <a:off x="33337" y="1447800"/>
            <a:ext cx="9077325" cy="1800493"/>
          </a:xfrm>
          <a:prstGeom prst="rect">
            <a:avLst/>
          </a:prstGeom>
          <a:noFill/>
        </p:spPr>
        <p:txBody>
          <a:bodyPr wrap="square" rtlCol="0">
            <a:spAutoFit/>
          </a:bodyPr>
          <a:lstStyle/>
          <a:p>
            <a:pPr>
              <a:spcAft>
                <a:spcPts val="1800"/>
              </a:spcAft>
              <a:buFont typeface="Arial" pitchFamily="34" charset="0"/>
              <a:buChar char="•"/>
            </a:pPr>
            <a:r>
              <a:rPr lang="en-US" sz="3200" dirty="0" smtClean="0">
                <a:solidFill>
                  <a:prstClr val="black"/>
                </a:solidFill>
                <a:cs typeface="Times New Roman" pitchFamily="18" charset="0"/>
              </a:rPr>
              <a:t> Events A and B are </a:t>
            </a:r>
            <a:r>
              <a:rPr lang="en-US" sz="3200" b="1" i="1" dirty="0" smtClean="0">
                <a:solidFill>
                  <a:schemeClr val="accent5">
                    <a:lumMod val="50000"/>
                  </a:schemeClr>
                </a:solidFill>
                <a:cs typeface="Times New Roman" pitchFamily="18" charset="0"/>
              </a:rPr>
              <a:t>independent</a:t>
            </a:r>
            <a:r>
              <a:rPr lang="en-US" sz="3200" dirty="0" smtClean="0">
                <a:solidFill>
                  <a:schemeClr val="accent5">
                    <a:lumMod val="50000"/>
                  </a:schemeClr>
                </a:solidFill>
                <a:cs typeface="Times New Roman" pitchFamily="18" charset="0"/>
              </a:rPr>
              <a:t> </a:t>
            </a:r>
            <a:r>
              <a:rPr lang="en-US" sz="3200" dirty="0" smtClean="0">
                <a:solidFill>
                  <a:prstClr val="black"/>
                </a:solidFill>
                <a:cs typeface="Times New Roman" pitchFamily="18" charset="0"/>
              </a:rPr>
              <a:t>if P(B if A) = P(B).</a:t>
            </a:r>
          </a:p>
          <a:p>
            <a:pPr>
              <a:spcAft>
                <a:spcPts val="1800"/>
              </a:spcAft>
              <a:buFont typeface="Arial" pitchFamily="34" charset="0"/>
              <a:buChar char="•"/>
            </a:pPr>
            <a:r>
              <a:rPr lang="en-US" sz="3200" dirty="0" smtClean="0">
                <a:solidFill>
                  <a:prstClr val="black"/>
                </a:solidFill>
                <a:cs typeface="Times New Roman" pitchFamily="18" charset="0"/>
              </a:rPr>
              <a:t> In other words, knowing that event A happened does not change the probability that event B happened.</a:t>
            </a:r>
          </a:p>
        </p:txBody>
      </p:sp>
    </p:spTree>
    <p:custDataLst>
      <p:tags r:id="rId1"/>
    </p:custDataLst>
    <p:extLst>
      <p:ext uri="{BB962C8B-B14F-4D97-AF65-F5344CB8AC3E}">
        <p14:creationId xmlns:p14="http://schemas.microsoft.com/office/powerpoint/2010/main" val="24357103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Independence</a:t>
            </a:r>
            <a:endParaRPr lang="en-US" sz="4000" b="1" dirty="0">
              <a:solidFill>
                <a:schemeClr val="accent6">
                  <a:lumMod val="75000"/>
                </a:schemeClr>
              </a:solidFill>
            </a:endParaRPr>
          </a:p>
        </p:txBody>
      </p:sp>
      <p:sp>
        <p:nvSpPr>
          <p:cNvPr id="7" name="TextBox 6"/>
          <p:cNvSpPr txBox="1"/>
          <p:nvPr/>
        </p:nvSpPr>
        <p:spPr>
          <a:xfrm>
            <a:off x="0" y="1447800"/>
            <a:ext cx="9077325" cy="5186035"/>
          </a:xfrm>
          <a:prstGeom prst="rect">
            <a:avLst/>
          </a:prstGeom>
          <a:noFill/>
        </p:spPr>
        <p:txBody>
          <a:bodyPr wrap="square" rtlCol="0">
            <a:spAutoFit/>
          </a:bodyPr>
          <a:lstStyle/>
          <a:p>
            <a:pPr>
              <a:spcAft>
                <a:spcPts val="1800"/>
              </a:spcAft>
            </a:pPr>
            <a:r>
              <a:rPr lang="en-US" sz="3200" b="1" i="1" dirty="0" smtClean="0">
                <a:solidFill>
                  <a:schemeClr val="accent5">
                    <a:lumMod val="50000"/>
                  </a:schemeClr>
                </a:solidFill>
                <a:cs typeface="Times New Roman" pitchFamily="18" charset="0"/>
              </a:rPr>
              <a:t>Examples of Independent Events</a:t>
            </a:r>
            <a:r>
              <a:rPr lang="en-US" sz="3200" dirty="0" smtClean="0">
                <a:solidFill>
                  <a:prstClr val="black"/>
                </a:solidFill>
                <a:cs typeface="Times New Roman" pitchFamily="18" charset="0"/>
              </a:rPr>
              <a:t>: </a:t>
            </a:r>
          </a:p>
          <a:p>
            <a:pPr marL="457200" indent="-457200">
              <a:spcAft>
                <a:spcPts val="1800"/>
              </a:spcAft>
              <a:buFont typeface="Arial" pitchFamily="34" charset="0"/>
              <a:buChar char="•"/>
            </a:pPr>
            <a:r>
              <a:rPr lang="en-US" sz="3200" dirty="0" smtClean="0">
                <a:solidFill>
                  <a:prstClr val="black"/>
                </a:solidFill>
                <a:cs typeface="Times New Roman" pitchFamily="18" charset="0"/>
              </a:rPr>
              <a:t>Tossing a coin and drawing a card from a deck of playing cards.</a:t>
            </a:r>
          </a:p>
          <a:p>
            <a:pPr>
              <a:spcAft>
                <a:spcPts val="1800"/>
              </a:spcAft>
            </a:pPr>
            <a:r>
              <a:rPr lang="en-US" sz="3200" dirty="0" smtClean="0">
                <a:solidFill>
                  <a:prstClr val="black"/>
                </a:solidFill>
                <a:cs typeface="Times New Roman" pitchFamily="18" charset="0"/>
              </a:rPr>
              <a:t>   ex) P(</a:t>
            </a:r>
            <a:r>
              <a:rPr lang="en-US" sz="3200" i="1" dirty="0" smtClean="0">
                <a:solidFill>
                  <a:schemeClr val="accent1">
                    <a:lumMod val="50000"/>
                  </a:schemeClr>
                </a:solidFill>
                <a:cs typeface="Times New Roman" pitchFamily="18" charset="0"/>
              </a:rPr>
              <a:t>flip heads </a:t>
            </a:r>
            <a:r>
              <a:rPr lang="en-US" sz="3200" dirty="0" smtClean="0">
                <a:solidFill>
                  <a:prstClr val="black"/>
                </a:solidFill>
                <a:cs typeface="Times New Roman" pitchFamily="18" charset="0"/>
              </a:rPr>
              <a:t>if </a:t>
            </a:r>
            <a:r>
              <a:rPr lang="en-US" sz="3200" i="1" dirty="0" smtClean="0">
                <a:solidFill>
                  <a:srgbClr val="C00000"/>
                </a:solidFill>
                <a:cs typeface="Times New Roman" pitchFamily="18" charset="0"/>
              </a:rPr>
              <a:t>draw a heart</a:t>
            </a:r>
            <a:r>
              <a:rPr lang="en-US" sz="3200" dirty="0" smtClean="0">
                <a:solidFill>
                  <a:prstClr val="black"/>
                </a:solidFill>
                <a:cs typeface="Times New Roman" pitchFamily="18" charset="0"/>
              </a:rPr>
              <a:t>) = P(</a:t>
            </a:r>
            <a:r>
              <a:rPr lang="en-US" sz="3200" i="1" dirty="0">
                <a:solidFill>
                  <a:schemeClr val="accent1">
                    <a:lumMod val="50000"/>
                  </a:schemeClr>
                </a:solidFill>
                <a:cs typeface="Times New Roman" pitchFamily="18" charset="0"/>
              </a:rPr>
              <a:t>flip heads</a:t>
            </a:r>
            <a:r>
              <a:rPr lang="en-US" sz="3200" dirty="0" smtClean="0">
                <a:solidFill>
                  <a:prstClr val="black"/>
                </a:solidFill>
                <a:cs typeface="Times New Roman" pitchFamily="18" charset="0"/>
              </a:rPr>
              <a:t>) =0.5</a:t>
            </a:r>
          </a:p>
          <a:p>
            <a:pPr marL="457200" indent="-457200">
              <a:spcAft>
                <a:spcPts val="1800"/>
              </a:spcAft>
              <a:buFont typeface="Arial" pitchFamily="34" charset="0"/>
              <a:buChar char="•"/>
            </a:pPr>
            <a:r>
              <a:rPr lang="en-US" sz="3200" dirty="0" smtClean="0">
                <a:solidFill>
                  <a:prstClr val="black"/>
                </a:solidFill>
                <a:cs typeface="Times New Roman" pitchFamily="18" charset="0"/>
              </a:rPr>
              <a:t>Drawing a ball from a box, </a:t>
            </a:r>
            <a:r>
              <a:rPr lang="en-US" sz="3200" i="1" u="sng" dirty="0" smtClean="0">
                <a:solidFill>
                  <a:prstClr val="black"/>
                </a:solidFill>
                <a:cs typeface="Times New Roman" pitchFamily="18" charset="0"/>
              </a:rPr>
              <a:t>replacing</a:t>
            </a:r>
            <a:r>
              <a:rPr lang="en-US" sz="3200" u="sng" dirty="0" smtClean="0">
                <a:solidFill>
                  <a:prstClr val="black"/>
                </a:solidFill>
                <a:cs typeface="Times New Roman" pitchFamily="18" charset="0"/>
              </a:rPr>
              <a:t> it</a:t>
            </a:r>
            <a:r>
              <a:rPr lang="en-US" sz="3200" dirty="0" smtClean="0">
                <a:solidFill>
                  <a:prstClr val="black"/>
                </a:solidFill>
                <a:cs typeface="Times New Roman" pitchFamily="18" charset="0"/>
              </a:rPr>
              <a:t>, and then drawing a second ball</a:t>
            </a:r>
          </a:p>
          <a:p>
            <a:pPr>
              <a:spcAft>
                <a:spcPts val="1800"/>
              </a:spcAft>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	ex) P(</a:t>
            </a:r>
            <a:r>
              <a:rPr lang="en-US" sz="3200" i="1" dirty="0" smtClean="0">
                <a:solidFill>
                  <a:schemeClr val="accent2">
                    <a:lumMod val="75000"/>
                  </a:schemeClr>
                </a:solidFill>
                <a:cs typeface="Times New Roman" pitchFamily="18" charset="0"/>
              </a:rPr>
              <a:t>second is orange </a:t>
            </a:r>
            <a:r>
              <a:rPr lang="en-US" sz="3200" dirty="0" smtClean="0">
                <a:solidFill>
                  <a:prstClr val="black"/>
                </a:solidFill>
                <a:cs typeface="Times New Roman" pitchFamily="18" charset="0"/>
              </a:rPr>
              <a:t>if </a:t>
            </a:r>
            <a:r>
              <a:rPr lang="en-US" sz="3200" i="1" dirty="0" smtClean="0">
                <a:solidFill>
                  <a:schemeClr val="accent2">
                    <a:lumMod val="75000"/>
                  </a:schemeClr>
                </a:solidFill>
                <a:cs typeface="Times New Roman" pitchFamily="18" charset="0"/>
              </a:rPr>
              <a:t>first is orange</a:t>
            </a:r>
            <a:r>
              <a:rPr lang="en-US" sz="3200" dirty="0" smtClean="0">
                <a:solidFill>
                  <a:prstClr val="black"/>
                </a:solidFill>
                <a:cs typeface="Times New Roman" pitchFamily="18" charset="0"/>
              </a:rPr>
              <a:t>) </a:t>
            </a:r>
          </a:p>
          <a:p>
            <a:pPr>
              <a:spcAft>
                <a:spcPts val="1800"/>
              </a:spcAft>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		= P(</a:t>
            </a:r>
            <a:r>
              <a:rPr lang="en-US" sz="3200" i="1" dirty="0">
                <a:solidFill>
                  <a:schemeClr val="accent2">
                    <a:lumMod val="75000"/>
                  </a:schemeClr>
                </a:solidFill>
                <a:cs typeface="Times New Roman" pitchFamily="18" charset="0"/>
              </a:rPr>
              <a:t>second is </a:t>
            </a:r>
            <a:r>
              <a:rPr lang="en-US" sz="3200" i="1" dirty="0" smtClean="0">
                <a:solidFill>
                  <a:schemeClr val="accent2">
                    <a:lumMod val="75000"/>
                  </a:schemeClr>
                </a:solidFill>
                <a:cs typeface="Times New Roman" pitchFamily="18" charset="0"/>
              </a:rPr>
              <a:t>orange</a:t>
            </a:r>
            <a:r>
              <a:rPr lang="en-US" sz="3200" dirty="0" smtClean="0">
                <a:cs typeface="Times New Roman" pitchFamily="18" charset="0"/>
              </a:rPr>
              <a:t>) = 4/9</a:t>
            </a:r>
            <a:endParaRPr lang="en-US" sz="3200" dirty="0" smtClean="0">
              <a:solidFill>
                <a:prstClr val="black"/>
              </a:solidFill>
              <a:cs typeface="Times New Roman" pitchFamily="18" charset="0"/>
            </a:endParaRPr>
          </a:p>
        </p:txBody>
      </p:sp>
      <p:pic>
        <p:nvPicPr>
          <p:cNvPr id="430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89" y="5471754"/>
            <a:ext cx="1568511" cy="1352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8443994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Independence</a:t>
            </a:r>
            <a:endParaRPr lang="en-US" sz="4000" b="1" dirty="0">
              <a:solidFill>
                <a:schemeClr val="accent6">
                  <a:lumMod val="75000"/>
                </a:schemeClr>
              </a:solidFill>
            </a:endParaRPr>
          </a:p>
        </p:txBody>
      </p:sp>
      <p:sp>
        <p:nvSpPr>
          <p:cNvPr id="7" name="TextBox 6"/>
          <p:cNvSpPr txBox="1"/>
          <p:nvPr/>
        </p:nvSpPr>
        <p:spPr>
          <a:xfrm>
            <a:off x="33337" y="1447800"/>
            <a:ext cx="9077325" cy="5186035"/>
          </a:xfrm>
          <a:prstGeom prst="rect">
            <a:avLst/>
          </a:prstGeom>
          <a:noFill/>
        </p:spPr>
        <p:txBody>
          <a:bodyPr wrap="square" rtlCol="0">
            <a:spAutoFit/>
          </a:bodyPr>
          <a:lstStyle/>
          <a:p>
            <a:pPr>
              <a:spcAft>
                <a:spcPts val="1800"/>
              </a:spcAft>
            </a:pPr>
            <a:r>
              <a:rPr lang="en-US" sz="3200" b="1" i="1" dirty="0" smtClean="0">
                <a:solidFill>
                  <a:schemeClr val="accent5">
                    <a:lumMod val="50000"/>
                  </a:schemeClr>
                </a:solidFill>
                <a:cs typeface="Times New Roman" pitchFamily="18" charset="0"/>
              </a:rPr>
              <a:t>Examples of Events That Are </a:t>
            </a:r>
            <a:r>
              <a:rPr lang="en-US" sz="3200" b="1" i="1" u="sng" dirty="0" smtClean="0">
                <a:solidFill>
                  <a:schemeClr val="accent5">
                    <a:lumMod val="50000"/>
                  </a:schemeClr>
                </a:solidFill>
                <a:cs typeface="Times New Roman" pitchFamily="18" charset="0"/>
              </a:rPr>
              <a:t>Not</a:t>
            </a:r>
            <a:r>
              <a:rPr lang="en-US" sz="3200" b="1" i="1" dirty="0" smtClean="0">
                <a:solidFill>
                  <a:schemeClr val="accent5">
                    <a:lumMod val="50000"/>
                  </a:schemeClr>
                </a:solidFill>
                <a:cs typeface="Times New Roman" pitchFamily="18" charset="0"/>
              </a:rPr>
              <a:t> Independent</a:t>
            </a:r>
            <a:r>
              <a:rPr lang="en-US" sz="3200" dirty="0" smtClean="0">
                <a:solidFill>
                  <a:prstClr val="black"/>
                </a:solidFill>
                <a:cs typeface="Times New Roman" pitchFamily="18" charset="0"/>
              </a:rPr>
              <a:t>: </a:t>
            </a:r>
          </a:p>
          <a:p>
            <a:pPr marL="457200" indent="-457200">
              <a:spcAft>
                <a:spcPts val="1800"/>
              </a:spcAft>
              <a:buFont typeface="Arial" pitchFamily="34" charset="0"/>
              <a:buChar char="•"/>
            </a:pPr>
            <a:r>
              <a:rPr lang="en-US" sz="3200" dirty="0" smtClean="0">
                <a:solidFill>
                  <a:prstClr val="black"/>
                </a:solidFill>
                <a:cs typeface="Times New Roman" pitchFamily="18" charset="0"/>
              </a:rPr>
              <a:t>Drawing a card from a deck, not replacing it, and then drawing another card.</a:t>
            </a:r>
          </a:p>
          <a:p>
            <a:pPr>
              <a:spcAft>
                <a:spcPts val="1800"/>
              </a:spcAft>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ex) P(</a:t>
            </a:r>
            <a:r>
              <a:rPr lang="en-US" sz="3200" i="1" dirty="0" smtClean="0">
                <a:solidFill>
                  <a:srgbClr val="C00000"/>
                </a:solidFill>
                <a:cs typeface="Times New Roman" pitchFamily="18" charset="0"/>
              </a:rPr>
              <a:t>second card is </a:t>
            </a:r>
            <a:r>
              <a:rPr lang="en-US" sz="3200" i="1" dirty="0">
                <a:solidFill>
                  <a:srgbClr val="C00000"/>
                </a:solidFill>
                <a:cs typeface="Times New Roman" pitchFamily="18" charset="0"/>
              </a:rPr>
              <a:t>a heart </a:t>
            </a:r>
            <a:r>
              <a:rPr lang="en-US" sz="3200" dirty="0" smtClean="0">
                <a:solidFill>
                  <a:prstClr val="black"/>
                </a:solidFill>
                <a:cs typeface="Times New Roman" pitchFamily="18" charset="0"/>
              </a:rPr>
              <a:t>if </a:t>
            </a:r>
            <a:r>
              <a:rPr lang="en-US" sz="3200" i="1" dirty="0">
                <a:solidFill>
                  <a:srgbClr val="C00000"/>
                </a:solidFill>
                <a:cs typeface="Times New Roman" pitchFamily="18" charset="0"/>
              </a:rPr>
              <a:t>first </a:t>
            </a:r>
            <a:r>
              <a:rPr lang="en-US" sz="3200" i="1" dirty="0" smtClean="0">
                <a:solidFill>
                  <a:srgbClr val="C00000"/>
                </a:solidFill>
                <a:cs typeface="Times New Roman" pitchFamily="18" charset="0"/>
              </a:rPr>
              <a:t>card </a:t>
            </a:r>
            <a:r>
              <a:rPr lang="en-US" sz="3200" i="1" dirty="0">
                <a:solidFill>
                  <a:srgbClr val="C00000"/>
                </a:solidFill>
                <a:cs typeface="Times New Roman" pitchFamily="18" charset="0"/>
              </a:rPr>
              <a:t>is a </a:t>
            </a:r>
            <a:r>
              <a:rPr lang="en-US" sz="3200" i="1" dirty="0" smtClean="0">
                <a:solidFill>
                  <a:srgbClr val="C00000"/>
                </a:solidFill>
                <a:cs typeface="Times New Roman" pitchFamily="18" charset="0"/>
              </a:rPr>
              <a:t>heart</a:t>
            </a:r>
            <a:r>
              <a:rPr lang="en-US" sz="3200" dirty="0" smtClean="0">
                <a:solidFill>
                  <a:prstClr val="black"/>
                </a:solidFill>
                <a:cs typeface="Times New Roman" pitchFamily="18" charset="0"/>
              </a:rPr>
              <a:t>)</a:t>
            </a:r>
          </a:p>
          <a:p>
            <a:pPr>
              <a:spcAft>
                <a:spcPts val="1800"/>
              </a:spcAft>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	=</a:t>
            </a:r>
            <a:endParaRPr lang="en-US" sz="3200" dirty="0">
              <a:solidFill>
                <a:prstClr val="black"/>
              </a:solidFill>
              <a:cs typeface="Times New Roman" pitchFamily="18" charset="0"/>
            </a:endParaRPr>
          </a:p>
          <a:p>
            <a:pPr marL="457200" indent="-457200">
              <a:spcAft>
                <a:spcPts val="1800"/>
              </a:spcAft>
              <a:buFont typeface="Arial" pitchFamily="34" charset="0"/>
              <a:buChar char="•"/>
            </a:pPr>
            <a:r>
              <a:rPr lang="en-US" sz="3200" dirty="0">
                <a:solidFill>
                  <a:prstClr val="black"/>
                </a:solidFill>
                <a:cs typeface="Times New Roman" pitchFamily="18" charset="0"/>
              </a:rPr>
              <a:t>Drawing a ball from a box, </a:t>
            </a:r>
            <a:r>
              <a:rPr lang="en-US" sz="3200" i="1" u="sng" dirty="0" smtClean="0">
                <a:solidFill>
                  <a:prstClr val="black"/>
                </a:solidFill>
                <a:cs typeface="Times New Roman" pitchFamily="18" charset="0"/>
              </a:rPr>
              <a:t>not replacing it</a:t>
            </a:r>
            <a:r>
              <a:rPr lang="en-US" sz="3200" dirty="0" smtClean="0">
                <a:solidFill>
                  <a:prstClr val="black"/>
                </a:solidFill>
                <a:cs typeface="Times New Roman" pitchFamily="18" charset="0"/>
              </a:rPr>
              <a:t>, </a:t>
            </a:r>
            <a:r>
              <a:rPr lang="en-US" sz="3200" dirty="0">
                <a:solidFill>
                  <a:prstClr val="black"/>
                </a:solidFill>
                <a:cs typeface="Times New Roman" pitchFamily="18" charset="0"/>
              </a:rPr>
              <a:t>and </a:t>
            </a:r>
            <a:r>
              <a:rPr lang="en-US" sz="3200" dirty="0" smtClean="0">
                <a:solidFill>
                  <a:prstClr val="black"/>
                </a:solidFill>
                <a:cs typeface="Times New Roman" pitchFamily="18" charset="0"/>
              </a:rPr>
              <a:t>	       then </a:t>
            </a:r>
            <a:r>
              <a:rPr lang="en-US" sz="3200" dirty="0">
                <a:solidFill>
                  <a:prstClr val="black"/>
                </a:solidFill>
                <a:cs typeface="Times New Roman" pitchFamily="18" charset="0"/>
              </a:rPr>
              <a:t>drawing a second ball</a:t>
            </a:r>
            <a:r>
              <a:rPr lang="en-US" sz="3200" dirty="0" smtClean="0">
                <a:solidFill>
                  <a:prstClr val="black"/>
                </a:solidFill>
                <a:cs typeface="Times New Roman" pitchFamily="18" charset="0"/>
              </a:rPr>
              <a:t>. </a:t>
            </a:r>
          </a:p>
          <a:p>
            <a:pPr>
              <a:spcAft>
                <a:spcPts val="1800"/>
              </a:spcAft>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      </a:t>
            </a:r>
            <a:r>
              <a:rPr lang="en-US" sz="3000" dirty="0" smtClean="0">
                <a:solidFill>
                  <a:prstClr val="black"/>
                </a:solidFill>
                <a:cs typeface="Times New Roman" pitchFamily="18" charset="0"/>
              </a:rPr>
              <a:t>ex) </a:t>
            </a:r>
            <a:r>
              <a:rPr lang="en-US" sz="3000" dirty="0">
                <a:solidFill>
                  <a:prstClr val="black"/>
                </a:solidFill>
                <a:cs typeface="Times New Roman" pitchFamily="18" charset="0"/>
              </a:rPr>
              <a:t>P(</a:t>
            </a:r>
            <a:r>
              <a:rPr lang="en-US" sz="3000" i="1" dirty="0">
                <a:solidFill>
                  <a:schemeClr val="accent2">
                    <a:lumMod val="75000"/>
                  </a:schemeClr>
                </a:solidFill>
                <a:cs typeface="Times New Roman" pitchFamily="18" charset="0"/>
              </a:rPr>
              <a:t>second is orange </a:t>
            </a:r>
            <a:r>
              <a:rPr lang="en-US" sz="3000" dirty="0">
                <a:solidFill>
                  <a:prstClr val="black"/>
                </a:solidFill>
                <a:cs typeface="Times New Roman" pitchFamily="18" charset="0"/>
              </a:rPr>
              <a:t>if </a:t>
            </a:r>
            <a:r>
              <a:rPr lang="en-US" sz="3000" i="1" dirty="0">
                <a:solidFill>
                  <a:schemeClr val="accent2">
                    <a:lumMod val="75000"/>
                  </a:schemeClr>
                </a:solidFill>
                <a:cs typeface="Times New Roman" pitchFamily="18" charset="0"/>
              </a:rPr>
              <a:t>first is orange</a:t>
            </a:r>
            <a:r>
              <a:rPr lang="en-US" sz="3000" dirty="0" smtClean="0">
                <a:solidFill>
                  <a:prstClr val="black"/>
                </a:solidFill>
                <a:cs typeface="Times New Roman" pitchFamily="18" charset="0"/>
              </a:rPr>
              <a:t>) = 3/8</a:t>
            </a:r>
          </a:p>
        </p:txBody>
      </p:sp>
      <p:graphicFrame>
        <p:nvGraphicFramePr>
          <p:cNvPr id="2" name="Object 1"/>
          <p:cNvGraphicFramePr>
            <a:graphicFrameLocks noChangeAspect="1"/>
          </p:cNvGraphicFramePr>
          <p:nvPr>
            <p:extLst>
              <p:ext uri="{D42A27DB-BD31-4B8C-83A1-F6EECF244321}">
                <p14:modId xmlns:p14="http://schemas.microsoft.com/office/powerpoint/2010/main" val="756475562"/>
              </p:ext>
            </p:extLst>
          </p:nvPr>
        </p:nvGraphicFramePr>
        <p:xfrm>
          <a:off x="2438400" y="3962400"/>
          <a:ext cx="1538604" cy="867213"/>
        </p:xfrm>
        <a:graphic>
          <a:graphicData uri="http://schemas.openxmlformats.org/presentationml/2006/ole">
            <mc:AlternateContent xmlns:mc="http://schemas.openxmlformats.org/markup-compatibility/2006">
              <mc:Choice xmlns:v="urn:schemas-microsoft-com:vml" Requires="v">
                <p:oleObj spid="_x0000_s39961" name="Equation" r:id="rId4" imgW="698400" imgH="393480" progId="Equation.BREE4">
                  <p:embed/>
                </p:oleObj>
              </mc:Choice>
              <mc:Fallback>
                <p:oleObj name="Equation" r:id="rId4" imgW="698400" imgH="393480" progId="Equation.BREE4">
                  <p:embed/>
                  <p:pic>
                    <p:nvPicPr>
                      <p:cNvPr id="0" name=""/>
                      <p:cNvPicPr/>
                      <p:nvPr/>
                    </p:nvPicPr>
                    <p:blipFill>
                      <a:blip r:embed="rId5"/>
                      <a:stretch>
                        <a:fillRect/>
                      </a:stretch>
                    </p:blipFill>
                    <p:spPr>
                      <a:xfrm>
                        <a:off x="2438400" y="3962400"/>
                        <a:ext cx="1538604" cy="867213"/>
                      </a:xfrm>
                      <a:prstGeom prst="rect">
                        <a:avLst/>
                      </a:prstGeom>
                    </p:spPr>
                  </p:pic>
                </p:oleObj>
              </mc:Fallback>
            </mc:AlternateContent>
          </a:graphicData>
        </a:graphic>
      </p:graphicFrame>
      <p:pic>
        <p:nvPicPr>
          <p:cNvPr id="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65" y="5463455"/>
            <a:ext cx="1568512" cy="1352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2"/>
    </p:custDataLst>
    <p:extLst>
      <p:ext uri="{BB962C8B-B14F-4D97-AF65-F5344CB8AC3E}">
        <p14:creationId xmlns:p14="http://schemas.microsoft.com/office/powerpoint/2010/main" val="3909197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More Drawing Cards</a:t>
            </a:r>
            <a:endParaRPr lang="en-US" b="1" dirty="0"/>
          </a:p>
        </p:txBody>
      </p:sp>
      <p:sp>
        <p:nvSpPr>
          <p:cNvPr id="3" name="Content Placeholder 2"/>
          <p:cNvSpPr>
            <a:spLocks noGrp="1"/>
          </p:cNvSpPr>
          <p:nvPr>
            <p:ph sz="quarter" idx="1"/>
          </p:nvPr>
        </p:nvSpPr>
        <p:spPr>
          <a:xfrm>
            <a:off x="-37514" y="1524000"/>
            <a:ext cx="9181514" cy="1676400"/>
          </a:xfrm>
        </p:spPr>
        <p:txBody>
          <a:bodyPr>
            <a:normAutofit/>
          </a:bodyPr>
          <a:lstStyle/>
          <a:p>
            <a:r>
              <a:rPr lang="en-US" sz="3200" dirty="0" smtClean="0"/>
              <a:t>Suppose we draw two cards (</a:t>
            </a:r>
            <a:r>
              <a:rPr lang="en-US" sz="3200" u="sng" dirty="0" smtClean="0"/>
              <a:t>with</a:t>
            </a:r>
            <a:r>
              <a:rPr lang="en-US" sz="3200" dirty="0" smtClean="0"/>
              <a:t> replacement) from a standard 52 card deck. What is the probability that both the first and second cards are aces?</a:t>
            </a:r>
          </a:p>
        </p:txBody>
      </p:sp>
      <p:sp>
        <p:nvSpPr>
          <p:cNvPr id="4" name="TextBox 3"/>
          <p:cNvSpPr txBox="1"/>
          <p:nvPr/>
        </p:nvSpPr>
        <p:spPr>
          <a:xfrm>
            <a:off x="23734" y="3070703"/>
            <a:ext cx="9067800" cy="584775"/>
          </a:xfrm>
          <a:prstGeom prst="rect">
            <a:avLst/>
          </a:prstGeom>
          <a:noFill/>
        </p:spPr>
        <p:txBody>
          <a:bodyPr wrap="square" rtlCol="0">
            <a:spAutoFit/>
          </a:bodyPr>
          <a:lstStyle/>
          <a:p>
            <a:r>
              <a:rPr lang="en-US" sz="3200" b="1" dirty="0">
                <a:solidFill>
                  <a:schemeClr val="accent1">
                    <a:lumMod val="50000"/>
                  </a:schemeClr>
                </a:solidFill>
                <a:latin typeface="Segoe Print" pitchFamily="2" charset="0"/>
              </a:rPr>
              <a:t>P(1st card is ace </a:t>
            </a:r>
            <a:r>
              <a:rPr lang="en-US" sz="3200" b="1" dirty="0">
                <a:solidFill>
                  <a:schemeClr val="accent2">
                    <a:lumMod val="50000"/>
                  </a:schemeClr>
                </a:solidFill>
                <a:latin typeface="Segoe Print" pitchFamily="2" charset="0"/>
              </a:rPr>
              <a:t>and</a:t>
            </a:r>
            <a:r>
              <a:rPr lang="en-US" sz="3200" b="1" dirty="0">
                <a:solidFill>
                  <a:schemeClr val="accent1">
                    <a:lumMod val="50000"/>
                  </a:schemeClr>
                </a:solidFill>
                <a:latin typeface="Segoe Print" pitchFamily="2" charset="0"/>
              </a:rPr>
              <a:t> 2nd card is ace)</a:t>
            </a:r>
          </a:p>
        </p:txBody>
      </p:sp>
      <p:graphicFrame>
        <p:nvGraphicFramePr>
          <p:cNvPr id="5" name="Object 4"/>
          <p:cNvGraphicFramePr>
            <a:graphicFrameLocks noChangeAspect="1"/>
          </p:cNvGraphicFramePr>
          <p:nvPr>
            <p:extLst>
              <p:ext uri="{D42A27DB-BD31-4B8C-83A1-F6EECF244321}">
                <p14:modId xmlns:p14="http://schemas.microsoft.com/office/powerpoint/2010/main" val="4204188155"/>
              </p:ext>
            </p:extLst>
          </p:nvPr>
        </p:nvGraphicFramePr>
        <p:xfrm>
          <a:off x="-1381" y="3810000"/>
          <a:ext cx="9018588" cy="544512"/>
        </p:xfrm>
        <a:graphic>
          <a:graphicData uri="http://schemas.openxmlformats.org/presentationml/2006/ole">
            <mc:AlternateContent xmlns:mc="http://schemas.openxmlformats.org/markup-compatibility/2006">
              <mc:Choice xmlns:v="urn:schemas-microsoft-com:vml" Requires="v">
                <p:oleObj spid="_x0000_s38984" name="Equation" r:id="rId4" imgW="4356000" imgH="241200" progId="Equation.DSMT4">
                  <p:embed/>
                </p:oleObj>
              </mc:Choice>
              <mc:Fallback>
                <p:oleObj name="Equation" r:id="rId4" imgW="4356000" imgH="241200" progId="Equation.DSMT4">
                  <p:embed/>
                  <p:pic>
                    <p:nvPicPr>
                      <p:cNvPr id="0" name=""/>
                      <p:cNvPicPr/>
                      <p:nvPr/>
                    </p:nvPicPr>
                    <p:blipFill>
                      <a:blip r:embed="rId5"/>
                      <a:stretch>
                        <a:fillRect/>
                      </a:stretch>
                    </p:blipFill>
                    <p:spPr>
                      <a:xfrm>
                        <a:off x="-1381" y="3810000"/>
                        <a:ext cx="9018588" cy="544512"/>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990852984"/>
              </p:ext>
            </p:extLst>
          </p:nvPr>
        </p:nvGraphicFramePr>
        <p:xfrm>
          <a:off x="-9993" y="4572000"/>
          <a:ext cx="6257925" cy="544513"/>
        </p:xfrm>
        <a:graphic>
          <a:graphicData uri="http://schemas.openxmlformats.org/presentationml/2006/ole">
            <mc:AlternateContent xmlns:mc="http://schemas.openxmlformats.org/markup-compatibility/2006">
              <mc:Choice xmlns:v="urn:schemas-microsoft-com:vml" Requires="v">
                <p:oleObj spid="_x0000_s38985" name="Equation" r:id="rId6" imgW="3022560" imgH="241200" progId="Equation.DSMT4">
                  <p:embed/>
                </p:oleObj>
              </mc:Choice>
              <mc:Fallback>
                <p:oleObj name="Equation" r:id="rId6" imgW="3022560" imgH="241200" progId="Equation.DSMT4">
                  <p:embed/>
                  <p:pic>
                    <p:nvPicPr>
                      <p:cNvPr id="0" name="Object 4"/>
                      <p:cNvPicPr>
                        <a:picLocks noChangeAspect="1" noChangeArrowheads="1"/>
                      </p:cNvPicPr>
                      <p:nvPr/>
                    </p:nvPicPr>
                    <p:blipFill>
                      <a:blip r:embed="rId7"/>
                      <a:srcRect/>
                      <a:stretch>
                        <a:fillRect/>
                      </a:stretch>
                    </p:blipFill>
                    <p:spPr bwMode="auto">
                      <a:xfrm>
                        <a:off x="-9993" y="4572000"/>
                        <a:ext cx="6257925"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45976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Question"/>
          <p:cNvSpPr>
            <a:spLocks noGrp="1"/>
          </p:cNvSpPr>
          <p:nvPr>
            <p:ph type="title" idx="4294967295"/>
          </p:nvPr>
        </p:nvSpPr>
        <p:spPr>
          <a:xfrm>
            <a:off x="0" y="0"/>
            <a:ext cx="8077200" cy="685800"/>
          </a:xfrm>
        </p:spPr>
        <p:txBody>
          <a:bodyPr>
            <a:normAutofit fontScale="90000"/>
          </a:bodyPr>
          <a:lstStyle/>
          <a:p>
            <a:pPr>
              <a:spcAft>
                <a:spcPts val="1800"/>
              </a:spcAft>
            </a:pPr>
            <a:r>
              <a:rPr lang="en-US" dirty="0">
                <a:solidFill>
                  <a:prstClr val="black"/>
                </a:solidFill>
                <a:cs typeface="Times New Roman" pitchFamily="18" charset="0"/>
              </a:rPr>
              <a:t>If A and B are independent, then</a:t>
            </a:r>
          </a:p>
        </p:txBody>
      </p:sp>
      <p:sp>
        <p:nvSpPr>
          <p:cNvPr id="6" name="TPAnswers"/>
          <p:cNvSpPr>
            <a:spLocks noGrp="1"/>
          </p:cNvSpPr>
          <p:nvPr>
            <p:ph sz="quarter" idx="4294967295"/>
            <p:custDataLst>
              <p:tags r:id="rId2"/>
            </p:custDataLst>
          </p:nvPr>
        </p:nvSpPr>
        <p:spPr>
          <a:xfrm>
            <a:off x="0" y="762000"/>
            <a:ext cx="5867400" cy="2514600"/>
          </a:xfrm>
        </p:spPr>
        <p:txBody>
          <a:bodyPr>
            <a:noAutofit/>
          </a:bodyPr>
          <a:lstStyle/>
          <a:p>
            <a:pPr marL="742950" indent="-742950">
              <a:spcBef>
                <a:spcPct val="20000"/>
              </a:spcBef>
              <a:buFont typeface="+mj-lt"/>
              <a:buAutoNum type="alphaLcPeriod"/>
            </a:pPr>
            <a:r>
              <a:rPr lang="en-US" sz="2800" dirty="0">
                <a:solidFill>
                  <a:prstClr val="black"/>
                </a:solidFill>
                <a:cs typeface="Times New Roman" pitchFamily="18" charset="0"/>
              </a:rPr>
              <a:t>P(A and B) = P(A) · P(B if A)</a:t>
            </a:r>
          </a:p>
          <a:p>
            <a:pPr marL="742950" indent="-742950">
              <a:spcBef>
                <a:spcPct val="20000"/>
              </a:spcBef>
              <a:buFont typeface="+mj-lt"/>
              <a:buAutoNum type="alphaLcPeriod"/>
            </a:pPr>
            <a:r>
              <a:rPr lang="en-US" sz="2800" dirty="0">
                <a:solidFill>
                  <a:prstClr val="black"/>
                </a:solidFill>
                <a:cs typeface="Times New Roman" pitchFamily="18" charset="0"/>
              </a:rPr>
              <a:t>P(A and B) = P(A) ·P(B)</a:t>
            </a:r>
          </a:p>
          <a:p>
            <a:pPr marL="742950" indent="-742950">
              <a:spcBef>
                <a:spcPct val="20000"/>
              </a:spcBef>
              <a:buFont typeface="+mj-lt"/>
              <a:buAutoNum type="alphaLcPeriod"/>
            </a:pPr>
            <a:r>
              <a:rPr lang="en-US" sz="2800" dirty="0">
                <a:solidFill>
                  <a:prstClr val="black"/>
                </a:solidFill>
                <a:cs typeface="Times New Roman" pitchFamily="18" charset="0"/>
              </a:rPr>
              <a:t>Neither a) nor b) are correct</a:t>
            </a:r>
          </a:p>
          <a:p>
            <a:pPr marL="742950" indent="-742950">
              <a:spcBef>
                <a:spcPct val="20000"/>
              </a:spcBef>
              <a:buFont typeface="+mj-lt"/>
              <a:buAutoNum type="alphaLcPeriod"/>
            </a:pPr>
            <a:r>
              <a:rPr lang="en-US" sz="2800" dirty="0">
                <a:solidFill>
                  <a:prstClr val="black"/>
                </a:solidFill>
                <a:cs typeface="Times New Roman" pitchFamily="18" charset="0"/>
              </a:rPr>
              <a:t>Both a) and b) are correct</a:t>
            </a:r>
          </a:p>
        </p:txBody>
      </p:sp>
    </p:spTree>
    <p:custDataLst>
      <p:tags r:id="rId1"/>
    </p:custDataLst>
    <p:extLst>
      <p:ext uri="{BB962C8B-B14F-4D97-AF65-F5344CB8AC3E}">
        <p14:creationId xmlns:p14="http://schemas.microsoft.com/office/powerpoint/2010/main" val="473635459"/>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P(A and B): Multiplication Rules </a:t>
            </a:r>
            <a:endParaRPr lang="en-US" sz="4000" b="1" dirty="0">
              <a:solidFill>
                <a:schemeClr val="accent6">
                  <a:lumMod val="75000"/>
                </a:schemeClr>
              </a:solidFill>
            </a:endParaRPr>
          </a:p>
        </p:txBody>
      </p:sp>
      <p:graphicFrame>
        <p:nvGraphicFramePr>
          <p:cNvPr id="72706" name="Object 2"/>
          <p:cNvGraphicFramePr>
            <a:graphicFrameLocks noChangeAspect="1"/>
          </p:cNvGraphicFramePr>
          <p:nvPr>
            <p:extLst>
              <p:ext uri="{D42A27DB-BD31-4B8C-83A1-F6EECF244321}">
                <p14:modId xmlns:p14="http://schemas.microsoft.com/office/powerpoint/2010/main" val="3847810038"/>
              </p:ext>
            </p:extLst>
          </p:nvPr>
        </p:nvGraphicFramePr>
        <p:xfrm>
          <a:off x="571500" y="1752600"/>
          <a:ext cx="8135938" cy="873125"/>
        </p:xfrm>
        <a:graphic>
          <a:graphicData uri="http://schemas.openxmlformats.org/presentationml/2006/ole">
            <mc:AlternateContent xmlns:mc="http://schemas.openxmlformats.org/markup-compatibility/2006">
              <mc:Choice xmlns:v="urn:schemas-microsoft-com:vml" Requires="v">
                <p:oleObj spid="_x0000_s8335" name="Equation" r:id="rId4" imgW="1892160" imgH="203040" progId="Equation.DSMT4">
                  <p:embed/>
                </p:oleObj>
              </mc:Choice>
              <mc:Fallback>
                <p:oleObj name="Equation" r:id="rId4" imgW="1892160" imgH="203040" progId="Equation.DSMT4">
                  <p:embed/>
                  <p:pic>
                    <p:nvPicPr>
                      <p:cNvPr id="0" name=""/>
                      <p:cNvPicPr>
                        <a:picLocks noChangeAspect="1" noChangeArrowheads="1"/>
                      </p:cNvPicPr>
                      <p:nvPr/>
                    </p:nvPicPr>
                    <p:blipFill>
                      <a:blip r:embed="rId5"/>
                      <a:srcRect/>
                      <a:stretch>
                        <a:fillRect/>
                      </a:stretch>
                    </p:blipFill>
                    <p:spPr bwMode="auto">
                      <a:xfrm>
                        <a:off x="571500" y="1752600"/>
                        <a:ext cx="8135938" cy="873125"/>
                      </a:xfrm>
                      <a:prstGeom prst="rect">
                        <a:avLst/>
                      </a:prstGeom>
                      <a:solidFill>
                        <a:srgbClr val="FFC000">
                          <a:alpha val="45000"/>
                        </a:srgbClr>
                      </a:solidFill>
                      <a:ln w="28575">
                        <a:solidFill>
                          <a:schemeClr val="accent1">
                            <a:lumMod val="50000"/>
                          </a:schemeClr>
                        </a:solidFill>
                        <a:miter lim="800000"/>
                        <a:headEnd/>
                        <a:tailEnd/>
                      </a:ln>
                      <a:extLst/>
                    </p:spPr>
                  </p:pic>
                </p:oleObj>
              </mc:Fallback>
            </mc:AlternateContent>
          </a:graphicData>
        </a:graphic>
      </p:graphicFrame>
      <p:graphicFrame>
        <p:nvGraphicFramePr>
          <p:cNvPr id="74755" name="Object 3"/>
          <p:cNvGraphicFramePr>
            <a:graphicFrameLocks noChangeAspect="1"/>
          </p:cNvGraphicFramePr>
          <p:nvPr>
            <p:extLst>
              <p:ext uri="{D42A27DB-BD31-4B8C-83A1-F6EECF244321}">
                <p14:modId xmlns:p14="http://schemas.microsoft.com/office/powerpoint/2010/main" val="2905466457"/>
              </p:ext>
            </p:extLst>
          </p:nvPr>
        </p:nvGraphicFramePr>
        <p:xfrm>
          <a:off x="1328738" y="3019425"/>
          <a:ext cx="6486525" cy="1428750"/>
        </p:xfrm>
        <a:graphic>
          <a:graphicData uri="http://schemas.openxmlformats.org/presentationml/2006/ole">
            <mc:AlternateContent xmlns:mc="http://schemas.openxmlformats.org/markup-compatibility/2006">
              <mc:Choice xmlns:v="urn:schemas-microsoft-com:vml" Requires="v">
                <p:oleObj spid="_x0000_s8336" name="Equation" r:id="rId6" imgW="1726920" imgH="380880" progId="Equation.DSMT4">
                  <p:embed/>
                </p:oleObj>
              </mc:Choice>
              <mc:Fallback>
                <p:oleObj name="Equation" r:id="rId6" imgW="1726920" imgH="380880" progId="Equation.DSMT4">
                  <p:embed/>
                  <p:pic>
                    <p:nvPicPr>
                      <p:cNvPr id="0" name=""/>
                      <p:cNvPicPr>
                        <a:picLocks noChangeAspect="1" noChangeArrowheads="1"/>
                      </p:cNvPicPr>
                      <p:nvPr/>
                    </p:nvPicPr>
                    <p:blipFill>
                      <a:blip r:embed="rId7"/>
                      <a:srcRect/>
                      <a:stretch>
                        <a:fillRect/>
                      </a:stretch>
                    </p:blipFill>
                    <p:spPr bwMode="auto">
                      <a:xfrm>
                        <a:off x="1328738" y="3019425"/>
                        <a:ext cx="64865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33124" name="Object 4"/>
          <p:cNvGraphicFramePr>
            <a:graphicFrameLocks noChangeAspect="1"/>
          </p:cNvGraphicFramePr>
          <p:nvPr>
            <p:extLst>
              <p:ext uri="{D42A27DB-BD31-4B8C-83A1-F6EECF244321}">
                <p14:modId xmlns:p14="http://schemas.microsoft.com/office/powerpoint/2010/main" val="1648005851"/>
              </p:ext>
            </p:extLst>
          </p:nvPr>
        </p:nvGraphicFramePr>
        <p:xfrm>
          <a:off x="1309688" y="4495800"/>
          <a:ext cx="6524625" cy="2206625"/>
        </p:xfrm>
        <a:graphic>
          <a:graphicData uri="http://schemas.openxmlformats.org/presentationml/2006/ole">
            <mc:AlternateContent xmlns:mc="http://schemas.openxmlformats.org/markup-compatibility/2006">
              <mc:Choice xmlns:v="urn:schemas-microsoft-com:vml" Requires="v">
                <p:oleObj spid="_x0000_s8337" name="Equation" r:id="rId8" imgW="1726920" imgH="583920" progId="Equation.DSMT4">
                  <p:embed/>
                </p:oleObj>
              </mc:Choice>
              <mc:Fallback>
                <p:oleObj name="Equation" r:id="rId8" imgW="1726920" imgH="583920" progId="Equation.DSMT4">
                  <p:embed/>
                  <p:pic>
                    <p:nvPicPr>
                      <p:cNvPr id="0" name=""/>
                      <p:cNvPicPr>
                        <a:picLocks noChangeAspect="1" noChangeArrowheads="1"/>
                      </p:cNvPicPr>
                      <p:nvPr/>
                    </p:nvPicPr>
                    <p:blipFill>
                      <a:blip r:embed="rId9"/>
                      <a:srcRect/>
                      <a:stretch>
                        <a:fillRect/>
                      </a:stretch>
                    </p:blipFill>
                    <p:spPr bwMode="auto">
                      <a:xfrm>
                        <a:off x="1309688" y="4495800"/>
                        <a:ext cx="6524625" cy="2206625"/>
                      </a:xfrm>
                      <a:prstGeom prst="rect">
                        <a:avLst/>
                      </a:prstGeom>
                      <a:solidFill>
                        <a:srgbClr val="FFC000">
                          <a:alpha val="46000"/>
                        </a:srgbClr>
                      </a:solidFill>
                      <a:ln w="28575">
                        <a:solidFill>
                          <a:schemeClr val="accent1">
                            <a:lumMod val="50000"/>
                          </a:schemeClr>
                        </a:solidFill>
                        <a:miter lim="800000"/>
                        <a:headEnd/>
                        <a:tailEnd/>
                      </a:ln>
                      <a:extLst/>
                    </p:spPr>
                  </p:pic>
                </p:oleObj>
              </mc:Fallback>
            </mc:AlternateContent>
          </a:graphicData>
        </a:graphic>
      </p:graphicFrame>
    </p:spTree>
    <p:custDataLst>
      <p:tags r:id="rId2"/>
    </p:custDataLst>
    <p:extLst>
      <p:ext uri="{BB962C8B-B14F-4D97-AF65-F5344CB8AC3E}">
        <p14:creationId xmlns:p14="http://schemas.microsoft.com/office/powerpoint/2010/main" val="19607683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nodeType="clickEffect">
                                  <p:stCondLst>
                                    <p:cond delay="0"/>
                                  </p:stCondLst>
                                  <p:childTnLst>
                                    <p:set>
                                      <p:cBhvr>
                                        <p:cTn id="10" dur="1" fill="hold">
                                          <p:stCondLst>
                                            <p:cond delay="0"/>
                                          </p:stCondLst>
                                        </p:cTn>
                                        <p:tgtEl>
                                          <p:spTgt spid="133124"/>
                                        </p:tgtEl>
                                        <p:attrNameLst>
                                          <p:attrName>style.visibility</p:attrName>
                                        </p:attrNameLst>
                                      </p:cBhvr>
                                      <p:to>
                                        <p:strVal val="visible"/>
                                      </p:to>
                                    </p:set>
                                    <p:anim calcmode="lin" valueType="num">
                                      <p:cBhvr>
                                        <p:cTn id="11" dur="500" fill="hold"/>
                                        <p:tgtEl>
                                          <p:spTgt spid="133124"/>
                                        </p:tgtEl>
                                        <p:attrNameLst>
                                          <p:attrName>ppt_w</p:attrName>
                                        </p:attrNameLst>
                                      </p:cBhvr>
                                      <p:tavLst>
                                        <p:tav tm="0">
                                          <p:val>
                                            <p:fltVal val="0"/>
                                          </p:val>
                                        </p:tav>
                                        <p:tav tm="100000">
                                          <p:val>
                                            <p:strVal val="#ppt_w"/>
                                          </p:val>
                                        </p:tav>
                                      </p:tavLst>
                                    </p:anim>
                                    <p:anim calcmode="lin" valueType="num">
                                      <p:cBhvr>
                                        <p:cTn id="12" dur="500" fill="hold"/>
                                        <p:tgtEl>
                                          <p:spTgt spid="133124"/>
                                        </p:tgtEl>
                                        <p:attrNameLst>
                                          <p:attrName>ppt_h</p:attrName>
                                        </p:attrNameLst>
                                      </p:cBhvr>
                                      <p:tavLst>
                                        <p:tav tm="0">
                                          <p:val>
                                            <p:fltVal val="0"/>
                                          </p:val>
                                        </p:tav>
                                        <p:tav tm="100000">
                                          <p:val>
                                            <p:strVal val="#ppt_h"/>
                                          </p:val>
                                        </p:tav>
                                      </p:tavLst>
                                    </p:anim>
                                    <p:animEffect transition="in" filter="fade">
                                      <p:cBhvr>
                                        <p:cTn id="13" dur="500"/>
                                        <p:tgtEl>
                                          <p:spTgt spid="133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1858" name="Object 2"/>
          <p:cNvGraphicFramePr>
            <a:graphicFrameLocks noChangeAspect="1"/>
          </p:cNvGraphicFramePr>
          <p:nvPr>
            <p:extLst>
              <p:ext uri="{D42A27DB-BD31-4B8C-83A1-F6EECF244321}">
                <p14:modId xmlns:p14="http://schemas.microsoft.com/office/powerpoint/2010/main" val="2354367248"/>
              </p:ext>
            </p:extLst>
          </p:nvPr>
        </p:nvGraphicFramePr>
        <p:xfrm>
          <a:off x="475957" y="1828800"/>
          <a:ext cx="7239000" cy="609600"/>
        </p:xfrm>
        <a:graphic>
          <a:graphicData uri="http://schemas.openxmlformats.org/presentationml/2006/ole">
            <mc:AlternateContent xmlns:mc="http://schemas.openxmlformats.org/markup-compatibility/2006">
              <mc:Choice xmlns:v="urn:schemas-microsoft-com:vml" Requires="v">
                <p:oleObj spid="_x0000_s6376" name="Equation" r:id="rId4" imgW="2412720" imgH="203040" progId="Equation.DSMT4">
                  <p:embed/>
                </p:oleObj>
              </mc:Choice>
              <mc:Fallback>
                <p:oleObj name="Equation" r:id="rId4" imgW="241272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957" y="1828800"/>
                        <a:ext cx="7239000" cy="6096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59" name="Object 3"/>
          <p:cNvGraphicFramePr>
            <a:graphicFrameLocks noChangeAspect="1"/>
          </p:cNvGraphicFramePr>
          <p:nvPr>
            <p:extLst>
              <p:ext uri="{D42A27DB-BD31-4B8C-83A1-F6EECF244321}">
                <p14:modId xmlns:p14="http://schemas.microsoft.com/office/powerpoint/2010/main" val="1212611185"/>
              </p:ext>
            </p:extLst>
          </p:nvPr>
        </p:nvGraphicFramePr>
        <p:xfrm>
          <a:off x="490025" y="5943600"/>
          <a:ext cx="4251325" cy="635000"/>
        </p:xfrm>
        <a:graphic>
          <a:graphicData uri="http://schemas.openxmlformats.org/presentationml/2006/ole">
            <mc:AlternateContent xmlns:mc="http://schemas.openxmlformats.org/markup-compatibility/2006">
              <mc:Choice xmlns:v="urn:schemas-microsoft-com:vml" Requires="v">
                <p:oleObj spid="_x0000_s6377" name="Equation" r:id="rId6" imgW="1358640" imgH="203040" progId="Equation.DSMT4">
                  <p:embed/>
                </p:oleObj>
              </mc:Choice>
              <mc:Fallback>
                <p:oleObj name="Equation" r:id="rId6" imgW="1358640" imgH="2030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025" y="5943600"/>
                        <a:ext cx="4251325" cy="635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itle 1"/>
          <p:cNvSpPr txBox="1">
            <a:spLocks/>
          </p:cNvSpPr>
          <p:nvPr/>
        </p:nvSpPr>
        <p:spPr>
          <a:xfrm>
            <a:off x="457200" y="3810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Summary</a:t>
            </a:r>
            <a:endParaRPr lang="en-US" sz="4000" b="1" dirty="0">
              <a:solidFill>
                <a:schemeClr val="accent6">
                  <a:lumMod val="75000"/>
                </a:schemeClr>
              </a:solidFill>
            </a:endParaRPr>
          </a:p>
        </p:txBody>
      </p:sp>
      <p:graphicFrame>
        <p:nvGraphicFramePr>
          <p:cNvPr id="121861" name="Object 5"/>
          <p:cNvGraphicFramePr>
            <a:graphicFrameLocks noChangeAspect="1"/>
          </p:cNvGraphicFramePr>
          <p:nvPr>
            <p:extLst>
              <p:ext uri="{D42A27DB-BD31-4B8C-83A1-F6EECF244321}">
                <p14:modId xmlns:p14="http://schemas.microsoft.com/office/powerpoint/2010/main" val="3172686210"/>
              </p:ext>
            </p:extLst>
          </p:nvPr>
        </p:nvGraphicFramePr>
        <p:xfrm>
          <a:off x="457200" y="2667000"/>
          <a:ext cx="5881688" cy="627063"/>
        </p:xfrm>
        <a:graphic>
          <a:graphicData uri="http://schemas.openxmlformats.org/presentationml/2006/ole">
            <mc:AlternateContent xmlns:mc="http://schemas.openxmlformats.org/markup-compatibility/2006">
              <mc:Choice xmlns:v="urn:schemas-microsoft-com:vml" Requires="v">
                <p:oleObj spid="_x0000_s6378" name="Equation" r:id="rId8" imgW="1904760" imgH="203040" progId="Equation.DSMT4">
                  <p:embed/>
                </p:oleObj>
              </mc:Choice>
              <mc:Fallback>
                <p:oleObj name="Equation" r:id="rId8" imgW="1904760" imgH="203040" progId="Equation.DSMT4">
                  <p:embed/>
                  <p:pic>
                    <p:nvPicPr>
                      <p:cNvPr id="0" name=""/>
                      <p:cNvPicPr>
                        <a:picLocks noChangeAspect="1" noChangeArrowheads="1"/>
                      </p:cNvPicPr>
                      <p:nvPr/>
                    </p:nvPicPr>
                    <p:blipFill>
                      <a:blip r:embed="rId9"/>
                      <a:srcRect/>
                      <a:stretch>
                        <a:fillRect/>
                      </a:stretch>
                    </p:blipFill>
                    <p:spPr bwMode="auto">
                      <a:xfrm>
                        <a:off x="457200" y="2667000"/>
                        <a:ext cx="5881688" cy="6270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2" name="Object 6"/>
          <p:cNvGraphicFramePr>
            <a:graphicFrameLocks noChangeAspect="1"/>
          </p:cNvGraphicFramePr>
          <p:nvPr>
            <p:extLst>
              <p:ext uri="{D42A27DB-BD31-4B8C-83A1-F6EECF244321}">
                <p14:modId xmlns:p14="http://schemas.microsoft.com/office/powerpoint/2010/main" val="1343806694"/>
              </p:ext>
            </p:extLst>
          </p:nvPr>
        </p:nvGraphicFramePr>
        <p:xfrm>
          <a:off x="457200" y="3581400"/>
          <a:ext cx="3810000" cy="628454"/>
        </p:xfrm>
        <a:graphic>
          <a:graphicData uri="http://schemas.openxmlformats.org/presentationml/2006/ole">
            <mc:AlternateContent xmlns:mc="http://schemas.openxmlformats.org/markup-compatibility/2006">
              <mc:Choice xmlns:v="urn:schemas-microsoft-com:vml" Requires="v">
                <p:oleObj spid="_x0000_s6379" name="Equation" r:id="rId10" imgW="1231560" imgH="203040" progId="Equation.DSMT4">
                  <p:embed/>
                </p:oleObj>
              </mc:Choice>
              <mc:Fallback>
                <p:oleObj name="Equation" r:id="rId10" imgW="1231560" imgH="20304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3581400"/>
                        <a:ext cx="3810000" cy="62845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3" name="Object 7"/>
          <p:cNvGraphicFramePr>
            <a:graphicFrameLocks noChangeAspect="1"/>
          </p:cNvGraphicFramePr>
          <p:nvPr>
            <p:extLst>
              <p:ext uri="{D42A27DB-BD31-4B8C-83A1-F6EECF244321}">
                <p14:modId xmlns:p14="http://schemas.microsoft.com/office/powerpoint/2010/main" val="3021929253"/>
              </p:ext>
            </p:extLst>
          </p:nvPr>
        </p:nvGraphicFramePr>
        <p:xfrm>
          <a:off x="463062" y="4495800"/>
          <a:ext cx="4332288" cy="1200150"/>
        </p:xfrm>
        <a:graphic>
          <a:graphicData uri="http://schemas.openxmlformats.org/presentationml/2006/ole">
            <mc:AlternateContent xmlns:mc="http://schemas.openxmlformats.org/markup-compatibility/2006">
              <mc:Choice xmlns:v="urn:schemas-microsoft-com:vml" Requires="v">
                <p:oleObj spid="_x0000_s6380" name="Equation" r:id="rId12" imgW="1511280" imgH="419040" progId="Equation.DSMT4">
                  <p:embed/>
                </p:oleObj>
              </mc:Choice>
              <mc:Fallback>
                <p:oleObj name="Equation" r:id="rId12" imgW="1511280" imgH="41904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3062" y="4495800"/>
                        <a:ext cx="4332288" cy="12001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261179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8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18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8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8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2830136"/>
  <p:tag name="CUSTOMCELLBACKCOLOR3" val="-268652"/>
  <p:tag name="DISPLAYDEVICENUMBER" val="True"/>
  <p:tag name="AUTOSIZEGRID" val="True"/>
  <p:tag name="POLLINGCYCLE" val="2"/>
  <p:tag name="INCLUDENONRESPONDERS" val="False"/>
  <p:tag name="CORRECTPOINTVALUE" val="100"/>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0"/>
  <p:tag name="RACEANIMATIONSPEED" val="3"/>
  <p:tag name="NUMRESPONSES" val="1"/>
  <p:tag name="CUSTOMCELLBACKCOLOR4" val="-8355712"/>
  <p:tag name="PRRESPONSE7" val="4"/>
  <p:tag name="FIBINCLUDEOTHER" val="True"/>
  <p:tag name="DELIMITERS" val="3.1"/>
  <p:tag name="INCLUDESESSION" val="True"/>
  <p:tag name="TASKPANEKEY" val="d19ed8b6-0382-41e4-9be8-14e5e8b69673"/>
  <p:tag name="EXPANDSHOWBAR" val="True"/>
  <p:tag name="TPPRESENTATIONGUID" val="57f7638e-5813-4da3-8f65-fc455fdb6ade"/>
  <p:tag name="WASPOLLED" val="0DDA525C7BBA46AE8880C9E7AA9F8E3F"/>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SLIDEGUID" val="5D4B515ACF1A4CCDAFE2EE44784314D5"/>
  <p:tag name="SLIDEID" val="5D4B515ACF1A4CCDAFE2EE44784314D5"/>
  <p:tag name="SLIDEORDER" val="1"/>
  <p:tag name="SLIDETYPE" val="Q"/>
  <p:tag name="DEMOGRAPHIC" val="False"/>
  <p:tag name="SPEEDSCORING" val="False"/>
  <p:tag name="CORRECTPOINTVALUE" val="100"/>
  <p:tag name="INCORRECTPOINTVALUE" val="0"/>
  <p:tag name="ZEROBASED" val="False"/>
  <p:tag name="VALUEFORMAT" val="0%"/>
  <p:tag name="QUESTIONALIAS" val="What is the probability that an inductee chosen at random is a performer?"/>
  <p:tag name="ANSWERSALIAS" val="181/273 = 0.663|smicln|181/232 = 0.780|smicln|32/181 = 0.177|smicln|I got a different answer"/>
  <p:tag name="DELIMITERS" val="3.1"/>
  <p:tag name="VALUES" val="No Value|smicln|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EB0A5660F50F4946BA16318C64C7CC21&lt;/guid&gt;&#10;        &lt;description /&gt;&#10;        &lt;date&gt;6/29/2017 11:39:22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EBFB8D18A054F108CE41D857D74A8F5&lt;/guid&gt;&#10;            &lt;repollguid&gt;9BA31AF180E848A49ECA2D1BC731659F&lt;/repollguid&gt;&#10;            &lt;sourceid&gt;41D113EAC63946EFA68EF46C2E5B5BDF&lt;/sourceid&gt;&#10;            &lt;questiontext&gt;What is the probability that an inductee chosen at random is a performer?&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3C9DEE53B0D54539A677699F8B7CEAFD&lt;/guid&gt;&#10;                    &lt;answertext&gt;181/273 = 0.663 &lt;/answertext&gt;&#10;                    &lt;valuetype&gt;0&lt;/valuetype&gt;&#10;                &lt;/answer&gt;&#10;                &lt;answer&gt;&#10;                    &lt;guid&gt;BBEEF104453D45AD8B527C5F868E8BEF&lt;/guid&gt;&#10;                    &lt;answertext&gt;181/232 = 0.780 &lt;/answertext&gt;&#10;                    &lt;valuetype&gt;0&lt;/valuetype&gt;&#10;                &lt;/answer&gt;&#10;                &lt;answer&gt;&#10;                    &lt;guid&gt;543A43E253FD46A2BA336E8B88D92349&lt;/guid&gt;&#10;                    &lt;answertext&gt;32/181 = 0.177 &lt;/answertext&gt;&#10;                    &lt;valuetype&gt;0&lt;/valuetype&gt;&#10;                &lt;/answer&gt;&#10;                &lt;answer&gt;&#10;                    &lt;guid&gt;B8F0F46DB2CD4973BC0CBB88DE98625B&lt;/guid&gt;&#10;                    &lt;answertext&gt;I got a different answ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8.xml><?xml version="1.0" encoding="utf-8"?>
<p:tagLst xmlns:a="http://schemas.openxmlformats.org/drawingml/2006/main" xmlns:r="http://schemas.openxmlformats.org/officeDocument/2006/relationships" xmlns:p="http://schemas.openxmlformats.org/presentationml/2006/main">
  <p:tag name="ANSWERBULLETS" val="9"/>
  <p:tag name="OLDNUMANSWERS" val="4"/>
  <p:tag name="TEXTLENGTH" val="71"/>
  <p:tag name="FONTSIZE" val="28"/>
  <p:tag name="BULLETTYPE" val="ppBulletAlphaLCParenRight"/>
  <p:tag name="ANSWERTEXT" val="181/273 = 0.663&#10;181/232 = 0.780&#10;32/181 = 0.177&#10;I got a different answer"/>
  <p:tag name="ZEROBASED"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SLIDEGUID" val="838DD18933E743AA9C201BC26E131ACB"/>
  <p:tag name="SLIDEID" val="838DD18933E743AA9C201BC26E131ACB"/>
  <p:tag name="SLIDEORDER" val="1"/>
  <p:tag name="SLIDETYPE" val="Q"/>
  <p:tag name="DEMOGRAPHIC" val="False"/>
  <p:tag name="SPEEDSCORING" val="False"/>
  <p:tag name="CORRECTPOINTVALUE" val="100"/>
  <p:tag name="INCORRECTPOINTVALUE" val="0"/>
  <p:tag name="ZEROBASED" val="False"/>
  <p:tag name="VALUEFORMAT" val="0%"/>
  <p:tag name="QUESTIONALIAS" val="What is the probability that an inductee chosen at random has a female member or is a performer?"/>
  <p:tag name="TOTALRESPONSES" val="0"/>
  <p:tag name="ANSWERSALIAS" val="222/273 = 0.813|smicln|32/273 = 0.117|smicln|190/273 = 0.696|smicln|I got a different answer"/>
  <p:tag name="DELIMITERS" val="3.1"/>
  <p:tag name="RESPONSESGATHERED" val="False"/>
  <p:tag name="ANONYMOUSTEMP" val="False"/>
  <p:tag name="VALUES" val="No Value|smicln|No Value|smicln|No Value|smicln|No Value"/>
  <p:tag name="TYPE" val="MultiChoiceSlide"/>
  <p:tag name="TPQUESTIONXML" val="﻿&lt;?xml version=&quot;1.0&quot; encoding=&quot;utf-8&quot;?&gt;&#10;&lt;questionlist&gt;&#10;    &lt;properties&gt;&#10;        &lt;guid&gt;57D24DF30E724CB9BE84D73025617A9E&lt;/guid&gt;&#10;        &lt;description /&gt;&#10;        &lt;date&gt;6/29/2017 11:39:22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223B8FC0FC84BC7BB3CF2781D0C5DC0&lt;/guid&gt;&#10;            &lt;repollguid&gt;A42594A0AA11491DB10D074D09255A91&lt;/repollguid&gt;&#10;            &lt;sourceid&gt;C2C9969D9A5C40F6A38D3BBFAE8133E0&lt;/sourceid&gt;&#10;            &lt;questiontext&gt;What is the probability that an inductee chosen at random has a female member or is a performer?&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1D9BA0358D0B43D0A2666915C6959F15&lt;/guid&gt;&#10;                    &lt;answertext&gt;222/273 = 0.813&lt;/answertext&gt;&#10;                    &lt;valuetype&gt;0&lt;/valuetype&gt;&#10;                &lt;/answer&gt;&#10;                &lt;answer&gt;&#10;                    &lt;guid&gt;CBE31E9CE1B24C88A5C2D0ECC6573898&lt;/guid&gt;&#10;                    &lt;answertext&gt;32/273 = 0.117&lt;/answertext&gt;&#10;                    &lt;valuetype&gt;0&lt;/valuetype&gt;&#10;                &lt;/answer&gt;&#10;                &lt;answer&gt;&#10;                    &lt;guid&gt;9FA6C890EF444FC3A7EEE04E08B285AA&lt;/guid&gt;&#10;                    &lt;answertext&gt;190/273 = 0.696&lt;/answertext&gt;&#10;                    &lt;valuetype&gt;0&lt;/valuetype&gt;&#10;                &lt;/answer&gt;&#10;                &lt;answer&gt;&#10;                    &lt;guid&gt;C3E49499FCA54318BE1FCADCAC76E378&lt;/guid&gt;&#10;                    &lt;answertext&gt;I got a different answ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0.xml><?xml version="1.0" encoding="utf-8"?>
<p:tagLst xmlns:a="http://schemas.openxmlformats.org/drawingml/2006/main" xmlns:r="http://schemas.openxmlformats.org/officeDocument/2006/relationships" xmlns:p="http://schemas.openxmlformats.org/presentationml/2006/main">
  <p:tag name="ANSWERBULLETS" val="9"/>
  <p:tag name="OLDNUMANSWERS" val="4"/>
  <p:tag name="TEXTLENGTH" val="71"/>
  <p:tag name="FONTSIZE" val="28"/>
  <p:tag name="BULLETTYPE" val="ppBulletAlphaLCParenRight"/>
  <p:tag name="ANSWERTEXT" val="222/273 = 0.813&#10;32/273 = 0.117&#10;190/273 = 0.696&#10;I got a different answer"/>
  <p:tag name="ZEROBASED"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3BA456547AA443F9BD57D5AF3A8B44E&lt;/guid&gt;&#10;        &lt;description /&gt;&#10;        &lt;date&gt;6/30/2017 10:54:53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2D0D0940BD6D4271A32C5D3C1D48ED21&lt;/guid&gt;&#10;            &lt;repollguid&gt;E4D90B9EEA9745E084FC50C4720E4CA6&lt;/repollguid&gt;&#10;            &lt;sourceid&gt;2CD475145F2B4997A3E66C9B8A12254F&lt;/sourceid&gt;&#10;            &lt;questiontext&gt;When drawing a single card from a standard 52 card deck, what is the probability that the card is a heart or a spade?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86BB76303A8A4ACC9E2D863B2CA7D81C&lt;/guid&gt;&#10;                    &lt;answertext&gt;0.063&lt;/answertext&gt;&#10;                    &lt;valuetype&gt;0&lt;/valuetype&gt;&#10;                &lt;/answer&gt;&#10;                &lt;answer&gt;&#10;                    &lt;guid&gt;0C06296703164D80894249F7D44E791A&lt;/guid&gt;&#10;                    &lt;answertext&gt;0.327&lt;/answertext&gt;&#10;                    &lt;valuetype&gt;0&lt;/valuetype&gt;&#10;                &lt;/answer&gt;&#10;                &lt;answer&gt;&#10;                    &lt;guid&gt;685EBEA8DF4A48B1A5EBD9050F7308D3&lt;/guid&gt;&#10;                    &lt;answertext&gt;0.308&lt;/answertext&gt;&#10;                    &lt;valuetype&gt;0&lt;/valuetype&gt;&#10;                &lt;/answer&gt;&#10;                &lt;answer&gt;&#10;                    &lt;guid&gt;693535F1620B4748B1EC545C743B01D6&lt;/guid&gt;&#10;                    &lt;answertext&gt;0.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8.xml><?xml version="1.0" encoding="utf-8"?>
<p:tagLst xmlns:a="http://schemas.openxmlformats.org/drawingml/2006/main" xmlns:r="http://schemas.openxmlformats.org/officeDocument/2006/relationships" xmlns:p="http://schemas.openxmlformats.org/presentationml/2006/main">
  <p:tag name="ZEROBASED" val="False"/>
</p:tagLst>
</file>

<file path=ppt/tags/tag1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F89169D3211D4AED915A1191095D0FB7&lt;/guid&gt;&#10;        &lt;description /&gt;&#10;        &lt;date&gt;6/30/2017 10:57:0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090185FC77E4422A98587B78C1135B53&lt;/guid&gt;&#10;            &lt;repollguid&gt;A0EC848C31684F6FA5CFAED0B81B4C8B&lt;/repollguid&gt;&#10;            &lt;sourceid&gt;FC9334C448D5426BAE468C282328E196&lt;/sourceid&gt;&#10;            &lt;questiontext&gt;When drawing a single card from a standard 52 card deck, what is the probability that the card is a heart or a queen?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42F804B6267D4480B604D55695AF3298&lt;/guid&gt;&#10;                    &lt;answertext&gt;0.063&lt;/answertext&gt;&#10;                    &lt;valuetype&gt;0&lt;/valuetype&gt;&#10;                &lt;/answer&gt;&#10;                &lt;answer&gt;&#10;                    &lt;guid&gt;35FC89FF6872467E9DCFA00E78A6F1D3&lt;/guid&gt;&#10;                    &lt;answertext&gt;0.327&lt;/answertext&gt;&#10;                    &lt;valuetype&gt;0&lt;/valuetype&gt;&#10;                &lt;/answer&gt;&#10;                &lt;answer&gt;&#10;                    &lt;guid&gt;7827A0122F5B4ED481A6F2041AF64119&lt;/guid&gt;&#10;                    &lt;answertext&gt;0.308&lt;/answertext&gt;&#10;                    &lt;valuetype&gt;0&lt;/valuetype&gt;&#10;                &lt;/answer&gt;&#10;                &lt;answer&gt;&#10;                    &lt;guid&gt;88B02811AB92469B92A2FB2D57F1E7C0&lt;/guid&gt;&#10;                    &lt;answertext&gt;0.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0.xml><?xml version="1.0" encoding="utf-8"?>
<p:tagLst xmlns:a="http://schemas.openxmlformats.org/drawingml/2006/main" xmlns:r="http://schemas.openxmlformats.org/officeDocument/2006/relationships" xmlns:p="http://schemas.openxmlformats.org/presentationml/2006/main">
  <p:tag name="ZEROBASED"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SLIDEGUID" val="C5EB0FF4CF8545E5B99D00437132EF76"/>
  <p:tag name="SLIDEID" val="C5EB0FF4CF8545E5B99D00437132EF76"/>
  <p:tag name="SLIDEORDER" val="1"/>
  <p:tag name="SLIDETYPE" val="Q"/>
  <p:tag name="DEMOGRAPHIC" val="False"/>
  <p:tag name="SPEEDSCORING" val="False"/>
  <p:tag name="CORRECTPOINTVALUE" val="100"/>
  <p:tag name="INCORRECTPOINTVALUE" val="0"/>
  <p:tag name="ZEROBASED" val="False"/>
  <p:tag name="VALUEFORMAT" val="0%"/>
  <p:tag name="QUESTIONALIAS" val="If A and B are disjoint, then"/>
  <p:tag name="TOTALRESPONSES" val="0"/>
  <p:tag name="ANSWERSALIAS" val="P(A or B) = P(A) + P(B)|smicln|P(A or B) = P(A) + P(B) – P(A and B)|smicln|Neither a) nor b) are correct|smicln|Both a) and b) are correct"/>
  <p:tag name="DELIMITERS" val="3.1"/>
  <p:tag name="RESPONSESGATHERED" val="False"/>
  <p:tag name="ANONYMOUSTEMP" val="False"/>
  <p:tag name="VALUES" val="No Value|smicln|No Value|smicln|No Value|smicln|No Value"/>
  <p:tag name="TYPE" val="MultiChoiceSlide"/>
  <p:tag name="TPQUESTIONXML" val="﻿&lt;?xml version=&quot;1.0&quot; encoding=&quot;utf-8&quot;?&gt;&#10;&lt;questionlist&gt;&#10;    &lt;properties&gt;&#10;        &lt;guid&gt;E556B6455AE04F39904DC0432458E9AE&lt;/guid&gt;&#10;        &lt;description /&gt;&#10;        &lt;date&gt;6/29/2017 11:39:22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49E9501FA474637AE5A12135E8789F7&lt;/guid&gt;&#10;            &lt;repollguid&gt;EB974A4BB3674F7BB29257CC04C04FE4&lt;/repollguid&gt;&#10;            &lt;sourceid&gt;D46F0973513849A6BDC3681C10F29B64&lt;/sourceid&gt;&#10;            &lt;questiontext&gt;If A and B are disjoint, then&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584D9BFA9F984F3CA1700F49C5044612&lt;/guid&gt;&#10;                    &lt;answertext&gt;P(A or B) = P(A) + P(B) &lt;/answertext&gt;&#10;                    &lt;valuetype&gt;0&lt;/valuetype&gt;&#10;                &lt;/answer&gt;&#10;                &lt;answer&gt;&#10;                    &lt;guid&gt;DBD7B5FEA56F45F3915ABE369B160EC4&lt;/guid&gt;&#10;                    &lt;answertext&gt;P(A or B) = P(A) + P(B) – P(A and B) &lt;/answertext&gt;&#10;                    &lt;valuetype&gt;0&lt;/valuetype&gt;&#10;                &lt;/answer&gt;&#10;                &lt;answer&gt;&#10;                    &lt;guid&gt;81DA67D2227445F58E716F2A22880C4E&lt;/guid&gt;&#10;                    &lt;answertext&gt;Neither a) nor b) are correct &lt;/answertext&gt;&#10;                    &lt;valuetype&gt;0&lt;/valuetype&gt;&#10;                &lt;/answer&gt;&#10;                &lt;answer&gt;&#10;                    &lt;guid&gt;F96BB2BFF3E843FCA736589F376DFA2A&lt;/guid&gt;&#10;                    &lt;answertext&gt;Both a) and b) are correc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2.xml><?xml version="1.0" encoding="utf-8"?>
<p:tagLst xmlns:a="http://schemas.openxmlformats.org/drawingml/2006/main" xmlns:r="http://schemas.openxmlformats.org/officeDocument/2006/relationships" xmlns:p="http://schemas.openxmlformats.org/presentationml/2006/main">
  <p:tag name="ANSWERBULLETS" val="9"/>
  <p:tag name="OLDNUMANSWERS" val="4"/>
  <p:tag name="TEXTLENGTH" val="117"/>
  <p:tag name="FONTSIZE" val="28"/>
  <p:tag name="BULLETTYPE" val="ppBulletAlphaLCParenRight"/>
  <p:tag name="ANSWERTEXT" val="P(A or B) = P(A) + P(B)&#10;P(A or B) = P(A) + P(B) – P(A and B)&#10;Neither a) nor b) are correct&#10;Both a) and b) are correct"/>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SLIDEGUID" val="11159A5F55FA4624A737B63B592768A5"/>
  <p:tag name="SLIDEID" val="11159A5F55FA4624A737B63B592768A5"/>
  <p:tag name="SLIDEORDER" val="1"/>
  <p:tag name="SLIDETYPE" val="Q"/>
  <p:tag name="DEMOGRAPHIC" val="False"/>
  <p:tag name="SPEEDSCORING" val="False"/>
  <p:tag name="CORRECTPOINTVALUE" val="100"/>
  <p:tag name="INCORRECTPOINTVALUE" val="0"/>
  <p:tag name="ZEROBASED" val="False"/>
  <p:tag name="VALUEFORMAT" val="0%"/>
  <p:tag name="QUESTIONALIAS" val="Based on survey data, 52% of students drink caffeine in the morning, 47% of students drink caffeine in the afternoon, and 37% drink caffeine in the morning and the afternoon.  What percent of students do not drink caffeine in the morning or in the afternoon?"/>
  <p:tag name="TOTALRESPONSES" val="0"/>
  <p:tag name="ANSWERSALIAS" val="63%|smicln|38%|smicln|0%|smicln|37%"/>
  <p:tag name="DELIMITERS" val="3.1"/>
  <p:tag name="VALUES" val="No Value|smicln|No Value|smicln|No Value|smicln|No Value"/>
  <p:tag name="RESPONSESGATHERED" val="False"/>
  <p:tag name="ANONYMOUSTEMP" val="False"/>
  <p:tag name="TYPE" val="MultiChoiceSlide"/>
  <p:tag name="TPQUESTIONXML" val="﻿&lt;?xml version=&quot;1.0&quot; encoding=&quot;utf-8&quot;?&gt;&#10;&lt;questionlist&gt;&#10;    &lt;properties&gt;&#10;        &lt;guid&gt;891D7BBA598340A98056BE6F9A31BF9B&lt;/guid&gt;&#10;        &lt;description /&gt;&#10;        &lt;date&gt;6/29/2017 11:39:22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05BA0C1289534D10BDCA20C9686A1CA6&lt;/guid&gt;&#10;            &lt;repollguid&gt;7D5547DF6F7F498386E9273B1CABC92C&lt;/repollguid&gt;&#10;            &lt;sourceid&gt;57BD258075084EAE93F7F86B164043DD&lt;/sourceid&gt;&#10;            &lt;questiontext&gt;Based on survey data, 52% of students drink caffeine in the morning, 47% of students drink caffeine in the afternoon, and 37% drink caffeine in the morning and the afternoon.  What percent of students do not drink caffeine in the morning or in the afternoon?&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1440C969C094465FA6F26684F927F675&lt;/guid&gt;&#10;                    &lt;answertext&gt;63% &lt;/answertext&gt;&#10;                    &lt;valuetype&gt;0&lt;/valuetype&gt;&#10;                &lt;/answer&gt;&#10;                &lt;answer&gt;&#10;                    &lt;guid&gt;A5B899D84BD74D09A912E1F63336CA5C&lt;/guid&gt;&#10;                    &lt;answertext&gt;38% &lt;/answertext&gt;&#10;                    &lt;valuetype&gt;0&lt;/valuetype&gt;&#10;                &lt;/answer&gt;&#10;                &lt;answer&gt;&#10;                    &lt;guid&gt;49F1CC35BB1249F7AA314FC54F6118CD&lt;/guid&gt;&#10;                    &lt;answertext&gt;0% &lt;/answertext&gt;&#10;                    &lt;valuetype&gt;0&lt;/valuetype&gt;&#10;                &lt;/answer&gt;&#10;                &lt;answer&gt;&#10;                    &lt;guid&gt;C8FC2B3EA9904657B7F5C83CF074BC70&lt;/guid&gt;&#10;                    &lt;answertext&gt;37%&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8.xml><?xml version="1.0" encoding="utf-8"?>
<p:tagLst xmlns:a="http://schemas.openxmlformats.org/drawingml/2006/main" xmlns:r="http://schemas.openxmlformats.org/officeDocument/2006/relationships" xmlns:p="http://schemas.openxmlformats.org/presentationml/2006/main">
  <p:tag name="ANSWERBULLETS" val="9"/>
  <p:tag name="TEXTLENGTH" val="14"/>
  <p:tag name="FONTSIZE" val="28"/>
  <p:tag name="BULLETTYPE" val="ppBulletAlphaLCParenRight"/>
  <p:tag name="ANSWERTEXT" val="63%&#10;38%&#10;0%&#10;37%"/>
  <p:tag name="OLDNUMANSWERS" val="4"/>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 name="SLIDEGUID" val="4797A2961604496B94DE274D9CE98CE9"/>
  <p:tag name="SLIDEID" val="4797A2961604496B94DE274D9CE98CE9"/>
  <p:tag name="SLIDEORDER" val="1"/>
  <p:tag name="SLIDETYPE" val="Q"/>
  <p:tag name="DEMOGRAPHIC" val="False"/>
  <p:tag name="SPEEDSCORING" val="False"/>
  <p:tag name="CORRECTPOINTVALUE" val="100"/>
  <p:tag name="INCORRECTPOINTVALUE" val="0"/>
  <p:tag name="ZEROBASED" val="False"/>
  <p:tag name="VALUEFORMAT" val="0%"/>
  <p:tag name="QUESTIONALIAS" val="What is the probability that an inductee chosen at random has a female member and is a performer?"/>
  <p:tag name="TOTALRESPONSES" val="0"/>
  <p:tag name="ANSWERSALIAS" val="222/273 = 0.813|smicln|41/273 = 0.150|smicln|32/273 = 0.117|smicln|I got a different answer"/>
  <p:tag name="DELIMITERS" val="3.1"/>
  <p:tag name="RESPONSESGATHERED" val="False"/>
  <p:tag name="ANONYMOUSTEMP" val="False"/>
  <p:tag name="VALUES" val="No Value|smicln|No Value|smicln|No Value|smicln|No Value"/>
  <p:tag name="TYPE" val="MultiChoiceSlide"/>
  <p:tag name="TPQUESTIONXML" val="﻿&lt;?xml version=&quot;1.0&quot; encoding=&quot;utf-8&quot;?&gt;&#10;&lt;questionlist&gt;&#10;    &lt;properties&gt;&#10;        &lt;guid&gt;3A9D67E3E22E4692A8D3746F0125AA8A&lt;/guid&gt;&#10;        &lt;description /&gt;&#10;        &lt;date&gt;6/29/2017 11:39:22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B13C4676D4349F99F78668B322403DA&lt;/guid&gt;&#10;            &lt;repollguid&gt;73C486CA76954058A8F91A49A3EEDA41&lt;/repollguid&gt;&#10;            &lt;sourceid&gt;97E1CE9EAB714980AD5C56A57E8EB073&lt;/sourceid&gt;&#10;            &lt;questiontext&gt;What is the probability that an inductee chosen at random has a female member and is a performer?&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3AB5EB7B98634670A58C5BD79A935DCA&lt;/guid&gt;&#10;                    &lt;answertext&gt;222/273 = 0.813 &lt;/answertext&gt;&#10;                    &lt;valuetype&gt;0&lt;/valuetype&gt;&#10;                &lt;/answer&gt;&#10;                &lt;answer&gt;&#10;                    &lt;guid&gt;8B9D50760FBE4012A7A7725D0976C3AB&lt;/guid&gt;&#10;                    &lt;answertext&gt;41/273 = 0.150 &lt;/answertext&gt;&#10;                    &lt;valuetype&gt;0&lt;/valuetype&gt;&#10;                &lt;/answer&gt;&#10;                &lt;answer&gt;&#10;                    &lt;guid&gt;6AAEDE4B0C134956A141E4417A3C9E88&lt;/guid&gt;&#10;                    &lt;answertext&gt;32/273 = 0.117 &lt;/answertext&gt;&#10;                    &lt;valuetype&gt;0&lt;/valuetype&gt;&#10;                &lt;/answer&gt;&#10;                &lt;answer&gt;&#10;                    &lt;guid&gt;1310C0F1A91D45F6AE3F4463D27CCC69&lt;/guid&gt;&#10;                    &lt;answertext&gt;I got a different answ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0.xml><?xml version="1.0" encoding="utf-8"?>
<p:tagLst xmlns:a="http://schemas.openxmlformats.org/drawingml/2006/main" xmlns:r="http://schemas.openxmlformats.org/officeDocument/2006/relationships" xmlns:p="http://schemas.openxmlformats.org/presentationml/2006/main">
  <p:tag name="ANSWERBULLETS" val="9"/>
  <p:tag name="OLDNUMANSWERS" val="4"/>
  <p:tag name="TEXTLENGTH" val="70"/>
  <p:tag name="FONTSIZE" val="28"/>
  <p:tag name="BULLETTYPE" val="ppBulletAlphaLCParenRight"/>
  <p:tag name="ANSWERTEXT" val="222/273 = 0.813&#10;41/273 = 0.150&#10;32/273 = 0.117&#10;I got a different answer"/>
  <p:tag name="ZEROBASED" val="False"/>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 name="SLIDEGUID" val="FF516D6333A048FFABC44F3F73F8836A"/>
  <p:tag name="SLIDEID" val="FF516D6333A048FFABC44F3F73F8836A"/>
  <p:tag name="SLIDEORDER" val="1"/>
  <p:tag name="SLIDETYPE" val="Q"/>
  <p:tag name="DEMOGRAPHIC" val="False"/>
  <p:tag name="SPEEDSCORING" val="False"/>
  <p:tag name="CORRECTPOINTVALUE" val="100"/>
  <p:tag name="INCORRECTPOINTVALUE" val="0"/>
  <p:tag name="ZEROBASED" val="False"/>
  <p:tag name="VALUEFORMAT" val="0%"/>
  <p:tag name="QUESTIONALIAS" val="What is the probability that an inductee chosen at random has a female member if it is a performer?"/>
  <p:tag name="TOTALRESPONSES" val="0"/>
  <p:tag name="ANSWERSALIAS" val="181/273 = 0.663|smicln|32/41 = 0.780|smicln|32/181 = 0.177|smicln|I got a different answer"/>
  <p:tag name="DELIMITERS" val="3.1"/>
  <p:tag name="VALUES" val="No Value|smicln|No Value|smicln|No Value|smicln|No Value"/>
  <p:tag name="RESPONSESGATHERED" val="False"/>
  <p:tag name="ANONYMOUSTEMP" val="False"/>
  <p:tag name="TYPE" val="MultiChoiceSlide"/>
  <p:tag name="TPQUESTIONXML" val="﻿&lt;?xml version=&quot;1.0&quot; encoding=&quot;utf-8&quot;?&gt;&#10;&lt;questionlist&gt;&#10;    &lt;properties&gt;&#10;        &lt;guid&gt;96B6BF23B66A4DBE9F2F0A756D980B37&lt;/guid&gt;&#10;        &lt;description /&gt;&#10;        &lt;date&gt;6/29/2017 11:39:23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6C161E14D9A24254BA88714E4310285C&lt;/guid&gt;&#10;            &lt;repollguid&gt;E1E8821654634BC3BD900B2938494B3B&lt;/repollguid&gt;&#10;            &lt;sourceid&gt;D8C30EB8C5164273AD932A5B9511F290&lt;/sourceid&gt;&#10;            &lt;questiontext&gt;What is the probability that an inductee chosen at random has a female member if it is a performer?&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41553F4EAB0E4F5481F59ED390DC5830&lt;/guid&gt;&#10;                    &lt;answertext&gt;181/273 = 0.663 &lt;/answertext&gt;&#10;                    &lt;valuetype&gt;0&lt;/valuetype&gt;&#10;                &lt;/answer&gt;&#10;                &lt;answer&gt;&#10;                    &lt;guid&gt;4AA096885A334056BF121BE652BF8845&lt;/guid&gt;&#10;                    &lt;answertext&gt;32/41 = 0.780 &lt;/answertext&gt;&#10;                    &lt;valuetype&gt;0&lt;/valuetype&gt;&#10;                &lt;/answer&gt;&#10;                &lt;answer&gt;&#10;                    &lt;guid&gt;5928E0FD567D464F94C7F6CFDAE2C68A&lt;/guid&gt;&#10;                    &lt;answertext&gt;32/181 = 0.177 &lt;/answertext&gt;&#10;                    &lt;valuetype&gt;0&lt;/valuetype&gt;&#10;                &lt;/answer&gt;&#10;                &lt;answer&gt;&#10;                    &lt;guid&gt;1175322A525E417EA146117BC5E1E39C&lt;/guid&gt;&#10;                    &lt;answertext&gt;I got a different answ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3.xml><?xml version="1.0" encoding="utf-8"?>
<p:tagLst xmlns:a="http://schemas.openxmlformats.org/drawingml/2006/main" xmlns:r="http://schemas.openxmlformats.org/officeDocument/2006/relationships" xmlns:p="http://schemas.openxmlformats.org/presentationml/2006/main">
  <p:tag name="ANSWERBULLETS" val="9"/>
  <p:tag name="TEXTLENGTH" val="69"/>
  <p:tag name="FONTSIZE" val="28"/>
  <p:tag name="BULLETTYPE" val="ppBulletAlphaLCParenRight"/>
  <p:tag name="ANSWERTEXT" val="181/273 = 0.663&#10;32/41 = 0.780&#10;32/181 = 0.177&#10;I got a different answer"/>
  <p:tag name="OLDNUMANSWERS" val="4"/>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 name="SLIDEGUID" val="5D16BEE46F1E485396D1470190D690F6"/>
  <p:tag name="SLIDEID" val="5D16BEE46F1E485396D1470190D690F6"/>
  <p:tag name="SLIDEORDER" val="1"/>
  <p:tag name="SLIDETYPE" val="Q"/>
  <p:tag name="DEMOGRAPHIC" val="False"/>
  <p:tag name="SPEEDSCORING" val="False"/>
  <p:tag name="CORRECTPOINTVALUE" val="100"/>
  <p:tag name="INCORRECTPOINTVALUE" val="0"/>
  <p:tag name="ZEROBASED" val="False"/>
  <p:tag name="VALUEFORMAT" val="0%"/>
  <p:tag name="QUESTIONALIAS" val="What is the probability that an inductee chosen at random is a performer if it has female members?"/>
  <p:tag name="TOTALRESPONSES" val="0"/>
  <p:tag name="ANSWERSALIAS" val="181/273 = 0.663|smicln|32/41 = 0.780|smicln|32/181 = 0.177|smicln|I got a different answer"/>
  <p:tag name="DELIMITERS" val="3.1"/>
  <p:tag name="VALUES" val="No Value|smicln|No Value|smicln|No Value|smicln|No Value"/>
  <p:tag name="RESPONSESGATHERED" val="False"/>
  <p:tag name="ANONYMOUSTEMP" val="False"/>
  <p:tag name="TYPE" val="MultiChoiceSlide"/>
  <p:tag name="TPQUESTIONXML" val="﻿&lt;?xml version=&quot;1.0&quot; encoding=&quot;utf-8&quot;?&gt;&#10;&lt;questionlist&gt;&#10;    &lt;properties&gt;&#10;        &lt;guid&gt;ABB14797D90F421AAECC6B2F80AB7A0E&lt;/guid&gt;&#10;        &lt;description /&gt;&#10;        &lt;date&gt;6/29/2017 11:39:23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673D1470E8B94B7685AE0FA5DE5AE9B2&lt;/guid&gt;&#10;            &lt;repollguid&gt;42CBC969BF3A4529971734C7FCF4DBAE&lt;/repollguid&gt;&#10;            &lt;sourceid&gt;D6E6475B182542D59EE9745ADE684F2A&lt;/sourceid&gt;&#10;            &lt;questiontext&gt;What is the probability that an inductee chosen at random is a performer if it has female members?&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A7D5F311B68A4BC18ECCDD64720A2981&lt;/guid&gt;&#10;                    &lt;answertext&gt;181/273 = 0.663 &lt;/answertext&gt;&#10;                    &lt;valuetype&gt;0&lt;/valuetype&gt;&#10;                &lt;/answer&gt;&#10;                &lt;answer&gt;&#10;                    &lt;guid&gt;DB4C6F6451724A629DB189E6352A4423&lt;/guid&gt;&#10;                    &lt;answertext&gt;32/41 = 0.780 &lt;/answertext&gt;&#10;                    &lt;valuetype&gt;0&lt;/valuetype&gt;&#10;                &lt;/answer&gt;&#10;                &lt;answer&gt;&#10;                    &lt;guid&gt;AE5D5D40D4D143AD894EC1E1D0983069&lt;/guid&gt;&#10;                    &lt;answertext&gt;32/181 = 0.177 &lt;/answertext&gt;&#10;                    &lt;valuetype&gt;0&lt;/valuetype&gt;&#10;                &lt;/answer&gt;&#10;                &lt;answer&gt;&#10;                    &lt;guid&gt;D0B6482ABE7646ACBB07E2B0A5614069&lt;/guid&gt;&#10;                    &lt;answertext&gt;I got a different answe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ANSWERBULLETS" val="9"/>
  <p:tag name="TEXTLENGTH" val="69"/>
  <p:tag name="FONTSIZE" val="28"/>
  <p:tag name="BULLETTYPE" val="ppBulletAlphaLCParenRight"/>
  <p:tag name="ANSWERTEXT" val="181/273 = 0.663&#10;32/41 = 0.780&#10;32/181 = 0.177&#10;I got a different answer"/>
  <p:tag name="OLDNUMANSWERS" val="4"/>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 name="SLIDEGUID" val="6E4472F8C3B5401A8300A6C58078F7DE"/>
  <p:tag name="SLIDEID" val="6E4472F8C3B5401A8300A6C58078F7DE"/>
  <p:tag name="SLIDEORDER" val="1"/>
  <p:tag name="SLIDETYPE" val="Q"/>
  <p:tag name="DEMOGRAPHIC" val="False"/>
  <p:tag name="SPEEDSCORING" val="False"/>
  <p:tag name="CORRECTPOINTVALUE" val="100"/>
  <p:tag name="INCORRECTPOINTVALUE" val="0"/>
  <p:tag name="ZEROBASED" val="False"/>
  <p:tag name="VALUEFORMAT" val="0%"/>
  <p:tag name="QUESTIONALIAS" val="Based on survey data, 52% of students drink caffeine in the morning, 47% of students drink caffeine in the afternoon, and 37% drink caffeine in the morning and the afternoon.  What percent of students who drink caffeine in the morning also drink caffeine in the afternoon?"/>
  <p:tag name="TOTALRESPONSES" val="0"/>
  <p:tag name="ANSWERSALIAS" val="77%|smicln|38%|smicln|71%"/>
  <p:tag name="DELIMITERS" val="3.1"/>
  <p:tag name="VALUES" val="No Value|smicln|No Value|smicln|No Value"/>
  <p:tag name="RESPONSESGATHERED" val="False"/>
  <p:tag name="ANONYMOUSTEMP" val="False"/>
  <p:tag name="TYPE" val="MultiChoiceSlide"/>
  <p:tag name="TPQUESTIONXML" val="﻿&lt;?xml version=&quot;1.0&quot; encoding=&quot;utf-8&quot;?&gt;&#10;&lt;questionlist&gt;&#10;    &lt;properties&gt;&#10;        &lt;guid&gt;F8044F5540A64C39B179985AEF6D608D&lt;/guid&gt;&#10;        &lt;description /&gt;&#10;        &lt;date&gt;6/29/2017 11:39:23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9A944391B5F4E7BAA90009B8889B047&lt;/guid&gt;&#10;            &lt;repollguid&gt;1B8B7CECB3BF41CC886195363C032720&lt;/repollguid&gt;&#10;            &lt;sourceid&gt;924744F2AB7147AB940C90273E631701&lt;/sourceid&gt;&#10;            &lt;questiontext&gt;Based on survey data, 52% of students drink caffeine in the morning, 47% of students drink caffeine in the afternoon, and 37% drink caffeine in the morning and the afternoon.  What percent of students who drink caffeine in the morning also drink caffeine in the afternoon?&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A2E054A5AA3A4A508500C2775CF9D844&lt;/guid&gt;&#10;                    &lt;answertext&gt;77% &lt;/answertext&gt;&#10;                    &lt;valuetype&gt;0&lt;/valuetype&gt;&#10;                &lt;/answer&gt;&#10;                &lt;answer&gt;&#10;                    &lt;guid&gt;C26B4453CA95448F9A0E7C97F08572A5&lt;/guid&gt;&#10;                    &lt;answertext&gt;38% &lt;/answertext&gt;&#10;                    &lt;valuetype&gt;0&lt;/valuetype&gt;&#10;                &lt;/answer&gt;&#10;                &lt;answer&gt;&#10;                    &lt;guid&gt;6EB65B4E853D40EC894E35AF57B6CE90&lt;/guid&gt;&#10;                    &lt;answertext&gt;71%&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0.xml><?xml version="1.0" encoding="utf-8"?>
<p:tagLst xmlns:a="http://schemas.openxmlformats.org/drawingml/2006/main" xmlns:r="http://schemas.openxmlformats.org/officeDocument/2006/relationships" xmlns:p="http://schemas.openxmlformats.org/presentationml/2006/main">
  <p:tag name="ANSWERBULLETS" val="9"/>
  <p:tag name="TEXTLENGTH" val="11"/>
  <p:tag name="FONTSIZE" val="28"/>
  <p:tag name="BULLETTYPE" val="ppBulletAlphaLCParenRight"/>
  <p:tag name="ANSWERTEXT" val="77%&#10;38%&#10;71%"/>
  <p:tag name="OLDNUMANSWERS" val="3"/>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Lst>
</file>

<file path=ppt/tags/tag48.xml><?xml version="1.0" encoding="utf-8"?>
<p:tagLst xmlns:a="http://schemas.openxmlformats.org/drawingml/2006/main" xmlns:r="http://schemas.openxmlformats.org/officeDocument/2006/relationships" xmlns:p="http://schemas.openxmlformats.org/presentationml/2006/main">
  <p:tag name="NOPREFERENCE" val="False"/>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Lst>
</file>

<file path=ppt/tags/tag50.xml><?xml version="1.0" encoding="utf-8"?>
<p:tagLst xmlns:a="http://schemas.openxmlformats.org/drawingml/2006/main" xmlns:r="http://schemas.openxmlformats.org/officeDocument/2006/relationships" xmlns:p="http://schemas.openxmlformats.org/presentationml/2006/main">
  <p:tag name="NOPREFERENCE" val="False"/>
  <p:tag name="SLIDEGUID" val="6CD5417A0A1E4E2BA6329AB65A9EA74D"/>
  <p:tag name="SLIDEID" val="6CD5417A0A1E4E2BA6329AB65A9EA74D"/>
  <p:tag name="SLIDEORDER" val="1"/>
  <p:tag name="SLIDETYPE" val="Q"/>
  <p:tag name="DEMOGRAPHIC" val="False"/>
  <p:tag name="SPEEDSCORING" val="False"/>
  <p:tag name="CORRECTPOINTVALUE" val="100"/>
  <p:tag name="INCORRECTPOINTVALUE" val="0"/>
  <p:tag name="ZEROBASED" val="False"/>
  <p:tag name="VALUEFORMAT" val="0%"/>
  <p:tag name="QUESTIONALIAS" val="If A and B are independent, then"/>
  <p:tag name="TOTALRESPONSES" val="0"/>
  <p:tag name="ANSWERSALIAS" val="P(A and B) = P(A) · P(B if A)|smicln|P(A and B) = P(A) ·P(B)|smicln|Neither a) nor b) are correct|smicln|Both a) and b) are correct"/>
  <p:tag name="DELIMITERS" val="3.1"/>
  <p:tag name="VALUES" val="No Value|smicln|No Value|smicln|No Value|smicln|No Value"/>
  <p:tag name="RESPONSESGATHERED" val="False"/>
  <p:tag name="ANONYMOUSTEMP" val="False"/>
  <p:tag name="TYPE" val="MultiChoiceSlide"/>
  <p:tag name="TPQUESTIONXML" val="﻿&lt;?xml version=&quot;1.0&quot; encoding=&quot;utf-8&quot;?&gt;&#10;&lt;questionlist&gt;&#10;    &lt;properties&gt;&#10;        &lt;guid&gt;6569912E1D4D4D9D9789E7FDFEB8FF5E&lt;/guid&gt;&#10;        &lt;description /&gt;&#10;        &lt;date&gt;6/29/2017 11:39:23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9769EC06F9004A0BB7C6B0A3CC7226E4&lt;/guid&gt;&#10;            &lt;repollguid&gt;2D7EBC8C94804FF6936959EC542E2564&lt;/repollguid&gt;&#10;            &lt;sourceid&gt;AD06A92C66DB4C3BB3E5B25F4DFF4BEC&lt;/sourceid&gt;&#10;            &lt;questiontext&gt;If A and B are independent, then&lt;/questiontext&gt;&#10;            &lt;showresults&gt;True&lt;/showresults&gt;&#10;            &lt;responsegrid&gt;0&lt;/responsegrid&gt;&#10;            &lt;countdowntimer&gt;False&lt;/countdowntimer&gt;&#10;            &lt;correctvalue&gt;100&lt;/correctvalue&gt;&#10;            &lt;incorrectvalue&gt;0&lt;/incorrectvalue&gt;&#10;            &lt;responselimit&gt;1&lt;/responselimit&gt;&#10;            &lt;bulletstyle&gt;3&lt;/bulletstyle&gt;&#10;            &lt;answers&gt;&#10;                &lt;answer&gt;&#10;                    &lt;guid&gt;DCEADC610BD245C99F1AE10521D60358&lt;/guid&gt;&#10;                    &lt;answertext&gt;P(A and B) = P(A) · P(B if A) &lt;/answertext&gt;&#10;                    &lt;valuetype&gt;0&lt;/valuetype&gt;&#10;                &lt;/answer&gt;&#10;                &lt;answer&gt;&#10;                    &lt;guid&gt;2F83CCD8DE22436D85FCD0D21DBBAD8B&lt;/guid&gt;&#10;                    &lt;answertext&gt;P(A and B) = P(A) ·P(B) &lt;/answertext&gt;&#10;                    &lt;valuetype&gt;0&lt;/valuetype&gt;&#10;                &lt;/answer&gt;&#10;                &lt;answer&gt;&#10;                    &lt;guid&gt;4458645AE2E64EF1ADA54C25A279B117&lt;/guid&gt;&#10;                    &lt;answertext&gt;Neither a) nor b) are correct &lt;/answertext&gt;&#10;                    &lt;valuetype&gt;0&lt;/valuetype&gt;&#10;                &lt;/answer&gt;&#10;                &lt;answer&gt;&#10;                    &lt;guid&gt;0C742F6D83F645E78A6EC97A54F1B2A3&lt;/guid&gt;&#10;                    &lt;answertext&gt;Both a) and b) are correct&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51.xml><?xml version="1.0" encoding="utf-8"?>
<p:tagLst xmlns:a="http://schemas.openxmlformats.org/drawingml/2006/main" xmlns:r="http://schemas.openxmlformats.org/officeDocument/2006/relationships" xmlns:p="http://schemas.openxmlformats.org/presentationml/2006/main">
  <p:tag name="ANSWERBULLETS" val="9"/>
  <p:tag name="TEXTLENGTH" val="110"/>
  <p:tag name="FONTSIZE" val="28"/>
  <p:tag name="BULLETTYPE" val="ppBulletAlphaLCParenRight"/>
  <p:tag name="ANSWERTEXT" val="P(A and B) = P(A) · P(B if A)&#10;P(A and B) = P(A) ·P(B)&#10;Neither a) nor b) are correct&#10;Both a) and b) are correct"/>
  <p:tag name="OLDNUMANSWERS" val="4"/>
</p:tagLst>
</file>

<file path=ppt/tags/tag52.xml><?xml version="1.0" encoding="utf-8"?>
<p:tagLst xmlns:a="http://schemas.openxmlformats.org/drawingml/2006/main" xmlns:r="http://schemas.openxmlformats.org/officeDocument/2006/relationships" xmlns:p="http://schemas.openxmlformats.org/presentationml/2006/main">
  <p:tag name="NOPREFERENCE" val="False"/>
</p:tagLst>
</file>

<file path=ppt/tags/tag53.xml><?xml version="1.0" encoding="utf-8"?>
<p:tagLst xmlns:a="http://schemas.openxmlformats.org/drawingml/2006/main" xmlns:r="http://schemas.openxmlformats.org/officeDocument/2006/relationships" xmlns:p="http://schemas.openxmlformats.org/presentationml/2006/main">
  <p:tag name="NOPREFERENCE" val="False"/>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6877</TotalTime>
  <Words>1599</Words>
  <Application>Microsoft Office PowerPoint</Application>
  <PresentationFormat>On-screen Show (4:3)</PresentationFormat>
  <Paragraphs>328</Paragraphs>
  <Slides>42</Slides>
  <Notes>2</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45" baseType="lpstr">
      <vt:lpstr>Median</vt:lpstr>
      <vt:lpstr>Equation</vt:lpstr>
      <vt:lpstr>MathType 6.0 Equation</vt:lpstr>
      <vt:lpstr>PowerPoint Presentation</vt:lpstr>
      <vt:lpstr>Events</vt:lpstr>
      <vt:lpstr>PowerPoint Presentation</vt:lpstr>
      <vt:lpstr>Equally Likely Outcomes</vt:lpstr>
      <vt:lpstr>PowerPoint Presentation</vt:lpstr>
      <vt:lpstr>What is the probability that an inductee chosen at random is a performer?</vt:lpstr>
      <vt:lpstr>What is the probability that an inductee chosen at random has a female member or is a performer?</vt:lpstr>
      <vt:lpstr>PowerPoint Presentation</vt:lpstr>
      <vt:lpstr>PowerPoint Presentation</vt:lpstr>
      <vt:lpstr>PowerPoint Presentation</vt:lpstr>
      <vt:lpstr>PowerPoint Presentation</vt:lpstr>
      <vt:lpstr>PowerPoint Presentation</vt:lpstr>
      <vt:lpstr>PowerPoint Presentation</vt:lpstr>
      <vt:lpstr>When drawing a single card from a standard 52 card deck, what is the probability that the card is a heart or a spade? </vt:lpstr>
      <vt:lpstr>When drawing a single card from a standard 52 card deck, what is the probability that the card is a heart or a queen? </vt:lpstr>
      <vt:lpstr>If A and B are disjoint, then</vt:lpstr>
      <vt:lpstr>PowerPoint Presentation</vt:lpstr>
      <vt:lpstr>PowerPoint Presentation</vt:lpstr>
      <vt:lpstr>PowerPoint Presentation</vt:lpstr>
      <vt:lpstr>PowerPoint Presentation</vt:lpstr>
      <vt:lpstr>Based on survey data, 52% of students drink caffeine in the morning, 47% of students drink caffeine in the afternoon, and 37% drink caffeine in the morning and the afternoon.  What percent of students do not drink caffeine in the morning or in the afternoon?</vt:lpstr>
      <vt:lpstr>What is the probability that an inductee chosen at random has a female member and is a performer?</vt:lpstr>
      <vt:lpstr>PowerPoint Presentation</vt:lpstr>
      <vt:lpstr>What is the probability that an inductee chosen at random has a female member if it is a performer?</vt:lpstr>
      <vt:lpstr>What is the probability that an inductee chosen at random is a performer if it has female members?</vt:lpstr>
      <vt:lpstr>PowerPoint Presentation</vt:lpstr>
      <vt:lpstr>PowerPoint Presentation</vt:lpstr>
      <vt:lpstr>PowerPoint Presentation</vt:lpstr>
      <vt:lpstr>PowerPoint Presentation</vt:lpstr>
      <vt:lpstr>Based on survey data, 52% of students drink caffeine in the morning, 47% of students drink caffeine in the afternoon, and 37% drink caffeine in the morning and the afternoon.  What percent of students who drink caffeine in the morning also drink caffeine in the afternoon?</vt:lpstr>
      <vt:lpstr>PowerPoint Presentation</vt:lpstr>
      <vt:lpstr>PowerPoint Presentation</vt:lpstr>
      <vt:lpstr>Drawing Cards</vt:lpstr>
      <vt:lpstr>Drawing Cards</vt:lpstr>
      <vt:lpstr>Drawing Cards</vt:lpstr>
      <vt:lpstr>PowerPoint Presentation</vt:lpstr>
      <vt:lpstr>PowerPoint Presentation</vt:lpstr>
      <vt:lpstr>PowerPoint Presentation</vt:lpstr>
      <vt:lpstr>More Drawing Cards</vt:lpstr>
      <vt:lpstr>If A and B are independent, then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Kathryn Dobeck</cp:lastModifiedBy>
  <cp:revision>113</cp:revision>
  <dcterms:created xsi:type="dcterms:W3CDTF">2013-01-03T23:38:08Z</dcterms:created>
  <dcterms:modified xsi:type="dcterms:W3CDTF">2017-07-02T20:43:50Z</dcterms:modified>
</cp:coreProperties>
</file>