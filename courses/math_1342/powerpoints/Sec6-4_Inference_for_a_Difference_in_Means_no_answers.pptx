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24" r:id="rId2"/>
    <p:sldId id="285" r:id="rId3"/>
    <p:sldId id="311" r:id="rId4"/>
    <p:sldId id="312" r:id="rId5"/>
    <p:sldId id="325" r:id="rId6"/>
    <p:sldId id="326" r:id="rId7"/>
    <p:sldId id="334" r:id="rId8"/>
    <p:sldId id="332" r:id="rId9"/>
    <p:sldId id="333" r:id="rId10"/>
    <p:sldId id="329" r:id="rId11"/>
    <p:sldId id="330" r:id="rId12"/>
    <p:sldId id="288" r:id="rId13"/>
    <p:sldId id="289" r:id="rId14"/>
    <p:sldId id="290" r:id="rId15"/>
    <p:sldId id="304" r:id="rId16"/>
  </p:sldIdLst>
  <p:sldSz cx="9144000" cy="6858000" type="screen4x3"/>
  <p:notesSz cx="9144000" cy="6858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392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1668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6684544"/>
        <c:axId val="186686080"/>
        <c:axId val="148309760"/>
      </c:bar3DChart>
      <c:catAx>
        <c:axId val="186684544"/>
        <c:scaling>
          <c:orientation val="minMax"/>
        </c:scaling>
        <c:delete val="0"/>
        <c:axPos val="b"/>
        <c:majorTickMark val="out"/>
        <c:minorTickMark val="none"/>
        <c:tickLblPos val="nextTo"/>
        <c:crossAx val="186686080"/>
        <c:crosses val="autoZero"/>
        <c:auto val="1"/>
        <c:lblAlgn val="ctr"/>
        <c:lblOffset val="100"/>
        <c:noMultiLvlLbl val="0"/>
      </c:catAx>
      <c:valAx>
        <c:axId val="1866860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6684544"/>
        <c:crosses val="autoZero"/>
        <c:crossBetween val="between"/>
      </c:valAx>
      <c:serAx>
        <c:axId val="148309760"/>
        <c:scaling>
          <c:orientation val="minMax"/>
        </c:scaling>
        <c:delete val="0"/>
        <c:axPos val="b"/>
        <c:majorTickMark val="out"/>
        <c:minorTickMark val="none"/>
        <c:tickLblPos val="nextTo"/>
        <c:crossAx val="186686080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CBE5A-2243-4056-912B-D9BB6B5A9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56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591C6-0106-474F-B03F-910FAAE04774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9EB2C-2DDE-4E6B-B56E-02857871D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4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9EB2C-2DDE-4E6B-B56E-02857871D3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81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9EB2C-2DDE-4E6B-B56E-02857871D3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81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52641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4201039913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8877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D42205D-F84C-4948-93E6-33F20884206B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5.wmf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7.wmf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hyperlink" Target="http://www.lock5stat.com/StatKey/index.html" TargetMode="Externa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tags" Target="../tags/tag13.xml"/><Relationship Id="rId7" Type="http://schemas.openxmlformats.org/officeDocument/2006/relationships/oleObject" Target="../embeddings/oleObject6.bin"/><Relationship Id="rId2" Type="http://schemas.openxmlformats.org/officeDocument/2006/relationships/tags" Target="../tags/tag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oleObject" Target="../embeddings/oleObject12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wmf"/><Relationship Id="rId12" Type="http://schemas.openxmlformats.org/officeDocument/2006/relationships/image" Target="../media/image10.png"/><Relationship Id="rId2" Type="http://schemas.openxmlformats.org/officeDocument/2006/relationships/tags" Target="../tags/tag1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png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7.wmf"/><Relationship Id="rId14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wmf"/><Relationship Id="rId2" Type="http://schemas.openxmlformats.org/officeDocument/2006/relationships/tags" Target="../tags/tag1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</a:t>
            </a:r>
            <a:r>
              <a:rPr lang="en-US" sz="3200" dirty="0" smtClean="0">
                <a:solidFill>
                  <a:srgbClr val="EBDDC3"/>
                </a:solidFill>
              </a:rPr>
              <a:t>6.4:</a:t>
            </a:r>
            <a:endParaRPr lang="en-US" sz="3200" dirty="0">
              <a:solidFill>
                <a:srgbClr val="EBDDC3"/>
              </a:solidFill>
            </a:endParaRPr>
          </a:p>
          <a:p>
            <a:pPr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rgbClr val="EBDDC3"/>
                </a:solidFill>
              </a:rPr>
              <a:t>Inference for a Difference in Means</a:t>
            </a:r>
            <a:endParaRPr lang="en-US" sz="4000" b="1" dirty="0">
              <a:solidFill>
                <a:srgbClr val="EBDDC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28651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054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14400" y="381000"/>
            <a:ext cx="7391400" cy="7620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SE for </a:t>
            </a:r>
            <a:r>
              <a:rPr lang="en-US" sz="4400" b="1" dirty="0" smtClean="0">
                <a:solidFill>
                  <a:schemeClr val="accent5">
                    <a:lumMod val="75000"/>
                  </a:schemeClr>
                </a:solidFill>
              </a:rPr>
              <a:t>Difference</a:t>
            </a:r>
            <a:r>
              <a:rPr lang="en-US" sz="4400" b="1" dirty="0" smtClean="0">
                <a:solidFill>
                  <a:schemeClr val="tx2"/>
                </a:solidFill>
              </a:rPr>
              <a:t> in Means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64197" name="Object 5"/>
          <p:cNvGraphicFramePr>
            <a:graphicFrameLocks noChangeAspect="1"/>
          </p:cNvGraphicFramePr>
          <p:nvPr/>
        </p:nvGraphicFramePr>
        <p:xfrm>
          <a:off x="2590800" y="1981200"/>
          <a:ext cx="3646487" cy="1775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8" name="Equation" r:id="rId4" imgW="1015920" imgH="495000" progId="Equation.DSMT4">
                  <p:embed/>
                </p:oleObj>
              </mc:Choice>
              <mc:Fallback>
                <p:oleObj name="Equation" r:id="rId4" imgW="101592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981200"/>
                        <a:ext cx="3646487" cy="177541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95400" y="4306669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rgbClr val="0040C0"/>
                </a:solidFill>
              </a:rPr>
              <a:t>df</a:t>
            </a:r>
            <a:r>
              <a:rPr lang="en-US" sz="3600" b="1" dirty="0" smtClean="0">
                <a:solidFill>
                  <a:srgbClr val="0040C0"/>
                </a:solidFill>
              </a:rPr>
              <a:t> = smaller of </a:t>
            </a:r>
            <a:r>
              <a:rPr lang="en-US" sz="3600" b="1" i="1" dirty="0" smtClean="0">
                <a:solidFill>
                  <a:srgbClr val="0040C0"/>
                </a:solidFill>
              </a:rPr>
              <a:t>n</a:t>
            </a:r>
            <a:r>
              <a:rPr lang="en-US" sz="3600" b="1" i="1" baseline="-25000" dirty="0" smtClean="0">
                <a:solidFill>
                  <a:srgbClr val="0040C0"/>
                </a:solidFill>
              </a:rPr>
              <a:t>1</a:t>
            </a:r>
            <a:r>
              <a:rPr lang="en-US" sz="3600" b="1" dirty="0" smtClean="0">
                <a:solidFill>
                  <a:srgbClr val="0040C0"/>
                </a:solidFill>
              </a:rPr>
              <a:t> – 1 and </a:t>
            </a:r>
            <a:r>
              <a:rPr lang="en-US" sz="3600" b="1" i="1" dirty="0" smtClean="0">
                <a:solidFill>
                  <a:srgbClr val="0040C0"/>
                </a:solidFill>
              </a:rPr>
              <a:t>n</a:t>
            </a:r>
            <a:r>
              <a:rPr lang="en-US" sz="3600" b="1" baseline="-25000" dirty="0" smtClean="0">
                <a:solidFill>
                  <a:srgbClr val="0040C0"/>
                </a:solidFill>
              </a:rPr>
              <a:t>2</a:t>
            </a:r>
            <a:r>
              <a:rPr lang="en-US" sz="3600" b="1" dirty="0" smtClean="0">
                <a:solidFill>
                  <a:srgbClr val="0040C0"/>
                </a:solidFill>
              </a:rPr>
              <a:t> – 1  </a:t>
            </a:r>
            <a:endParaRPr lang="en-US" sz="3600" b="1" dirty="0">
              <a:solidFill>
                <a:srgbClr val="0040C0"/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168685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2289" y="3257862"/>
            <a:ext cx="8610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 We don’t know the population standard deviations </a:t>
            </a: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</a:t>
            </a:r>
            <a:r>
              <a:rPr lang="en-US" sz="3200" i="1" baseline="-25000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or </a:t>
            </a:r>
            <a:r>
              <a:rPr lang="en-US" sz="3200" i="1" baseline="-250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2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, so we estimate them with the sample standard deviations, </a:t>
            </a: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s</a:t>
            </a:r>
            <a:r>
              <a:rPr lang="en-US" sz="3200" i="1" baseline="-250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1</a:t>
            </a: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and s</a:t>
            </a:r>
            <a:r>
              <a:rPr lang="en-US" sz="3200" i="1" baseline="-250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2</a:t>
            </a: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95300" y="3048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SE for 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Difference</a:t>
            </a:r>
            <a:r>
              <a:rPr lang="en-US" sz="4400" b="1" dirty="0">
                <a:solidFill>
                  <a:schemeClr val="tx2"/>
                </a:solidFill>
              </a:rPr>
              <a:t> in Means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604810"/>
              </p:ext>
            </p:extLst>
          </p:nvPr>
        </p:nvGraphicFramePr>
        <p:xfrm>
          <a:off x="2590800" y="1555230"/>
          <a:ext cx="3352800" cy="1631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2" name="Equation" r:id="rId4" imgW="1015559" imgH="495085" progId="Equation.DSMT4">
                  <p:embed/>
                </p:oleObj>
              </mc:Choice>
              <mc:Fallback>
                <p:oleObj name="Equation" r:id="rId4" imgW="1015559" imgH="4950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555230"/>
                        <a:ext cx="3352800" cy="163188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004102"/>
              </p:ext>
            </p:extLst>
          </p:nvPr>
        </p:nvGraphicFramePr>
        <p:xfrm>
          <a:off x="2771775" y="5030788"/>
          <a:ext cx="3143250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Equation" r:id="rId6" imgW="952200" imgH="495000" progId="Equation.DSMT4">
                  <p:embed/>
                </p:oleObj>
              </mc:Choice>
              <mc:Fallback>
                <p:oleObj name="Equation" r:id="rId6" imgW="952200" imgH="495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030788"/>
                        <a:ext cx="3143250" cy="16319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9507813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0" y="76200"/>
            <a:ext cx="91440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000" b="1" dirty="0" smtClean="0">
                <a:solidFill>
                  <a:schemeClr val="tx2"/>
                </a:solidFill>
              </a:rPr>
              <a:t>Confidence Interval: Difference in Means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27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562376"/>
              </p:ext>
            </p:extLst>
          </p:nvPr>
        </p:nvGraphicFramePr>
        <p:xfrm>
          <a:off x="1752600" y="2286000"/>
          <a:ext cx="6019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name="Equation" r:id="rId4" imgW="1638000" imgH="495000" progId="Equation.DSMT4">
                  <p:embed/>
                </p:oleObj>
              </mc:Choice>
              <mc:Fallback>
                <p:oleObj name="Equation" r:id="rId4" imgW="16380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286000"/>
                        <a:ext cx="6019800" cy="1828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4419600"/>
            <a:ext cx="9144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For a difference in means, the degrees of freedom for the </a:t>
            </a:r>
            <a:r>
              <a:rPr lang="en-US" sz="3200" i="1" dirty="0">
                <a:solidFill>
                  <a:prstClr val="black"/>
                </a:solidFill>
                <a:cs typeface="Times New Roman" pitchFamily="18" charset="0"/>
              </a:rPr>
              <a:t>t</a:t>
            </a: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-distribution is the smaller of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3200" b="1" i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n</a:t>
            </a:r>
            <a:r>
              <a:rPr lang="en-US" sz="3200" b="1" baseline="-250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1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– 1 and </a:t>
            </a:r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n</a:t>
            </a:r>
            <a:r>
              <a:rPr lang="en-US" sz="3600" b="1" baseline="-250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2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– 1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434279"/>
              </p:ext>
            </p:extLst>
          </p:nvPr>
        </p:nvGraphicFramePr>
        <p:xfrm>
          <a:off x="76200" y="1600200"/>
          <a:ext cx="3860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2" name="Equation" r:id="rId6" imgW="1447800" imgH="228600" progId="Equation.DSMT4">
                  <p:embed/>
                </p:oleObj>
              </mc:Choice>
              <mc:Fallback>
                <p:oleObj name="Equation" r:id="rId6" imgW="14478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600200"/>
                        <a:ext cx="3860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5932676"/>
            <a:ext cx="9144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600" dirty="0" smtClean="0">
                <a:solidFill>
                  <a:prstClr val="black"/>
                </a:solidFill>
                <a:cs typeface="Times New Roman" pitchFamily="18" charset="0"/>
              </a:rPr>
              <a:t>*Smaller sample sizes may be sufficient for symmetric distributions, and 30 may not be sufficient for skewed distributions </a:t>
            </a:r>
            <a:endParaRPr lang="en-US" sz="26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031514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Video Games and GPA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</a:pP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210 first-year college students were </a:t>
            </a:r>
            <a:r>
              <a:rPr lang="en-US" sz="2800" i="1" dirty="0">
                <a:solidFill>
                  <a:prstClr val="black"/>
                </a:solidFill>
                <a:cs typeface="Times New Roman" pitchFamily="18" charset="0"/>
              </a:rPr>
              <a:t>randomly assigned </a:t>
            </a: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roommates</a:t>
            </a:r>
          </a:p>
          <a:p>
            <a:pPr marL="0">
              <a:spcBef>
                <a:spcPts val="0"/>
              </a:spcBef>
            </a:pP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For the 78 students assigned to roommates who brought a videogame </a:t>
            </a: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system to </a:t>
            </a: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college: average GPA after the first semester was 2.84, with a </a:t>
            </a:r>
            <a:r>
              <a:rPr lang="en-US" sz="2800" dirty="0" err="1">
                <a:solidFill>
                  <a:prstClr val="black"/>
                </a:solidFill>
                <a:cs typeface="Times New Roman" pitchFamily="18" charset="0"/>
              </a:rPr>
              <a:t>sd</a:t>
            </a: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 of 0.669.</a:t>
            </a:r>
          </a:p>
          <a:p>
            <a:pPr marL="0">
              <a:spcBef>
                <a:spcPts val="0"/>
              </a:spcBef>
            </a:pP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For the 132 students assigned to roommates who did not bring a videogame </a:t>
            </a: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system to </a:t>
            </a: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college, average GPA after the first semester was 3.105, with a </a:t>
            </a:r>
            <a:r>
              <a:rPr lang="en-US" sz="2800" dirty="0" err="1">
                <a:solidFill>
                  <a:prstClr val="black"/>
                </a:solidFill>
                <a:cs typeface="Times New Roman" pitchFamily="18" charset="0"/>
              </a:rPr>
              <a:t>sd</a:t>
            </a: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 of 0.625.</a:t>
            </a:r>
          </a:p>
          <a:p>
            <a:pPr marL="0">
              <a:spcBef>
                <a:spcPts val="0"/>
              </a:spcBef>
            </a:pPr>
            <a:endParaRPr lang="en-US" sz="3000" dirty="0">
              <a:solidFill>
                <a:prstClr val="black"/>
              </a:solidFill>
              <a:cs typeface="Times New Roman" pitchFamily="18" charset="0"/>
            </a:endParaRPr>
          </a:p>
          <a:p>
            <a:pPr marL="0">
              <a:spcBef>
                <a:spcPts val="0"/>
              </a:spcBef>
            </a:pPr>
            <a:endParaRPr lang="en-US" sz="3000" dirty="0"/>
          </a:p>
        </p:txBody>
      </p:sp>
      <p:pic>
        <p:nvPicPr>
          <p:cNvPr id="1026" name="Picture 2" descr="http://www.yellowbrickroad.com/follow/wp-content/uploads/2011/05/video-games-college-studen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844186"/>
            <a:ext cx="2079066" cy="148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28600" y="5042118"/>
            <a:ext cx="6386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solidFill>
                  <a:schemeClr val="tx2"/>
                </a:solidFill>
                <a:cs typeface="Times New Roman" pitchFamily="18" charset="0"/>
              </a:rPr>
              <a:t>How much does getting assigned a  roommate who brings a videogame </a:t>
            </a:r>
            <a:r>
              <a:rPr lang="en-US" sz="2700" b="1" dirty="0" smtClean="0">
                <a:solidFill>
                  <a:schemeClr val="tx2"/>
                </a:solidFill>
                <a:cs typeface="Times New Roman" pitchFamily="18" charset="0"/>
              </a:rPr>
              <a:t>system to </a:t>
            </a:r>
            <a:r>
              <a:rPr lang="en-US" sz="2700" b="1" dirty="0">
                <a:solidFill>
                  <a:schemeClr val="tx2"/>
                </a:solidFill>
                <a:cs typeface="Times New Roman" pitchFamily="18" charset="0"/>
              </a:rPr>
              <a:t>college affect your first semester GPA?    Give a 90% confidence interval</a:t>
            </a:r>
            <a:r>
              <a:rPr lang="en-US" sz="2700" b="1" dirty="0" smtClean="0">
                <a:solidFill>
                  <a:schemeClr val="tx2"/>
                </a:solidFill>
                <a:cs typeface="Times New Roman" pitchFamily="18" charset="0"/>
              </a:rPr>
              <a:t>.</a:t>
            </a:r>
            <a:endParaRPr lang="en-US" sz="2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52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2895600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en-US" sz="3000" b="1" dirty="0">
                <a:cs typeface="Times New Roman" pitchFamily="18" charset="0"/>
              </a:rPr>
              <a:t>78 students whose roommates brought a videogame </a:t>
            </a:r>
            <a:r>
              <a:rPr lang="en-US" sz="3000" b="1" dirty="0" smtClean="0">
                <a:cs typeface="Times New Roman" pitchFamily="18" charset="0"/>
              </a:rPr>
              <a:t>system to </a:t>
            </a:r>
            <a:r>
              <a:rPr lang="en-US" sz="3000" b="1" dirty="0">
                <a:cs typeface="Times New Roman" pitchFamily="18" charset="0"/>
              </a:rPr>
              <a:t>college: average GPA was 2.84, with a </a:t>
            </a:r>
            <a:r>
              <a:rPr lang="en-US" sz="3000" b="1" dirty="0" err="1">
                <a:cs typeface="Times New Roman" pitchFamily="18" charset="0"/>
              </a:rPr>
              <a:t>sd</a:t>
            </a:r>
            <a:r>
              <a:rPr lang="en-US" sz="3000" b="1" dirty="0">
                <a:cs typeface="Times New Roman" pitchFamily="18" charset="0"/>
              </a:rPr>
              <a:t> of 0.669. </a:t>
            </a:r>
            <a:r>
              <a:rPr lang="en-US" sz="3000" b="1" dirty="0" smtClean="0">
                <a:cs typeface="Times New Roman" pitchFamily="18" charset="0"/>
              </a:rPr>
              <a:t>132 </a:t>
            </a:r>
            <a:r>
              <a:rPr lang="en-US" sz="3000" b="1" dirty="0">
                <a:cs typeface="Times New Roman" pitchFamily="18" charset="0"/>
              </a:rPr>
              <a:t>students whose roommates did not bring a videogame </a:t>
            </a:r>
            <a:r>
              <a:rPr lang="en-US" sz="3000" b="1" dirty="0" smtClean="0">
                <a:cs typeface="Times New Roman" pitchFamily="18" charset="0"/>
              </a:rPr>
              <a:t>system to </a:t>
            </a:r>
            <a:r>
              <a:rPr lang="en-US" sz="3000" b="1" dirty="0">
                <a:cs typeface="Times New Roman" pitchFamily="18" charset="0"/>
              </a:rPr>
              <a:t>college: average GPA was 3.105, with a </a:t>
            </a:r>
            <a:r>
              <a:rPr lang="en-US" sz="3000" b="1" dirty="0" err="1">
                <a:cs typeface="Times New Roman" pitchFamily="18" charset="0"/>
              </a:rPr>
              <a:t>sd</a:t>
            </a:r>
            <a:r>
              <a:rPr lang="en-US" sz="3000" b="1" dirty="0">
                <a:cs typeface="Times New Roman" pitchFamily="18" charset="0"/>
              </a:rPr>
              <a:t> of </a:t>
            </a:r>
            <a:r>
              <a:rPr lang="en-US" sz="3000" b="1" dirty="0" smtClean="0">
                <a:cs typeface="Times New Roman" pitchFamily="18" charset="0"/>
              </a:rPr>
              <a:t>0.625. For </a:t>
            </a:r>
            <a:r>
              <a:rPr lang="en-US" sz="3000" b="1" dirty="0">
                <a:cs typeface="Times New Roman" pitchFamily="18" charset="0"/>
              </a:rPr>
              <a:t>a 90% confidence interval, what </a:t>
            </a:r>
            <a:r>
              <a:rPr lang="en-US" sz="3000" b="1" dirty="0" smtClean="0">
                <a:cs typeface="Times New Roman" pitchFamily="18" charset="0"/>
              </a:rPr>
              <a:t>are the degrees of freedom for t*? </a:t>
            </a:r>
            <a:endParaRPr lang="en-US" sz="2400" b="1" dirty="0">
              <a:cs typeface="Times New Roman" pitchFamily="18" charset="0"/>
            </a:endParaRP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925039"/>
            <a:ext cx="2971800" cy="2922588"/>
          </a:xfrm>
        </p:spPr>
        <p:txBody>
          <a:bodyPr/>
          <a:lstStyle/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77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78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131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132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209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1026" name="Picture 2" descr="http://www.yellowbrickroad.com/follow/wp-content/uploads/2011/05/video-games-college-studen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105400"/>
            <a:ext cx="2079066" cy="148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195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2895600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en-US" sz="3000" b="1" dirty="0">
                <a:cs typeface="Times New Roman" pitchFamily="18" charset="0"/>
              </a:rPr>
              <a:t>78 students whose roommates brought a videogame </a:t>
            </a:r>
            <a:r>
              <a:rPr lang="en-US" sz="3000" b="1" dirty="0" smtClean="0">
                <a:cs typeface="Times New Roman" pitchFamily="18" charset="0"/>
              </a:rPr>
              <a:t>system to </a:t>
            </a:r>
            <a:r>
              <a:rPr lang="en-US" sz="3000" b="1" dirty="0">
                <a:cs typeface="Times New Roman" pitchFamily="18" charset="0"/>
              </a:rPr>
              <a:t>college: average GPA was 2.84, with a </a:t>
            </a:r>
            <a:r>
              <a:rPr lang="en-US" sz="3000" b="1" dirty="0" err="1">
                <a:cs typeface="Times New Roman" pitchFamily="18" charset="0"/>
              </a:rPr>
              <a:t>sd</a:t>
            </a:r>
            <a:r>
              <a:rPr lang="en-US" sz="3000" b="1" dirty="0">
                <a:cs typeface="Times New Roman" pitchFamily="18" charset="0"/>
              </a:rPr>
              <a:t> of 0.669. </a:t>
            </a:r>
            <a:r>
              <a:rPr lang="en-US" sz="3000" b="1" dirty="0" smtClean="0">
                <a:cs typeface="Times New Roman" pitchFamily="18" charset="0"/>
              </a:rPr>
              <a:t>132 </a:t>
            </a:r>
            <a:r>
              <a:rPr lang="en-US" sz="3000" b="1" dirty="0">
                <a:cs typeface="Times New Roman" pitchFamily="18" charset="0"/>
              </a:rPr>
              <a:t>students whose roommates did not bring a videogame </a:t>
            </a:r>
            <a:r>
              <a:rPr lang="en-US" sz="3000" b="1" dirty="0" smtClean="0">
                <a:cs typeface="Times New Roman" pitchFamily="18" charset="0"/>
              </a:rPr>
              <a:t>system to </a:t>
            </a:r>
            <a:r>
              <a:rPr lang="en-US" sz="3000" b="1" dirty="0">
                <a:cs typeface="Times New Roman" pitchFamily="18" charset="0"/>
              </a:rPr>
              <a:t>college: average GPA was 3.105, with a </a:t>
            </a:r>
            <a:r>
              <a:rPr lang="en-US" sz="3000" b="1" dirty="0" err="1">
                <a:cs typeface="Times New Roman" pitchFamily="18" charset="0"/>
              </a:rPr>
              <a:t>sd</a:t>
            </a:r>
            <a:r>
              <a:rPr lang="en-US" sz="3000" b="1" dirty="0">
                <a:cs typeface="Times New Roman" pitchFamily="18" charset="0"/>
              </a:rPr>
              <a:t> of </a:t>
            </a:r>
            <a:r>
              <a:rPr lang="en-US" sz="3000" b="1" dirty="0" smtClean="0">
                <a:cs typeface="Times New Roman" pitchFamily="18" charset="0"/>
              </a:rPr>
              <a:t>0.625. For </a:t>
            </a:r>
            <a:r>
              <a:rPr lang="en-US" sz="3000" b="1" dirty="0">
                <a:cs typeface="Times New Roman" pitchFamily="18" charset="0"/>
              </a:rPr>
              <a:t>a 90% confidence interval, what is t</a:t>
            </a:r>
            <a:r>
              <a:rPr lang="en-US" sz="3000" b="1" dirty="0" smtClean="0">
                <a:cs typeface="Times New Roman" pitchFamily="18" charset="0"/>
              </a:rPr>
              <a:t>*? </a:t>
            </a:r>
            <a:endParaRPr lang="en-US" sz="2400" b="1" dirty="0">
              <a:cs typeface="Times New Roman" pitchFamily="18" charset="0"/>
            </a:endParaRP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925039"/>
            <a:ext cx="2971800" cy="2922588"/>
          </a:xfrm>
        </p:spPr>
        <p:txBody>
          <a:bodyPr/>
          <a:lstStyle/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1.645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1.960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2.576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1.665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1.678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1026" name="Picture 2" descr="http://www.yellowbrickroad.com/follow/wp-content/uploads/2011/05/video-games-college-studen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105400"/>
            <a:ext cx="2079066" cy="148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33947" y="2286000"/>
            <a:ext cx="16092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 smtClean="0">
                <a:hlinkClick r:id="rId5"/>
              </a:rPr>
              <a:t>StatKey</a:t>
            </a:r>
            <a:endParaRPr lang="en-US" sz="3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519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2895600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>
                <a:cs typeface="Times New Roman" pitchFamily="18" charset="0"/>
              </a:rPr>
              <a:t>78 students whose roommates brought a videogame </a:t>
            </a:r>
            <a:r>
              <a:rPr lang="en-US" sz="2800" b="1" dirty="0" smtClean="0">
                <a:cs typeface="Times New Roman" pitchFamily="18" charset="0"/>
              </a:rPr>
              <a:t>system to </a:t>
            </a:r>
            <a:r>
              <a:rPr lang="en-US" sz="2800" b="1" dirty="0">
                <a:cs typeface="Times New Roman" pitchFamily="18" charset="0"/>
              </a:rPr>
              <a:t>college: average GPA was 2.84, with a </a:t>
            </a:r>
            <a:r>
              <a:rPr lang="en-US" sz="2800" b="1" dirty="0" err="1">
                <a:cs typeface="Times New Roman" pitchFamily="18" charset="0"/>
              </a:rPr>
              <a:t>sd</a:t>
            </a:r>
            <a:r>
              <a:rPr lang="en-US" sz="2800" b="1" dirty="0">
                <a:cs typeface="Times New Roman" pitchFamily="18" charset="0"/>
              </a:rPr>
              <a:t> of 0.669. </a:t>
            </a:r>
            <a:r>
              <a:rPr lang="en-US" sz="2800" b="1" dirty="0" smtClean="0">
                <a:cs typeface="Times New Roman" pitchFamily="18" charset="0"/>
              </a:rPr>
              <a:t>132 </a:t>
            </a:r>
            <a:r>
              <a:rPr lang="en-US" sz="2800" b="1" dirty="0">
                <a:cs typeface="Times New Roman" pitchFamily="18" charset="0"/>
              </a:rPr>
              <a:t>students whose roommates did not bring a videogame </a:t>
            </a:r>
            <a:r>
              <a:rPr lang="en-US" sz="2800" b="1" dirty="0" smtClean="0">
                <a:cs typeface="Times New Roman" pitchFamily="18" charset="0"/>
              </a:rPr>
              <a:t>system to </a:t>
            </a:r>
            <a:r>
              <a:rPr lang="en-US" sz="2800" b="1" dirty="0">
                <a:cs typeface="Times New Roman" pitchFamily="18" charset="0"/>
              </a:rPr>
              <a:t>college: average GPA was 3.105, with a </a:t>
            </a:r>
            <a:r>
              <a:rPr lang="en-US" sz="2800" b="1" dirty="0" err="1">
                <a:cs typeface="Times New Roman" pitchFamily="18" charset="0"/>
              </a:rPr>
              <a:t>sd</a:t>
            </a:r>
            <a:r>
              <a:rPr lang="en-US" sz="2800" b="1" dirty="0">
                <a:cs typeface="Times New Roman" pitchFamily="18" charset="0"/>
              </a:rPr>
              <a:t> of </a:t>
            </a:r>
            <a:r>
              <a:rPr lang="en-US" sz="2800" b="1" dirty="0" smtClean="0">
                <a:cs typeface="Times New Roman" pitchFamily="18" charset="0"/>
              </a:rPr>
              <a:t>0.625. For </a:t>
            </a:r>
            <a:r>
              <a:rPr lang="en-US" sz="2800" b="1" dirty="0">
                <a:cs typeface="Times New Roman" pitchFamily="18" charset="0"/>
              </a:rPr>
              <a:t>a 90% CI, what is the relevant sample statistic</a:t>
            </a:r>
            <a:r>
              <a:rPr lang="en-US" sz="2800" b="1" dirty="0" smtClean="0">
                <a:cs typeface="Times New Roman" pitchFamily="18" charset="0"/>
              </a:rPr>
              <a:t>? </a:t>
            </a:r>
            <a:r>
              <a:rPr lang="en-US" sz="2400" b="1" dirty="0">
                <a:cs typeface="Times New Roman" pitchFamily="18" charset="0"/>
              </a:rPr>
              <a:t>(Group 1 = Videogame System, Group 2 = No Video Games) 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819400"/>
            <a:ext cx="2971800" cy="2566562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2.84</a:t>
            </a: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3.105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-</a:t>
            </a: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0.265</a:t>
            </a: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-</a:t>
            </a: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1.005</a:t>
            </a:r>
          </a:p>
          <a:p>
            <a:pPr marL="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1.678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1026" name="Picture 2" descr="http://www.yellowbrickroad.com/follow/wp-content/uploads/2011/05/video-games-college-studen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105400"/>
            <a:ext cx="2079066" cy="148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468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2895600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en-US" sz="2800" b="1" dirty="0">
                <a:cs typeface="Times New Roman" pitchFamily="18" charset="0"/>
              </a:rPr>
              <a:t>78 students whose roommates brought a videogame </a:t>
            </a:r>
            <a:r>
              <a:rPr lang="en-US" sz="2800" b="1" dirty="0" smtClean="0">
                <a:cs typeface="Times New Roman" pitchFamily="18" charset="0"/>
              </a:rPr>
              <a:t>system to </a:t>
            </a:r>
            <a:r>
              <a:rPr lang="en-US" sz="2800" b="1" dirty="0">
                <a:cs typeface="Times New Roman" pitchFamily="18" charset="0"/>
              </a:rPr>
              <a:t>college: average GPA was 2.84, with a </a:t>
            </a:r>
            <a:r>
              <a:rPr lang="en-US" sz="2800" b="1" dirty="0" err="1">
                <a:cs typeface="Times New Roman" pitchFamily="18" charset="0"/>
              </a:rPr>
              <a:t>sd</a:t>
            </a:r>
            <a:r>
              <a:rPr lang="en-US" sz="2800" b="1" dirty="0">
                <a:cs typeface="Times New Roman" pitchFamily="18" charset="0"/>
              </a:rPr>
              <a:t> of 0.669. </a:t>
            </a:r>
            <a:r>
              <a:rPr lang="en-US" sz="2800" b="1" dirty="0" smtClean="0">
                <a:cs typeface="Times New Roman" pitchFamily="18" charset="0"/>
              </a:rPr>
              <a:t>132 </a:t>
            </a:r>
            <a:r>
              <a:rPr lang="en-US" sz="2800" b="1" dirty="0">
                <a:cs typeface="Times New Roman" pitchFamily="18" charset="0"/>
              </a:rPr>
              <a:t>students whose roommates did not bring a videogame </a:t>
            </a:r>
            <a:r>
              <a:rPr lang="en-US" sz="2800" b="1" dirty="0" smtClean="0">
                <a:cs typeface="Times New Roman" pitchFamily="18" charset="0"/>
              </a:rPr>
              <a:t>system to </a:t>
            </a:r>
            <a:r>
              <a:rPr lang="en-US" sz="2800" b="1" dirty="0">
                <a:cs typeface="Times New Roman" pitchFamily="18" charset="0"/>
              </a:rPr>
              <a:t>college: average GPA was 3.105, with a </a:t>
            </a:r>
            <a:r>
              <a:rPr lang="en-US" sz="2800" b="1" dirty="0" err="1">
                <a:cs typeface="Times New Roman" pitchFamily="18" charset="0"/>
              </a:rPr>
              <a:t>sd</a:t>
            </a:r>
            <a:r>
              <a:rPr lang="en-US" sz="2800" b="1" dirty="0">
                <a:cs typeface="Times New Roman" pitchFamily="18" charset="0"/>
              </a:rPr>
              <a:t> of </a:t>
            </a:r>
            <a:r>
              <a:rPr lang="en-US" sz="2800" b="1" dirty="0" smtClean="0">
                <a:cs typeface="Times New Roman" pitchFamily="18" charset="0"/>
              </a:rPr>
              <a:t>0.625</a:t>
            </a:r>
            <a:r>
              <a:rPr lang="en-US" sz="2800" b="1" dirty="0">
                <a:cs typeface="Times New Roman" pitchFamily="18" charset="0"/>
              </a:rPr>
              <a:t>. For a 90% CI, what is the standard error?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0" y="2819400"/>
            <a:ext cx="2971800" cy="2566562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1.960</a:t>
            </a:r>
          </a:p>
          <a:p>
            <a:pPr marL="51435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0.625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-</a:t>
            </a: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0.265</a:t>
            </a:r>
          </a:p>
          <a:p>
            <a:pPr marL="51435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0.044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0.093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1026" name="Picture 2" descr="http://www.yellowbrickroad.com/follow/wp-content/uploads/2011/05/video-games-college-student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105400"/>
            <a:ext cx="2079066" cy="148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251621"/>
              </p:ext>
            </p:extLst>
          </p:nvPr>
        </p:nvGraphicFramePr>
        <p:xfrm>
          <a:off x="2971800" y="2743200"/>
          <a:ext cx="2438400" cy="1265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7" imgW="952200" imgH="495000" progId="Equation.DSMT4">
                  <p:embed/>
                </p:oleObj>
              </mc:Choice>
              <mc:Fallback>
                <p:oleObj name="Equation" r:id="rId7" imgW="952200" imgH="495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743200"/>
                        <a:ext cx="2438400" cy="126599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accent2">
                            <a:lumMod val="75000"/>
                          </a:scheme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46584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Videogames and GPA</a:t>
            </a:r>
            <a:endParaRPr lang="en-US" sz="4000" b="1" dirty="0">
              <a:solidFill>
                <a:schemeClr val="tx2"/>
              </a:solidFill>
            </a:endParaRPr>
          </a:p>
        </p:txBody>
      </p:sp>
      <p:pic>
        <p:nvPicPr>
          <p:cNvPr id="19" name="Picture 4" descr="C:\Users\Kari\AppData\Local\Microsoft\Windows\Temporary Internet Files\Content.IE5\8Y1BLIC5\MC900432601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1589" y="1066800"/>
            <a:ext cx="381000" cy="381000"/>
          </a:xfrm>
          <a:prstGeom prst="rect">
            <a:avLst/>
          </a:prstGeom>
          <a:noFill/>
        </p:spPr>
      </p:pic>
      <p:sp>
        <p:nvSpPr>
          <p:cNvPr id="21" name="TextBox 20"/>
          <p:cNvSpPr txBox="1"/>
          <p:nvPr/>
        </p:nvSpPr>
        <p:spPr>
          <a:xfrm>
            <a:off x="304800" y="1070642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1. Check conditions: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00" y="3023551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4. Calculate standard error: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348609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5. Calculate CI: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198" y="4916871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6.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Interpret in context: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5787" y="986135"/>
            <a:ext cx="3046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78 ≥ 30, 132  ≥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021594" y="3547266"/>
                <a:ext cx="49888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40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40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/>
                      </a:rPr>
                      <m:t>±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US" sz="240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4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/>
                      </a:rPr>
                      <m:t>∙</m:t>
                    </m:r>
                    <m:r>
                      <a:rPr lang="en-US" sz="240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/>
                      </a:rPr>
                      <m:t>𝑆𝐸</m:t>
                    </m:r>
                  </m:oMath>
                </a14:m>
                <a:endParaRPr lang="en-US" sz="2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594" y="3547266"/>
                <a:ext cx="4988805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292865" y="158109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2. Find 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*: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834" y="2366042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3. Calculate statistic: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136917"/>
            <a:ext cx="1678552" cy="1272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 descr="http://www.yellowbrickroad.com/follow/wp-content/uploads/2011/05/video-games-college-studen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334" y="4844186"/>
            <a:ext cx="2079066" cy="148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17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8" grpId="0"/>
      <p:bldP spid="3" grpId="0"/>
      <p:bldP spid="25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T-Test for a Difference in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67200" y="1777425"/>
                <a:ext cx="4038600" cy="2057400"/>
              </a:xfrm>
            </p:spPr>
            <p:txBody>
              <a:bodyPr>
                <a:normAutofit fontScale="92500"/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−0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b/>
                                    <m:sup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b/>
                                    <m:sup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7200" y="1777425"/>
                <a:ext cx="4038600" cy="20574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62000" y="2946903"/>
                <a:ext cx="3124200" cy="910570"/>
              </a:xfrm>
              <a:prstGeom prst="rect">
                <a:avLst/>
              </a:prstGeom>
              <a:ln w="25400" cmpd="thinThick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𝑠𝑡𝑎𝑡𝑖𝑠𝑡𝑖𝑐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−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𝑛𝑢𝑙𝑙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𝑆𝐸</m:t>
                          </m:r>
                        </m:den>
                      </m:f>
                    </m:oMath>
                  </m:oMathPara>
                </a14:m>
                <a:endParaRPr lang="en-US" sz="6600" i="1" dirty="0">
                  <a:solidFill>
                    <a:schemeClr val="tx1"/>
                  </a:solidFill>
                  <a:sym typeface="Symbol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946903"/>
                <a:ext cx="3124200" cy="9105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25400" cmpd="thinThick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0" y="4191000"/>
            <a:ext cx="914324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/>
              <a:t>If the population is approximately normal or if sample sizes are large (</a:t>
            </a:r>
            <a:r>
              <a:rPr lang="en-US" sz="3200" i="1" dirty="0"/>
              <a:t>n</a:t>
            </a:r>
            <a:r>
              <a:rPr lang="en-US" sz="3200" baseline="-25000" dirty="0"/>
              <a:t>1</a:t>
            </a:r>
            <a:r>
              <a:rPr lang="en-US" sz="3200" i="1" dirty="0"/>
              <a:t> </a:t>
            </a:r>
            <a:r>
              <a:rPr lang="en-US" sz="3200" dirty="0"/>
              <a:t>≥ 30, </a:t>
            </a:r>
            <a:r>
              <a:rPr lang="en-US" sz="3200" i="1" dirty="0"/>
              <a:t>n</a:t>
            </a:r>
            <a:r>
              <a:rPr lang="en-US" sz="3200" baseline="-25000" dirty="0"/>
              <a:t>2</a:t>
            </a:r>
            <a:r>
              <a:rPr lang="en-US" sz="3200" i="1" dirty="0"/>
              <a:t> </a:t>
            </a:r>
            <a:r>
              <a:rPr lang="en-US" sz="3200" dirty="0"/>
              <a:t>≥ 30), the p-value can be computed as the area in the tail(s) beyond </a:t>
            </a:r>
            <a:r>
              <a:rPr lang="en-US" sz="3200" i="1" dirty="0"/>
              <a:t>t </a:t>
            </a:r>
            <a:r>
              <a:rPr lang="en-US" sz="3200" dirty="0"/>
              <a:t>of a </a:t>
            </a:r>
            <a:r>
              <a:rPr lang="en-US" sz="3200" i="1" dirty="0"/>
              <a:t>t-</a:t>
            </a:r>
            <a:r>
              <a:rPr lang="en-US" sz="3200" dirty="0"/>
              <a:t>distribution with degrees of freedom equal to the smaller of </a:t>
            </a:r>
            <a:r>
              <a:rPr lang="en-US" sz="3200" i="1" dirty="0"/>
              <a:t>n</a:t>
            </a:r>
            <a:r>
              <a:rPr lang="en-US" sz="3200" baseline="-25000" dirty="0"/>
              <a:t>1</a:t>
            </a:r>
            <a:r>
              <a:rPr lang="en-US" sz="3200" dirty="0"/>
              <a:t> – 1 and </a:t>
            </a:r>
            <a:r>
              <a:rPr lang="en-US" sz="3200" i="1" dirty="0"/>
              <a:t>n</a:t>
            </a:r>
            <a:r>
              <a:rPr lang="en-US" sz="3200" baseline="-25000" dirty="0"/>
              <a:t>2</a:t>
            </a:r>
            <a:r>
              <a:rPr lang="en-US" sz="3200" dirty="0"/>
              <a:t> – 1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964" y="1771317"/>
            <a:ext cx="32919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H</a:t>
            </a:r>
            <a:r>
              <a:rPr lang="en-US" sz="3200" baseline="-25000" dirty="0" smtClean="0"/>
              <a:t>0</a:t>
            </a:r>
            <a:r>
              <a:rPr lang="en-US" sz="3200" dirty="0" smtClean="0"/>
              <a:t>:</a:t>
            </a:r>
            <a:r>
              <a:rPr lang="el-GR" sz="3200" dirty="0" smtClean="0"/>
              <a:t>μ</a:t>
            </a:r>
            <a:r>
              <a:rPr lang="en-US" sz="3200" baseline="-25000" dirty="0" smtClean="0"/>
              <a:t>1</a:t>
            </a:r>
            <a:r>
              <a:rPr lang="en-US" sz="3200" dirty="0" smtClean="0"/>
              <a:t>=</a:t>
            </a:r>
            <a:r>
              <a:rPr lang="el-GR" sz="3200" dirty="0" smtClean="0"/>
              <a:t>μ</a:t>
            </a:r>
            <a:r>
              <a:rPr lang="en-US" sz="3200" baseline="-25000" dirty="0" smtClean="0"/>
              <a:t>2</a:t>
            </a:r>
          </a:p>
          <a:p>
            <a:r>
              <a:rPr lang="en-US" sz="3200" baseline="-25000" dirty="0"/>
              <a:t> </a:t>
            </a:r>
            <a:r>
              <a:rPr lang="en-US" sz="3200" dirty="0" smtClean="0">
                <a:sym typeface="Symbol"/>
              </a:rPr>
              <a:t> </a:t>
            </a:r>
            <a:r>
              <a:rPr lang="en-US" sz="3200" dirty="0" smtClean="0"/>
              <a:t>H</a:t>
            </a:r>
            <a:r>
              <a:rPr lang="en-US" sz="3200" baseline="-25000" dirty="0" smtClean="0"/>
              <a:t>0</a:t>
            </a:r>
            <a:r>
              <a:rPr lang="en-US" sz="3200" dirty="0" smtClean="0"/>
              <a:t>:</a:t>
            </a:r>
            <a:r>
              <a:rPr lang="el-GR" sz="3200" dirty="0"/>
              <a:t>μ</a:t>
            </a:r>
            <a:r>
              <a:rPr lang="en-US" sz="3200" baseline="-25000" dirty="0" smtClean="0"/>
              <a:t>1</a:t>
            </a:r>
            <a:r>
              <a:rPr lang="en-US" sz="3200" dirty="0" smtClean="0"/>
              <a:t>-</a:t>
            </a:r>
            <a:r>
              <a:rPr lang="el-GR" sz="3200" dirty="0" smtClean="0"/>
              <a:t>μ</a:t>
            </a:r>
            <a:r>
              <a:rPr lang="en-US" sz="3200" baseline="-25000" dirty="0" smtClean="0"/>
              <a:t>2 </a:t>
            </a:r>
            <a:r>
              <a:rPr lang="en-US" sz="3200" dirty="0" smtClean="0"/>
              <a:t>= 0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205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38200" y="381000"/>
            <a:ext cx="7315200" cy="7620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The Pygmalion Effect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636" y="6068943"/>
            <a:ext cx="9033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800"/>
              </a:spcAft>
            </a:pPr>
            <a:r>
              <a:rPr lang="en-US" sz="2000" dirty="0" smtClean="0"/>
              <a:t>Source: Rosenthal, R. and Jacobsen, L. (1968).  “Pygmalion in the Classroom: Teacher Expectation and Pupils’ Intellectual Development.”  Holt, Rinehart and Winston, Inc.</a:t>
            </a:r>
            <a:endParaRPr lang="en-US" sz="20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636" y="1600200"/>
            <a:ext cx="90331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Teachers were told that certain children (chosen randomly) were expected to be “growth </a:t>
            </a:r>
            <a:r>
              <a:rPr lang="en-US" sz="3200" dirty="0" err="1" smtClean="0">
                <a:solidFill>
                  <a:prstClr val="black"/>
                </a:solidFill>
                <a:cs typeface="Times New Roman" pitchFamily="18" charset="0"/>
              </a:rPr>
              <a:t>spurters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,” based on the Harvard Test of Inflected Acquisition (a test that didn’t actually exist).  These children were selected randomly.</a:t>
            </a:r>
          </a:p>
          <a:p>
            <a:pPr>
              <a:spcAft>
                <a:spcPts val="1200"/>
              </a:spcAft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The response variable is change in IQ over the course of one year.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702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38200" y="381000"/>
            <a:ext cx="7315200" cy="7620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The Pygmalion Effect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1417320"/>
          <a:ext cx="8083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16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 smtClean="0"/>
                        <a:t>s</a:t>
                      </a:r>
                      <a:endParaRPr lang="en-US" sz="2800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Control Students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255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8.42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12.0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“Growth </a:t>
                      </a:r>
                      <a:r>
                        <a:rPr lang="en-US" sz="2800" dirty="0" err="1" smtClean="0"/>
                        <a:t>Spurters</a:t>
                      </a:r>
                      <a:r>
                        <a:rPr lang="en-US" sz="2800" dirty="0" smtClean="0"/>
                        <a:t>”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65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12.22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13.3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970587" y="1524000"/>
          <a:ext cx="3540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Equation" r:id="rId4" imgW="164880" imgH="190440" progId="Equation.DSMT4">
                  <p:embed/>
                </p:oleObj>
              </mc:Choice>
              <mc:Fallback>
                <p:oleObj name="Equation" r:id="rId4" imgW="1648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7" y="1524000"/>
                        <a:ext cx="354013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35166"/>
            <a:ext cx="8305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 dirty="0" smtClean="0">
                <a:solidFill>
                  <a:prstClr val="black"/>
                </a:solidFill>
                <a:cs typeface="Times New Roman" pitchFamily="18" charset="0"/>
              </a:rPr>
              <a:t>Research Question: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Does this provide evidence that merely expecting a child to do well actually </a:t>
            </a: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</a:rPr>
              <a:t>causes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the child to do better?</a:t>
            </a:r>
          </a:p>
          <a:p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866382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If so, how much better?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227" y="5943600"/>
            <a:ext cx="9029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*s</a:t>
            </a:r>
            <a:r>
              <a:rPr lang="en-US" sz="2000" baseline="-25000" dirty="0" smtClean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 and s</a:t>
            </a:r>
            <a:r>
              <a:rPr lang="en-US" sz="2000" baseline="-25000" dirty="0" smtClean="0">
                <a:solidFill>
                  <a:prstClr val="black"/>
                </a:solidFill>
                <a:cs typeface="Times New Roman" pitchFamily="18" charset="0"/>
              </a:rPr>
              <a:t>2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 were not given in the article, so they were selected to ensure the p-value specified in the article.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92433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334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Pygmalion Effect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324379"/>
              </p:ext>
            </p:extLst>
          </p:nvPr>
        </p:nvGraphicFramePr>
        <p:xfrm>
          <a:off x="3249851" y="845127"/>
          <a:ext cx="1955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" name="Equation" r:id="rId4" imgW="977760" imgH="457200" progId="Equation.DSMT4">
                  <p:embed/>
                </p:oleObj>
              </mc:Choice>
              <mc:Fallback>
                <p:oleObj name="Equation" r:id="rId4" imgW="977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851" y="845127"/>
                        <a:ext cx="1955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301028"/>
              </p:ext>
            </p:extLst>
          </p:nvPr>
        </p:nvGraphicFramePr>
        <p:xfrm>
          <a:off x="3262745" y="2913853"/>
          <a:ext cx="5675313" cy="1338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5" name="Equation" r:id="rId6" imgW="2958840" imgH="698400" progId="Equation.DSMT4">
                  <p:embed/>
                </p:oleObj>
              </mc:Choice>
              <mc:Fallback>
                <p:oleObj name="Equation" r:id="rId6" imgW="29588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745" y="2913853"/>
                        <a:ext cx="5675313" cy="13381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05322"/>
              </p:ext>
            </p:extLst>
          </p:nvPr>
        </p:nvGraphicFramePr>
        <p:xfrm>
          <a:off x="6629400" y="4304517"/>
          <a:ext cx="17097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6" name="Equation" r:id="rId8" imgW="939600" imgH="203040" progId="Equation.DSMT4">
                  <p:embed/>
                </p:oleObj>
              </mc:Choice>
              <mc:Fallback>
                <p:oleObj name="Equation" r:id="rId8" imgW="939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304517"/>
                        <a:ext cx="1709738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3289"/>
              </p:ext>
            </p:extLst>
          </p:nvPr>
        </p:nvGraphicFramePr>
        <p:xfrm>
          <a:off x="2971800" y="2265643"/>
          <a:ext cx="23590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7" name="Equation" r:id="rId10" imgW="1066680" imgH="203040" progId="Equation.DSMT4">
                  <p:embed/>
                </p:oleObj>
              </mc:Choice>
              <mc:Fallback>
                <p:oleObj name="Equation" r:id="rId10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65643"/>
                        <a:ext cx="2359025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4" descr="C:\Users\Kari\AppData\Local\Microsoft\Windows\Temporary Internet Files\Content.IE5\8Y1BLIC5\MC900432601[1]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76900" y="2332029"/>
            <a:ext cx="381000" cy="3810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318654" y="1247745"/>
            <a:ext cx="2805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1. State hypotheses: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8655" y="2251364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2. Check conditions: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800" y="3513799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3. Calculate t statistic: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7873" y="444198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4. Compute p-value: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4800" y="5445948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5. Interpret in context: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3379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108226"/>
              </p:ext>
            </p:extLst>
          </p:nvPr>
        </p:nvGraphicFramePr>
        <p:xfrm>
          <a:off x="0" y="1749135"/>
          <a:ext cx="9143999" cy="35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8" name="Equation" r:id="rId13" imgW="5829120" imgH="228600" progId="Equation.DSMT4">
                  <p:embed/>
                </p:oleObj>
              </mc:Choice>
              <mc:Fallback>
                <p:oleObj name="Equation" r:id="rId13" imgW="5829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49135"/>
                        <a:ext cx="9143999" cy="3585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735" name="Picture 7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272824"/>
            <a:ext cx="3109957" cy="1573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6878534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477972"/>
              </p:ext>
            </p:extLst>
          </p:nvPr>
        </p:nvGraphicFramePr>
        <p:xfrm>
          <a:off x="76201" y="381000"/>
          <a:ext cx="8991600" cy="6096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799"/>
                <a:gridCol w="2103505"/>
                <a:gridCol w="2620895"/>
                <a:gridCol w="2819401"/>
              </a:tblGrid>
              <a:tr h="80807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Parameter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Distribution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Conditions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Standard</a:t>
                      </a:r>
                      <a:r>
                        <a:rPr lang="en-US" sz="2200" baseline="0" dirty="0" smtClean="0"/>
                        <a:t> Error</a:t>
                      </a:r>
                      <a:endParaRPr lang="en-US" sz="2200" dirty="0"/>
                    </a:p>
                  </a:txBody>
                  <a:tcPr anchor="ctr"/>
                </a:tc>
              </a:tr>
              <a:tr h="10997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Proportion</a:t>
                      </a:r>
                    </a:p>
                    <a:p>
                      <a:pPr algn="ctr"/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Normal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0" baseline="0" dirty="0" smtClean="0"/>
                        <a:t>All counts at least 10: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baseline="0" dirty="0" err="1" smtClean="0"/>
                        <a:t>np</a:t>
                      </a:r>
                      <a:r>
                        <a:rPr lang="en-US" sz="2200" i="0" baseline="0" dirty="0" smtClean="0"/>
                        <a:t> </a:t>
                      </a:r>
                      <a:r>
                        <a:rPr lang="en-US" sz="2200" i="0" dirty="0" smtClean="0"/>
                        <a:t>≥ 10,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baseline="0" dirty="0" smtClean="0"/>
                        <a:t>n</a:t>
                      </a:r>
                      <a:r>
                        <a:rPr lang="en-US" sz="2200" i="0" baseline="0" dirty="0" smtClean="0"/>
                        <a:t>(1 – </a:t>
                      </a:r>
                      <a:r>
                        <a:rPr lang="en-US" sz="2200" i="1" baseline="0" dirty="0" smtClean="0"/>
                        <a:t>p</a:t>
                      </a:r>
                      <a:r>
                        <a:rPr lang="en-US" sz="2200" i="0" baseline="0" dirty="0" smtClean="0"/>
                        <a:t>) </a:t>
                      </a:r>
                      <a:r>
                        <a:rPr lang="en-US" sz="2200" i="0" dirty="0" smtClean="0"/>
                        <a:t>≥ 10</a:t>
                      </a:r>
                      <a:endParaRPr lang="en-US" sz="22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/>
                </a:tc>
              </a:tr>
              <a:tr h="177184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Difference in Proportions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Normal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0" dirty="0" smtClean="0"/>
                        <a:t>All</a:t>
                      </a:r>
                      <a:r>
                        <a:rPr lang="en-US" sz="2200" i="0" baseline="0" dirty="0" smtClean="0"/>
                        <a:t> counts at least 10:</a:t>
                      </a:r>
                      <a:endParaRPr lang="en-US" sz="2200" i="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n</a:t>
                      </a:r>
                      <a:r>
                        <a:rPr lang="en-US" sz="2200" i="0" baseline="-25000" dirty="0" smtClean="0"/>
                        <a:t>1</a:t>
                      </a:r>
                      <a:r>
                        <a:rPr lang="en-US" sz="2200" i="1" dirty="0" smtClean="0"/>
                        <a:t>p</a:t>
                      </a:r>
                      <a:r>
                        <a:rPr lang="en-US" sz="2200" i="0" baseline="-25000" dirty="0" smtClean="0"/>
                        <a:t>1</a:t>
                      </a:r>
                      <a:r>
                        <a:rPr lang="en-US" sz="2200" i="0" dirty="0" smtClean="0"/>
                        <a:t> ≥ 10,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n</a:t>
                      </a:r>
                      <a:r>
                        <a:rPr lang="en-US" sz="2200" i="0" baseline="-25000" dirty="0" smtClean="0"/>
                        <a:t>1</a:t>
                      </a:r>
                      <a:r>
                        <a:rPr lang="en-US" sz="2200" i="0" baseline="0" dirty="0" smtClean="0"/>
                        <a:t>(1 – </a:t>
                      </a:r>
                      <a:r>
                        <a:rPr lang="en-US" sz="2200" i="1" dirty="0" smtClean="0"/>
                        <a:t>p</a:t>
                      </a:r>
                      <a:r>
                        <a:rPr lang="en-US" sz="2200" i="0" baseline="-25000" dirty="0" smtClean="0"/>
                        <a:t>1</a:t>
                      </a:r>
                      <a:r>
                        <a:rPr lang="en-US" sz="2200" i="0" baseline="0" dirty="0" smtClean="0"/>
                        <a:t>) </a:t>
                      </a:r>
                      <a:r>
                        <a:rPr lang="en-US" sz="2200" i="0" dirty="0" smtClean="0"/>
                        <a:t>≥ 10,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n</a:t>
                      </a:r>
                      <a:r>
                        <a:rPr lang="en-US" sz="2200" i="0" baseline="-25000" dirty="0" smtClean="0"/>
                        <a:t>2</a:t>
                      </a:r>
                      <a:r>
                        <a:rPr lang="en-US" sz="2200" i="1" dirty="0" smtClean="0"/>
                        <a:t>p</a:t>
                      </a:r>
                      <a:r>
                        <a:rPr lang="en-US" sz="2200" i="0" baseline="-25000" dirty="0" smtClean="0"/>
                        <a:t>2</a:t>
                      </a:r>
                      <a:r>
                        <a:rPr lang="en-US" sz="2200" i="0" dirty="0" smtClean="0"/>
                        <a:t> ≥ 10,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n</a:t>
                      </a:r>
                      <a:r>
                        <a:rPr lang="en-US" sz="2200" i="0" baseline="-25000" dirty="0" smtClean="0"/>
                        <a:t>2</a:t>
                      </a:r>
                      <a:r>
                        <a:rPr lang="en-US" sz="2200" i="0" baseline="0" dirty="0" smtClean="0"/>
                        <a:t>(1 – </a:t>
                      </a:r>
                      <a:r>
                        <a:rPr lang="en-US" sz="2200" i="1" dirty="0" smtClean="0"/>
                        <a:t>p</a:t>
                      </a:r>
                      <a:r>
                        <a:rPr lang="en-US" sz="2200" i="0" baseline="-25000" dirty="0" smtClean="0"/>
                        <a:t>2</a:t>
                      </a:r>
                      <a:r>
                        <a:rPr lang="en-US" sz="2200" i="0" baseline="0" dirty="0" smtClean="0"/>
                        <a:t>) </a:t>
                      </a:r>
                      <a:r>
                        <a:rPr lang="en-US" sz="2200" i="0" dirty="0" smtClean="0"/>
                        <a:t>≥ 10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/>
                </a:tc>
              </a:tr>
              <a:tr h="105541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Mean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smtClean="0"/>
                        <a:t>t</a:t>
                      </a:r>
                      <a:r>
                        <a:rPr lang="en-US" sz="2200" i="0" dirty="0" smtClean="0"/>
                        <a:t>, </a:t>
                      </a:r>
                      <a:r>
                        <a:rPr lang="en-US" sz="2200" i="0" dirty="0" err="1" smtClean="0"/>
                        <a:t>df</a:t>
                      </a:r>
                      <a:r>
                        <a:rPr lang="en-US" sz="2200" i="0" baseline="0" dirty="0" smtClean="0"/>
                        <a:t> = </a:t>
                      </a:r>
                      <a:r>
                        <a:rPr lang="en-US" sz="2200" i="1" baseline="0" dirty="0" smtClean="0"/>
                        <a:t>n</a:t>
                      </a:r>
                      <a:r>
                        <a:rPr lang="en-US" sz="2200" i="0" baseline="0" dirty="0" smtClean="0"/>
                        <a:t> – 1 </a:t>
                      </a:r>
                      <a:endParaRPr lang="en-US" sz="2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smtClean="0"/>
                        <a:t>n</a:t>
                      </a:r>
                      <a:r>
                        <a:rPr lang="en-US" sz="2200" i="0" dirty="0" smtClean="0"/>
                        <a:t> ≥ 30 or data normal</a:t>
                      </a:r>
                      <a:endParaRPr lang="en-US" sz="2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/>
                </a:tc>
              </a:tr>
              <a:tr h="136090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Difference in Means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 smtClean="0"/>
                        <a:t>t</a:t>
                      </a:r>
                      <a:r>
                        <a:rPr lang="en-US" sz="2200" i="0" dirty="0" smtClean="0"/>
                        <a:t>, </a:t>
                      </a:r>
                      <a:r>
                        <a:rPr lang="en-US" sz="2200" i="0" dirty="0" err="1" smtClean="0"/>
                        <a:t>df</a:t>
                      </a:r>
                      <a:r>
                        <a:rPr lang="en-US" sz="2200" i="0" dirty="0" smtClean="0"/>
                        <a:t> =</a:t>
                      </a:r>
                      <a:r>
                        <a:rPr lang="en-US" sz="2200" i="0" baseline="0" dirty="0" smtClean="0"/>
                        <a:t> smaller of </a:t>
                      </a:r>
                      <a:r>
                        <a:rPr lang="en-US" sz="2200" i="1" baseline="0" dirty="0" smtClean="0"/>
                        <a:t>n</a:t>
                      </a:r>
                      <a:r>
                        <a:rPr lang="en-US" sz="2200" i="0" baseline="-25000" dirty="0" smtClean="0"/>
                        <a:t>1</a:t>
                      </a:r>
                      <a:r>
                        <a:rPr lang="en-US" sz="2200" i="0" baseline="0" dirty="0" smtClean="0"/>
                        <a:t> – 1, </a:t>
                      </a:r>
                      <a:r>
                        <a:rPr lang="en-US" sz="2200" i="1" baseline="0" dirty="0" smtClean="0"/>
                        <a:t>n</a:t>
                      </a:r>
                      <a:r>
                        <a:rPr lang="en-US" sz="2200" i="0" baseline="-25000" dirty="0" smtClean="0"/>
                        <a:t>2</a:t>
                      </a:r>
                      <a:r>
                        <a:rPr lang="en-US" sz="2200" i="0" baseline="0" dirty="0" smtClean="0"/>
                        <a:t> – 1</a:t>
                      </a:r>
                      <a:endParaRPr lang="en-US" sz="22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i="1" dirty="0" smtClean="0"/>
                        <a:t>n</a:t>
                      </a:r>
                      <a:r>
                        <a:rPr lang="en-US" sz="2200" i="0" baseline="-25000" dirty="0" smtClean="0"/>
                        <a:t>1</a:t>
                      </a:r>
                      <a:r>
                        <a:rPr lang="en-US" sz="2200" i="0" dirty="0" smtClean="0"/>
                        <a:t> ≥ 30 or data normal, </a:t>
                      </a:r>
                      <a:r>
                        <a:rPr lang="en-US" sz="2200" i="1" dirty="0" smtClean="0"/>
                        <a:t>n</a:t>
                      </a:r>
                      <a:r>
                        <a:rPr lang="en-US" sz="2200" i="0" baseline="-25000" dirty="0" smtClean="0"/>
                        <a:t>2</a:t>
                      </a:r>
                      <a:r>
                        <a:rPr lang="en-US" sz="2200" i="0" dirty="0" smtClean="0"/>
                        <a:t> ≥ 30 or data normal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643088"/>
              </p:ext>
            </p:extLst>
          </p:nvPr>
        </p:nvGraphicFramePr>
        <p:xfrm>
          <a:off x="6477000" y="1219200"/>
          <a:ext cx="1524000" cy="1006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8" name="Equation" r:id="rId4" imgW="672840" imgH="444240" progId="Equation.DSMT4">
                  <p:embed/>
                </p:oleObj>
              </mc:Choice>
              <mc:Fallback>
                <p:oleObj name="Equation" r:id="rId4" imgW="672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219200"/>
                        <a:ext cx="1524000" cy="100641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577656"/>
              </p:ext>
            </p:extLst>
          </p:nvPr>
        </p:nvGraphicFramePr>
        <p:xfrm>
          <a:off x="7054850" y="4038600"/>
          <a:ext cx="7477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9" name="Equation" r:id="rId6" imgW="317160" imgH="457200" progId="Equation.DSMT4">
                  <p:embed/>
                </p:oleObj>
              </mc:Choice>
              <mc:Fallback>
                <p:oleObj name="Equation" r:id="rId6" imgW="317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850" y="4038600"/>
                        <a:ext cx="747713" cy="1079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184606"/>
              </p:ext>
            </p:extLst>
          </p:nvPr>
        </p:nvGraphicFramePr>
        <p:xfrm>
          <a:off x="6269182" y="2667000"/>
          <a:ext cx="2874818" cy="91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0" name="Equation" r:id="rId8" imgW="1511280" imgH="482400" progId="Equation.DSMT4">
                  <p:embed/>
                </p:oleObj>
              </mc:Choice>
              <mc:Fallback>
                <p:oleObj name="Equation" r:id="rId8" imgW="1511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182" y="2667000"/>
                        <a:ext cx="2874818" cy="91826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666220"/>
              </p:ext>
            </p:extLst>
          </p:nvPr>
        </p:nvGraphicFramePr>
        <p:xfrm>
          <a:off x="6626225" y="5181600"/>
          <a:ext cx="1604963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1" name="Equation" r:id="rId10" imgW="685800" imgH="495000" progId="Equation.DSMT4">
                  <p:embed/>
                </p:oleObj>
              </mc:Choice>
              <mc:Fallback>
                <p:oleObj name="Equation" r:id="rId10" imgW="6858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5181600"/>
                        <a:ext cx="1604963" cy="11604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4233258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POINTVERSION" val="14.0"/>
  <p:tag name="PPVERSION" val="14.0"/>
  <p:tag name="DELIMITERS" val="3.1"/>
  <p:tag name="SHOWBARVISIBLE" val="True"/>
  <p:tag name="EXPANDSHOWBAR" val="True"/>
  <p:tag name="USESECONDARYMONITOR" val="True"/>
  <p:tag name="SAVECSVWITHSESSION" val="True"/>
  <p:tag name="CSVFORMAT" val="0"/>
  <p:tag name="BULLETTYPE" val="3"/>
  <p:tag name="ANSWERNOWSTYLE" val="-1"/>
  <p:tag name="ANSWERNOWTEXT" val="Answer Now"/>
  <p:tag name="COUNTDOWNSTYLE" val="-1"/>
  <p:tag name="RESPCOUNTERSTYLE" val="-1"/>
  <p:tag name="RESPCOUNTERFORMAT" val="0"/>
  <p:tag name="RESPTABLESTYLE" val="-1"/>
  <p:tag name="COUNTDOWNSECONDS" val="10"/>
  <p:tag name="INPUTSOURCE" val="1"/>
  <p:tag name="NUMRESPONSES" val="1"/>
  <p:tag name="ALLOWDUPLICATES" val="False"/>
  <p:tag name="BACKUPSESSIONS" val="True"/>
  <p:tag name="BACKUPMAINTENANCE" val="7"/>
  <p:tag name="CHARTVALUEFORMAT" val="0%"/>
  <p:tag name="AUTOADVANCE" val="False"/>
  <p:tag name="REVIEWONLY" val="False"/>
  <p:tag name="ROTATIONINTERVAL" val="2"/>
  <p:tag name="AUTOUPDATEALIASES" val="True"/>
  <p:tag name="STDCHART" val="1"/>
  <p:tag name="RACEENDPOINTS" val="100"/>
  <p:tag name="RACERSMAXDISPLAYED" val="5"/>
  <p:tag name="RACEANIMATIONSPEED" val="3"/>
  <p:tag name="SKIPREMAININGRACESLIDES" val="True"/>
  <p:tag name="PARTICIPANTSINLEADERBOARD" val="5"/>
  <p:tag name="TEAMSINLEADERBOARD" val="5"/>
  <p:tag name="MAXRESPONDERS" val="5"/>
  <p:tag name="BUBBLENAMEVISIBLE" val="True"/>
  <p:tag name="BUBBLESIZEVISIBLE" val="True"/>
  <p:tag name="BUBBLEVALUEFORMAT" val="0.0"/>
  <p:tag name="BUBBLEGROUPING" val="3"/>
  <p:tag name="DEFAULTNUMTEAMS" val="5"/>
  <p:tag name="CUSTOMGRIDBACKCOLOR" val="-2830136"/>
  <p:tag name="CUSTOMCELLFORECOLOR" val="-16777216"/>
  <p:tag name="CUSTOMCELLBACKCOLOR1" val="-657956"/>
  <p:tag name="CUSTOMCELLBACKCOLOR2" val="-13395457"/>
  <p:tag name="CUSTOMCELLBACKCOLOR3" val="-268652"/>
  <p:tag name="CUSTOMCELLBACKCOLOR4" val="-8355712"/>
  <p:tag name="USESCHEMECOLORS" val="True"/>
  <p:tag name="DISPLAYNAME" val="True"/>
  <p:tag name="DISPLAYDEVICENUMBER" val="True"/>
  <p:tag name="DISPLAYDEVICEID" val="True"/>
  <p:tag name="GRIDOPACITY" val="90"/>
  <p:tag name="GRIDROTATIONINTERVAL" val="2"/>
  <p:tag name="AUTOSIZEGRID" val="True"/>
  <p:tag name="GRIDSIZE" val="{Width=800, Height=600}"/>
  <p:tag name="GRIDPOSITION" val="1"/>
  <p:tag name="GRIDFONTSIZE" val="12"/>
  <p:tag name="POLLINGCYCLE" val="2"/>
  <p:tag name="CHARTCOLORS" val="0"/>
  <p:tag name="CHARTLABELS" val="0"/>
  <p:tag name="RESETCHARTS" val="True"/>
  <p:tag name="INCLUDENONRESPONDERS" val="False"/>
  <p:tag name="MULTIRESPDIVISOR" val="1"/>
  <p:tag name="INCLUDEPPT" val="True"/>
  <p:tag name="ALLOWUSERFEEDBACK" val="True"/>
  <p:tag name="CORRECTPOINTVALUE" val="100"/>
  <p:tag name="INCORRECTPOINTVALUE" val="0"/>
  <p:tag name="REALTIMEBACKUP" val="False"/>
  <p:tag name="REALTIMEBACKUPPATH" val="(None)"/>
  <p:tag name="ZEROBASED" val="False"/>
  <p:tag name="AUTOADJUSTPARTRANGE" val="True"/>
  <p:tag name="CHARTSCALE" val="True"/>
  <p:tag name="ADVANCEDSETTINGSVIEW" val="False"/>
  <p:tag name="FIBDISPLAYRESULTS" val="True"/>
  <p:tag name="FIBNUMRESULTS" val="5"/>
  <p:tag name="FIBINCLUDEOTHER" val="True"/>
  <p:tag name="FIBDISPLAYKEYWORDS" val="True"/>
  <p:tag name="PRRESPONSE1" val="10"/>
  <p:tag name="PRRESPONSE2" val="9"/>
  <p:tag name="PRRESPONSE3" val="8"/>
  <p:tag name="PRRESPONSE4" val="7"/>
  <p:tag name="PRRESPONSE5" val="6"/>
  <p:tag name="PRRESPONSE6" val="5"/>
  <p:tag name="PRRESPONSE7" val="4"/>
  <p:tag name="PRRESPONSE8" val="3"/>
  <p:tag name="PRRESPONSE9" val="2"/>
  <p:tag name="PRRESPONSE10" val="1"/>
  <p:tag name="SHOWFLASHWARNING" val="True"/>
  <p:tag name="ALWAYSOPENPOLL" val="False"/>
  <p:tag name="TASKPANEKEY" val="c040f88a-ea20-4ce7-a948-e36e98e78bd7"/>
  <p:tag name="TPPRESENTATIONGUID" val="537b65ea-22bd-49f1-8a9d-264d62a79e73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8B643485DEA946498EDFCF62001BCDDC&lt;/guid&gt;&#10;        &lt;description /&gt;&#10;        &lt;date&gt;8/2/2017 8:51:14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7CD1A2D0B354D34891ACB9B7CA409A8&lt;/guid&gt;&#10;            &lt;repollguid&gt;17CFCA0AA8A04F22A8C376E6665D888C&lt;/repollguid&gt;&#10;            &lt;sourceid&gt;A61020B0629E44ACA1D4AB9A231DE0F8&lt;/sourceid&gt;&#10;            &lt;questiontext&gt;78 students whose roommates brought a videogame system to college: average GPA was 2.84, with a sd of 0.669. 132 students whose roommates did not bring a videogame system to college: average GPA was 3.105, with a sd of 0.625. For a 90% confidence interval, what are the degrees of freedom for t*?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3B3574985AA8446B8B1A81BDF14E5464&lt;/guid&gt;&#10;                    &lt;answertext&gt;77&lt;/answertext&gt;&#10;                    &lt;valuetype&gt;0&lt;/valuetype&gt;&#10;                &lt;/answer&gt;&#10;                &lt;answer&gt;&#10;                    &lt;guid&gt;1CDACDF709C547038B650E8BF2D0F13F&lt;/guid&gt;&#10;                    &lt;answertext&gt;78&lt;/answertext&gt;&#10;                    &lt;valuetype&gt;0&lt;/valuetype&gt;&#10;                &lt;/answer&gt;&#10;                &lt;answer&gt;&#10;                    &lt;guid&gt;39159EBBE3EE47E5B81617BE5DA2EFE3&lt;/guid&gt;&#10;                    &lt;answertext&gt;131&lt;/answertext&gt;&#10;                    &lt;valuetype&gt;0&lt;/valuetype&gt;&#10;                &lt;/answer&gt;&#10;                &lt;answer&gt;&#10;                    &lt;guid&gt;DBCAB8FCCDC84412AEA4038A31858DFF&lt;/guid&gt;&#10;                    &lt;answertext&gt;132&lt;/answertext&gt;&#10;                    &lt;valuetype&gt;0&lt;/valuetype&gt;&#10;                &lt;/answer&gt;&#10;                &lt;answer&gt;&#10;                    &lt;guid&gt;82C9C598EAB941AF8A159D584B9D3C02&lt;/guid&gt;&#10;                    &lt;answertext&gt;209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8B643485DEA946498EDFCF62001BCDDC&lt;/guid&gt;&#10;        &lt;description /&gt;&#10;        &lt;date&gt;8/2/2017 8:51:14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784A298E36B14F2ABDF4824422845C91&lt;/guid&gt;&#10;            &lt;repollguid&gt;17CFCA0AA8A04F22A8C376E6665D888C&lt;/repollguid&gt;&#10;            &lt;sourceid&gt;A61020B0629E44ACA1D4AB9A231DE0F8&lt;/sourceid&gt;&#10;            &lt;questiontext&gt;78 students whose roommates brought a videogame system to college: average GPA was 2.84, with a sd of 0.669. 132 students whose roommates did not bring a videogame system to college: average GPA was 3.105, with a sd of 0.625. For a 90% confidence interval, what is t*?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3B3574985AA8446B8B1A81BDF14E5464&lt;/guid&gt;&#10;                    &lt;answertext&gt;1.645&lt;/answertext&gt;&#10;                    &lt;valuetype&gt;0&lt;/valuetype&gt;&#10;                &lt;/answer&gt;&#10;                &lt;answer&gt;&#10;                    &lt;guid&gt;1CDACDF709C547038B650E8BF2D0F13F&lt;/guid&gt;&#10;                    &lt;answertext&gt;1.960&lt;/answertext&gt;&#10;                    &lt;valuetype&gt;0&lt;/valuetype&gt;&#10;                &lt;/answer&gt;&#10;                &lt;answer&gt;&#10;                    &lt;guid&gt;39159EBBE3EE47E5B81617BE5DA2EFE3&lt;/guid&gt;&#10;                    &lt;answertext&gt;2.576&lt;/answertext&gt;&#10;                    &lt;valuetype&gt;0&lt;/valuetype&gt;&#10;                &lt;/answer&gt;&#10;                &lt;answer&gt;&#10;                    &lt;guid&gt;DBCAB8FCCDC84412AEA4038A31858DFF&lt;/guid&gt;&#10;                    &lt;answertext&gt;1.665&lt;/answertext&gt;&#10;                    &lt;valuetype&gt;0&lt;/valuetype&gt;&#10;                &lt;/answer&gt;&#10;                &lt;answer&gt;&#10;                    &lt;guid&gt;82C9C598EAB941AF8A159D584B9D3C02&lt;/guid&gt;&#10;                    &lt;answertext&gt;1.678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8B643485DEA946498EDFCF62001BCDDC&lt;/guid&gt;&#10;        &lt;description /&gt;&#10;        &lt;date&gt;8/2/2017 8:51:14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4487CFC4B524C74A92BECA9CA0EF3A8&lt;/guid&gt;&#10;            &lt;repollguid&gt;17CFCA0AA8A04F22A8C376E6665D888C&lt;/repollguid&gt;&#10;            &lt;sourceid&gt;A61020B0629E44ACA1D4AB9A231DE0F8&lt;/sourceid&gt;&#10;            &lt;questiontext&gt;78 students whose roommates brought a videogame system to college: average GPA was 2.84, with a sd of 0.669. 132 students whose roommates did not bring a videogame system to college: average GPA was 3.105, with a sd of 0.625. For a 90% CI, what is the relevant sample statistic? (Group 1 = Videogame System, Group 2 = No Video Games)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3B3574985AA8446B8B1A81BDF14E5464&lt;/guid&gt;&#10;                    &lt;answertext&gt;2.84&lt;/answertext&gt;&#10;                    &lt;valuetype&gt;0&lt;/valuetype&gt;&#10;                &lt;/answer&gt;&#10;                &lt;answer&gt;&#10;                    &lt;guid&gt;1CDACDF709C547038B650E8BF2D0F13F&lt;/guid&gt;&#10;                    &lt;answertext&gt;3.105&lt;/answertext&gt;&#10;                    &lt;valuetype&gt;0&lt;/valuetype&gt;&#10;                &lt;/answer&gt;&#10;                &lt;answer&gt;&#10;                    &lt;guid&gt;39159EBBE3EE47E5B81617BE5DA2EFE3&lt;/guid&gt;&#10;                    &lt;answertext&gt;-0.265&lt;/answertext&gt;&#10;                    &lt;valuetype&gt;0&lt;/valuetype&gt;&#10;                &lt;/answer&gt;&#10;                &lt;answer&gt;&#10;                    &lt;guid&gt;DBCAB8FCCDC84412AEA4038A31858DFF&lt;/guid&gt;&#10;                    &lt;answertext&gt;-1.005&lt;/answertext&gt;&#10;                    &lt;valuetype&gt;0&lt;/valuetype&gt;&#10;                &lt;/answer&gt;&#10;                &lt;answer&gt;&#10;                    &lt;guid&gt;82C9C598EAB941AF8A159D584B9D3C02&lt;/guid&gt;&#10;                    &lt;answertext&gt;1.678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8B643485DEA946498EDFCF62001BCDDC&lt;/guid&gt;&#10;        &lt;description /&gt;&#10;        &lt;date&gt;8/2/2017 8:51:14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89E2161C019F4C9685C7AF73CDC3EC88&lt;/guid&gt;&#10;            &lt;repollguid&gt;17CFCA0AA8A04F22A8C376E6665D888C&lt;/repollguid&gt;&#10;            &lt;sourceid&gt;A61020B0629E44ACA1D4AB9A231DE0F8&lt;/sourceid&gt;&#10;            &lt;questiontext&gt;78 students whose roommates brought a videogame system to college: average GPA was 2.84, with a sd of 0.669. 132 students whose roommates did not bring a videogame system to college: average GPA was 3.105, with a sd of 0.625. For a 90% CI, what is the standard error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3B3574985AA8446B8B1A81BDF14E5464&lt;/guid&gt;&#10;                    &lt;answertext&gt;1.960&lt;/answertext&gt;&#10;                    &lt;valuetype&gt;0&lt;/valuetype&gt;&#10;                &lt;/answer&gt;&#10;                &lt;answer&gt;&#10;                    &lt;guid&gt;1CDACDF709C547038B650E8BF2D0F13F&lt;/guid&gt;&#10;                    &lt;answertext&gt;0.625&lt;/answertext&gt;&#10;                    &lt;valuetype&gt;0&lt;/valuetype&gt;&#10;                &lt;/answer&gt;&#10;                &lt;answer&gt;&#10;                    &lt;guid&gt;39159EBBE3EE47E5B81617BE5DA2EFE3&lt;/guid&gt;&#10;                    &lt;answertext&gt;-0.265&lt;/answertext&gt;&#10;                    &lt;valuetype&gt;0&lt;/valuetype&gt;&#10;                &lt;/answer&gt;&#10;                &lt;answer&gt;&#10;                    &lt;guid&gt;DBCAB8FCCDC84412AEA4038A31858DFF&lt;/guid&gt;&#10;                    &lt;answertext&gt;0.044&lt;/answertext&gt;&#10;                    &lt;valuetype&gt;0&lt;/valuetype&gt;&#10;                &lt;/answer&gt;&#10;                &lt;answer&gt;&#10;                    &lt;guid&gt;82C9C598EAB941AF8A159D584B9D3C02&lt;/guid&gt;&#10;                    &lt;answertext&gt;0.093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419</TotalTime>
  <Words>976</Words>
  <Application>Microsoft Office PowerPoint</Application>
  <PresentationFormat>On-screen Show (4:3)</PresentationFormat>
  <Paragraphs>107</Paragraphs>
  <Slides>15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Median</vt:lpstr>
      <vt:lpstr>Equation</vt:lpstr>
      <vt:lpstr>PowerPoint Presentation</vt:lpstr>
      <vt:lpstr>PowerPoint Presentation</vt:lpstr>
      <vt:lpstr>PowerPoint Presentation</vt:lpstr>
      <vt:lpstr>PowerPoint Presentation</vt:lpstr>
      <vt:lpstr>Video Games and GPA</vt:lpstr>
      <vt:lpstr>78 students whose roommates brought a videogame system to college: average GPA was 2.84, with a sd of 0.669. 132 students whose roommates did not bring a videogame system to college: average GPA was 3.105, with a sd of 0.625. For a 90% confidence interval, what are the degrees of freedom for t*? </vt:lpstr>
      <vt:lpstr>78 students whose roommates brought a videogame system to college: average GPA was 2.84, with a sd of 0.669. 132 students whose roommates did not bring a videogame system to college: average GPA was 3.105, with a sd of 0.625. For a 90% confidence interval, what is t*? </vt:lpstr>
      <vt:lpstr>78 students whose roommates brought a videogame system to college: average GPA was 2.84, with a sd of 0.669. 132 students whose roommates did not bring a videogame system to college: average GPA was 3.105, with a sd of 0.625. For a 90% CI, what is the relevant sample statistic? (Group 1 = Videogame System, Group 2 = No Video Games) </vt:lpstr>
      <vt:lpstr>78 students whose roommates brought a videogame system to college: average GPA was 2.84, with a sd of 0.669. 132 students whose roommates did not bring a videogame system to college: average GPA was 3.105, with a sd of 0.625. For a 90% CI, what is the standard error?</vt:lpstr>
      <vt:lpstr>PowerPoint Presentation</vt:lpstr>
      <vt:lpstr>T-Test for a Difference in Means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Dobeck</dc:creator>
  <cp:lastModifiedBy>Kathryn Dobeck</cp:lastModifiedBy>
  <cp:revision>35</cp:revision>
  <dcterms:created xsi:type="dcterms:W3CDTF">2013-04-21T13:26:14Z</dcterms:created>
  <dcterms:modified xsi:type="dcterms:W3CDTF">2017-08-02T15:37:36Z</dcterms:modified>
</cp:coreProperties>
</file>