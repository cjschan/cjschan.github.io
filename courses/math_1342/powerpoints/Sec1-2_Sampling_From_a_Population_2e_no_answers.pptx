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wav" ContentType="audio/wav"/>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2.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0"/>
  </p:notesMasterIdLst>
  <p:handoutMasterIdLst>
    <p:handoutMasterId r:id="rId41"/>
  </p:handoutMasterIdLst>
  <p:sldIdLst>
    <p:sldId id="256" r:id="rId2"/>
    <p:sldId id="277" r:id="rId3"/>
    <p:sldId id="335" r:id="rId4"/>
    <p:sldId id="280" r:id="rId5"/>
    <p:sldId id="282" r:id="rId6"/>
    <p:sldId id="283" r:id="rId7"/>
    <p:sldId id="329" r:id="rId8"/>
    <p:sldId id="330" r:id="rId9"/>
    <p:sldId id="278" r:id="rId10"/>
    <p:sldId id="281" r:id="rId11"/>
    <p:sldId id="338" r:id="rId12"/>
    <p:sldId id="290" r:id="rId13"/>
    <p:sldId id="289" r:id="rId14"/>
    <p:sldId id="332" r:id="rId15"/>
    <p:sldId id="291" r:id="rId16"/>
    <p:sldId id="285" r:id="rId17"/>
    <p:sldId id="288" r:id="rId18"/>
    <p:sldId id="273" r:id="rId19"/>
    <p:sldId id="333" r:id="rId20"/>
    <p:sldId id="272" r:id="rId21"/>
    <p:sldId id="331" r:id="rId22"/>
    <p:sldId id="293" r:id="rId23"/>
    <p:sldId id="299" r:id="rId24"/>
    <p:sldId id="287" r:id="rId25"/>
    <p:sldId id="340" r:id="rId26"/>
    <p:sldId id="294" r:id="rId27"/>
    <p:sldId id="324" r:id="rId28"/>
    <p:sldId id="325" r:id="rId29"/>
    <p:sldId id="337" r:id="rId30"/>
    <p:sldId id="339" r:id="rId31"/>
    <p:sldId id="326" r:id="rId32"/>
    <p:sldId id="327" r:id="rId33"/>
    <p:sldId id="328" r:id="rId34"/>
    <p:sldId id="298" r:id="rId35"/>
    <p:sldId id="307" r:id="rId36"/>
    <p:sldId id="308" r:id="rId37"/>
    <p:sldId id="311" r:id="rId38"/>
    <p:sldId id="312" r:id="rId39"/>
  </p:sldIdLst>
  <p:sldSz cx="9144000" cy="6858000" type="screen4x3"/>
  <p:notesSz cx="7315200" cy="9601200"/>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84F644"/>
    <a:srgbClr val="46EF39"/>
    <a:srgbClr val="20D8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93" autoAdjust="0"/>
    <p:restoredTop sz="94660"/>
  </p:normalViewPr>
  <p:slideViewPr>
    <p:cSldViewPr>
      <p:cViewPr>
        <p:scale>
          <a:sx n="90" d="100"/>
          <a:sy n="90" d="100"/>
        </p:scale>
        <p:origin x="-1236" y="-31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BCA86FA8-C1FC-468F-8D5B-DDEA5137A650}" type="datetimeFigureOut">
              <a:rPr lang="en-US" smtClean="0"/>
              <a:pPr/>
              <a:t>9/18/2019</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FDDD4BC0-FA01-43D6-9C01-9A4C489526E7}" type="slidenum">
              <a:rPr lang="en-US" smtClean="0"/>
              <a:pPr/>
              <a:t>‹#›</a:t>
            </a:fld>
            <a:endParaRPr lang="en-US"/>
          </a:p>
        </p:txBody>
      </p:sp>
    </p:spTree>
    <p:extLst>
      <p:ext uri="{BB962C8B-B14F-4D97-AF65-F5344CB8AC3E}">
        <p14:creationId xmlns:p14="http://schemas.microsoft.com/office/powerpoint/2010/main" val="6139702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79425"/>
          </a:xfrm>
          <a:prstGeom prst="rect">
            <a:avLst/>
          </a:prstGeom>
        </p:spPr>
        <p:txBody>
          <a:bodyPr vert="horz" lIns="91440" tIns="45720" rIns="91440" bIns="45720" rtlCol="0"/>
          <a:lstStyle>
            <a:lvl1pPr algn="r">
              <a:defRPr sz="1200"/>
            </a:lvl1pPr>
          </a:lstStyle>
          <a:p>
            <a:fld id="{1FB36AED-5169-4589-A4FB-205FC3953CA3}" type="datetimeFigureOut">
              <a:rPr lang="en-US" smtClean="0"/>
              <a:t>9/18/2019</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lIns="91440" tIns="45720" rIns="91440" bIns="45720" rtlCol="0" anchor="b"/>
          <a:lstStyle>
            <a:lvl1pPr algn="r">
              <a:defRPr sz="1200"/>
            </a:lvl1pPr>
          </a:lstStyle>
          <a:p>
            <a:fld id="{91CB6FC0-2E91-4020-8D88-BFA9EFD02221}" type="slidenum">
              <a:rPr lang="en-US" smtClean="0"/>
              <a:t>‹#›</a:t>
            </a:fld>
            <a:endParaRPr lang="en-US"/>
          </a:p>
        </p:txBody>
      </p:sp>
    </p:spTree>
    <p:extLst>
      <p:ext uri="{BB962C8B-B14F-4D97-AF65-F5344CB8AC3E}">
        <p14:creationId xmlns:p14="http://schemas.microsoft.com/office/powerpoint/2010/main" val="1754726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1CB6FC0-2E91-4020-8D88-BFA9EFD02221}" type="slidenum">
              <a:rPr lang="en-US" smtClean="0"/>
              <a:t>25</a:t>
            </a:fld>
            <a:endParaRPr lang="en-US"/>
          </a:p>
        </p:txBody>
      </p:sp>
    </p:spTree>
    <p:extLst>
      <p:ext uri="{BB962C8B-B14F-4D97-AF65-F5344CB8AC3E}">
        <p14:creationId xmlns:p14="http://schemas.microsoft.com/office/powerpoint/2010/main" val="1681110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Note: students</a:t>
            </a:r>
            <a:r>
              <a:rPr lang="en-US" baseline="0" dirty="0" smtClean="0"/>
              <a:t> will probably give a variety of answers, making a good opportunity for rich discussion</a:t>
            </a:r>
            <a:endParaRPr lang="en-US" dirty="0"/>
          </a:p>
        </p:txBody>
      </p:sp>
      <p:sp>
        <p:nvSpPr>
          <p:cNvPr id="4" name="Slide Number Placeholder 3"/>
          <p:cNvSpPr>
            <a:spLocks noGrp="1"/>
          </p:cNvSpPr>
          <p:nvPr>
            <p:ph type="sldNum" sz="quarter" idx="10"/>
          </p:nvPr>
        </p:nvSpPr>
        <p:spPr/>
        <p:txBody>
          <a:bodyPr/>
          <a:lstStyle/>
          <a:p>
            <a:fld id="{AD881A71-1E8A-43E8-B5C2-524F1D0E2AC7}" type="slidenum">
              <a:rPr lang="en-US" smtClean="0"/>
              <a:pPr/>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A23FF8F4-8D5E-4665-B786-41F957EFEDCF}" type="datetimeFigureOut">
              <a:rPr lang="en-US" smtClean="0"/>
              <a:pPr/>
              <a:t>9/18/2019</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DDF96AF5-D00F-4838-A04F-9FC945A65D1C}"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A23FF8F4-8D5E-4665-B786-41F957EFEDCF}" type="datetimeFigureOut">
              <a:rPr lang="en-US" smtClean="0"/>
              <a:pPr/>
              <a:t>9/18/2019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DDF96AF5-D00F-4838-A04F-9FC945A65D1C}"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A23FF8F4-8D5E-4665-B786-41F957EFEDCF}" type="datetimeFigureOut">
              <a:rPr lang="en-US" smtClean="0"/>
              <a:pPr/>
              <a:t>9/18/2019</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DDF96AF5-D00F-4838-A04F-9FC945A65D1C}"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A23FF8F4-8D5E-4665-B786-41F957EFEDCF}" type="datetimeFigureOut">
              <a:rPr lang="en-US" smtClean="0"/>
              <a:pPr/>
              <a:t>9/18/2019</a:t>
            </a:fld>
            <a:endParaRPr lang="en-US"/>
          </a:p>
        </p:txBody>
      </p:sp>
      <p:sp>
        <p:nvSpPr>
          <p:cNvPr id="10" name="Slide Number Placeholder 9"/>
          <p:cNvSpPr>
            <a:spLocks noGrp="1"/>
          </p:cNvSpPr>
          <p:nvPr>
            <p:ph type="sldNum" sz="quarter" idx="16"/>
          </p:nvPr>
        </p:nvSpPr>
        <p:spPr/>
        <p:txBody>
          <a:bodyPr rtlCol="0"/>
          <a:lstStyle/>
          <a:p>
            <a:fld id="{DDF96AF5-D00F-4838-A04F-9FC945A65D1C}"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A23FF8F4-8D5E-4665-B786-41F957EFEDCF}" type="datetimeFigureOut">
              <a:rPr lang="en-US" smtClean="0"/>
              <a:pPr/>
              <a:t>9/18/2019</a:t>
            </a:fld>
            <a:endParaRPr lang="en-US"/>
          </a:p>
        </p:txBody>
      </p:sp>
      <p:sp>
        <p:nvSpPr>
          <p:cNvPr id="12" name="Slide Number Placeholder 11"/>
          <p:cNvSpPr>
            <a:spLocks noGrp="1"/>
          </p:cNvSpPr>
          <p:nvPr>
            <p:ph type="sldNum" sz="quarter" idx="16"/>
          </p:nvPr>
        </p:nvSpPr>
        <p:spPr/>
        <p:txBody>
          <a:bodyPr rtlCol="0"/>
          <a:lstStyle/>
          <a:p>
            <a:fld id="{DDF96AF5-D00F-4838-A04F-9FC945A65D1C}"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23FF8F4-8D5E-4665-B786-41F957EFEDCF}" type="datetimeFigureOut">
              <a:rPr lang="en-US" smtClean="0"/>
              <a:pPr/>
              <a:t>9/18/2019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DDF96AF5-D00F-4838-A04F-9FC945A65D1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FF8F4-8D5E-4665-B786-41F957EFEDCF}" type="datetimeFigureOut">
              <a:rPr lang="en-US" smtClean="0"/>
              <a:pPr/>
              <a:t>9/18/2019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DDF96AF5-D00F-4838-A04F-9FC945A65D1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A23FF8F4-8D5E-4665-B786-41F957EFEDCF}" type="datetimeFigureOut">
              <a:rPr lang="en-US" smtClean="0"/>
              <a:pPr/>
              <a:t>9/18/2019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DDF96AF5-D00F-4838-A04F-9FC945A65D1C}"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A23FF8F4-8D5E-4665-B786-41F957EFEDCF}" type="datetimeFigureOut">
              <a:rPr lang="en-US" smtClean="0"/>
              <a:pPr/>
              <a:t>9/18/2019</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DDF96AF5-D00F-4838-A04F-9FC945A65D1C}"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23FF8F4-8D5E-4665-B786-41F957EFEDCF}" type="datetimeFigureOut">
              <a:rPr lang="en-US" smtClean="0"/>
              <a:pPr/>
              <a:t>9/18/2019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F96AF5-D00F-4838-A04F-9FC945A65D1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A23FF8F4-8D5E-4665-B786-41F957EFEDCF}" type="datetimeFigureOut">
              <a:rPr lang="en-US" smtClean="0"/>
              <a:pPr/>
              <a:t>9/18/2019</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DDF96AF5-D00F-4838-A04F-9FC945A65D1C}"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A23FF8F4-8D5E-4665-B786-41F957EFEDCF}" type="datetimeFigureOut">
              <a:rPr lang="en-US" smtClean="0"/>
              <a:pPr/>
              <a:t>9/18/2019</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DDF96AF5-D00F-4838-A04F-9FC945A65D1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slideLayout" Target="../slideLayouts/slideLayout7.xml"/><Relationship Id="rId1" Type="http://schemas.openxmlformats.org/officeDocument/2006/relationships/tags" Target="../tags/tag10.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3" Type="http://schemas.openxmlformats.org/officeDocument/2006/relationships/hyperlink" Target="http://www.random.org/integers/" TargetMode="Externa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xml"/><Relationship Id="rId1" Type="http://schemas.openxmlformats.org/officeDocument/2006/relationships/tags" Target="../tags/tag23.xml"/><Relationship Id="rId4" Type="http://schemas.openxmlformats.org/officeDocument/2006/relationships/notesSlide" Target="../notesSlides/notesSlide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8" Type="http://schemas.openxmlformats.org/officeDocument/2006/relationships/hyperlink" Target="https://www.flickr.com/photos/ajc1/7543411458" TargetMode="External"/><Relationship Id="rId3" Type="http://schemas.openxmlformats.org/officeDocument/2006/relationships/image" Target="../media/image10.png"/><Relationship Id="rId7" Type="http://schemas.openxmlformats.org/officeDocument/2006/relationships/hyperlink" Target="https://creativecommons.org/licenses/by-sa/2.0/" TargetMode="External"/><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hyperlink" Target="https://www.flickr.com/photos/10ch/3204310433" TargetMode="External"/><Relationship Id="rId5" Type="http://schemas.openxmlformats.org/officeDocument/2006/relationships/image" Target="../media/image5.png"/><Relationship Id="rId4" Type="http://schemas.openxmlformats.org/officeDocument/2006/relationships/image" Target="../media/image4.wmf"/></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notesSlide" Target="../notesSlides/notesSlide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5.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7.xml"/><Relationship Id="rId1" Type="http://schemas.openxmlformats.org/officeDocument/2006/relationships/tags" Target="../tags/tag3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p:cNvSpPr txBox="1">
            <a:spLocks/>
          </p:cNvSpPr>
          <p:nvPr/>
        </p:nvSpPr>
        <p:spPr>
          <a:xfrm>
            <a:off x="1295400" y="2133600"/>
            <a:ext cx="6934200" cy="1905000"/>
          </a:xfrm>
          <a:prstGeom prst="rect">
            <a:avLst/>
          </a:prstGeom>
        </p:spPr>
        <p:txBody>
          <a:bodyPr vert="horz" lIns="91440" tIns="45720" rIns="91440" bIns="45720" rtlCol="0">
            <a:normAutofit fontScale="92500" lnSpcReduction="10000"/>
          </a:bodyPr>
          <a:lstStyle/>
          <a:p>
            <a:pPr marL="0" marR="0" lvl="0" indent="0" defTabSz="914400" rtl="0" eaLnBrk="1" fontAlgn="auto" latinLnBrk="0" hangingPunct="1">
              <a:lnSpc>
                <a:spcPct val="100000"/>
              </a:lnSpc>
              <a:spcBef>
                <a:spcPct val="20000"/>
              </a:spcBef>
              <a:spcAft>
                <a:spcPts val="0"/>
              </a:spcAft>
              <a:buClrTx/>
              <a:buSzTx/>
              <a:tabLst/>
              <a:defRPr/>
            </a:pPr>
            <a:r>
              <a:rPr lang="en-US" sz="4400" b="1" dirty="0" smtClean="0">
                <a:solidFill>
                  <a:schemeClr val="tx2"/>
                </a:solidFill>
              </a:rPr>
              <a:t>Section 1.2:</a:t>
            </a:r>
          </a:p>
          <a:p>
            <a:pPr marL="0" marR="0" lvl="0" indent="0" defTabSz="914400" rtl="0" eaLnBrk="1" fontAlgn="auto" latinLnBrk="0" hangingPunct="1">
              <a:lnSpc>
                <a:spcPct val="100000"/>
              </a:lnSpc>
              <a:spcBef>
                <a:spcPct val="20000"/>
              </a:spcBef>
              <a:spcAft>
                <a:spcPts val="0"/>
              </a:spcAft>
              <a:buClrTx/>
              <a:buSzTx/>
              <a:tabLst/>
              <a:defRPr/>
            </a:pPr>
            <a:r>
              <a:rPr lang="en-US" sz="4400" b="1" dirty="0" smtClean="0">
                <a:solidFill>
                  <a:schemeClr val="tx2"/>
                </a:solidFill>
              </a:rPr>
              <a:t>Sampling from a Population</a:t>
            </a:r>
          </a:p>
        </p:txBody>
      </p:sp>
      <p:sp>
        <p:nvSpPr>
          <p:cNvPr id="2" name="Footer Placeholder 1"/>
          <p:cNvSpPr>
            <a:spLocks noGrp="1"/>
          </p:cNvSpPr>
          <p:nvPr>
            <p:ph type="ftr" sz="quarter" idx="11"/>
          </p:nvPr>
        </p:nvSpPr>
        <p:spPr>
          <a:xfrm>
            <a:off x="2334491" y="6248400"/>
            <a:ext cx="6809508" cy="609600"/>
          </a:xfrm>
        </p:spPr>
        <p:txBody>
          <a:bodyPr/>
          <a:lstStyle/>
          <a:p>
            <a:pPr lvl="0"/>
            <a:r>
              <a:rPr lang="en-US" sz="2700" b="1" u="sng" dirty="0" smtClean="0"/>
              <a:t>Statistics: Unlocking </a:t>
            </a:r>
            <a:r>
              <a:rPr lang="en-US" sz="2700" b="1" u="sng" dirty="0"/>
              <a:t>the Power of </a:t>
            </a:r>
            <a:r>
              <a:rPr lang="en-US" sz="2700" b="1" u="sng" dirty="0" smtClean="0"/>
              <a:t>Data</a:t>
            </a:r>
            <a:r>
              <a:rPr lang="en-US" sz="2700" b="1" dirty="0"/>
              <a:t>,</a:t>
            </a:r>
            <a:r>
              <a:rPr lang="en-US" sz="2700" b="1" dirty="0" smtClean="0"/>
              <a:t> Lock</a:t>
            </a:r>
            <a:r>
              <a:rPr lang="en-US" sz="2700" b="1" baseline="30000" dirty="0" smtClean="0"/>
              <a:t>5</a:t>
            </a:r>
            <a:endParaRPr lang="en-US" sz="2700" b="1" u="sng" dirty="0"/>
          </a:p>
          <a:p>
            <a:endParaRPr lang="en-US" sz="2700" dirty="0"/>
          </a:p>
        </p:txBody>
      </p:sp>
      <p:sp>
        <p:nvSpPr>
          <p:cNvPr id="3" name="TextBox 2"/>
          <p:cNvSpPr txBox="1"/>
          <p:nvPr/>
        </p:nvSpPr>
        <p:spPr>
          <a:xfrm>
            <a:off x="2334491" y="3886200"/>
            <a:ext cx="5715000" cy="1040285"/>
          </a:xfrm>
          <a:prstGeom prst="rect">
            <a:avLst/>
          </a:prstGeom>
          <a:noFill/>
        </p:spPr>
        <p:txBody>
          <a:bodyPr wrap="square" rtlCol="0">
            <a:spAutoFit/>
          </a:bodyPr>
          <a:lstStyle/>
          <a:p>
            <a:pPr lvl="0">
              <a:spcBef>
                <a:spcPct val="20000"/>
              </a:spcBef>
              <a:defRPr/>
            </a:pPr>
            <a:endParaRPr lang="en-US" sz="2800" dirty="0" smtClean="0">
              <a:solidFill>
                <a:schemeClr val="bg2">
                  <a:lumMod val="20000"/>
                  <a:lumOff val="80000"/>
                </a:schemeClr>
              </a:solidFill>
            </a:endParaRPr>
          </a:p>
          <a:p>
            <a:pPr lvl="0">
              <a:spcBef>
                <a:spcPct val="20000"/>
              </a:spcBef>
              <a:defRPr/>
            </a:pPr>
            <a:r>
              <a:rPr lang="en-US" sz="2800" dirty="0" smtClean="0">
                <a:solidFill>
                  <a:schemeClr val="bg2">
                    <a:lumMod val="20000"/>
                    <a:lumOff val="80000"/>
                  </a:schemeClr>
                </a:solidFill>
              </a:rPr>
              <a:t>Professor </a:t>
            </a:r>
            <a:r>
              <a:rPr lang="en-US" sz="2800" dirty="0">
                <a:solidFill>
                  <a:schemeClr val="bg2">
                    <a:lumMod val="20000"/>
                    <a:lumOff val="80000"/>
                  </a:schemeClr>
                </a:solidFill>
              </a:rPr>
              <a:t>Kathryn </a:t>
            </a:r>
            <a:r>
              <a:rPr lang="en-US" sz="2800" dirty="0" err="1" smtClean="0">
                <a:solidFill>
                  <a:schemeClr val="bg2">
                    <a:lumMod val="20000"/>
                    <a:lumOff val="80000"/>
                  </a:schemeClr>
                </a:solidFill>
              </a:rPr>
              <a:t>Dobeck</a:t>
            </a:r>
            <a:endParaRPr lang="en-US" sz="2800" dirty="0">
              <a:solidFill>
                <a:schemeClr val="bg2">
                  <a:lumMod val="20000"/>
                  <a:lumOff val="80000"/>
                </a:schemeClr>
              </a:solidFill>
            </a:endParaRPr>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lstStyle/>
          <a:p>
            <a:r>
              <a:rPr lang="en-US" b="1" dirty="0" smtClean="0"/>
              <a:t>Sample vs. Population</a:t>
            </a:r>
            <a:endParaRPr lang="en-US" b="1" dirty="0"/>
          </a:p>
        </p:txBody>
      </p:sp>
      <p:sp>
        <p:nvSpPr>
          <p:cNvPr id="2" name="Content Placeholder 1"/>
          <p:cNvSpPr>
            <a:spLocks noGrp="1"/>
          </p:cNvSpPr>
          <p:nvPr>
            <p:ph sz="quarter" idx="1"/>
          </p:nvPr>
        </p:nvSpPr>
        <p:spPr>
          <a:xfrm>
            <a:off x="-3018" y="1516454"/>
            <a:ext cx="9147017" cy="5341545"/>
          </a:xfrm>
        </p:spPr>
        <p:txBody>
          <a:bodyPr>
            <a:normAutofit/>
          </a:bodyPr>
          <a:lstStyle/>
          <a:p>
            <a:pPr>
              <a:spcBef>
                <a:spcPts val="0"/>
              </a:spcBef>
            </a:pPr>
            <a:r>
              <a:rPr lang="en-US" sz="3200" dirty="0" smtClean="0">
                <a:solidFill>
                  <a:schemeClr val="tx2"/>
                </a:solidFill>
              </a:rPr>
              <a:t>A </a:t>
            </a:r>
            <a:r>
              <a:rPr lang="en-US" sz="3200" b="1" i="1" dirty="0" smtClean="0">
                <a:solidFill>
                  <a:schemeClr val="accent5">
                    <a:lumMod val="50000"/>
                  </a:schemeClr>
                </a:solidFill>
              </a:rPr>
              <a:t>population</a:t>
            </a:r>
            <a:r>
              <a:rPr lang="en-US" sz="3200" dirty="0" smtClean="0">
                <a:solidFill>
                  <a:schemeClr val="accent5">
                    <a:lumMod val="50000"/>
                  </a:schemeClr>
                </a:solidFill>
              </a:rPr>
              <a:t> </a:t>
            </a:r>
            <a:r>
              <a:rPr lang="en-US" sz="3200" dirty="0" smtClean="0">
                <a:solidFill>
                  <a:schemeClr val="tx2"/>
                </a:solidFill>
              </a:rPr>
              <a:t>includes all individuals or objects of interest</a:t>
            </a:r>
          </a:p>
          <a:p>
            <a:pPr>
              <a:spcBef>
                <a:spcPts val="0"/>
              </a:spcBef>
            </a:pPr>
            <a:endParaRPr lang="en-US" sz="3200" dirty="0" smtClean="0">
              <a:solidFill>
                <a:schemeClr val="tx2"/>
              </a:solidFill>
            </a:endParaRPr>
          </a:p>
          <a:p>
            <a:pPr>
              <a:spcBef>
                <a:spcPts val="0"/>
              </a:spcBef>
            </a:pPr>
            <a:r>
              <a:rPr lang="en-US" sz="3200" dirty="0" smtClean="0">
                <a:solidFill>
                  <a:schemeClr val="tx2"/>
                </a:solidFill>
              </a:rPr>
              <a:t>A </a:t>
            </a:r>
            <a:r>
              <a:rPr lang="en-US" sz="3200" b="1" i="1" dirty="0" smtClean="0">
                <a:solidFill>
                  <a:schemeClr val="accent5">
                    <a:lumMod val="50000"/>
                  </a:schemeClr>
                </a:solidFill>
              </a:rPr>
              <a:t>sample</a:t>
            </a:r>
            <a:r>
              <a:rPr lang="en-US" sz="3200" dirty="0" smtClean="0">
                <a:solidFill>
                  <a:schemeClr val="tx2"/>
                </a:solidFill>
              </a:rPr>
              <a:t> is comprised of all of the cases on which we have collected data. A sample is a </a:t>
            </a:r>
            <a:r>
              <a:rPr lang="en-US" sz="3200" i="1" dirty="0" smtClean="0">
                <a:solidFill>
                  <a:schemeClr val="tx2"/>
                </a:solidFill>
              </a:rPr>
              <a:t>subset</a:t>
            </a:r>
            <a:r>
              <a:rPr lang="en-US" sz="3200" dirty="0" smtClean="0">
                <a:solidFill>
                  <a:schemeClr val="tx2"/>
                </a:solidFill>
              </a:rPr>
              <a:t> of the population</a:t>
            </a:r>
          </a:p>
          <a:p>
            <a:pPr>
              <a:spcBef>
                <a:spcPts val="0"/>
              </a:spcBef>
            </a:pPr>
            <a:endParaRPr lang="en-US" sz="3200" dirty="0" smtClean="0">
              <a:solidFill>
                <a:schemeClr val="tx2"/>
              </a:solidFill>
            </a:endParaRPr>
          </a:p>
          <a:p>
            <a:pPr>
              <a:spcBef>
                <a:spcPts val="0"/>
              </a:spcBef>
            </a:pPr>
            <a:r>
              <a:rPr lang="en-US" sz="3200" b="1" i="1" dirty="0">
                <a:solidFill>
                  <a:schemeClr val="accent5">
                    <a:lumMod val="50000"/>
                  </a:schemeClr>
                </a:solidFill>
              </a:rPr>
              <a:t>Statistical inference </a:t>
            </a:r>
            <a:r>
              <a:rPr lang="en-US" sz="3200" dirty="0" smtClean="0">
                <a:solidFill>
                  <a:schemeClr val="tx2"/>
                </a:solidFill>
              </a:rPr>
              <a:t>is the process of using data from a sample to gain information about the  population</a:t>
            </a:r>
            <a:endParaRPr lang="en-US" sz="3200" b="1" i="1" dirty="0" smtClean="0">
              <a:solidFill>
                <a:schemeClr val="tx2"/>
              </a:solidFill>
            </a:endParaRPr>
          </a:p>
          <a:p>
            <a:pPr>
              <a:spcBef>
                <a:spcPts val="0"/>
              </a:spcBef>
              <a:buNone/>
            </a:pPr>
            <a:endParaRPr lang="en-US" sz="3200" dirty="0" smtClean="0">
              <a:solidFill>
                <a:schemeClr val="tx2"/>
              </a:solidFill>
            </a:endParaRPr>
          </a:p>
          <a:p>
            <a:pPr>
              <a:spcBef>
                <a:spcPts val="0"/>
              </a:spcBef>
              <a:buNone/>
            </a:pPr>
            <a:endParaRPr lang="en-US" sz="3200" dirty="0" smtClean="0">
              <a:solidFill>
                <a:schemeClr val="tx2"/>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0"/>
            <a:ext cx="9144000" cy="2895600"/>
          </a:xfrm>
        </p:spPr>
        <p:txBody>
          <a:bodyPr>
            <a:noAutofit/>
          </a:bodyPr>
          <a:lstStyle/>
          <a:p>
            <a:r>
              <a:rPr lang="en-US" sz="3200" b="1" dirty="0" smtClean="0"/>
              <a:t>State whether the data in the following description are best described as a population or a sample.</a:t>
            </a:r>
            <a:br>
              <a:rPr lang="en-US" sz="3200" b="1" dirty="0" smtClean="0"/>
            </a:br>
            <a:r>
              <a:rPr lang="en-US" sz="3200" b="1" dirty="0" smtClean="0"/>
              <a:t/>
            </a:r>
            <a:br>
              <a:rPr lang="en-US" sz="3200" b="1" dirty="0" smtClean="0"/>
            </a:br>
            <a:r>
              <a:rPr lang="en-US" sz="3200" b="1" dirty="0" smtClean="0"/>
              <a:t>A survey to analyze student participation in LCCC’s Welcome Week is emailed to 50 LCCC students and all of them respond.</a:t>
            </a:r>
            <a:endParaRPr lang="en-US" sz="3200" b="1" dirty="0"/>
          </a:p>
        </p:txBody>
      </p:sp>
      <p:sp>
        <p:nvSpPr>
          <p:cNvPr id="3" name="TPAnswers"/>
          <p:cNvSpPr>
            <a:spLocks noGrp="1"/>
          </p:cNvSpPr>
          <p:nvPr>
            <p:ph sz="quarter" idx="4294967295"/>
            <p:custDataLst>
              <p:tags r:id="rId2"/>
            </p:custDataLst>
          </p:nvPr>
        </p:nvSpPr>
        <p:spPr>
          <a:xfrm>
            <a:off x="0" y="3124200"/>
            <a:ext cx="4495800" cy="3733800"/>
          </a:xfrm>
        </p:spPr>
        <p:txBody>
          <a:bodyPr>
            <a:noAutofit/>
          </a:bodyPr>
          <a:lstStyle/>
          <a:p>
            <a:pPr marL="514350" indent="-514350">
              <a:spcBef>
                <a:spcPct val="20000"/>
              </a:spcBef>
              <a:buFont typeface="Wingdings"/>
              <a:buAutoNum type="arabicPeriod"/>
            </a:pPr>
            <a:r>
              <a:rPr lang="en-US" dirty="0" smtClean="0"/>
              <a:t>Population</a:t>
            </a:r>
          </a:p>
          <a:p>
            <a:pPr marL="514350" indent="-514350">
              <a:spcBef>
                <a:spcPct val="20000"/>
              </a:spcBef>
              <a:buFont typeface="Wingdings"/>
              <a:buAutoNum type="arabicPeriod"/>
            </a:pPr>
            <a:r>
              <a:rPr lang="en-US" dirty="0" smtClean="0"/>
              <a:t>Sample</a:t>
            </a:r>
            <a:endParaRPr lang="en-US" dirty="0"/>
          </a:p>
        </p:txBody>
      </p:sp>
    </p:spTree>
    <p:custDataLst>
      <p:tags r:id="rId1"/>
    </p:custDataLst>
    <p:extLst>
      <p:ext uri="{BB962C8B-B14F-4D97-AF65-F5344CB8AC3E}">
        <p14:creationId xmlns:p14="http://schemas.microsoft.com/office/powerpoint/2010/main" val="31030517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2"/>
          <p:cNvSpPr txBox="1">
            <a:spLocks/>
          </p:cNvSpPr>
          <p:nvPr/>
        </p:nvSpPr>
        <p:spPr>
          <a:xfrm>
            <a:off x="457200" y="0"/>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accent6">
                    <a:lumMod val="75000"/>
                  </a:schemeClr>
                </a:solidFill>
                <a:effectLst/>
                <a:uLnTx/>
                <a:uFillTx/>
                <a:latin typeface="+mj-lt"/>
                <a:ea typeface="+mj-ea"/>
                <a:cs typeface="+mj-cs"/>
              </a:rPr>
              <a:t>Sampling</a:t>
            </a:r>
            <a:endParaRPr kumimoji="0" lang="en-US" sz="4400" b="1" i="0" u="none" strike="noStrike" kern="1200" cap="none" spc="0" normalizeH="0" baseline="0" noProof="0" dirty="0">
              <a:ln>
                <a:noFill/>
              </a:ln>
              <a:solidFill>
                <a:schemeClr val="accent6">
                  <a:lumMod val="75000"/>
                </a:schemeClr>
              </a:solidFill>
              <a:effectLst/>
              <a:uLnTx/>
              <a:uFillTx/>
              <a:latin typeface="+mj-lt"/>
              <a:ea typeface="+mj-ea"/>
              <a:cs typeface="+mj-cs"/>
            </a:endParaRPr>
          </a:p>
        </p:txBody>
      </p:sp>
      <p:sp>
        <p:nvSpPr>
          <p:cNvPr id="11" name="Cloud"/>
          <p:cNvSpPr>
            <a:spLocks noChangeAspect="1" noEditPoints="1" noChangeArrowheads="1"/>
          </p:cNvSpPr>
          <p:nvPr/>
        </p:nvSpPr>
        <p:spPr bwMode="auto">
          <a:xfrm>
            <a:off x="398928" y="1219200"/>
            <a:ext cx="4890535" cy="32766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60000"/>
              <a:lumOff val="40000"/>
            </a:schemeClr>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12" name="Text Box 5"/>
          <p:cNvSpPr txBox="1">
            <a:spLocks noChangeArrowheads="1"/>
          </p:cNvSpPr>
          <p:nvPr/>
        </p:nvSpPr>
        <p:spPr bwMode="auto">
          <a:xfrm>
            <a:off x="1219200" y="2430959"/>
            <a:ext cx="3124200" cy="769441"/>
          </a:xfrm>
          <a:prstGeom prst="rect">
            <a:avLst/>
          </a:prstGeom>
          <a:noFill/>
          <a:ln w="9525">
            <a:noFill/>
            <a:miter lim="800000"/>
            <a:headEnd/>
            <a:tailEnd/>
          </a:ln>
        </p:spPr>
        <p:txBody>
          <a:bodyPr wrap="square">
            <a:spAutoFit/>
          </a:bodyPr>
          <a:lstStyle/>
          <a:p>
            <a:pPr>
              <a:spcBef>
                <a:spcPct val="50000"/>
              </a:spcBef>
            </a:pPr>
            <a:r>
              <a:rPr lang="en-US" sz="4400" b="1" dirty="0">
                <a:solidFill>
                  <a:schemeClr val="tx1"/>
                </a:solidFill>
              </a:rPr>
              <a:t>Population</a:t>
            </a:r>
          </a:p>
        </p:txBody>
      </p:sp>
      <p:grpSp>
        <p:nvGrpSpPr>
          <p:cNvPr id="2" name="Group 17"/>
          <p:cNvGrpSpPr>
            <a:grpSpLocks/>
          </p:cNvGrpSpPr>
          <p:nvPr/>
        </p:nvGrpSpPr>
        <p:grpSpPr bwMode="auto">
          <a:xfrm>
            <a:off x="5410201" y="4038600"/>
            <a:ext cx="1700893" cy="1371600"/>
            <a:chOff x="3984" y="3120"/>
            <a:chExt cx="1200" cy="804"/>
          </a:xfrm>
          <a:solidFill>
            <a:schemeClr val="accent1">
              <a:lumMod val="60000"/>
              <a:lumOff val="40000"/>
            </a:schemeClr>
          </a:solidFill>
        </p:grpSpPr>
        <p:sp>
          <p:nvSpPr>
            <p:cNvPr id="14" name="Cloud"/>
            <p:cNvSpPr>
              <a:spLocks noChangeAspect="1" noEditPoints="1" noChangeArrowheads="1"/>
            </p:cNvSpPr>
            <p:nvPr/>
          </p:nvSpPr>
          <p:spPr bwMode="auto">
            <a:xfrm>
              <a:off x="3984" y="3120"/>
              <a:ext cx="1200" cy="804"/>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p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15" name="Text Box 7"/>
            <p:cNvSpPr txBox="1">
              <a:spLocks noChangeArrowheads="1"/>
            </p:cNvSpPr>
            <p:nvPr/>
          </p:nvSpPr>
          <p:spPr bwMode="auto">
            <a:xfrm>
              <a:off x="4117" y="3335"/>
              <a:ext cx="914" cy="307"/>
            </a:xfrm>
            <a:prstGeom prst="rect">
              <a:avLst/>
            </a:prstGeom>
            <a:grpFill/>
            <a:ln w="9525">
              <a:noFill/>
              <a:miter lim="800000"/>
              <a:headEnd/>
              <a:tailEnd/>
            </a:ln>
          </p:spPr>
          <p:txBody>
            <a:bodyPr wrap="square">
              <a:spAutoFit/>
            </a:bodyPr>
            <a:lstStyle/>
            <a:p>
              <a:pPr>
                <a:spcBef>
                  <a:spcPct val="50000"/>
                </a:spcBef>
              </a:pPr>
              <a:r>
                <a:rPr lang="en-US" sz="2800" b="1" dirty="0">
                  <a:solidFill>
                    <a:schemeClr val="tx1"/>
                  </a:solidFill>
                </a:rPr>
                <a:t>Sample</a:t>
              </a:r>
            </a:p>
          </p:txBody>
        </p:sp>
      </p:grpSp>
      <p:sp>
        <p:nvSpPr>
          <p:cNvPr id="16" name="AutoShape 12"/>
          <p:cNvSpPr>
            <a:spLocks noChangeArrowheads="1"/>
          </p:cNvSpPr>
          <p:nvPr/>
        </p:nvSpPr>
        <p:spPr bwMode="auto">
          <a:xfrm>
            <a:off x="3200400" y="1676400"/>
            <a:ext cx="3657600" cy="3733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756" y="11808"/>
                </a:moveTo>
                <a:cubicBezTo>
                  <a:pt x="19794" y="11473"/>
                  <a:pt x="19813" y="11137"/>
                  <a:pt x="19813" y="10800"/>
                </a:cubicBezTo>
                <a:cubicBezTo>
                  <a:pt x="19813" y="5822"/>
                  <a:pt x="15777" y="1787"/>
                  <a:pt x="10800" y="1787"/>
                </a:cubicBezTo>
                <a:cubicBezTo>
                  <a:pt x="8447" y="1786"/>
                  <a:pt x="6187" y="2706"/>
                  <a:pt x="4504" y="4350"/>
                </a:cubicBezTo>
                <a:lnTo>
                  <a:pt x="3256" y="3071"/>
                </a:lnTo>
                <a:cubicBezTo>
                  <a:pt x="5273" y="1102"/>
                  <a:pt x="7980" y="-1"/>
                  <a:pt x="10800" y="0"/>
                </a:cubicBezTo>
                <a:cubicBezTo>
                  <a:pt x="16764" y="0"/>
                  <a:pt x="21600" y="4835"/>
                  <a:pt x="21600" y="10800"/>
                </a:cubicBezTo>
                <a:cubicBezTo>
                  <a:pt x="21600" y="11203"/>
                  <a:pt x="21577" y="11607"/>
                  <a:pt x="21532" y="12008"/>
                </a:cubicBezTo>
                <a:lnTo>
                  <a:pt x="24215" y="12311"/>
                </a:lnTo>
                <a:lnTo>
                  <a:pt x="20241" y="15480"/>
                </a:lnTo>
                <a:lnTo>
                  <a:pt x="17073" y="11506"/>
                </a:lnTo>
                <a:lnTo>
                  <a:pt x="19756" y="11808"/>
                </a:lnTo>
                <a:close/>
              </a:path>
            </a:pathLst>
          </a:custGeom>
          <a:solidFill>
            <a:srgbClr val="FFFF66"/>
          </a:solidFill>
          <a:ln w="9525">
            <a:solidFill>
              <a:schemeClr val="tx1"/>
            </a:solidFill>
            <a:miter lim="800000"/>
            <a:headEnd/>
            <a:tailEnd/>
          </a:ln>
        </p:spPr>
        <p:txBody>
          <a:bodyPr wrap="none" anchor="ctr"/>
          <a:lstStyle/>
          <a:p>
            <a:endParaRPr lang="en-US"/>
          </a:p>
        </p:txBody>
      </p:sp>
      <p:sp>
        <p:nvSpPr>
          <p:cNvPr id="17" name="Text Box 13"/>
          <p:cNvSpPr txBox="1">
            <a:spLocks noChangeArrowheads="1"/>
          </p:cNvSpPr>
          <p:nvPr/>
        </p:nvSpPr>
        <p:spPr bwMode="auto">
          <a:xfrm>
            <a:off x="5715000" y="2448580"/>
            <a:ext cx="1752600" cy="523220"/>
          </a:xfrm>
          <a:prstGeom prst="rect">
            <a:avLst/>
          </a:prstGeom>
          <a:solidFill>
            <a:srgbClr val="FFFF66"/>
          </a:solidFill>
          <a:ln w="9525">
            <a:noFill/>
            <a:miter lim="800000"/>
            <a:headEnd/>
            <a:tailEnd/>
          </a:ln>
        </p:spPr>
        <p:txBody>
          <a:bodyPr wrap="square">
            <a:spAutoFit/>
          </a:bodyPr>
          <a:lstStyle/>
          <a:p>
            <a:pPr>
              <a:spcBef>
                <a:spcPct val="50000"/>
              </a:spcBef>
            </a:pPr>
            <a:r>
              <a:rPr lang="en-US" sz="2800" dirty="0" smtClean="0"/>
              <a:t>Sampling</a:t>
            </a:r>
            <a:endParaRPr lang="en-US" sz="2800" dirty="0">
              <a:solidFill>
                <a:schemeClr val="tx1"/>
              </a:solidFill>
            </a:endParaRPr>
          </a:p>
        </p:txBody>
      </p:sp>
      <p:sp>
        <p:nvSpPr>
          <p:cNvPr id="13" name="TextBox 12"/>
          <p:cNvSpPr txBox="1"/>
          <p:nvPr/>
        </p:nvSpPr>
        <p:spPr>
          <a:xfrm>
            <a:off x="228600" y="5599093"/>
            <a:ext cx="8610600" cy="954107"/>
          </a:xfrm>
          <a:prstGeom prst="rect">
            <a:avLst/>
          </a:prstGeom>
          <a:noFill/>
        </p:spPr>
        <p:txBody>
          <a:bodyPr wrap="square" rtlCol="0">
            <a:spAutoFit/>
          </a:bodyPr>
          <a:lstStyle/>
          <a:p>
            <a:r>
              <a:rPr lang="en-US" sz="2800" dirty="0" smtClean="0">
                <a:solidFill>
                  <a:schemeClr val="tx2"/>
                </a:solidFill>
              </a:rPr>
              <a:t>GOAL:  Select a sample that resembles the population, 	  only smaller</a:t>
            </a:r>
            <a:endParaRPr lang="en-US" sz="2800" dirty="0">
              <a:solidFill>
                <a:schemeClr val="tx2"/>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2"/>
          <p:cNvSpPr txBox="1">
            <a:spLocks/>
          </p:cNvSpPr>
          <p:nvPr/>
        </p:nvSpPr>
        <p:spPr>
          <a:xfrm>
            <a:off x="457200" y="0"/>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accent6">
                    <a:lumMod val="75000"/>
                  </a:schemeClr>
                </a:solidFill>
                <a:effectLst/>
                <a:uLnTx/>
                <a:uFillTx/>
                <a:latin typeface="+mj-lt"/>
                <a:ea typeface="+mj-ea"/>
                <a:cs typeface="+mj-cs"/>
              </a:rPr>
              <a:t>Dewey Defeats Truman</a:t>
            </a:r>
            <a:endParaRPr kumimoji="0" lang="en-US" sz="4400" b="1" i="0" u="none" strike="noStrike" kern="1200" cap="none" spc="0" normalizeH="0" baseline="0" noProof="0" dirty="0">
              <a:ln>
                <a:noFill/>
              </a:ln>
              <a:solidFill>
                <a:schemeClr val="accent6">
                  <a:lumMod val="75000"/>
                </a:schemeClr>
              </a:solidFill>
              <a:effectLst/>
              <a:uLnTx/>
              <a:uFillTx/>
              <a:latin typeface="+mj-lt"/>
              <a:ea typeface="+mj-ea"/>
              <a:cs typeface="+mj-cs"/>
            </a:endParaRPr>
          </a:p>
        </p:txBody>
      </p:sp>
      <p:pic>
        <p:nvPicPr>
          <p:cNvPr id="2050" name="Picture 2" descr="http://onlineorganizing.com/admin/my_documents/my_pictures/E868A_dewey_defeats_truman.jpg"/>
          <p:cNvPicPr>
            <a:picLocks noChangeAspect="1" noChangeArrowheads="1"/>
          </p:cNvPicPr>
          <p:nvPr/>
        </p:nvPicPr>
        <p:blipFill>
          <a:blip r:embed="rId3" cstate="print"/>
          <a:srcRect/>
          <a:stretch>
            <a:fillRect/>
          </a:stretch>
        </p:blipFill>
        <p:spPr bwMode="auto">
          <a:xfrm>
            <a:off x="1591235" y="990600"/>
            <a:ext cx="5943600" cy="4457700"/>
          </a:xfrm>
          <a:prstGeom prst="rect">
            <a:avLst/>
          </a:prstGeom>
          <a:noFill/>
        </p:spPr>
      </p:pic>
      <p:sp>
        <p:nvSpPr>
          <p:cNvPr id="2" name="TextBox 1"/>
          <p:cNvSpPr txBox="1"/>
          <p:nvPr/>
        </p:nvSpPr>
        <p:spPr>
          <a:xfrm>
            <a:off x="1515035" y="5448300"/>
            <a:ext cx="6096000" cy="538609"/>
          </a:xfrm>
          <a:prstGeom prst="rect">
            <a:avLst/>
          </a:prstGeom>
          <a:noFill/>
        </p:spPr>
        <p:txBody>
          <a:bodyPr wrap="square" rtlCol="0">
            <a:spAutoFit/>
          </a:bodyPr>
          <a:lstStyle/>
          <a:p>
            <a:r>
              <a:rPr lang="en-US" sz="2900" dirty="0" smtClean="0">
                <a:solidFill>
                  <a:schemeClr val="accent6">
                    <a:lumMod val="75000"/>
                  </a:schemeClr>
                </a:solidFill>
              </a:rPr>
              <a:t>The 33</a:t>
            </a:r>
            <a:r>
              <a:rPr lang="en-US" sz="2900" baseline="30000" dirty="0" smtClean="0">
                <a:solidFill>
                  <a:schemeClr val="accent6">
                    <a:lumMod val="75000"/>
                  </a:schemeClr>
                </a:solidFill>
              </a:rPr>
              <a:t>rd</a:t>
            </a:r>
            <a:r>
              <a:rPr lang="en-US" sz="2900" dirty="0" smtClean="0">
                <a:solidFill>
                  <a:schemeClr val="accent6">
                    <a:lumMod val="75000"/>
                  </a:schemeClr>
                </a:solidFill>
              </a:rPr>
              <a:t> president of the United States?</a:t>
            </a:r>
            <a:endParaRPr lang="en-US" sz="2900" dirty="0">
              <a:solidFill>
                <a:schemeClr val="accent6">
                  <a:lumMod val="75000"/>
                </a:schemeClr>
              </a:solidFill>
            </a:endParaRPr>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
          </p:nvPr>
        </p:nvSpPr>
        <p:spPr>
          <a:xfrm>
            <a:off x="0" y="1447800"/>
            <a:ext cx="9144000" cy="5410200"/>
          </a:xfrm>
        </p:spPr>
        <p:txBody>
          <a:bodyPr>
            <a:normAutofit/>
          </a:bodyPr>
          <a:lstStyle/>
          <a:p>
            <a:pPr>
              <a:spcBef>
                <a:spcPts val="0"/>
              </a:spcBef>
            </a:pPr>
            <a:r>
              <a:rPr lang="en-US" dirty="0" smtClean="0">
                <a:solidFill>
                  <a:schemeClr val="tx2"/>
                </a:solidFill>
              </a:rPr>
              <a:t>The day after the 1948 presidential election, the </a:t>
            </a:r>
            <a:r>
              <a:rPr lang="en-US" i="1" dirty="0" smtClean="0">
                <a:solidFill>
                  <a:schemeClr val="tx2"/>
                </a:solidFill>
              </a:rPr>
              <a:t>Chicago Tribune</a:t>
            </a:r>
            <a:r>
              <a:rPr lang="en-US" dirty="0" smtClean="0">
                <a:solidFill>
                  <a:schemeClr val="tx2"/>
                </a:solidFill>
              </a:rPr>
              <a:t> ran the headline “Dewey Defeats Truman.” However, Harry S. Truman defeated Thomas E. Dewey. The newspaper went to press before all the results had come in and the headline was based on results of a large telephone poll which showed Dewey sweeping Truman.</a:t>
            </a:r>
          </a:p>
          <a:p>
            <a:pPr>
              <a:spcBef>
                <a:spcPts val="0"/>
              </a:spcBef>
            </a:pPr>
            <a:r>
              <a:rPr lang="en-US" dirty="0" smtClean="0">
                <a:solidFill>
                  <a:schemeClr val="tx2"/>
                </a:solidFill>
              </a:rPr>
              <a:t>a) What is the sample and what is the population?</a:t>
            </a:r>
          </a:p>
          <a:p>
            <a:pPr marL="0" indent="0">
              <a:spcBef>
                <a:spcPts val="0"/>
              </a:spcBef>
              <a:buNone/>
            </a:pPr>
            <a:r>
              <a:rPr lang="en-US" dirty="0">
                <a:solidFill>
                  <a:schemeClr val="tx2"/>
                </a:solidFill>
              </a:rPr>
              <a:t>	</a:t>
            </a:r>
            <a:endParaRPr lang="en-US" dirty="0" smtClean="0">
              <a:solidFill>
                <a:schemeClr val="tx2"/>
              </a:solidFill>
            </a:endParaRPr>
          </a:p>
          <a:p>
            <a:pPr>
              <a:spcBef>
                <a:spcPts val="0"/>
              </a:spcBef>
              <a:buNone/>
            </a:pPr>
            <a:endParaRPr lang="en-US" dirty="0" smtClean="0">
              <a:solidFill>
                <a:schemeClr val="tx2"/>
              </a:solidFill>
            </a:endParaRPr>
          </a:p>
        </p:txBody>
      </p:sp>
      <p:sp>
        <p:nvSpPr>
          <p:cNvPr id="5" name="Title 1"/>
          <p:cNvSpPr>
            <a:spLocks noGrp="1"/>
          </p:cNvSpPr>
          <p:nvPr>
            <p:ph type="title"/>
          </p:nvPr>
        </p:nvSpPr>
        <p:spPr/>
        <p:txBody>
          <a:bodyPr/>
          <a:lstStyle/>
          <a:p>
            <a:r>
              <a:rPr lang="en-US" b="1" dirty="0"/>
              <a:t>Dewey Defeats Truman?</a:t>
            </a: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Dewey Defeats Truman?</a:t>
            </a:r>
            <a:endParaRPr lang="en-US" dirty="0"/>
          </a:p>
        </p:txBody>
      </p:sp>
      <p:sp>
        <p:nvSpPr>
          <p:cNvPr id="3" name="Content Placeholder 2"/>
          <p:cNvSpPr>
            <a:spLocks noGrp="1"/>
          </p:cNvSpPr>
          <p:nvPr>
            <p:ph sz="quarter" idx="1"/>
          </p:nvPr>
        </p:nvSpPr>
        <p:spPr>
          <a:xfrm>
            <a:off x="0" y="1447800"/>
            <a:ext cx="9144000" cy="5334000"/>
          </a:xfrm>
        </p:spPr>
        <p:txBody>
          <a:bodyPr/>
          <a:lstStyle/>
          <a:p>
            <a:pPr>
              <a:spcBef>
                <a:spcPts val="0"/>
              </a:spcBef>
            </a:pPr>
            <a:r>
              <a:rPr lang="en-US" dirty="0">
                <a:solidFill>
                  <a:schemeClr val="tx2"/>
                </a:solidFill>
              </a:rPr>
              <a:t>The day after the 1948 presidential election, the </a:t>
            </a:r>
            <a:r>
              <a:rPr lang="en-US" i="1" dirty="0">
                <a:solidFill>
                  <a:schemeClr val="tx2"/>
                </a:solidFill>
              </a:rPr>
              <a:t>Chicago Tribune</a:t>
            </a:r>
            <a:r>
              <a:rPr lang="en-US" dirty="0">
                <a:solidFill>
                  <a:schemeClr val="tx2"/>
                </a:solidFill>
              </a:rPr>
              <a:t> ran the headline “Dewey Defeats Truman.” However, Harry S. Truman defeated Thomas E. Dewey. The newspaper went to press before all the results had come in and the headline was based on results of a large telephone poll which showed Dewey sweeping Truman.</a:t>
            </a:r>
          </a:p>
          <a:p>
            <a:r>
              <a:rPr lang="en-US" dirty="0">
                <a:solidFill>
                  <a:schemeClr val="tx2"/>
                </a:solidFill>
              </a:rPr>
              <a:t>b) What did the pollsters want to infer about the population based on the sample</a:t>
            </a:r>
            <a:r>
              <a:rPr lang="en-US" dirty="0" smtClean="0">
                <a:solidFill>
                  <a:schemeClr val="tx2"/>
                </a:solidFill>
              </a:rPr>
              <a:t>?</a:t>
            </a:r>
          </a:p>
          <a:p>
            <a:pPr marL="0" indent="0">
              <a:buNone/>
            </a:pPr>
            <a:r>
              <a:rPr lang="en-US" dirty="0">
                <a:solidFill>
                  <a:schemeClr val="tx2"/>
                </a:solidFill>
              </a:rPr>
              <a:t>	</a:t>
            </a:r>
            <a:endParaRPr lang="en-US" dirty="0"/>
          </a:p>
        </p:txBody>
      </p:sp>
    </p:spTree>
    <p:extLst>
      <p:ext uri="{BB962C8B-B14F-4D97-AF65-F5344CB8AC3E}">
        <p14:creationId xmlns:p14="http://schemas.microsoft.com/office/powerpoint/2010/main" val="3831068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Dewey Defeats Truman?</a:t>
            </a:r>
            <a:endParaRPr lang="en-US" dirty="0"/>
          </a:p>
        </p:txBody>
      </p:sp>
      <p:sp>
        <p:nvSpPr>
          <p:cNvPr id="3" name="Content Placeholder 2"/>
          <p:cNvSpPr>
            <a:spLocks noGrp="1"/>
          </p:cNvSpPr>
          <p:nvPr>
            <p:ph sz="quarter" idx="1"/>
          </p:nvPr>
        </p:nvSpPr>
        <p:spPr>
          <a:xfrm>
            <a:off x="0" y="1447800"/>
            <a:ext cx="9144000" cy="5334000"/>
          </a:xfrm>
        </p:spPr>
        <p:txBody>
          <a:bodyPr>
            <a:normAutofit/>
          </a:bodyPr>
          <a:lstStyle/>
          <a:p>
            <a:pPr>
              <a:spcBef>
                <a:spcPts val="0"/>
              </a:spcBef>
            </a:pPr>
            <a:r>
              <a:rPr lang="en-US" dirty="0">
                <a:solidFill>
                  <a:schemeClr val="tx2"/>
                </a:solidFill>
              </a:rPr>
              <a:t>The day after the 1948 presidential election, the </a:t>
            </a:r>
            <a:r>
              <a:rPr lang="en-US" i="1" dirty="0">
                <a:solidFill>
                  <a:schemeClr val="tx2"/>
                </a:solidFill>
              </a:rPr>
              <a:t>Chicago Tribune</a:t>
            </a:r>
            <a:r>
              <a:rPr lang="en-US" dirty="0">
                <a:solidFill>
                  <a:schemeClr val="tx2"/>
                </a:solidFill>
              </a:rPr>
              <a:t> ran the headline “Dewey Defeats Truman.” However, Harry S. Truman defeated Thomas E. Dewey. The newspaper went to press before all the results had come in and the headline was based on results of a large telephone poll which showed Dewey sweeping Truman</a:t>
            </a:r>
            <a:r>
              <a:rPr lang="en-US" dirty="0" smtClean="0">
                <a:solidFill>
                  <a:schemeClr val="tx2"/>
                </a:solidFill>
              </a:rPr>
              <a:t>.</a:t>
            </a:r>
          </a:p>
          <a:p>
            <a:pPr>
              <a:spcBef>
                <a:spcPts val="0"/>
              </a:spcBef>
            </a:pPr>
            <a:r>
              <a:rPr lang="en-US" dirty="0">
                <a:solidFill>
                  <a:schemeClr val="tx2"/>
                </a:solidFill>
              </a:rPr>
              <a:t>c) Why do you think the telephone poll yielded such inaccurate results?</a:t>
            </a:r>
          </a:p>
          <a:p>
            <a:pPr marL="0" indent="0">
              <a:spcBef>
                <a:spcPts val="0"/>
              </a:spcBef>
              <a:buNone/>
            </a:pPr>
            <a:r>
              <a:rPr lang="en-US" dirty="0" smtClean="0">
                <a:solidFill>
                  <a:schemeClr val="tx2"/>
                </a:solidFill>
              </a:rPr>
              <a:t>	</a:t>
            </a:r>
            <a:endParaRPr lang="en-US" sz="2600" b="1" dirty="0">
              <a:solidFill>
                <a:schemeClr val="accent5">
                  <a:lumMod val="75000"/>
                </a:schemeClr>
              </a:solidFill>
              <a:latin typeface="Segoe Print" panose="02000600000000000000" pitchFamily="2" charset="0"/>
            </a:endParaRPr>
          </a:p>
        </p:txBody>
      </p:sp>
    </p:spTree>
    <p:extLst>
      <p:ext uri="{BB962C8B-B14F-4D97-AF65-F5344CB8AC3E}">
        <p14:creationId xmlns:p14="http://schemas.microsoft.com/office/powerpoint/2010/main" val="291708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lstStyle/>
          <a:p>
            <a:r>
              <a:rPr lang="en-US" b="1" dirty="0" smtClean="0"/>
              <a:t>Sampling Bias</a:t>
            </a:r>
            <a:endParaRPr lang="en-US" b="1" dirty="0"/>
          </a:p>
        </p:txBody>
      </p:sp>
      <p:sp>
        <p:nvSpPr>
          <p:cNvPr id="2" name="Content Placeholder 1"/>
          <p:cNvSpPr>
            <a:spLocks noGrp="1"/>
          </p:cNvSpPr>
          <p:nvPr>
            <p:ph sz="quarter" idx="1"/>
          </p:nvPr>
        </p:nvSpPr>
        <p:spPr>
          <a:xfrm>
            <a:off x="304800" y="1600200"/>
            <a:ext cx="8686800" cy="4876800"/>
          </a:xfrm>
        </p:spPr>
        <p:txBody>
          <a:bodyPr>
            <a:normAutofit/>
          </a:bodyPr>
          <a:lstStyle/>
          <a:p>
            <a:pPr>
              <a:spcBef>
                <a:spcPts val="0"/>
              </a:spcBef>
            </a:pPr>
            <a:r>
              <a:rPr lang="en-US" b="1" i="1" dirty="0" smtClean="0">
                <a:solidFill>
                  <a:schemeClr val="accent5">
                    <a:lumMod val="50000"/>
                  </a:schemeClr>
                </a:solidFill>
              </a:rPr>
              <a:t>Sampling bias </a:t>
            </a:r>
            <a:r>
              <a:rPr lang="en-US" dirty="0" smtClean="0">
                <a:solidFill>
                  <a:schemeClr val="tx2"/>
                </a:solidFill>
              </a:rPr>
              <a:t>occurs when the method of selecting a sample causes the sample to differ from the population in some relevant way</a:t>
            </a:r>
          </a:p>
          <a:p>
            <a:pPr>
              <a:spcBef>
                <a:spcPts val="0"/>
              </a:spcBef>
            </a:pPr>
            <a:endParaRPr lang="en-US" dirty="0" smtClean="0">
              <a:solidFill>
                <a:schemeClr val="tx2"/>
              </a:solidFill>
            </a:endParaRPr>
          </a:p>
          <a:p>
            <a:pPr>
              <a:spcBef>
                <a:spcPts val="0"/>
              </a:spcBef>
            </a:pPr>
            <a:r>
              <a:rPr lang="en-US" dirty="0" smtClean="0">
                <a:solidFill>
                  <a:schemeClr val="tx2"/>
                </a:solidFill>
              </a:rPr>
              <a:t>If sampling bias exists, we cannot trust generalizations from the sample to the population</a:t>
            </a:r>
          </a:p>
          <a:p>
            <a:pPr>
              <a:spcBef>
                <a:spcPts val="0"/>
              </a:spcBef>
            </a:pPr>
            <a:endParaRPr lang="en-US" dirty="0" smtClean="0">
              <a:solidFill>
                <a:schemeClr val="tx2"/>
              </a:solidFill>
            </a:endParaRPr>
          </a:p>
          <a:p>
            <a:pPr>
              <a:spcBef>
                <a:spcPts val="0"/>
              </a:spcBef>
              <a:buNone/>
            </a:pPr>
            <a:endParaRPr lang="en-US" dirty="0" smtClean="0">
              <a:solidFill>
                <a:schemeClr val="tx2"/>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Diamond 26"/>
          <p:cNvSpPr/>
          <p:nvPr/>
        </p:nvSpPr>
        <p:spPr>
          <a:xfrm>
            <a:off x="5029200" y="4495800"/>
            <a:ext cx="1981200" cy="1219200"/>
          </a:xfrm>
          <a:prstGeom prst="diamond">
            <a:avLst/>
          </a:prstGeom>
          <a:gradFill flip="none" rotWithShape="1">
            <a:gsLst>
              <a:gs pos="0">
                <a:srgbClr val="FBEAC7"/>
              </a:gs>
              <a:gs pos="17999">
                <a:srgbClr val="FEE7F2"/>
              </a:gs>
              <a:gs pos="36000">
                <a:srgbClr val="FAC77D"/>
              </a:gs>
              <a:gs pos="61000">
                <a:srgbClr val="FBA97D"/>
              </a:gs>
              <a:gs pos="82001">
                <a:srgbClr val="FBD49C"/>
              </a:gs>
              <a:gs pos="100000">
                <a:srgbClr val="FEE7F2"/>
              </a:gs>
            </a:gsLst>
            <a:lin ang="5400000" scaled="0"/>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2"/>
          <p:cNvSpPr txBox="1">
            <a:spLocks/>
          </p:cNvSpPr>
          <p:nvPr/>
        </p:nvSpPr>
        <p:spPr>
          <a:xfrm>
            <a:off x="457200" y="0"/>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accent6">
                    <a:lumMod val="75000"/>
                  </a:schemeClr>
                </a:solidFill>
                <a:effectLst/>
                <a:uLnTx/>
                <a:uFillTx/>
                <a:latin typeface="+mj-lt"/>
                <a:ea typeface="+mj-ea"/>
                <a:cs typeface="+mj-cs"/>
              </a:rPr>
              <a:t>Sampling</a:t>
            </a:r>
            <a:endParaRPr kumimoji="0" lang="en-US" sz="4400" b="1" i="0" u="none" strike="noStrike" kern="1200" cap="none" spc="0" normalizeH="0" baseline="0" noProof="0" dirty="0">
              <a:ln>
                <a:noFill/>
              </a:ln>
              <a:solidFill>
                <a:schemeClr val="accent6">
                  <a:lumMod val="75000"/>
                </a:schemeClr>
              </a:solidFill>
              <a:effectLst/>
              <a:uLnTx/>
              <a:uFillTx/>
              <a:latin typeface="+mj-lt"/>
              <a:ea typeface="+mj-ea"/>
              <a:cs typeface="+mj-cs"/>
            </a:endParaRPr>
          </a:p>
        </p:txBody>
      </p:sp>
      <p:sp>
        <p:nvSpPr>
          <p:cNvPr id="11" name="Cloud"/>
          <p:cNvSpPr>
            <a:spLocks noChangeAspect="1" noEditPoints="1" noChangeArrowheads="1"/>
          </p:cNvSpPr>
          <p:nvPr/>
        </p:nvSpPr>
        <p:spPr bwMode="auto">
          <a:xfrm>
            <a:off x="380999" y="1219200"/>
            <a:ext cx="4890535" cy="32766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flip="none" rotWithShape="1">
            <a:gsLst>
              <a:gs pos="0">
                <a:srgbClr val="8488C4"/>
              </a:gs>
              <a:gs pos="53000">
                <a:srgbClr val="D4DEFF"/>
              </a:gs>
              <a:gs pos="83000">
                <a:srgbClr val="D4DEFF"/>
              </a:gs>
              <a:gs pos="100000">
                <a:srgbClr val="96AB94"/>
              </a:gs>
            </a:gsLst>
            <a:lin ang="5400000" scaled="1"/>
            <a:tileRect/>
          </a:gra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12" name="Text Box 5"/>
          <p:cNvSpPr txBox="1">
            <a:spLocks noChangeArrowheads="1"/>
          </p:cNvSpPr>
          <p:nvPr/>
        </p:nvSpPr>
        <p:spPr bwMode="auto">
          <a:xfrm>
            <a:off x="1219200" y="2430959"/>
            <a:ext cx="3124200" cy="769441"/>
          </a:xfrm>
          <a:prstGeom prst="rect">
            <a:avLst/>
          </a:prstGeom>
          <a:noFill/>
          <a:ln w="9525">
            <a:noFill/>
            <a:miter lim="800000"/>
            <a:headEnd/>
            <a:tailEnd/>
          </a:ln>
        </p:spPr>
        <p:txBody>
          <a:bodyPr wrap="square">
            <a:spAutoFit/>
          </a:bodyPr>
          <a:lstStyle/>
          <a:p>
            <a:pPr>
              <a:spcBef>
                <a:spcPct val="50000"/>
              </a:spcBef>
            </a:pPr>
            <a:r>
              <a:rPr lang="en-US" sz="4400" b="1" dirty="0">
                <a:solidFill>
                  <a:schemeClr val="tx2"/>
                </a:solidFill>
              </a:rPr>
              <a:t>Population</a:t>
            </a:r>
          </a:p>
        </p:txBody>
      </p:sp>
      <p:grpSp>
        <p:nvGrpSpPr>
          <p:cNvPr id="2" name="Group 17"/>
          <p:cNvGrpSpPr>
            <a:grpSpLocks/>
          </p:cNvGrpSpPr>
          <p:nvPr/>
        </p:nvGrpSpPr>
        <p:grpSpPr bwMode="auto">
          <a:xfrm>
            <a:off x="5867399" y="2362200"/>
            <a:ext cx="1700893" cy="1371600"/>
            <a:chOff x="3984" y="3120"/>
            <a:chExt cx="1200" cy="804"/>
          </a:xfrm>
          <a:gradFill flip="none" rotWithShape="1">
            <a:gsLst>
              <a:gs pos="0">
                <a:srgbClr val="8488C4"/>
              </a:gs>
              <a:gs pos="53000">
                <a:srgbClr val="D4DEFF"/>
              </a:gs>
              <a:gs pos="83000">
                <a:srgbClr val="D4DEFF"/>
              </a:gs>
              <a:gs pos="100000">
                <a:srgbClr val="96AB94"/>
              </a:gs>
            </a:gsLst>
            <a:lin ang="5400000" scaled="0"/>
            <a:tileRect t="-100000" r="-100000"/>
          </a:gradFill>
        </p:grpSpPr>
        <p:sp>
          <p:nvSpPr>
            <p:cNvPr id="14" name="Cloud"/>
            <p:cNvSpPr>
              <a:spLocks noChangeAspect="1" noEditPoints="1" noChangeArrowheads="1"/>
            </p:cNvSpPr>
            <p:nvPr/>
          </p:nvSpPr>
          <p:spPr bwMode="auto">
            <a:xfrm>
              <a:off x="3984" y="3120"/>
              <a:ext cx="1200" cy="804"/>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p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15" name="Text Box 7"/>
            <p:cNvSpPr txBox="1">
              <a:spLocks noChangeArrowheads="1"/>
            </p:cNvSpPr>
            <p:nvPr/>
          </p:nvSpPr>
          <p:spPr bwMode="auto">
            <a:xfrm>
              <a:off x="4157" y="3293"/>
              <a:ext cx="967" cy="325"/>
            </a:xfrm>
            <a:prstGeom prst="rect">
              <a:avLst/>
            </a:prstGeom>
            <a:grpFill/>
            <a:ln w="9525">
              <a:noFill/>
              <a:miter lim="800000"/>
              <a:headEnd/>
              <a:tailEnd/>
            </a:ln>
          </p:spPr>
          <p:txBody>
            <a:bodyPr wrap="square">
              <a:spAutoFit/>
            </a:bodyPr>
            <a:lstStyle/>
            <a:p>
              <a:pPr>
                <a:spcBef>
                  <a:spcPct val="50000"/>
                </a:spcBef>
              </a:pPr>
              <a:r>
                <a:rPr lang="en-US" sz="3000" b="1" dirty="0">
                  <a:solidFill>
                    <a:schemeClr val="tx2"/>
                  </a:solidFill>
                </a:rPr>
                <a:t>Sample</a:t>
              </a:r>
            </a:p>
          </p:txBody>
        </p:sp>
      </p:grpSp>
      <p:sp>
        <p:nvSpPr>
          <p:cNvPr id="16" name="AutoShape 12"/>
          <p:cNvSpPr>
            <a:spLocks noChangeArrowheads="1"/>
          </p:cNvSpPr>
          <p:nvPr/>
        </p:nvSpPr>
        <p:spPr bwMode="auto">
          <a:xfrm>
            <a:off x="3276600" y="1447800"/>
            <a:ext cx="3733800" cy="1752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756" y="11808"/>
                </a:moveTo>
                <a:cubicBezTo>
                  <a:pt x="19794" y="11473"/>
                  <a:pt x="19813" y="11137"/>
                  <a:pt x="19813" y="10800"/>
                </a:cubicBezTo>
                <a:cubicBezTo>
                  <a:pt x="19813" y="5822"/>
                  <a:pt x="15777" y="1787"/>
                  <a:pt x="10800" y="1787"/>
                </a:cubicBezTo>
                <a:cubicBezTo>
                  <a:pt x="8447" y="1786"/>
                  <a:pt x="6187" y="2706"/>
                  <a:pt x="4504" y="4350"/>
                </a:cubicBezTo>
                <a:lnTo>
                  <a:pt x="3256" y="3071"/>
                </a:lnTo>
                <a:cubicBezTo>
                  <a:pt x="5273" y="1102"/>
                  <a:pt x="7980" y="-1"/>
                  <a:pt x="10800" y="0"/>
                </a:cubicBezTo>
                <a:cubicBezTo>
                  <a:pt x="16764" y="0"/>
                  <a:pt x="21600" y="4835"/>
                  <a:pt x="21600" y="10800"/>
                </a:cubicBezTo>
                <a:cubicBezTo>
                  <a:pt x="21600" y="11203"/>
                  <a:pt x="21577" y="11607"/>
                  <a:pt x="21532" y="12008"/>
                </a:cubicBezTo>
                <a:lnTo>
                  <a:pt x="24215" y="12311"/>
                </a:lnTo>
                <a:lnTo>
                  <a:pt x="20241" y="15480"/>
                </a:lnTo>
                <a:lnTo>
                  <a:pt x="17073" y="11506"/>
                </a:lnTo>
                <a:lnTo>
                  <a:pt x="19756" y="11808"/>
                </a:lnTo>
                <a:close/>
              </a:path>
            </a:pathLst>
          </a:custGeom>
          <a:solidFill>
            <a:srgbClr val="FFFF66"/>
          </a:solidFill>
          <a:ln w="9525">
            <a:solidFill>
              <a:schemeClr val="tx1"/>
            </a:solidFill>
            <a:miter lim="800000"/>
            <a:headEnd/>
            <a:tailEnd/>
          </a:ln>
        </p:spPr>
        <p:txBody>
          <a:bodyPr wrap="none" anchor="ctr"/>
          <a:lstStyle/>
          <a:p>
            <a:endParaRPr lang="en-US"/>
          </a:p>
        </p:txBody>
      </p:sp>
      <p:pic>
        <p:nvPicPr>
          <p:cNvPr id="1026" name="Picture 2" descr="C:\Users\Kari\AppData\Local\Microsoft\Windows\Temporary Internet Files\Content.IE5\XV4VZWE9\MC900423165[1].wmf"/>
          <p:cNvPicPr>
            <a:picLocks noChangeAspect="1" noChangeArrowheads="1"/>
          </p:cNvPicPr>
          <p:nvPr/>
        </p:nvPicPr>
        <p:blipFill>
          <a:blip r:embed="rId3" cstate="print"/>
          <a:srcRect/>
          <a:stretch>
            <a:fillRect/>
          </a:stretch>
        </p:blipFill>
        <p:spPr bwMode="auto">
          <a:xfrm>
            <a:off x="7239000" y="4648200"/>
            <a:ext cx="838200" cy="838200"/>
          </a:xfrm>
          <a:prstGeom prst="rect">
            <a:avLst/>
          </a:prstGeom>
          <a:noFill/>
        </p:spPr>
      </p:pic>
      <p:pic>
        <p:nvPicPr>
          <p:cNvPr id="1029" name="Picture 5" descr="C:\Users\Kari\AppData\Local\Microsoft\Windows\Temporary Internet Files\Content.IE5\8Y1BLIC5\MC900433820[1].png"/>
          <p:cNvPicPr>
            <a:picLocks noChangeAspect="1" noChangeArrowheads="1"/>
          </p:cNvPicPr>
          <p:nvPr/>
        </p:nvPicPr>
        <p:blipFill>
          <a:blip r:embed="rId4" cstate="print"/>
          <a:srcRect/>
          <a:stretch>
            <a:fillRect/>
          </a:stretch>
        </p:blipFill>
        <p:spPr bwMode="auto">
          <a:xfrm>
            <a:off x="8000886" y="2514600"/>
            <a:ext cx="838200" cy="838200"/>
          </a:xfrm>
          <a:prstGeom prst="rect">
            <a:avLst/>
          </a:prstGeom>
          <a:noFill/>
        </p:spPr>
      </p:pic>
      <p:sp>
        <p:nvSpPr>
          <p:cNvPr id="21" name="AutoShape 12"/>
          <p:cNvSpPr>
            <a:spLocks noChangeArrowheads="1"/>
          </p:cNvSpPr>
          <p:nvPr/>
        </p:nvSpPr>
        <p:spPr bwMode="auto">
          <a:xfrm>
            <a:off x="2438400" y="3505200"/>
            <a:ext cx="3733800" cy="1752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756" y="11808"/>
                </a:moveTo>
                <a:cubicBezTo>
                  <a:pt x="19794" y="11473"/>
                  <a:pt x="19813" y="11137"/>
                  <a:pt x="19813" y="10800"/>
                </a:cubicBezTo>
                <a:cubicBezTo>
                  <a:pt x="19813" y="5822"/>
                  <a:pt x="15777" y="1787"/>
                  <a:pt x="10800" y="1787"/>
                </a:cubicBezTo>
                <a:cubicBezTo>
                  <a:pt x="8447" y="1786"/>
                  <a:pt x="6187" y="2706"/>
                  <a:pt x="4504" y="4350"/>
                </a:cubicBezTo>
                <a:lnTo>
                  <a:pt x="3256" y="3071"/>
                </a:lnTo>
                <a:cubicBezTo>
                  <a:pt x="5273" y="1102"/>
                  <a:pt x="7980" y="-1"/>
                  <a:pt x="10800" y="0"/>
                </a:cubicBezTo>
                <a:cubicBezTo>
                  <a:pt x="16764" y="0"/>
                  <a:pt x="21600" y="4835"/>
                  <a:pt x="21600" y="10800"/>
                </a:cubicBezTo>
                <a:cubicBezTo>
                  <a:pt x="21600" y="11203"/>
                  <a:pt x="21577" y="11607"/>
                  <a:pt x="21532" y="12008"/>
                </a:cubicBezTo>
                <a:lnTo>
                  <a:pt x="24215" y="12311"/>
                </a:lnTo>
                <a:lnTo>
                  <a:pt x="20241" y="15480"/>
                </a:lnTo>
                <a:lnTo>
                  <a:pt x="17073" y="11506"/>
                </a:lnTo>
                <a:lnTo>
                  <a:pt x="19756" y="11808"/>
                </a:lnTo>
                <a:close/>
              </a:path>
            </a:pathLst>
          </a:custGeom>
          <a:solidFill>
            <a:srgbClr val="FFFF66"/>
          </a:solidFill>
          <a:ln w="9525">
            <a:solidFill>
              <a:schemeClr val="tx1"/>
            </a:solidFill>
            <a:miter lim="800000"/>
            <a:headEnd/>
            <a:tailEnd/>
          </a:ln>
        </p:spPr>
        <p:txBody>
          <a:bodyPr wrap="none" anchor="ctr"/>
          <a:lstStyle/>
          <a:p>
            <a:endParaRPr lang="en-US"/>
          </a:p>
        </p:txBody>
      </p:sp>
      <p:sp>
        <p:nvSpPr>
          <p:cNvPr id="24" name="Text Box 7"/>
          <p:cNvSpPr txBox="1">
            <a:spLocks noChangeArrowheads="1"/>
          </p:cNvSpPr>
          <p:nvPr/>
        </p:nvSpPr>
        <p:spPr bwMode="auto">
          <a:xfrm>
            <a:off x="5334000" y="4748852"/>
            <a:ext cx="1768929" cy="585148"/>
          </a:xfrm>
          <a:prstGeom prst="rect">
            <a:avLst/>
          </a:prstGeom>
          <a:noFill/>
          <a:ln w="9525">
            <a:noFill/>
            <a:miter lim="800000"/>
            <a:headEnd/>
            <a:tailEnd/>
          </a:ln>
        </p:spPr>
        <p:txBody>
          <a:bodyPr>
            <a:spAutoFit/>
          </a:bodyPr>
          <a:lstStyle/>
          <a:p>
            <a:pPr>
              <a:spcBef>
                <a:spcPct val="50000"/>
              </a:spcBef>
            </a:pPr>
            <a:r>
              <a:rPr lang="en-US" sz="3200" b="1" dirty="0">
                <a:solidFill>
                  <a:schemeClr val="tx2"/>
                </a:solidFill>
              </a:rPr>
              <a:t>Sample</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5" presetClass="entr" presetSubtype="0" fill="hold" nodeType="clickEffect">
                                  <p:stCondLst>
                                    <p:cond delay="0"/>
                                  </p:stCondLst>
                                  <p:childTnLst>
                                    <p:set>
                                      <p:cBhvr>
                                        <p:cTn id="12" dur="1" fill="hold">
                                          <p:stCondLst>
                                            <p:cond delay="0"/>
                                          </p:stCondLst>
                                        </p:cTn>
                                        <p:tgtEl>
                                          <p:spTgt spid="1029"/>
                                        </p:tgtEl>
                                        <p:attrNameLst>
                                          <p:attrName>style.visibility</p:attrName>
                                        </p:attrNameLst>
                                      </p:cBhvr>
                                      <p:to>
                                        <p:strVal val="visible"/>
                                      </p:to>
                                    </p:set>
                                    <p:animEffect transition="in" filter="fade">
                                      <p:cBhvr>
                                        <p:cTn id="13" dur="2000"/>
                                        <p:tgtEl>
                                          <p:spTgt spid="1029"/>
                                        </p:tgtEl>
                                      </p:cBhvr>
                                    </p:animEffect>
                                    <p:anim calcmode="lin" valueType="num">
                                      <p:cBhvr>
                                        <p:cTn id="14" dur="2000" fill="hold"/>
                                        <p:tgtEl>
                                          <p:spTgt spid="1029"/>
                                        </p:tgtEl>
                                        <p:attrNameLst>
                                          <p:attrName>style.rotation</p:attrName>
                                        </p:attrNameLst>
                                      </p:cBhvr>
                                      <p:tavLst>
                                        <p:tav tm="0">
                                          <p:val>
                                            <p:fltVal val="720"/>
                                          </p:val>
                                        </p:tav>
                                        <p:tav tm="100000">
                                          <p:val>
                                            <p:fltVal val="0"/>
                                          </p:val>
                                        </p:tav>
                                      </p:tavLst>
                                    </p:anim>
                                    <p:anim calcmode="lin" valueType="num">
                                      <p:cBhvr>
                                        <p:cTn id="15" dur="2000" fill="hold"/>
                                        <p:tgtEl>
                                          <p:spTgt spid="1029"/>
                                        </p:tgtEl>
                                        <p:attrNameLst>
                                          <p:attrName>ppt_h</p:attrName>
                                        </p:attrNameLst>
                                      </p:cBhvr>
                                      <p:tavLst>
                                        <p:tav tm="0">
                                          <p:val>
                                            <p:fltVal val="0"/>
                                          </p:val>
                                        </p:tav>
                                        <p:tav tm="100000">
                                          <p:val>
                                            <p:strVal val="#ppt_h"/>
                                          </p:val>
                                        </p:tav>
                                      </p:tavLst>
                                    </p:anim>
                                    <p:anim calcmode="lin" valueType="num">
                                      <p:cBhvr>
                                        <p:cTn id="16" dur="2000" fill="hold"/>
                                        <p:tgtEl>
                                          <p:spTgt spid="1029"/>
                                        </p:tgtEl>
                                        <p:attrNameLst>
                                          <p:attrName>ppt_w</p:attrName>
                                        </p:attrNameLst>
                                      </p:cBhvr>
                                      <p:tavLst>
                                        <p:tav tm="0">
                                          <p:val>
                                            <p:fltVal val="0"/>
                                          </p:val>
                                        </p:tav>
                                        <p:tav tm="100000">
                                          <p:val>
                                            <p:strVal val="#ppt_w"/>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5" presetClass="entr" presetSubtype="0" fill="hold" nodeType="clickEffect">
                                  <p:stCondLst>
                                    <p:cond delay="0"/>
                                  </p:stCondLst>
                                  <p:childTnLst>
                                    <p:set>
                                      <p:cBhvr>
                                        <p:cTn id="28" dur="1" fill="hold">
                                          <p:stCondLst>
                                            <p:cond delay="0"/>
                                          </p:stCondLst>
                                        </p:cTn>
                                        <p:tgtEl>
                                          <p:spTgt spid="1026"/>
                                        </p:tgtEl>
                                        <p:attrNameLst>
                                          <p:attrName>style.visibility</p:attrName>
                                        </p:attrNameLst>
                                      </p:cBhvr>
                                      <p:to>
                                        <p:strVal val="visible"/>
                                      </p:to>
                                    </p:set>
                                    <p:animEffect transition="in" filter="fade">
                                      <p:cBhvr>
                                        <p:cTn id="29" dur="2000"/>
                                        <p:tgtEl>
                                          <p:spTgt spid="1026"/>
                                        </p:tgtEl>
                                      </p:cBhvr>
                                    </p:animEffect>
                                    <p:anim calcmode="lin" valueType="num">
                                      <p:cBhvr>
                                        <p:cTn id="30" dur="2000" fill="hold"/>
                                        <p:tgtEl>
                                          <p:spTgt spid="1026"/>
                                        </p:tgtEl>
                                        <p:attrNameLst>
                                          <p:attrName>style.rotation</p:attrName>
                                        </p:attrNameLst>
                                      </p:cBhvr>
                                      <p:tavLst>
                                        <p:tav tm="0">
                                          <p:val>
                                            <p:fltVal val="720"/>
                                          </p:val>
                                        </p:tav>
                                        <p:tav tm="100000">
                                          <p:val>
                                            <p:fltVal val="0"/>
                                          </p:val>
                                        </p:tav>
                                      </p:tavLst>
                                    </p:anim>
                                    <p:anim calcmode="lin" valueType="num">
                                      <p:cBhvr>
                                        <p:cTn id="31" dur="2000" fill="hold"/>
                                        <p:tgtEl>
                                          <p:spTgt spid="1026"/>
                                        </p:tgtEl>
                                        <p:attrNameLst>
                                          <p:attrName>ppt_h</p:attrName>
                                        </p:attrNameLst>
                                      </p:cBhvr>
                                      <p:tavLst>
                                        <p:tav tm="0">
                                          <p:val>
                                            <p:fltVal val="0"/>
                                          </p:val>
                                        </p:tav>
                                        <p:tav tm="100000">
                                          <p:val>
                                            <p:strVal val="#ppt_h"/>
                                          </p:val>
                                        </p:tav>
                                      </p:tavLst>
                                    </p:anim>
                                    <p:anim calcmode="lin" valueType="num">
                                      <p:cBhvr>
                                        <p:cTn id="32" dur="2000" fill="hold"/>
                                        <p:tgtEl>
                                          <p:spTgt spid="1026"/>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16" grpId="0" animBg="1"/>
      <p:bldP spid="21" grpId="0" animBg="1"/>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0"/>
            <a:ext cx="9144000" cy="2514600"/>
          </a:xfrm>
        </p:spPr>
        <p:txBody>
          <a:bodyPr>
            <a:noAutofit/>
          </a:bodyPr>
          <a:lstStyle/>
          <a:p>
            <a:r>
              <a:rPr lang="en-US" sz="3200" dirty="0" smtClean="0"/>
              <a:t>In a study to determine the proportion of all students at our college that believe that they are talented in the subject of mathematics, we survey all students enrolled in Multivariable Calculus.  Is this method of data collection biased?</a:t>
            </a:r>
            <a:endParaRPr lang="en-US" sz="3200" dirty="0"/>
          </a:p>
        </p:txBody>
      </p:sp>
      <p:sp>
        <p:nvSpPr>
          <p:cNvPr id="4" name="TPAnswers"/>
          <p:cNvSpPr>
            <a:spLocks noGrp="1"/>
          </p:cNvSpPr>
          <p:nvPr>
            <p:ph sz="quarter" idx="4294967295"/>
            <p:custDataLst>
              <p:tags r:id="rId2"/>
            </p:custDataLst>
          </p:nvPr>
        </p:nvSpPr>
        <p:spPr>
          <a:xfrm>
            <a:off x="0" y="3048000"/>
            <a:ext cx="6248400" cy="3810000"/>
          </a:xfrm>
        </p:spPr>
        <p:txBody>
          <a:bodyPr/>
          <a:lstStyle/>
          <a:p>
            <a:pPr marL="514350" indent="-514350">
              <a:spcBef>
                <a:spcPct val="20000"/>
              </a:spcBef>
              <a:buFont typeface="Wingdings"/>
              <a:buAutoNum type="alphaUcPeriod"/>
            </a:pPr>
            <a:r>
              <a:rPr lang="en-US" dirty="0" smtClean="0"/>
              <a:t>Yes</a:t>
            </a:r>
          </a:p>
          <a:p>
            <a:pPr marL="514350" indent="-514350">
              <a:spcBef>
                <a:spcPct val="20000"/>
              </a:spcBef>
              <a:buFont typeface="Wingdings"/>
              <a:buAutoNum type="alphaUcPeriod"/>
            </a:pPr>
            <a:r>
              <a:rPr lang="en-US" dirty="0" smtClean="0"/>
              <a:t>No</a:t>
            </a:r>
            <a:endParaRPr lang="en-US" dirty="0"/>
          </a:p>
        </p:txBody>
      </p:sp>
    </p:spTree>
    <p:custDataLst>
      <p:tags r:id="rId1"/>
    </p:custDataLst>
    <p:extLst>
      <p:ext uri="{BB962C8B-B14F-4D97-AF65-F5344CB8AC3E}">
        <p14:creationId xmlns:p14="http://schemas.microsoft.com/office/powerpoint/2010/main" val="11147718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lstStyle/>
          <a:p>
            <a:r>
              <a:rPr lang="en-US" b="1" dirty="0" smtClean="0"/>
              <a:t>Can you avoid sampling bias?</a:t>
            </a:r>
            <a:endParaRPr lang="en-US" b="1" dirty="0"/>
          </a:p>
        </p:txBody>
      </p:sp>
      <p:sp>
        <p:nvSpPr>
          <p:cNvPr id="2" name="Content Placeholder 1"/>
          <p:cNvSpPr>
            <a:spLocks noGrp="1"/>
          </p:cNvSpPr>
          <p:nvPr>
            <p:ph sz="quarter" idx="1"/>
          </p:nvPr>
        </p:nvSpPr>
        <p:spPr>
          <a:xfrm>
            <a:off x="152400" y="1600200"/>
            <a:ext cx="8915400" cy="4953000"/>
          </a:xfrm>
        </p:spPr>
        <p:txBody>
          <a:bodyPr>
            <a:normAutofit/>
          </a:bodyPr>
          <a:lstStyle/>
          <a:p>
            <a:pPr>
              <a:spcBef>
                <a:spcPts val="0"/>
              </a:spcBef>
            </a:pPr>
            <a:r>
              <a:rPr lang="en-US" dirty="0" smtClean="0">
                <a:solidFill>
                  <a:schemeClr val="tx2"/>
                </a:solidFill>
              </a:rPr>
              <a:t>The next slide shows Lincoln’s Gettysburg Address.  The entire population, all words in his address, will be shown to you</a:t>
            </a:r>
            <a:r>
              <a:rPr lang="en-US" dirty="0">
                <a:solidFill>
                  <a:schemeClr val="tx2"/>
                </a:solidFill>
              </a:rPr>
              <a:t>.</a:t>
            </a:r>
            <a:endParaRPr lang="en-US" dirty="0" smtClean="0">
              <a:solidFill>
                <a:schemeClr val="tx2"/>
              </a:solidFill>
            </a:endParaRPr>
          </a:p>
          <a:p>
            <a:pPr>
              <a:spcBef>
                <a:spcPts val="0"/>
              </a:spcBef>
            </a:pPr>
            <a:endParaRPr lang="en-US" dirty="0" smtClean="0">
              <a:solidFill>
                <a:schemeClr val="tx2"/>
              </a:solidFill>
            </a:endParaRPr>
          </a:p>
          <a:p>
            <a:pPr>
              <a:spcBef>
                <a:spcPts val="0"/>
              </a:spcBef>
            </a:pPr>
            <a:r>
              <a:rPr lang="en-US" dirty="0" smtClean="0">
                <a:solidFill>
                  <a:schemeClr val="tx2"/>
                </a:solidFill>
              </a:rPr>
              <a:t>Your task:  Select a sample of 10 words that resemble the </a:t>
            </a:r>
            <a:r>
              <a:rPr lang="en-US" i="1" u="sng" dirty="0" smtClean="0">
                <a:solidFill>
                  <a:schemeClr val="tx2"/>
                </a:solidFill>
              </a:rPr>
              <a:t>word lengths </a:t>
            </a:r>
            <a:r>
              <a:rPr lang="en-US" dirty="0" smtClean="0">
                <a:solidFill>
                  <a:schemeClr val="tx2"/>
                </a:solidFill>
              </a:rPr>
              <a:t>in the entire address.  Write them down.</a:t>
            </a:r>
          </a:p>
          <a:p>
            <a:pPr>
              <a:spcBef>
                <a:spcPts val="0"/>
              </a:spcBef>
            </a:pPr>
            <a:endParaRPr lang="en-US" dirty="0" smtClean="0">
              <a:solidFill>
                <a:schemeClr val="tx2"/>
              </a:solidFill>
            </a:endParaRPr>
          </a:p>
          <a:p>
            <a:pPr>
              <a:spcBef>
                <a:spcPts val="0"/>
              </a:spcBef>
            </a:pPr>
            <a:r>
              <a:rPr lang="en-US" dirty="0" smtClean="0">
                <a:solidFill>
                  <a:schemeClr val="tx2"/>
                </a:solidFill>
              </a:rPr>
              <a:t>Calculate the average number of letters for the words in your sample</a:t>
            </a:r>
          </a:p>
          <a:p>
            <a:pPr marL="0" indent="0">
              <a:spcBef>
                <a:spcPts val="0"/>
              </a:spcBef>
              <a:buNone/>
            </a:pPr>
            <a:endParaRPr lang="en-US" dirty="0" smtClean="0">
              <a:solidFill>
                <a:schemeClr val="tx2"/>
              </a:solidFill>
            </a:endParaRPr>
          </a:p>
          <a:p>
            <a:pPr>
              <a:spcBef>
                <a:spcPts val="0"/>
              </a:spcBef>
            </a:pPr>
            <a:r>
              <a:rPr lang="en-US" dirty="0" smtClean="0">
                <a:solidFill>
                  <a:schemeClr val="tx2"/>
                </a:solidFill>
              </a:rPr>
              <a:t>Place a dot above your sample average on the board</a:t>
            </a:r>
          </a:p>
          <a:p>
            <a:pPr>
              <a:spcBef>
                <a:spcPts val="0"/>
              </a:spcBef>
              <a:buNone/>
            </a:pPr>
            <a:endParaRPr lang="en-US" dirty="0" smtClean="0">
              <a:solidFill>
                <a:schemeClr val="tx2"/>
              </a:solidFill>
            </a:endParaRPr>
          </a:p>
          <a:p>
            <a:pPr>
              <a:spcBef>
                <a:spcPts val="0"/>
              </a:spcBef>
              <a:buNone/>
            </a:pPr>
            <a:endParaRPr lang="en-US" dirty="0" smtClean="0">
              <a:solidFill>
                <a:schemeClr val="tx2"/>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lstStyle/>
          <a:p>
            <a:r>
              <a:rPr lang="en-US" b="1" dirty="0" smtClean="0"/>
              <a:t>Lincoln’s Gettysburg Address</a:t>
            </a:r>
            <a:endParaRPr lang="en-US" b="1" dirty="0"/>
          </a:p>
        </p:txBody>
      </p:sp>
      <p:sp>
        <p:nvSpPr>
          <p:cNvPr id="2" name="Content Placeholder 1"/>
          <p:cNvSpPr>
            <a:spLocks noGrp="1"/>
          </p:cNvSpPr>
          <p:nvPr>
            <p:ph sz="quarter" idx="1"/>
          </p:nvPr>
        </p:nvSpPr>
        <p:spPr>
          <a:xfrm>
            <a:off x="26894" y="1524000"/>
            <a:ext cx="9135035" cy="5334000"/>
          </a:xfrm>
        </p:spPr>
        <p:txBody>
          <a:bodyPr>
            <a:noAutofit/>
          </a:bodyPr>
          <a:lstStyle/>
          <a:p>
            <a:pPr marL="0" indent="0" algn="just">
              <a:lnSpc>
                <a:spcPct val="120000"/>
              </a:lnSpc>
              <a:buNone/>
            </a:pPr>
            <a:r>
              <a:rPr lang="en-US" sz="1800" dirty="0" smtClean="0">
                <a:solidFill>
                  <a:schemeClr val="tx2"/>
                </a:solidFill>
              </a:rPr>
              <a:t>“Four score and seven years ago our fathers brought forth, on this continent, a new nation, conceived in Liberty, and dedicated to the proposition that all men are created equal.  Now we are engaged in a great civil war, testing whether that nation, or any nation so conceived and so dedicated, can long endure. We are met on a great battle-field of that war. We have come to dedicate a portion of that field, as a final resting place for those who here gave their lives that that nation might live. It is altogether fitting and proper that we should do this.  But, in a larger sense, we can not dedicate—we can not consecrate—we can not hallow—this ground. The brave men, living and dead, who struggled here, have consecrated it, far above our poor power to add or detract. The world will little note, nor long remember what we say here, but it can never forget what they did here. It is for us the living, rather, to be dedicated here to the unfinished work which they who fought here have thus far so nobly advanced. It is rather for us to be here dedicated to the great task remaining before us—that from these honored dead we take increased devotion to that cause for which they here gave the last full measure of devotion—that we here highly resolve that these dead shall not have died in vain—that this nation, under God, shall have a new birth of freedom—and that government of the people, by the people, for the people, shall not perish from the earth.”</a:t>
            </a:r>
            <a:endParaRPr lang="en-US" sz="1800" dirty="0">
              <a:solidFill>
                <a:schemeClr val="tx2"/>
              </a:solidFill>
            </a:endParaRPr>
          </a:p>
        </p:txBody>
      </p:sp>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t>Dotplot</a:t>
            </a:r>
            <a:r>
              <a:rPr lang="en-US" b="1" dirty="0" smtClean="0"/>
              <a:t> of Sample Averages (Sample Chosen by MTHM 168 Students)</a:t>
            </a:r>
            <a:endParaRPr lang="en-US" b="1" dirty="0"/>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304800" y="1600200"/>
            <a:ext cx="8610600" cy="5144834"/>
          </a:xfrm>
        </p:spPr>
      </p:pic>
    </p:spTree>
    <p:extLst>
      <p:ext uri="{BB962C8B-B14F-4D97-AF65-F5344CB8AC3E}">
        <p14:creationId xmlns:p14="http://schemas.microsoft.com/office/powerpoint/2010/main" val="34624044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lstStyle/>
          <a:p>
            <a:r>
              <a:rPr lang="en-US" b="1" dirty="0" smtClean="0"/>
              <a:t>Can you avoid sampling bias?</a:t>
            </a:r>
            <a:endParaRPr lang="en-US" b="1" dirty="0"/>
          </a:p>
        </p:txBody>
      </p:sp>
      <p:sp>
        <p:nvSpPr>
          <p:cNvPr id="2" name="Content Placeholder 1"/>
          <p:cNvSpPr>
            <a:spLocks noGrp="1"/>
          </p:cNvSpPr>
          <p:nvPr>
            <p:ph sz="quarter" idx="1"/>
          </p:nvPr>
        </p:nvSpPr>
        <p:spPr>
          <a:xfrm>
            <a:off x="228600" y="1371600"/>
            <a:ext cx="8686800" cy="5334000"/>
          </a:xfrm>
        </p:spPr>
        <p:txBody>
          <a:bodyPr>
            <a:normAutofit/>
          </a:bodyPr>
          <a:lstStyle/>
          <a:p>
            <a:pPr>
              <a:spcBef>
                <a:spcPts val="0"/>
              </a:spcBef>
            </a:pPr>
            <a:r>
              <a:rPr lang="en-US" dirty="0">
                <a:solidFill>
                  <a:schemeClr val="tx2"/>
                </a:solidFill>
              </a:rPr>
              <a:t>Actual average: 4.29 letters</a:t>
            </a:r>
          </a:p>
          <a:p>
            <a:pPr lvl="1">
              <a:spcBef>
                <a:spcPts val="0"/>
              </a:spcBef>
            </a:pPr>
            <a:endParaRPr lang="en-US" sz="2900" dirty="0">
              <a:solidFill>
                <a:schemeClr val="tx2"/>
              </a:solidFill>
            </a:endParaRPr>
          </a:p>
          <a:p>
            <a:pPr>
              <a:spcBef>
                <a:spcPts val="0"/>
              </a:spcBef>
            </a:pPr>
            <a:r>
              <a:rPr lang="en-US" dirty="0">
                <a:solidFill>
                  <a:schemeClr val="tx2"/>
                </a:solidFill>
              </a:rPr>
              <a:t>People are TERRIBLE at selecting a good sample, even when explicitly trying to avoid sampling bias!</a:t>
            </a:r>
          </a:p>
          <a:p>
            <a:pPr>
              <a:spcBef>
                <a:spcPts val="0"/>
              </a:spcBef>
            </a:pPr>
            <a:endParaRPr lang="en-US" dirty="0">
              <a:solidFill>
                <a:schemeClr val="tx2"/>
              </a:solidFill>
            </a:endParaRPr>
          </a:p>
          <a:p>
            <a:pPr>
              <a:spcBef>
                <a:spcPts val="0"/>
              </a:spcBef>
            </a:pPr>
            <a:r>
              <a:rPr lang="en-US" dirty="0">
                <a:solidFill>
                  <a:schemeClr val="tx2"/>
                </a:solidFill>
              </a:rPr>
              <a:t>We need a better way…</a:t>
            </a:r>
          </a:p>
          <a:p>
            <a:pPr>
              <a:spcBef>
                <a:spcPts val="0"/>
              </a:spcBef>
            </a:pPr>
            <a:endParaRPr lang="en-US" dirty="0" smtClean="0">
              <a:solidFill>
                <a:schemeClr val="tx2"/>
              </a:solidFill>
            </a:endParaRPr>
          </a:p>
          <a:p>
            <a:pPr>
              <a:spcBef>
                <a:spcPts val="0"/>
              </a:spcBef>
              <a:buNone/>
            </a:pPr>
            <a:endParaRPr lang="en-US" dirty="0" smtClean="0">
              <a:solidFill>
                <a:schemeClr val="tx2"/>
              </a:solidFill>
            </a:endParaRPr>
          </a:p>
          <a:p>
            <a:pPr>
              <a:spcBef>
                <a:spcPts val="0"/>
              </a:spcBef>
              <a:buNone/>
            </a:pPr>
            <a:endParaRPr lang="en-US" dirty="0" smtClean="0">
              <a:solidFill>
                <a:schemeClr val="tx2"/>
              </a:solidFill>
            </a:endParaRPr>
          </a:p>
        </p:txBody>
      </p:sp>
      <p:sp>
        <p:nvSpPr>
          <p:cNvPr id="4" name="Rectangle 3"/>
          <p:cNvSpPr/>
          <p:nvPr/>
        </p:nvSpPr>
        <p:spPr>
          <a:xfrm>
            <a:off x="3039035" y="1524000"/>
            <a:ext cx="228600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xit" presetSubtype="0" fill="hold" grpId="0" nodeType="clickEffect">
                                  <p:stCondLst>
                                    <p:cond delay="0"/>
                                  </p:stCondLst>
                                  <p:childTnLst>
                                    <p:animEffect transition="out" filter="dissolve">
                                      <p:cBhvr>
                                        <p:cTn id="10" dur="2000"/>
                                        <p:tgtEl>
                                          <p:spTgt spid="4"/>
                                        </p:tgtEl>
                                      </p:cBhvr>
                                    </p:animEffect>
                                    <p:set>
                                      <p:cBhvr>
                                        <p:cTn id="11" dur="1" fill="hold">
                                          <p:stCondLst>
                                            <p:cond delay="1999"/>
                                          </p:stCondLst>
                                        </p:cTn>
                                        <p:tgtEl>
                                          <p:spTgt spid="4"/>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lstStyle/>
          <a:p>
            <a:r>
              <a:rPr lang="en-US" b="1" dirty="0" smtClean="0"/>
              <a:t>Random Sampling</a:t>
            </a:r>
            <a:endParaRPr lang="en-US" b="1" dirty="0"/>
          </a:p>
        </p:txBody>
      </p:sp>
      <p:sp>
        <p:nvSpPr>
          <p:cNvPr id="2" name="Content Placeholder 1"/>
          <p:cNvSpPr>
            <a:spLocks noGrp="1"/>
          </p:cNvSpPr>
          <p:nvPr>
            <p:ph sz="quarter" idx="1"/>
          </p:nvPr>
        </p:nvSpPr>
        <p:spPr>
          <a:xfrm>
            <a:off x="228600" y="1371600"/>
            <a:ext cx="8686800" cy="5334000"/>
          </a:xfrm>
        </p:spPr>
        <p:txBody>
          <a:bodyPr>
            <a:normAutofit/>
          </a:bodyPr>
          <a:lstStyle/>
          <a:p>
            <a:pPr>
              <a:spcBef>
                <a:spcPts val="0"/>
              </a:spcBef>
            </a:pPr>
            <a:r>
              <a:rPr lang="en-US" dirty="0" smtClean="0">
                <a:solidFill>
                  <a:schemeClr val="tx2"/>
                </a:solidFill>
              </a:rPr>
              <a:t>How can we make sure to avoid sampling bias?</a:t>
            </a:r>
          </a:p>
          <a:p>
            <a:pPr>
              <a:spcBef>
                <a:spcPts val="0"/>
              </a:spcBef>
              <a:buNone/>
            </a:pPr>
            <a:endParaRPr lang="en-US" dirty="0" smtClean="0">
              <a:solidFill>
                <a:schemeClr val="tx2"/>
              </a:solidFill>
            </a:endParaRPr>
          </a:p>
          <a:p>
            <a:pPr>
              <a:spcBef>
                <a:spcPts val="0"/>
              </a:spcBef>
            </a:pPr>
            <a:endParaRPr lang="en-US" dirty="0" smtClean="0">
              <a:solidFill>
                <a:schemeClr val="tx2"/>
              </a:solidFill>
            </a:endParaRPr>
          </a:p>
          <a:p>
            <a:pPr>
              <a:spcBef>
                <a:spcPts val="0"/>
              </a:spcBef>
            </a:pPr>
            <a:endParaRPr lang="en-US" dirty="0" smtClean="0">
              <a:solidFill>
                <a:schemeClr val="tx2"/>
              </a:solidFill>
            </a:endParaRPr>
          </a:p>
          <a:p>
            <a:pPr>
              <a:spcBef>
                <a:spcPts val="0"/>
              </a:spcBef>
            </a:pPr>
            <a:endParaRPr lang="en-US" dirty="0" smtClean="0">
              <a:solidFill>
                <a:schemeClr val="tx2"/>
              </a:solidFill>
            </a:endParaRPr>
          </a:p>
          <a:p>
            <a:pPr>
              <a:spcBef>
                <a:spcPts val="0"/>
              </a:spcBef>
            </a:pPr>
            <a:r>
              <a:rPr lang="en-US" dirty="0" smtClean="0">
                <a:solidFill>
                  <a:schemeClr val="tx2"/>
                </a:solidFill>
              </a:rPr>
              <a:t>Imagine putting the names of all the units within the population into a hat, and drawing out names at random to be in the sample</a:t>
            </a:r>
          </a:p>
          <a:p>
            <a:pPr>
              <a:spcBef>
                <a:spcPts val="0"/>
              </a:spcBef>
              <a:buNone/>
            </a:pPr>
            <a:endParaRPr lang="en-US" dirty="0" smtClean="0">
              <a:solidFill>
                <a:schemeClr val="tx2"/>
              </a:solidFill>
            </a:endParaRPr>
          </a:p>
          <a:p>
            <a:pPr>
              <a:spcBef>
                <a:spcPts val="0"/>
              </a:spcBef>
              <a:buNone/>
            </a:pPr>
            <a:endParaRPr lang="en-US" dirty="0" smtClean="0">
              <a:solidFill>
                <a:schemeClr val="tx2"/>
              </a:solidFill>
            </a:endParaRPr>
          </a:p>
        </p:txBody>
      </p:sp>
      <p:sp>
        <p:nvSpPr>
          <p:cNvPr id="4" name="Rounded Rectangle 3"/>
          <p:cNvSpPr/>
          <p:nvPr/>
        </p:nvSpPr>
        <p:spPr>
          <a:xfrm>
            <a:off x="685800" y="2362200"/>
            <a:ext cx="78486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smtClean="0"/>
              <a:t>Take a </a:t>
            </a:r>
            <a:r>
              <a:rPr lang="en-US" sz="5400" b="1" dirty="0" smtClean="0"/>
              <a:t>RANDOM</a:t>
            </a:r>
            <a:r>
              <a:rPr lang="en-US" sz="5400" dirty="0" smtClean="0"/>
              <a:t> sample!</a:t>
            </a:r>
            <a:endParaRPr lang="en-US" sz="54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5"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000"/>
                                        <p:tgtEl>
                                          <p:spTgt spid="4"/>
                                        </p:tgtEl>
                                      </p:cBhvr>
                                    </p:animEffect>
                                    <p:anim calcmode="lin" valueType="num">
                                      <p:cBhvr>
                                        <p:cTn id="12" dur="2000" fill="hold"/>
                                        <p:tgtEl>
                                          <p:spTgt spid="4"/>
                                        </p:tgtEl>
                                        <p:attrNameLst>
                                          <p:attrName>style.rotation</p:attrName>
                                        </p:attrNameLst>
                                      </p:cBhvr>
                                      <p:tavLst>
                                        <p:tav tm="0">
                                          <p:val>
                                            <p:fltVal val="720"/>
                                          </p:val>
                                        </p:tav>
                                        <p:tav tm="100000">
                                          <p:val>
                                            <p:fltVal val="0"/>
                                          </p:val>
                                        </p:tav>
                                      </p:tavLst>
                                    </p:anim>
                                    <p:anim calcmode="lin" valueType="num">
                                      <p:cBhvr>
                                        <p:cTn id="13" dur="2000" fill="hold"/>
                                        <p:tgtEl>
                                          <p:spTgt spid="4"/>
                                        </p:tgtEl>
                                        <p:attrNameLst>
                                          <p:attrName>ppt_h</p:attrName>
                                        </p:attrNameLst>
                                      </p:cBhvr>
                                      <p:tavLst>
                                        <p:tav tm="0">
                                          <p:val>
                                            <p:fltVal val="0"/>
                                          </p:val>
                                        </p:tav>
                                        <p:tav tm="100000">
                                          <p:val>
                                            <p:strVal val="#ppt_h"/>
                                          </p:val>
                                        </p:tav>
                                      </p:tavLst>
                                    </p:anim>
                                    <p:anim calcmode="lin" valueType="num">
                                      <p:cBhvr>
                                        <p:cTn id="14" dur="2000" fill="hold"/>
                                        <p:tgtEl>
                                          <p:spTgt spid="4"/>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9"/>
                                            </p:cond>
                                          </p:stCondLst>
                                          <p:endCondLst>
                                            <p:cond evt="onStopAudio" delay="0">
                                              <p:tgtEl>
                                                <p:sldTgt/>
                                              </p:tgtEl>
                                            </p:cond>
                                          </p:endCondLst>
                                        </p:cTn>
                                        <p:tgtEl>
                                          <p:sndTgt r:embed="rId3" name="drumroll.wav"/>
                                        </p:tgtEl>
                                      </p:cMediaNode>
                                    </p:audio>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lstStyle/>
          <a:p>
            <a:r>
              <a:rPr lang="en-US" b="1" dirty="0" smtClean="0"/>
              <a:t>Selecting a Random Sample</a:t>
            </a:r>
            <a:endParaRPr lang="en-US" b="1" dirty="0"/>
          </a:p>
        </p:txBody>
      </p:sp>
      <p:sp>
        <p:nvSpPr>
          <p:cNvPr id="2" name="Content Placeholder 1"/>
          <p:cNvSpPr>
            <a:spLocks noGrp="1"/>
          </p:cNvSpPr>
          <p:nvPr>
            <p:ph sz="quarter" idx="1"/>
          </p:nvPr>
        </p:nvSpPr>
        <p:spPr>
          <a:xfrm>
            <a:off x="228600" y="1600200"/>
            <a:ext cx="8686800" cy="5257800"/>
          </a:xfrm>
        </p:spPr>
        <p:txBody>
          <a:bodyPr>
            <a:normAutofit/>
          </a:bodyPr>
          <a:lstStyle/>
          <a:p>
            <a:pPr>
              <a:spcBef>
                <a:spcPts val="0"/>
              </a:spcBef>
            </a:pPr>
            <a:r>
              <a:rPr lang="en-US" dirty="0" smtClean="0">
                <a:solidFill>
                  <a:schemeClr val="tx2"/>
                </a:solidFill>
              </a:rPr>
              <a:t>Option 1: Actually draw names out of a hat</a:t>
            </a:r>
          </a:p>
          <a:p>
            <a:pPr>
              <a:spcBef>
                <a:spcPts val="0"/>
              </a:spcBef>
            </a:pPr>
            <a:endParaRPr lang="en-US" sz="3000" dirty="0" smtClean="0">
              <a:solidFill>
                <a:schemeClr val="tx2"/>
              </a:solidFill>
            </a:endParaRPr>
          </a:p>
          <a:p>
            <a:pPr>
              <a:spcBef>
                <a:spcPts val="0"/>
              </a:spcBef>
            </a:pPr>
            <a:r>
              <a:rPr lang="en-US" dirty="0" smtClean="0">
                <a:solidFill>
                  <a:schemeClr val="tx2"/>
                </a:solidFill>
              </a:rPr>
              <a:t>Option 2: Number all units in the population, and generate random numbers </a:t>
            </a:r>
          </a:p>
          <a:p>
            <a:pPr>
              <a:spcBef>
                <a:spcPts val="0"/>
              </a:spcBef>
            </a:pPr>
            <a:endParaRPr lang="en-US" dirty="0" smtClean="0">
              <a:solidFill>
                <a:schemeClr val="tx2"/>
              </a:solidFill>
            </a:endParaRPr>
          </a:p>
          <a:p>
            <a:pPr>
              <a:spcBef>
                <a:spcPts val="0"/>
              </a:spcBef>
              <a:buNone/>
            </a:pPr>
            <a:r>
              <a:rPr lang="en-US" dirty="0" smtClean="0">
                <a:solidFill>
                  <a:schemeClr val="tx2"/>
                </a:solidFill>
              </a:rPr>
              <a:t>	</a:t>
            </a:r>
            <a:r>
              <a:rPr lang="en-US" u="sng" dirty="0" smtClean="0">
                <a:solidFill>
                  <a:schemeClr val="tx2"/>
                </a:solidFill>
              </a:rPr>
              <a:t>Online</a:t>
            </a:r>
            <a:r>
              <a:rPr lang="en-US" dirty="0" smtClean="0">
                <a:solidFill>
                  <a:schemeClr val="tx2"/>
                </a:solidFill>
              </a:rPr>
              <a:t>: </a:t>
            </a:r>
            <a:r>
              <a:rPr lang="en-US" dirty="0" smtClean="0">
                <a:hlinkClick r:id="rId3"/>
              </a:rPr>
              <a:t>http://www.random.org/integers/</a:t>
            </a:r>
            <a:r>
              <a:rPr lang="en-US" dirty="0" smtClean="0">
                <a:solidFill>
                  <a:schemeClr val="tx2"/>
                </a:solidFill>
              </a:rPr>
              <a:t/>
            </a:r>
            <a:br>
              <a:rPr lang="en-US" dirty="0" smtClean="0">
                <a:solidFill>
                  <a:schemeClr val="tx2"/>
                </a:solidFill>
              </a:rPr>
            </a:br>
            <a:endParaRPr lang="en-US" dirty="0" smtClean="0">
              <a:solidFill>
                <a:schemeClr val="tx2"/>
              </a:solidFill>
            </a:endParaRPr>
          </a:p>
          <a:p>
            <a:pPr>
              <a:spcBef>
                <a:spcPts val="0"/>
              </a:spcBef>
              <a:buNone/>
            </a:pPr>
            <a:endParaRPr lang="en-US" dirty="0" smtClean="0">
              <a:solidFill>
                <a:schemeClr val="tx2"/>
              </a:solidFill>
            </a:endParaRPr>
          </a:p>
          <a:p>
            <a:pPr>
              <a:spcBef>
                <a:spcPts val="0"/>
              </a:spcBef>
            </a:pPr>
            <a:endParaRPr lang="en-US" dirty="0" smtClean="0">
              <a:solidFill>
                <a:schemeClr val="tx2"/>
              </a:solidFill>
            </a:endParaRPr>
          </a:p>
          <a:p>
            <a:pPr>
              <a:spcBef>
                <a:spcPts val="0"/>
              </a:spcBef>
            </a:pPr>
            <a:endParaRPr lang="en-US" dirty="0" smtClean="0">
              <a:solidFill>
                <a:schemeClr val="tx2"/>
              </a:solidFill>
            </a:endParaRPr>
          </a:p>
          <a:p>
            <a:pPr>
              <a:spcBef>
                <a:spcPts val="0"/>
              </a:spcBef>
              <a:buNone/>
            </a:pPr>
            <a:endParaRPr lang="en-US" dirty="0" smtClean="0">
              <a:solidFill>
                <a:schemeClr val="tx2"/>
              </a:solidFill>
            </a:endParaRPr>
          </a:p>
          <a:p>
            <a:pPr>
              <a:spcBef>
                <a:spcPts val="0"/>
              </a:spcBef>
              <a:buNone/>
            </a:pPr>
            <a:endParaRPr lang="en-US" dirty="0" smtClean="0">
              <a:solidFill>
                <a:schemeClr val="tx2"/>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lstStyle/>
          <a:p>
            <a:r>
              <a:rPr lang="en-US" b="1" dirty="0" smtClean="0"/>
              <a:t>“Random” Numbers</a:t>
            </a:r>
            <a:endParaRPr lang="en-US" b="1" dirty="0"/>
          </a:p>
        </p:txBody>
      </p:sp>
      <p:sp>
        <p:nvSpPr>
          <p:cNvPr id="2" name="Content Placeholder 1"/>
          <p:cNvSpPr>
            <a:spLocks noGrp="1"/>
          </p:cNvSpPr>
          <p:nvPr>
            <p:ph sz="quarter" idx="1"/>
          </p:nvPr>
        </p:nvSpPr>
        <p:spPr>
          <a:xfrm>
            <a:off x="0" y="1524000"/>
            <a:ext cx="9144000" cy="5334000"/>
          </a:xfrm>
        </p:spPr>
        <p:txBody>
          <a:bodyPr>
            <a:normAutofit/>
          </a:bodyPr>
          <a:lstStyle/>
          <a:p>
            <a:pPr>
              <a:spcBef>
                <a:spcPts val="0"/>
              </a:spcBef>
            </a:pPr>
            <a:r>
              <a:rPr lang="en-US" dirty="0" smtClean="0">
                <a:solidFill>
                  <a:schemeClr val="tx2"/>
                </a:solidFill>
              </a:rPr>
              <a:t>Write </a:t>
            </a:r>
            <a:r>
              <a:rPr lang="en-US" dirty="0">
                <a:solidFill>
                  <a:schemeClr val="tx2"/>
                </a:solidFill>
              </a:rPr>
              <a:t>these numbers down</a:t>
            </a:r>
            <a:r>
              <a:rPr lang="en-US" dirty="0" smtClean="0">
                <a:solidFill>
                  <a:schemeClr val="tx2"/>
                </a:solidFill>
              </a:rPr>
              <a:t>.</a:t>
            </a:r>
          </a:p>
          <a:p>
            <a:pPr marL="514350" indent="-514350">
              <a:spcBef>
                <a:spcPts val="0"/>
              </a:spcBef>
              <a:buNone/>
            </a:pPr>
            <a:endParaRPr lang="en-US" dirty="0" smtClean="0">
              <a:solidFill>
                <a:schemeClr val="tx2"/>
              </a:solidFill>
            </a:endParaRPr>
          </a:p>
          <a:p>
            <a:pPr>
              <a:spcBef>
                <a:spcPts val="0"/>
              </a:spcBef>
            </a:pPr>
            <a:r>
              <a:rPr lang="en-US" dirty="0" smtClean="0">
                <a:solidFill>
                  <a:schemeClr val="tx2"/>
                </a:solidFill>
              </a:rPr>
              <a:t>Using the upcoming slide, write down the words that correspond to your numbers.  Count the number of letters in each word and then calculate the average of those ten numbers.</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My Randomly Selected Words</a:t>
            </a:r>
            <a:endParaRPr lang="en-US" b="1" dirty="0"/>
          </a:p>
        </p:txBody>
      </p:sp>
      <p:graphicFrame>
        <p:nvGraphicFramePr>
          <p:cNvPr id="4" name="Table 3"/>
          <p:cNvGraphicFramePr>
            <a:graphicFrameLocks noGrp="1"/>
          </p:cNvGraphicFramePr>
          <p:nvPr>
            <p:extLst>
              <p:ext uri="{D42A27DB-BD31-4B8C-83A1-F6EECF244321}">
                <p14:modId xmlns:p14="http://schemas.microsoft.com/office/powerpoint/2010/main" val="377756006"/>
              </p:ext>
            </p:extLst>
          </p:nvPr>
        </p:nvGraphicFramePr>
        <p:xfrm>
          <a:off x="1600200" y="1635761"/>
          <a:ext cx="6019800" cy="4922467"/>
        </p:xfrm>
        <a:graphic>
          <a:graphicData uri="http://schemas.openxmlformats.org/drawingml/2006/table">
            <a:tbl>
              <a:tblPr>
                <a:tableStyleId>{5C22544A-7EE6-4342-B048-85BDC9FD1C3A}</a:tableStyleId>
              </a:tblPr>
              <a:tblGrid>
                <a:gridCol w="1989666"/>
                <a:gridCol w="2133600"/>
                <a:gridCol w="1896534"/>
              </a:tblGrid>
              <a:tr h="570047">
                <a:tc>
                  <a:txBody>
                    <a:bodyPr/>
                    <a:lstStyle/>
                    <a:p>
                      <a:pPr algn="ctr" fontAlgn="b"/>
                      <a:r>
                        <a:rPr lang="en-US" sz="2000" b="1" u="none" strike="noStrike" dirty="0">
                          <a:effectLst/>
                          <a:latin typeface="Calibri" pitchFamily="34" charset="0"/>
                          <a:cs typeface="Calibri" pitchFamily="34" charset="0"/>
                        </a:rPr>
                        <a:t>Randomly Selected Integers</a:t>
                      </a:r>
                      <a:endParaRPr lang="en-US" sz="2000" b="1" i="0" u="none" strike="noStrike" dirty="0">
                        <a:solidFill>
                          <a:srgbClr val="000000"/>
                        </a:solidFill>
                        <a:effectLst/>
                        <a:latin typeface="Calibri" pitchFamily="34" charset="0"/>
                        <a:cs typeface="Calibri" pitchFamily="34" charset="0"/>
                      </a:endParaRPr>
                    </a:p>
                  </a:txBody>
                  <a:tcPr marL="7620" marR="7620" marT="7620" marB="0" anchor="b"/>
                </a:tc>
                <a:tc>
                  <a:txBody>
                    <a:bodyPr/>
                    <a:lstStyle/>
                    <a:p>
                      <a:pPr algn="ctr" fontAlgn="b"/>
                      <a:r>
                        <a:rPr lang="en-US" sz="2000" b="1" u="none" strike="noStrike" dirty="0">
                          <a:effectLst/>
                          <a:latin typeface="Calibri" pitchFamily="34" charset="0"/>
                          <a:cs typeface="Calibri" pitchFamily="34" charset="0"/>
                        </a:rPr>
                        <a:t>Corresponding Words</a:t>
                      </a:r>
                      <a:endParaRPr lang="en-US" sz="2000" b="1" i="0" u="none" strike="noStrike" dirty="0">
                        <a:solidFill>
                          <a:srgbClr val="000000"/>
                        </a:solidFill>
                        <a:effectLst/>
                        <a:latin typeface="Calibri" pitchFamily="34" charset="0"/>
                        <a:cs typeface="Calibri" pitchFamily="34" charset="0"/>
                      </a:endParaRPr>
                    </a:p>
                  </a:txBody>
                  <a:tcPr marL="7620" marR="7620" marT="7620" marB="0" anchor="b"/>
                </a:tc>
                <a:tc>
                  <a:txBody>
                    <a:bodyPr/>
                    <a:lstStyle/>
                    <a:p>
                      <a:pPr algn="ctr" fontAlgn="b"/>
                      <a:r>
                        <a:rPr lang="en-US" sz="2000" b="1" u="none" strike="noStrike" dirty="0">
                          <a:effectLst/>
                          <a:latin typeface="Calibri" pitchFamily="34" charset="0"/>
                          <a:cs typeface="Calibri" pitchFamily="34" charset="0"/>
                        </a:rPr>
                        <a:t>Number of Letters in Word</a:t>
                      </a:r>
                      <a:endParaRPr lang="en-US" sz="2000" b="1" i="0" u="none" strike="noStrike" dirty="0">
                        <a:solidFill>
                          <a:srgbClr val="000000"/>
                        </a:solidFill>
                        <a:effectLst/>
                        <a:latin typeface="Calibri" pitchFamily="34" charset="0"/>
                        <a:cs typeface="Calibri" pitchFamily="34" charset="0"/>
                      </a:endParaRPr>
                    </a:p>
                  </a:txBody>
                  <a:tcPr marL="7620" marR="7620" marT="7620" marB="0" anchor="b"/>
                </a:tc>
              </a:tr>
              <a:tr h="288542">
                <a:tc>
                  <a:txBody>
                    <a:bodyPr/>
                    <a:lstStyle/>
                    <a:p>
                      <a:pPr algn="ctr" rtl="0" fontAlgn="ctr"/>
                      <a:r>
                        <a:rPr lang="en-US" sz="2000" u="none" strike="noStrike" dirty="0" smtClean="0">
                          <a:effectLst/>
                          <a:latin typeface="Calibri" pitchFamily="34" charset="0"/>
                          <a:cs typeface="Calibri" pitchFamily="34" charset="0"/>
                        </a:rPr>
                        <a:t>249</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u="none" strike="noStrike" dirty="0" smtClean="0">
                          <a:effectLst/>
                          <a:latin typeface="Calibri" pitchFamily="34" charset="0"/>
                          <a:cs typeface="Calibri" pitchFamily="34" charset="0"/>
                        </a:rPr>
                        <a:t>of</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u="none" strike="noStrike" dirty="0" smtClean="0">
                          <a:effectLst/>
                          <a:latin typeface="Calibri" pitchFamily="34" charset="0"/>
                          <a:cs typeface="Calibri" pitchFamily="34" charset="0"/>
                        </a:rPr>
                        <a:t>2</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r>
              <a:tr h="288542">
                <a:tc>
                  <a:txBody>
                    <a:bodyPr/>
                    <a:lstStyle/>
                    <a:p>
                      <a:pPr algn="ctr" rtl="0" fontAlgn="ctr"/>
                      <a:r>
                        <a:rPr lang="en-US" sz="2000" u="none" strike="noStrike" dirty="0" smtClean="0">
                          <a:effectLst/>
                          <a:latin typeface="Calibri" pitchFamily="34" charset="0"/>
                          <a:cs typeface="Calibri" pitchFamily="34" charset="0"/>
                        </a:rPr>
                        <a:t>142</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u="none" strike="noStrike" dirty="0" smtClean="0">
                          <a:effectLst/>
                          <a:latin typeface="Calibri" pitchFamily="34" charset="0"/>
                          <a:cs typeface="Calibri" pitchFamily="34" charset="0"/>
                        </a:rPr>
                        <a:t>will</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b="0" i="0" u="none" strike="noStrike" dirty="0">
                          <a:solidFill>
                            <a:schemeClr val="dk1"/>
                          </a:solidFill>
                          <a:effectLst/>
                          <a:latin typeface="Calibri" pitchFamily="34" charset="0"/>
                          <a:cs typeface="Calibri" pitchFamily="34" charset="0"/>
                        </a:rPr>
                        <a:t>4</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r>
              <a:tr h="288542">
                <a:tc>
                  <a:txBody>
                    <a:bodyPr/>
                    <a:lstStyle/>
                    <a:p>
                      <a:pPr algn="ctr" rtl="0" fontAlgn="ctr"/>
                      <a:r>
                        <a:rPr lang="en-US" sz="2000" u="none" strike="noStrike" dirty="0" smtClean="0">
                          <a:effectLst/>
                          <a:latin typeface="Calibri" pitchFamily="34" charset="0"/>
                          <a:cs typeface="Calibri" pitchFamily="34" charset="0"/>
                        </a:rPr>
                        <a:t>109</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u="none" strike="noStrike" dirty="0" smtClean="0">
                          <a:effectLst/>
                          <a:latin typeface="Calibri" pitchFamily="34" charset="0"/>
                          <a:cs typeface="Calibri" pitchFamily="34" charset="0"/>
                        </a:rPr>
                        <a:t>cannot</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b="0" i="0" u="none" strike="noStrike" dirty="0">
                          <a:solidFill>
                            <a:schemeClr val="dk1"/>
                          </a:solidFill>
                          <a:effectLst/>
                          <a:latin typeface="Calibri" pitchFamily="34" charset="0"/>
                          <a:cs typeface="Calibri" pitchFamily="34" charset="0"/>
                        </a:rPr>
                        <a:t>6</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r>
              <a:tr h="288542">
                <a:tc>
                  <a:txBody>
                    <a:bodyPr/>
                    <a:lstStyle/>
                    <a:p>
                      <a:pPr algn="ctr" rtl="0" fontAlgn="ctr"/>
                      <a:r>
                        <a:rPr lang="en-US" sz="2000" u="none" strike="noStrike" dirty="0" smtClean="0">
                          <a:effectLst/>
                          <a:latin typeface="Calibri" pitchFamily="34" charset="0"/>
                          <a:cs typeface="Calibri" pitchFamily="34" charset="0"/>
                        </a:rPr>
                        <a:t>225</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u="none" strike="noStrike" dirty="0" smtClean="0">
                          <a:effectLst/>
                          <a:latin typeface="Calibri" pitchFamily="34" charset="0"/>
                          <a:cs typeface="Calibri" pitchFamily="34" charset="0"/>
                        </a:rPr>
                        <a:t>that</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u="none" strike="noStrike">
                          <a:effectLst/>
                          <a:latin typeface="Calibri" pitchFamily="34" charset="0"/>
                          <a:cs typeface="Calibri" pitchFamily="34" charset="0"/>
                        </a:rPr>
                        <a:t>4</a:t>
                      </a:r>
                      <a:endParaRPr lang="en-US" sz="2000" b="0" i="0" u="none" strike="noStrike">
                        <a:solidFill>
                          <a:srgbClr val="000000"/>
                        </a:solidFill>
                        <a:effectLst/>
                        <a:latin typeface="Calibri" pitchFamily="34" charset="0"/>
                        <a:cs typeface="Calibri" pitchFamily="34" charset="0"/>
                      </a:endParaRPr>
                    </a:p>
                  </a:txBody>
                  <a:tcPr marL="7620" marR="7620" marT="7620" marB="0" anchor="ctr"/>
                </a:tc>
              </a:tr>
              <a:tr h="288542">
                <a:tc>
                  <a:txBody>
                    <a:bodyPr/>
                    <a:lstStyle/>
                    <a:p>
                      <a:pPr algn="ctr" rtl="0" fontAlgn="ctr"/>
                      <a:r>
                        <a:rPr lang="en-US" sz="2000" u="none" strike="noStrike" dirty="0" smtClean="0">
                          <a:effectLst/>
                          <a:latin typeface="Calibri" pitchFamily="34" charset="0"/>
                          <a:cs typeface="Calibri" pitchFamily="34" charset="0"/>
                        </a:rPr>
                        <a:t>212</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u="none" strike="noStrike" dirty="0" smtClean="0">
                          <a:effectLst/>
                          <a:latin typeface="Calibri" pitchFamily="34" charset="0"/>
                          <a:cs typeface="Calibri" pitchFamily="34" charset="0"/>
                        </a:rPr>
                        <a:t>to</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b="0" i="0" u="none" strike="noStrike" dirty="0">
                          <a:solidFill>
                            <a:schemeClr val="dk1"/>
                          </a:solidFill>
                          <a:effectLst/>
                          <a:latin typeface="Calibri" pitchFamily="34" charset="0"/>
                          <a:cs typeface="Calibri" pitchFamily="34" charset="0"/>
                        </a:rPr>
                        <a:t>2</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r>
              <a:tr h="288542">
                <a:tc>
                  <a:txBody>
                    <a:bodyPr/>
                    <a:lstStyle/>
                    <a:p>
                      <a:pPr algn="ctr" rtl="0" fontAlgn="ctr"/>
                      <a:r>
                        <a:rPr lang="en-US" sz="2000" u="none" strike="noStrike" dirty="0" smtClean="0">
                          <a:effectLst/>
                          <a:latin typeface="Calibri" pitchFamily="34" charset="0"/>
                          <a:cs typeface="Calibri" pitchFamily="34" charset="0"/>
                        </a:rPr>
                        <a:t>42</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b="0" i="0" u="none" strike="noStrike" dirty="0" smtClean="0">
                          <a:solidFill>
                            <a:schemeClr val="dk1"/>
                          </a:solidFill>
                          <a:effectLst/>
                          <a:latin typeface="Calibri" pitchFamily="34" charset="0"/>
                          <a:cs typeface="Calibri" pitchFamily="34" charset="0"/>
                        </a:rPr>
                        <a:t>that</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b="0" i="0" u="none" strike="noStrike" dirty="0">
                          <a:solidFill>
                            <a:schemeClr val="dk1"/>
                          </a:solidFill>
                          <a:effectLst/>
                          <a:latin typeface="Calibri" pitchFamily="34" charset="0"/>
                          <a:cs typeface="Calibri" pitchFamily="34" charset="0"/>
                        </a:rPr>
                        <a:t>4</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r>
              <a:tr h="288542">
                <a:tc>
                  <a:txBody>
                    <a:bodyPr/>
                    <a:lstStyle/>
                    <a:p>
                      <a:pPr algn="ctr" rtl="0" fontAlgn="ctr"/>
                      <a:r>
                        <a:rPr lang="en-US" sz="2000" u="none" strike="noStrike" dirty="0" smtClean="0">
                          <a:effectLst/>
                          <a:latin typeface="Calibri" pitchFamily="34" charset="0"/>
                          <a:cs typeface="Calibri" pitchFamily="34" charset="0"/>
                        </a:rPr>
                        <a:t>77</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u="none" strike="noStrike" dirty="0" smtClean="0">
                          <a:effectLst/>
                          <a:latin typeface="Calibri" pitchFamily="34" charset="0"/>
                          <a:cs typeface="Calibri" pitchFamily="34" charset="0"/>
                        </a:rPr>
                        <a:t>final</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b="0" i="0" u="none" strike="noStrike" dirty="0" smtClean="0">
                          <a:solidFill>
                            <a:srgbClr val="000000"/>
                          </a:solidFill>
                          <a:effectLst/>
                          <a:latin typeface="Calibri" pitchFamily="34" charset="0"/>
                          <a:cs typeface="Calibri" pitchFamily="34" charset="0"/>
                        </a:rPr>
                        <a:t>5</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r>
              <a:tr h="288542">
                <a:tc>
                  <a:txBody>
                    <a:bodyPr/>
                    <a:lstStyle/>
                    <a:p>
                      <a:pPr algn="ctr" rtl="0" fontAlgn="ctr"/>
                      <a:r>
                        <a:rPr lang="en-US" sz="2000" u="none" strike="noStrike" dirty="0" smtClean="0">
                          <a:effectLst/>
                          <a:latin typeface="Calibri" pitchFamily="34" charset="0"/>
                          <a:cs typeface="Calibri" pitchFamily="34" charset="0"/>
                        </a:rPr>
                        <a:t>91</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u="none" strike="noStrike" dirty="0" smtClean="0">
                          <a:effectLst/>
                          <a:latin typeface="Calibri" pitchFamily="34" charset="0"/>
                          <a:cs typeface="Calibri" pitchFamily="34" charset="0"/>
                        </a:rPr>
                        <a:t>live</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b="0" i="0" u="none" strike="noStrike" dirty="0" smtClean="0">
                          <a:solidFill>
                            <a:srgbClr val="000000"/>
                          </a:solidFill>
                          <a:effectLst/>
                          <a:latin typeface="Calibri" pitchFamily="34" charset="0"/>
                          <a:cs typeface="Calibri" pitchFamily="34" charset="0"/>
                        </a:rPr>
                        <a:t>4</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r>
              <a:tr h="288542">
                <a:tc>
                  <a:txBody>
                    <a:bodyPr/>
                    <a:lstStyle/>
                    <a:p>
                      <a:pPr algn="ctr" rtl="0" fontAlgn="ctr"/>
                      <a:r>
                        <a:rPr lang="en-US" sz="2000" u="none" strike="noStrike" dirty="0" smtClean="0">
                          <a:effectLst/>
                          <a:latin typeface="Calibri" pitchFamily="34" charset="0"/>
                          <a:cs typeface="Calibri" pitchFamily="34" charset="0"/>
                        </a:rPr>
                        <a:t>245</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u="none" strike="noStrike" dirty="0" smtClean="0">
                          <a:effectLst/>
                          <a:latin typeface="Calibri" pitchFamily="34" charset="0"/>
                          <a:cs typeface="Calibri" pitchFamily="34" charset="0"/>
                        </a:rPr>
                        <a:t>have</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u="none" strike="noStrike">
                          <a:effectLst/>
                          <a:latin typeface="Calibri" pitchFamily="34" charset="0"/>
                          <a:cs typeface="Calibri" pitchFamily="34" charset="0"/>
                        </a:rPr>
                        <a:t>4</a:t>
                      </a:r>
                      <a:endParaRPr lang="en-US" sz="2000" b="0" i="0" u="none" strike="noStrike">
                        <a:solidFill>
                          <a:srgbClr val="000000"/>
                        </a:solidFill>
                        <a:effectLst/>
                        <a:latin typeface="Calibri" pitchFamily="34" charset="0"/>
                        <a:cs typeface="Calibri" pitchFamily="34" charset="0"/>
                      </a:endParaRPr>
                    </a:p>
                  </a:txBody>
                  <a:tcPr marL="7620" marR="7620" marT="7620" marB="0" anchor="ctr"/>
                </a:tc>
              </a:tr>
              <a:tr h="288542">
                <a:tc>
                  <a:txBody>
                    <a:bodyPr/>
                    <a:lstStyle/>
                    <a:p>
                      <a:pPr algn="ctr" rtl="0" fontAlgn="ctr"/>
                      <a:r>
                        <a:rPr lang="en-US" sz="2000" u="none" strike="noStrike" dirty="0" smtClean="0">
                          <a:effectLst/>
                          <a:latin typeface="Calibri" pitchFamily="34" charset="0"/>
                          <a:cs typeface="Calibri" pitchFamily="34" charset="0"/>
                        </a:rPr>
                        <a:t>225</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u="none" strike="noStrike" dirty="0" smtClean="0">
                          <a:effectLst/>
                          <a:latin typeface="Calibri" pitchFamily="34" charset="0"/>
                          <a:cs typeface="Calibri" pitchFamily="34" charset="0"/>
                        </a:rPr>
                        <a:t>that</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c>
                  <a:txBody>
                    <a:bodyPr/>
                    <a:lstStyle/>
                    <a:p>
                      <a:pPr algn="ctr" rtl="0" fontAlgn="ctr"/>
                      <a:r>
                        <a:rPr lang="en-US" sz="2000" b="0" i="0" u="none" strike="noStrike" dirty="0">
                          <a:solidFill>
                            <a:schemeClr val="dk1"/>
                          </a:solidFill>
                          <a:effectLst/>
                          <a:latin typeface="Calibri" pitchFamily="34" charset="0"/>
                          <a:cs typeface="Calibri" pitchFamily="34" charset="0"/>
                        </a:rPr>
                        <a:t>4</a:t>
                      </a:r>
                      <a:endParaRPr lang="en-US" sz="2000" b="0" i="0" u="none" strike="noStrike" dirty="0">
                        <a:solidFill>
                          <a:srgbClr val="000000"/>
                        </a:solidFill>
                        <a:effectLst/>
                        <a:latin typeface="Calibri" pitchFamily="34" charset="0"/>
                        <a:cs typeface="Calibri" pitchFamily="34" charset="0"/>
                      </a:endParaRPr>
                    </a:p>
                  </a:txBody>
                  <a:tcPr marL="7620" marR="7620" marT="7620" marB="0" anchor="ctr"/>
                </a:tc>
              </a:tr>
              <a:tr h="288542">
                <a:tc>
                  <a:txBody>
                    <a:bodyPr/>
                    <a:lstStyle/>
                    <a:p>
                      <a:pPr algn="ctr" fontAlgn="b"/>
                      <a:endParaRPr lang="en-US" sz="2000" b="0" i="0" u="none" strike="noStrike">
                        <a:solidFill>
                          <a:srgbClr val="000000"/>
                        </a:solidFill>
                        <a:effectLst/>
                        <a:latin typeface="Calibri" pitchFamily="34" charset="0"/>
                        <a:cs typeface="Calibri" pitchFamily="34" charset="0"/>
                      </a:endParaRPr>
                    </a:p>
                  </a:txBody>
                  <a:tcPr marL="7620" marR="7620" marT="7620" marB="0" anchor="b"/>
                </a:tc>
                <a:tc>
                  <a:txBody>
                    <a:bodyPr/>
                    <a:lstStyle/>
                    <a:p>
                      <a:pPr algn="ctr" fontAlgn="b"/>
                      <a:endParaRPr lang="en-US" sz="2000" b="0" i="0" u="none" strike="noStrike">
                        <a:solidFill>
                          <a:srgbClr val="000000"/>
                        </a:solidFill>
                        <a:effectLst/>
                        <a:latin typeface="Calibri" pitchFamily="34" charset="0"/>
                        <a:cs typeface="Calibri" pitchFamily="34" charset="0"/>
                      </a:endParaRPr>
                    </a:p>
                  </a:txBody>
                  <a:tcPr marL="7620" marR="7620" marT="7620" marB="0" anchor="b"/>
                </a:tc>
                <a:tc>
                  <a:txBody>
                    <a:bodyPr/>
                    <a:lstStyle/>
                    <a:p>
                      <a:pPr algn="l" fontAlgn="b"/>
                      <a:endParaRPr lang="en-US" sz="2000" b="0" i="0" u="none" strike="noStrike">
                        <a:solidFill>
                          <a:srgbClr val="000000"/>
                        </a:solidFill>
                        <a:effectLst/>
                        <a:latin typeface="Calibri" pitchFamily="34" charset="0"/>
                        <a:cs typeface="Calibri" pitchFamily="34" charset="0"/>
                      </a:endParaRPr>
                    </a:p>
                  </a:txBody>
                  <a:tcPr marL="7620" marR="7620" marT="7620" marB="0" anchor="b"/>
                </a:tc>
              </a:tr>
              <a:tr h="868627">
                <a:tc>
                  <a:txBody>
                    <a:bodyPr/>
                    <a:lstStyle/>
                    <a:p>
                      <a:pPr algn="ctr" fontAlgn="b"/>
                      <a:endParaRPr lang="en-US" sz="2000" b="0" i="0" u="none" strike="noStrike">
                        <a:solidFill>
                          <a:srgbClr val="000000"/>
                        </a:solidFill>
                        <a:effectLst/>
                        <a:latin typeface="Calibri" pitchFamily="34" charset="0"/>
                        <a:cs typeface="Calibri" pitchFamily="34" charset="0"/>
                      </a:endParaRPr>
                    </a:p>
                  </a:txBody>
                  <a:tcPr marL="7620" marR="7620" marT="7620" marB="0" anchor="b"/>
                </a:tc>
                <a:tc>
                  <a:txBody>
                    <a:bodyPr/>
                    <a:lstStyle/>
                    <a:p>
                      <a:pPr algn="ctr" fontAlgn="b"/>
                      <a:r>
                        <a:rPr lang="en-US" sz="2000" b="1" u="none" strike="noStrike" dirty="0">
                          <a:effectLst/>
                          <a:latin typeface="Calibri" pitchFamily="34" charset="0"/>
                          <a:cs typeface="Calibri" pitchFamily="34" charset="0"/>
                        </a:rPr>
                        <a:t>Average Number of Letters for Sample:</a:t>
                      </a:r>
                      <a:endParaRPr lang="en-US" sz="2000" b="1" i="0" u="none" strike="noStrike" dirty="0">
                        <a:solidFill>
                          <a:srgbClr val="000000"/>
                        </a:solidFill>
                        <a:effectLst/>
                        <a:latin typeface="Calibri" pitchFamily="34" charset="0"/>
                        <a:cs typeface="Calibri" pitchFamily="34" charset="0"/>
                      </a:endParaRPr>
                    </a:p>
                  </a:txBody>
                  <a:tcPr marL="7620" marR="7620" marT="7620" marB="0" anchor="b"/>
                </a:tc>
                <a:tc>
                  <a:txBody>
                    <a:bodyPr/>
                    <a:lstStyle/>
                    <a:p>
                      <a:pPr algn="ctr" fontAlgn="b"/>
                      <a:r>
                        <a:rPr lang="en-US" sz="2000" b="1" u="none" strike="noStrike" dirty="0" smtClean="0">
                          <a:effectLst/>
                          <a:latin typeface="Calibri" pitchFamily="34" charset="0"/>
                          <a:cs typeface="Calibri" pitchFamily="34" charset="0"/>
                        </a:rPr>
                        <a:t>3.9</a:t>
                      </a:r>
                      <a:endParaRPr lang="en-US" sz="2000" b="1" i="0" u="none" strike="noStrike" dirty="0">
                        <a:solidFill>
                          <a:srgbClr val="000000"/>
                        </a:solidFill>
                        <a:effectLst/>
                        <a:latin typeface="Calibri" pitchFamily="34" charset="0"/>
                        <a:cs typeface="Calibri" pitchFamily="34" charset="0"/>
                      </a:endParaRPr>
                    </a:p>
                  </a:txBody>
                  <a:tcPr marL="7620" marR="7620" marT="7620" marB="0" anchor="b"/>
                </a:tc>
              </a:tr>
            </a:tbl>
          </a:graphicData>
        </a:graphic>
      </p:graphicFrame>
    </p:spTree>
    <p:extLst>
      <p:ext uri="{BB962C8B-B14F-4D97-AF65-F5344CB8AC3E}">
        <p14:creationId xmlns:p14="http://schemas.microsoft.com/office/powerpoint/2010/main" val="40938289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3759399"/>
              </p:ext>
            </p:extLst>
          </p:nvPr>
        </p:nvGraphicFramePr>
        <p:xfrm>
          <a:off x="125504" y="152400"/>
          <a:ext cx="8991602" cy="6347052"/>
        </p:xfrm>
        <a:graphic>
          <a:graphicData uri="http://schemas.openxmlformats.org/drawingml/2006/table">
            <a:tbl>
              <a:tblPr/>
              <a:tblGrid>
                <a:gridCol w="230553"/>
                <a:gridCol w="691662"/>
                <a:gridCol w="230553"/>
                <a:gridCol w="740202"/>
                <a:gridCol w="236618"/>
                <a:gridCol w="637058"/>
                <a:gridCol w="307406"/>
                <a:gridCol w="845363"/>
                <a:gridCol w="307406"/>
                <a:gridCol w="691662"/>
                <a:gridCol w="307406"/>
                <a:gridCol w="768513"/>
                <a:gridCol w="384257"/>
                <a:gridCol w="691662"/>
                <a:gridCol w="461109"/>
                <a:gridCol w="834534"/>
                <a:gridCol w="625638"/>
              </a:tblGrid>
              <a:tr h="186678">
                <a:tc>
                  <a:txBody>
                    <a:bodyPr/>
                    <a:lstStyle/>
                    <a:p>
                      <a:pPr marL="0" marR="0">
                        <a:spcBef>
                          <a:spcPts val="0"/>
                        </a:spcBef>
                        <a:spcAft>
                          <a:spcPts val="0"/>
                        </a:spcAft>
                      </a:pPr>
                      <a:r>
                        <a:rPr lang="en-US" sz="1100" dirty="0" smtClean="0">
                          <a:latin typeface="Times New Roman"/>
                          <a:ea typeface="Calibri"/>
                          <a:cs typeface="Times New Roman"/>
                        </a:rPr>
                        <a:t>1</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Four</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dirty="0">
                          <a:latin typeface="Arial"/>
                          <a:ea typeface="Calibri"/>
                          <a:cs typeface="Times New Roman"/>
                        </a:rPr>
                        <a:t>35</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in</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69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dedicate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103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But,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137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add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171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here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205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these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239</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dirty="0">
                          <a:latin typeface="Arial"/>
                          <a:ea typeface="Calibri"/>
                          <a:cs typeface="Times New Roman"/>
                        </a:rPr>
                        <a:t>that</a:t>
                      </a:r>
                      <a:endParaRPr lang="en-US" sz="1100" dirty="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2</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score</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dirty="0">
                          <a:latin typeface="Arial"/>
                          <a:ea typeface="Calibri"/>
                          <a:cs typeface="Times New Roman"/>
                        </a:rPr>
                        <a:t>36</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a</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70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104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in</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138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or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172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to</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206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honored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240</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this</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3</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and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37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great</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dirty="0">
                          <a:latin typeface="Arial"/>
                          <a:ea typeface="Calibri"/>
                          <a:cs typeface="Times New Roman"/>
                        </a:rPr>
                        <a:t>71</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portion</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105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139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detract.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173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207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dead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241</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nation,</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4</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seven</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38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civil</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dirty="0">
                          <a:latin typeface="Arial"/>
                          <a:ea typeface="Calibri"/>
                          <a:cs typeface="Times New Roman"/>
                        </a:rPr>
                        <a:t>72</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of</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106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larger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140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174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unfinished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208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242</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under</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5</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years</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39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war,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73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that</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107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sense,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141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world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175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work</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209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take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243</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God,</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6</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ago,</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40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testing</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74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field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108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142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will</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176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which</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210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increased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244</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shall</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7</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our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41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whether</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75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as</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109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cannot</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143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little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177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they</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211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devotion</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245</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have</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8</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fathers</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42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that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76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110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dedicate,</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144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note,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178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who</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212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to</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246</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a</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9</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brought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43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nation,</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77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final</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111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145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nor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179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fought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213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that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247</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new</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10</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forth</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44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or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78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resting</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112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cannot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dirty="0">
                          <a:latin typeface="Arial"/>
                          <a:ea typeface="Calibri"/>
                          <a:cs typeface="Times New Roman"/>
                        </a:rPr>
                        <a:t>146</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long</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180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here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214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cause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248</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birth</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11</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upon</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45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any</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79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place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113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consecrate,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dirty="0">
                          <a:latin typeface="Arial"/>
                          <a:ea typeface="Calibri"/>
                          <a:cs typeface="Times New Roman"/>
                        </a:rPr>
                        <a:t>147</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remember,</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dirty="0">
                          <a:latin typeface="Arial"/>
                          <a:ea typeface="Calibri"/>
                          <a:cs typeface="Times New Roman"/>
                        </a:rPr>
                        <a:t>181</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have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215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for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249</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of</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12</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this</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46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nation</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80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for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114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148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what</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dirty="0">
                          <a:latin typeface="Arial"/>
                          <a:ea typeface="Calibri"/>
                          <a:cs typeface="Times New Roman"/>
                        </a:rPr>
                        <a:t>182</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thus</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216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which</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250</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freedom,</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13</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continent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47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so</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81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those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115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cannot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dirty="0">
                          <a:latin typeface="Arial"/>
                          <a:ea typeface="Calibri"/>
                          <a:cs typeface="Times New Roman"/>
                        </a:rPr>
                        <a:t>149</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183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far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217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they</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251</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and</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14</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48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conceived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82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who</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116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hallow</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150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say</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184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so</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218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gave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252</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that</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15</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new</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49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and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83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here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117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this</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151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smtClean="0">
                          <a:latin typeface="Arial"/>
                          <a:ea typeface="Calibri"/>
                          <a:cs typeface="Times New Roman"/>
                        </a:rPr>
                        <a:t>here</a:t>
                      </a:r>
                      <a:r>
                        <a:rPr lang="en-US" sz="1050" dirty="0">
                          <a:latin typeface="Arial"/>
                          <a:ea typeface="Calibri"/>
                          <a:cs typeface="Times New Roman"/>
                        </a:rPr>
                        <a:t>,</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dirty="0">
                          <a:latin typeface="Arial"/>
                          <a:ea typeface="Calibri"/>
                          <a:cs typeface="Times New Roman"/>
                        </a:rPr>
                        <a:t>185</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nobly</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219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the</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dirty="0">
                          <a:latin typeface="Arial"/>
                          <a:ea typeface="Calibri"/>
                          <a:cs typeface="Times New Roman"/>
                        </a:rPr>
                        <a:t>253</a:t>
                      </a:r>
                      <a:endParaRPr lang="en-US" sz="1100" dirty="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dirty="0">
                          <a:latin typeface="Arial"/>
                          <a:ea typeface="Calibri"/>
                          <a:cs typeface="Times New Roman"/>
                        </a:rPr>
                        <a:t>government</a:t>
                      </a:r>
                      <a:endParaRPr lang="en-US" sz="1100" dirty="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16</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nation:</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50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so</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84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gave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118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ground.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152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but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dirty="0">
                          <a:latin typeface="Arial"/>
                          <a:ea typeface="Calibri"/>
                          <a:cs typeface="Times New Roman"/>
                        </a:rPr>
                        <a:t>186</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advanced.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220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last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254</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of</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17</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conceived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51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dedicated,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85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their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119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153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it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dirty="0">
                          <a:latin typeface="Arial"/>
                          <a:ea typeface="Calibri"/>
                          <a:cs typeface="Times New Roman"/>
                        </a:rPr>
                        <a:t>187</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It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dirty="0">
                          <a:latin typeface="Arial"/>
                          <a:ea typeface="Calibri"/>
                          <a:cs typeface="Times New Roman"/>
                        </a:rPr>
                        <a:t>221</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full</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255</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the</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18</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in</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52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can</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86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lives</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120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brave</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154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can</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188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is</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222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measure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256</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people,</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19</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liberty,</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53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long</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87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that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121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men,</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155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never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189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rather</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223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of</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257</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by</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20</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and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54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endure.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88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that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122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living</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156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forget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190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for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224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devotion,</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258</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the</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21</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dedicated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55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89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nation</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123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and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157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what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191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us</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225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that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259</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people,</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22</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to</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56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are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90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might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124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dead,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158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they</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192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to</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226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we</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260</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for</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23</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57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met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91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live.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125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who</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159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did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193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be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dirty="0">
                          <a:latin typeface="Arial"/>
                          <a:ea typeface="Calibri"/>
                          <a:cs typeface="Times New Roman"/>
                        </a:rPr>
                        <a:t>227</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here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261</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the</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24</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proposition</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58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on</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92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It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126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struggled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160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here.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194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here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228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highly</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262</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people,</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25</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that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59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93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is</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127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here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161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It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195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dedicated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229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resolve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263</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shall</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26</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all</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60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great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94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altogether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128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have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162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is</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196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to</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230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that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264</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not</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27</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men</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61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battlefield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95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fitting</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129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consecrated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163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for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197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231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these</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265</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perish</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28</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are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62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of</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96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and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130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it,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164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us</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198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great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232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dead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266</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from</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29</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created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63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that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97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proper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131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far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165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199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task</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233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shall</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267</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the</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30</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equal.</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64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war.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98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that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132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above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166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living,</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200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remaining</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234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not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dirty="0">
                          <a:latin typeface="Arial"/>
                          <a:ea typeface="Calibri"/>
                          <a:cs typeface="Times New Roman"/>
                        </a:rPr>
                        <a:t>268</a:t>
                      </a:r>
                      <a:endParaRPr lang="en-US" sz="1100" dirty="0">
                        <a:latin typeface="Times New Roman"/>
                        <a:ea typeface="Calibri"/>
                        <a:cs typeface="Times New Roman"/>
                      </a:endParaRPr>
                    </a:p>
                  </a:txBody>
                  <a:tcPr marL="6264" marR="6264" marT="6264" marB="0" anchor="b">
                    <a:lnL>
                      <a:noFill/>
                    </a:lnL>
                    <a:lnR>
                      <a:noFill/>
                    </a:lnR>
                    <a:lnT>
                      <a:noFill/>
                    </a:lnT>
                    <a:lnB>
                      <a:noFill/>
                    </a:lnB>
                  </a:tcPr>
                </a:tc>
                <a:tc gridSpan="2">
                  <a:txBody>
                    <a:bodyPr/>
                    <a:lstStyle/>
                    <a:p>
                      <a:pPr marL="0" marR="0">
                        <a:spcBef>
                          <a:spcPts val="0"/>
                        </a:spcBef>
                        <a:spcAft>
                          <a:spcPts val="0"/>
                        </a:spcAft>
                      </a:pPr>
                      <a:r>
                        <a:rPr lang="en-US" sz="1050">
                          <a:latin typeface="Arial"/>
                          <a:ea typeface="Calibri"/>
                          <a:cs typeface="Times New Roman"/>
                        </a:rPr>
                        <a:t>earth.</a:t>
                      </a:r>
                      <a:endParaRPr lang="en-US" sz="1100">
                        <a:latin typeface="Times New Roman"/>
                        <a:ea typeface="Calibri"/>
                        <a:cs typeface="Times New Roman"/>
                      </a:endParaRPr>
                    </a:p>
                  </a:txBody>
                  <a:tcPr marL="6264" marR="6264" marT="6264" marB="0" anchor="b">
                    <a:lnL>
                      <a:noFill/>
                    </a:lnL>
                    <a:lnR>
                      <a:noFill/>
                    </a:lnR>
                    <a:lnT>
                      <a:noFill/>
                    </a:lnT>
                    <a:lnB>
                      <a:noFill/>
                    </a:lnB>
                  </a:tcPr>
                </a:tc>
                <a:tc hMerge="1">
                  <a:txBody>
                    <a:bodyPr/>
                    <a:lstStyle/>
                    <a:p>
                      <a:pPr marL="0" marR="0">
                        <a:spcBef>
                          <a:spcPts val="0"/>
                        </a:spcBef>
                        <a:spcAft>
                          <a:spcPts val="0"/>
                        </a:spcAft>
                      </a:pPr>
                      <a:endParaRPr lang="en-US" sz="1100">
                        <a:latin typeface="Times New Roman"/>
                        <a:ea typeface="Calibri"/>
                        <a:cs typeface="Times New Roman"/>
                      </a:endParaRPr>
                    </a:p>
                  </a:txBody>
                  <a:tcPr marL="6264" marR="6264" marT="6264" marB="0" anchor="b">
                    <a:lnL>
                      <a:noFill/>
                    </a:lnL>
                    <a:lnR>
                      <a:noFill/>
                    </a:lnR>
                    <a:lnT>
                      <a:noFill/>
                    </a:lnT>
                    <a:lnB>
                      <a:noFill/>
                    </a:lnB>
                  </a:tcPr>
                </a:tc>
              </a:tr>
              <a:tr h="186678">
                <a:tc>
                  <a:txBody>
                    <a:bodyPr/>
                    <a:lstStyle/>
                    <a:p>
                      <a:pPr marL="0" marR="0">
                        <a:spcBef>
                          <a:spcPts val="0"/>
                        </a:spcBef>
                        <a:spcAft>
                          <a:spcPts val="0"/>
                        </a:spcAft>
                      </a:pPr>
                      <a:r>
                        <a:rPr lang="en-US" sz="1100" dirty="0" smtClean="0">
                          <a:latin typeface="Times New Roman"/>
                          <a:ea typeface="Calibri"/>
                          <a:cs typeface="Times New Roman"/>
                        </a:rPr>
                        <a:t>31</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Now</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65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99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133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our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167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rather,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201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before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235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have</a:t>
                      </a:r>
                      <a:endParaRPr lang="en-US" sz="1100">
                        <a:latin typeface="Times New Roman"/>
                        <a:ea typeface="Calibri"/>
                        <a:cs typeface="Times New Roman"/>
                      </a:endParaRPr>
                    </a:p>
                  </a:txBody>
                  <a:tcPr marL="6264" marR="6264" marT="6264" marB="0" anchor="b">
                    <a:lnL>
                      <a:noFill/>
                    </a:lnL>
                    <a:lnR>
                      <a:noFill/>
                    </a:lnR>
                    <a:lnT>
                      <a:noFill/>
                    </a:lnT>
                    <a:lnB>
                      <a:noFill/>
                    </a:lnB>
                  </a:tcPr>
                </a:tc>
                <a:tc gridSpan="3">
                  <a:txBody>
                    <a:bodyPr/>
                    <a:lstStyle/>
                    <a:p>
                      <a:endParaRPr lang="en-US" sz="1050" dirty="0">
                        <a:latin typeface="Calibri"/>
                        <a:ea typeface="Times New Roman"/>
                      </a:endParaRPr>
                    </a:p>
                  </a:txBody>
                  <a:tcPr marL="6264" marR="6264" marT="6264" marB="0" anchor="b">
                    <a:lnL>
                      <a:noFill/>
                    </a:lnL>
                    <a:lnR>
                      <a:noFill/>
                    </a:lnR>
                    <a:lnT>
                      <a:noFill/>
                    </a:lnT>
                    <a:lnB>
                      <a:noFill/>
                    </a:lnB>
                  </a:tcPr>
                </a:tc>
                <a:tc hMerge="1">
                  <a:txBody>
                    <a:bodyPr/>
                    <a:lstStyle/>
                    <a:p>
                      <a:endParaRPr lang="en-US"/>
                    </a:p>
                  </a:txBody>
                  <a:tcPr/>
                </a:tc>
                <a:tc hMerge="1">
                  <a:txBody>
                    <a:bodyPr/>
                    <a:lstStyle/>
                    <a:p>
                      <a:endParaRPr lang="en-US"/>
                    </a:p>
                  </a:txBody>
                  <a:tcPr/>
                </a:tc>
              </a:tr>
              <a:tr h="186678">
                <a:tc>
                  <a:txBody>
                    <a:bodyPr/>
                    <a:lstStyle/>
                    <a:p>
                      <a:pPr marL="0" marR="0">
                        <a:spcBef>
                          <a:spcPts val="0"/>
                        </a:spcBef>
                        <a:spcAft>
                          <a:spcPts val="0"/>
                        </a:spcAft>
                      </a:pPr>
                      <a:r>
                        <a:rPr lang="en-US" sz="1100" dirty="0" smtClean="0">
                          <a:latin typeface="Times New Roman"/>
                          <a:ea typeface="Calibri"/>
                          <a:cs typeface="Times New Roman"/>
                        </a:rPr>
                        <a:t>32</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we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66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have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100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should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134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poor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168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to</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202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us,</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236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died</a:t>
                      </a:r>
                      <a:endParaRPr lang="en-US" sz="1100">
                        <a:latin typeface="Times New Roman"/>
                        <a:ea typeface="Calibri"/>
                        <a:cs typeface="Times New Roman"/>
                      </a:endParaRPr>
                    </a:p>
                  </a:txBody>
                  <a:tcPr marL="6264" marR="6264" marT="6264" marB="0" anchor="b">
                    <a:lnL>
                      <a:noFill/>
                    </a:lnL>
                    <a:lnR>
                      <a:noFill/>
                    </a:lnR>
                    <a:lnT>
                      <a:noFill/>
                    </a:lnT>
                    <a:lnB>
                      <a:noFill/>
                    </a:lnB>
                  </a:tcPr>
                </a:tc>
                <a:tc gridSpan="3">
                  <a:txBody>
                    <a:bodyPr/>
                    <a:lstStyle/>
                    <a:p>
                      <a:endParaRPr lang="en-US" sz="1050" dirty="0">
                        <a:latin typeface="Calibri"/>
                        <a:ea typeface="Times New Roman"/>
                      </a:endParaRPr>
                    </a:p>
                  </a:txBody>
                  <a:tcPr marL="6264" marR="6264" marT="6264" marB="0" anchor="b">
                    <a:lnL>
                      <a:noFill/>
                    </a:lnL>
                    <a:lnR>
                      <a:noFill/>
                    </a:lnR>
                    <a:lnT>
                      <a:noFill/>
                    </a:lnT>
                    <a:lnB>
                      <a:noFill/>
                    </a:lnB>
                  </a:tcPr>
                </a:tc>
                <a:tc hMerge="1">
                  <a:txBody>
                    <a:bodyPr/>
                    <a:lstStyle/>
                    <a:p>
                      <a:endParaRPr lang="en-US"/>
                    </a:p>
                  </a:txBody>
                  <a:tcPr/>
                </a:tc>
                <a:tc hMerge="1">
                  <a:txBody>
                    <a:bodyPr/>
                    <a:lstStyle/>
                    <a:p>
                      <a:endParaRPr lang="en-US"/>
                    </a:p>
                  </a:txBody>
                  <a:tcPr/>
                </a:tc>
              </a:tr>
              <a:tr h="186678">
                <a:tc>
                  <a:txBody>
                    <a:bodyPr/>
                    <a:lstStyle/>
                    <a:p>
                      <a:pPr marL="0" marR="0">
                        <a:spcBef>
                          <a:spcPts val="0"/>
                        </a:spcBef>
                        <a:spcAft>
                          <a:spcPts val="0"/>
                        </a:spcAft>
                      </a:pPr>
                      <a:r>
                        <a:rPr lang="en-US" sz="1100" dirty="0" smtClean="0">
                          <a:latin typeface="Times New Roman"/>
                          <a:ea typeface="Calibri"/>
                          <a:cs typeface="Times New Roman"/>
                        </a:rPr>
                        <a:t>33</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are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67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come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101</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do</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135</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power</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169</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be</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203</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that</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237</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in</a:t>
                      </a:r>
                      <a:endParaRPr lang="en-US" sz="1100">
                        <a:latin typeface="Times New Roman"/>
                        <a:ea typeface="Calibri"/>
                        <a:cs typeface="Times New Roman"/>
                      </a:endParaRPr>
                    </a:p>
                  </a:txBody>
                  <a:tcPr marL="6264" marR="6264" marT="6264" marB="0" anchor="b">
                    <a:lnL>
                      <a:noFill/>
                    </a:lnL>
                    <a:lnR>
                      <a:noFill/>
                    </a:lnR>
                    <a:lnT>
                      <a:noFill/>
                    </a:lnT>
                    <a:lnB>
                      <a:noFill/>
                    </a:lnB>
                  </a:tcPr>
                </a:tc>
                <a:tc gridSpan="3">
                  <a:txBody>
                    <a:bodyPr/>
                    <a:lstStyle/>
                    <a:p>
                      <a:endParaRPr lang="en-US" sz="1050" dirty="0">
                        <a:latin typeface="Calibri"/>
                        <a:ea typeface="Times New Roman"/>
                      </a:endParaRPr>
                    </a:p>
                  </a:txBody>
                  <a:tcPr marL="6264" marR="6264" marT="6264" marB="0" anchor="b">
                    <a:lnL>
                      <a:noFill/>
                    </a:lnL>
                    <a:lnR>
                      <a:noFill/>
                    </a:lnR>
                    <a:lnT>
                      <a:noFill/>
                    </a:lnT>
                    <a:lnB>
                      <a:noFill/>
                    </a:lnB>
                  </a:tcPr>
                </a:tc>
                <a:tc hMerge="1">
                  <a:txBody>
                    <a:bodyPr/>
                    <a:lstStyle/>
                    <a:p>
                      <a:endParaRPr lang="en-US"/>
                    </a:p>
                  </a:txBody>
                  <a:tcPr/>
                </a:tc>
                <a:tc hMerge="1">
                  <a:txBody>
                    <a:bodyPr/>
                    <a:lstStyle/>
                    <a:p>
                      <a:endParaRPr lang="en-US"/>
                    </a:p>
                  </a:txBody>
                  <a:tcPr/>
                </a:tc>
              </a:tr>
              <a:tr h="186678">
                <a:tc>
                  <a:txBody>
                    <a:bodyPr/>
                    <a:lstStyle/>
                    <a:p>
                      <a:pPr marL="0" marR="0">
                        <a:spcBef>
                          <a:spcPts val="0"/>
                        </a:spcBef>
                        <a:spcAft>
                          <a:spcPts val="0"/>
                        </a:spcAft>
                      </a:pPr>
                      <a:r>
                        <a:rPr lang="en-US" sz="1100" dirty="0" smtClean="0">
                          <a:latin typeface="Times New Roman"/>
                          <a:ea typeface="Calibri"/>
                          <a:cs typeface="Times New Roman"/>
                        </a:rPr>
                        <a:t>34</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dirty="0">
                          <a:latin typeface="Arial"/>
                          <a:ea typeface="Calibri"/>
                          <a:cs typeface="Times New Roman"/>
                        </a:rPr>
                        <a:t>engaged</a:t>
                      </a:r>
                      <a:endParaRPr lang="en-US" sz="1100" dirty="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68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to</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102</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this.</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136</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to</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170</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dedicated</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204</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from</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lgn="r">
                        <a:spcBef>
                          <a:spcPts val="0"/>
                        </a:spcBef>
                        <a:spcAft>
                          <a:spcPts val="0"/>
                        </a:spcAft>
                      </a:pPr>
                      <a:r>
                        <a:rPr lang="en-US" sz="1050">
                          <a:latin typeface="Arial"/>
                          <a:ea typeface="Calibri"/>
                          <a:cs typeface="Times New Roman"/>
                        </a:rPr>
                        <a:t>238</a:t>
                      </a:r>
                      <a:endParaRPr lang="en-US" sz="1100">
                        <a:latin typeface="Times New Roman"/>
                        <a:ea typeface="Calibri"/>
                        <a:cs typeface="Times New Roman"/>
                      </a:endParaRPr>
                    </a:p>
                  </a:txBody>
                  <a:tcPr marL="6264" marR="6264" marT="6264" marB="0" anchor="b">
                    <a:lnL>
                      <a:noFill/>
                    </a:lnL>
                    <a:lnR>
                      <a:noFill/>
                    </a:lnR>
                    <a:lnT>
                      <a:noFill/>
                    </a:lnT>
                    <a:lnB>
                      <a:noFill/>
                    </a:lnB>
                  </a:tcPr>
                </a:tc>
                <a:tc>
                  <a:txBody>
                    <a:bodyPr/>
                    <a:lstStyle/>
                    <a:p>
                      <a:pPr marL="0" marR="0">
                        <a:spcBef>
                          <a:spcPts val="0"/>
                        </a:spcBef>
                        <a:spcAft>
                          <a:spcPts val="0"/>
                        </a:spcAft>
                      </a:pPr>
                      <a:r>
                        <a:rPr lang="en-US" sz="1050">
                          <a:latin typeface="Arial"/>
                          <a:ea typeface="Calibri"/>
                          <a:cs typeface="Times New Roman"/>
                        </a:rPr>
                        <a:t>vain,</a:t>
                      </a:r>
                      <a:endParaRPr lang="en-US" sz="1100">
                        <a:latin typeface="Times New Roman"/>
                        <a:ea typeface="Calibri"/>
                        <a:cs typeface="Times New Roman"/>
                      </a:endParaRPr>
                    </a:p>
                  </a:txBody>
                  <a:tcPr marL="6264" marR="6264" marT="6264" marB="0" anchor="b">
                    <a:lnL>
                      <a:noFill/>
                    </a:lnL>
                    <a:lnR>
                      <a:noFill/>
                    </a:lnR>
                    <a:lnT>
                      <a:noFill/>
                    </a:lnT>
                    <a:lnB>
                      <a:noFill/>
                    </a:lnB>
                  </a:tcPr>
                </a:tc>
                <a:tc gridSpan="2">
                  <a:txBody>
                    <a:bodyPr/>
                    <a:lstStyle/>
                    <a:p>
                      <a:endParaRPr lang="en-US" sz="1050" dirty="0">
                        <a:latin typeface="Calibri"/>
                        <a:ea typeface="Times New Roman"/>
                      </a:endParaRPr>
                    </a:p>
                  </a:txBody>
                  <a:tcPr marL="0" marR="0" marT="0" marB="0" anchor="ctr">
                    <a:lnL>
                      <a:noFill/>
                    </a:lnL>
                    <a:lnR>
                      <a:noFill/>
                    </a:lnR>
                    <a:lnT>
                      <a:noFill/>
                    </a:lnT>
                    <a:lnB>
                      <a:noFill/>
                    </a:lnB>
                  </a:tcPr>
                </a:tc>
                <a:tc hMerge="1">
                  <a:txBody>
                    <a:bodyPr/>
                    <a:lstStyle/>
                    <a:p>
                      <a:endParaRPr lang="en-US"/>
                    </a:p>
                  </a:txBody>
                  <a:tcPr/>
                </a:tc>
                <a:tc>
                  <a:txBody>
                    <a:bodyPr/>
                    <a:lstStyle/>
                    <a:p>
                      <a:endParaRPr lang="en-US" sz="1050" dirty="0">
                        <a:latin typeface="Calibri"/>
                        <a:ea typeface="Times New Roman"/>
                      </a:endParaRPr>
                    </a:p>
                  </a:txBody>
                  <a:tcPr marL="0" marR="0" marT="0" marB="0" anchor="ctr">
                    <a:lnL>
                      <a:noFill/>
                    </a:lnL>
                    <a:lnR>
                      <a:noFill/>
                    </a:lnR>
                    <a:lnT>
                      <a:noFill/>
                    </a:lnT>
                    <a:lnB>
                      <a:noFill/>
                    </a:lnB>
                  </a:tcPr>
                </a:tc>
              </a:tr>
            </a:tbl>
          </a:graphicData>
        </a:graphic>
      </p:graphicFrame>
    </p:spTree>
    <p:custDataLst>
      <p:tags r:id="rId1"/>
    </p:custData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With and Without Random Sampling</a:t>
            </a:r>
            <a:endParaRPr lang="en-US" b="1" dirty="0"/>
          </a:p>
        </p:txBody>
      </p:sp>
      <p:pic>
        <p:nvPicPr>
          <p:cNvPr id="4" name="Content Placeholder 3"/>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152400" y="1546699"/>
            <a:ext cx="8826305" cy="5278476"/>
          </a:xfrm>
        </p:spPr>
      </p:pic>
    </p:spTree>
    <p:extLst>
      <p:ext uri="{BB962C8B-B14F-4D97-AF65-F5344CB8AC3E}">
        <p14:creationId xmlns:p14="http://schemas.microsoft.com/office/powerpoint/2010/main" val="38796823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ormAutofit fontScale="90000"/>
          </a:bodyPr>
          <a:lstStyle/>
          <a:p>
            <a:r>
              <a:rPr lang="en-US" b="1" dirty="0" smtClean="0"/>
              <a:t>Random vs. Non-Random Sampling</a:t>
            </a:r>
            <a:endParaRPr lang="en-US" b="1" dirty="0"/>
          </a:p>
        </p:txBody>
      </p:sp>
      <p:sp>
        <p:nvSpPr>
          <p:cNvPr id="2" name="Content Placeholder 1"/>
          <p:cNvSpPr>
            <a:spLocks noGrp="1"/>
          </p:cNvSpPr>
          <p:nvPr>
            <p:ph sz="quarter" idx="1"/>
          </p:nvPr>
        </p:nvSpPr>
        <p:spPr>
          <a:xfrm>
            <a:off x="6036" y="1516456"/>
            <a:ext cx="9137964" cy="5341544"/>
          </a:xfrm>
        </p:spPr>
        <p:txBody>
          <a:bodyPr>
            <a:normAutofit/>
          </a:bodyPr>
          <a:lstStyle/>
          <a:p>
            <a:pPr marL="514350" indent="-514350">
              <a:spcBef>
                <a:spcPts val="0"/>
              </a:spcBef>
            </a:pPr>
            <a:r>
              <a:rPr lang="en-US" dirty="0" smtClean="0">
                <a:solidFill>
                  <a:schemeClr val="tx2"/>
                </a:solidFill>
              </a:rPr>
              <a:t>Random samples have averages that are centered around the correct number</a:t>
            </a:r>
          </a:p>
          <a:p>
            <a:pPr marL="514350" indent="-514350">
              <a:spcBef>
                <a:spcPts val="0"/>
              </a:spcBef>
            </a:pPr>
            <a:endParaRPr lang="en-US" dirty="0" smtClean="0">
              <a:solidFill>
                <a:schemeClr val="tx2"/>
              </a:solidFill>
            </a:endParaRPr>
          </a:p>
          <a:p>
            <a:pPr marL="514350" indent="-514350">
              <a:spcBef>
                <a:spcPts val="0"/>
              </a:spcBef>
            </a:pPr>
            <a:r>
              <a:rPr lang="en-US" dirty="0" smtClean="0">
                <a:solidFill>
                  <a:schemeClr val="tx2"/>
                </a:solidFill>
              </a:rPr>
              <a:t>Non-random samples may suffer from sampling bias, and averages may not be centered around the correct number</a:t>
            </a:r>
          </a:p>
          <a:p>
            <a:pPr marL="514350" indent="-514350">
              <a:spcBef>
                <a:spcPts val="0"/>
              </a:spcBef>
            </a:pPr>
            <a:endParaRPr lang="en-US" dirty="0" smtClean="0">
              <a:solidFill>
                <a:schemeClr val="tx2"/>
              </a:solidFill>
            </a:endParaRPr>
          </a:p>
          <a:p>
            <a:pPr marL="514350" indent="-514350">
              <a:spcBef>
                <a:spcPts val="0"/>
              </a:spcBef>
            </a:pPr>
            <a:r>
              <a:rPr lang="en-US" dirty="0" smtClean="0">
                <a:solidFill>
                  <a:schemeClr val="tx2"/>
                </a:solidFill>
              </a:rPr>
              <a:t>Only random samples can truly be trusted when making generalizations to the population!</a:t>
            </a:r>
          </a:p>
        </p:txBody>
      </p:sp>
      <p:sp>
        <p:nvSpPr>
          <p:cNvPr id="4" name="Rounded Rectangle 3"/>
          <p:cNvSpPr/>
          <p:nvPr/>
        </p:nvSpPr>
        <p:spPr>
          <a:xfrm>
            <a:off x="381000" y="4495800"/>
            <a:ext cx="8458200" cy="21336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2000" fill="hold"/>
                                        <p:tgtEl>
                                          <p:spTgt spid="4"/>
                                        </p:tgtEl>
                                        <p:attrNameLst>
                                          <p:attrName>ppt_w</p:attrName>
                                        </p:attrNameLst>
                                      </p:cBhvr>
                                      <p:tavLst>
                                        <p:tav tm="0">
                                          <p:val>
                                            <p:fltVal val="0"/>
                                          </p:val>
                                        </p:tav>
                                        <p:tav tm="100000">
                                          <p:val>
                                            <p:strVal val="#ppt_w"/>
                                          </p:val>
                                        </p:tav>
                                      </p:tavLst>
                                    </p:anim>
                                    <p:anim calcmode="lin" valueType="num">
                                      <p:cBhvr>
                                        <p:cTn id="20" dur="2000" fill="hold"/>
                                        <p:tgtEl>
                                          <p:spTgt spid="4"/>
                                        </p:tgtEl>
                                        <p:attrNameLst>
                                          <p:attrName>ppt_h</p:attrName>
                                        </p:attrNameLst>
                                      </p:cBhvr>
                                      <p:tavLst>
                                        <p:tav tm="0">
                                          <p:val>
                                            <p:fltVal val="0"/>
                                          </p:val>
                                        </p:tav>
                                        <p:tav tm="100000">
                                          <p:val>
                                            <p:strVal val="#ppt_h"/>
                                          </p:val>
                                        </p:tav>
                                      </p:tavLst>
                                    </p:anim>
                                    <p:animEffect transition="in" filter="fade">
                                      <p:cBhvr>
                                        <p:cTn id="21"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ormAutofit/>
          </a:bodyPr>
          <a:lstStyle/>
          <a:p>
            <a:r>
              <a:rPr lang="en-US" b="1" dirty="0" smtClean="0"/>
              <a:t>Bowl of Soup Analogy</a:t>
            </a:r>
            <a:endParaRPr lang="en-US" b="1" dirty="0"/>
          </a:p>
        </p:txBody>
      </p:sp>
      <p:sp>
        <p:nvSpPr>
          <p:cNvPr id="2" name="Content Placeholder 1"/>
          <p:cNvSpPr>
            <a:spLocks noGrp="1"/>
          </p:cNvSpPr>
          <p:nvPr>
            <p:ph sz="quarter" idx="1"/>
          </p:nvPr>
        </p:nvSpPr>
        <p:spPr>
          <a:xfrm>
            <a:off x="0" y="1524000"/>
            <a:ext cx="8991600" cy="5334000"/>
          </a:xfrm>
        </p:spPr>
        <p:txBody>
          <a:bodyPr>
            <a:normAutofit lnSpcReduction="10000"/>
          </a:bodyPr>
          <a:lstStyle/>
          <a:p>
            <a:pPr marL="514350" indent="-514350">
              <a:spcBef>
                <a:spcPts val="0"/>
              </a:spcBef>
              <a:buNone/>
            </a:pPr>
            <a:r>
              <a:rPr lang="en-US" dirty="0" smtClean="0">
                <a:solidFill>
                  <a:schemeClr val="tx2"/>
                </a:solidFill>
              </a:rPr>
              <a:t>Think of tasting a bowl of soup…</a:t>
            </a:r>
          </a:p>
          <a:p>
            <a:pPr marL="514350" indent="-514350">
              <a:spcBef>
                <a:spcPts val="0"/>
              </a:spcBef>
              <a:buNone/>
            </a:pPr>
            <a:endParaRPr lang="en-US" dirty="0" smtClean="0">
              <a:solidFill>
                <a:schemeClr val="tx2"/>
              </a:solidFill>
            </a:endParaRPr>
          </a:p>
          <a:p>
            <a:pPr marL="514350" indent="-514350">
              <a:spcBef>
                <a:spcPts val="0"/>
              </a:spcBef>
              <a:buNone/>
            </a:pPr>
            <a:endParaRPr lang="en-US" dirty="0" smtClean="0">
              <a:solidFill>
                <a:schemeClr val="tx2"/>
              </a:solidFill>
            </a:endParaRPr>
          </a:p>
          <a:p>
            <a:pPr marL="514350" indent="-514350">
              <a:spcBef>
                <a:spcPts val="0"/>
              </a:spcBef>
            </a:pPr>
            <a:r>
              <a:rPr lang="en-US" dirty="0" smtClean="0">
                <a:solidFill>
                  <a:schemeClr val="tx2"/>
                </a:solidFill>
              </a:rPr>
              <a:t>Population = entire bowl of soup</a:t>
            </a:r>
          </a:p>
          <a:p>
            <a:pPr marL="514350" indent="-514350">
              <a:spcBef>
                <a:spcPts val="0"/>
              </a:spcBef>
            </a:pPr>
            <a:r>
              <a:rPr lang="en-US" dirty="0" smtClean="0">
                <a:solidFill>
                  <a:schemeClr val="tx2"/>
                </a:solidFill>
              </a:rPr>
              <a:t>Sample = whatever is in your tasting bites</a:t>
            </a:r>
          </a:p>
          <a:p>
            <a:pPr marL="514350" indent="-514350">
              <a:spcBef>
                <a:spcPts val="0"/>
              </a:spcBef>
            </a:pPr>
            <a:endParaRPr lang="en-US" dirty="0" smtClean="0">
              <a:solidFill>
                <a:schemeClr val="tx2"/>
              </a:solidFill>
            </a:endParaRPr>
          </a:p>
          <a:p>
            <a:pPr marL="514350" indent="-514350">
              <a:spcBef>
                <a:spcPts val="0"/>
              </a:spcBef>
            </a:pPr>
            <a:r>
              <a:rPr lang="en-US" dirty="0" smtClean="0">
                <a:solidFill>
                  <a:schemeClr val="tx2"/>
                </a:solidFill>
              </a:rPr>
              <a:t>If you take bites non-randomly from the soup (if you stab with a fork, or prefer noodles to vegetables), you may not get a very accurate representation of the soup</a:t>
            </a:r>
          </a:p>
          <a:p>
            <a:pPr marL="514350" indent="-514350">
              <a:spcBef>
                <a:spcPts val="0"/>
              </a:spcBef>
            </a:pPr>
            <a:endParaRPr lang="en-US" dirty="0" smtClean="0">
              <a:solidFill>
                <a:schemeClr val="tx2"/>
              </a:solidFill>
            </a:endParaRPr>
          </a:p>
          <a:p>
            <a:pPr marL="514350" indent="-514350">
              <a:spcBef>
                <a:spcPts val="0"/>
              </a:spcBef>
            </a:pPr>
            <a:r>
              <a:rPr lang="en-US" dirty="0" smtClean="0">
                <a:solidFill>
                  <a:schemeClr val="tx2"/>
                </a:solidFill>
              </a:rPr>
              <a:t>If you take bites at random, only a few bites can give you a very good idea for the overall taste of the soup</a:t>
            </a:r>
          </a:p>
        </p:txBody>
      </p:sp>
      <p:pic>
        <p:nvPicPr>
          <p:cNvPr id="5" name="Picture 4" descr="soup.jpg"/>
          <p:cNvPicPr>
            <a:picLocks noChangeAspect="1"/>
          </p:cNvPicPr>
          <p:nvPr/>
        </p:nvPicPr>
        <p:blipFill>
          <a:blip r:embed="rId3" cstate="print"/>
          <a:srcRect l="3226" t="22646" b="6903"/>
          <a:stretch>
            <a:fillRect/>
          </a:stretch>
        </p:blipFill>
        <p:spPr bwMode="auto">
          <a:xfrm>
            <a:off x="6629400" y="1600200"/>
            <a:ext cx="1828800" cy="1706563"/>
          </a:xfrm>
          <a:prstGeom prst="rect">
            <a:avLst/>
          </a:prstGeom>
          <a:noFill/>
          <a:ln w="9525">
            <a:noFill/>
            <a:miter lim="800000"/>
            <a:headEnd/>
            <a:tailEnd/>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par>
                          <p:cTn id="7" fill="hold">
                            <p:stCondLst>
                              <p:cond delay="0"/>
                            </p:stCondLst>
                            <p:childTnLst>
                              <p:par>
                                <p:cTn id="8" presetID="9" presetClass="entr" presetSubtype="0" fill="hold"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lstStyle/>
          <a:p>
            <a:r>
              <a:rPr lang="en-US" b="1" dirty="0" smtClean="0"/>
              <a:t>Simple Random Sample</a:t>
            </a:r>
            <a:endParaRPr lang="en-US" b="1" dirty="0"/>
          </a:p>
        </p:txBody>
      </p:sp>
      <p:sp>
        <p:nvSpPr>
          <p:cNvPr id="2" name="Content Placeholder 1"/>
          <p:cNvSpPr>
            <a:spLocks noGrp="1"/>
          </p:cNvSpPr>
          <p:nvPr>
            <p:ph sz="quarter" idx="1"/>
          </p:nvPr>
        </p:nvSpPr>
        <p:spPr>
          <a:xfrm>
            <a:off x="18860" y="1524000"/>
            <a:ext cx="9125139" cy="5334000"/>
          </a:xfrm>
        </p:spPr>
        <p:txBody>
          <a:bodyPr>
            <a:normAutofit/>
          </a:bodyPr>
          <a:lstStyle/>
          <a:p>
            <a:pPr>
              <a:spcBef>
                <a:spcPts val="0"/>
              </a:spcBef>
            </a:pPr>
            <a:r>
              <a:rPr lang="en-US" sz="3200" dirty="0" smtClean="0">
                <a:solidFill>
                  <a:schemeClr val="tx2"/>
                </a:solidFill>
              </a:rPr>
              <a:t>In a </a:t>
            </a:r>
            <a:r>
              <a:rPr lang="en-US" sz="3200" b="1" i="1" dirty="0" smtClean="0">
                <a:solidFill>
                  <a:schemeClr val="accent5">
                    <a:lumMod val="50000"/>
                  </a:schemeClr>
                </a:solidFill>
              </a:rPr>
              <a:t>simple random sample</a:t>
            </a:r>
            <a:r>
              <a:rPr lang="en-US" sz="3200" dirty="0" smtClean="0">
                <a:solidFill>
                  <a:schemeClr val="tx2"/>
                </a:solidFill>
              </a:rPr>
              <a:t>, each unit of the population has the same chance of being selected, regardless of the other units chosen for the sample</a:t>
            </a:r>
          </a:p>
          <a:p>
            <a:pPr>
              <a:spcBef>
                <a:spcPts val="0"/>
              </a:spcBef>
            </a:pPr>
            <a:endParaRPr lang="en-US" sz="3200" dirty="0">
              <a:solidFill>
                <a:schemeClr val="tx2"/>
              </a:solidFill>
            </a:endParaRPr>
          </a:p>
          <a:p>
            <a:pPr marL="0" indent="0">
              <a:spcBef>
                <a:spcPts val="0"/>
              </a:spcBef>
              <a:buNone/>
            </a:pPr>
            <a:endParaRPr lang="en-US" sz="3200" dirty="0" smtClean="0">
              <a:solidFill>
                <a:schemeClr val="tx2"/>
              </a:solidFill>
            </a:endParaRPr>
          </a:p>
          <a:p>
            <a:pPr>
              <a:spcBef>
                <a:spcPts val="0"/>
              </a:spcBef>
            </a:pPr>
            <a:endParaRPr lang="en-US" dirty="0" smtClean="0">
              <a:solidFill>
                <a:schemeClr val="tx2"/>
              </a:solidFill>
            </a:endParaRPr>
          </a:p>
          <a:p>
            <a:pPr>
              <a:spcBef>
                <a:spcPts val="0"/>
              </a:spcBef>
              <a:buNone/>
            </a:pPr>
            <a:endParaRPr lang="en-US" dirty="0" smtClean="0">
              <a:solidFill>
                <a:schemeClr val="tx2"/>
              </a:solidFill>
            </a:endParaRPr>
          </a:p>
          <a:p>
            <a:pPr>
              <a:spcBef>
                <a:spcPts val="0"/>
              </a:spcBef>
            </a:pPr>
            <a:endParaRPr lang="en-US" dirty="0" smtClean="0">
              <a:solidFill>
                <a:schemeClr val="tx2"/>
              </a:solidFill>
            </a:endParaRPr>
          </a:p>
          <a:p>
            <a:pPr>
              <a:spcBef>
                <a:spcPts val="0"/>
              </a:spcBef>
            </a:pPr>
            <a:endParaRPr lang="en-US" dirty="0" smtClean="0">
              <a:solidFill>
                <a:schemeClr val="tx2"/>
              </a:solidFill>
            </a:endParaRPr>
          </a:p>
          <a:p>
            <a:pPr>
              <a:spcBef>
                <a:spcPts val="0"/>
              </a:spcBef>
              <a:buNone/>
            </a:pPr>
            <a:endParaRPr lang="en-US" dirty="0" smtClean="0">
              <a:solidFill>
                <a:schemeClr val="tx2"/>
              </a:solidFill>
            </a:endParaRPr>
          </a:p>
          <a:p>
            <a:pPr>
              <a:spcBef>
                <a:spcPts val="0"/>
              </a:spcBef>
              <a:buNone/>
            </a:pPr>
            <a:endParaRPr lang="en-US" dirty="0" smtClean="0">
              <a:solidFill>
                <a:schemeClr val="tx2"/>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11316" y="2262"/>
            <a:ext cx="9132683" cy="1216937"/>
          </a:xfrm>
        </p:spPr>
        <p:txBody>
          <a:bodyPr>
            <a:normAutofit/>
          </a:bodyPr>
          <a:lstStyle/>
          <a:p>
            <a:r>
              <a:rPr lang="en-US" sz="3200" b="1" dirty="0" smtClean="0"/>
              <a:t>Which of the following sampling methods produces a random sample from the given population?</a:t>
            </a:r>
            <a:endParaRPr lang="en-US" sz="3200" b="1" dirty="0"/>
          </a:p>
        </p:txBody>
      </p:sp>
      <p:sp>
        <p:nvSpPr>
          <p:cNvPr id="3" name="TPAnswers"/>
          <p:cNvSpPr>
            <a:spLocks noGrp="1"/>
          </p:cNvSpPr>
          <p:nvPr>
            <p:ph sz="quarter" idx="4294967295"/>
            <p:custDataLst>
              <p:tags r:id="rId2"/>
            </p:custDataLst>
          </p:nvPr>
        </p:nvSpPr>
        <p:spPr>
          <a:xfrm>
            <a:off x="0" y="1143000"/>
            <a:ext cx="6781800" cy="5715000"/>
          </a:xfrm>
        </p:spPr>
        <p:txBody>
          <a:bodyPr>
            <a:noAutofit/>
          </a:bodyPr>
          <a:lstStyle/>
          <a:p>
            <a:pPr marL="514350" indent="-514350">
              <a:spcBef>
                <a:spcPct val="20000"/>
              </a:spcBef>
              <a:buFont typeface="+mj-lt"/>
              <a:buAutoNum type="alphaUcPeriod"/>
            </a:pPr>
            <a:r>
              <a:rPr lang="en-US" sz="2600" dirty="0" smtClean="0">
                <a:solidFill>
                  <a:schemeClr val="tx2"/>
                </a:solidFill>
              </a:rPr>
              <a:t>The population is adults between the ages of 18 and 22.  A sample of 100 students is collected from a local university, and each student at the university had an equal chance of being selected for the sample.</a:t>
            </a:r>
          </a:p>
          <a:p>
            <a:pPr marL="514350" indent="-514350">
              <a:spcBef>
                <a:spcPct val="20000"/>
              </a:spcBef>
              <a:buFont typeface="+mj-lt"/>
              <a:buAutoNum type="alphaUcPeriod"/>
            </a:pPr>
            <a:r>
              <a:rPr lang="en-US" sz="2600" dirty="0" smtClean="0">
                <a:solidFill>
                  <a:schemeClr val="tx2"/>
                </a:solidFill>
              </a:rPr>
              <a:t>The population is all current undergraduate members of the Mathematical Association of America.  Names of these members are placed in a box, mixed up, and 50 names are drawn by a blind-folded person.</a:t>
            </a:r>
          </a:p>
          <a:p>
            <a:pPr marL="514350" indent="-514350">
              <a:spcBef>
                <a:spcPct val="20000"/>
              </a:spcBef>
              <a:buFont typeface="+mj-lt"/>
              <a:buAutoNum type="alphaUcPeriod"/>
            </a:pPr>
            <a:r>
              <a:rPr lang="en-US" sz="2600" dirty="0" smtClean="0">
                <a:solidFill>
                  <a:schemeClr val="tx2"/>
                </a:solidFill>
              </a:rPr>
              <a:t>The population is all boats docked in a particular marina. We walk along the docks and pick out boats that appear to be representative of all boats in the marina.</a:t>
            </a:r>
            <a:endParaRPr lang="en-US" sz="2600" dirty="0">
              <a:solidFill>
                <a:schemeClr val="tx2"/>
              </a:solidFill>
            </a:endParaRPr>
          </a:p>
        </p:txBody>
      </p:sp>
    </p:spTree>
    <p:custDataLst>
      <p:tags r:id="rId1"/>
    </p:custDataLst>
    <p:extLst>
      <p:ext uri="{BB962C8B-B14F-4D97-AF65-F5344CB8AC3E}">
        <p14:creationId xmlns:p14="http://schemas.microsoft.com/office/powerpoint/2010/main" val="341887157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lstStyle/>
          <a:p>
            <a:r>
              <a:rPr lang="en-US" b="1" dirty="0" smtClean="0"/>
              <a:t>Realities of Sampling</a:t>
            </a:r>
            <a:endParaRPr lang="en-US" b="1" dirty="0"/>
          </a:p>
        </p:txBody>
      </p:sp>
      <p:sp>
        <p:nvSpPr>
          <p:cNvPr id="2" name="Content Placeholder 1"/>
          <p:cNvSpPr>
            <a:spLocks noGrp="1"/>
          </p:cNvSpPr>
          <p:nvPr>
            <p:ph sz="quarter" idx="1"/>
          </p:nvPr>
        </p:nvSpPr>
        <p:spPr>
          <a:xfrm>
            <a:off x="0" y="1524000"/>
            <a:ext cx="8915400" cy="5334000"/>
          </a:xfrm>
        </p:spPr>
        <p:txBody>
          <a:bodyPr>
            <a:normAutofit lnSpcReduction="10000"/>
          </a:bodyPr>
          <a:lstStyle/>
          <a:p>
            <a:pPr>
              <a:spcBef>
                <a:spcPts val="0"/>
              </a:spcBef>
            </a:pPr>
            <a:r>
              <a:rPr lang="en-US" dirty="0" smtClean="0">
                <a:solidFill>
                  <a:schemeClr val="tx2"/>
                </a:solidFill>
              </a:rPr>
              <a:t>While a random sample is ideal, often it isn’t feasible.  A list of the entire population may not be available, or it may be impossible or too difficult to contact some members of the population.</a:t>
            </a:r>
          </a:p>
          <a:p>
            <a:pPr>
              <a:spcBef>
                <a:spcPts val="0"/>
              </a:spcBef>
            </a:pPr>
            <a:endParaRPr lang="en-US" dirty="0" smtClean="0">
              <a:solidFill>
                <a:schemeClr val="tx2"/>
              </a:solidFill>
            </a:endParaRPr>
          </a:p>
          <a:p>
            <a:pPr>
              <a:spcBef>
                <a:spcPts val="0"/>
              </a:spcBef>
            </a:pPr>
            <a:r>
              <a:rPr lang="en-US" dirty="0" smtClean="0">
                <a:solidFill>
                  <a:schemeClr val="tx2"/>
                </a:solidFill>
              </a:rPr>
              <a:t>Sometimes, your population of interest has to be altered to something more feasible to sample from.  Generalization of results are limited to the population that was actually sampled from.</a:t>
            </a:r>
          </a:p>
          <a:p>
            <a:pPr>
              <a:spcBef>
                <a:spcPts val="0"/>
              </a:spcBef>
            </a:pPr>
            <a:endParaRPr lang="en-US" dirty="0" smtClean="0">
              <a:solidFill>
                <a:schemeClr val="tx2"/>
              </a:solidFill>
            </a:endParaRPr>
          </a:p>
          <a:p>
            <a:pPr>
              <a:spcBef>
                <a:spcPts val="0"/>
              </a:spcBef>
            </a:pPr>
            <a:r>
              <a:rPr lang="en-US" dirty="0" smtClean="0">
                <a:solidFill>
                  <a:schemeClr val="tx2"/>
                </a:solidFill>
              </a:rPr>
              <a:t>In practice, think hard about potential sources of sampling bias, and try your best to avoid them</a:t>
            </a:r>
          </a:p>
          <a:p>
            <a:pPr>
              <a:spcBef>
                <a:spcPts val="0"/>
              </a:spcBef>
              <a:buNone/>
            </a:pPr>
            <a:endParaRPr lang="en-US" dirty="0" smtClean="0">
              <a:solidFill>
                <a:schemeClr val="tx2"/>
              </a:solidFill>
            </a:endParaRPr>
          </a:p>
          <a:p>
            <a:pPr>
              <a:spcBef>
                <a:spcPts val="0"/>
              </a:spcBef>
            </a:pPr>
            <a:endParaRPr lang="en-US" dirty="0" smtClean="0">
              <a:solidFill>
                <a:schemeClr val="tx2"/>
              </a:solidFill>
            </a:endParaRPr>
          </a:p>
          <a:p>
            <a:pPr>
              <a:spcBef>
                <a:spcPts val="0"/>
              </a:spcBef>
            </a:pPr>
            <a:endParaRPr lang="en-US" dirty="0" smtClean="0">
              <a:solidFill>
                <a:schemeClr val="tx2"/>
              </a:solidFill>
            </a:endParaRPr>
          </a:p>
          <a:p>
            <a:pPr>
              <a:spcBef>
                <a:spcPts val="0"/>
              </a:spcBef>
              <a:buNone/>
            </a:pPr>
            <a:endParaRPr lang="en-US" dirty="0" smtClean="0">
              <a:solidFill>
                <a:schemeClr val="tx2"/>
              </a:solidFill>
            </a:endParaRPr>
          </a:p>
          <a:p>
            <a:pPr>
              <a:spcBef>
                <a:spcPts val="0"/>
              </a:spcBef>
              <a:buNone/>
            </a:pPr>
            <a:endParaRPr lang="en-US" dirty="0" smtClean="0">
              <a:solidFill>
                <a:schemeClr val="tx2"/>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lstStyle/>
          <a:p>
            <a:r>
              <a:rPr lang="en-US" b="1" dirty="0" smtClean="0"/>
              <a:t>Bad Methods of Sampling</a:t>
            </a:r>
            <a:endParaRPr lang="en-US" b="1" dirty="0"/>
          </a:p>
        </p:txBody>
      </p:sp>
      <p:sp>
        <p:nvSpPr>
          <p:cNvPr id="2" name="Content Placeholder 1"/>
          <p:cNvSpPr>
            <a:spLocks noGrp="1"/>
          </p:cNvSpPr>
          <p:nvPr>
            <p:ph idx="1"/>
          </p:nvPr>
        </p:nvSpPr>
        <p:spPr>
          <a:xfrm>
            <a:off x="0" y="1524000"/>
            <a:ext cx="9144000" cy="5334000"/>
          </a:xfrm>
        </p:spPr>
        <p:txBody>
          <a:bodyPr>
            <a:normAutofit/>
          </a:bodyPr>
          <a:lstStyle/>
          <a:p>
            <a:pPr marL="0" indent="0">
              <a:spcBef>
                <a:spcPts val="0"/>
              </a:spcBef>
            </a:pPr>
            <a:r>
              <a:rPr lang="en-US" dirty="0" smtClean="0">
                <a:solidFill>
                  <a:schemeClr val="tx2"/>
                </a:solidFill>
              </a:rPr>
              <a:t> </a:t>
            </a:r>
            <a:r>
              <a:rPr lang="en-US" dirty="0">
                <a:solidFill>
                  <a:schemeClr val="tx2"/>
                </a:solidFill>
              </a:rPr>
              <a:t>Sampling units based on something obviously related to the variable(s) you are studying</a:t>
            </a:r>
          </a:p>
          <a:p>
            <a:pPr marL="400050" lvl="1" indent="0">
              <a:spcBef>
                <a:spcPts val="0"/>
              </a:spcBef>
            </a:pPr>
            <a:r>
              <a:rPr lang="en-US" sz="2900" dirty="0">
                <a:solidFill>
                  <a:schemeClr val="tx2"/>
                </a:solidFill>
              </a:rPr>
              <a:t> Sampling only students in the library when asking how much they study, or sampling only students taking a statistics class</a:t>
            </a:r>
          </a:p>
          <a:p>
            <a:pPr marL="400050" lvl="1" indent="0">
              <a:spcBef>
                <a:spcPts val="0"/>
              </a:spcBef>
            </a:pPr>
            <a:r>
              <a:rPr lang="en-US" sz="2900" dirty="0">
                <a:solidFill>
                  <a:schemeClr val="tx2"/>
                </a:solidFill>
              </a:rPr>
              <a:t> “Today’s Poll” on fitnessmagazine.com asked “Have you ever hired a personal trainer?”.  27% of respondents said “yes” – can we infer that 27% of all humans have hired a personal trainer?</a:t>
            </a:r>
          </a:p>
          <a:p>
            <a:pPr>
              <a:spcBef>
                <a:spcPts val="0"/>
              </a:spcBef>
              <a:buNone/>
            </a:pPr>
            <a:endParaRPr lang="en-US" dirty="0" smtClean="0">
              <a:solidFill>
                <a:schemeClr val="tx2"/>
              </a:solidFill>
            </a:endParaRPr>
          </a:p>
          <a:p>
            <a:pPr>
              <a:spcBef>
                <a:spcPts val="0"/>
              </a:spcBef>
              <a:buNone/>
            </a:pPr>
            <a:endParaRPr lang="en-US" dirty="0" smtClean="0">
              <a:solidFill>
                <a:schemeClr val="tx2"/>
              </a:solidFill>
            </a:endParaRPr>
          </a:p>
          <a:p>
            <a:pPr>
              <a:spcBef>
                <a:spcPts val="0"/>
              </a:spcBef>
            </a:pPr>
            <a:endParaRPr lang="en-US" dirty="0" smtClean="0">
              <a:solidFill>
                <a:schemeClr val="tx2"/>
              </a:solidFill>
            </a:endParaRPr>
          </a:p>
          <a:p>
            <a:pPr>
              <a:spcBef>
                <a:spcPts val="0"/>
              </a:spcBef>
            </a:pPr>
            <a:endParaRPr lang="en-US" dirty="0" smtClean="0">
              <a:solidFill>
                <a:schemeClr val="tx2"/>
              </a:solidFill>
            </a:endParaRPr>
          </a:p>
          <a:p>
            <a:pPr>
              <a:spcBef>
                <a:spcPts val="0"/>
              </a:spcBef>
              <a:buNone/>
            </a:pPr>
            <a:endParaRPr lang="en-US" dirty="0" smtClean="0">
              <a:solidFill>
                <a:schemeClr val="tx2"/>
              </a:solidFill>
            </a:endParaRPr>
          </a:p>
          <a:p>
            <a:pPr>
              <a:spcBef>
                <a:spcPts val="0"/>
              </a:spcBef>
              <a:buNone/>
            </a:pPr>
            <a:endParaRPr lang="en-US" dirty="0" smtClean="0">
              <a:solidFill>
                <a:schemeClr val="tx2"/>
              </a:solidFill>
            </a:endParaRPr>
          </a:p>
        </p:txBody>
      </p:sp>
    </p:spTree>
    <p:custDataLst>
      <p:tags r:id="rId1"/>
    </p:custDataLst>
    <p:extLst>
      <p:ext uri="{BB962C8B-B14F-4D97-AF65-F5344CB8AC3E}">
        <p14:creationId xmlns:p14="http://schemas.microsoft.com/office/powerpoint/2010/main" val="28368651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lstStyle/>
          <a:p>
            <a:r>
              <a:rPr lang="en-US" b="1" dirty="0" smtClean="0"/>
              <a:t>Bad Methods of Sampling</a:t>
            </a:r>
            <a:endParaRPr lang="en-US" b="1" dirty="0"/>
          </a:p>
        </p:txBody>
      </p:sp>
      <p:sp>
        <p:nvSpPr>
          <p:cNvPr id="2" name="Content Placeholder 1"/>
          <p:cNvSpPr>
            <a:spLocks noGrp="1"/>
          </p:cNvSpPr>
          <p:nvPr>
            <p:ph idx="1"/>
          </p:nvPr>
        </p:nvSpPr>
        <p:spPr>
          <a:xfrm>
            <a:off x="18860" y="1524000"/>
            <a:ext cx="9125139" cy="5334000"/>
          </a:xfrm>
        </p:spPr>
        <p:txBody>
          <a:bodyPr>
            <a:normAutofit/>
          </a:bodyPr>
          <a:lstStyle/>
          <a:p>
            <a:pPr marL="0" indent="0">
              <a:spcBef>
                <a:spcPts val="0"/>
              </a:spcBef>
            </a:pPr>
            <a:r>
              <a:rPr lang="en-US" dirty="0" smtClean="0">
                <a:solidFill>
                  <a:schemeClr val="tx2"/>
                </a:solidFill>
              </a:rPr>
              <a:t> </a:t>
            </a:r>
            <a:r>
              <a:rPr lang="en-US" sz="3100" dirty="0">
                <a:solidFill>
                  <a:schemeClr val="tx2"/>
                </a:solidFill>
              </a:rPr>
              <a:t>Letting your sample be comprised of whoever chooses to participate (volunteer bias</a:t>
            </a:r>
            <a:r>
              <a:rPr lang="en-US" sz="3100" dirty="0" smtClean="0">
                <a:solidFill>
                  <a:schemeClr val="tx2"/>
                </a:solidFill>
              </a:rPr>
              <a:t>)</a:t>
            </a:r>
          </a:p>
          <a:p>
            <a:pPr marL="0" indent="0">
              <a:spcBef>
                <a:spcPts val="0"/>
              </a:spcBef>
              <a:buNone/>
            </a:pPr>
            <a:endParaRPr lang="en-US" sz="3100" dirty="0" smtClean="0">
              <a:solidFill>
                <a:schemeClr val="tx2"/>
              </a:solidFill>
            </a:endParaRPr>
          </a:p>
          <a:p>
            <a:pPr marL="320040" lvl="1" indent="0">
              <a:spcBef>
                <a:spcPts val="0"/>
              </a:spcBef>
            </a:pPr>
            <a:r>
              <a:rPr lang="en-US" sz="3100" dirty="0">
                <a:solidFill>
                  <a:schemeClr val="tx2"/>
                </a:solidFill>
              </a:rPr>
              <a:t>Emailing or mailing the entire population, and then making conclusions about the population based on whoever chooses to respond</a:t>
            </a:r>
          </a:p>
          <a:p>
            <a:pPr marL="320040" lvl="1" indent="0">
              <a:spcBef>
                <a:spcPts val="0"/>
              </a:spcBef>
              <a:buNone/>
            </a:pPr>
            <a:endParaRPr lang="en-US" sz="2800" dirty="0">
              <a:solidFill>
                <a:schemeClr val="tx2"/>
              </a:solidFill>
            </a:endParaRPr>
          </a:p>
          <a:p>
            <a:pPr marL="0" indent="0">
              <a:spcBef>
                <a:spcPts val="0"/>
              </a:spcBef>
            </a:pPr>
            <a:r>
              <a:rPr lang="en-US" sz="3100" dirty="0">
                <a:solidFill>
                  <a:schemeClr val="tx2"/>
                </a:solidFill>
              </a:rPr>
              <a:t> People who chose to participate or respond are probably not representative of the entire population</a:t>
            </a:r>
          </a:p>
          <a:p>
            <a:pPr marL="0" indent="0">
              <a:spcBef>
                <a:spcPts val="0"/>
              </a:spcBef>
            </a:pPr>
            <a:endParaRPr lang="en-US" dirty="0" smtClean="0">
              <a:solidFill>
                <a:schemeClr val="tx2"/>
              </a:solidFill>
            </a:endParaRPr>
          </a:p>
          <a:p>
            <a:pPr>
              <a:spcBef>
                <a:spcPts val="0"/>
              </a:spcBef>
            </a:pPr>
            <a:endParaRPr lang="en-US" dirty="0" smtClean="0">
              <a:solidFill>
                <a:schemeClr val="tx2"/>
              </a:solidFill>
            </a:endParaRPr>
          </a:p>
          <a:p>
            <a:pPr>
              <a:spcBef>
                <a:spcPts val="0"/>
              </a:spcBef>
              <a:buNone/>
            </a:pPr>
            <a:endParaRPr lang="en-US" dirty="0" smtClean="0">
              <a:solidFill>
                <a:schemeClr val="tx2"/>
              </a:solidFill>
            </a:endParaRPr>
          </a:p>
          <a:p>
            <a:pPr>
              <a:spcBef>
                <a:spcPts val="0"/>
              </a:spcBef>
            </a:pPr>
            <a:endParaRPr lang="en-US" dirty="0" smtClean="0">
              <a:solidFill>
                <a:schemeClr val="tx2"/>
              </a:solidFill>
            </a:endParaRPr>
          </a:p>
          <a:p>
            <a:pPr>
              <a:spcBef>
                <a:spcPts val="0"/>
              </a:spcBef>
            </a:pPr>
            <a:endParaRPr lang="en-US" dirty="0" smtClean="0">
              <a:solidFill>
                <a:schemeClr val="tx2"/>
              </a:solidFill>
            </a:endParaRPr>
          </a:p>
          <a:p>
            <a:pPr>
              <a:spcBef>
                <a:spcPts val="0"/>
              </a:spcBef>
              <a:buNone/>
            </a:pPr>
            <a:endParaRPr lang="en-US" dirty="0" smtClean="0">
              <a:solidFill>
                <a:schemeClr val="tx2"/>
              </a:solidFill>
            </a:endParaRPr>
          </a:p>
          <a:p>
            <a:pPr>
              <a:spcBef>
                <a:spcPts val="0"/>
              </a:spcBef>
              <a:buNone/>
            </a:pPr>
            <a:endParaRPr lang="en-US" dirty="0" smtClean="0">
              <a:solidFill>
                <a:schemeClr val="tx2"/>
              </a:solidFill>
            </a:endParaRPr>
          </a:p>
        </p:txBody>
      </p:sp>
    </p:spTree>
    <p:custDataLst>
      <p:tags r:id="rId1"/>
    </p:custDataLst>
    <p:extLst>
      <p:ext uri="{BB962C8B-B14F-4D97-AF65-F5344CB8AC3E}">
        <p14:creationId xmlns:p14="http://schemas.microsoft.com/office/powerpoint/2010/main" val="20957776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63478" y="5041736"/>
            <a:ext cx="2231314" cy="1482023"/>
          </a:xfrm>
          <a:prstGeom prst="rect">
            <a:avLst/>
          </a:prstGeom>
        </p:spPr>
      </p:pic>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336" y="5065954"/>
            <a:ext cx="1910394" cy="1423542"/>
          </a:xfrm>
          <a:prstGeom prst="rect">
            <a:avLst/>
          </a:prstGeom>
        </p:spPr>
      </p:pic>
      <p:sp>
        <p:nvSpPr>
          <p:cNvPr id="4" name="Title 2"/>
          <p:cNvSpPr txBox="1">
            <a:spLocks/>
          </p:cNvSpPr>
          <p:nvPr/>
        </p:nvSpPr>
        <p:spPr>
          <a:xfrm>
            <a:off x="165999" y="57006"/>
            <a:ext cx="3962400" cy="762000"/>
          </a:xfrm>
          <a:prstGeom prst="rect">
            <a:avLst/>
          </a:prstGeom>
        </p:spPr>
        <p:txBody>
          <a:bodyPr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2"/>
                </a:solidFill>
                <a:effectLst/>
                <a:uLnTx/>
                <a:uFillTx/>
                <a:latin typeface="+mj-lt"/>
                <a:ea typeface="+mj-ea"/>
                <a:cs typeface="+mj-cs"/>
              </a:rPr>
              <a:t>Volunteer Bias</a:t>
            </a:r>
            <a:endParaRPr kumimoji="0" lang="en-US" sz="4400" b="1" i="0" u="none" strike="noStrike" kern="1200" cap="none" spc="0" normalizeH="0" baseline="0" noProof="0" dirty="0">
              <a:ln>
                <a:noFill/>
              </a:ln>
              <a:solidFill>
                <a:schemeClr val="tx2"/>
              </a:solidFill>
              <a:effectLst/>
              <a:uLnTx/>
              <a:uFillTx/>
              <a:latin typeface="+mj-lt"/>
              <a:ea typeface="+mj-ea"/>
              <a:cs typeface="+mj-cs"/>
            </a:endParaRPr>
          </a:p>
        </p:txBody>
      </p:sp>
      <p:sp>
        <p:nvSpPr>
          <p:cNvPr id="5" name="Cloud"/>
          <p:cNvSpPr>
            <a:spLocks noChangeAspect="1" noEditPoints="1" noChangeArrowheads="1"/>
          </p:cNvSpPr>
          <p:nvPr/>
        </p:nvSpPr>
        <p:spPr bwMode="auto">
          <a:xfrm>
            <a:off x="431227" y="2242054"/>
            <a:ext cx="3639468" cy="24384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60000"/>
              <a:lumOff val="40000"/>
            </a:schemeClr>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9" name="Text Box 5"/>
          <p:cNvSpPr txBox="1">
            <a:spLocks noChangeArrowheads="1"/>
          </p:cNvSpPr>
          <p:nvPr/>
        </p:nvSpPr>
        <p:spPr bwMode="auto">
          <a:xfrm>
            <a:off x="1001908" y="3040032"/>
            <a:ext cx="2754405" cy="646331"/>
          </a:xfrm>
          <a:prstGeom prst="rect">
            <a:avLst/>
          </a:prstGeom>
          <a:noFill/>
          <a:ln w="9525">
            <a:noFill/>
            <a:miter lim="800000"/>
            <a:headEnd/>
            <a:tailEnd/>
          </a:ln>
        </p:spPr>
        <p:txBody>
          <a:bodyPr wrap="square">
            <a:spAutoFit/>
          </a:bodyPr>
          <a:lstStyle/>
          <a:p>
            <a:pPr>
              <a:spcBef>
                <a:spcPct val="50000"/>
              </a:spcBef>
            </a:pPr>
            <a:r>
              <a:rPr lang="en-US" sz="3600" b="1" dirty="0"/>
              <a:t>Population</a:t>
            </a:r>
            <a:endParaRPr lang="en-US" sz="3600" b="1" dirty="0">
              <a:solidFill>
                <a:schemeClr val="tx1"/>
              </a:solidFill>
            </a:endParaRP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6805" y="818501"/>
            <a:ext cx="1047750" cy="1047750"/>
          </a:xfrm>
          <a:prstGeom prst="rect">
            <a:avLst/>
          </a:prstGeom>
        </p:spPr>
      </p:pic>
      <p:sp>
        <p:nvSpPr>
          <p:cNvPr id="11" name="Down Arrow 10"/>
          <p:cNvSpPr/>
          <p:nvPr/>
        </p:nvSpPr>
        <p:spPr>
          <a:xfrm>
            <a:off x="379680" y="1829882"/>
            <a:ext cx="762000" cy="82434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p:cNvSpPr/>
          <p:nvPr/>
        </p:nvSpPr>
        <p:spPr>
          <a:xfrm>
            <a:off x="903555" y="4701236"/>
            <a:ext cx="762000" cy="82434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a:off x="1897259" y="5596780"/>
            <a:ext cx="963704" cy="762000"/>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iamond 14"/>
          <p:cNvSpPr/>
          <p:nvPr/>
        </p:nvSpPr>
        <p:spPr>
          <a:xfrm>
            <a:off x="2903340" y="5492870"/>
            <a:ext cx="1371600" cy="969820"/>
          </a:xfrm>
          <a:prstGeom prst="diamond">
            <a:avLst/>
          </a:prstGeom>
          <a:gradFill flip="none" rotWithShape="1">
            <a:gsLst>
              <a:gs pos="0">
                <a:srgbClr val="FBEAC7"/>
              </a:gs>
              <a:gs pos="17999">
                <a:srgbClr val="FEE7F2"/>
              </a:gs>
              <a:gs pos="36000">
                <a:srgbClr val="FAC77D"/>
              </a:gs>
              <a:gs pos="61000">
                <a:srgbClr val="FBA97D"/>
              </a:gs>
              <a:gs pos="82001">
                <a:srgbClr val="FBD49C"/>
              </a:gs>
              <a:gs pos="100000">
                <a:srgbClr val="FEE7F2"/>
              </a:gs>
            </a:gsLst>
            <a:lin ang="5400000" scaled="0"/>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Box 5"/>
          <p:cNvSpPr txBox="1">
            <a:spLocks noChangeArrowheads="1"/>
          </p:cNvSpPr>
          <p:nvPr/>
        </p:nvSpPr>
        <p:spPr bwMode="auto">
          <a:xfrm>
            <a:off x="3094911" y="5777725"/>
            <a:ext cx="1033488" cy="400110"/>
          </a:xfrm>
          <a:prstGeom prst="rect">
            <a:avLst/>
          </a:prstGeom>
          <a:noFill/>
          <a:ln w="9525">
            <a:noFill/>
            <a:miter lim="800000"/>
            <a:headEnd/>
            <a:tailEnd/>
          </a:ln>
        </p:spPr>
        <p:txBody>
          <a:bodyPr wrap="square">
            <a:spAutoFit/>
          </a:bodyPr>
          <a:lstStyle/>
          <a:p>
            <a:pPr>
              <a:spcBef>
                <a:spcPct val="50000"/>
              </a:spcBef>
            </a:pPr>
            <a:r>
              <a:rPr lang="en-US" sz="2000" b="1" dirty="0" smtClean="0"/>
              <a:t>Sample</a:t>
            </a:r>
            <a:endParaRPr lang="en-US" sz="2000" b="1" dirty="0">
              <a:solidFill>
                <a:schemeClr val="tx1"/>
              </a:solidFill>
            </a:endParaRPr>
          </a:p>
        </p:txBody>
      </p:sp>
      <p:pic>
        <p:nvPicPr>
          <p:cNvPr id="17" name="Picture 2" descr="C:\Users\Kari\AppData\Local\Microsoft\Windows\Temporary Internet Files\Content.IE5\XV4VZWE9\MC900423165[1].wmf"/>
          <p:cNvPicPr>
            <a:picLocks noChangeAspect="1" noChangeArrowheads="1"/>
          </p:cNvPicPr>
          <p:nvPr/>
        </p:nvPicPr>
        <p:blipFill>
          <a:blip r:embed="rId4" cstate="print"/>
          <a:srcRect/>
          <a:stretch>
            <a:fillRect/>
          </a:stretch>
        </p:blipFill>
        <p:spPr bwMode="auto">
          <a:xfrm>
            <a:off x="3856157" y="6240724"/>
            <a:ext cx="497544" cy="497544"/>
          </a:xfrm>
          <a:prstGeom prst="rect">
            <a:avLst/>
          </a:prstGeom>
          <a:noFill/>
        </p:spPr>
      </p:pic>
      <p:sp>
        <p:nvSpPr>
          <p:cNvPr id="18" name="Title 2"/>
          <p:cNvSpPr txBox="1">
            <a:spLocks/>
          </p:cNvSpPr>
          <p:nvPr/>
        </p:nvSpPr>
        <p:spPr>
          <a:xfrm>
            <a:off x="4806050" y="74324"/>
            <a:ext cx="4114800" cy="762000"/>
          </a:xfrm>
          <a:prstGeom prst="rect">
            <a:avLst/>
          </a:prstGeom>
        </p:spPr>
        <p:txBody>
          <a:bodyPr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smtClean="0">
                <a:ln>
                  <a:noFill/>
                </a:ln>
                <a:solidFill>
                  <a:schemeClr val="tx2"/>
                </a:solidFill>
                <a:effectLst/>
                <a:uLnTx/>
                <a:uFillTx/>
                <a:latin typeface="+mj-lt"/>
                <a:ea typeface="+mj-ea"/>
                <a:cs typeface="+mj-cs"/>
              </a:rPr>
              <a:t>Random Sampling</a:t>
            </a:r>
            <a:endParaRPr kumimoji="0" lang="en-US" sz="4000" b="1" i="0" u="none" strike="noStrike" kern="1200" cap="none" spc="0" normalizeH="0" baseline="0" noProof="0" dirty="0">
              <a:ln>
                <a:noFill/>
              </a:ln>
              <a:solidFill>
                <a:schemeClr val="tx2"/>
              </a:solidFill>
              <a:effectLst/>
              <a:uLnTx/>
              <a:uFillTx/>
              <a:latin typeface="+mj-lt"/>
              <a:ea typeface="+mj-ea"/>
              <a:cs typeface="+mj-cs"/>
            </a:endParaRPr>
          </a:p>
        </p:txBody>
      </p:sp>
      <p:sp>
        <p:nvSpPr>
          <p:cNvPr id="19" name="Cloud"/>
          <p:cNvSpPr>
            <a:spLocks noChangeAspect="1" noEditPoints="1" noChangeArrowheads="1"/>
          </p:cNvSpPr>
          <p:nvPr/>
        </p:nvSpPr>
        <p:spPr bwMode="auto">
          <a:xfrm>
            <a:off x="5087675" y="860570"/>
            <a:ext cx="3639468" cy="24384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60000"/>
              <a:lumOff val="40000"/>
            </a:schemeClr>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20" name="Text Box 5"/>
          <p:cNvSpPr txBox="1">
            <a:spLocks noChangeArrowheads="1"/>
          </p:cNvSpPr>
          <p:nvPr/>
        </p:nvSpPr>
        <p:spPr bwMode="auto">
          <a:xfrm>
            <a:off x="5638800" y="1677084"/>
            <a:ext cx="2754405" cy="646331"/>
          </a:xfrm>
          <a:prstGeom prst="rect">
            <a:avLst/>
          </a:prstGeom>
          <a:noFill/>
          <a:ln w="9525">
            <a:noFill/>
            <a:miter lim="800000"/>
            <a:headEnd/>
            <a:tailEnd/>
          </a:ln>
        </p:spPr>
        <p:txBody>
          <a:bodyPr wrap="square">
            <a:spAutoFit/>
          </a:bodyPr>
          <a:lstStyle/>
          <a:p>
            <a:pPr>
              <a:spcBef>
                <a:spcPct val="50000"/>
              </a:spcBef>
            </a:pPr>
            <a:r>
              <a:rPr lang="en-US" sz="3600" b="1" dirty="0"/>
              <a:t>Population</a:t>
            </a:r>
            <a:endParaRPr lang="en-US" sz="3600" b="1" dirty="0">
              <a:solidFill>
                <a:schemeClr val="tx1"/>
              </a:solidFill>
            </a:endParaRPr>
          </a:p>
        </p:txBody>
      </p:sp>
      <p:sp>
        <p:nvSpPr>
          <p:cNvPr id="22" name="Down Arrow 21"/>
          <p:cNvSpPr/>
          <p:nvPr/>
        </p:nvSpPr>
        <p:spPr>
          <a:xfrm>
            <a:off x="4888820" y="2899664"/>
            <a:ext cx="762000" cy="82434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5815039" y="3351567"/>
            <a:ext cx="3328961" cy="415498"/>
          </a:xfrm>
          <a:prstGeom prst="rect">
            <a:avLst/>
          </a:prstGeom>
          <a:noFill/>
        </p:spPr>
        <p:txBody>
          <a:bodyPr wrap="square" rtlCol="0">
            <a:spAutoFit/>
          </a:bodyPr>
          <a:lstStyle/>
          <a:p>
            <a:r>
              <a:rPr lang="en-US" sz="2100" b="1" dirty="0" smtClean="0"/>
              <a:t>Randomly Select the Sample</a:t>
            </a:r>
            <a:endParaRPr lang="en-US" sz="2100" b="1" dirty="0"/>
          </a:p>
        </p:txBody>
      </p:sp>
      <p:sp>
        <p:nvSpPr>
          <p:cNvPr id="25" name="Cloud"/>
          <p:cNvSpPr>
            <a:spLocks noChangeAspect="1" noEditPoints="1" noChangeArrowheads="1"/>
          </p:cNvSpPr>
          <p:nvPr/>
        </p:nvSpPr>
        <p:spPr bwMode="auto">
          <a:xfrm>
            <a:off x="4517126" y="3767065"/>
            <a:ext cx="1321953" cy="1066023"/>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60000"/>
              <a:lumOff val="40000"/>
            </a:schemeClr>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26" name="Text Box 5"/>
          <p:cNvSpPr txBox="1">
            <a:spLocks noChangeArrowheads="1"/>
          </p:cNvSpPr>
          <p:nvPr/>
        </p:nvSpPr>
        <p:spPr bwMode="auto">
          <a:xfrm>
            <a:off x="4724601" y="4100021"/>
            <a:ext cx="1090438" cy="400110"/>
          </a:xfrm>
          <a:prstGeom prst="rect">
            <a:avLst/>
          </a:prstGeom>
          <a:noFill/>
          <a:ln w="9525">
            <a:noFill/>
            <a:miter lim="800000"/>
            <a:headEnd/>
            <a:tailEnd/>
          </a:ln>
        </p:spPr>
        <p:txBody>
          <a:bodyPr wrap="square">
            <a:spAutoFit/>
          </a:bodyPr>
          <a:lstStyle/>
          <a:p>
            <a:pPr>
              <a:spcBef>
                <a:spcPct val="50000"/>
              </a:spcBef>
            </a:pPr>
            <a:r>
              <a:rPr lang="en-US" sz="2000" b="1" dirty="0" smtClean="0"/>
              <a:t>Sample</a:t>
            </a:r>
            <a:endParaRPr lang="en-US" sz="2000" b="1" dirty="0">
              <a:solidFill>
                <a:schemeClr val="tx1"/>
              </a:solidFill>
            </a:endParaRPr>
          </a:p>
        </p:txBody>
      </p:sp>
      <p:pic>
        <p:nvPicPr>
          <p:cNvPr id="27" name="Picture 2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6002" y="3724008"/>
            <a:ext cx="844720" cy="844720"/>
          </a:xfrm>
          <a:prstGeom prst="rect">
            <a:avLst/>
          </a:prstGeom>
        </p:spPr>
      </p:pic>
      <p:sp>
        <p:nvSpPr>
          <p:cNvPr id="28" name="Left Arrow 27"/>
          <p:cNvSpPr/>
          <p:nvPr/>
        </p:nvSpPr>
        <p:spPr>
          <a:xfrm>
            <a:off x="6082910" y="4048794"/>
            <a:ext cx="780540" cy="519934"/>
          </a:xfrm>
          <a:prstGeom prst="lef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Down Arrow 29"/>
          <p:cNvSpPr/>
          <p:nvPr/>
        </p:nvSpPr>
        <p:spPr>
          <a:xfrm>
            <a:off x="4706675" y="4966261"/>
            <a:ext cx="762000" cy="82434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p:cNvCxnSpPr/>
          <p:nvPr/>
        </p:nvCxnSpPr>
        <p:spPr>
          <a:xfrm>
            <a:off x="4392924" y="592281"/>
            <a:ext cx="0" cy="5870409"/>
          </a:xfrm>
          <a:prstGeom prst="line">
            <a:avLst/>
          </a:prstGeom>
        </p:spPr>
        <p:style>
          <a:lnRef idx="1">
            <a:schemeClr val="accent1"/>
          </a:lnRef>
          <a:fillRef idx="0">
            <a:schemeClr val="accent1"/>
          </a:fillRef>
          <a:effectRef idx="0">
            <a:schemeClr val="accent1"/>
          </a:effectRef>
          <a:fontRef idx="minor">
            <a:schemeClr val="tx1"/>
          </a:fontRef>
        </p:style>
      </p:cxnSp>
      <p:pic>
        <p:nvPicPr>
          <p:cNvPr id="34" name="Picture 3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01728" y="4500131"/>
            <a:ext cx="844720" cy="844720"/>
          </a:xfrm>
          <a:prstGeom prst="rect">
            <a:avLst/>
          </a:prstGeom>
        </p:spPr>
      </p:pic>
      <p:pic>
        <p:nvPicPr>
          <p:cNvPr id="35" name="Picture 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0845" y="3886401"/>
            <a:ext cx="844720" cy="844720"/>
          </a:xfrm>
          <a:prstGeom prst="rect">
            <a:avLst/>
          </a:prstGeom>
        </p:spPr>
      </p:pic>
      <p:pic>
        <p:nvPicPr>
          <p:cNvPr id="36" name="Picture 5" descr="C:\Users\Kari\AppData\Local\Microsoft\Windows\Temporary Internet Files\Content.IE5\8Y1BLIC5\MC900433820[1].png"/>
          <p:cNvPicPr>
            <a:picLocks noChangeAspect="1" noChangeArrowheads="1"/>
          </p:cNvPicPr>
          <p:nvPr/>
        </p:nvPicPr>
        <p:blipFill>
          <a:blip r:embed="rId5" cstate="print"/>
          <a:srcRect/>
          <a:stretch>
            <a:fillRect/>
          </a:stretch>
        </p:blipFill>
        <p:spPr bwMode="auto">
          <a:xfrm>
            <a:off x="8478370" y="6283544"/>
            <a:ext cx="497545" cy="497545"/>
          </a:xfrm>
          <a:prstGeom prst="rect">
            <a:avLst/>
          </a:prstGeom>
          <a:noFill/>
        </p:spPr>
      </p:pic>
      <p:sp>
        <p:nvSpPr>
          <p:cNvPr id="37" name="TextBox 36"/>
          <p:cNvSpPr txBox="1"/>
          <p:nvPr/>
        </p:nvSpPr>
        <p:spPr>
          <a:xfrm>
            <a:off x="6702878" y="5777725"/>
            <a:ext cx="2253963" cy="369332"/>
          </a:xfrm>
          <a:prstGeom prst="rect">
            <a:avLst/>
          </a:prstGeom>
          <a:noFill/>
        </p:spPr>
        <p:txBody>
          <a:bodyPr wrap="square" rtlCol="0">
            <a:spAutoFit/>
          </a:bodyPr>
          <a:lstStyle/>
          <a:p>
            <a:r>
              <a:rPr lang="en-US" b="1" dirty="0" smtClean="0"/>
              <a:t>92% response rate!</a:t>
            </a:r>
            <a:endParaRPr lang="en-US" b="1" dirty="0"/>
          </a:p>
        </p:txBody>
      </p:sp>
      <p:sp>
        <p:nvSpPr>
          <p:cNvPr id="7" name="TextBox 6"/>
          <p:cNvSpPr txBox="1"/>
          <p:nvPr/>
        </p:nvSpPr>
        <p:spPr>
          <a:xfrm>
            <a:off x="-4016" y="6472431"/>
            <a:ext cx="4132415" cy="400110"/>
          </a:xfrm>
          <a:prstGeom prst="rect">
            <a:avLst/>
          </a:prstGeom>
          <a:noFill/>
        </p:spPr>
        <p:txBody>
          <a:bodyPr wrap="square" rtlCol="0">
            <a:spAutoFit/>
          </a:bodyPr>
          <a:lstStyle/>
          <a:p>
            <a:r>
              <a:rPr lang="en-US" sz="1000" dirty="0"/>
              <a:t>Source: 10ch, </a:t>
            </a:r>
            <a:r>
              <a:rPr lang="en-US" sz="1000" dirty="0">
                <a:hlinkClick r:id="rId6"/>
              </a:rPr>
              <a:t>https://www.flickr.com/photos/10ch/3204310433</a:t>
            </a:r>
            <a:r>
              <a:rPr lang="en-US" sz="1000" dirty="0"/>
              <a:t>.</a:t>
            </a:r>
            <a:r>
              <a:rPr lang="en-GB" sz="1000" dirty="0" smtClean="0"/>
              <a:t> </a:t>
            </a:r>
            <a:r>
              <a:rPr lang="en-GB" sz="1000" dirty="0"/>
              <a:t>Used under </a:t>
            </a:r>
            <a:r>
              <a:rPr lang="en-US" sz="1000" dirty="0"/>
              <a:t>CC BY-SA </a:t>
            </a:r>
            <a:r>
              <a:rPr lang="en-US" sz="1000" dirty="0" smtClean="0"/>
              <a:t>2.0</a:t>
            </a:r>
            <a:r>
              <a:rPr lang="en-GB" sz="1000" dirty="0" smtClean="0"/>
              <a:t> </a:t>
            </a:r>
            <a:r>
              <a:rPr lang="en-US" sz="1000" u="sng" dirty="0" smtClean="0">
                <a:hlinkClick r:id="rId7"/>
              </a:rPr>
              <a:t>https://creativecommons.org/licenses/by-sa/2.0/</a:t>
            </a:r>
            <a:r>
              <a:rPr lang="en-GB" sz="1000" u="sng" dirty="0" smtClean="0"/>
              <a:t>.</a:t>
            </a:r>
            <a:endParaRPr lang="en-US" sz="1000" dirty="0"/>
          </a:p>
        </p:txBody>
      </p:sp>
      <p:sp>
        <p:nvSpPr>
          <p:cNvPr id="33" name="TextBox 32"/>
          <p:cNvSpPr txBox="1"/>
          <p:nvPr/>
        </p:nvSpPr>
        <p:spPr>
          <a:xfrm>
            <a:off x="4392924" y="6462690"/>
            <a:ext cx="3836675" cy="400110"/>
          </a:xfrm>
          <a:prstGeom prst="rect">
            <a:avLst/>
          </a:prstGeom>
          <a:noFill/>
        </p:spPr>
        <p:txBody>
          <a:bodyPr wrap="square" rtlCol="0">
            <a:spAutoFit/>
          </a:bodyPr>
          <a:lstStyle/>
          <a:p>
            <a:r>
              <a:rPr lang="en-US" sz="1000" dirty="0" smtClean="0"/>
              <a:t>Source: AJC1, </a:t>
            </a:r>
            <a:r>
              <a:rPr lang="en-US" sz="1000" dirty="0" smtClean="0">
                <a:hlinkClick r:id="rId8"/>
              </a:rPr>
              <a:t>https://www.flickr.com/photos/ajc1/7543411458</a:t>
            </a:r>
            <a:r>
              <a:rPr lang="en-US" sz="1000" dirty="0" smtClean="0"/>
              <a:t>.</a:t>
            </a:r>
            <a:r>
              <a:rPr lang="en-GB" sz="1000" dirty="0" smtClean="0"/>
              <a:t> </a:t>
            </a:r>
            <a:r>
              <a:rPr lang="en-GB" sz="1000" dirty="0"/>
              <a:t>Used under </a:t>
            </a:r>
            <a:r>
              <a:rPr lang="en-US" sz="1000" dirty="0"/>
              <a:t>CC BY-SA </a:t>
            </a:r>
            <a:r>
              <a:rPr lang="en-US" sz="1000" dirty="0" smtClean="0"/>
              <a:t>2.0</a:t>
            </a:r>
            <a:r>
              <a:rPr lang="en-GB" sz="1000" dirty="0"/>
              <a:t> </a:t>
            </a:r>
            <a:r>
              <a:rPr lang="en-US" sz="1000" u="sng" dirty="0" smtClean="0">
                <a:hlinkClick r:id="rId7"/>
              </a:rPr>
              <a:t>https://creativecommons.org/licenses/by-sa/2.0/</a:t>
            </a:r>
            <a:r>
              <a:rPr lang="en-GB" sz="1000" u="sng" dirty="0" smtClean="0"/>
              <a:t>.</a:t>
            </a:r>
            <a:endParaRPr lang="en-US" sz="1000" dirty="0"/>
          </a:p>
        </p:txBody>
      </p:sp>
    </p:spTree>
    <p:extLst>
      <p:ext uri="{BB962C8B-B14F-4D97-AF65-F5344CB8AC3E}">
        <p14:creationId xmlns:p14="http://schemas.microsoft.com/office/powerpoint/2010/main" val="3443529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11" grpId="0" animBg="1"/>
      <p:bldP spid="12" grpId="0" animBg="1"/>
      <p:bldP spid="14" grpId="0" animBg="1"/>
      <p:bldP spid="15" grpId="0" animBg="1"/>
      <p:bldP spid="16" grpId="0"/>
      <p:bldP spid="18" grpId="0"/>
      <p:bldP spid="19" grpId="0" animBg="1"/>
      <p:bldP spid="20" grpId="0"/>
      <p:bldP spid="22" grpId="0" animBg="1"/>
      <p:bldP spid="23" grpId="0"/>
      <p:bldP spid="25" grpId="0" animBg="1"/>
      <p:bldP spid="26" grpId="0"/>
      <p:bldP spid="28" grpId="0" animBg="1"/>
      <p:bldP spid="30" grpId="0" animBg="1"/>
      <p:bldP spid="37" grpId="0"/>
      <p:bldP spid="7" grpId="0"/>
      <p:bldP spid="3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Question"/>
          <p:cNvSpPr>
            <a:spLocks noGrp="1"/>
          </p:cNvSpPr>
          <p:nvPr>
            <p:ph type="title" idx="4294967295"/>
          </p:nvPr>
        </p:nvSpPr>
        <p:spPr>
          <a:xfrm>
            <a:off x="0" y="0"/>
            <a:ext cx="9144000" cy="2133600"/>
          </a:xfrm>
        </p:spPr>
        <p:txBody>
          <a:bodyPr anchor="ctr">
            <a:noAutofit/>
          </a:bodyPr>
          <a:lstStyle/>
          <a:p>
            <a:pPr marL="0" indent="0">
              <a:spcBef>
                <a:spcPts val="0"/>
              </a:spcBef>
            </a:pPr>
            <a:r>
              <a:rPr lang="en-US" sz="3200" dirty="0">
                <a:latin typeface="+mn-lt"/>
              </a:rPr>
              <a:t>Suppose you want to estimate the average number of hours that </a:t>
            </a:r>
            <a:r>
              <a:rPr lang="en-US" sz="3200" dirty="0" smtClean="0">
                <a:latin typeface="+mn-lt"/>
              </a:rPr>
              <a:t>students at our college </a:t>
            </a:r>
            <a:r>
              <a:rPr lang="en-US" sz="3200" dirty="0">
                <a:latin typeface="+mn-lt"/>
              </a:rPr>
              <a:t>spend studying each week.  Which of the following is the best method of sampling?</a:t>
            </a:r>
          </a:p>
        </p:txBody>
      </p:sp>
      <p:sp>
        <p:nvSpPr>
          <p:cNvPr id="2" name="TPAnswers"/>
          <p:cNvSpPr>
            <a:spLocks noGrp="1"/>
          </p:cNvSpPr>
          <p:nvPr>
            <p:ph sz="quarter" idx="4294967295"/>
            <p:custDataLst>
              <p:tags r:id="rId2"/>
            </p:custDataLst>
          </p:nvPr>
        </p:nvSpPr>
        <p:spPr>
          <a:xfrm>
            <a:off x="7545" y="2209800"/>
            <a:ext cx="6393255" cy="4648200"/>
          </a:xfrm>
        </p:spPr>
        <p:txBody>
          <a:bodyPr>
            <a:normAutofit/>
          </a:bodyPr>
          <a:lstStyle/>
          <a:p>
            <a:pPr marL="514350" indent="-514350">
              <a:spcBef>
                <a:spcPct val="20000"/>
              </a:spcBef>
              <a:buFont typeface="Wingdings"/>
              <a:buAutoNum type="alphaUcPeriod"/>
            </a:pPr>
            <a:r>
              <a:rPr lang="en-US" dirty="0" smtClean="0">
                <a:solidFill>
                  <a:schemeClr val="tx2"/>
                </a:solidFill>
              </a:rPr>
              <a:t>Go to the library and ask all the students there how much they study</a:t>
            </a:r>
            <a:endParaRPr lang="en-US" dirty="0">
              <a:solidFill>
                <a:schemeClr val="tx2"/>
              </a:solidFill>
            </a:endParaRPr>
          </a:p>
          <a:p>
            <a:pPr marL="514350" indent="-514350">
              <a:spcBef>
                <a:spcPct val="20000"/>
              </a:spcBef>
              <a:buFont typeface="Wingdings"/>
              <a:buAutoNum type="alphaUcPeriod"/>
            </a:pPr>
            <a:r>
              <a:rPr lang="en-US" dirty="0" smtClean="0">
                <a:solidFill>
                  <a:schemeClr val="tx2"/>
                </a:solidFill>
              </a:rPr>
              <a:t>Email all students asking how much they study, and use all the data you get</a:t>
            </a:r>
          </a:p>
          <a:p>
            <a:pPr marL="514350" indent="-514350">
              <a:spcBef>
                <a:spcPct val="20000"/>
              </a:spcBef>
              <a:buFont typeface="Wingdings"/>
              <a:buAutoNum type="alphaUcPeriod"/>
            </a:pPr>
            <a:r>
              <a:rPr lang="en-US" dirty="0" smtClean="0">
                <a:solidFill>
                  <a:schemeClr val="tx2"/>
                </a:solidFill>
              </a:rPr>
              <a:t>Stand outside the student center and ask everyone going in how much they study</a:t>
            </a:r>
          </a:p>
        </p:txBody>
      </p:sp>
    </p:spTree>
    <p:custDataLst>
      <p:tags r:id="rId1"/>
    </p:custDataLst>
    <p:extLst>
      <p:ext uri="{BB962C8B-B14F-4D97-AF65-F5344CB8AC3E}">
        <p14:creationId xmlns:p14="http://schemas.microsoft.com/office/powerpoint/2010/main" val="25745682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6019800" y="5181600"/>
            <a:ext cx="1676400" cy="1143000"/>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smtClean="0"/>
              <a:t>DATA</a:t>
            </a:r>
            <a:endParaRPr lang="en-US" sz="4400" dirty="0"/>
          </a:p>
        </p:txBody>
      </p:sp>
      <p:sp>
        <p:nvSpPr>
          <p:cNvPr id="10" name="Title 2"/>
          <p:cNvSpPr txBox="1">
            <a:spLocks/>
          </p:cNvSpPr>
          <p:nvPr/>
        </p:nvSpPr>
        <p:spPr>
          <a:xfrm>
            <a:off x="457200" y="0"/>
            <a:ext cx="8229600" cy="1143000"/>
          </a:xfrm>
          <a:prstGeom prst="rect">
            <a:avLst/>
          </a:prstGeom>
        </p:spPr>
        <p:txBody>
          <a:bodyPr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2"/>
                </a:solidFill>
                <a:effectLst/>
                <a:uLnTx/>
                <a:uFillTx/>
                <a:latin typeface="+mj-lt"/>
                <a:ea typeface="+mj-ea"/>
                <a:cs typeface="+mj-cs"/>
              </a:rPr>
              <a:t>Data Collection and Bias</a:t>
            </a:r>
            <a:endParaRPr kumimoji="0" lang="en-US" sz="4400" b="1" i="0" u="none" strike="noStrike" kern="1200" cap="none" spc="0" normalizeH="0" baseline="0" noProof="0" dirty="0">
              <a:ln>
                <a:noFill/>
              </a:ln>
              <a:solidFill>
                <a:schemeClr val="tx2"/>
              </a:solidFill>
              <a:effectLst/>
              <a:uLnTx/>
              <a:uFillTx/>
              <a:latin typeface="+mj-lt"/>
              <a:ea typeface="+mj-ea"/>
              <a:cs typeface="+mj-cs"/>
            </a:endParaRPr>
          </a:p>
        </p:txBody>
      </p:sp>
      <p:sp>
        <p:nvSpPr>
          <p:cNvPr id="11" name="Cloud"/>
          <p:cNvSpPr>
            <a:spLocks noChangeAspect="1" noEditPoints="1" noChangeArrowheads="1"/>
          </p:cNvSpPr>
          <p:nvPr/>
        </p:nvSpPr>
        <p:spPr bwMode="auto">
          <a:xfrm>
            <a:off x="380999" y="1219200"/>
            <a:ext cx="4890535" cy="32766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60000"/>
              <a:lumOff val="40000"/>
            </a:schemeClr>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12" name="Text Box 5"/>
          <p:cNvSpPr txBox="1">
            <a:spLocks noChangeArrowheads="1"/>
          </p:cNvSpPr>
          <p:nvPr/>
        </p:nvSpPr>
        <p:spPr bwMode="auto">
          <a:xfrm>
            <a:off x="1219200" y="2430959"/>
            <a:ext cx="3124200" cy="769441"/>
          </a:xfrm>
          <a:prstGeom prst="rect">
            <a:avLst/>
          </a:prstGeom>
          <a:noFill/>
          <a:ln w="9525">
            <a:noFill/>
            <a:miter lim="800000"/>
            <a:headEnd/>
            <a:tailEnd/>
          </a:ln>
        </p:spPr>
        <p:txBody>
          <a:bodyPr wrap="square">
            <a:spAutoFit/>
          </a:bodyPr>
          <a:lstStyle/>
          <a:p>
            <a:pPr>
              <a:spcBef>
                <a:spcPct val="50000"/>
              </a:spcBef>
            </a:pPr>
            <a:r>
              <a:rPr lang="en-US" sz="4400" b="1" dirty="0">
                <a:solidFill>
                  <a:schemeClr val="tx1"/>
                </a:solidFill>
              </a:rPr>
              <a:t>Population</a:t>
            </a:r>
          </a:p>
        </p:txBody>
      </p:sp>
      <p:grpSp>
        <p:nvGrpSpPr>
          <p:cNvPr id="2" name="Group 17"/>
          <p:cNvGrpSpPr>
            <a:grpSpLocks/>
          </p:cNvGrpSpPr>
          <p:nvPr/>
        </p:nvGrpSpPr>
        <p:grpSpPr bwMode="auto">
          <a:xfrm>
            <a:off x="5943148" y="2818831"/>
            <a:ext cx="1700893" cy="1371600"/>
            <a:chOff x="4360" y="2405"/>
            <a:chExt cx="1200" cy="804"/>
          </a:xfrm>
          <a:solidFill>
            <a:schemeClr val="accent1">
              <a:lumMod val="60000"/>
              <a:lumOff val="40000"/>
            </a:schemeClr>
          </a:solidFill>
        </p:grpSpPr>
        <p:sp>
          <p:nvSpPr>
            <p:cNvPr id="14" name="Cloud"/>
            <p:cNvSpPr>
              <a:spLocks noChangeAspect="1" noEditPoints="1" noChangeArrowheads="1"/>
            </p:cNvSpPr>
            <p:nvPr/>
          </p:nvSpPr>
          <p:spPr bwMode="auto">
            <a:xfrm>
              <a:off x="4360" y="2405"/>
              <a:ext cx="1200" cy="804"/>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p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15" name="Text Box 7"/>
            <p:cNvSpPr txBox="1">
              <a:spLocks noChangeArrowheads="1"/>
            </p:cNvSpPr>
            <p:nvPr/>
          </p:nvSpPr>
          <p:spPr bwMode="auto">
            <a:xfrm>
              <a:off x="4489" y="2629"/>
              <a:ext cx="947" cy="307"/>
            </a:xfrm>
            <a:prstGeom prst="rect">
              <a:avLst/>
            </a:prstGeom>
            <a:grpFill/>
            <a:ln w="9525">
              <a:noFill/>
              <a:miter lim="800000"/>
              <a:headEnd/>
              <a:tailEnd/>
            </a:ln>
          </p:spPr>
          <p:txBody>
            <a:bodyPr wrap="square">
              <a:spAutoFit/>
            </a:bodyPr>
            <a:lstStyle/>
            <a:p>
              <a:pPr>
                <a:spcBef>
                  <a:spcPct val="50000"/>
                </a:spcBef>
              </a:pPr>
              <a:r>
                <a:rPr lang="en-US" sz="2800" b="1" dirty="0">
                  <a:solidFill>
                    <a:schemeClr val="tx1"/>
                  </a:solidFill>
                </a:rPr>
                <a:t>Sample</a:t>
              </a:r>
            </a:p>
          </p:txBody>
        </p:sp>
      </p:grpSp>
      <p:sp>
        <p:nvSpPr>
          <p:cNvPr id="16" name="AutoShape 12"/>
          <p:cNvSpPr>
            <a:spLocks noChangeArrowheads="1"/>
          </p:cNvSpPr>
          <p:nvPr/>
        </p:nvSpPr>
        <p:spPr bwMode="auto">
          <a:xfrm>
            <a:off x="3733800" y="1676400"/>
            <a:ext cx="3352800" cy="2057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756" y="11808"/>
                </a:moveTo>
                <a:cubicBezTo>
                  <a:pt x="19794" y="11473"/>
                  <a:pt x="19813" y="11137"/>
                  <a:pt x="19813" y="10800"/>
                </a:cubicBezTo>
                <a:cubicBezTo>
                  <a:pt x="19813" y="5822"/>
                  <a:pt x="15777" y="1787"/>
                  <a:pt x="10800" y="1787"/>
                </a:cubicBezTo>
                <a:cubicBezTo>
                  <a:pt x="8447" y="1786"/>
                  <a:pt x="6187" y="2706"/>
                  <a:pt x="4504" y="4350"/>
                </a:cubicBezTo>
                <a:lnTo>
                  <a:pt x="3256" y="3071"/>
                </a:lnTo>
                <a:cubicBezTo>
                  <a:pt x="5273" y="1102"/>
                  <a:pt x="7980" y="-1"/>
                  <a:pt x="10800" y="0"/>
                </a:cubicBezTo>
                <a:cubicBezTo>
                  <a:pt x="16764" y="0"/>
                  <a:pt x="21600" y="4835"/>
                  <a:pt x="21600" y="10800"/>
                </a:cubicBezTo>
                <a:cubicBezTo>
                  <a:pt x="21600" y="11203"/>
                  <a:pt x="21577" y="11607"/>
                  <a:pt x="21532" y="12008"/>
                </a:cubicBezTo>
                <a:lnTo>
                  <a:pt x="24215" y="12311"/>
                </a:lnTo>
                <a:lnTo>
                  <a:pt x="20241" y="15480"/>
                </a:lnTo>
                <a:lnTo>
                  <a:pt x="17073" y="11506"/>
                </a:lnTo>
                <a:lnTo>
                  <a:pt x="19756" y="11808"/>
                </a:lnTo>
                <a:close/>
              </a:path>
            </a:pathLst>
          </a:custGeom>
          <a:solidFill>
            <a:srgbClr val="FFFF66"/>
          </a:solidFill>
          <a:ln w="9525">
            <a:solidFill>
              <a:schemeClr val="tx1"/>
            </a:solidFill>
            <a:miter lim="800000"/>
            <a:headEnd/>
            <a:tailEnd/>
          </a:ln>
        </p:spPr>
        <p:txBody>
          <a:bodyPr wrap="none" anchor="ctr"/>
          <a:lstStyle/>
          <a:p>
            <a:endParaRPr lang="en-US"/>
          </a:p>
        </p:txBody>
      </p:sp>
      <p:sp>
        <p:nvSpPr>
          <p:cNvPr id="17" name="Text Box 13"/>
          <p:cNvSpPr txBox="1">
            <a:spLocks noChangeArrowheads="1"/>
          </p:cNvSpPr>
          <p:nvPr/>
        </p:nvSpPr>
        <p:spPr bwMode="auto">
          <a:xfrm>
            <a:off x="5486400" y="2067580"/>
            <a:ext cx="2667000" cy="523220"/>
          </a:xfrm>
          <a:prstGeom prst="rect">
            <a:avLst/>
          </a:prstGeom>
          <a:solidFill>
            <a:srgbClr val="FFFF66"/>
          </a:solidFill>
          <a:ln w="9525">
            <a:noFill/>
            <a:miter lim="800000"/>
            <a:headEnd/>
            <a:tailEnd/>
          </a:ln>
        </p:spPr>
        <p:txBody>
          <a:bodyPr wrap="square">
            <a:spAutoFit/>
          </a:bodyPr>
          <a:lstStyle/>
          <a:p>
            <a:pPr>
              <a:spcBef>
                <a:spcPct val="50000"/>
              </a:spcBef>
            </a:pPr>
            <a:r>
              <a:rPr lang="en-US" sz="2800" dirty="0" smtClean="0"/>
              <a:t>Sampling Bias?</a:t>
            </a:r>
            <a:endParaRPr lang="en-US" sz="2800" dirty="0">
              <a:solidFill>
                <a:schemeClr val="tx1"/>
              </a:solidFill>
            </a:endParaRPr>
          </a:p>
        </p:txBody>
      </p:sp>
      <p:sp>
        <p:nvSpPr>
          <p:cNvPr id="18" name="Down Arrow 17"/>
          <p:cNvSpPr/>
          <p:nvPr/>
        </p:nvSpPr>
        <p:spPr>
          <a:xfrm>
            <a:off x="6553200" y="3886200"/>
            <a:ext cx="533400" cy="1600200"/>
          </a:xfrm>
          <a:prstGeom prst="downArrow">
            <a:avLst/>
          </a:prstGeom>
          <a:solidFill>
            <a:srgbClr val="FFFF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Box 13"/>
          <p:cNvSpPr txBox="1">
            <a:spLocks noChangeArrowheads="1"/>
          </p:cNvSpPr>
          <p:nvPr/>
        </p:nvSpPr>
        <p:spPr bwMode="auto">
          <a:xfrm>
            <a:off x="5257800" y="4353580"/>
            <a:ext cx="3581400" cy="523220"/>
          </a:xfrm>
          <a:prstGeom prst="rect">
            <a:avLst/>
          </a:prstGeom>
          <a:solidFill>
            <a:srgbClr val="FFFF66"/>
          </a:solidFill>
          <a:ln w="9525">
            <a:noFill/>
            <a:miter lim="800000"/>
            <a:headEnd/>
            <a:tailEnd/>
          </a:ln>
        </p:spPr>
        <p:txBody>
          <a:bodyPr wrap="square">
            <a:spAutoFit/>
          </a:bodyPr>
          <a:lstStyle/>
          <a:p>
            <a:pPr>
              <a:spcBef>
                <a:spcPct val="50000"/>
              </a:spcBef>
            </a:pPr>
            <a:r>
              <a:rPr lang="en-US" sz="2800" dirty="0" smtClean="0"/>
              <a:t>Other forms of bias?</a:t>
            </a:r>
            <a:endParaRPr lang="en-US" sz="2800" dirty="0">
              <a:solidFill>
                <a:schemeClr val="tx1"/>
              </a:solidFill>
            </a:endParaRPr>
          </a:p>
        </p:txBody>
      </p:sp>
    </p:spTree>
    <p:custDataLst>
      <p:tags r:id="rId1"/>
    </p:custDataLst>
    <p:extLst>
      <p:ext uri="{BB962C8B-B14F-4D97-AF65-F5344CB8AC3E}">
        <p14:creationId xmlns:p14="http://schemas.microsoft.com/office/powerpoint/2010/main" val="2517400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dissolve">
                                      <p:cBhvr>
                                        <p:cTn id="1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7" grpId="0" animBg="1"/>
      <p:bldP spid="18" grpId="0" animBg="1"/>
      <p:bldP spid="2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lstStyle/>
          <a:p>
            <a:r>
              <a:rPr lang="en-US" b="1" dirty="0" smtClean="0"/>
              <a:t>Other Forms of Bias</a:t>
            </a:r>
            <a:endParaRPr lang="en-US" b="1" dirty="0"/>
          </a:p>
        </p:txBody>
      </p:sp>
      <p:sp>
        <p:nvSpPr>
          <p:cNvPr id="2" name="Content Placeholder 1"/>
          <p:cNvSpPr>
            <a:spLocks noGrp="1"/>
          </p:cNvSpPr>
          <p:nvPr>
            <p:ph idx="1"/>
          </p:nvPr>
        </p:nvSpPr>
        <p:spPr>
          <a:xfrm>
            <a:off x="0" y="1524000"/>
            <a:ext cx="9144000" cy="5334000"/>
          </a:xfrm>
        </p:spPr>
        <p:txBody>
          <a:bodyPr>
            <a:normAutofit/>
          </a:bodyPr>
          <a:lstStyle/>
          <a:p>
            <a:pPr marL="0" indent="0">
              <a:spcBef>
                <a:spcPts val="0"/>
              </a:spcBef>
            </a:pPr>
            <a:r>
              <a:rPr lang="en-US" dirty="0" smtClean="0">
                <a:solidFill>
                  <a:schemeClr val="tx2"/>
                </a:solidFill>
              </a:rPr>
              <a:t>  </a:t>
            </a:r>
            <a:r>
              <a:rPr lang="en-US" sz="3100" dirty="0">
                <a:solidFill>
                  <a:schemeClr val="tx2"/>
                </a:solidFill>
              </a:rPr>
              <a:t>Even with a random sample, data can still be biased, especially when collected on humans</a:t>
            </a:r>
          </a:p>
          <a:p>
            <a:pPr marL="0" indent="0">
              <a:spcBef>
                <a:spcPts val="0"/>
              </a:spcBef>
            </a:pPr>
            <a:r>
              <a:rPr lang="en-US" sz="3100" dirty="0">
                <a:solidFill>
                  <a:schemeClr val="tx2"/>
                </a:solidFill>
              </a:rPr>
              <a:t> Other forms of bias to watch out for in data collection:</a:t>
            </a:r>
          </a:p>
          <a:p>
            <a:pPr marL="400050" lvl="1" indent="0">
              <a:spcBef>
                <a:spcPts val="0"/>
              </a:spcBef>
              <a:spcAft>
                <a:spcPts val="0"/>
              </a:spcAft>
            </a:pPr>
            <a:r>
              <a:rPr lang="en-US" sz="3100" dirty="0">
                <a:solidFill>
                  <a:schemeClr val="tx2"/>
                </a:solidFill>
              </a:rPr>
              <a:t> Question wording</a:t>
            </a:r>
          </a:p>
          <a:p>
            <a:pPr marL="400050" lvl="1" indent="0">
              <a:spcBef>
                <a:spcPts val="0"/>
              </a:spcBef>
              <a:spcAft>
                <a:spcPts val="0"/>
              </a:spcAft>
            </a:pPr>
            <a:r>
              <a:rPr lang="en-US" sz="3100" dirty="0">
                <a:solidFill>
                  <a:schemeClr val="tx2"/>
                </a:solidFill>
              </a:rPr>
              <a:t> Context</a:t>
            </a:r>
          </a:p>
          <a:p>
            <a:pPr marL="400050" lvl="1" indent="0">
              <a:spcBef>
                <a:spcPts val="0"/>
              </a:spcBef>
              <a:spcAft>
                <a:spcPts val="0"/>
              </a:spcAft>
            </a:pPr>
            <a:r>
              <a:rPr lang="en-US" sz="3100" dirty="0">
                <a:solidFill>
                  <a:schemeClr val="tx2"/>
                </a:solidFill>
              </a:rPr>
              <a:t> Inaccurate responses</a:t>
            </a:r>
          </a:p>
          <a:p>
            <a:pPr marL="400050" lvl="1" indent="0">
              <a:spcBef>
                <a:spcPts val="0"/>
              </a:spcBef>
              <a:spcAft>
                <a:spcPts val="0"/>
              </a:spcAft>
            </a:pPr>
            <a:r>
              <a:rPr lang="en-US" sz="3100" dirty="0">
                <a:solidFill>
                  <a:schemeClr val="tx2"/>
                </a:solidFill>
              </a:rPr>
              <a:t> Many other possibilities – examine the specifics of each study!</a:t>
            </a:r>
          </a:p>
        </p:txBody>
      </p:sp>
    </p:spTree>
    <p:custDataLst>
      <p:tags r:id="rId1"/>
    </p:custDataLst>
    <p:extLst>
      <p:ext uri="{BB962C8B-B14F-4D97-AF65-F5344CB8AC3E}">
        <p14:creationId xmlns:p14="http://schemas.microsoft.com/office/powerpoint/2010/main" val="4269591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lstStyle/>
          <a:p>
            <a:r>
              <a:rPr lang="en-US" b="1" dirty="0" smtClean="0"/>
              <a:t>Question Wording</a:t>
            </a:r>
            <a:endParaRPr lang="en-US" b="1" dirty="0"/>
          </a:p>
        </p:txBody>
      </p:sp>
      <p:sp>
        <p:nvSpPr>
          <p:cNvPr id="2" name="Content Placeholder 1"/>
          <p:cNvSpPr>
            <a:spLocks noGrp="1"/>
          </p:cNvSpPr>
          <p:nvPr>
            <p:ph idx="1"/>
          </p:nvPr>
        </p:nvSpPr>
        <p:spPr>
          <a:xfrm>
            <a:off x="0" y="1524000"/>
            <a:ext cx="9144000" cy="5334000"/>
          </a:xfrm>
        </p:spPr>
        <p:txBody>
          <a:bodyPr>
            <a:normAutofit/>
          </a:bodyPr>
          <a:lstStyle/>
          <a:p>
            <a:pPr marL="0" indent="0">
              <a:spcBef>
                <a:spcPts val="0"/>
              </a:spcBef>
            </a:pPr>
            <a:r>
              <a:rPr lang="en-US" sz="3900" dirty="0" smtClean="0">
                <a:solidFill>
                  <a:schemeClr val="tx2"/>
                </a:solidFill>
              </a:rPr>
              <a:t> </a:t>
            </a:r>
            <a:r>
              <a:rPr lang="en-US" sz="3100" dirty="0">
                <a:solidFill>
                  <a:schemeClr val="tx2"/>
                </a:solidFill>
              </a:rPr>
              <a:t>A random sample was asked:  “Should there be a tax cut, or should money be used to fund new government programs?”</a:t>
            </a:r>
          </a:p>
          <a:p>
            <a:pPr marL="0" indent="0">
              <a:spcBef>
                <a:spcPts val="0"/>
              </a:spcBef>
            </a:pPr>
            <a:endParaRPr lang="en-US" sz="3100" dirty="0">
              <a:solidFill>
                <a:schemeClr val="tx2"/>
              </a:solidFill>
            </a:endParaRPr>
          </a:p>
          <a:p>
            <a:pPr marL="0" indent="0">
              <a:spcBef>
                <a:spcPts val="0"/>
              </a:spcBef>
            </a:pPr>
            <a:r>
              <a:rPr lang="en-US" sz="3100" dirty="0">
                <a:solidFill>
                  <a:schemeClr val="tx2"/>
                </a:solidFill>
              </a:rPr>
              <a:t> A different random sample was asked:  “Should there be a tax cut, or should money be spent on programs for education, the environment, health care, crime-fighting, and military defense?”</a:t>
            </a:r>
          </a:p>
          <a:p>
            <a:pPr>
              <a:spcBef>
                <a:spcPts val="0"/>
              </a:spcBef>
              <a:buNone/>
            </a:pPr>
            <a:endParaRPr lang="en-US" sz="3100" dirty="0">
              <a:solidFill>
                <a:schemeClr val="tx2"/>
              </a:solidFill>
            </a:endParaRPr>
          </a:p>
        </p:txBody>
      </p:sp>
      <p:sp>
        <p:nvSpPr>
          <p:cNvPr id="4" name="TextBox 3"/>
          <p:cNvSpPr txBox="1"/>
          <p:nvPr/>
        </p:nvSpPr>
        <p:spPr>
          <a:xfrm>
            <a:off x="744071" y="3071790"/>
            <a:ext cx="8153400" cy="584775"/>
          </a:xfrm>
          <a:prstGeom prst="rect">
            <a:avLst/>
          </a:prstGeom>
          <a:noFill/>
        </p:spPr>
        <p:txBody>
          <a:bodyPr wrap="square" rtlCol="0">
            <a:spAutoFit/>
          </a:bodyPr>
          <a:lstStyle/>
          <a:p>
            <a:r>
              <a:rPr lang="en-US" sz="3200" b="1" dirty="0" smtClean="0">
                <a:solidFill>
                  <a:schemeClr val="accent2">
                    <a:lumMod val="75000"/>
                  </a:schemeClr>
                </a:solidFill>
              </a:rPr>
              <a:t>Tax Cut: 60%		Programs: 40%</a:t>
            </a:r>
            <a:endParaRPr lang="en-US" sz="3200" b="1" dirty="0">
              <a:solidFill>
                <a:schemeClr val="accent2">
                  <a:lumMod val="75000"/>
                </a:schemeClr>
              </a:solidFill>
            </a:endParaRPr>
          </a:p>
        </p:txBody>
      </p:sp>
      <p:sp>
        <p:nvSpPr>
          <p:cNvPr id="6" name="TextBox 5"/>
          <p:cNvSpPr txBox="1"/>
          <p:nvPr/>
        </p:nvSpPr>
        <p:spPr>
          <a:xfrm>
            <a:off x="744071" y="5638800"/>
            <a:ext cx="8153400" cy="584775"/>
          </a:xfrm>
          <a:prstGeom prst="rect">
            <a:avLst/>
          </a:prstGeom>
          <a:noFill/>
        </p:spPr>
        <p:txBody>
          <a:bodyPr wrap="square" rtlCol="0">
            <a:spAutoFit/>
          </a:bodyPr>
          <a:lstStyle/>
          <a:p>
            <a:r>
              <a:rPr lang="en-US" sz="3200" b="1" dirty="0" smtClean="0">
                <a:solidFill>
                  <a:schemeClr val="accent2">
                    <a:lumMod val="75000"/>
                  </a:schemeClr>
                </a:solidFill>
              </a:rPr>
              <a:t>Tax Cut: 22%		Programs: 78%</a:t>
            </a:r>
            <a:endParaRPr lang="en-US" sz="3200" b="1" dirty="0">
              <a:solidFill>
                <a:schemeClr val="accent2">
                  <a:lumMod val="75000"/>
                </a:schemeClr>
              </a:solidFill>
            </a:endParaRPr>
          </a:p>
        </p:txBody>
      </p:sp>
    </p:spTree>
    <p:custDataLst>
      <p:tags r:id="rId1"/>
    </p:custDataLst>
    <p:extLst>
      <p:ext uri="{BB962C8B-B14F-4D97-AF65-F5344CB8AC3E}">
        <p14:creationId xmlns:p14="http://schemas.microsoft.com/office/powerpoint/2010/main" val="16817625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lstStyle/>
          <a:p>
            <a:r>
              <a:rPr lang="en-US" b="1" dirty="0" smtClean="0"/>
              <a:t>Context</a:t>
            </a:r>
            <a:endParaRPr lang="en-US" b="1" dirty="0"/>
          </a:p>
        </p:txBody>
      </p:sp>
      <p:sp>
        <p:nvSpPr>
          <p:cNvPr id="2" name="Content Placeholder 1"/>
          <p:cNvSpPr>
            <a:spLocks noGrp="1"/>
          </p:cNvSpPr>
          <p:nvPr>
            <p:ph sz="quarter" idx="1"/>
          </p:nvPr>
        </p:nvSpPr>
        <p:spPr>
          <a:xfrm>
            <a:off x="0" y="1524000"/>
            <a:ext cx="9144000" cy="5334000"/>
          </a:xfrm>
        </p:spPr>
        <p:txBody>
          <a:bodyPr>
            <a:normAutofit fontScale="55000" lnSpcReduction="20000"/>
          </a:bodyPr>
          <a:lstStyle/>
          <a:p>
            <a:pPr marL="0" indent="0">
              <a:spcBef>
                <a:spcPts val="0"/>
              </a:spcBef>
            </a:pPr>
            <a:r>
              <a:rPr lang="en-US" sz="4100" dirty="0" smtClean="0">
                <a:solidFill>
                  <a:schemeClr val="tx2"/>
                </a:solidFill>
              </a:rPr>
              <a:t> </a:t>
            </a:r>
            <a:r>
              <a:rPr lang="en-US" sz="5100" dirty="0" smtClean="0">
                <a:solidFill>
                  <a:schemeClr val="tx2"/>
                </a:solidFill>
              </a:rPr>
              <a:t>Ann Landers column asked readers</a:t>
            </a:r>
          </a:p>
          <a:p>
            <a:pPr marL="0" indent="0">
              <a:spcBef>
                <a:spcPts val="0"/>
              </a:spcBef>
              <a:buNone/>
            </a:pPr>
            <a:endParaRPr lang="en-US" sz="5100" dirty="0" smtClean="0">
              <a:solidFill>
                <a:schemeClr val="tx2"/>
              </a:solidFill>
            </a:endParaRPr>
          </a:p>
          <a:p>
            <a:pPr marL="0" indent="0">
              <a:spcBef>
                <a:spcPts val="0"/>
              </a:spcBef>
              <a:buNone/>
            </a:pPr>
            <a:r>
              <a:rPr lang="en-US" sz="5100" i="1" dirty="0" smtClean="0">
                <a:solidFill>
                  <a:schemeClr val="tx2"/>
                </a:solidFill>
              </a:rPr>
              <a:t>“If you had it to do over again, would you have children?</a:t>
            </a:r>
          </a:p>
          <a:p>
            <a:pPr marL="0" indent="0">
              <a:spcBef>
                <a:spcPts val="0"/>
              </a:spcBef>
            </a:pPr>
            <a:endParaRPr lang="en-US" sz="5100" dirty="0" smtClean="0">
              <a:solidFill>
                <a:schemeClr val="tx2"/>
              </a:solidFill>
            </a:endParaRPr>
          </a:p>
          <a:p>
            <a:pPr marL="0" indent="0">
              <a:spcBef>
                <a:spcPts val="0"/>
              </a:spcBef>
            </a:pPr>
            <a:r>
              <a:rPr lang="en-US" sz="5100" dirty="0" smtClean="0">
                <a:solidFill>
                  <a:schemeClr val="tx2"/>
                </a:solidFill>
              </a:rPr>
              <a:t> The first request for data contained a letter from a young couple which listed worries about parenting and various reasons not to have kids</a:t>
            </a:r>
          </a:p>
          <a:p>
            <a:pPr marL="0" indent="0">
              <a:spcBef>
                <a:spcPts val="0"/>
              </a:spcBef>
              <a:buFont typeface="Symbol" pitchFamily="18" charset="2"/>
              <a:buChar char="Þ"/>
            </a:pPr>
            <a:r>
              <a:rPr lang="en-US" sz="5100" b="1" dirty="0" smtClean="0">
                <a:solidFill>
                  <a:schemeClr val="accent2">
                    <a:lumMod val="75000"/>
                  </a:schemeClr>
                </a:solidFill>
              </a:rPr>
              <a:t> </a:t>
            </a:r>
            <a:r>
              <a:rPr lang="en-US" sz="5100" b="1" dirty="0">
                <a:solidFill>
                  <a:schemeClr val="accent2">
                    <a:lumMod val="75000"/>
                  </a:schemeClr>
                </a:solidFill>
              </a:rPr>
              <a:t>30% said “yes”</a:t>
            </a:r>
          </a:p>
          <a:p>
            <a:pPr marL="0" indent="0">
              <a:spcBef>
                <a:spcPts val="0"/>
              </a:spcBef>
            </a:pPr>
            <a:endParaRPr lang="en-US" sz="5100" dirty="0" smtClean="0">
              <a:solidFill>
                <a:schemeClr val="tx2"/>
              </a:solidFill>
            </a:endParaRPr>
          </a:p>
          <a:p>
            <a:pPr marL="0" indent="0">
              <a:spcBef>
                <a:spcPts val="0"/>
              </a:spcBef>
            </a:pPr>
            <a:r>
              <a:rPr lang="en-US" sz="5100" dirty="0" smtClean="0">
                <a:solidFill>
                  <a:schemeClr val="tx2"/>
                </a:solidFill>
              </a:rPr>
              <a:t> The second request for data was in response to this number, in which Ann wrote how she was “stunned, disturbed, and just plain flummoxed”</a:t>
            </a:r>
          </a:p>
          <a:p>
            <a:pPr marL="0" indent="0">
              <a:spcBef>
                <a:spcPts val="0"/>
              </a:spcBef>
              <a:buFont typeface="Symbol" pitchFamily="18" charset="2"/>
              <a:buChar char="Þ"/>
            </a:pPr>
            <a:r>
              <a:rPr lang="en-US" sz="5100" b="1" dirty="0" smtClean="0">
                <a:solidFill>
                  <a:schemeClr val="accent2">
                    <a:lumMod val="75000"/>
                  </a:schemeClr>
                </a:solidFill>
              </a:rPr>
              <a:t>95% said “yes”</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Question"/>
          <p:cNvSpPr>
            <a:spLocks noGrp="1"/>
          </p:cNvSpPr>
          <p:nvPr>
            <p:ph type="title" idx="4294967295"/>
          </p:nvPr>
        </p:nvSpPr>
        <p:spPr>
          <a:xfrm>
            <a:off x="0" y="0"/>
            <a:ext cx="9144000" cy="2209800"/>
          </a:xfrm>
        </p:spPr>
        <p:txBody>
          <a:bodyPr>
            <a:normAutofit/>
          </a:bodyPr>
          <a:lstStyle/>
          <a:p>
            <a:r>
              <a:rPr lang="en-US" sz="3600" dirty="0"/>
              <a:t>If we were to run the question all by itself in the newspaper with a request for responses, could we trust the results?</a:t>
            </a:r>
            <a:endParaRPr lang="en-US" sz="3600" b="1" dirty="0"/>
          </a:p>
        </p:txBody>
      </p:sp>
      <p:sp>
        <p:nvSpPr>
          <p:cNvPr id="2" name="TPAnswers"/>
          <p:cNvSpPr>
            <a:spLocks noGrp="1"/>
          </p:cNvSpPr>
          <p:nvPr>
            <p:ph sz="quarter" idx="4294967295"/>
            <p:custDataLst>
              <p:tags r:id="rId2"/>
            </p:custDataLst>
          </p:nvPr>
        </p:nvSpPr>
        <p:spPr>
          <a:xfrm>
            <a:off x="8965" y="2362200"/>
            <a:ext cx="8153400" cy="4495800"/>
          </a:xfrm>
        </p:spPr>
        <p:txBody>
          <a:bodyPr>
            <a:noAutofit/>
          </a:bodyPr>
          <a:lstStyle/>
          <a:p>
            <a:pPr marL="1143000" lvl="1" indent="-742950">
              <a:spcBef>
                <a:spcPct val="20000"/>
              </a:spcBef>
              <a:buFont typeface="Wingdings 2"/>
              <a:buAutoNum type="arabicPeriod"/>
            </a:pPr>
            <a:r>
              <a:rPr lang="en-US" sz="3700" dirty="0" smtClean="0">
                <a:solidFill>
                  <a:schemeClr val="tx2"/>
                </a:solidFill>
              </a:rPr>
              <a:t>Yes</a:t>
            </a:r>
          </a:p>
          <a:p>
            <a:pPr marL="1143000" lvl="1" indent="-742950">
              <a:spcBef>
                <a:spcPct val="20000"/>
              </a:spcBef>
              <a:buFont typeface="Wingdings 2"/>
              <a:buAutoNum type="arabicPeriod"/>
            </a:pPr>
            <a:r>
              <a:rPr lang="en-US" sz="3700" dirty="0" smtClean="0">
                <a:solidFill>
                  <a:schemeClr val="tx2"/>
                </a:solidFill>
              </a:rPr>
              <a:t>No</a:t>
            </a:r>
          </a:p>
        </p:txBody>
      </p:sp>
    </p:spTree>
    <p:custDataLst>
      <p:tags r:id="rId1"/>
    </p:custData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Question"/>
          <p:cNvSpPr>
            <a:spLocks noGrp="1"/>
          </p:cNvSpPr>
          <p:nvPr>
            <p:ph type="title" idx="4294967295"/>
          </p:nvPr>
        </p:nvSpPr>
        <p:spPr>
          <a:xfrm>
            <a:off x="0" y="0"/>
            <a:ext cx="9144000" cy="3429000"/>
          </a:xfrm>
        </p:spPr>
        <p:txBody>
          <a:bodyPr>
            <a:noAutofit/>
          </a:bodyPr>
          <a:lstStyle/>
          <a:p>
            <a:pPr marL="0" indent="0">
              <a:spcBef>
                <a:spcPts val="0"/>
              </a:spcBef>
            </a:pPr>
            <a:r>
              <a:rPr lang="en-US" sz="3200" i="1" dirty="0"/>
              <a:t>Newsday</a:t>
            </a:r>
            <a:r>
              <a:rPr lang="en-US" sz="3200" dirty="0"/>
              <a:t> conducted a random sample of all US adults, and asked them the same question, without any additional leading material</a:t>
            </a:r>
            <a:br>
              <a:rPr lang="en-US" sz="3200" dirty="0"/>
            </a:br>
            <a:r>
              <a:rPr lang="en-US" sz="3200" b="1" dirty="0">
                <a:solidFill>
                  <a:schemeClr val="accent2">
                    <a:lumMod val="75000"/>
                  </a:schemeClr>
                </a:solidFill>
              </a:rPr>
              <a:t>91% said “</a:t>
            </a:r>
            <a:r>
              <a:rPr lang="en-US" sz="3200" b="1" dirty="0" smtClean="0">
                <a:solidFill>
                  <a:schemeClr val="accent2">
                    <a:lumMod val="75000"/>
                  </a:schemeClr>
                </a:solidFill>
              </a:rPr>
              <a:t>yes”.  </a:t>
            </a:r>
            <a:r>
              <a:rPr lang="en-US" sz="3200" dirty="0" smtClean="0"/>
              <a:t>Do </a:t>
            </a:r>
            <a:r>
              <a:rPr lang="en-US" sz="3200" dirty="0"/>
              <a:t>you think the true proportion of parents who are happy they had children is close to 91%?</a:t>
            </a:r>
          </a:p>
        </p:txBody>
      </p:sp>
      <p:sp>
        <p:nvSpPr>
          <p:cNvPr id="2" name="TPAnswers"/>
          <p:cNvSpPr>
            <a:spLocks noGrp="1"/>
          </p:cNvSpPr>
          <p:nvPr>
            <p:ph sz="quarter" idx="4294967295"/>
            <p:custDataLst>
              <p:tags r:id="rId2"/>
            </p:custDataLst>
          </p:nvPr>
        </p:nvSpPr>
        <p:spPr>
          <a:xfrm>
            <a:off x="0" y="4114800"/>
            <a:ext cx="8763000" cy="2438400"/>
          </a:xfrm>
        </p:spPr>
        <p:txBody>
          <a:bodyPr>
            <a:noAutofit/>
          </a:bodyPr>
          <a:lstStyle/>
          <a:p>
            <a:pPr marL="514350" indent="-514350">
              <a:spcBef>
                <a:spcPct val="20000"/>
              </a:spcBef>
              <a:buFont typeface="Wingdings"/>
              <a:buAutoNum type="arabicPeriod"/>
            </a:pPr>
            <a:r>
              <a:rPr lang="en-US" dirty="0" smtClean="0">
                <a:solidFill>
                  <a:schemeClr val="tx2"/>
                </a:solidFill>
              </a:rPr>
              <a:t>	 Yes</a:t>
            </a:r>
          </a:p>
          <a:p>
            <a:pPr marL="514350" indent="-514350">
              <a:spcBef>
                <a:spcPct val="20000"/>
              </a:spcBef>
              <a:buFont typeface="Wingdings"/>
              <a:buAutoNum type="arabicPeriod"/>
            </a:pPr>
            <a:r>
              <a:rPr lang="en-US" dirty="0" smtClean="0">
                <a:solidFill>
                  <a:schemeClr val="tx2"/>
                </a:solidFill>
              </a:rPr>
              <a:t>	 No</a:t>
            </a:r>
            <a:endParaRPr lang="en-US" dirty="0" smtClean="0">
              <a:solidFill>
                <a:srgbClr val="FF0000"/>
              </a:solidFill>
            </a:endParaRPr>
          </a:p>
        </p:txBody>
      </p:sp>
    </p:spTree>
    <p:custDataLst>
      <p:tags r:id="rId1"/>
    </p:custData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lstStyle/>
          <a:p>
            <a:r>
              <a:rPr lang="en-US" b="1" dirty="0" smtClean="0"/>
              <a:t>Summary</a:t>
            </a:r>
            <a:endParaRPr lang="en-US" b="1" dirty="0"/>
          </a:p>
        </p:txBody>
      </p:sp>
      <p:sp>
        <p:nvSpPr>
          <p:cNvPr id="2" name="Content Placeholder 1"/>
          <p:cNvSpPr>
            <a:spLocks noGrp="1"/>
          </p:cNvSpPr>
          <p:nvPr>
            <p:ph sz="quarter" idx="1"/>
          </p:nvPr>
        </p:nvSpPr>
        <p:spPr>
          <a:xfrm>
            <a:off x="0" y="1524000"/>
            <a:ext cx="9144000" cy="5334000"/>
          </a:xfrm>
        </p:spPr>
        <p:txBody>
          <a:bodyPr>
            <a:noAutofit/>
          </a:bodyPr>
          <a:lstStyle/>
          <a:p>
            <a:pPr>
              <a:lnSpc>
                <a:spcPct val="110000"/>
              </a:lnSpc>
              <a:spcBef>
                <a:spcPts val="1200"/>
              </a:spcBef>
            </a:pPr>
            <a:r>
              <a:rPr lang="en-US" sz="3200" dirty="0" smtClean="0">
                <a:solidFill>
                  <a:schemeClr val="tx2"/>
                </a:solidFill>
              </a:rPr>
              <a:t>Data is collected on a sample, and we would like to use the data to make inferences to the larger population</a:t>
            </a:r>
          </a:p>
          <a:p>
            <a:pPr>
              <a:lnSpc>
                <a:spcPct val="110000"/>
              </a:lnSpc>
              <a:spcBef>
                <a:spcPts val="1200"/>
              </a:spcBef>
            </a:pPr>
            <a:r>
              <a:rPr lang="en-US" sz="3200" dirty="0" smtClean="0">
                <a:solidFill>
                  <a:schemeClr val="tx2"/>
                </a:solidFill>
              </a:rPr>
              <a:t>Sampling bias can occur when the sample does not resemble the population</a:t>
            </a:r>
          </a:p>
          <a:p>
            <a:pPr>
              <a:lnSpc>
                <a:spcPct val="110000"/>
              </a:lnSpc>
              <a:spcBef>
                <a:spcPts val="1200"/>
              </a:spcBef>
            </a:pPr>
            <a:r>
              <a:rPr lang="en-US" sz="3200" dirty="0" smtClean="0">
                <a:solidFill>
                  <a:schemeClr val="tx2"/>
                </a:solidFill>
              </a:rPr>
              <a:t>Sampling bias can be avoided by random sampling</a:t>
            </a:r>
          </a:p>
          <a:p>
            <a:pPr>
              <a:lnSpc>
                <a:spcPct val="110000"/>
              </a:lnSpc>
              <a:spcBef>
                <a:spcPts val="1200"/>
              </a:spcBef>
            </a:pPr>
            <a:r>
              <a:rPr lang="en-US" sz="3200" dirty="0" smtClean="0">
                <a:solidFill>
                  <a:schemeClr val="tx2"/>
                </a:solidFill>
              </a:rPr>
              <a:t>Bias exists when the sample data do not accurately reflect the true population data, and bias can occur in many ways</a:t>
            </a:r>
          </a:p>
        </p:txBody>
      </p:sp>
      <p:sp>
        <p:nvSpPr>
          <p:cNvPr id="4" name="Rounded Rectangle 3"/>
          <p:cNvSpPr/>
          <p:nvPr/>
        </p:nvSpPr>
        <p:spPr>
          <a:xfrm>
            <a:off x="304800" y="5181600"/>
            <a:ext cx="8534400" cy="16002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53"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p:cTn id="23" dur="2000" fill="hold"/>
                                        <p:tgtEl>
                                          <p:spTgt spid="4"/>
                                        </p:tgtEl>
                                        <p:attrNameLst>
                                          <p:attrName>ppt_w</p:attrName>
                                        </p:attrNameLst>
                                      </p:cBhvr>
                                      <p:tavLst>
                                        <p:tav tm="0">
                                          <p:val>
                                            <p:fltVal val="0"/>
                                          </p:val>
                                        </p:tav>
                                        <p:tav tm="100000">
                                          <p:val>
                                            <p:strVal val="#ppt_w"/>
                                          </p:val>
                                        </p:tav>
                                      </p:tavLst>
                                    </p:anim>
                                    <p:anim calcmode="lin" valueType="num">
                                      <p:cBhvr>
                                        <p:cTn id="24" dur="2000" fill="hold"/>
                                        <p:tgtEl>
                                          <p:spTgt spid="4"/>
                                        </p:tgtEl>
                                        <p:attrNameLst>
                                          <p:attrName>ppt_h</p:attrName>
                                        </p:attrNameLst>
                                      </p:cBhvr>
                                      <p:tavLst>
                                        <p:tav tm="0">
                                          <p:val>
                                            <p:fltVal val="0"/>
                                          </p:val>
                                        </p:tav>
                                        <p:tav tm="100000">
                                          <p:val>
                                            <p:strVal val="#ppt_h"/>
                                          </p:val>
                                        </p:tav>
                                      </p:tavLst>
                                    </p:anim>
                                    <p:animEffect transition="in" filter="fade">
                                      <p:cBhvr>
                                        <p:cTn id="25"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lstStyle/>
          <a:p>
            <a:r>
              <a:rPr lang="en-US" b="1" dirty="0" smtClean="0"/>
              <a:t>Summary</a:t>
            </a:r>
            <a:endParaRPr lang="en-US" b="1" dirty="0"/>
          </a:p>
        </p:txBody>
      </p:sp>
      <p:sp>
        <p:nvSpPr>
          <p:cNvPr id="4" name="Content Placeholder 3"/>
          <p:cNvSpPr>
            <a:spLocks noGrp="1"/>
          </p:cNvSpPr>
          <p:nvPr>
            <p:ph sz="quarter" idx="1"/>
          </p:nvPr>
        </p:nvSpPr>
        <p:spPr>
          <a:xfrm>
            <a:off x="14334" y="1524000"/>
            <a:ext cx="9129665" cy="5334000"/>
          </a:xfrm>
        </p:spPr>
        <p:txBody>
          <a:bodyPr/>
          <a:lstStyle/>
          <a:p>
            <a:r>
              <a:rPr lang="en-US" sz="3200" b="1" dirty="0">
                <a:solidFill>
                  <a:schemeClr val="tx2"/>
                </a:solidFill>
              </a:rPr>
              <a:t>Always think critically about how the data were collected, and recognize that not all forms of data collection lead to valid inferences</a:t>
            </a:r>
          </a:p>
          <a:p>
            <a:endParaRPr lang="en-US" dirty="0"/>
          </a:p>
        </p:txBody>
      </p:sp>
    </p:spTree>
    <p:custDataLst>
      <p:tags r:id="rId1"/>
    </p:custData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PPVERSION" val="12.0"/>
  <p:tag name="DELIMITERS" val="3.1"/>
  <p:tag name="SHOWBARVISIBLE" val="True"/>
  <p:tag name="USESECONDARYMONITOR" val="True"/>
  <p:tag name="SAVECSVWITHSESSION" val="True"/>
  <p:tag name="CSVFORMAT" val="0"/>
  <p:tag name="BULLETTYPE" val="3"/>
  <p:tag name="ANSWERNOWSTYLE" val="-1"/>
  <p:tag name="ANSWERNOWTEXT" val="Answer Now"/>
  <p:tag name="COUNTDOWNSTYLE" val="-1"/>
  <p:tag name="RESPCOUNTERSTYLE" val="-1"/>
  <p:tag name="RESPCOUNTERFORMAT" val="0"/>
  <p:tag name="RESPTABLESTYLE" val="-1"/>
  <p:tag name="COUNTDOWNSECONDS" val="10"/>
  <p:tag name="INPUTSOURCE" val="1"/>
  <p:tag name="NUMRESPONSES" val="1"/>
  <p:tag name="ALLOWDUPLICATES" val="False"/>
  <p:tag name="BACKUPSESSIONS" val="True"/>
  <p:tag name="BACKUPMAINTENANCE" val="7"/>
  <p:tag name="CHARTVALUEFORMAT" val="0%"/>
  <p:tag name="AUTOADVANCE" val="False"/>
  <p:tag name="REVIEWONLY" val="False"/>
  <p:tag name="ROTATIONINTERVAL" val="2"/>
  <p:tag name="AUTOUPDATEALIASES" val="True"/>
  <p:tag name="STDCHART" val="1"/>
  <p:tag name="RACEENDPOINTS" val="100"/>
  <p:tag name="RACERSMAXDISPLAYED" val="5"/>
  <p:tag name="RACEANIMATIONSPEED" val="3"/>
  <p:tag name="SKIPREMAININGRACESLIDES" val="True"/>
  <p:tag name="PARTICIPANTSINLEADERBOARD" val="5"/>
  <p:tag name="TEAMSINLEADERBOARD" val="5"/>
  <p:tag name="MAXRESPONDERS" val="5"/>
  <p:tag name="BUBBLENAMEVISIBLE" val="True"/>
  <p:tag name="BUBBLESIZEVISIBLE" val="True"/>
  <p:tag name="BUBBLEVALUEFORMAT" val="0.0"/>
  <p:tag name="BUBBLEGROUPING" val="3"/>
  <p:tag name="DEFAULTNUMTEAMS" val="5"/>
  <p:tag name="CUSTOMGRIDBACKCOLOR" val="-2830136"/>
  <p:tag name="CUSTOMCELLFORECOLOR" val="-16777216"/>
  <p:tag name="CUSTOMCELLBACKCOLOR1" val="-657956"/>
  <p:tag name="CUSTOMCELLBACKCOLOR2" val="-13395457"/>
  <p:tag name="CUSTOMCELLBACKCOLOR3" val="-268652"/>
  <p:tag name="CUSTOMCELLBACKCOLOR4" val="-8355712"/>
  <p:tag name="USESCHEMECOLORS" val="True"/>
  <p:tag name="DISPLAYNAME" val="True"/>
  <p:tag name="DISPLAYDEVICENUMBER" val="True"/>
  <p:tag name="DISPLAYDEVICEID" val="True"/>
  <p:tag name="GRIDOPACITY" val="90"/>
  <p:tag name="GRIDROTATIONINTERVAL" val="2"/>
  <p:tag name="AUTOSIZEGRID" val="True"/>
  <p:tag name="GRIDSIZE" val="{Width=800, Height=600}"/>
  <p:tag name="GRIDPOSITION" val="1"/>
  <p:tag name="POLLINGCYCLE" val="2"/>
  <p:tag name="CHARTCOLORS" val="0"/>
  <p:tag name="CHARTLABELS" val="0"/>
  <p:tag name="RESETCHARTS" val="True"/>
  <p:tag name="INCLUDENONRESPONDERS" val="False"/>
  <p:tag name="MULTIRESPDIVISOR" val="1"/>
  <p:tag name="PARTLISTDEFAULT" val="0"/>
  <p:tag name="INCLUDEPPT" val="True"/>
  <p:tag name="ALLOWUSERFEEDBACK" val="True"/>
  <p:tag name="CORRECTPOINTVALUE" val="100"/>
  <p:tag name="INCORRECTPOINTVALUE" val="0"/>
  <p:tag name="REALTIMEBACKUP" val="False"/>
  <p:tag name="REALTIMEBACKUPPATH" val="(None)"/>
  <p:tag name="ZEROBASED" val="False"/>
  <p:tag name="AUTOADJUSTPARTRANGE" val="True"/>
  <p:tag name="CHARTSCALE" val="True"/>
  <p:tag name="ADVANCEDSETTINGSVIEW" val="False"/>
  <p:tag name="FIBDISPLAYRESULTS" val="True"/>
  <p:tag name="FIBNUMRESULTS" val="5"/>
  <p:tag name="FIBINCLUDEOTHER" val="True"/>
  <p:tag name="FIBDISPLAYKEYWORDS" val="True"/>
  <p:tag name="PRRESPONSE1" val="10"/>
  <p:tag name="PRRESPONSE2" val="9"/>
  <p:tag name="PRRESPONSE3" val="8"/>
  <p:tag name="PRRESPONSE4" val="7"/>
  <p:tag name="PRRESPONSE5" val="6"/>
  <p:tag name="PRRESPONSE6" val="5"/>
  <p:tag name="PRRESPONSE7" val="4"/>
  <p:tag name="PRRESPONSE8" val="3"/>
  <p:tag name="PRRESPONSE9" val="2"/>
  <p:tag name="PRRESPONSE10" val="1"/>
  <p:tag name="SHOWFLASHWARNING" val="True"/>
  <p:tag name="ALWAYSOPENPOLL" val="False"/>
  <p:tag name="POWERPOINTVERSION" val="14.0"/>
  <p:tag name="LUIDIAENABLED" val="False"/>
  <p:tag name="EXPANDSHOWBAR" val="True"/>
  <p:tag name="TASKPANEKEY" val="71ce1fa0-b432-46ab-bcd1-3e05935dfe96"/>
  <p:tag name="WASPOLLED" val="9657FD5032F346A1B45E62D15D964523"/>
  <p:tag name="TPVERSION" val="5"/>
  <p:tag name="TPFULLVERSION" val="5.4.1.2"/>
  <p:tag name="PPTVERSION" val="14"/>
  <p:tag name="TPOS" val="2"/>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DELIMITERS" val="3.1"/>
  <p:tag name="SLIDEGUID" val="3887C0F5D91E470C9BC47CE26400BB68"/>
  <p:tag name="SLIDEID" val="3887C0F5D91E470C9BC47CE26400BB68"/>
  <p:tag name="SLIDEORDER" val="1"/>
  <p:tag name="SLIDETYPE" val="Q"/>
  <p:tag name="DEMOGRAPHIC" val="False"/>
  <p:tag name="SPEEDSCORING" val="False"/>
  <p:tag name="CORRECTPOINTVALUE" val="100"/>
  <p:tag name="INCORRECTPOINTVALUE" val="0"/>
  <p:tag name="ZEROBASED" val="False"/>
  <p:tag name="VALUEFORMAT" val="0%"/>
  <p:tag name="QUESTIONALIAS" val="State whether the data in the following description are best described as a population or a sample. A survey to analyze student participation in LCCC’s Welcome Week is emailed to 50 LCCC students and all of them respond."/>
  <p:tag name="ANSWERSALIAS" val="Population|smicln|Sample"/>
  <p:tag name="VALUES" val="No Value|smicln|No Value"/>
  <p:tag name="RESPONSESGATHERED" val="False"/>
  <p:tag name="ANONYMOUSTEMP" val="False"/>
  <p:tag name="TPQUESTIONXML" val="﻿&lt;?xml version=&quot;1.0&quot; encoding=&quot;utf-8&quot;?&gt;&#10;&lt;questionlist&gt;&#10;    &lt;properties&gt;&#10;        &lt;guid&gt;635938661D5846D2B36B8E115C6FBD13&lt;/guid&gt;&#10;        &lt;description /&gt;&#10;        &lt;date&gt;5/24/2017 2:39:0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39527F96C3504F57835A62F4A66BCC8B&lt;/guid&gt;&#10;            &lt;repollguid&gt;5FA1A2C154C74FC180B62A834B60A21C&lt;/repollguid&gt;&#10;            &lt;sourceid&gt;6E5772A663D04277BC79F7C0A020B9A4&lt;/sourceid&gt;&#10;            &lt;questiontext&gt;State whether the data in the following description are best described as a population or a sample.A survey to analyze student participation in LCCC’s Welcome Week is emailed to 50 LCCC students and all of them respond.&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2DD3D1628AAF4BADB43E6DCF7D9C69AF&lt;/guid&gt;&#10;                    &lt;answertext&gt;Population &lt;/answertext&gt;&#10;                    &lt;valuetype&gt;0&lt;/valuetype&gt;&#10;                &lt;/answer&gt;&#10;                &lt;answer&gt;&#10;                    &lt;guid&gt;E979ACE695A84C98B1FD33067C999A44&lt;/guid&gt;&#10;                    &lt;answertext&gt;Sample&lt;/answertext&gt;&#10;                    &lt;valuetype&gt;0&lt;/valuetype&gt;&#10;                &lt;/answer&gt;&#10;            &lt;/answers&gt;&#10;        &lt;/multichoice&gt;&#10;    &lt;/questions&gt;&#10;&lt;/questionlist&gt;"/>
  <p:tag name="TYPE" val="MultiChoiceSlide"/>
  <p:tag name="HASRESULTS" val="False"/>
  <p:tag name="LIVECHARTING" val="False"/>
  <p:tag name="AUTOOPENPOLL" val="True"/>
  <p:tag name="AUTOFORMATCHART" val="True"/>
</p:tagLst>
</file>

<file path=ppt/tags/tag5.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17"/>
  <p:tag name="FONTSIZE" val="29"/>
  <p:tag name="BULLETTYPE" val="ppBulletArabicPeriod"/>
  <p:tag name="ANSWERTEXT" val="Population&#10;Sample"/>
  <p:tag name="ZEROBASED" val="False"/>
</p:tagLst>
</file>

<file path=ppt/tags/tag6.xml><?xml version="1.0" encoding="utf-8"?>
<p:tagLst xmlns:a="http://schemas.openxmlformats.org/drawingml/2006/main" xmlns:r="http://schemas.openxmlformats.org/officeDocument/2006/relationships" xmlns:p="http://schemas.openxmlformats.org/presentationml/2006/main">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DELIMITERS" val="3.1"/>
</p:tagLst>
</file>

<file path=ppt/tags/tag8.xml><?xml version="1.0" encoding="utf-8"?>
<p:tagLst xmlns:a="http://schemas.openxmlformats.org/drawingml/2006/main" xmlns:r="http://schemas.openxmlformats.org/officeDocument/2006/relationships" xmlns:p="http://schemas.openxmlformats.org/presentationml/2006/main">
  <p:tag name="DELIMITERS" val="3.1"/>
</p:tagLst>
</file>

<file path=ppt/tags/tag9.xml><?xml version="1.0" encoding="utf-8"?>
<p:tagLst xmlns:a="http://schemas.openxmlformats.org/drawingml/2006/main" xmlns:r="http://schemas.openxmlformats.org/officeDocument/2006/relationships" xmlns:p="http://schemas.openxmlformats.org/presentationml/2006/main">
  <p:tag name="DELIMITERS" val="3.1"/>
</p:tagLst>
</file>

<file path=ppt/tags/tag10.xml><?xml version="1.0" encoding="utf-8"?>
<p:tagLst xmlns:a="http://schemas.openxmlformats.org/drawingml/2006/main" xmlns:r="http://schemas.openxmlformats.org/officeDocument/2006/relationships" xmlns:p="http://schemas.openxmlformats.org/presentationml/2006/main">
  <p:tag name="DELIMITERS" val="3.1"/>
</p:tagLst>
</file>

<file path=ppt/tags/tag11.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E3C4775AC6D043B5BF07690239D17538&lt;/guid&gt;&#10;        &lt;description /&gt;&#10;        &lt;date&gt;5/24/2017 2:39:25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771F46BD451B46D4A49EDF8578F05C60&lt;/guid&gt;&#10;            &lt;repollguid&gt;735F39FE2F544790975AF5BEE0F31490&lt;/repollguid&gt;&#10;            &lt;sourceid&gt;7FAC00B055B048C3AF90717217A349CC&lt;/sourceid&gt;&#10;            &lt;questiontext&gt;In a study to determine the proportion of all students at our college that believe that they are talented in the subject of mathematics, we survey all students enrolled in Multivariable Calculus.  Is this method of data collection biased?&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11FEF999A4E4471888F3C71DB39CCC8A&lt;/guid&gt;&#10;                    &lt;answertext&gt;Yes&lt;/answertext&gt;&#10;                    &lt;valuetype&gt;0&lt;/valuetype&gt;&#10;                &lt;/answer&gt;&#10;                &lt;answer&gt;&#10;                    &lt;guid&gt;08DA6CE26940430482FD64B8B50F2634&lt;/guid&gt;&#10;                    &lt;answertext&gt;No&lt;/answertext&gt;&#10;                    &lt;valuetype&gt;0&lt;/valuetype&gt;&#10;                &lt;/answer&gt;&#10;            &lt;/answers&gt;&#10;        &lt;/multichoice&gt;&#10;    &lt;/questions&gt;&#10;&lt;/questionlist&gt;"/>
  <p:tag name="HASRESULTS" val="False"/>
  <p:tag name="LIVECHARTING" val="False"/>
  <p:tag name="AUTOOPENPOLL" val="True"/>
  <p:tag name="AUTOFORMATCHART" val="True"/>
</p:tagLst>
</file>

<file path=ppt/tags/tag12.xml><?xml version="1.0" encoding="utf-8"?>
<p:tagLst xmlns:a="http://schemas.openxmlformats.org/drawingml/2006/main" xmlns:r="http://schemas.openxmlformats.org/officeDocument/2006/relationships" xmlns:p="http://schemas.openxmlformats.org/presentationml/2006/main">
  <p:tag name="ZEROBASED" val="False"/>
</p:tagLst>
</file>

<file path=ppt/tags/tag13.xml><?xml version="1.0" encoding="utf-8"?>
<p:tagLst xmlns:a="http://schemas.openxmlformats.org/drawingml/2006/main" xmlns:r="http://schemas.openxmlformats.org/officeDocument/2006/relationships" xmlns:p="http://schemas.openxmlformats.org/presentationml/2006/main">
  <p:tag name="DELIMITERS" val="3.1"/>
</p:tagLst>
</file>

<file path=ppt/tags/tag14.xml><?xml version="1.0" encoding="utf-8"?>
<p:tagLst xmlns:a="http://schemas.openxmlformats.org/drawingml/2006/main" xmlns:r="http://schemas.openxmlformats.org/officeDocument/2006/relationships" xmlns:p="http://schemas.openxmlformats.org/presentationml/2006/main">
  <p:tag name="DELIMITERS" val="3.1"/>
</p:tagLst>
</file>

<file path=ppt/tags/tag15.xml><?xml version="1.0" encoding="utf-8"?>
<p:tagLst xmlns:a="http://schemas.openxmlformats.org/drawingml/2006/main" xmlns:r="http://schemas.openxmlformats.org/officeDocument/2006/relationships" xmlns:p="http://schemas.openxmlformats.org/presentationml/2006/main">
  <p:tag name="DELIMITERS" val="3.1"/>
</p:tagLst>
</file>

<file path=ppt/tags/tag16.xml><?xml version="1.0" encoding="utf-8"?>
<p:tagLst xmlns:a="http://schemas.openxmlformats.org/drawingml/2006/main" xmlns:r="http://schemas.openxmlformats.org/officeDocument/2006/relationships" xmlns:p="http://schemas.openxmlformats.org/presentationml/2006/main">
  <p:tag name="DELIMITERS" val="3.1"/>
</p:tagLst>
</file>

<file path=ppt/tags/tag17.xml><?xml version="1.0" encoding="utf-8"?>
<p:tagLst xmlns:a="http://schemas.openxmlformats.org/drawingml/2006/main" xmlns:r="http://schemas.openxmlformats.org/officeDocument/2006/relationships" xmlns:p="http://schemas.openxmlformats.org/presentationml/2006/main">
  <p:tag name="DELIMITERS" val="3.1"/>
</p:tagLst>
</file>

<file path=ppt/tags/tag18.xml><?xml version="1.0" encoding="utf-8"?>
<p:tagLst xmlns:a="http://schemas.openxmlformats.org/drawingml/2006/main" xmlns:r="http://schemas.openxmlformats.org/officeDocument/2006/relationships" xmlns:p="http://schemas.openxmlformats.org/presentationml/2006/main">
  <p:tag name="DELIMITERS" val="3.1"/>
</p:tagLst>
</file>

<file path=ppt/tags/tag19.xml><?xml version="1.0" encoding="utf-8"?>
<p:tagLst xmlns:a="http://schemas.openxmlformats.org/drawingml/2006/main" xmlns:r="http://schemas.openxmlformats.org/officeDocument/2006/relationships" xmlns:p="http://schemas.openxmlformats.org/presentationml/2006/main">
  <p:tag name="DELIMITERS" val="3.1"/>
</p:tagLst>
</file>

<file path=ppt/tags/tag20.xml><?xml version="1.0" encoding="utf-8"?>
<p:tagLst xmlns:a="http://schemas.openxmlformats.org/drawingml/2006/main" xmlns:r="http://schemas.openxmlformats.org/officeDocument/2006/relationships" xmlns:p="http://schemas.openxmlformats.org/presentationml/2006/main">
  <p:tag name="DELIMITERS" val="3.1"/>
</p:tagLst>
</file>

<file path=ppt/tags/tag21.xml><?xml version="1.0" encoding="utf-8"?>
<p:tagLst xmlns:a="http://schemas.openxmlformats.org/drawingml/2006/main" xmlns:r="http://schemas.openxmlformats.org/officeDocument/2006/relationships" xmlns:p="http://schemas.openxmlformats.org/presentationml/2006/main">
  <p:tag name="DELIMITERS" val="3.1"/>
</p:tagLst>
</file>

<file path=ppt/tags/tag22.xml><?xml version="1.0" encoding="utf-8"?>
<p:tagLst xmlns:a="http://schemas.openxmlformats.org/drawingml/2006/main" xmlns:r="http://schemas.openxmlformats.org/officeDocument/2006/relationships" xmlns:p="http://schemas.openxmlformats.org/presentationml/2006/main">
  <p:tag name="DELIMITERS" val="3.1"/>
</p:tagLst>
</file>

<file path=ppt/tags/tag23.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94CAB3637A73482D8334003B2AD20C54&lt;/guid&gt;&#10;        &lt;description /&gt;&#10;        &lt;date&gt;5/24/2017 2:41:35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BFD3FE5C990E412EB82CFC0E9107D746&lt;/guid&gt;&#10;            &lt;repollguid&gt;352ED4B514084E0AA2247B6FEE75DAC6&lt;/repollguid&gt;&#10;            &lt;sourceid&gt;4DEEDF818E214D3A923404CA2E69DB4C&lt;/sourceid&gt;&#10;            &lt;questiontext&gt;Which of the following sampling methods produces a random sample from the given population?&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038361EE4B4B40899765C435C5ED4559&lt;/guid&gt;&#10;                    &lt;answertext&gt;The population is adults between the ages of 18 and 22.  A sample of 100 students is collected from a local university, and each student at the university had an equal chance of being selected for the sample.&lt;/answertext&gt;&#10;                    &lt;valuetype&gt;0&lt;/valuetype&gt;&#10;                &lt;/answer&gt;&#10;                &lt;answer&gt;&#10;                    &lt;guid&gt;9138F2B809C74CABA338A6F75E755907&lt;/guid&gt;&#10;                    &lt;answertext&gt;The population is all current undergraduate members of the Mathematical Association of America.  Names of these members are placed in a box, mixed up, and 50 names are drawn by a blind-folded person.&lt;/answertext&gt;&#10;                    &lt;valuetype&gt;0&lt;/valuetype&gt;&#10;                &lt;/answer&gt;&#10;                &lt;answer&gt;&#10;                    &lt;guid&gt;E4406DDA41E04E2DAAA240D563D313F7&lt;/guid&gt;&#10;                    &lt;answertext&gt;The population is all boats docked in a particular marina. We walk along the docks and pick out boats that appear to be representative of all boats in the marina.&lt;/answertext&gt;&#10;                    &lt;valuetype&gt;0&lt;/valuetype&gt;&#10;                &lt;/answer&gt;&#10;            &lt;/answers&gt;&#10;        &lt;/multichoice&gt;&#10;    &lt;/questions&gt;&#10;&lt;/questionlist&gt;"/>
  <p:tag name="HASRESULTS" val="False"/>
  <p:tag name="LIVECHARTING" val="False"/>
  <p:tag name="AUTOOPENPOLL" val="True"/>
  <p:tag name="AUTOFORMATCHART" val="True"/>
</p:tagLst>
</file>

<file path=ppt/tags/tag24.xml><?xml version="1.0" encoding="utf-8"?>
<p:tagLst xmlns:a="http://schemas.openxmlformats.org/drawingml/2006/main" xmlns:r="http://schemas.openxmlformats.org/officeDocument/2006/relationships" xmlns:p="http://schemas.openxmlformats.org/presentationml/2006/main">
  <p:tag name="ZEROBASED" val="False"/>
</p:tagLst>
</file>

<file path=ppt/tags/tag25.xml><?xml version="1.0" encoding="utf-8"?>
<p:tagLst xmlns:a="http://schemas.openxmlformats.org/drawingml/2006/main" xmlns:r="http://schemas.openxmlformats.org/officeDocument/2006/relationships" xmlns:p="http://schemas.openxmlformats.org/presentationml/2006/main">
  <p:tag name="DELIMITERS" val="3.1"/>
</p:tagLst>
</file>

<file path=ppt/tags/tag26.xml><?xml version="1.0" encoding="utf-8"?>
<p:tagLst xmlns:a="http://schemas.openxmlformats.org/drawingml/2006/main" xmlns:r="http://schemas.openxmlformats.org/officeDocument/2006/relationships" xmlns:p="http://schemas.openxmlformats.org/presentationml/2006/main">
  <p:tag name="DELIMITERS" val="3.1"/>
</p:tagLst>
</file>

<file path=ppt/tags/tag27.xml><?xml version="1.0" encoding="utf-8"?>
<p:tagLst xmlns:a="http://schemas.openxmlformats.org/drawingml/2006/main" xmlns:r="http://schemas.openxmlformats.org/officeDocument/2006/relationships" xmlns:p="http://schemas.openxmlformats.org/presentationml/2006/main">
  <p:tag name="DELIMITERS" val="3.1"/>
</p:tagLst>
</file>

<file path=ppt/tags/tag28.xml><?xml version="1.0" encoding="utf-8"?>
<p:tagLst xmlns:a="http://schemas.openxmlformats.org/drawingml/2006/main" xmlns:r="http://schemas.openxmlformats.org/officeDocument/2006/relationships" xmlns:p="http://schemas.openxmlformats.org/presentationml/2006/main">
  <p:tag name="DELIMITERS" val="3.1"/>
  <p:tag name="TYPE" val="MultiChoiceSlide"/>
  <p:tag name="TPQUESTIONXML" val="﻿&lt;?xml version=&quot;1.0&quot; encoding=&quot;utf-8&quot;?&gt;&#10;&lt;questionlist&gt;&#10;    &lt;properties&gt;&#10;        &lt;guid&gt;B306EDE4D9E24D788032B2FFECF0F8BE&lt;/guid&gt;&#10;        &lt;description /&gt;&#10;        &lt;date&gt;5/24/2017 2:44:1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C1A99B32A0AE4114B3C747B95F66C941&lt;/guid&gt;&#10;            &lt;repollguid&gt;B7909B429ACC4F709D25372812D654A3&lt;/repollguid&gt;&#10;            &lt;sourceid&gt;AE6EEBA52B5144199A213C5D949F641E&lt;/sourceid&gt;&#10;            &lt;questiontext&gt;Suppose you want to estimate the average number of hours that students at our college spend studying each week.  Which of the following is the best method of sampling?&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172D6157602245C0952F5A2FBF2C74CE&lt;/guid&gt;&#10;                    &lt;answertext&gt;Go to the library and ask all the students there how much they study&lt;/answertext&gt;&#10;                    &lt;valuetype&gt;0&lt;/valuetype&gt;&#10;                &lt;/answer&gt;&#10;                &lt;answer&gt;&#10;                    &lt;guid&gt;F97F5EF48A7F4683BDAEF4A00E61B9C2&lt;/guid&gt;&#10;                    &lt;answertext&gt;Email all students asking how much they study, and use all the data you get&lt;/answertext&gt;&#10;                    &lt;valuetype&gt;0&lt;/valuetype&gt;&#10;                &lt;/answer&gt;&#10;                &lt;answer&gt;&#10;                    &lt;guid&gt;37D329F774424CBEBD96E278B3CBC94F&lt;/guid&gt;&#10;                    &lt;answertext&gt;Give a clicker question in this class and force every student to respond&lt;/answertext&gt;&#10;                    &lt;valuetype&gt;0&lt;/valuetype&gt;&#10;                &lt;/answer&gt;&#10;                &lt;answer&gt;&#10;                    &lt;guid&gt;E460D8FF0A1C4B8292BA4184CCACE238&lt;/guid&gt;&#10;                    &lt;answertext&gt;Stand outside the student center and ask everyone going in how much they study&lt;/answertext&gt;&#10;                    &lt;valuetype&gt;0&lt;/valuetype&gt;&#10;                &lt;/answer&gt;&#10;            &lt;/answers&gt;&#10;        &lt;/multichoice&gt;&#10;    &lt;/questions&gt;&#10;&lt;/questionlist&gt;"/>
  <p:tag name="HASRESULTS" val="False"/>
  <p:tag name="LIVECHARTING" val="False"/>
  <p:tag name="AUTOOPENPOLL" val="True"/>
  <p:tag name="AUTOFORMATCHART" val="True"/>
</p:tagLst>
</file>

<file path=ppt/tags/tag29.xml><?xml version="1.0" encoding="utf-8"?>
<p:tagLst xmlns:a="http://schemas.openxmlformats.org/drawingml/2006/main" xmlns:r="http://schemas.openxmlformats.org/officeDocument/2006/relationships" xmlns:p="http://schemas.openxmlformats.org/presentationml/2006/main">
  <p:tag name="ZEROBASED" val="False"/>
</p:tagLst>
</file>

<file path=ppt/tags/tag30.xml><?xml version="1.0" encoding="utf-8"?>
<p:tagLst xmlns:a="http://schemas.openxmlformats.org/drawingml/2006/main" xmlns:r="http://schemas.openxmlformats.org/officeDocument/2006/relationships" xmlns:p="http://schemas.openxmlformats.org/presentationml/2006/main">
  <p:tag name="DELIMITERS" val="3.1"/>
</p:tagLst>
</file>

<file path=ppt/tags/tag31.xml><?xml version="1.0" encoding="utf-8"?>
<p:tagLst xmlns:a="http://schemas.openxmlformats.org/drawingml/2006/main" xmlns:r="http://schemas.openxmlformats.org/officeDocument/2006/relationships" xmlns:p="http://schemas.openxmlformats.org/presentationml/2006/main">
  <p:tag name="DELIMITERS" val="3.1"/>
</p:tagLst>
</file>

<file path=ppt/tags/tag32.xml><?xml version="1.0" encoding="utf-8"?>
<p:tagLst xmlns:a="http://schemas.openxmlformats.org/drawingml/2006/main" xmlns:r="http://schemas.openxmlformats.org/officeDocument/2006/relationships" xmlns:p="http://schemas.openxmlformats.org/presentationml/2006/main">
  <p:tag name="DELIMITERS" val="3.1"/>
</p:tagLst>
</file>

<file path=ppt/tags/tag33.xml><?xml version="1.0" encoding="utf-8"?>
<p:tagLst xmlns:a="http://schemas.openxmlformats.org/drawingml/2006/main" xmlns:r="http://schemas.openxmlformats.org/officeDocument/2006/relationships" xmlns:p="http://schemas.openxmlformats.org/presentationml/2006/main">
  <p:tag name="DELIMITERS" val="3.1"/>
</p:tagLst>
</file>

<file path=ppt/tags/tag34.xml><?xml version="1.0" encoding="utf-8"?>
<p:tagLst xmlns:a="http://schemas.openxmlformats.org/drawingml/2006/main" xmlns:r="http://schemas.openxmlformats.org/officeDocument/2006/relationships" xmlns:p="http://schemas.openxmlformats.org/presentationml/2006/main">
  <p:tag name="DELIMITERS" val="3.1"/>
  <p:tag name="SLIDEGUID" val="43E0D191053B4245B08C86FD1142279F"/>
  <p:tag name="SLIDEID" val="43E0D191053B4245B08C86FD1142279F"/>
  <p:tag name="SLIDEORDER" val="1"/>
  <p:tag name="SLIDETYPE" val="Q"/>
  <p:tag name="DEMOGRAPHIC" val="False"/>
  <p:tag name="SPEEDSCORING" val="False"/>
  <p:tag name="CORRECTPOINTVALUE" val="100"/>
  <p:tag name="INCORRECTPOINTVALUE" val="0"/>
  <p:tag name="ZEROBASED" val="False"/>
  <p:tag name="QUESTIONALIAS" val="If we were to run the question all by itself in the newspaper with a request for responses, could we trust the results?"/>
  <p:tag name="VALUEFORMAT" val="0%"/>
  <p:tag name="ANSWERSALIAS" val="Yes|smicln|No"/>
  <p:tag name="TOTALRESPONSES" val="25"/>
  <p:tag name="RESPONSECOUNT" val="25"/>
  <p:tag name="SLICED" val="False"/>
  <p:tag name="RESPONSES" val="1;1;2;1;1;1;2;2;1;2;1;1;1;1;2;2;1;1;1;1;1;1;1;1;2;"/>
  <p:tag name="CHARTSTRINGSTD" val="18 7"/>
  <p:tag name="CHARTSTRINGREV" val="7 18"/>
  <p:tag name="CHARTSTRINGSTDPER" val="0.72 0.28"/>
  <p:tag name="CHARTSTRINGREVPER" val="0.28 0.72"/>
  <p:tag name="VALUES" val="No Value|smicln|No Value"/>
  <p:tag name="RESPONSESGATHERED" val="False"/>
  <p:tag name="ANONYMOUSTEMP" val="False"/>
  <p:tag name="TPQUESTIONXML" val="﻿&lt;?xml version=&quot;1.0&quot; encoding=&quot;utf-8&quot;?&gt;&#10;&lt;questionlist&gt;&#10;    &lt;properties&gt;&#10;        &lt;guid&gt;4E92E5F448B24C24B3C2FAE34934C17F&lt;/guid&gt;&#10;        &lt;description /&gt;&#10;        &lt;date&gt;5/24/2017 2:39:0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7DAC26A3EAF14474BA4EBDACDFEE55A1&lt;/guid&gt;&#10;            &lt;repollguid&gt;B1168F1C20AC4EA69AB8425CFF9BD11C&lt;/repollguid&gt;&#10;            &lt;sourceid&gt;3FE687C822FC4F87A25CBAAC97059761&lt;/sourceid&gt;&#10;            &lt;questiontext&gt;If we were to run the question all by itself in the newspaper with a request for responses, could we trust the results?&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2533E8A67B7944988F2AE3B504F4201D&lt;/guid&gt;&#10;                    &lt;answertext&gt;Yes &lt;/answertext&gt;&#10;                    &lt;valuetype&gt;0&lt;/valuetype&gt;&#10;                &lt;/answer&gt;&#10;                &lt;answer&gt;&#10;                    &lt;guid&gt;E1482C8E7A634A2D95D4F7AAE8CC98E3&lt;/guid&gt;&#10;                    &lt;answertext&gt;No&lt;/answertext&gt;&#10;                    &lt;valuetype&gt;0&lt;/valuetype&gt;&#10;                &lt;/answer&gt;&#10;            &lt;/answers&gt;&#10;        &lt;/multichoice&gt;&#10;    &lt;/questions&gt;&#10;&lt;/questionlist&gt;"/>
  <p:tag name="TYPE" val="MultiChoiceSlide"/>
  <p:tag name="LIVECHARTING" val="False"/>
  <p:tag name="AUTOOPENPOLL" val="True"/>
  <p:tag name="AUTOFORMATCHART" val="True"/>
  <p:tag name="HASRESULTS" val="False"/>
</p:tagLst>
</file>

<file path=ppt/tags/tag35.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6"/>
  <p:tag name="FONTSIZE" val="37"/>
  <p:tag name="BULLETTYPE" val="ppBulletArabicPeriod"/>
  <p:tag name="ANSWERTEXT" val="Yes&#10;No"/>
  <p:tag name="ZEROBASED" val="False"/>
</p:tagLst>
</file>

<file path=ppt/tags/tag36.xml><?xml version="1.0" encoding="utf-8"?>
<p:tagLst xmlns:a="http://schemas.openxmlformats.org/drawingml/2006/main" xmlns:r="http://schemas.openxmlformats.org/officeDocument/2006/relationships" xmlns:p="http://schemas.openxmlformats.org/presentationml/2006/main">
  <p:tag name="DELIMITERS" val="3.1"/>
  <p:tag name="SLIDEGUID" val="042261DD019B441C8FD4E0B7B1918744"/>
  <p:tag name="SLIDEID" val="042261DD019B441C8FD4E0B7B1918744"/>
  <p:tag name="SLIDEORDER" val="1"/>
  <p:tag name="SLIDETYPE" val="Q"/>
  <p:tag name="DEMOGRAPHIC" val="False"/>
  <p:tag name="SPEEDSCORING" val="False"/>
  <p:tag name="CORRECTPOINTVALUE" val="100"/>
  <p:tag name="INCORRECTPOINTVALUE" val="0"/>
  <p:tag name="ZEROBASED" val="False"/>
  <p:tag name="VALUEFORMAT" val="0%"/>
  <p:tag name="TOTALRESPONSES" val="24"/>
  <p:tag name="RESPONSECOUNT" val="24"/>
  <p:tag name="SLICED" val="False"/>
  <p:tag name="RESPONSES" val="1;1;1;1;2;1;1;1;1;1;1;1;1;1;1;1;1;1;1;1;1;1;1;1;-;"/>
  <p:tag name="CHARTSTRINGSTD" val="23 1"/>
  <p:tag name="CHARTSTRINGREV" val="1 23"/>
  <p:tag name="CHARTSTRINGSTDPER" val="0.958333333333333 0.0416666666666667"/>
  <p:tag name="CHARTSTRINGREVPER" val="0.0416666666666667 0.958333333333333"/>
  <p:tag name="QUESTIONALIAS" val="Newsday conducted a random sample of all US adults, and asked them the same question, without any additional leading material 91% said “yes”.  Do you think the true proportion of parents who are happy they had children is close to 91%?"/>
  <p:tag name="ANSWERSALIAS" val=" (a) Yes|smicln| (b) No"/>
  <p:tag name="VALUES" val="No Value|smicln|No Value"/>
  <p:tag name="RESPONSESGATHERED" val="False"/>
  <p:tag name="ANONYMOUSTEMP" val="False"/>
  <p:tag name="TYPE" val="MultiChoiceSlide"/>
  <p:tag name="TPQUESTIONXML" val="﻿&lt;?xml version=&quot;1.0&quot; encoding=&quot;utf-8&quot;?&gt;&#10;&lt;questionlist&gt;&#10;    &lt;properties&gt;&#10;        &lt;guid&gt;2458E23A08A94E78995A8229C94A0C94&lt;/guid&gt;&#10;        &lt;description /&gt;&#10;        &lt;date&gt;5/24/2017 2:39:0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56897A05CD5D4E269C50BD7422956E55&lt;/guid&gt;&#10;            &lt;repollguid&gt;38DCC40F56C84F0C86DB2E9A376AB879&lt;/repollguid&gt;&#10;            &lt;sourceid&gt;B56E8D4E19864A7EB50EC4BABBEFCFF9&lt;/sourceid&gt;&#10;            &lt;questiontext&gt;Newsday conducted a random sample of all US adults, and asked them the same question, without any additional leading material91% said “yes”.  Do you think the true proportion of parents who are happy they had children is close to 91%?&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3A50498A256E48C9B9C4BBC7471E8698&lt;/guid&gt;&#10;                    &lt;answertext&gt;  Yes&lt;/answertext&gt;&#10;                    &lt;valuetype&gt;0&lt;/valuetype&gt;&#10;                &lt;/answer&gt;&#10;                &lt;answer&gt;&#10;                    &lt;guid&gt;39AC86ADD2F444EB9CFC92C1BEF2BFEE&lt;/guid&gt;&#10;                    &lt;answertext&gt;  No&lt;/answertext&gt;&#10;                    &lt;valuetype&gt;0&lt;/valuetype&gt;&#10;                &lt;/answer&gt;&#10;            &lt;/answers&gt;&#10;        &lt;/multichoice&gt;&#10;    &lt;/questions&gt;&#10;&lt;/questionlist&gt;"/>
  <p:tag name="LIVECHARTING" val="False"/>
  <p:tag name="AUTOOPENPOLL" val="True"/>
  <p:tag name="AUTOFORMATCHART" val="True"/>
  <p:tag name="HASRESULTS" val="False"/>
</p:tagLst>
</file>

<file path=ppt/tags/tag37.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16"/>
  <p:tag name="FONTSIZE" val="29"/>
  <p:tag name="BULLETTYPE" val="ppBulletArabicPeriod"/>
  <p:tag name="ANSWERTEXT" val=" (a) Yes&#10; (b) No"/>
  <p:tag name="ZEROBASED" val="False"/>
</p:tagLst>
</file>

<file path=ppt/tags/tag38.xml><?xml version="1.0" encoding="utf-8"?>
<p:tagLst xmlns:a="http://schemas.openxmlformats.org/drawingml/2006/main" xmlns:r="http://schemas.openxmlformats.org/officeDocument/2006/relationships" xmlns:p="http://schemas.openxmlformats.org/presentationml/2006/main">
  <p:tag name="DELIMITERS" val="3.1"/>
</p:tagLst>
</file>

<file path=ppt/tags/tag39.xml><?xml version="1.0" encoding="utf-8"?>
<p:tagLst xmlns:a="http://schemas.openxmlformats.org/drawingml/2006/main" xmlns:r="http://schemas.openxmlformats.org/officeDocument/2006/relationships" xmlns:p="http://schemas.openxmlformats.org/presentationml/2006/main">
  <p:tag name="DELIMITERS" val="3.1"/>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4140</TotalTime>
  <Words>2650</Words>
  <Application>Microsoft Office PowerPoint</Application>
  <PresentationFormat>On-screen Show (4:3)</PresentationFormat>
  <Paragraphs>771</Paragraphs>
  <Slides>38</Slides>
  <Notes>2</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Median</vt:lpstr>
      <vt:lpstr>PowerPoint Presentation</vt:lpstr>
      <vt:lpstr>Sample vs. Population</vt:lpstr>
      <vt:lpstr>State whether the data in the following description are best described as a population or a sample.  A survey to analyze student participation in LCCC’s Welcome Week is emailed to 50 LCCC students and all of them respond.</vt:lpstr>
      <vt:lpstr>PowerPoint Presentation</vt:lpstr>
      <vt:lpstr>PowerPoint Presentation</vt:lpstr>
      <vt:lpstr>Dewey Defeats Truman?</vt:lpstr>
      <vt:lpstr>Dewey Defeats Truman?</vt:lpstr>
      <vt:lpstr>Dewey Defeats Truman?</vt:lpstr>
      <vt:lpstr>Sampling Bias</vt:lpstr>
      <vt:lpstr>PowerPoint Presentation</vt:lpstr>
      <vt:lpstr>In a study to determine the proportion of all students at our college that believe that they are talented in the subject of mathematics, we survey all students enrolled in Multivariable Calculus.  Is this method of data collection biased?</vt:lpstr>
      <vt:lpstr>Can you avoid sampling bias?</vt:lpstr>
      <vt:lpstr>Lincoln’s Gettysburg Address</vt:lpstr>
      <vt:lpstr>Dotplot of Sample Averages (Sample Chosen by MTHM 168 Students)</vt:lpstr>
      <vt:lpstr>Can you avoid sampling bias?</vt:lpstr>
      <vt:lpstr>Random Sampling</vt:lpstr>
      <vt:lpstr>Selecting a Random Sample</vt:lpstr>
      <vt:lpstr>“Random” Numbers</vt:lpstr>
      <vt:lpstr>My Randomly Selected Words</vt:lpstr>
      <vt:lpstr>PowerPoint Presentation</vt:lpstr>
      <vt:lpstr>With and Without Random Sampling</vt:lpstr>
      <vt:lpstr>Random vs. Non-Random Sampling</vt:lpstr>
      <vt:lpstr>Bowl of Soup Analogy</vt:lpstr>
      <vt:lpstr>Simple Random Sample</vt:lpstr>
      <vt:lpstr>Which of the following sampling methods produces a random sample from the given population?</vt:lpstr>
      <vt:lpstr>Realities of Sampling</vt:lpstr>
      <vt:lpstr>Bad Methods of Sampling</vt:lpstr>
      <vt:lpstr>Bad Methods of Sampling</vt:lpstr>
      <vt:lpstr>PowerPoint Presentation</vt:lpstr>
      <vt:lpstr>Suppose you want to estimate the average number of hours that students at our college spend studying each week.  Which of the following is the best method of sampling?</vt:lpstr>
      <vt:lpstr>PowerPoint Presentation</vt:lpstr>
      <vt:lpstr>Other Forms of Bias</vt:lpstr>
      <vt:lpstr>Question Wording</vt:lpstr>
      <vt:lpstr>Context</vt:lpstr>
      <vt:lpstr>If we were to run the question all by itself in the newspaper with a request for responses, could we trust the results?</vt:lpstr>
      <vt:lpstr>Newsday conducted a random sample of all US adults, and asked them the same question, without any additional leading material 91% said “yes”.  Do you think the true proportion of parents who are happy they had children is close to 91%?</vt:lpstr>
      <vt:lpstr>Summary</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 101:  Data Analysis and Statistical Inference</dc:title>
  <dc:creator>Kari</dc:creator>
  <cp:lastModifiedBy>Nadezhda Berezyuk</cp:lastModifiedBy>
  <cp:revision>145</cp:revision>
  <dcterms:created xsi:type="dcterms:W3CDTF">2011-08-23T18:19:54Z</dcterms:created>
  <dcterms:modified xsi:type="dcterms:W3CDTF">2019-09-18T10:39:54Z</dcterms:modified>
</cp:coreProperties>
</file>