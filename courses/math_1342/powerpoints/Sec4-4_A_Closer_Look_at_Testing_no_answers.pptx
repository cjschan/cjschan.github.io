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1"/>
  </p:notesMasterIdLst>
  <p:sldIdLst>
    <p:sldId id="257" r:id="rId2"/>
    <p:sldId id="266" r:id="rId3"/>
    <p:sldId id="268" r:id="rId4"/>
    <p:sldId id="269" r:id="rId5"/>
    <p:sldId id="270" r:id="rId6"/>
    <p:sldId id="271" r:id="rId7"/>
    <p:sldId id="272" r:id="rId8"/>
    <p:sldId id="273" r:id="rId9"/>
    <p:sldId id="258" r:id="rId10"/>
    <p:sldId id="260" r:id="rId11"/>
    <p:sldId id="274" r:id="rId12"/>
    <p:sldId id="275" r:id="rId13"/>
    <p:sldId id="302" r:id="rId14"/>
    <p:sldId id="303" r:id="rId15"/>
    <p:sldId id="262" r:id="rId16"/>
    <p:sldId id="263" r:id="rId17"/>
    <p:sldId id="261" r:id="rId18"/>
    <p:sldId id="304" r:id="rId19"/>
    <p:sldId id="279" r:id="rId20"/>
    <p:sldId id="286" r:id="rId21"/>
    <p:sldId id="281" r:id="rId22"/>
    <p:sldId id="282" r:id="rId23"/>
    <p:sldId id="283" r:id="rId24"/>
    <p:sldId id="284" r:id="rId25"/>
    <p:sldId id="285" r:id="rId26"/>
    <p:sldId id="287" r:id="rId27"/>
    <p:sldId id="288" r:id="rId28"/>
    <p:sldId id="289" r:id="rId29"/>
    <p:sldId id="290" r:id="rId30"/>
    <p:sldId id="291" r:id="rId31"/>
    <p:sldId id="292" r:id="rId32"/>
    <p:sldId id="305" r:id="rId33"/>
    <p:sldId id="294" r:id="rId34"/>
    <p:sldId id="295" r:id="rId35"/>
    <p:sldId id="306" r:id="rId36"/>
    <p:sldId id="298" r:id="rId37"/>
    <p:sldId id="299" r:id="rId38"/>
    <p:sldId id="300" r:id="rId39"/>
    <p:sldId id="301" r:id="rId40"/>
  </p:sldIdLst>
  <p:sldSz cx="9144000" cy="6858000" type="screen4x3"/>
  <p:notesSz cx="6858000" cy="9144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2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2427648"/>
        <c:axId val="182429184"/>
        <c:axId val="52299520"/>
      </c:bar3DChart>
      <c:catAx>
        <c:axId val="182427648"/>
        <c:scaling>
          <c:orientation val="minMax"/>
        </c:scaling>
        <c:delete val="0"/>
        <c:axPos val="b"/>
        <c:majorTickMark val="out"/>
        <c:minorTickMark val="none"/>
        <c:tickLblPos val="nextTo"/>
        <c:crossAx val="182429184"/>
        <c:crosses val="autoZero"/>
        <c:auto val="1"/>
        <c:lblAlgn val="ctr"/>
        <c:lblOffset val="100"/>
        <c:noMultiLvlLbl val="0"/>
      </c:catAx>
      <c:valAx>
        <c:axId val="1824291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2427648"/>
        <c:crosses val="autoZero"/>
        <c:crossBetween val="between"/>
      </c:valAx>
      <c:serAx>
        <c:axId val="52299520"/>
        <c:scaling>
          <c:orientation val="minMax"/>
        </c:scaling>
        <c:delete val="0"/>
        <c:axPos val="b"/>
        <c:majorTickMark val="out"/>
        <c:minorTickMark val="none"/>
        <c:tickLblPos val="nextTo"/>
        <c:crossAx val="182429184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90B2A-203A-468E-9D74-DF48EECD15EF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7805D-D2A2-4B59-8DE1-9F75261F9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1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6AF66F-DB90-4906-843B-2F86E5B385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53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4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4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AE6D4-3EF4-4C43-A97B-ACE203E218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37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AE6D4-3EF4-4C43-A97B-ACE203E218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37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2C3D7-1610-45B0-8C83-57ADD282B1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96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Consider having your students act this out in class</a:t>
            </a:r>
            <a:r>
              <a:rPr lang="en-US" baseline="0" dirty="0" smtClean="0"/>
              <a:t>, each reading aloud a different part.  it’s very fun!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C74FF-5D9E-4B66-B80F-3FF5A027F02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63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C74FF-5D9E-4B66-B80F-3FF5A027F02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23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5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5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659EBBA-F8CD-4EE1-946E-DCD572FD332D}" type="datetimeFigureOut">
              <a:rPr lang="en-US" smtClean="0"/>
              <a:t>7/24/2017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E0DB6A29-469F-41AC-9893-A4F398CCA4F4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3524131262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6326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5956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77280" y="3886200"/>
            <a:ext cx="853440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914400" indent="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0239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84371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0" y="1508760"/>
            <a:ext cx="9144000" cy="53492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hyperlink" Target="http://www.nature.com/nature/journal/v283/n5744/abs/283290a0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ature.com/nature/journal/v283/n5744/abs/283290a0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2.wmf"/><Relationship Id="rId3" Type="http://schemas.openxmlformats.org/officeDocument/2006/relationships/tags" Target="../tags/tag8.xml"/><Relationship Id="rId7" Type="http://schemas.openxmlformats.org/officeDocument/2006/relationships/image" Target="../media/image9.wmf"/><Relationship Id="rId12" Type="http://schemas.openxmlformats.org/officeDocument/2006/relationships/oleObject" Target="../embeddings/oleObject5.bin"/><Relationship Id="rId2" Type="http://schemas.openxmlformats.org/officeDocument/2006/relationships/tags" Target="../tags/tag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1.wmf"/><Relationship Id="rId5" Type="http://schemas.openxmlformats.org/officeDocument/2006/relationships/notesSlide" Target="../notesSlides/notesSlide2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5" Type="http://schemas.openxmlformats.org/officeDocument/2006/relationships/hyperlink" Target="http://xkcd.com/882/" TargetMode="Externa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hyperlink" Target="http://xkcd.com/882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chronicle.com/article/Amid-a-Sea-of-False-Findings/228479/?cid=at&amp;utm_source=at&amp;utm_medium=en" TargetMode="External"/><Relationship Id="rId2" Type="http://schemas.openxmlformats.org/officeDocument/2006/relationships/hyperlink" Target="http://journals.plos.org/plosmedicine/article?id=10.1371/journal.pmed.002012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ciencemag.org/content/349/6251/aac4716.full.pdf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notesSlide" Target="../notesSlides/notesSlide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1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1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mstat.org/newsroom/pressreleases/P-ValueStatemen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4.4: </a:t>
            </a: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A Closer Look at Testing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027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of the Day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00200"/>
            <a:ext cx="8839200" cy="2057400"/>
          </a:xfrm>
          <a:prstGeom prst="roundRect">
            <a:avLst/>
          </a:prstGeom>
          <a:solidFill>
            <a:schemeClr val="bg2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Does choice of mate improve offspring fitness (in fruit flies)? </a:t>
            </a:r>
            <a:endParaRPr lang="en-US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038600"/>
            <a:ext cx="3962400" cy="22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6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26406" y="76200"/>
            <a:ext cx="9041394" cy="2057400"/>
          </a:xfrm>
        </p:spPr>
        <p:txBody>
          <a:bodyPr>
            <a:normAutofit fontScale="90000"/>
          </a:bodyPr>
          <a:lstStyle/>
          <a:p>
            <a:r>
              <a:rPr lang="en-US" dirty="0"/>
              <a:t>A study investigated whether mate choice can improve offspring fitness in fruit flies and obtained a p-value &lt; 0.01.  Their conclusion, based on ⍺ = 0.05, should be:</a:t>
            </a: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209800"/>
            <a:ext cx="6324600" cy="38100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Reject H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; mate choice improves offspring fitness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Reject </a:t>
            </a:r>
            <a:r>
              <a:rPr lang="en-US" sz="2800" dirty="0"/>
              <a:t>H</a:t>
            </a:r>
            <a:r>
              <a:rPr lang="en-US" sz="2800" baseline="-25000" dirty="0"/>
              <a:t>0</a:t>
            </a:r>
            <a:r>
              <a:rPr lang="en-US" sz="2800" dirty="0"/>
              <a:t>; </a:t>
            </a:r>
            <a:r>
              <a:rPr lang="en-US" sz="2800" dirty="0" smtClean="0"/>
              <a:t>cannot conclude that </a:t>
            </a:r>
            <a:r>
              <a:rPr lang="en-US" sz="2800" dirty="0"/>
              <a:t>mate choice improves offspring fitness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Do </a:t>
            </a:r>
            <a:r>
              <a:rPr lang="en-US" sz="2800" dirty="0"/>
              <a:t>not reject H</a:t>
            </a:r>
            <a:r>
              <a:rPr lang="en-US" sz="2800" baseline="-25000" dirty="0"/>
              <a:t>0</a:t>
            </a:r>
            <a:r>
              <a:rPr lang="en-US" sz="2800" dirty="0"/>
              <a:t>; mate choice improves offspring fitness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Do not reject </a:t>
            </a:r>
            <a:r>
              <a:rPr lang="en-US" sz="2800" dirty="0"/>
              <a:t>H</a:t>
            </a:r>
            <a:r>
              <a:rPr lang="en-US" sz="2800" baseline="-25000" dirty="0"/>
              <a:t>0</a:t>
            </a:r>
            <a:r>
              <a:rPr lang="en-US" sz="2800" dirty="0"/>
              <a:t>; cannot conclude that mate choice improves offspring fitness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046" y="6150114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Partridge, L. </a:t>
            </a:r>
            <a:r>
              <a:rPr lang="en-US" sz="2000" dirty="0" smtClean="0">
                <a:hlinkClick r:id="rId4"/>
              </a:rPr>
              <a:t>Mate </a:t>
            </a:r>
            <a:r>
              <a:rPr lang="en-US" sz="2000" dirty="0">
                <a:hlinkClick r:id="rId4"/>
              </a:rPr>
              <a:t>choice increases a component of offspring fitness in fruit </a:t>
            </a:r>
            <a:r>
              <a:rPr lang="en-US" sz="2000" dirty="0" smtClean="0">
                <a:hlinkClick r:id="rId4"/>
              </a:rPr>
              <a:t>flies</a:t>
            </a:r>
            <a:r>
              <a:rPr lang="en-US" sz="2000" dirty="0" smtClean="0"/>
              <a:t> </a:t>
            </a:r>
            <a:r>
              <a:rPr lang="en-US" sz="2000" i="1" dirty="0"/>
              <a:t>Nature, </a:t>
            </a:r>
            <a:r>
              <a:rPr lang="en-US" sz="2000" b="1" dirty="0" smtClean="0"/>
              <a:t>283: </a:t>
            </a:r>
            <a:r>
              <a:rPr lang="en-US" sz="2000" dirty="0" smtClean="0"/>
              <a:t>290-291. </a:t>
            </a:r>
            <a:r>
              <a:rPr lang="en-US" sz="2000" dirty="0"/>
              <a:t>1/17/80.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50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Study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352" y="6130291"/>
            <a:ext cx="9126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Partridge, L. </a:t>
            </a:r>
            <a:r>
              <a:rPr lang="en-US" sz="2000" dirty="0" smtClean="0">
                <a:hlinkClick r:id="rId2"/>
              </a:rPr>
              <a:t>Mate </a:t>
            </a:r>
            <a:r>
              <a:rPr lang="en-US" sz="2000" dirty="0">
                <a:hlinkClick r:id="rId2"/>
              </a:rPr>
              <a:t>choice increases a component of offspring fitness in fruit </a:t>
            </a:r>
            <a:r>
              <a:rPr lang="en-US" sz="2000" dirty="0" smtClean="0">
                <a:hlinkClick r:id="rId2"/>
              </a:rPr>
              <a:t>flies</a:t>
            </a:r>
            <a:r>
              <a:rPr lang="en-US" sz="2000" dirty="0" smtClean="0"/>
              <a:t> </a:t>
            </a:r>
            <a:r>
              <a:rPr lang="en-US" sz="2000" i="1" dirty="0"/>
              <a:t>Nature, </a:t>
            </a:r>
            <a:r>
              <a:rPr lang="en-US" sz="2000" b="1" dirty="0" smtClean="0"/>
              <a:t>283: </a:t>
            </a:r>
            <a:r>
              <a:rPr lang="en-US" sz="2000" dirty="0" smtClean="0"/>
              <a:t>290-291. </a:t>
            </a:r>
            <a:r>
              <a:rPr lang="en-US" sz="2000" dirty="0"/>
              <a:t>1/17/80.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524001"/>
            <a:ext cx="9144000" cy="3810000"/>
          </a:xfrm>
        </p:spPr>
        <p:txBody>
          <a:bodyPr>
            <a:normAutofit/>
          </a:bodyPr>
          <a:lstStyle/>
          <a:p>
            <a:r>
              <a:rPr lang="en-US" sz="3000" dirty="0" smtClean="0"/>
              <a:t>Paper published in Nature with p-value &lt; 0.01</a:t>
            </a:r>
          </a:p>
          <a:p>
            <a:r>
              <a:rPr lang="en-US" sz="3000" dirty="0" smtClean="0"/>
              <a:t>Concluded, based on the data, that mate choice improves offspring fitness</a:t>
            </a:r>
          </a:p>
          <a:p>
            <a:r>
              <a:rPr lang="en-US" sz="3000" dirty="0" smtClean="0"/>
              <a:t>This went against conventional wisdom</a:t>
            </a:r>
          </a:p>
          <a:p>
            <a:r>
              <a:rPr lang="en-US" sz="3000" dirty="0" smtClean="0"/>
              <a:t>Researchers tried to replicate the results…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2937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915"/>
            <a:ext cx="5715000" cy="68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4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Fruit Fly Mate Choice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88" y="1524000"/>
            <a:ext cx="9120612" cy="462368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Took 600 female fruit flies and randomly divided them into two groups: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000000"/>
                </a:solidFill>
              </a:rPr>
              <a:t>300 got put in a cage with 900 males (mate choice)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000000"/>
                </a:solidFill>
              </a:rPr>
              <a:t>300 were placed in individual vials with only one male each (no mate choice)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000000"/>
                </a:solidFill>
              </a:rPr>
              <a:t>After mating, females were separated from the males and put in egg-laying chambers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000000"/>
                </a:solidFill>
              </a:rPr>
              <a:t>200 larvae from each chamber was taken and placed in a cage with 200 mutant flies (for competition)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000000"/>
                </a:solidFill>
              </a:rPr>
              <a:t>This was repeated 10 times/day for 5 days (50 runs)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147685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Schaeffer, S.W., Brown, C.J., Anderson, W.W. (1984). “Does mate choice affect fitness?” </a:t>
            </a:r>
            <a:r>
              <a:rPr lang="en-US" sz="2000" i="1" dirty="0"/>
              <a:t>Genetics, </a:t>
            </a:r>
            <a:r>
              <a:rPr lang="en-US" sz="2000" b="1" dirty="0"/>
              <a:t>107</a:t>
            </a:r>
            <a:r>
              <a:rPr lang="en-US" sz="2000" dirty="0"/>
              <a:t>: s94</a:t>
            </a:r>
            <a:r>
              <a:rPr lang="en-US" sz="2000" dirty="0" smtClean="0"/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20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 Choice and Offspring Survival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dirty="0" smtClean="0"/>
              <a:t>6,067 of the 10,000 mate choice larvae survived and </a:t>
            </a:r>
            <a:r>
              <a:rPr lang="en-US" dirty="0" smtClean="0">
                <a:solidFill>
                  <a:srgbClr val="000000"/>
                </a:solidFill>
              </a:rPr>
              <a:t>5,976 of the 10,000 no mate choice larvae survived</a:t>
            </a:r>
          </a:p>
          <a:p>
            <a:pPr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  <a:p>
            <a:pPr>
              <a:spcAft>
                <a:spcPts val="0"/>
              </a:spcAft>
            </a:pP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p-value: 0.102</a:t>
            </a:r>
          </a:p>
          <a:p>
            <a:pPr marL="0" indent="0">
              <a:spcAft>
                <a:spcPts val="0"/>
              </a:spcAft>
              <a:buNone/>
            </a:pPr>
            <a:endParaRPr lang="en-US" dirty="0" smtClean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754"/>
          <a:stretch/>
        </p:blipFill>
        <p:spPr>
          <a:xfrm>
            <a:off x="2971800" y="3681332"/>
            <a:ext cx="4953000" cy="3176668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709524"/>
              </p:ext>
            </p:extLst>
          </p:nvPr>
        </p:nvGraphicFramePr>
        <p:xfrm>
          <a:off x="381000" y="3124200"/>
          <a:ext cx="6132286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4" imgW="2146300" imgH="266700" progId="Equation.DSMT4">
                  <p:embed/>
                </p:oleObj>
              </mc:Choice>
              <mc:Fallback>
                <p:oleObj name="Equation" r:id="rId4" imgW="2146300" imgH="266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3124200"/>
                        <a:ext cx="6132286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945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 Choice and Offspring Survival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studies investigated the same topic</a:t>
            </a:r>
          </a:p>
          <a:p>
            <a:pPr lvl="1"/>
            <a:r>
              <a:rPr lang="en-US" dirty="0" smtClean="0"/>
              <a:t>One study found significant results</a:t>
            </a:r>
          </a:p>
          <a:p>
            <a:pPr lvl="1"/>
            <a:r>
              <a:rPr lang="en-US" dirty="0" smtClean="0"/>
              <a:t>One study found insignificant results</a:t>
            </a:r>
          </a:p>
          <a:p>
            <a:r>
              <a:rPr lang="en-US" dirty="0" smtClean="0"/>
              <a:t>Conflicting results?!?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8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963305"/>
            <a:ext cx="8077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There are four possibilities: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Errors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15058"/>
              </p:ext>
            </p:extLst>
          </p:nvPr>
        </p:nvGraphicFramePr>
        <p:xfrm>
          <a:off x="914400" y="2148245"/>
          <a:ext cx="7696200" cy="1803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180"/>
                <a:gridCol w="2687320"/>
                <a:gridCol w="3314700"/>
              </a:tblGrid>
              <a:tr h="452362">
                <a:tc>
                  <a:txBody>
                    <a:bodyPr/>
                    <a:lstStyle/>
                    <a:p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Reject H</a:t>
                      </a:r>
                      <a:r>
                        <a:rPr lang="en-US" sz="320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Do not reject H</a:t>
                      </a:r>
                      <a:r>
                        <a:rPr lang="en-US" sz="320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019">
                <a:tc>
                  <a:txBody>
                    <a:bodyPr/>
                    <a:lstStyle/>
                    <a:p>
                      <a:r>
                        <a:rPr lang="en-US" sz="3200" b="1" dirty="0" smtClean="0"/>
                        <a:t>H</a:t>
                      </a:r>
                      <a:r>
                        <a:rPr lang="en-US" sz="3200" b="1" baseline="-25000" dirty="0" smtClean="0"/>
                        <a:t>0 </a:t>
                      </a:r>
                      <a:r>
                        <a:rPr lang="en-US" sz="3200" b="1" baseline="0" dirty="0" smtClean="0"/>
                        <a:t> true</a:t>
                      </a:r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ym typeface="Wingdings" pitchFamily="2" charset="2"/>
                        </a:rPr>
                        <a:t>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019">
                <a:tc>
                  <a:txBody>
                    <a:bodyPr/>
                    <a:lstStyle/>
                    <a:p>
                      <a:r>
                        <a:rPr lang="en-US" sz="3200" b="1" dirty="0" smtClean="0"/>
                        <a:t>H</a:t>
                      </a:r>
                      <a:r>
                        <a:rPr lang="en-US" sz="3200" b="1" baseline="-25000" dirty="0" smtClean="0"/>
                        <a:t>0</a:t>
                      </a:r>
                      <a:r>
                        <a:rPr lang="en-US" sz="3200" b="1" baseline="0" dirty="0" smtClean="0"/>
                        <a:t> false</a:t>
                      </a:r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sym typeface="Wingdings" pitchFamily="2" charset="2"/>
                        </a:rPr>
                        <a:t> 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429000" y="3291245"/>
            <a:ext cx="60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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73923" y="2667000"/>
            <a:ext cx="617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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01035" y="2728556"/>
            <a:ext cx="2563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TYPE I ERROR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05010" y="3338156"/>
            <a:ext cx="26705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TYPE II ERROR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217185" y="2870283"/>
            <a:ext cx="153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Truth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67200" y="15240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Decision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5399" y="4431030"/>
            <a:ext cx="80772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80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A Type I Error is rejecting a true null </a:t>
            </a:r>
          </a:p>
          <a:p>
            <a:pPr marL="457200" indent="-457200">
              <a:spcAft>
                <a:spcPts val="180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A Type II Error is not rejecting a false null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803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09600" y="1585912"/>
            <a:ext cx="8153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chemeClr val="tx1"/>
                </a:solidFill>
              </a:rPr>
              <a:t>A person is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innocent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until proven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guilty</a:t>
            </a:r>
            <a:r>
              <a:rPr lang="en-US" sz="3200" dirty="0"/>
              <a:t>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73148" y="2576511"/>
            <a:ext cx="8610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Evidence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must be beyond the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shadow of a doubt</a:t>
            </a:r>
            <a:r>
              <a:rPr lang="en-US" sz="3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86000" y="3963988"/>
            <a:ext cx="6400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chemeClr val="tx1"/>
                </a:solidFill>
              </a:rPr>
              <a:t>Types of mistakes in a verdict?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51672" y="4739481"/>
            <a:ext cx="548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Convict an innocent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231796" y="5487988"/>
            <a:ext cx="3810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Release a guilty</a:t>
            </a:r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1257300" y="838200"/>
            <a:ext cx="914400" cy="671512"/>
          </a:xfrm>
          <a:prstGeom prst="borderCallout1">
            <a:avLst>
              <a:gd name="adj1" fmla="val 17023"/>
              <a:gd name="adj2" fmla="val 108333"/>
              <a:gd name="adj3" fmla="val 141370"/>
              <a:gd name="adj4" fmla="val 203995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US" sz="3600" dirty="0">
                <a:solidFill>
                  <a:srgbClr val="000000"/>
                </a:solidFill>
              </a:rPr>
              <a:t>H</a:t>
            </a:r>
            <a:r>
              <a:rPr lang="en-US" sz="3600" baseline="-25000" dirty="0">
                <a:solidFill>
                  <a:srgbClr val="000000"/>
                </a:solidFill>
              </a:rPr>
              <a:t>o</a:t>
            </a:r>
          </a:p>
        </p:txBody>
      </p:sp>
      <p:sp>
        <p:nvSpPr>
          <p:cNvPr id="9" name="AutoShape 9"/>
          <p:cNvSpPr>
            <a:spLocks/>
          </p:cNvSpPr>
          <p:nvPr/>
        </p:nvSpPr>
        <p:spPr bwMode="auto">
          <a:xfrm>
            <a:off x="7589838" y="977900"/>
            <a:ext cx="914400" cy="760412"/>
          </a:xfrm>
          <a:prstGeom prst="borderCallout1">
            <a:avLst>
              <a:gd name="adj1" fmla="val 15032"/>
              <a:gd name="adj2" fmla="val -8333"/>
              <a:gd name="adj3" fmla="val 94662"/>
              <a:gd name="adj4" fmla="val -73624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US" sz="3600" dirty="0">
                <a:solidFill>
                  <a:srgbClr val="000000"/>
                </a:solidFill>
              </a:rPr>
              <a:t>H</a:t>
            </a:r>
            <a:r>
              <a:rPr lang="en-US" sz="3600" baseline="-250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0" name="AutoShape 10"/>
          <p:cNvSpPr>
            <a:spLocks/>
          </p:cNvSpPr>
          <p:nvPr/>
        </p:nvSpPr>
        <p:spPr bwMode="auto">
          <a:xfrm>
            <a:off x="7772400" y="3414712"/>
            <a:ext cx="914400" cy="609600"/>
          </a:xfrm>
          <a:prstGeom prst="borderCallout1">
            <a:avLst>
              <a:gd name="adj1" fmla="val 18750"/>
              <a:gd name="adj2" fmla="val -8333"/>
              <a:gd name="adj3" fmla="val -52606"/>
              <a:gd name="adj4" fmla="val -72398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US" sz="3200" dirty="0">
                <a:solidFill>
                  <a:srgbClr val="000000"/>
                </a:solidFill>
                <a:sym typeface="Symbol" pitchFamily="18" charset="2"/>
              </a:rPr>
              <a:t>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11" name="AutoShape 11"/>
          <p:cNvSpPr>
            <a:spLocks/>
          </p:cNvSpPr>
          <p:nvPr/>
        </p:nvSpPr>
        <p:spPr bwMode="auto">
          <a:xfrm>
            <a:off x="6593303" y="4878388"/>
            <a:ext cx="2286000" cy="609600"/>
          </a:xfrm>
          <a:prstGeom prst="borderCallout1">
            <a:avLst>
              <a:gd name="adj1" fmla="val 15032"/>
              <a:gd name="adj2" fmla="val -2630"/>
              <a:gd name="adj3" fmla="val 14703"/>
              <a:gd name="adj4" fmla="val -36865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Type I error</a:t>
            </a:r>
          </a:p>
        </p:txBody>
      </p:sp>
      <p:sp>
        <p:nvSpPr>
          <p:cNvPr id="12" name="AutoShape 12"/>
          <p:cNvSpPr>
            <a:spLocks/>
          </p:cNvSpPr>
          <p:nvPr/>
        </p:nvSpPr>
        <p:spPr bwMode="auto">
          <a:xfrm>
            <a:off x="6041796" y="5777707"/>
            <a:ext cx="2819400" cy="531812"/>
          </a:xfrm>
          <a:prstGeom prst="borderCallout1">
            <a:avLst>
              <a:gd name="adj1" fmla="val 15032"/>
              <a:gd name="adj2" fmla="val -2856"/>
              <a:gd name="adj3" fmla="val 13618"/>
              <a:gd name="adj4" fmla="val -33659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Type II error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Analogy to Law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5" name="AutoShape 10"/>
          <p:cNvSpPr>
            <a:spLocks/>
          </p:cNvSpPr>
          <p:nvPr/>
        </p:nvSpPr>
        <p:spPr bwMode="auto">
          <a:xfrm>
            <a:off x="304800" y="3480127"/>
            <a:ext cx="1905000" cy="1063300"/>
          </a:xfrm>
          <a:prstGeom prst="borderCallout1">
            <a:avLst>
              <a:gd name="adj1" fmla="val 1023"/>
              <a:gd name="adj2" fmla="val 2254"/>
              <a:gd name="adj3" fmla="val -26679"/>
              <a:gd name="adj4" fmla="val 33723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US" sz="3200" dirty="0">
                <a:solidFill>
                  <a:srgbClr val="000000"/>
                </a:solidFill>
                <a:sym typeface="Symbol" pitchFamily="18" charset="2"/>
              </a:rPr>
              <a:t>p-value from data</a:t>
            </a:r>
            <a:endParaRPr lang="en-US" sz="32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142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2" grpId="0" animBg="1" autoUpdateAnimBg="0"/>
      <p:bldP spid="1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 Choice and Offspring Fitness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Option #1:  The original study (p-value &lt; 0.01) made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Type I error</a:t>
            </a:r>
            <a:r>
              <a:rPr lang="en-US" dirty="0" smtClean="0"/>
              <a:t>, and H</a:t>
            </a:r>
            <a:r>
              <a:rPr lang="en-US" baseline="-25000" dirty="0" smtClean="0"/>
              <a:t>0</a:t>
            </a:r>
            <a:r>
              <a:rPr lang="en-US" dirty="0" smtClean="0"/>
              <a:t> is really true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Option #2: The second study (p-value = 0.102) made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Type II error</a:t>
            </a:r>
            <a:r>
              <a:rPr lang="en-US" dirty="0" smtClean="0"/>
              <a:t>, and H</a:t>
            </a:r>
            <a:r>
              <a:rPr lang="en-US" baseline="-25000" dirty="0" smtClean="0"/>
              <a:t>a</a:t>
            </a:r>
            <a:r>
              <a:rPr lang="en-US" dirty="0" smtClean="0"/>
              <a:t> is really true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 Option #3: No errors were made; different experimental settings yielded different results</a:t>
            </a:r>
          </a:p>
        </p:txBody>
      </p:sp>
    </p:spTree>
    <p:extLst>
      <p:ext uri="{BB962C8B-B14F-4D97-AF65-F5344CB8AC3E}">
        <p14:creationId xmlns:p14="http://schemas.microsoft.com/office/powerpoint/2010/main" val="30229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-14336" y="152400"/>
            <a:ext cx="9158335" cy="2667000"/>
          </a:xfrm>
        </p:spPr>
        <p:txBody>
          <a:bodyPr>
            <a:noAutofit/>
          </a:bodyPr>
          <a:lstStyle/>
          <a:p>
            <a:r>
              <a:rPr lang="en-US" sz="3200" dirty="0"/>
              <a:t>A new blood thinning drug is being tested against the current drug in a double-blind experiment. Is there evidence that the mean blood thinness rating is higher for the new drug?  Using </a:t>
            </a:r>
            <a:r>
              <a:rPr lang="en-US" sz="3200" i="1" dirty="0"/>
              <a:t>n</a:t>
            </a:r>
            <a:r>
              <a:rPr lang="en-US" sz="3200" dirty="0"/>
              <a:t> for the new drug and </a:t>
            </a:r>
            <a:r>
              <a:rPr lang="en-US" sz="3200" i="1" dirty="0"/>
              <a:t>o</a:t>
            </a:r>
            <a:r>
              <a:rPr lang="en-US" sz="3200" dirty="0"/>
              <a:t> for the old drug, which of the following are the null and alternative hypotheses?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0" y="3048000"/>
            <a:ext cx="5867400" cy="381000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 smtClean="0"/>
              <a:t>: µ</a:t>
            </a:r>
            <a:r>
              <a:rPr lang="en-US" baseline="-25000" dirty="0" smtClean="0"/>
              <a:t>n</a:t>
            </a:r>
            <a:r>
              <a:rPr lang="en-US" dirty="0" smtClean="0"/>
              <a:t> &gt; µ</a:t>
            </a:r>
            <a:r>
              <a:rPr lang="en-US" baseline="-25000" dirty="0" smtClean="0"/>
              <a:t>o</a:t>
            </a:r>
            <a:r>
              <a:rPr lang="en-US" dirty="0" smtClean="0"/>
              <a:t> 	 vs    H</a:t>
            </a:r>
            <a:r>
              <a:rPr lang="en-US" baseline="-25000" dirty="0" smtClean="0"/>
              <a:t>a</a:t>
            </a:r>
            <a:r>
              <a:rPr lang="en-US" dirty="0" smtClean="0"/>
              <a:t>: </a:t>
            </a:r>
            <a:r>
              <a:rPr lang="en-US" dirty="0"/>
              <a:t>µ</a:t>
            </a:r>
            <a:r>
              <a:rPr lang="en-US" baseline="-25000" dirty="0"/>
              <a:t>n</a:t>
            </a:r>
            <a:r>
              <a:rPr lang="en-US" dirty="0"/>
              <a:t> = µ</a:t>
            </a:r>
            <a:r>
              <a:rPr lang="en-US" baseline="-25000" dirty="0"/>
              <a:t>o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µ</a:t>
            </a:r>
            <a:r>
              <a:rPr lang="en-US" baseline="-25000" dirty="0"/>
              <a:t>n</a:t>
            </a:r>
            <a:r>
              <a:rPr lang="en-US" dirty="0"/>
              <a:t> = µ</a:t>
            </a:r>
            <a:r>
              <a:rPr lang="en-US" baseline="-25000" dirty="0"/>
              <a:t>o</a:t>
            </a:r>
            <a:r>
              <a:rPr lang="en-US" dirty="0"/>
              <a:t> </a:t>
            </a:r>
            <a:r>
              <a:rPr lang="en-US" dirty="0" smtClean="0"/>
              <a:t>	 </a:t>
            </a:r>
            <a:r>
              <a:rPr lang="en-US" dirty="0" smtClean="0">
                <a:sym typeface="Symbol"/>
              </a:rPr>
              <a:t>vs    </a:t>
            </a:r>
            <a:r>
              <a:rPr lang="en-US" dirty="0">
                <a:sym typeface="Symbol"/>
              </a:rPr>
              <a:t>H</a:t>
            </a:r>
            <a:r>
              <a:rPr lang="en-US" baseline="-25000" dirty="0">
                <a:sym typeface="Symbol"/>
              </a:rPr>
              <a:t>a</a:t>
            </a:r>
            <a:r>
              <a:rPr lang="en-US" dirty="0">
                <a:sym typeface="Symbol"/>
              </a:rPr>
              <a:t>: </a:t>
            </a:r>
            <a:r>
              <a:rPr lang="en-US" dirty="0"/>
              <a:t>µ</a:t>
            </a:r>
            <a:r>
              <a:rPr lang="en-US" baseline="-25000" dirty="0"/>
              <a:t>n</a:t>
            </a:r>
            <a:r>
              <a:rPr lang="en-US" dirty="0"/>
              <a:t> </a:t>
            </a:r>
            <a:r>
              <a:rPr lang="en-US" dirty="0" smtClean="0"/>
              <a:t>≠ µ</a:t>
            </a:r>
            <a:r>
              <a:rPr lang="en-US" baseline="-25000" dirty="0" smtClean="0"/>
              <a:t>o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µ</a:t>
            </a:r>
            <a:r>
              <a:rPr lang="en-US" baseline="-25000" dirty="0"/>
              <a:t>n</a:t>
            </a:r>
            <a:r>
              <a:rPr lang="en-US" dirty="0"/>
              <a:t> = µ</a:t>
            </a:r>
            <a:r>
              <a:rPr lang="en-US" baseline="-25000" dirty="0"/>
              <a:t>o</a:t>
            </a:r>
            <a:r>
              <a:rPr lang="en-US" dirty="0"/>
              <a:t> </a:t>
            </a:r>
            <a:r>
              <a:rPr lang="en-US" dirty="0" smtClean="0"/>
              <a:t>	 </a:t>
            </a:r>
            <a:r>
              <a:rPr lang="en-US" dirty="0" smtClean="0">
                <a:sym typeface="Symbol"/>
              </a:rPr>
              <a:t>vs    </a:t>
            </a:r>
            <a:r>
              <a:rPr lang="en-US" dirty="0">
                <a:sym typeface="Symbol"/>
              </a:rPr>
              <a:t>H</a:t>
            </a:r>
            <a:r>
              <a:rPr lang="en-US" baseline="-25000" dirty="0">
                <a:sym typeface="Symbol"/>
              </a:rPr>
              <a:t>a</a:t>
            </a:r>
            <a:r>
              <a:rPr lang="en-US" dirty="0">
                <a:sym typeface="Symbol"/>
              </a:rPr>
              <a:t>: </a:t>
            </a:r>
            <a:r>
              <a:rPr lang="en-US" dirty="0"/>
              <a:t>µ</a:t>
            </a:r>
            <a:r>
              <a:rPr lang="en-US" baseline="-25000" dirty="0"/>
              <a:t>n</a:t>
            </a:r>
            <a:r>
              <a:rPr lang="en-US" dirty="0"/>
              <a:t> &gt; </a:t>
            </a:r>
            <a:r>
              <a:rPr lang="en-US" dirty="0" smtClean="0"/>
              <a:t>µ</a:t>
            </a:r>
            <a:r>
              <a:rPr lang="en-US" baseline="-25000" dirty="0" smtClean="0"/>
              <a:t>o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                vs    H</a:t>
            </a:r>
            <a:r>
              <a:rPr lang="en-US" baseline="-25000" dirty="0"/>
              <a:t>a</a:t>
            </a:r>
            <a:r>
              <a:rPr lang="en-US" dirty="0"/>
              <a:t>:                   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                vs    H</a:t>
            </a:r>
            <a:r>
              <a:rPr lang="en-US" baseline="-25000" dirty="0"/>
              <a:t>a</a:t>
            </a:r>
            <a:r>
              <a:rPr lang="en-US" dirty="0"/>
              <a:t>:</a:t>
            </a:r>
            <a:endParaRPr lang="en-US" sz="36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58260"/>
              </p:ext>
            </p:extLst>
          </p:nvPr>
        </p:nvGraphicFramePr>
        <p:xfrm>
          <a:off x="1219200" y="4841341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6" imgW="457200" imgH="228600" progId="Equation.3">
                  <p:embed/>
                </p:oleObj>
              </mc:Choice>
              <mc:Fallback>
                <p:oleObj name="Equation" r:id="rId6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841341"/>
                        <a:ext cx="1066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015156"/>
              </p:ext>
            </p:extLst>
          </p:nvPr>
        </p:nvGraphicFramePr>
        <p:xfrm>
          <a:off x="4343400" y="4800600"/>
          <a:ext cx="1095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Equation" r:id="rId8" imgW="469800" imgH="228600" progId="Equation.3">
                  <p:embed/>
                </p:oleObj>
              </mc:Choice>
              <mc:Fallback>
                <p:oleObj name="Equation" r:id="rId8" imgW="469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800600"/>
                        <a:ext cx="10953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083895"/>
              </p:ext>
            </p:extLst>
          </p:nvPr>
        </p:nvGraphicFramePr>
        <p:xfrm>
          <a:off x="1219200" y="5410200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Equation" r:id="rId10" imgW="457200" imgH="228600" progId="Equation.3">
                  <p:embed/>
                </p:oleObj>
              </mc:Choice>
              <mc:Fallback>
                <p:oleObj name="Equation" r:id="rId10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410200"/>
                        <a:ext cx="1066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69620"/>
              </p:ext>
            </p:extLst>
          </p:nvPr>
        </p:nvGraphicFramePr>
        <p:xfrm>
          <a:off x="4419600" y="5334000"/>
          <a:ext cx="10652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Equation" r:id="rId12" imgW="457200" imgH="228600" progId="Equation.3">
                  <p:embed/>
                </p:oleObj>
              </mc:Choice>
              <mc:Fallback>
                <p:oleObj name="Equation" r:id="rId12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34000"/>
                        <a:ext cx="106521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91753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-14336" y="152400"/>
            <a:ext cx="9158335" cy="2514600"/>
          </a:xfrm>
        </p:spPr>
        <p:txBody>
          <a:bodyPr>
            <a:noAutofit/>
          </a:bodyPr>
          <a:lstStyle/>
          <a:p>
            <a:r>
              <a:rPr lang="en-US" sz="3200" dirty="0"/>
              <a:t>A new blood thinning drug is being tested against the current drug in a double-blind experiment, and the hypotheses are:   </a:t>
            </a:r>
            <a:br>
              <a:rPr lang="en-US" sz="3200" dirty="0"/>
            </a:br>
            <a:r>
              <a:rPr lang="en-US" sz="3200" dirty="0"/>
              <a:t>             H</a:t>
            </a:r>
            <a:r>
              <a:rPr lang="en-US" sz="3200" baseline="-25000" dirty="0"/>
              <a:t>0</a:t>
            </a:r>
            <a:r>
              <a:rPr lang="en-US" sz="3200" dirty="0"/>
              <a:t>: 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=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</a:t>
            </a:r>
            <a:r>
              <a:rPr lang="en-US" sz="3200" dirty="0" smtClean="0">
                <a:sym typeface="Symbol"/>
              </a:rPr>
              <a:t>     </a:t>
            </a:r>
            <a:r>
              <a:rPr lang="en-US" sz="3200" dirty="0">
                <a:sym typeface="Symbol"/>
              </a:rPr>
              <a:t>vs    H</a:t>
            </a:r>
            <a:r>
              <a:rPr lang="en-US" sz="3200" baseline="-25000" dirty="0">
                <a:sym typeface="Symbol"/>
              </a:rPr>
              <a:t>a</a:t>
            </a:r>
            <a:r>
              <a:rPr lang="en-US" sz="3200" dirty="0">
                <a:sym typeface="Symbol"/>
              </a:rPr>
              <a:t>: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&gt;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What does a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Type 1 Error </a:t>
            </a:r>
            <a:r>
              <a:rPr lang="en-US" sz="3200" dirty="0"/>
              <a:t>mean in this situation?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743200"/>
            <a:ext cx="5867400" cy="4114800"/>
          </a:xfrm>
        </p:spPr>
        <p:txBody>
          <a:bodyPr>
            <a:normAutofit fontScale="77500" lnSpcReduction="20000"/>
          </a:bodyPr>
          <a:lstStyle/>
          <a:p>
            <a:pPr marL="742950" indent="-742950">
              <a:buAutoNum type="alphaUcPeriod"/>
            </a:pPr>
            <a:r>
              <a:rPr lang="en-US" sz="3600" dirty="0" smtClean="0"/>
              <a:t>We </a:t>
            </a:r>
            <a:r>
              <a:rPr lang="en-US" sz="3600" dirty="0"/>
              <a:t>reject H</a:t>
            </a:r>
            <a:r>
              <a:rPr lang="en-US" sz="3600" baseline="-25000" dirty="0"/>
              <a:t>0</a:t>
            </a:r>
            <a:endParaRPr lang="en-US" sz="3600" dirty="0">
              <a:sym typeface="Symbol"/>
            </a:endParaRPr>
          </a:p>
          <a:p>
            <a:pPr marL="742950" indent="-742950">
              <a:buAutoNum type="alphaUcPeriod"/>
            </a:pPr>
            <a:r>
              <a:rPr lang="en-US" sz="3600" dirty="0" smtClean="0">
                <a:sym typeface="Symbol"/>
              </a:rPr>
              <a:t>We </a:t>
            </a:r>
            <a:r>
              <a:rPr lang="en-US" sz="3600" dirty="0">
                <a:sym typeface="Symbol"/>
              </a:rPr>
              <a:t>do not reject </a:t>
            </a:r>
            <a:r>
              <a:rPr lang="en-US" sz="3600" dirty="0"/>
              <a:t>H</a:t>
            </a:r>
            <a:r>
              <a:rPr lang="en-US" sz="3600" baseline="-25000" dirty="0"/>
              <a:t>0</a:t>
            </a:r>
            <a:endParaRPr lang="en-US" sz="3600" dirty="0"/>
          </a:p>
          <a:p>
            <a:pPr marL="742950" indent="-742950">
              <a:buAutoNum type="alphaUcPeriod"/>
            </a:pPr>
            <a:r>
              <a:rPr lang="en-US" sz="3600" dirty="0"/>
              <a:t>We find evidence the new drug is better when it is really not better.</a:t>
            </a:r>
            <a:r>
              <a:rPr lang="en-US" sz="3600" baseline="-25000" dirty="0">
                <a:sym typeface="Symbol"/>
              </a:rPr>
              <a:t> </a:t>
            </a:r>
            <a:endParaRPr lang="en-US" sz="3600" dirty="0"/>
          </a:p>
          <a:p>
            <a:pPr marL="742950" indent="-742950">
              <a:buAutoNum type="alphaUcPeriod"/>
            </a:pPr>
            <a:r>
              <a:rPr lang="en-US" sz="3600" dirty="0"/>
              <a:t>We are not able to conclude that the new drug is better even though it really is.</a:t>
            </a:r>
          </a:p>
          <a:p>
            <a:pPr marL="742950" indent="-742950">
              <a:buAutoNum type="alphaUcPeriod"/>
            </a:pPr>
            <a:r>
              <a:rPr lang="en-US" sz="3600" dirty="0"/>
              <a:t>We are able to conclude that the new drug is better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189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-14336" y="152400"/>
            <a:ext cx="9158335" cy="2514600"/>
          </a:xfrm>
        </p:spPr>
        <p:txBody>
          <a:bodyPr>
            <a:noAutofit/>
          </a:bodyPr>
          <a:lstStyle/>
          <a:p>
            <a:r>
              <a:rPr lang="en-US" sz="3200" dirty="0"/>
              <a:t>A new blood thinning drug is being tested against the current drug in a double-blind experiment, and the hypotheses are:   </a:t>
            </a:r>
            <a:br>
              <a:rPr lang="en-US" sz="3200" dirty="0"/>
            </a:br>
            <a:r>
              <a:rPr lang="en-US" sz="3200" dirty="0"/>
              <a:t>             </a:t>
            </a:r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r>
              <a:rPr lang="en-US" sz="3200" dirty="0"/>
              <a:t>: 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=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</a:t>
            </a:r>
            <a:r>
              <a:rPr lang="en-US" sz="3200" dirty="0" smtClean="0">
                <a:sym typeface="Symbol"/>
              </a:rPr>
              <a:t>     </a:t>
            </a:r>
            <a:r>
              <a:rPr lang="en-US" sz="3200" dirty="0">
                <a:sym typeface="Symbol"/>
              </a:rPr>
              <a:t>vs    H</a:t>
            </a:r>
            <a:r>
              <a:rPr lang="en-US" sz="3200" baseline="-25000" dirty="0">
                <a:sym typeface="Symbol"/>
              </a:rPr>
              <a:t>a</a:t>
            </a:r>
            <a:r>
              <a:rPr lang="en-US" sz="3200" dirty="0">
                <a:sym typeface="Symbol"/>
              </a:rPr>
              <a:t>: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&gt;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What does a </a:t>
            </a:r>
            <a:r>
              <a:rPr lang="en-US" sz="3200" dirty="0">
                <a:solidFill>
                  <a:srgbClr val="C00000"/>
                </a:solidFill>
              </a:rPr>
              <a:t>Type 2 Error </a:t>
            </a:r>
            <a:r>
              <a:rPr lang="en-US" sz="3200" dirty="0"/>
              <a:t>mean in this situation?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743200"/>
            <a:ext cx="5867400" cy="41148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lphaUcPeriod"/>
            </a:pPr>
            <a:r>
              <a:rPr lang="en-US" sz="3600" dirty="0"/>
              <a:t>We reject H</a:t>
            </a:r>
            <a:r>
              <a:rPr lang="en-US" sz="3600" baseline="-25000" dirty="0"/>
              <a:t>0</a:t>
            </a:r>
            <a:endParaRPr lang="en-US" sz="3600" dirty="0">
              <a:sym typeface="Symbol"/>
            </a:endParaRPr>
          </a:p>
          <a:p>
            <a:pPr marL="514350" indent="-514350">
              <a:buAutoNum type="alphaUcPeriod"/>
            </a:pPr>
            <a:r>
              <a:rPr lang="en-US" sz="3600" dirty="0" smtClean="0">
                <a:sym typeface="Symbol"/>
              </a:rPr>
              <a:t>We </a:t>
            </a:r>
            <a:r>
              <a:rPr lang="en-US" sz="3600" dirty="0">
                <a:sym typeface="Symbol"/>
              </a:rPr>
              <a:t>do not reject </a:t>
            </a:r>
            <a:r>
              <a:rPr lang="en-US" sz="3600" dirty="0"/>
              <a:t>H</a:t>
            </a:r>
            <a:r>
              <a:rPr lang="en-US" sz="3600" baseline="-25000" dirty="0"/>
              <a:t>0</a:t>
            </a:r>
            <a:endParaRPr lang="en-US" sz="3600" dirty="0"/>
          </a:p>
          <a:p>
            <a:pPr marL="514350" indent="-514350">
              <a:buAutoNum type="alphaUcPeriod"/>
            </a:pPr>
            <a:r>
              <a:rPr lang="en-US" sz="3600" dirty="0"/>
              <a:t>We find evidence the new drug is better when it is really not better.</a:t>
            </a:r>
            <a:r>
              <a:rPr lang="en-US" sz="3600" baseline="-25000" dirty="0">
                <a:sym typeface="Symbol"/>
              </a:rPr>
              <a:t> </a:t>
            </a:r>
            <a:endParaRPr lang="en-US" sz="3600" dirty="0"/>
          </a:p>
          <a:p>
            <a:pPr marL="514350" indent="-514350">
              <a:buAutoNum type="alphaUcPeriod" startAt="4"/>
            </a:pPr>
            <a:r>
              <a:rPr lang="en-US" sz="3600" dirty="0"/>
              <a:t>We are not able to conclude that the new drug is better even though it really is.</a:t>
            </a:r>
          </a:p>
          <a:p>
            <a:pPr marL="514350" indent="-514350">
              <a:buAutoNum type="alphaUcPeriod" startAt="4"/>
            </a:pPr>
            <a:r>
              <a:rPr lang="en-US" sz="3600" dirty="0"/>
              <a:t>We are able to conclude that the new drug is better.</a:t>
            </a:r>
            <a:endParaRPr lang="en-US" sz="4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272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609600"/>
            <a:ext cx="8229600" cy="55165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sz="21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03"/>
          <a:stretch/>
        </p:blipFill>
        <p:spPr bwMode="auto">
          <a:xfrm>
            <a:off x="1649560" y="1461162"/>
            <a:ext cx="5810156" cy="3075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0" y="4622955"/>
            <a:ext cx="91791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If the null hypothesis </a:t>
            </a:r>
            <a:r>
              <a:rPr lang="en-US" sz="2800" dirty="0"/>
              <a:t>is </a:t>
            </a:r>
            <a:r>
              <a:rPr lang="en-US" sz="2800" dirty="0" smtClean="0"/>
              <a:t>true: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Cambria"/>
              </a:rPr>
              <a:t>5% of statistics will be in the most extreme 5%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Cambria"/>
              </a:rPr>
              <a:t>5% of statistics will give p-values less than 0.05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>
                <a:latin typeface="Cambria"/>
              </a:rPr>
              <a:t>5% of statistics will lead to rejecting H</a:t>
            </a:r>
            <a:r>
              <a:rPr lang="en-US" sz="2800" baseline="-25000" dirty="0" smtClean="0">
                <a:latin typeface="Cambria"/>
              </a:rPr>
              <a:t>0</a:t>
            </a:r>
            <a:r>
              <a:rPr lang="en-US" sz="2800" dirty="0" smtClean="0">
                <a:latin typeface="Cambria"/>
              </a:rPr>
              <a:t> at </a:t>
            </a:r>
            <a:r>
              <a:rPr lang="el-GR" sz="2800" dirty="0" smtClean="0"/>
              <a:t>α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smtClean="0"/>
              <a:t>0.05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If </a:t>
            </a:r>
            <a:r>
              <a:rPr lang="el-GR" sz="2800" dirty="0"/>
              <a:t>α</a:t>
            </a:r>
            <a:r>
              <a:rPr lang="en-US" sz="2800" dirty="0"/>
              <a:t> = 0.05, </a:t>
            </a:r>
            <a:r>
              <a:rPr lang="en-US" sz="2800" dirty="0" smtClean="0"/>
              <a:t>there is a 5% chance of a Type I error</a:t>
            </a:r>
            <a:endParaRPr lang="en-US" sz="2800" dirty="0"/>
          </a:p>
        </p:txBody>
      </p:sp>
      <p:sp>
        <p:nvSpPr>
          <p:cNvPr id="34" name="TextBox 33"/>
          <p:cNvSpPr txBox="1"/>
          <p:nvPr/>
        </p:nvSpPr>
        <p:spPr>
          <a:xfrm>
            <a:off x="0" y="929736"/>
            <a:ext cx="7924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800" dirty="0" smtClean="0"/>
              <a:t>Distribution of statistics, assuming H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 true:</a:t>
            </a:r>
            <a:endParaRPr lang="en-US" sz="2800" dirty="0" smtClean="0">
              <a:latin typeface="Cambria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77938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Probability of Type I Error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5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609600"/>
            <a:ext cx="8229600" cy="55165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sz="21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5426" y="4566088"/>
            <a:ext cx="91185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If the null hypothesis </a:t>
            </a:r>
            <a:r>
              <a:rPr lang="en-US" sz="2800" dirty="0"/>
              <a:t>is </a:t>
            </a:r>
            <a:r>
              <a:rPr lang="en-US" sz="2800" dirty="0" smtClean="0"/>
              <a:t>true: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1% of statistics will be in the most extreme 1%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1% of statistics will give p-values less than 0.01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1% of statistics will lead to rejecting H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 at </a:t>
            </a:r>
            <a:r>
              <a:rPr lang="el-GR" sz="2800" dirty="0" smtClean="0"/>
              <a:t>α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smtClean="0"/>
              <a:t>0.01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If </a:t>
            </a:r>
            <a:r>
              <a:rPr lang="el-GR" sz="2800" dirty="0"/>
              <a:t>α</a:t>
            </a:r>
            <a:r>
              <a:rPr lang="en-US" sz="2800" dirty="0"/>
              <a:t> = </a:t>
            </a:r>
            <a:r>
              <a:rPr lang="en-US" sz="2800" dirty="0" smtClean="0"/>
              <a:t>0.01, </a:t>
            </a:r>
            <a:r>
              <a:rPr lang="en-US" sz="2800" dirty="0"/>
              <a:t>there is a </a:t>
            </a:r>
            <a:r>
              <a:rPr lang="en-US" sz="2800" dirty="0" smtClean="0"/>
              <a:t>1% </a:t>
            </a:r>
            <a:r>
              <a:rPr lang="en-US" sz="2800" dirty="0"/>
              <a:t>chance of a Type I </a:t>
            </a:r>
            <a:r>
              <a:rPr lang="en-US" sz="2800" dirty="0" smtClean="0"/>
              <a:t>error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73721"/>
            <a:ext cx="6667763" cy="3180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62132" y="1064568"/>
            <a:ext cx="725306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800" dirty="0" smtClean="0"/>
              <a:t>Distribution of statistics, assuming H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 true:</a:t>
            </a:r>
            <a:endParaRPr lang="en-US" sz="2800" dirty="0" smtClean="0">
              <a:latin typeface="Cambria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7387" y="1524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Probability of Type I Error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056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18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2897" y="1676400"/>
            <a:ext cx="90806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indent="-320040"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3200" dirty="0"/>
              <a:t>The probability of making a Type I error (rejecting a true null) is the significance level, </a:t>
            </a:r>
            <a:r>
              <a:rPr lang="el-GR" sz="3200" dirty="0" smtClean="0"/>
              <a:t>α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77938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Probability of Type I Error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282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56" y="2329381"/>
            <a:ext cx="7772400" cy="1447800"/>
          </a:xfrm>
        </p:spPr>
        <p:txBody>
          <a:bodyPr>
            <a:normAutofit/>
          </a:bodyPr>
          <a:lstStyle/>
          <a:p>
            <a:r>
              <a:rPr lang="el-GR" dirty="0"/>
              <a:t>α</a:t>
            </a:r>
            <a:r>
              <a:rPr lang="en-US" dirty="0"/>
              <a:t> of all tests with true null hypotheses will yield significant results just by chance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20370" y="4267200"/>
            <a:ext cx="9123630" cy="2514600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dirty="0" smtClean="0"/>
              <a:t>If 100 tests are done with </a:t>
            </a:r>
            <a:r>
              <a:rPr lang="el-GR" dirty="0" smtClean="0"/>
              <a:t>α</a:t>
            </a:r>
            <a:r>
              <a:rPr lang="en-US" dirty="0" smtClean="0"/>
              <a:t> = 0.05 and nothing is really going on, 5% of them will yield significant results, just by chance</a:t>
            </a:r>
          </a:p>
          <a:p>
            <a:r>
              <a:rPr lang="en-US" dirty="0" smtClean="0"/>
              <a:t>This is known as the problem of multiple testing</a:t>
            </a: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27914" y="1524000"/>
            <a:ext cx="9116085" cy="8001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Because the chance of a Type I error is </a:t>
            </a:r>
            <a:r>
              <a:rPr lang="el-GR" dirty="0" smtClean="0"/>
              <a:t>α…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22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Multiple Comparisons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30480" y="1447800"/>
            <a:ext cx="911352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20040" marR="0" lvl="0" indent="-320040" defTabSz="914400" fontAlgn="auto">
              <a:lnSpc>
                <a:spcPct val="100000"/>
              </a:lnSpc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US" sz="3600" kern="0" dirty="0" smtClean="0">
                <a:solidFill>
                  <a:srgbClr val="000000"/>
                </a:solidFill>
              </a:rPr>
              <a:t> </a:t>
            </a:r>
            <a:r>
              <a:rPr lang="en-US" sz="3200" dirty="0"/>
              <a:t>Consider a topic that is being investigated by research teams all over the world</a:t>
            </a:r>
          </a:p>
          <a:p>
            <a:pPr marL="0" marR="0" lvl="0" indent="-18288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endParaRPr lang="en-US" sz="3600" kern="0" dirty="0" smtClean="0">
              <a:solidFill>
                <a:srgbClr val="000000"/>
              </a:solidFill>
            </a:endParaRPr>
          </a:p>
          <a:p>
            <a:pPr marL="0" marR="0" lvl="0" indent="-1828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en-US" sz="3600" b="1" kern="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 </a:t>
            </a:r>
            <a:r>
              <a:rPr lang="en-US" sz="3200" b="1" kern="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Using </a:t>
            </a:r>
            <a:r>
              <a:rPr lang="el-GR" sz="3200" b="1" kern="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α</a:t>
            </a:r>
            <a:r>
              <a:rPr lang="en-US" sz="3200" b="1" kern="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= 0.05, 5% of teams are going to find something significant, even if the null hypothesis is true</a:t>
            </a:r>
          </a:p>
          <a:p>
            <a:pPr marL="0" marR="0" lvl="0" indent="-1828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endParaRPr lang="en-US" sz="3200" kern="0" dirty="0" smtClean="0">
              <a:solidFill>
                <a:srgbClr val="000000"/>
              </a:solidFill>
              <a:sym typeface="Symbo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519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 Choice and Offspring Fitness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r>
              <a:rPr lang="en-US" dirty="0" smtClean="0"/>
              <a:t>The experiment was actually comprised of 50 smaller experiments.  What if we had calculated the p-value for each run?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0" y="2667000"/>
            <a:ext cx="609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smtClean="0">
                <a:ea typeface="ＭＳ 明朝"/>
                <a:cs typeface="Times New Roman"/>
              </a:rPr>
              <a:t>0.9570 </a:t>
            </a:r>
            <a:r>
              <a:rPr lang="en-US" sz="2600" dirty="0">
                <a:ea typeface="ＭＳ 明朝"/>
                <a:cs typeface="Times New Roman"/>
              </a:rPr>
              <a:t>0.8498 0.1376 0.5407 0.7640 0.9845 0.3334 0.8437 0.2080 0.8912 0.8879 0.6615 0.6695 0.8764 1.0000 0.0064 0.9982 0.7671 0.9512 0.2730 0.5812 0.1088 0.0181 0.0013 0.6242 </a:t>
            </a:r>
            <a:r>
              <a:rPr lang="en-US" sz="2600" dirty="0" smtClean="0">
                <a:ea typeface="ＭＳ 明朝"/>
                <a:cs typeface="Times New Roman"/>
              </a:rPr>
              <a:t>0.0131 </a:t>
            </a:r>
            <a:r>
              <a:rPr lang="en-US" sz="2600" dirty="0">
                <a:ea typeface="ＭＳ 明朝"/>
                <a:cs typeface="Times New Roman"/>
              </a:rPr>
              <a:t>0.7882 0.0777 0.9641 0.0001 0.8851 0.1280 0.3421 0.1805 0.1121 0.6562 0.0133 0.3082 0.6923 0.1925 0.4207 0.0607 0.3059 0.2383 0.2391 0.1584 0.1735 0.0319 0.0171 0.1082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733" y="3196031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50 p-values:</a:t>
            </a:r>
            <a:endParaRPr lang="en-US" sz="2800" i="1" dirty="0"/>
          </a:p>
        </p:txBody>
      </p:sp>
      <p:sp>
        <p:nvSpPr>
          <p:cNvPr id="6" name="Oval 5"/>
          <p:cNvSpPr/>
          <p:nvPr/>
        </p:nvSpPr>
        <p:spPr>
          <a:xfrm>
            <a:off x="7315200" y="4713714"/>
            <a:ext cx="1219200" cy="381000"/>
          </a:xfrm>
          <a:prstGeom prst="ellipse">
            <a:avLst/>
          </a:prstGeom>
          <a:noFill/>
          <a:ln w="254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1783" y="3749457"/>
            <a:ext cx="2514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What if we just reported the run that yielded a p-value of 0.0001?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Is that ethical?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49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Publication Bias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18484" y="1524000"/>
            <a:ext cx="9125516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20040" marR="0" lvl="0" indent="-320040" defTabSz="914400" fontAlgn="auto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sym typeface="Symbol"/>
              </a:rPr>
              <a:t>P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ublication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sym typeface="Symbol"/>
              </a:rPr>
              <a:t>bias </a:t>
            </a:r>
            <a:r>
              <a:rPr lang="en-US" sz="3200" dirty="0">
                <a:sym typeface="Symbol"/>
              </a:rPr>
              <a:t>refers to the fact that usually only the significant results get published</a:t>
            </a:r>
          </a:p>
          <a:p>
            <a:pPr marL="320040" marR="0" lvl="0" indent="-320040" defTabSz="914400" fontAlgn="auto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US" sz="3200" dirty="0">
                <a:sym typeface="Symbol"/>
              </a:rPr>
              <a:t> The one study that turns out significant gets published, and no one knows about all the insignificant results</a:t>
            </a:r>
          </a:p>
          <a:p>
            <a:pPr marL="320040" marR="0" lvl="0" indent="-320040" defTabSz="914400" fontAlgn="auto">
              <a:lnSpc>
                <a:spcPct val="100000"/>
              </a:lnSpc>
              <a:spcBef>
                <a:spcPts val="70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US" sz="3200" dirty="0">
                <a:sym typeface="Symbol"/>
              </a:rPr>
              <a:t> This combined with the problem of multiple comparisons, can yield very misleading results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08605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77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876" y="1219200"/>
            <a:ext cx="794972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324600" y="6019800"/>
            <a:ext cx="242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5"/>
              </a:rPr>
              <a:t>http://xkcd.com/882/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Jelly Beans Cause Acne!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2620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8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1" y="152401"/>
            <a:ext cx="856144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40492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8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185531"/>
            <a:ext cx="8534400" cy="6184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3627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8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04800"/>
            <a:ext cx="4772025" cy="5744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324600" y="6019800"/>
            <a:ext cx="242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4"/>
              </a:rPr>
              <a:t>http://xkcd.com/882/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80757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Multiple Testing and Publication Bias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l-GR" dirty="0"/>
              <a:t>α</a:t>
            </a:r>
            <a:r>
              <a:rPr lang="en-US" dirty="0"/>
              <a:t> of all tests with true null hypotheses will yield significant results just by chance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one that happens to be significant is the one that gets published.</a:t>
            </a:r>
            <a:endParaRPr lang="en-US" dirty="0"/>
          </a:p>
          <a:p>
            <a:r>
              <a:rPr lang="en-US" sz="3600" dirty="0" smtClean="0"/>
              <a:t>THIS SHOULD SCARE YOU.</a:t>
            </a:r>
          </a:p>
        </p:txBody>
      </p:sp>
    </p:spTree>
    <p:extLst>
      <p:ext uri="{BB962C8B-B14F-4D97-AF65-F5344CB8AC3E}">
        <p14:creationId xmlns:p14="http://schemas.microsoft.com/office/powerpoint/2010/main" val="238102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Reproducibility Crisis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600" dirty="0" smtClean="0"/>
              <a:t>“</a:t>
            </a:r>
            <a:r>
              <a:rPr lang="en-US" sz="2600" dirty="0"/>
              <a:t>There is increasing concern that most current published research findings are false</a:t>
            </a:r>
            <a:r>
              <a:rPr lang="en-US" sz="2600" dirty="0" smtClean="0"/>
              <a:t>.”</a:t>
            </a:r>
            <a:r>
              <a:rPr lang="en-US" sz="2600" dirty="0"/>
              <a:t> </a:t>
            </a:r>
            <a:r>
              <a:rPr lang="en-US" sz="2600" dirty="0" smtClean="0">
                <a:hlinkClick r:id="rId2"/>
              </a:rPr>
              <a:t>Why </a:t>
            </a:r>
            <a:r>
              <a:rPr lang="en-US" sz="2600" dirty="0">
                <a:hlinkClick r:id="rId2"/>
              </a:rPr>
              <a:t>most published research findings are false</a:t>
            </a:r>
            <a:r>
              <a:rPr lang="en-US" sz="2600" dirty="0"/>
              <a:t> </a:t>
            </a:r>
            <a:r>
              <a:rPr lang="en-US" sz="2600" dirty="0" smtClean="0"/>
              <a:t>(8/30/05)</a:t>
            </a:r>
          </a:p>
          <a:p>
            <a:pPr>
              <a:spcBef>
                <a:spcPts val="600"/>
              </a:spcBef>
            </a:pPr>
            <a:r>
              <a:rPr lang="en-US" sz="2600" dirty="0" smtClean="0"/>
              <a:t>“Many </a:t>
            </a:r>
            <a:r>
              <a:rPr lang="en-US" sz="2600" dirty="0"/>
              <a:t>researchers believe that if scientists set out to reproduce preclinical work published over the past decade, a majority would fail. This, in short, is the reproducibility </a:t>
            </a:r>
            <a:r>
              <a:rPr lang="en-US" sz="2600" dirty="0" smtClean="0"/>
              <a:t>crisis." </a:t>
            </a:r>
            <a:r>
              <a:rPr lang="en-US" sz="2600" dirty="0" smtClean="0">
                <a:hlinkClick r:id="rId3"/>
              </a:rPr>
              <a:t>Amid a Sea of False Findings, the NIH Tries Reform </a:t>
            </a:r>
            <a:r>
              <a:rPr lang="en-US" sz="2600" dirty="0" smtClean="0"/>
              <a:t>(3/16/15)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600" dirty="0"/>
              <a:t>A recent study tried to replicate 100 results published in psychology journals: 97% of the original results were significant, only 36% of replicated results were </a:t>
            </a:r>
            <a:r>
              <a:rPr lang="en-US" sz="2600" dirty="0" smtClean="0"/>
              <a:t>significant </a:t>
            </a:r>
            <a:r>
              <a:rPr lang="en-US" sz="2600" dirty="0" smtClean="0">
                <a:hlinkClick r:id="rId4"/>
              </a:rPr>
              <a:t>Estimating </a:t>
            </a:r>
            <a:r>
              <a:rPr lang="en-US" sz="2600" dirty="0">
                <a:hlinkClick r:id="rId4"/>
              </a:rPr>
              <a:t>the reproducibility of psychological science </a:t>
            </a:r>
            <a:r>
              <a:rPr lang="en-US" sz="2600" dirty="0">
                <a:solidFill>
                  <a:srgbClr val="000000"/>
                </a:solidFill>
              </a:rPr>
              <a:t>(8/28/15</a:t>
            </a:r>
            <a:r>
              <a:rPr lang="en-US" sz="2600" dirty="0" smtClean="0">
                <a:solidFill>
                  <a:srgbClr val="000000"/>
                </a:solidFill>
              </a:rPr>
              <a:t>)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389319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You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Point #1: Errors (type I and II) are possible</a:t>
            </a:r>
          </a:p>
          <a:p>
            <a:r>
              <a:rPr lang="en-US" dirty="0" smtClean="0"/>
              <a:t>Point #2: Multiple testing and publication bias are a huge problem</a:t>
            </a:r>
          </a:p>
          <a:p>
            <a:r>
              <a:rPr lang="en-US" dirty="0" smtClean="0"/>
              <a:t>Is it all hopeless?  What can you do?</a:t>
            </a:r>
          </a:p>
          <a:p>
            <a:pPr marL="834390" lvl="1" indent="-514350"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n-US" dirty="0" smtClean="0"/>
              <a:t>Recognize (and be skeptical) when a claim is one of many tests</a:t>
            </a:r>
          </a:p>
          <a:p>
            <a:pPr marL="834390" lvl="1" indent="-514350"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n-US" dirty="0" smtClean="0"/>
              <a:t>Look for replication of results…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28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Replication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(or reproducibility) of a study in another setting or by another researcher is extremely important!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Studies</a:t>
            </a:r>
            <a:r>
              <a:rPr lang="en-US" dirty="0" smtClean="0">
                <a:solidFill>
                  <a:schemeClr val="tx1"/>
                </a:solidFill>
              </a:rPr>
              <a:t> that have been replicated with similar conclusions gain credibility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Studies that have been replicated with different conclusions lose credibility</a:t>
            </a:r>
          </a:p>
          <a:p>
            <a:r>
              <a:rPr lang="en-US" dirty="0" smtClean="0"/>
              <a:t>Replication helps guard against Type I errors AND helps with generalizability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8483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 Choice and Offspring Fitness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Actually, the research attempting to replicate the mate choice result included 3 different experiments</a:t>
            </a:r>
          </a:p>
          <a:p>
            <a:pPr>
              <a:spcAft>
                <a:spcPts val="0"/>
              </a:spcAft>
            </a:pPr>
            <a:r>
              <a:rPr lang="en-US" dirty="0"/>
              <a:t>Original study: Significant in favor of choice</a:t>
            </a:r>
          </a:p>
          <a:p>
            <a:pPr lvl="1"/>
            <a:r>
              <a:rPr lang="en-US" dirty="0"/>
              <a:t>p-value &lt; 0.01</a:t>
            </a:r>
          </a:p>
          <a:p>
            <a:pPr>
              <a:spcAft>
                <a:spcPts val="0"/>
              </a:spcAft>
            </a:pPr>
            <a:r>
              <a:rPr lang="en-US" dirty="0" smtClean="0"/>
              <a:t>Follow-up </a:t>
            </a:r>
            <a:r>
              <a:rPr lang="en-US" dirty="0"/>
              <a:t>study #1: Not significant </a:t>
            </a:r>
          </a:p>
          <a:p>
            <a:pPr lvl="1">
              <a:spcAft>
                <a:spcPts val="0"/>
              </a:spcAft>
            </a:pPr>
            <a:r>
              <a:rPr lang="en-US" dirty="0"/>
              <a:t>6067/10000 - 5976/10000  = 0.6067 - 0.5976 = 0.009</a:t>
            </a:r>
          </a:p>
          <a:p>
            <a:pPr lvl="1"/>
            <a:r>
              <a:rPr lang="en-US" dirty="0"/>
              <a:t>p-value = </a:t>
            </a:r>
            <a:r>
              <a:rPr lang="en-US" dirty="0" smtClean="0"/>
              <a:t>0.1</a:t>
            </a:r>
            <a:endParaRPr lang="en-US" dirty="0"/>
          </a:p>
          <a:p>
            <a:pPr>
              <a:spcAft>
                <a:spcPts val="0"/>
              </a:spcAft>
            </a:pPr>
            <a:r>
              <a:rPr lang="en-US" dirty="0" smtClean="0"/>
              <a:t>Follow-up </a:t>
            </a:r>
            <a:r>
              <a:rPr lang="en-US" dirty="0"/>
              <a:t>study #2: Significant in favor of no choice </a:t>
            </a:r>
          </a:p>
          <a:p>
            <a:pPr lvl="1">
              <a:spcAft>
                <a:spcPts val="0"/>
              </a:spcAft>
            </a:pPr>
            <a:r>
              <a:rPr lang="en-US" dirty="0"/>
              <a:t>4579/10000 – 4749/10000 = 0.4579 – 0.4749 = -0.017</a:t>
            </a:r>
          </a:p>
          <a:p>
            <a:pPr lvl="1"/>
            <a:r>
              <a:rPr lang="en-US" dirty="0"/>
              <a:t>p-value = 0.992 for choice, 0.008 for no choice </a:t>
            </a:r>
          </a:p>
          <a:p>
            <a:pPr>
              <a:spcAft>
                <a:spcPts val="0"/>
              </a:spcAft>
            </a:pPr>
            <a:r>
              <a:rPr lang="en-US" dirty="0" smtClean="0"/>
              <a:t>Follow-up </a:t>
            </a:r>
            <a:r>
              <a:rPr lang="en-US" dirty="0"/>
              <a:t>study #3: Significant in favor of no choice</a:t>
            </a:r>
          </a:p>
          <a:p>
            <a:pPr lvl="1">
              <a:spcAft>
                <a:spcPts val="0"/>
              </a:spcAft>
            </a:pPr>
            <a:r>
              <a:rPr lang="en-US" dirty="0"/>
              <a:t>1641/5000 – 1758/5000 = 0.3282 – 0.3516 = -0.02</a:t>
            </a:r>
          </a:p>
          <a:p>
            <a:pPr lvl="1"/>
            <a:r>
              <a:rPr lang="en-US" dirty="0"/>
              <a:t>p-value = 0.993 for choice, 0.007 for no choice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38400" y="228600"/>
            <a:ext cx="39624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3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413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76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1676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can we reduce the probability of making a Type I Error (rejecting a true null)? 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305050"/>
            <a:ext cx="5029200" cy="2743200"/>
          </a:xfrm>
        </p:spPr>
        <p:txBody>
          <a:bodyPr>
            <a:normAutofit/>
          </a:bodyPr>
          <a:lstStyle/>
          <a:p>
            <a:pPr marL="788670" lvl="1" indent="-514350">
              <a:spcAft>
                <a:spcPts val="0"/>
              </a:spcAft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 smtClean="0">
                <a:solidFill>
                  <a:srgbClr val="000000"/>
                </a:solidFill>
              </a:rPr>
              <a:t>Decrease the significance level</a:t>
            </a:r>
            <a:endParaRPr lang="en-US" sz="3200" dirty="0">
              <a:solidFill>
                <a:srgbClr val="000000"/>
              </a:solidFill>
            </a:endParaRPr>
          </a:p>
          <a:p>
            <a:pPr marL="78867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>
                <a:solidFill>
                  <a:srgbClr val="000000"/>
                </a:solidFill>
              </a:rPr>
              <a:t>Increase the significance </a:t>
            </a:r>
            <a:r>
              <a:rPr lang="en-US" sz="3200" dirty="0" smtClean="0">
                <a:solidFill>
                  <a:srgbClr val="000000"/>
                </a:solidFill>
              </a:rPr>
              <a:t>level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590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1676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can we reduce the probability of making a Type II Error (not rejecting a false null)? 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305050"/>
            <a:ext cx="5029200" cy="2743200"/>
          </a:xfrm>
        </p:spPr>
        <p:txBody>
          <a:bodyPr>
            <a:normAutofit/>
          </a:bodyPr>
          <a:lstStyle/>
          <a:p>
            <a:pPr marL="788670" lvl="1" indent="-514350">
              <a:spcAft>
                <a:spcPts val="0"/>
              </a:spcAft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 smtClean="0">
                <a:solidFill>
                  <a:srgbClr val="000000"/>
                </a:solidFill>
              </a:rPr>
              <a:t>Decrease the significance level</a:t>
            </a:r>
            <a:endParaRPr lang="en-US" sz="3200" dirty="0">
              <a:solidFill>
                <a:srgbClr val="000000"/>
              </a:solidFill>
            </a:endParaRPr>
          </a:p>
          <a:p>
            <a:pPr marL="78867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>
                <a:solidFill>
                  <a:srgbClr val="000000"/>
                </a:solidFill>
              </a:rPr>
              <a:t>Increase the significance </a:t>
            </a:r>
            <a:r>
              <a:rPr lang="en-US" sz="3200" dirty="0" smtClean="0">
                <a:solidFill>
                  <a:srgbClr val="000000"/>
                </a:solidFill>
              </a:rPr>
              <a:t>level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806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Significance Level and Errors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04388" y="2209800"/>
            <a:ext cx="815340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51699" y="1905000"/>
            <a:ext cx="0" cy="3200400"/>
          </a:xfrm>
          <a:prstGeom prst="line">
            <a:avLst/>
          </a:prstGeom>
          <a:ln w="25400">
            <a:solidFill>
              <a:schemeClr val="tx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57615" y="1447800"/>
            <a:ext cx="477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α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5143" y="2482158"/>
            <a:ext cx="35814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en-US" sz="2800" dirty="0" smtClean="0"/>
              <a:t>Reject H</a:t>
            </a:r>
            <a:r>
              <a:rPr lang="en-US" sz="2800" baseline="-25000" dirty="0" smtClean="0"/>
              <a:t>0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en-US" sz="2800" dirty="0" smtClean="0"/>
              <a:t>Could be making a Type I error if H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 true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en-US" sz="2800" dirty="0" smtClean="0"/>
              <a:t>Chance of Type I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3988" y="2485176"/>
            <a:ext cx="37338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en-US" sz="2800" dirty="0" smtClean="0"/>
              <a:t>Do not reject H</a:t>
            </a:r>
            <a:r>
              <a:rPr lang="en-US" sz="2800" baseline="-25000" dirty="0" smtClean="0"/>
              <a:t>0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en-US" sz="2800" dirty="0" smtClean="0"/>
              <a:t>Could be making a Type II error if H</a:t>
            </a:r>
            <a:r>
              <a:rPr lang="en-US" sz="2800" baseline="-25000" dirty="0"/>
              <a:t>a</a:t>
            </a:r>
            <a:r>
              <a:rPr lang="en-US" sz="2800" dirty="0" smtClean="0"/>
              <a:t> true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en-US" sz="2800" dirty="0" smtClean="0"/>
              <a:t>Related to chance of making a Type II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486400"/>
            <a:ext cx="9144000" cy="1210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indent="-320040">
              <a:lnSpc>
                <a:spcPct val="80000"/>
              </a:lnSpc>
              <a:spcBef>
                <a:spcPts val="70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Decrease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l-GR" sz="3200" dirty="0"/>
              <a:t>α</a:t>
            </a:r>
            <a:r>
              <a:rPr lang="en-US" sz="3200" dirty="0"/>
              <a:t> if Type I error is very bad</a:t>
            </a:r>
          </a:p>
          <a:p>
            <a:pPr marL="320040" indent="-320040">
              <a:lnSpc>
                <a:spcPct val="80000"/>
              </a:lnSpc>
              <a:spcBef>
                <a:spcPts val="70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Increase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l-GR" sz="3200" dirty="0"/>
              <a:t>α</a:t>
            </a:r>
            <a:r>
              <a:rPr lang="en-US" sz="3200" dirty="0"/>
              <a:t> if Type II error is very bad</a:t>
            </a:r>
          </a:p>
        </p:txBody>
      </p:sp>
    </p:spTree>
    <p:extLst>
      <p:ext uri="{BB962C8B-B14F-4D97-AF65-F5344CB8AC3E}">
        <p14:creationId xmlns:p14="http://schemas.microsoft.com/office/powerpoint/2010/main" val="38829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  <p:bldP spid="14" grpId="0" build="p"/>
      <p:bldP spid="1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3124200"/>
          </a:xfrm>
        </p:spPr>
        <p:txBody>
          <a:bodyPr>
            <a:noAutofit/>
          </a:bodyPr>
          <a:lstStyle/>
          <a:p>
            <a:r>
              <a:rPr lang="en-US" sz="3200" dirty="0"/>
              <a:t>A new blood thinning drug is being tested against the current drug in a double-blind experiment, and the hypotheses are:   </a:t>
            </a:r>
            <a:br>
              <a:rPr lang="en-US" sz="3200" dirty="0"/>
            </a:br>
            <a:r>
              <a:rPr lang="en-US" sz="3200" dirty="0"/>
              <a:t>           H</a:t>
            </a:r>
            <a:r>
              <a:rPr lang="en-US" sz="3200" baseline="-25000" dirty="0"/>
              <a:t>0</a:t>
            </a:r>
            <a:r>
              <a:rPr lang="en-US" sz="3200" dirty="0"/>
              <a:t>: 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=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</a:t>
            </a:r>
            <a:r>
              <a:rPr lang="en-US" sz="3200" dirty="0" smtClean="0">
                <a:sym typeface="Symbol"/>
              </a:rPr>
              <a:t>     </a:t>
            </a:r>
            <a:r>
              <a:rPr lang="en-US" sz="3200" dirty="0">
                <a:sym typeface="Symbol"/>
              </a:rPr>
              <a:t>vs    H</a:t>
            </a:r>
            <a:r>
              <a:rPr lang="en-US" sz="3200" baseline="-25000" dirty="0">
                <a:sym typeface="Symbol"/>
              </a:rPr>
              <a:t>a</a:t>
            </a:r>
            <a:r>
              <a:rPr lang="en-US" sz="3200" dirty="0">
                <a:sym typeface="Symbol"/>
              </a:rPr>
              <a:t>: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&gt;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If the new drug has potentially serious side effects, we should pick a significance level that is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429000"/>
            <a:ext cx="6477000" cy="1981200"/>
          </a:xfrm>
        </p:spPr>
        <p:txBody>
          <a:bodyPr/>
          <a:lstStyle/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Relatively small (such as 1 %)</a:t>
            </a:r>
            <a:endParaRPr lang="en-US" dirty="0"/>
          </a:p>
          <a:p>
            <a:pPr marL="514350" indent="-514350">
              <a:buFont typeface="Wingdings"/>
              <a:buAutoNum type="alphaUcPeriod"/>
            </a:pPr>
            <a:r>
              <a:rPr lang="en-US" dirty="0"/>
              <a:t>Middle of the road (5%)</a:t>
            </a:r>
          </a:p>
          <a:p>
            <a:pPr marL="514350" indent="-514350">
              <a:buFont typeface="Wingdings"/>
              <a:buAutoNum type="alphaUcPeriod"/>
            </a:pPr>
            <a:r>
              <a:rPr lang="en-US" dirty="0"/>
              <a:t>Relatively large (such as 10</a:t>
            </a:r>
            <a:r>
              <a:rPr lang="en-US" dirty="0" smtClean="0"/>
              <a:t>%)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04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3276600"/>
          </a:xfrm>
        </p:spPr>
        <p:txBody>
          <a:bodyPr>
            <a:noAutofit/>
          </a:bodyPr>
          <a:lstStyle/>
          <a:p>
            <a:r>
              <a:rPr lang="en-US" sz="3200" dirty="0"/>
              <a:t>A new blood thinning drug is being tested against the current drug in a double-blind experiment, and the hypotheses are:   </a:t>
            </a:r>
            <a:br>
              <a:rPr lang="en-US" sz="3200" dirty="0"/>
            </a:br>
            <a:r>
              <a:rPr lang="en-US" sz="3200" dirty="0"/>
              <a:t>           H</a:t>
            </a:r>
            <a:r>
              <a:rPr lang="en-US" sz="3200" baseline="-25000" dirty="0"/>
              <a:t>0</a:t>
            </a:r>
            <a:r>
              <a:rPr lang="en-US" sz="3200" dirty="0"/>
              <a:t>: 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=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</a:t>
            </a:r>
            <a:r>
              <a:rPr lang="en-US" sz="3200" dirty="0" smtClean="0">
                <a:sym typeface="Symbol"/>
              </a:rPr>
              <a:t>     </a:t>
            </a:r>
            <a:r>
              <a:rPr lang="en-US" sz="3200" dirty="0">
                <a:sym typeface="Symbol"/>
              </a:rPr>
              <a:t>vs    H</a:t>
            </a:r>
            <a:r>
              <a:rPr lang="en-US" sz="3200" baseline="-25000" dirty="0">
                <a:sym typeface="Symbol"/>
              </a:rPr>
              <a:t>a</a:t>
            </a:r>
            <a:r>
              <a:rPr lang="en-US" sz="3200" dirty="0">
                <a:sym typeface="Symbol"/>
              </a:rPr>
              <a:t>: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n</a:t>
            </a:r>
            <a:r>
              <a:rPr lang="en-US" sz="3200" dirty="0" smtClean="0">
                <a:sym typeface="Symbol"/>
              </a:rPr>
              <a:t> </a:t>
            </a:r>
            <a:r>
              <a:rPr lang="en-US" sz="3200" dirty="0">
                <a:sym typeface="Symbol"/>
              </a:rPr>
              <a:t>&gt; </a:t>
            </a:r>
            <a:r>
              <a:rPr lang="en-US" sz="3200" dirty="0"/>
              <a:t>µ</a:t>
            </a:r>
            <a:r>
              <a:rPr lang="en-US" sz="3200" baseline="-25000" dirty="0" smtClean="0">
                <a:sym typeface="Symbol"/>
              </a:rPr>
              <a:t>o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If the new drug has no real side effects and costs less than the old drug, we might pick a significance level that is: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664390"/>
            <a:ext cx="6477000" cy="1981200"/>
          </a:xfrm>
        </p:spPr>
        <p:txBody>
          <a:bodyPr/>
          <a:lstStyle/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Relatively small (such as 1 %)</a:t>
            </a:r>
            <a:endParaRPr lang="en-US" dirty="0"/>
          </a:p>
          <a:p>
            <a:pPr marL="514350" indent="-514350">
              <a:buFont typeface="Wingdings"/>
              <a:buAutoNum type="alphaUcPeriod"/>
            </a:pPr>
            <a:r>
              <a:rPr lang="en-US" dirty="0"/>
              <a:t>Middle of the road (5%)</a:t>
            </a:r>
          </a:p>
          <a:p>
            <a:pPr marL="514350" indent="-514350">
              <a:buFont typeface="Wingdings"/>
              <a:buAutoNum type="alphaUcPeriod"/>
            </a:pPr>
            <a:r>
              <a:rPr lang="en-US" dirty="0"/>
              <a:t>Relatively large (such as 10</a:t>
            </a:r>
            <a:r>
              <a:rPr lang="en-US" dirty="0" smtClean="0"/>
              <a:t>%)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573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2400"/>
            <a:ext cx="5325788" cy="30822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687" y="36214"/>
            <a:ext cx="3581400" cy="2743200"/>
          </a:xfrm>
        </p:spPr>
        <p:txBody>
          <a:bodyPr>
            <a:normAutofit/>
          </a:bodyPr>
          <a:lstStyle/>
          <a:p>
            <a:pPr algn="l"/>
            <a:r>
              <a:rPr lang="en-US" sz="3200" b="0" dirty="0" smtClean="0"/>
              <a:t>Larger sample size makes it easier to reject the null</a:t>
            </a:r>
            <a:endParaRPr lang="en-US" sz="3200" b="0" dirty="0"/>
          </a:p>
        </p:txBody>
      </p:sp>
      <p:sp>
        <p:nvSpPr>
          <p:cNvPr id="6" name="TextBox 5"/>
          <p:cNvSpPr txBox="1"/>
          <p:nvPr/>
        </p:nvSpPr>
        <p:spPr>
          <a:xfrm>
            <a:off x="609599" y="2246293"/>
            <a:ext cx="20638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H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: </a:t>
            </a:r>
            <a:r>
              <a:rPr lang="en-US" sz="2800" i="1" dirty="0" smtClean="0"/>
              <a:t>p</a:t>
            </a:r>
            <a:r>
              <a:rPr lang="en-US" sz="2800" dirty="0" smtClean="0"/>
              <a:t> = 0.5</a:t>
            </a:r>
          </a:p>
          <a:p>
            <a:r>
              <a:rPr lang="en-US" sz="2800" dirty="0" smtClean="0"/>
              <a:t>H</a:t>
            </a:r>
            <a:r>
              <a:rPr lang="en-US" sz="2800" baseline="-25000" dirty="0" smtClean="0"/>
              <a:t>a</a:t>
            </a:r>
            <a:r>
              <a:rPr lang="en-US" sz="2800" dirty="0" smtClean="0"/>
              <a:t>: </a:t>
            </a:r>
            <a:r>
              <a:rPr lang="en-US" sz="2800" i="1" dirty="0" smtClean="0"/>
              <a:t>p</a:t>
            </a:r>
            <a:r>
              <a:rPr lang="en-US" sz="2800" dirty="0" smtClean="0"/>
              <a:t> &gt; 0.5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810000" y="533400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n </a:t>
            </a:r>
            <a:r>
              <a:rPr lang="en-US" sz="2800" dirty="0" smtClean="0"/>
              <a:t>= 10</a:t>
            </a:r>
            <a:endParaRPr lang="en-US" sz="2800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92" y="3200400"/>
            <a:ext cx="5237408" cy="309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33800" y="3581400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n </a:t>
            </a:r>
            <a:r>
              <a:rPr lang="en-US" sz="2800" dirty="0" smtClean="0"/>
              <a:t>= 100</a:t>
            </a:r>
            <a:endParaRPr lang="en-US" sz="2800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7887" y="4419600"/>
            <a:ext cx="3505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So, increase </a:t>
            </a:r>
            <a:r>
              <a:rPr lang="en-US" sz="2800" b="1" i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n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 to decrease chance of Type II error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5410200" y="5524500"/>
          <a:ext cx="127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5" imgW="127000" imgH="203200" progId="Equation.DSMT4">
                  <p:embed/>
                </p:oleObj>
              </mc:Choice>
              <mc:Fallback>
                <p:oleObj name="Equation" r:id="rId5" imgW="1270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0200" y="5524500"/>
                        <a:ext cx="127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312971"/>
              </p:ext>
            </p:extLst>
          </p:nvPr>
        </p:nvGraphicFramePr>
        <p:xfrm>
          <a:off x="1143000" y="3234604"/>
          <a:ext cx="1219200" cy="57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Equation" r:id="rId7" imgW="457200" imgH="215900" progId="Equation.DSMT4">
                  <p:embed/>
                </p:oleObj>
              </mc:Choice>
              <mc:Fallback>
                <p:oleObj name="Equation" r:id="rId7" imgW="457200" imgH="2159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3000" y="3234604"/>
                        <a:ext cx="1219200" cy="575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301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Sample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Larger sample size makes it easier to reject H</a:t>
            </a:r>
            <a:r>
              <a:rPr lang="en-US" baseline="-25000" dirty="0" smtClean="0"/>
              <a:t>0</a:t>
            </a:r>
            <a:endParaRPr lang="en-US" i="1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With </a:t>
            </a: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small sample sizes, even large differences or effects may not be </a:t>
            </a: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significant, and Type II errors are common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With </a:t>
            </a: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large sample sizes, even a very small difference or effect can be </a:t>
            </a: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significant</a:t>
            </a:r>
            <a:r>
              <a:rPr lang="is-IS" dirty="0" smtClean="0">
                <a:solidFill>
                  <a:prstClr val="black"/>
                </a:solidFill>
                <a:cs typeface="Times New Roman" pitchFamily="18" charset="0"/>
              </a:rPr>
              <a:t>…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49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46" y="228600"/>
            <a:ext cx="8611354" cy="9906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Statistical vs Practical Significance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Suppose a weight loss program recruits 10,000 people for a randomized experiment.</a:t>
            </a:r>
          </a:p>
          <a:p>
            <a:r>
              <a:rPr lang="en-US" dirty="0"/>
              <a:t> A difference in average weight loss of only 0.5 </a:t>
            </a:r>
            <a:r>
              <a:rPr lang="en-US" dirty="0" err="1"/>
              <a:t>lbs</a:t>
            </a:r>
            <a:r>
              <a:rPr lang="en-US" dirty="0"/>
              <a:t> could be found to be statistically significant</a:t>
            </a:r>
          </a:p>
          <a:p>
            <a:r>
              <a:rPr lang="en-US" dirty="0"/>
              <a:t> Suppose the experiment lasted for a year.  Is a loss of ½ a pound practically significant?</a:t>
            </a:r>
          </a:p>
          <a:p>
            <a:r>
              <a:rPr lang="en-US" dirty="0"/>
              <a:t> A statistically significant result is not always practically significant, especially with large sample sizes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189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Conclusions based off p-values are not perfect</a:t>
            </a:r>
          </a:p>
          <a:p>
            <a:pPr lvl="1"/>
            <a:r>
              <a:rPr lang="en-US" dirty="0" smtClean="0"/>
              <a:t>Type I and Type II errors can happen</a:t>
            </a:r>
          </a:p>
          <a:p>
            <a:r>
              <a:rPr lang="en-US" dirty="0" smtClean="0"/>
              <a:t>α of all tests will be significant just by chance and often, only the significant results get published</a:t>
            </a:r>
          </a:p>
          <a:p>
            <a:pPr lvl="1"/>
            <a:r>
              <a:rPr lang="en-US" dirty="0"/>
              <a:t>Replication </a:t>
            </a:r>
            <a:r>
              <a:rPr lang="en-US" dirty="0" smtClean="0"/>
              <a:t>of results is </a:t>
            </a:r>
            <a:r>
              <a:rPr lang="en-US" dirty="0"/>
              <a:t>important </a:t>
            </a:r>
            <a:endParaRPr lang="en-US" dirty="0" smtClean="0"/>
          </a:p>
          <a:p>
            <a:r>
              <a:rPr lang="en-US" dirty="0" smtClean="0"/>
              <a:t>Larger sample sizes make it easier to get significant results</a:t>
            </a:r>
          </a:p>
          <a:p>
            <a:r>
              <a:rPr lang="en-US" dirty="0" smtClean="0"/>
              <a:t>For </a:t>
            </a:r>
            <a:r>
              <a:rPr lang="en-US" dirty="0"/>
              <a:t>more details, see </a:t>
            </a:r>
            <a:r>
              <a:rPr lang="en-US" dirty="0" smtClean="0"/>
              <a:t>the 2016 </a:t>
            </a:r>
            <a:r>
              <a:rPr lang="en-US" dirty="0">
                <a:hlinkClick r:id="rId2"/>
              </a:rPr>
              <a:t>American Statistical Association’s Statement on p-values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9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79e183c7-254f-4e2a-9d8e-e75edb5eaa17"/>
  <p:tag name="WASPOLLED" val="93766BC66A3941FEB220AE99BFB003A2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19CC064C955447C8A6ACEDE2BD89FF4&lt;/guid&gt;&#10;        &lt;description /&gt;&#10;        &lt;date&gt;7/24/2017 10:39:26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7DF7B154F9F4268A8EDE03E107A60FE&lt;/guid&gt;&#10;            &lt;repollguid&gt;F05B9C97B3A646F49CFDACC36837D4EB&lt;/repollguid&gt;&#10;            &lt;sourceid&gt;BD6D39BA6BEB4C82B76087A76C1FF2C5&lt;/sourceid&gt;&#10;            &lt;questiontext&gt;A study investigated whether mate choice can improve offspring fitness in fruit flies and obtained a p-value &amp;lt; 0.01.  Their conclusion, based on ⍺ = 0.05, should be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F61FFD19ED541BB927AF3677D8EDDEC&lt;/guid&gt;&#10;                    &lt;answertext&gt;Reject H0; mate choice improves offspring fitness&lt;/answertext&gt;&#10;                    &lt;valuetype&gt;0&lt;/valuetype&gt;&#10;                &lt;/answer&gt;&#10;                &lt;answer&gt;&#10;                    &lt;guid&gt;BF14F89DD2A4456FAB1E5D38A5A8A24C&lt;/guid&gt;&#10;                    &lt;answertext&gt;Reject H0; cannot conclude that mate choice improves offspring fitness&lt;/answertext&gt;&#10;                    &lt;valuetype&gt;0&lt;/valuetype&gt;&#10;                &lt;/answer&gt;&#10;                &lt;answer&gt;&#10;                    &lt;guid&gt;3B2AD6C5F36C45E1A29507CF2F32FE7F&lt;/guid&gt;&#10;                    &lt;answertext&gt;Do not reject H0; mate choice improves offspring fitness&lt;/answertext&gt;&#10;                    &lt;valuetype&gt;0&lt;/valuetype&gt;&#10;                &lt;/answer&gt;&#10;                &lt;answer&gt;&#10;                    &lt;guid&gt;373EBCEB118F4DA69CB6DE81BB63979A&lt;/guid&gt;&#10;                    &lt;answertext&gt;Do not reject H0; cannot conclude that mate choice improves offspring fitnes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EF84816C679473D9755EE805254E2D3&lt;/guid&gt;&#10;        &lt;description /&gt;&#10;        &lt;date&gt;7/24/2017 11:10:23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EE982D82171477FB0F4ADD7927D0D6C&lt;/guid&gt;&#10;            &lt;repollguid&gt;B020538F53694998B36297CE707B7907&lt;/repollguid&gt;&#10;            &lt;sourceid&gt;6E4F23A17D1048799D291A8D05B337F8&lt;/sourceid&gt;&#10;            &lt;questiontext&gt;A new blood thinning drug is being tested against the current drug in a double-blind experiment. Is there evidence that the mean blood thinness rating is higher for the new drug?  Using n for the new drug and o for the old drug, which of the following are the null and alternative hypothese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331D1872EBA4D0692A71FB81DC8AC0A&lt;/guid&gt;&#10;                    &lt;answertext&gt;H0: µn &amp;gt; µo   vs    Ha: µn = µo &lt;/answertext&gt;&#10;                    &lt;valuetype&gt;0&lt;/valuetype&gt;&#10;                &lt;/answer&gt;&#10;                &lt;answer&gt;&#10;                    &lt;guid&gt;2FF373C0ABE14C58A365680A0953C525&lt;/guid&gt;&#10;                    &lt;answertext&gt;H0: µn = µo   vs    Ha: µn ≠ µo&lt;/answertext&gt;&#10;                    &lt;valuetype&gt;0&lt;/valuetype&gt;&#10;                &lt;/answer&gt;&#10;                &lt;answer&gt;&#10;                    &lt;guid&gt;F4B7E39D3EE241E7914F269A894459CA&lt;/guid&gt;&#10;                    &lt;answertext&gt;H0: µn = µo   vs    Ha: µn &amp;gt; µo&lt;/answertext&gt;&#10;                    &lt;valuetype&gt;0&lt;/valuetype&gt;&#10;                &lt;/answer&gt;&#10;                &lt;answer&gt;&#10;                    &lt;guid&gt;97046F3678FA403089D4C15ACB663B1A&lt;/guid&gt;&#10;                    &lt;answertext&gt;H0:                 vs    Ha:                    &lt;/answertext&gt;&#10;                    &lt;valuetype&gt;0&lt;/valuetype&gt;&#10;                &lt;/answer&gt;&#10;                &lt;answer&gt;&#10;                    &lt;guid&gt;B421441F0E9B45A181E6008F2B85E61E&lt;/guid&gt;&#10;                    &lt;answertext&gt;H0:                 vs    Ha: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EF84816C679473D9755EE805254E2D3&lt;/guid&gt;&#10;        &lt;description /&gt;&#10;        &lt;date&gt;7/24/2017 11:10:23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2B64BF93A284BB894F1623F3704C9CC&lt;/guid&gt;&#10;            &lt;repollguid&gt;B020538F53694998B36297CE707B7907&lt;/repollguid&gt;&#10;            &lt;sourceid&gt;6E4F23A17D1048799D291A8D05B337F8&lt;/sourceid&gt;&#10;            &lt;questiontext&gt;A new blood thinning drug is being tested against the current drug in a double-blind experiment, and the hypotheses are:                H0: n = o     vs    Ha: n &amp;gt; o What does a Type 1 Error mean in this situation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331D1872EBA4D0692A71FB81DC8AC0A&lt;/guid&gt;&#10;                    &lt;answertext&gt;We reject H0&lt;/answertext&gt;&#10;                    &lt;valuetype&gt;0&lt;/valuetype&gt;&#10;                &lt;/answer&gt;&#10;                &lt;answer&gt;&#10;                    &lt;guid&gt;2FF373C0ABE14C58A365680A0953C525&lt;/guid&gt;&#10;                    &lt;answertext&gt;We do not reject H0&lt;/answertext&gt;&#10;                    &lt;valuetype&gt;0&lt;/valuetype&gt;&#10;                &lt;/answer&gt;&#10;                &lt;answer&gt;&#10;                    &lt;guid&gt;F4B7E39D3EE241E7914F269A894459CA&lt;/guid&gt;&#10;                    &lt;answertext&gt;We find evidence the new drug is better when it is really not better. &lt;/answertext&gt;&#10;                    &lt;valuetype&gt;0&lt;/valuetype&gt;&#10;                &lt;/answer&gt;&#10;                &lt;answer&gt;&#10;                    &lt;guid&gt;97046F3678FA403089D4C15ACB663B1A&lt;/guid&gt;&#10;                    &lt;answertext&gt;We are not able to conclude that the new drug is better even though it really is.&lt;/answertext&gt;&#10;                    &lt;valuetype&gt;0&lt;/valuetype&gt;&#10;                &lt;/answer&gt;&#10;                &lt;answer&gt;&#10;                    &lt;guid&gt;B421441F0E9B45A181E6008F2B85E61E&lt;/guid&gt;&#10;                    &lt;answertext&gt;We are able to conclude that the new drug is better.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EF84816C679473D9755EE805254E2D3&lt;/guid&gt;&#10;        &lt;description /&gt;&#10;        &lt;date&gt;7/24/2017 11:10:23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498D9460747343B69FE899B223F81FBB&lt;/guid&gt;&#10;            &lt;repollguid&gt;B020538F53694998B36297CE707B7907&lt;/repollguid&gt;&#10;            &lt;sourceid&gt;6E4F23A17D1048799D291A8D05B337F8&lt;/sourceid&gt;&#10;            &lt;questiontext&gt;A new blood thinning drug is being tested against the current drug in a double-blind experiment, and the hypotheses are:                H0: n = o     vs    Ha: n &amp;gt; o What does a Type 2 Error mean in this situation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331D1872EBA4D0692A71FB81DC8AC0A&lt;/guid&gt;&#10;                    &lt;answertext&gt;We reject H0&lt;/answertext&gt;&#10;                    &lt;valuetype&gt;0&lt;/valuetype&gt;&#10;                &lt;/answer&gt;&#10;                &lt;answer&gt;&#10;                    &lt;guid&gt;2FF373C0ABE14C58A365680A0953C525&lt;/guid&gt;&#10;                    &lt;answertext&gt;We do not reject H0&lt;/answertext&gt;&#10;                    &lt;valuetype&gt;0&lt;/valuetype&gt;&#10;                &lt;/answer&gt;&#10;                &lt;answer&gt;&#10;                    &lt;guid&gt;F4B7E39D3EE241E7914F269A894459CA&lt;/guid&gt;&#10;                    &lt;answertext&gt;We find evidence the new drug is better when it is really not better. &lt;/answertext&gt;&#10;                    &lt;valuetype&gt;0&lt;/valuetype&gt;&#10;                &lt;/answer&gt;&#10;                &lt;answer&gt;&#10;                    &lt;guid&gt;97046F3678FA403089D4C15ACB663B1A&lt;/guid&gt;&#10;                    &lt;answertext&gt;We are not able to conclude that the new drug is better even though it really is.&lt;/answertext&gt;&#10;                    &lt;valuetype&gt;0&lt;/valuetype&gt;&#10;                &lt;/answer&gt;&#10;                &lt;answer&gt;&#10;                    &lt;guid&gt;B421441F0E9B45A181E6008F2B85E61E&lt;/guid&gt;&#10;                    &lt;answertext&gt;We are able to conclude that the new drug is better.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BBF41F1BEB36460D892A5CA12199B958&lt;/guid&gt;&#10;        &lt;description /&gt;&#10;        &lt;date&gt;7/24/2017 11:49:2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9C31DEBD60E404389BF23A9B5E3CD78&lt;/guid&gt;&#10;            &lt;repollguid&gt;2D2BA55DD32F45329AB0EFAD67025B4F&lt;/repollguid&gt;&#10;            &lt;sourceid&gt;4ECF705E1E2D410AA47736C386086F7E&lt;/sourceid&gt;&#10;            &lt;questiontext&gt;How can we reduce the probability of making a Type I Error (rejecting a true null)?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B6EB9EDDBFE40EB9C58276802DF3016&lt;/guid&gt;&#10;                    &lt;answertext&gt;Decrease the significance level&lt;/answertext&gt;&#10;                    &lt;valuetype&gt;0&lt;/valuetype&gt;&#10;                &lt;/answer&gt;&#10;                &lt;answer&gt;&#10;                    &lt;guid&gt;299E1450986341DE94589A8C331CADD6&lt;/guid&gt;&#10;                    &lt;answertext&gt;Increase the significance level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BBF41F1BEB36460D892A5CA12199B958&lt;/guid&gt;&#10;        &lt;description /&gt;&#10;        &lt;date&gt;7/24/2017 11:49:2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FA1A58DDD7C490C9A3C5C38DE46A5EA&lt;/guid&gt;&#10;            &lt;repollguid&gt;2D2BA55DD32F45329AB0EFAD67025B4F&lt;/repollguid&gt;&#10;            &lt;sourceid&gt;4ECF705E1E2D410AA47736C386086F7E&lt;/sourceid&gt;&#10;            &lt;questiontext&gt;How can we reduce the probability of making a Type II Error (not rejecting a false null)?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B6EB9EDDBFE40EB9C58276802DF3016&lt;/guid&gt;&#10;                    &lt;answertext&gt;Decrease the significance level&lt;/answertext&gt;&#10;                    &lt;valuetype&gt;0&lt;/valuetype&gt;&#10;                &lt;/answer&gt;&#10;                &lt;answer&gt;&#10;                    &lt;guid&gt;299E1450986341DE94589A8C331CADD6&lt;/guid&gt;&#10;                    &lt;answertext&gt;Increase the significance level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5213ED2FD52C48FAB6A5F3D083B0A96D&lt;/guid&gt;&#10;        &lt;description /&gt;&#10;        &lt;date&gt;7/24/2017 11:56:13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DEB42C99BF64F158C6BBF9ABDF81D55&lt;/guid&gt;&#10;            &lt;repollguid&gt;F899BC4A9D364C64BE95219F5DA0171D&lt;/repollguid&gt;&#10;            &lt;sourceid&gt;91E74DA3BD044400A36290E8F1369DFE&lt;/sourceid&gt;&#10;            &lt;questiontext&gt;A new blood thinning drug is being tested against the current drug in a double-blind experiment, and the hypotheses are:              H0: n = o     vs    Ha: n &amp;gt; o If the new drug has potentially serious side effects, we should pick a significance level that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729F09F0225045619DFB97AA069BA96C&lt;/guid&gt;&#10;                    &lt;answertext&gt;Relatively small (such as 1 %)&lt;/answertext&gt;&#10;                    &lt;valuetype&gt;0&lt;/valuetype&gt;&#10;                &lt;/answer&gt;&#10;                &lt;answer&gt;&#10;                    &lt;guid&gt;F8E424CB1A2C42D7AC9C0CFB06C93845&lt;/guid&gt;&#10;                    &lt;answertext&gt;Middle of the road (5%)&lt;/answertext&gt;&#10;                    &lt;valuetype&gt;0&lt;/valuetype&gt;&#10;                &lt;/answer&gt;&#10;                &lt;answer&gt;&#10;                    &lt;guid&gt;23CA5251A8E049F99F4453837D9F3AD2&lt;/guid&gt;&#10;                    &lt;answertext&gt;Relatively large (such as 10%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5213ED2FD52C48FAB6A5F3D083B0A96D&lt;/guid&gt;&#10;        &lt;description /&gt;&#10;        &lt;date&gt;7/24/2017 11:56:13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1D1084398764C8487B233C45AEBE06A&lt;/guid&gt;&#10;            &lt;repollguid&gt;F899BC4A9D364C64BE95219F5DA0171D&lt;/repollguid&gt;&#10;            &lt;sourceid&gt;91E74DA3BD044400A36290E8F1369DFE&lt;/sourceid&gt;&#10;            &lt;questiontext&gt;A new blood thinning drug is being tested against the current drug in a double-blind experiment, and the hypotheses are:              H0: n = o     vs    Ha: n &amp;gt; o If the new drug has no real side effects and costs less than the old drug, we might pick a significance level that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729F09F0225045619DFB97AA069BA96C&lt;/guid&gt;&#10;                    &lt;answertext&gt;Relatively small (such as 1 %)&lt;/answertext&gt;&#10;                    &lt;valuetype&gt;0&lt;/valuetype&gt;&#10;                &lt;/answer&gt;&#10;                &lt;answer&gt;&#10;                    &lt;guid&gt;F8E424CB1A2C42D7AC9C0CFB06C93845&lt;/guid&gt;&#10;                    &lt;answertext&gt;Middle of the road (5%)&lt;/answertext&gt;&#10;                    &lt;valuetype&gt;0&lt;/valuetype&gt;&#10;                &lt;/answer&gt;&#10;                &lt;answer&gt;&#10;                    &lt;guid&gt;23CA5251A8E049F99F4453837D9F3AD2&lt;/guid&gt;&#10;                    &lt;answertext&gt;Relatively large (such as 10%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647</TotalTime>
  <Words>1919</Words>
  <Application>Microsoft Office PowerPoint</Application>
  <PresentationFormat>On-screen Show (4:3)</PresentationFormat>
  <Paragraphs>223</Paragraphs>
  <Slides>39</Slides>
  <Notes>11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Median</vt:lpstr>
      <vt:lpstr>Equation</vt:lpstr>
      <vt:lpstr>PowerPoint Presentation</vt:lpstr>
      <vt:lpstr>Question of the Day</vt:lpstr>
      <vt:lpstr>A study investigated whether mate choice can improve offspring fitness in fruit flies and obtained a p-value &lt; 0.01.  Their conclusion, based on ⍺ = 0.05, should be:</vt:lpstr>
      <vt:lpstr>Original Study</vt:lpstr>
      <vt:lpstr>PowerPoint Presentation</vt:lpstr>
      <vt:lpstr>Fruit Fly Mate Choice Experiment</vt:lpstr>
      <vt:lpstr>Mate Choice and Offspring Survival</vt:lpstr>
      <vt:lpstr>Mate Choice and Offspring Survival</vt:lpstr>
      <vt:lpstr>PowerPoint Presentation</vt:lpstr>
      <vt:lpstr>PowerPoint Presentation</vt:lpstr>
      <vt:lpstr>Mate Choice and Offspring Fitness</vt:lpstr>
      <vt:lpstr>A new blood thinning drug is being tested against the current drug in a double-blind experiment. Is there evidence that the mean blood thinness rating is higher for the new drug?  Using n for the new drug and o for the old drug, which of the following are the null and alternative hypotheses?</vt:lpstr>
      <vt:lpstr>A new blood thinning drug is being tested against the current drug in a double-blind experiment, and the hypotheses are:                 H0: µn = µo     vs    Ha: µn &gt; µo  What does a Type 1 Error mean in this situation?</vt:lpstr>
      <vt:lpstr>A new blood thinning drug is being tested against the current drug in a double-blind experiment, and the hypotheses are:                 H0: µn = µo     vs    Ha: µn &gt; µo  What does a Type 2 Error mean in this situation?</vt:lpstr>
      <vt:lpstr>PowerPoint Presentation</vt:lpstr>
      <vt:lpstr>PowerPoint Presentation</vt:lpstr>
      <vt:lpstr>PowerPoint Presentation</vt:lpstr>
      <vt:lpstr>Multiple Testing</vt:lpstr>
      <vt:lpstr>PowerPoint Presentation</vt:lpstr>
      <vt:lpstr>Mate Choice and Offspring Fitness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 Testing and Publication Bias</vt:lpstr>
      <vt:lpstr>Reproducibility Crisis</vt:lpstr>
      <vt:lpstr>What Can You Do?</vt:lpstr>
      <vt:lpstr>Replication</vt:lpstr>
      <vt:lpstr>Mate Choice and Offspring Fitness</vt:lpstr>
      <vt:lpstr>How can we reduce the probability of making a Type I Error (rejecting a true null)? </vt:lpstr>
      <vt:lpstr>How can we reduce the probability of making a Type II Error (not rejecting a false null)? </vt:lpstr>
      <vt:lpstr>Significance Level and Errors</vt:lpstr>
      <vt:lpstr>A new blood thinning drug is being tested against the current drug in a double-blind experiment, and the hypotheses are:               H0: µn = µo     vs    Ha: µn &gt; µo  If the new drug has potentially serious side effects, we should pick a significance level that is:</vt:lpstr>
      <vt:lpstr>A new blood thinning drug is being tested against the current drug in a double-blind experiment, and the hypotheses are:               H0: µn = µo     vs    Ha: µn &gt; µo  If the new drug has no real side effects and costs less than the old drug, we might pick a significance level that is:</vt:lpstr>
      <vt:lpstr>Larger sample size makes it easier to reject the null</vt:lpstr>
      <vt:lpstr>Effect of Sample Size</vt:lpstr>
      <vt:lpstr>Statistical vs Practical Significance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Kathryn Dobeck</cp:lastModifiedBy>
  <cp:revision>22</cp:revision>
  <dcterms:created xsi:type="dcterms:W3CDTF">2017-07-24T14:16:55Z</dcterms:created>
  <dcterms:modified xsi:type="dcterms:W3CDTF">2017-07-25T01:36:17Z</dcterms:modified>
</cp:coreProperties>
</file>