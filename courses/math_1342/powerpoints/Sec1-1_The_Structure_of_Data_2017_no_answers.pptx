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28"/>
  </p:notesMasterIdLst>
  <p:handoutMasterIdLst>
    <p:handoutMasterId r:id="rId29"/>
  </p:handoutMasterIdLst>
  <p:sldIdLst>
    <p:sldId id="256" r:id="rId2"/>
    <p:sldId id="316" r:id="rId3"/>
    <p:sldId id="270" r:id="rId4"/>
    <p:sldId id="286" r:id="rId5"/>
    <p:sldId id="323" r:id="rId6"/>
    <p:sldId id="290" r:id="rId7"/>
    <p:sldId id="317" r:id="rId8"/>
    <p:sldId id="318" r:id="rId9"/>
    <p:sldId id="321" r:id="rId10"/>
    <p:sldId id="292" r:id="rId11"/>
    <p:sldId id="319" r:id="rId12"/>
    <p:sldId id="320" r:id="rId13"/>
    <p:sldId id="322" r:id="rId14"/>
    <p:sldId id="331" r:id="rId15"/>
    <p:sldId id="332" r:id="rId16"/>
    <p:sldId id="333" r:id="rId17"/>
    <p:sldId id="335" r:id="rId18"/>
    <p:sldId id="283" r:id="rId19"/>
    <p:sldId id="303" r:id="rId20"/>
    <p:sldId id="336" r:id="rId21"/>
    <p:sldId id="337" r:id="rId22"/>
    <p:sldId id="330" r:id="rId23"/>
    <p:sldId id="324" r:id="rId24"/>
    <p:sldId id="325" r:id="rId25"/>
    <p:sldId id="326" r:id="rId26"/>
    <p:sldId id="305" r:id="rId27"/>
  </p:sldIdLst>
  <p:sldSz cx="9144000" cy="6858000" type="screen4x3"/>
  <p:notesSz cx="7315200" cy="96012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940" autoAdjust="0"/>
    <p:restoredTop sz="94660"/>
  </p:normalViewPr>
  <p:slideViewPr>
    <p:cSldViewPr>
      <p:cViewPr>
        <p:scale>
          <a:sx n="40" d="100"/>
          <a:sy n="40" d="100"/>
        </p:scale>
        <p:origin x="-2460" y="-13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2D671-9204-4475-BA43-E3681C1C058A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F3842-A609-4AAC-9AF1-DFFE3D81AC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89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DC5829D-C09F-4D90-B6E4-6B5BA543AE72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AB00FEA-A35E-49B6-8C8A-D96BC847EC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9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00FEA-A35E-49B6-8C8A-D96BC847ECE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07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en-US" baseline="0" dirty="0"/>
              <a:t> fun, ask students to hypothesize about kidney cancer risk factors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20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</a:t>
            </a:r>
            <a:r>
              <a:rPr lang="en-US" baseline="0" dirty="0"/>
              <a:t> sample size.  Smaller counties are more likely to have more extreme death rates – tell them they will learn about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algn="l" rtl="0" eaLnBrk="1" latinLnBrk="0" hangingPunct="1">
              <a:defRPr kumimoji="0" lang="en-US" sz="29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1" latinLnBrk="0" hangingPunct="1">
              <a:defRPr kumimoji="0" lang="en-US" sz="29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/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7376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23FF8F4-8D5E-4665-B786-41F957EFEDCF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DF96AF5-D00F-4838-A04F-9FC945A65D1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219200"/>
            <a:ext cx="6629400" cy="2438400"/>
          </a:xfrm>
        </p:spPr>
        <p:txBody>
          <a:bodyPr>
            <a:noAutofit/>
          </a:bodyPr>
          <a:lstStyle/>
          <a:p>
            <a:r>
              <a:rPr lang="en-US" b="1" cap="none" dirty="0">
                <a:latin typeface="+mn-lt"/>
              </a:rPr>
              <a:t>Introduction and</a:t>
            </a:r>
            <a:br>
              <a:rPr lang="en-US" b="1" cap="none" dirty="0">
                <a:latin typeface="+mn-lt"/>
              </a:rPr>
            </a:br>
            <a:r>
              <a:rPr lang="en-US" b="1" cap="none" dirty="0"/>
              <a:t>Section 1.1: </a:t>
            </a:r>
            <a:r>
              <a:rPr lang="en-US" b="1" cap="none" dirty="0">
                <a:latin typeface="+mn-lt"/>
              </a:rPr>
              <a:t>The Structure of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505200"/>
            <a:ext cx="6629400" cy="19812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Professor Kathryn </a:t>
            </a:r>
            <a:r>
              <a:rPr lang="en-US" sz="3600" dirty="0" err="1" smtClean="0">
                <a:solidFill>
                  <a:schemeClr val="tx2"/>
                </a:solidFill>
              </a:rPr>
              <a:t>Dobeck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05000" y="6172200"/>
            <a:ext cx="7239000" cy="457200"/>
          </a:xfrm>
        </p:spPr>
        <p:txBody>
          <a:bodyPr/>
          <a:lstStyle/>
          <a:p>
            <a:r>
              <a:rPr lang="en-US" sz="2700" b="1" u="sng" dirty="0"/>
              <a:t>Statistics: Unlocking the Power of Data</a:t>
            </a:r>
            <a:r>
              <a:rPr lang="en-US" sz="2700" b="1" dirty="0"/>
              <a:t>, Lock</a:t>
            </a:r>
            <a:r>
              <a:rPr lang="en-US" sz="2700" b="1" baseline="30000" dirty="0"/>
              <a:t>5</a:t>
            </a:r>
            <a:endParaRPr lang="en-US" sz="2700" b="1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204" y="0"/>
            <a:ext cx="8610600" cy="1143000"/>
          </a:xfrm>
        </p:spPr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r>
              <a:rPr lang="en-US" dirty="0"/>
              <a:t>Information that has been collected from observations, surveys, and experiments are the building blocks for statistical studies and are called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data</a:t>
            </a:r>
            <a:r>
              <a:rPr lang="en-US" dirty="0"/>
              <a:t>.”</a:t>
            </a:r>
          </a:p>
          <a:p>
            <a:r>
              <a:rPr lang="en-US" dirty="0"/>
              <a:t>The field of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Statistics</a:t>
            </a:r>
            <a:r>
              <a:rPr lang="en-US" dirty="0"/>
              <a:t> is all about data</a:t>
            </a:r>
          </a:p>
          <a:p>
            <a:pPr lvl="1"/>
            <a:r>
              <a:rPr lang="en-US" dirty="0"/>
              <a:t>Collecting it</a:t>
            </a:r>
          </a:p>
          <a:p>
            <a:pPr lvl="1"/>
            <a:r>
              <a:rPr lang="en-US" dirty="0"/>
              <a:t>Describing it – summarizing, visualizing</a:t>
            </a:r>
          </a:p>
          <a:p>
            <a:pPr lvl="1"/>
            <a:r>
              <a:rPr lang="en-US" dirty="0"/>
              <a:t>Analyzing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262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Why Statistics?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Data are </a:t>
            </a:r>
            <a:r>
              <a:rPr lang="en-US" i="1" dirty="0">
                <a:solidFill>
                  <a:schemeClr val="tx2"/>
                </a:solidFill>
              </a:rPr>
              <a:t>everywhere</a:t>
            </a:r>
            <a:r>
              <a:rPr lang="en-US" dirty="0">
                <a:solidFill>
                  <a:schemeClr val="tx2"/>
                </a:solidFill>
              </a:rPr>
              <a:t>!  T</a:t>
            </a:r>
            <a:r>
              <a:rPr lang="en-US" dirty="0"/>
              <a:t>he amount of new technical information is doubling every two years.  It is estimated that over 7. 2 zettabytes (that’s 7</a:t>
            </a:r>
            <a:r>
              <a:rPr lang="en-US" i="1" dirty="0"/>
              <a:t>.</a:t>
            </a:r>
            <a:r>
              <a:rPr lang="en-US" dirty="0"/>
              <a:t>2 × 10</a:t>
            </a:r>
            <a:r>
              <a:rPr lang="en-US" baseline="30000" dirty="0"/>
              <a:t>21</a:t>
            </a:r>
            <a:r>
              <a:rPr lang="en-US" dirty="0"/>
              <a:t> bytes) of unique new information will be generated this year.</a:t>
            </a:r>
            <a:r>
              <a:rPr lang="en-US" baseline="30000" dirty="0"/>
              <a:t>1</a:t>
            </a:r>
            <a:r>
              <a:rPr lang="en-US" dirty="0">
                <a:solidFill>
                  <a:schemeClr val="tx2"/>
                </a:solidFill>
              </a:rPr>
              <a:t>  </a:t>
            </a:r>
          </a:p>
          <a:p>
            <a:r>
              <a:rPr lang="en-US" dirty="0"/>
              <a:t>Regardless of your field, interests, lifestyle, etc., you will almost definitely have to make decisions based on data, or evaluate decisions someone else has made based on data. </a:t>
            </a:r>
          </a:p>
          <a:p>
            <a:r>
              <a:rPr lang="en-US" dirty="0"/>
              <a:t>“For Today’s Graduate, Just One Word: Statistics”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-15089" y="6172200"/>
            <a:ext cx="9129665" cy="685800"/>
          </a:xfrm>
        </p:spPr>
        <p:txBody>
          <a:bodyPr/>
          <a:lstStyle/>
          <a:p>
            <a:pPr algn="l"/>
            <a:r>
              <a:rPr lang="en-US" baseline="30000" dirty="0"/>
              <a:t>1 </a:t>
            </a:r>
            <a:r>
              <a:rPr lang="en-US" i="1" dirty="0"/>
              <a:t>http://www.emc.com/leadership/programs/digital-universe.htm</a:t>
            </a:r>
            <a:r>
              <a:rPr lang="en-US" dirty="0"/>
              <a:t>.  Accessed January 2015.</a:t>
            </a:r>
          </a:p>
          <a:p>
            <a:pPr algn="l"/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i="1" dirty="0"/>
              <a:t>New York Times</a:t>
            </a:r>
            <a:r>
              <a:rPr lang="en-US" dirty="0"/>
              <a:t> headline, August 5, 2009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Cases and Variables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067800" cy="53340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2"/>
                </a:solidFill>
              </a:rPr>
              <a:t>The subjects/objects that we obtain information about  are known as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cases </a:t>
            </a:r>
            <a:r>
              <a:rPr lang="en-US" dirty="0"/>
              <a:t>in a dataset</a:t>
            </a:r>
          </a:p>
          <a:p>
            <a:pPr>
              <a:spcBef>
                <a:spcPts val="1200"/>
              </a:spcBef>
            </a:pPr>
            <a:r>
              <a:rPr lang="en-US" dirty="0"/>
              <a:t>A characteristic that corresponds to each case in a dataset is </a:t>
            </a:r>
            <a:r>
              <a:rPr lang="en-US" dirty="0">
                <a:solidFill>
                  <a:schemeClr val="tx2"/>
                </a:solidFill>
              </a:rPr>
              <a:t>known as a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variable. 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2"/>
                </a:solidFill>
              </a:rPr>
              <a:t>Usually data is stored and presented in a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dataset</a:t>
            </a:r>
            <a:r>
              <a:rPr lang="en-US" dirty="0">
                <a:solidFill>
                  <a:schemeClr val="tx2"/>
                </a:solidFill>
              </a:rPr>
              <a:t>, where each row represents one case, and each column represents one variable</a:t>
            </a:r>
          </a:p>
          <a:p>
            <a:pPr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/>
          <a:p>
            <a:r>
              <a:rPr lang="en-US" b="1" dirty="0"/>
              <a:t>Hollywood Movies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08918"/>
            <a:ext cx="9144000" cy="5349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Research Question: Do movies that are comedies tend to get higher audience ratings than movies that are dramas?  </a:t>
            </a:r>
          </a:p>
          <a:p>
            <a:pPr>
              <a:buNone/>
            </a:pPr>
            <a:r>
              <a:rPr lang="en-US" dirty="0"/>
              <a:t>1. In a dataset to answer this question, what are the </a:t>
            </a:r>
            <a:r>
              <a:rPr lang="en-US" i="1" u="sng" dirty="0"/>
              <a:t>cases</a:t>
            </a:r>
            <a:r>
              <a:rPr lang="en-US" dirty="0"/>
              <a:t>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2. In a dataset to answer this question, how many </a:t>
            </a:r>
            <a:r>
              <a:rPr lang="en-US" i="1" u="sng" dirty="0"/>
              <a:t>variables</a:t>
            </a:r>
            <a:r>
              <a:rPr lang="en-US" dirty="0"/>
              <a:t> are there?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762000" y="3200400"/>
            <a:ext cx="7772400" cy="9394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BF"/>
              </a:buClr>
              <a:buSzPct val="85000"/>
              <a:buFont typeface="Wingdings 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Print" pitchFamily="2" charset="0"/>
              <a:ea typeface="+mn-ea"/>
              <a:cs typeface="+mn-cs"/>
            </a:endParaRP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762000" y="5105400"/>
            <a:ext cx="7848600" cy="1066800"/>
          </a:xfrm>
          <a:prstGeom prst="rect">
            <a:avLst/>
          </a:prstGeom>
        </p:spPr>
        <p:txBody>
          <a:bodyPr vert="horz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BF"/>
              </a:buClr>
              <a:buSzPct val="85000"/>
              <a:buFont typeface="Wingdings 2"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Segoe Print" pitchFamily="2" charset="0"/>
              </a:defRPr>
            </a:lvl1pPr>
          </a:lstStyle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049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04800" y="76200"/>
            <a:ext cx="8229600" cy="1143000"/>
          </a:xfrm>
        </p:spPr>
        <p:txBody>
          <a:bodyPr/>
          <a:lstStyle/>
          <a:p>
            <a:r>
              <a:rPr lang="en-US" b="1" dirty="0"/>
              <a:t>Countries of the World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990600"/>
          <a:ext cx="8381997" cy="5694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3339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Land Area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Rural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Internet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Birth Rate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Life Expectancy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HIV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Afghanistan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652230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29021099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46.5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43.9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229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Albania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3143291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53.3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23.9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Algeria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2381740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34373426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72.4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American Samoa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66107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229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Andorra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83810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70.5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Angola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1246700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18020668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42.9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82573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Antigua and Barbuda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86634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Argentina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2736690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39882980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229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Armenia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28480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3077087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36.1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73.5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the </a:t>
            </a:r>
            <a:r>
              <a:rPr lang="en-US" i="1" dirty="0"/>
              <a:t>Countries of the World </a:t>
            </a:r>
            <a:r>
              <a:rPr lang="en-US" dirty="0"/>
              <a:t>dataset, what are the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cases</a:t>
            </a:r>
            <a:r>
              <a:rPr lang="en-US" dirty="0"/>
              <a:t>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52400" y="3962400"/>
            <a:ext cx="3810000" cy="2640106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Countries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Land Areas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Populations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Afghanistan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0200"/>
            <a:ext cx="379095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797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" y="152400"/>
            <a:ext cx="5181600" cy="24384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 the </a:t>
            </a:r>
            <a:r>
              <a:rPr lang="en-US" b="1" i="1" dirty="0"/>
              <a:t>Countries of the World </a:t>
            </a:r>
            <a:r>
              <a:rPr lang="en-US" b="1" dirty="0"/>
              <a:t>dataset, which of the options are the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variables</a:t>
            </a:r>
            <a:r>
              <a:rPr lang="en-US" b="1" dirty="0"/>
              <a:t>?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52400"/>
            <a:ext cx="379095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13447" y="2743200"/>
            <a:ext cx="4114800" cy="3733800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Countries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Land Areas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Populations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Percent Rural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Health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All of the above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Answers b) through 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171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417064"/>
              </p:ext>
            </p:extLst>
          </p:nvPr>
        </p:nvGraphicFramePr>
        <p:xfrm>
          <a:off x="304800" y="990600"/>
          <a:ext cx="8381997" cy="5694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3339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Land Area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Rural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Internet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Birth Rate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Life Expectancy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latin typeface="Calibri"/>
                        </a:rPr>
                        <a:t>HIV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Afghanistan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652230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29021099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46.5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43.9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229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Albania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3143291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53.3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23.9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76.6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Algeria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2381740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34373426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72.4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American Samoa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66107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229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Andorra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83810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70.5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Angola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1246700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18020668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42.9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82573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Antigua and Barbuda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86634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533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Argentina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2736690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39882980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229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Armenia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28480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3077087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36.1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73.5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2" name="Rounded Rectangle 1"/>
          <p:cNvSpPr/>
          <p:nvPr/>
        </p:nvSpPr>
        <p:spPr>
          <a:xfrm>
            <a:off x="304800" y="1600200"/>
            <a:ext cx="1295400" cy="51054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04800" y="228600"/>
            <a:ext cx="2438400" cy="5334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2"/>
                </a:solidFill>
              </a:rPr>
              <a:t>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600" y="228600"/>
            <a:ext cx="2438400" cy="533400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400" y="228600"/>
            <a:ext cx="2438400" cy="53340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914400"/>
            <a:ext cx="7239000" cy="838200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676400" y="1900518"/>
            <a:ext cx="7162800" cy="4805082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640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533400" y="76200"/>
            <a:ext cx="8229600" cy="1143000"/>
          </a:xfrm>
        </p:spPr>
        <p:txBody>
          <a:bodyPr/>
          <a:lstStyle/>
          <a:p>
            <a:r>
              <a:rPr lang="en-US" b="1" dirty="0"/>
              <a:t>Intro Statistics Survey Data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143000"/>
            <a:ext cx="8699426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the </a:t>
            </a:r>
            <a:r>
              <a:rPr lang="en-US" i="1" dirty="0"/>
              <a:t>Intro Statistics Survey </a:t>
            </a:r>
            <a:r>
              <a:rPr lang="en-US" dirty="0"/>
              <a:t>dataset, what are the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cases</a:t>
            </a:r>
            <a:r>
              <a:rPr lang="en-US" dirty="0"/>
              <a:t>?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37447"/>
            <a:ext cx="3733800" cy="2091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228600" y="3629212"/>
            <a:ext cx="4495800" cy="3228788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Year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Gender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SAT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GPA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Siblings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dirty="0"/>
              <a:t>Intro to Statistics Students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345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24653" y="76200"/>
            <a:ext cx="4699747" cy="3124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 the </a:t>
            </a:r>
            <a:r>
              <a:rPr lang="en-US" b="1" i="1" dirty="0"/>
              <a:t>Intro Statistics Survey </a:t>
            </a:r>
            <a:r>
              <a:rPr lang="en-US" b="1" dirty="0"/>
              <a:t>dataset, which of the options are the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variables</a:t>
            </a:r>
            <a:r>
              <a:rPr lang="en-US" b="1" dirty="0"/>
              <a:t>?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285" y="152398"/>
            <a:ext cx="3733800" cy="2091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895601"/>
            <a:ext cx="4114800" cy="3962400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Year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Gender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SAT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GPA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Siblings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</a:rPr>
              <a:t>All of the Above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097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143000"/>
            <a:ext cx="8699426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486400" y="247338"/>
            <a:ext cx="1790835" cy="533400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91400" y="247338"/>
            <a:ext cx="1575350" cy="53340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" y="152400"/>
            <a:ext cx="5257800" cy="8382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Cases = Intro to Stats Students (each row corresponds to one student)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295400"/>
            <a:ext cx="8458200" cy="304800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28600" y="1600200"/>
            <a:ext cx="8610600" cy="510540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704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/>
              <a:t>Kidney Cancer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6019800"/>
            <a:ext cx="8458200" cy="533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Source: Gelman et. al. </a:t>
            </a:r>
            <a:r>
              <a:rPr lang="en-US" sz="2000" u="sng" dirty="0"/>
              <a:t>Bayesian Data </a:t>
            </a:r>
            <a:r>
              <a:rPr lang="en-US" sz="2000" u="sng" dirty="0" err="1"/>
              <a:t>Anaylsis</a:t>
            </a:r>
            <a:r>
              <a:rPr lang="en-US" sz="2000" dirty="0"/>
              <a:t>, CRC Press, 2004.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342900" y="5410200"/>
            <a:ext cx="84201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Counties with the highest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kidney cancer death rates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KidneyCancer_highest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9600" y="1550749"/>
            <a:ext cx="7391400" cy="39241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424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/>
              <a:t>Kidney Cancer</a:t>
            </a:r>
          </a:p>
        </p:txBody>
      </p:sp>
      <p:pic>
        <p:nvPicPr>
          <p:cNvPr id="4" name="Picture 3" descr="KidneyCancer_lowest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5800" y="1524000"/>
            <a:ext cx="7391400" cy="3942080"/>
          </a:xfrm>
          <a:prstGeom prst="rect">
            <a:avLst/>
          </a:prstGeom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342900" y="5410200"/>
            <a:ext cx="84201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Counties with the lowest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kidney cancer death rates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031937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/>
          </p:nvPr>
        </p:nvSpPr>
        <p:spPr>
          <a:xfrm>
            <a:off x="-1510" y="11316"/>
            <a:ext cx="9145509" cy="1284083"/>
          </a:xfrm>
        </p:spPr>
        <p:txBody>
          <a:bodyPr anchor="ctr">
            <a:noAutofit/>
          </a:bodyPr>
          <a:lstStyle/>
          <a:p>
            <a:r>
              <a:rPr lang="en-US" sz="3200" b="1" dirty="0"/>
              <a:t>If the values in the kidney cancer dataset are </a:t>
            </a:r>
            <a:r>
              <a:rPr lang="en-US" sz="3200" b="1" i="1" dirty="0">
                <a:solidFill>
                  <a:schemeClr val="accent2"/>
                </a:solidFill>
              </a:rPr>
              <a:t>rates</a:t>
            </a:r>
            <a:r>
              <a:rPr lang="en-US" sz="3200" b="1" dirty="0">
                <a:solidFill>
                  <a:schemeClr val="accent2"/>
                </a:solidFill>
              </a:rPr>
              <a:t> </a:t>
            </a:r>
            <a:r>
              <a:rPr lang="en-US" sz="3200" b="1" dirty="0"/>
              <a:t>of kidney cancer deaths, then what are the </a:t>
            </a:r>
            <a:r>
              <a:rPr lang="en-US" sz="3200" b="1" i="1" dirty="0">
                <a:solidFill>
                  <a:schemeClr val="accent5">
                    <a:lumMod val="75000"/>
                  </a:schemeClr>
                </a:solidFill>
              </a:rPr>
              <a:t>cases</a:t>
            </a:r>
            <a:r>
              <a:rPr lang="en-US" sz="3200" b="1" dirty="0"/>
              <a:t>?</a:t>
            </a:r>
          </a:p>
        </p:txBody>
      </p:sp>
      <p:sp>
        <p:nvSpPr>
          <p:cNvPr id="2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21879" y="1524000"/>
            <a:ext cx="8153400" cy="4495800"/>
          </a:xfrm>
        </p:spPr>
        <p:txBody>
          <a:bodyPr>
            <a:norm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dirty="0"/>
              <a:t> The people living in the US</a:t>
            </a:r>
            <a:endParaRPr lang="en-US" dirty="0">
              <a:solidFill>
                <a:schemeClr val="tx2"/>
              </a:solidFill>
            </a:endParaRP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dirty="0">
                <a:solidFill>
                  <a:schemeClr val="tx2"/>
                </a:solidFill>
              </a:rPr>
              <a:t> The counties of the US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9370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/>
          </p:nvPr>
        </p:nvSpPr>
        <p:spPr>
          <a:xfrm>
            <a:off x="-6036" y="11316"/>
            <a:ext cx="9150036" cy="1284083"/>
          </a:xfrm>
        </p:spPr>
        <p:txBody>
          <a:bodyPr anchor="ctr">
            <a:noAutofit/>
          </a:bodyPr>
          <a:lstStyle/>
          <a:p>
            <a:r>
              <a:rPr lang="en-US" sz="3200" b="1" dirty="0"/>
              <a:t>If the values in the kidney cancer dataset are </a:t>
            </a:r>
            <a:r>
              <a:rPr lang="en-US" sz="3200" b="1" i="1" dirty="0">
                <a:solidFill>
                  <a:schemeClr val="accent2"/>
                </a:solidFill>
              </a:rPr>
              <a:t>yes/no</a:t>
            </a:r>
            <a:r>
              <a:rPr lang="en-US" sz="3200" b="1" dirty="0"/>
              <a:t>, then what are the </a:t>
            </a:r>
            <a:r>
              <a:rPr lang="en-US" sz="3200" b="1" i="1" dirty="0">
                <a:solidFill>
                  <a:schemeClr val="accent5">
                    <a:lumMod val="75000"/>
                  </a:schemeClr>
                </a:solidFill>
              </a:rPr>
              <a:t>cases</a:t>
            </a:r>
            <a:r>
              <a:rPr lang="en-US" sz="3200" b="1" dirty="0"/>
              <a:t>?</a:t>
            </a:r>
          </a:p>
        </p:txBody>
      </p:sp>
      <p:sp>
        <p:nvSpPr>
          <p:cNvPr id="2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dirty="0"/>
              <a:t> The people living in the US</a:t>
            </a:r>
            <a:endParaRPr lang="en-US" dirty="0">
              <a:solidFill>
                <a:schemeClr val="tx2"/>
              </a:solidFill>
            </a:endParaRP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dirty="0">
                <a:solidFill>
                  <a:schemeClr val="tx2"/>
                </a:solidFill>
              </a:rPr>
              <a:t> The counties of the US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699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" y="152400"/>
            <a:ext cx="913638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Variables: Categorical vs. Quantitative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 </a:t>
            </a:r>
            <a:r>
              <a:rPr lang="en-US" sz="3600" b="1" i="1" dirty="0">
                <a:solidFill>
                  <a:schemeClr val="accent5">
                    <a:lumMod val="75000"/>
                  </a:schemeClr>
                </a:solidFill>
              </a:rPr>
              <a:t>categorical variable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>
                <a:solidFill>
                  <a:schemeClr val="tx2"/>
                </a:solidFill>
              </a:rPr>
              <a:t>divides the cases into groups, placing each case into exactly one of two or more categories</a:t>
            </a:r>
          </a:p>
          <a:p>
            <a:endParaRPr lang="en-US" sz="3600" dirty="0">
              <a:solidFill>
                <a:schemeClr val="tx2"/>
              </a:solidFill>
            </a:endParaRPr>
          </a:p>
          <a:p>
            <a:r>
              <a:rPr lang="en-US" sz="3600" dirty="0">
                <a:solidFill>
                  <a:schemeClr val="tx2"/>
                </a:solidFill>
              </a:rPr>
              <a:t>A </a:t>
            </a:r>
            <a:r>
              <a:rPr lang="en-US" sz="3600" b="1" i="1" dirty="0">
                <a:solidFill>
                  <a:schemeClr val="accent5">
                    <a:lumMod val="75000"/>
                  </a:schemeClr>
                </a:solidFill>
              </a:rPr>
              <a:t>quantitative variable </a:t>
            </a:r>
            <a:r>
              <a:rPr lang="en-US" sz="3600" dirty="0">
                <a:solidFill>
                  <a:schemeClr val="tx2"/>
                </a:solidFill>
              </a:rPr>
              <a:t>measures or records a numerical quantity for each case. </a:t>
            </a:r>
          </a:p>
          <a:p>
            <a:pPr>
              <a:buNone/>
            </a:pPr>
            <a:endParaRPr lang="en-US" sz="3600" dirty="0">
              <a:solidFill>
                <a:schemeClr val="tx2"/>
              </a:solidFill>
            </a:endParaRPr>
          </a:p>
          <a:p>
            <a:pPr>
              <a:buNone/>
            </a:pPr>
            <a:endParaRPr lang="en-US" sz="3600" dirty="0">
              <a:solidFill>
                <a:schemeClr val="tx2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143000"/>
            <a:ext cx="8699426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1066800" y="228600"/>
            <a:ext cx="2438400" cy="533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Categorical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3800" y="228600"/>
            <a:ext cx="2514600" cy="53340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660066"/>
                </a:solidFill>
              </a:rPr>
              <a:t>Quantitative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838200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838200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09800" y="1371600"/>
            <a:ext cx="914400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24200" y="1371600"/>
            <a:ext cx="457200" cy="228600"/>
          </a:xfrm>
          <a:prstGeom prst="roundRect">
            <a:avLst/>
          </a:prstGeom>
          <a:noFill/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33800" y="1371600"/>
            <a:ext cx="457200" cy="228600"/>
          </a:xfrm>
          <a:prstGeom prst="roundRect">
            <a:avLst/>
          </a:prstGeom>
          <a:noFill/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91000" y="1371600"/>
            <a:ext cx="609600" cy="228600"/>
          </a:xfrm>
          <a:prstGeom prst="roundRect">
            <a:avLst/>
          </a:prstGeom>
          <a:noFill/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00600" y="1371600"/>
            <a:ext cx="609600" cy="228600"/>
          </a:xfrm>
          <a:prstGeom prst="roundRect">
            <a:avLst/>
          </a:prstGeom>
          <a:noFill/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10200" y="1371600"/>
            <a:ext cx="685800" cy="228600"/>
          </a:xfrm>
          <a:prstGeom prst="roundRect">
            <a:avLst/>
          </a:prstGeom>
          <a:noFill/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1371600"/>
            <a:ext cx="685800" cy="228600"/>
          </a:xfrm>
          <a:prstGeom prst="roundRect">
            <a:avLst/>
          </a:prstGeom>
          <a:noFill/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0" y="1371600"/>
            <a:ext cx="304800" cy="228600"/>
          </a:xfrm>
          <a:prstGeom prst="roundRect">
            <a:avLst/>
          </a:prstGeom>
          <a:noFill/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239000" y="1371600"/>
            <a:ext cx="457200" cy="228600"/>
          </a:xfrm>
          <a:prstGeom prst="roundRect">
            <a:avLst/>
          </a:prstGeom>
          <a:noFill/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0" y="1371600"/>
            <a:ext cx="609600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/>
          </p:nvPr>
        </p:nvSpPr>
        <p:spPr>
          <a:xfrm>
            <a:off x="21878" y="11316"/>
            <a:ext cx="9122121" cy="1284083"/>
          </a:xfrm>
        </p:spPr>
        <p:txBody>
          <a:bodyPr anchor="ctr">
            <a:noAutofit/>
          </a:bodyPr>
          <a:lstStyle/>
          <a:p>
            <a:r>
              <a:rPr lang="en-US" sz="3200" b="1" dirty="0"/>
              <a:t>If the </a:t>
            </a:r>
            <a:r>
              <a:rPr lang="en-US" sz="3200" b="1" i="1" dirty="0">
                <a:solidFill>
                  <a:schemeClr val="accent5">
                    <a:lumMod val="75000"/>
                  </a:schemeClr>
                </a:solidFill>
              </a:rPr>
              <a:t>cases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/>
              <a:t>in the kidney cancer dataset are </a:t>
            </a:r>
            <a:r>
              <a:rPr lang="en-US" sz="3200" b="1" i="1" dirty="0">
                <a:solidFill>
                  <a:schemeClr val="accent2"/>
                </a:solidFill>
              </a:rPr>
              <a:t>counties</a:t>
            </a:r>
            <a:r>
              <a:rPr lang="en-US" sz="3200" b="1" dirty="0"/>
              <a:t>, then the measured variable is…</a:t>
            </a:r>
          </a:p>
        </p:txBody>
      </p:sp>
      <p:sp>
        <p:nvSpPr>
          <p:cNvPr id="2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dirty="0"/>
              <a:t>Categorical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dirty="0"/>
              <a:t> Quantitative</a:t>
            </a: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6245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 anchor="ctr">
            <a:noAutofit/>
          </a:bodyPr>
          <a:lstStyle/>
          <a:p>
            <a:r>
              <a:rPr lang="en-US" sz="3200" b="1" dirty="0"/>
              <a:t>If the </a:t>
            </a:r>
            <a:r>
              <a:rPr lang="en-US" sz="3200" b="1" i="1" dirty="0">
                <a:solidFill>
                  <a:schemeClr val="accent5">
                    <a:lumMod val="75000"/>
                  </a:schemeClr>
                </a:solidFill>
              </a:rPr>
              <a:t>cases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b="1" dirty="0"/>
              <a:t>in the kidney cancer dataset are </a:t>
            </a:r>
            <a:r>
              <a:rPr lang="en-US" sz="3200" b="1" i="1" dirty="0">
                <a:solidFill>
                  <a:schemeClr val="accent2"/>
                </a:solidFill>
              </a:rPr>
              <a:t>individual</a:t>
            </a:r>
            <a:r>
              <a:rPr lang="en-US" sz="3200" b="1" dirty="0">
                <a:solidFill>
                  <a:schemeClr val="accent2"/>
                </a:solidFill>
              </a:rPr>
              <a:t> </a:t>
            </a:r>
            <a:r>
              <a:rPr lang="en-US" sz="3200" b="1" i="1" dirty="0">
                <a:solidFill>
                  <a:schemeClr val="accent2"/>
                </a:solidFill>
              </a:rPr>
              <a:t>people</a:t>
            </a:r>
            <a:r>
              <a:rPr lang="en-US" sz="3200" b="1" dirty="0"/>
              <a:t>, then the measured variable is…</a:t>
            </a:r>
          </a:p>
        </p:txBody>
      </p:sp>
      <p:sp>
        <p:nvSpPr>
          <p:cNvPr id="2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dirty="0"/>
              <a:t> Categorical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lphaUcPeriod"/>
            </a:pPr>
            <a:r>
              <a:rPr lang="en-US" dirty="0"/>
              <a:t> Quantitative</a:t>
            </a: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286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Caution: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257800"/>
          </a:xfrm>
        </p:spPr>
        <p:txBody>
          <a:bodyPr>
            <a:normAutofit/>
          </a:bodyPr>
          <a:lstStyle/>
          <a:p>
            <a:r>
              <a:rPr lang="en-US" sz="3200" dirty="0"/>
              <a:t>As we see in the previous examples, we need to think carefully about what the cases are and what is being recorded in each case in order to determine whether a variable is categorical or quantitative.</a:t>
            </a:r>
          </a:p>
        </p:txBody>
      </p:sp>
    </p:spTree>
    <p:extLst>
      <p:ext uri="{BB962C8B-B14F-4D97-AF65-F5344CB8AC3E}">
        <p14:creationId xmlns:p14="http://schemas.microsoft.com/office/powerpoint/2010/main" val="3636761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Explanatory 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2900" dirty="0">
                <a:solidFill>
                  <a:schemeClr val="tx2"/>
                </a:solidFill>
              </a:rPr>
              <a:t>If we are using one variable to help us understand or predict values of another variable, we call the former the </a:t>
            </a:r>
            <a:r>
              <a:rPr lang="en-US" sz="2900" b="1" i="1" dirty="0">
                <a:solidFill>
                  <a:schemeClr val="accent5">
                    <a:lumMod val="50000"/>
                  </a:schemeClr>
                </a:solidFill>
              </a:rPr>
              <a:t>explanatory variable </a:t>
            </a:r>
            <a:r>
              <a:rPr lang="en-US" sz="2900" dirty="0">
                <a:solidFill>
                  <a:schemeClr val="tx2"/>
                </a:solidFill>
              </a:rPr>
              <a:t>and the latter the </a:t>
            </a:r>
            <a:r>
              <a:rPr lang="en-US" sz="2900" b="1" i="1" dirty="0">
                <a:solidFill>
                  <a:schemeClr val="accent5">
                    <a:lumMod val="50000"/>
                  </a:schemeClr>
                </a:solidFill>
              </a:rPr>
              <a:t>response variable</a:t>
            </a:r>
            <a:r>
              <a:rPr lang="en-US" dirty="0"/>
              <a:t>.</a:t>
            </a:r>
            <a:endParaRPr lang="en-US" b="1" i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Does meditation help reduce stress?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 explanatory variable:  	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egoe Print" pitchFamily="2" charset="0"/>
              </a:rPr>
              <a:t>meditation</a:t>
            </a:r>
            <a:endParaRPr lang="en-US" b="1" i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	 response variable:		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egoe Print" pitchFamily="2" charset="0"/>
              </a:rPr>
              <a:t>stress level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Does sugar consumption increase hyperactivity?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 explanatory variable: 	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egoe Print" pitchFamily="2" charset="0"/>
              </a:rPr>
              <a:t>sugar consumption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	 response variable:		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egoe Print" pitchFamily="2" charset="0"/>
              </a:rPr>
              <a:t>hyperactive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602178" y="4114800"/>
            <a:ext cx="1981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40044" y="4572000"/>
            <a:ext cx="1981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04927" y="5715000"/>
            <a:ext cx="3156155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67959" y="6172200"/>
            <a:ext cx="3505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2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 anchor="ctr">
            <a:normAutofit/>
          </a:bodyPr>
          <a:lstStyle/>
          <a:p>
            <a:pPr marL="0" indent="0"/>
            <a:r>
              <a:rPr lang="en-US" sz="3600" dirty="0"/>
              <a:t>Can eating a yogurt a day cause you to lose weight? Here, the </a:t>
            </a:r>
            <a:r>
              <a:rPr lang="en-US" sz="3600" i="1" dirty="0">
                <a:solidFill>
                  <a:schemeClr val="accent5">
                    <a:lumMod val="50000"/>
                  </a:schemeClr>
                </a:solidFill>
              </a:rPr>
              <a:t>explanatory variable</a:t>
            </a:r>
            <a:r>
              <a:rPr lang="en-US" sz="3600" dirty="0"/>
              <a:t> is: </a:t>
            </a:r>
          </a:p>
        </p:txBody>
      </p:sp>
      <p:sp>
        <p:nvSpPr>
          <p:cNvPr id="2" name="TPAnswers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0" y="1524000"/>
            <a:ext cx="4495800" cy="5334000"/>
          </a:xfrm>
        </p:spPr>
        <p:txBody>
          <a:bodyPr>
            <a:normAutofit/>
          </a:bodyPr>
          <a:lstStyle/>
          <a:p>
            <a:pPr marL="514350" indent="-514350">
              <a:spcBef>
                <a:spcPct val="20000"/>
              </a:spcBef>
              <a:buFont typeface="+mj-lt"/>
              <a:buAutoNum type="alphaUcPeriod"/>
            </a:pPr>
            <a:r>
              <a:rPr lang="en-US" sz="3200" dirty="0">
                <a:solidFill>
                  <a:schemeClr val="tx2"/>
                </a:solidFill>
              </a:rPr>
              <a:t>Eating yogurt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UcPeriod"/>
            </a:pPr>
            <a:r>
              <a:rPr lang="en-US" sz="3200" dirty="0"/>
              <a:t>Weight loss</a:t>
            </a:r>
            <a:endParaRPr lang="en-US" sz="3200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1712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0" y="-13063"/>
            <a:ext cx="9144000" cy="1308463"/>
          </a:xfrm>
        </p:spPr>
        <p:txBody>
          <a:bodyPr>
            <a:noAutofit/>
          </a:bodyPr>
          <a:lstStyle/>
          <a:p>
            <a:r>
              <a:rPr lang="en-US" sz="3200" dirty="0"/>
              <a:t>Do males find females more attractive if they wear red? Here, the </a:t>
            </a:r>
            <a:r>
              <a:rPr lang="en-US" sz="3200" i="1" dirty="0">
                <a:solidFill>
                  <a:schemeClr val="accent5">
                    <a:lumMod val="50000"/>
                  </a:schemeClr>
                </a:solidFill>
              </a:rPr>
              <a:t>explanatory variable</a:t>
            </a:r>
            <a:r>
              <a:rPr lang="en-US" sz="3200" dirty="0"/>
              <a:t> is: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0" y="1600200"/>
            <a:ext cx="4038600" cy="5257800"/>
          </a:xfrm>
        </p:spPr>
        <p:txBody>
          <a:bodyPr/>
          <a:lstStyle/>
          <a:p>
            <a:pPr marL="514350" indent="-514350">
              <a:spcBef>
                <a:spcPct val="20000"/>
              </a:spcBef>
              <a:spcAft>
                <a:spcPts val="1200"/>
              </a:spcAft>
              <a:buFont typeface="+mj-lt"/>
              <a:buAutoNum type="alphaUcPeriod"/>
            </a:pPr>
            <a:r>
              <a:rPr lang="en-US" sz="3200" dirty="0"/>
              <a:t>Attraction</a:t>
            </a:r>
          </a:p>
          <a:p>
            <a:pPr marL="514350" indent="-514350">
              <a:spcBef>
                <a:spcPct val="20000"/>
              </a:spcBef>
              <a:spcAft>
                <a:spcPts val="1200"/>
              </a:spcAft>
              <a:buFont typeface="+mj-lt"/>
              <a:buAutoNum type="alphaUcPeriod"/>
            </a:pPr>
            <a:r>
              <a:rPr lang="en-US" sz="3200" dirty="0"/>
              <a:t>Wearing Red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0920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-7620" y="1524000"/>
            <a:ext cx="9151620" cy="5334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Data are everywhere, and pertain to a wide variety of topics</a:t>
            </a:r>
          </a:p>
          <a:p>
            <a:r>
              <a:rPr lang="en-US" sz="3200" dirty="0">
                <a:solidFill>
                  <a:schemeClr val="tx2"/>
                </a:solidFill>
              </a:rPr>
              <a:t>A dataset is usually comprised of variables measured on cases</a:t>
            </a:r>
          </a:p>
          <a:p>
            <a:r>
              <a:rPr lang="en-US" sz="3200" dirty="0">
                <a:solidFill>
                  <a:schemeClr val="tx2"/>
                </a:solidFill>
              </a:rPr>
              <a:t>Variables can be categorical or quantitative</a:t>
            </a:r>
          </a:p>
          <a:p>
            <a:r>
              <a:rPr lang="en-US" sz="3200" dirty="0">
                <a:solidFill>
                  <a:schemeClr val="tx2"/>
                </a:solidFill>
              </a:rPr>
              <a:t>Data can be used to provide information about essentially anything we are interested in and want to collect data on!</a:t>
            </a:r>
          </a:p>
          <a:p>
            <a:endParaRPr lang="en-US" sz="3200" dirty="0">
              <a:solidFill>
                <a:schemeClr val="tx2"/>
              </a:solidFill>
            </a:endParaRPr>
          </a:p>
          <a:p>
            <a:endParaRPr lang="en-US" sz="3200" dirty="0">
              <a:solidFill>
                <a:schemeClr val="tx2"/>
              </a:solidFill>
            </a:endParaRPr>
          </a:p>
          <a:p>
            <a:endParaRPr lang="en-US" sz="3200" dirty="0">
              <a:solidFill>
                <a:schemeClr val="tx2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VERSION" val="12.0"/>
  <p:tag name="DELIMITERS" val="3.1"/>
  <p:tag name="SHOWBARVISIBLE" val="True"/>
  <p:tag name="USESECONDARYMONITOR" val="True"/>
  <p:tag name="SAVECSVWITHSESSION" val="True"/>
  <p:tag name="CSVFORMAT" val="0"/>
  <p:tag name="BULLETTYPE" val="3"/>
  <p:tag name="ANSWERNOWSTYLE" val="-1"/>
  <p:tag name="ANSWERNOWTEXT" val="Answer Now"/>
  <p:tag name="COUNTDOWNSTYLE" val="-1"/>
  <p:tag name="RESPCOUNTERSTYLE" val="-1"/>
  <p:tag name="RESPCOUNTERFORMAT" val="0"/>
  <p:tag name="RESPTABLESTYLE" val="-1"/>
  <p:tag name="COUNTDOWNSECONDS" val="10"/>
  <p:tag name="INPUTSOURCE" val="1"/>
  <p:tag name="NUMRESPONSES" val="1"/>
  <p:tag name="ALLOWDUPLICATES" val="False"/>
  <p:tag name="BACKUPSESSIONS" val="True"/>
  <p:tag name="BACKUPMAINTENANCE" val="7"/>
  <p:tag name="CHARTVALUEFORMAT" val="0%"/>
  <p:tag name="AUTOADVANCE" val="False"/>
  <p:tag name="REVIEWONLY" val="False"/>
  <p:tag name="ROTATIONINTERVAL" val="2"/>
  <p:tag name="AUTOUPDATEALIASES" val="True"/>
  <p:tag name="STDCHART" val="1"/>
  <p:tag name="RACEENDPOINTS" val="100"/>
  <p:tag name="RACERSMAXDISPLAYED" val="5"/>
  <p:tag name="RACEANIMATIONSPEED" val="3"/>
  <p:tag name="SKIPREMAININGRACESLIDES" val="True"/>
  <p:tag name="PARTICIPANTSINLEADERBOARD" val="5"/>
  <p:tag name="TEAMSINLEADERBOARD" val="5"/>
  <p:tag name="MAXRESPONDERS" val="5"/>
  <p:tag name="BUBBLENAMEVISIBLE" val="True"/>
  <p:tag name="BUBBLESIZEVISIBLE" val="True"/>
  <p:tag name="BUBBLEVALUEFORMAT" val="0.0"/>
  <p:tag name="BUBBLEGROUPING" val="3"/>
  <p:tag name="DEFAULTNUMTEAMS" val="5"/>
  <p:tag name="CUSTOMGRIDBACKCOLOR" val="-2830136"/>
  <p:tag name="CUSTOMCELLFORECOLOR" val="-16777216"/>
  <p:tag name="CUSTOMCELLBACKCOLOR1" val="-657956"/>
  <p:tag name="CUSTOMCELLBACKCOLOR2" val="-13395457"/>
  <p:tag name="CUSTOMCELLBACKCOLOR3" val="-268652"/>
  <p:tag name="CUSTOMCELLBACKCOLOR4" val="-8355712"/>
  <p:tag name="USESCHEMECOLORS" val="True"/>
  <p:tag name="DISPLAYNAME" val="True"/>
  <p:tag name="DISPLAYDEVICENUMBER" val="True"/>
  <p:tag name="DISPLAYDEVICEID" val="True"/>
  <p:tag name="GRIDOPACITY" val="90"/>
  <p:tag name="GRIDROTATIONINTERVAL" val="2"/>
  <p:tag name="AUTOSIZEGRID" val="True"/>
  <p:tag name="GRIDSIZE" val="{Width=800, Height=600}"/>
  <p:tag name="GRIDPOSITION" val="1"/>
  <p:tag name="POLLINGCYCLE" val="2"/>
  <p:tag name="CHARTCOLORS" val="0"/>
  <p:tag name="CHARTLABELS" val="0"/>
  <p:tag name="RESETCHARTS" val="True"/>
  <p:tag name="INCLUDENONRESPONDERS" val="False"/>
  <p:tag name="MULTIRESPDIVISOR" val="1"/>
  <p:tag name="PARTLISTDEFAULT" val="0"/>
  <p:tag name="INCLUDEPPT" val="True"/>
  <p:tag name="ALLOWUSERFEEDBACK" val="True"/>
  <p:tag name="CORRECTPOINTVALUE" val="100"/>
  <p:tag name="INCORRECTPOINTVALUE" val="0"/>
  <p:tag name="REALTIMEBACKUP" val="False"/>
  <p:tag name="REALTIMEBACKUPPATH" val="(None)"/>
  <p:tag name="ZEROBASED" val="False"/>
  <p:tag name="AUTOADJUSTPARTRANGE" val="True"/>
  <p:tag name="CHARTSCALE" val="True"/>
  <p:tag name="ADVANCEDSETTINGSVIEW" val="False"/>
  <p:tag name="FIBDISPLAYRESULTS" val="True"/>
  <p:tag name="FIBNUMRESULTS" val="5"/>
  <p:tag name="FIBINCLUDEOTHER" val="True"/>
  <p:tag name="FIBDISPLAYKEYWORDS" val="True"/>
  <p:tag name="PRRESPONSE1" val="10"/>
  <p:tag name="PRRESPONSE2" val="9"/>
  <p:tag name="PRRESPONSE3" val="8"/>
  <p:tag name="PRRESPONSE4" val="7"/>
  <p:tag name="PRRESPONSE5" val="6"/>
  <p:tag name="PRRESPONSE6" val="5"/>
  <p:tag name="PRRESPONSE7" val="4"/>
  <p:tag name="PRRESPONSE8" val="3"/>
  <p:tag name="PRRESPONSE9" val="2"/>
  <p:tag name="PRRESPONSE10" val="1"/>
  <p:tag name="SHOWFLASHWARNING" val="True"/>
  <p:tag name="ALWAYSOPENPOLL" val="False"/>
  <p:tag name="POWERPOINTVERSION" val="14.0"/>
  <p:tag name="LUIDIAENABLED" val="False"/>
  <p:tag name="EXPANDSHOWBAR" val="True"/>
  <p:tag name="TASKPANEKEY" val="f3f8d966-51bc-477f-83c6-bac932ec3f9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Section 1.1:  Introduction and The Structure of Data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What is Data?&amp;quot;&quot;/&gt;&lt;property id=&quot;20307&quot; value=&quot;316&quot;/&gt;&lt;/object&gt;&lt;object type=&quot;3&quot; unique_id=&quot;10005&quot;&gt;&lt;property id=&quot;20148&quot; value=&quot;5&quot;/&gt;&lt;property id=&quot;20300&quot; value=&quot;Slide 3 - &amp;quot;Why Statistics?&amp;quot;&quot;/&gt;&lt;property id=&quot;20307&quot; value=&quot;270&quot;/&gt;&lt;/object&gt;&lt;object type=&quot;3&quot; unique_id=&quot;10006&quot;&gt;&lt;property id=&quot;20148&quot; value=&quot;5&quot;/&gt;&lt;property id=&quot;20300&quot; value=&quot;Slide 4 - &amp;quot;Why Statistics?&amp;quot;&quot;/&gt;&lt;property id=&quot;20307&quot; value=&quot;327&quot;/&gt;&lt;/object&gt;&lt;object type=&quot;3&quot; unique_id=&quot;10007&quot;&gt;&lt;property id=&quot;20148&quot; value=&quot;5&quot;/&gt;&lt;property id=&quot;20300&quot; value=&quot;Slide 5 - &amp;quot;The Power of Data&amp;quot;&quot;/&gt;&lt;property id=&quot;20307&quot; value=&quot;314&quot;/&gt;&lt;/object&gt;&lt;object type=&quot;3&quot; unique_id=&quot;10008&quot;&gt;&lt;property id=&quot;20148&quot; value=&quot;5&quot;/&gt;&lt;property id=&quot;20300&quot; value=&quot;Slide 6 - &amp;quot;The Power of Data&amp;quot;&quot;/&gt;&lt;property id=&quot;20307&quot; value=&quot;315&quot;/&gt;&lt;/object&gt;&lt;object type=&quot;3&quot; unique_id=&quot;10009&quot;&gt;&lt;property id=&quot;20148&quot; value=&quot;5&quot;/&gt;&lt;property id=&quot;20300&quot; value=&quot;Slide 7 - &amp;quot;The Power of Data&amp;quot;&quot;/&gt;&lt;property id=&quot;20307&quot; value=&quot;313&quot;/&gt;&lt;/object&gt;&lt;object type=&quot;3&quot; unique_id=&quot;10010&quot;&gt;&lt;property id=&quot;20148&quot; value=&quot;5&quot;/&gt;&lt;property id=&quot;20300&quot; value=&quot;Slide 8 - &amp;quot;Cases and Variables&amp;quot;&quot;/&gt;&lt;property id=&quot;20307&quot; value=&quot;286&quot;/&gt;&lt;/object&gt;&lt;object type=&quot;3&quot; unique_id=&quot;10011&quot;&gt;&lt;property id=&quot;20148&quot; value=&quot;5&quot;/&gt;&lt;property id=&quot;20300&quot; value=&quot;Slide 9 - &amp;quot;Hollywood Movies&amp;quot;&quot;/&gt;&lt;property id=&quot;20307&quot; value=&quot;323&quot;/&gt;&lt;/object&gt;&lt;object type=&quot;3&quot; unique_id=&quot;10012&quot;&gt;&lt;property id=&quot;20148&quot; value=&quot;5&quot;/&gt;&lt;property id=&quot;20300&quot; value=&quot;Slide 10 - &amp;quot;Countries of the World&amp;quot;&quot;/&gt;&lt;property id=&quot;20307&quot; value=&quot;290&quot;/&gt;&lt;/object&gt;&lt;object type=&quot;3&quot; unique_id=&quot;10013&quot;&gt;&lt;property id=&quot;20148&quot; value=&quot;5&quot;/&gt;&lt;property id=&quot;20300&quot; value=&quot;Slide 11 - &amp;quot;In the Countries of the World dataset, what are the cases?&amp;quot;&quot;/&gt;&lt;property id=&quot;20307&quot; value=&quot;317&quot;/&gt;&lt;/object&gt;&lt;object type=&quot;3&quot; unique_id=&quot;10014&quot;&gt;&lt;property id=&quot;20148&quot; value=&quot;5&quot;/&gt;&lt;property id=&quot;20300&quot; value=&quot;Slide 12 - &amp;quot;In the Countries of the World dataset, which of the options are the variables?&amp;quot;&quot;/&gt;&lt;property id=&quot;20307&quot; value=&quot;318&quot;/&gt;&lt;/object&gt;&lt;object type=&quot;3&quot; unique_id=&quot;10015&quot;&gt;&lt;property id=&quot;20148&quot; value=&quot;5&quot;/&gt;&lt;property id=&quot;20300&quot; value=&quot;Slide 13&quot;/&gt;&lt;property id=&quot;20307&quot; value=&quot;321&quot;/&gt;&lt;/object&gt;&lt;object type=&quot;3&quot; unique_id=&quot;10016&quot;&gt;&lt;property id=&quot;20148&quot; value=&quot;5&quot;/&gt;&lt;property id=&quot;20300&quot; value=&quot;Slide 14 - &amp;quot;Intro Statistics Survey Data&amp;quot;&quot;/&gt;&lt;property id=&quot;20307&quot; value=&quot;292&quot;/&gt;&lt;/object&gt;&lt;object type=&quot;3&quot; unique_id=&quot;10017&quot;&gt;&lt;property id=&quot;20148&quot; value=&quot;5&quot;/&gt;&lt;property id=&quot;20300&quot; value=&quot;Slide 15 - &amp;quot;In the Intro Statistics Survey dataset, what are the cases?&amp;quot;&quot;/&gt;&lt;property id=&quot;20307&quot; value=&quot;319&quot;/&gt;&lt;/object&gt;&lt;object type=&quot;3&quot; unique_id=&quot;10018&quot;&gt;&lt;property id=&quot;20148&quot; value=&quot;5&quot;/&gt;&lt;property id=&quot;20300&quot; value=&quot;Slide 16 - &amp;quot;In the Intro Statistics Survey dataset, which of the options are the variables?&amp;quot;&quot;/&gt;&lt;property id=&quot;20307&quot; value=&quot;320&quot;/&gt;&lt;/object&gt;&lt;object type=&quot;3&quot; unique_id=&quot;10019&quot;&gt;&lt;property id=&quot;20148&quot; value=&quot;5&quot;/&gt;&lt;property id=&quot;20300&quot; value=&quot;Slide 17&quot;/&gt;&lt;property id=&quot;20307&quot; value=&quot;322&quot;/&gt;&lt;/object&gt;&lt;object type=&quot;3&quot; unique_id=&quot;10020&quot;&gt;&lt;property id=&quot;20148&quot; value=&quot;5&quot;/&gt;&lt;property id=&quot;20300&quot; value=&quot;Slide 18&quot;/&gt;&lt;property id=&quot;20307&quot; value=&quot;301&quot;/&gt;&lt;/object&gt;&lt;object type=&quot;3&quot; unique_id=&quot;10021&quot;&gt;&lt;property id=&quot;20148&quot; value=&quot;5&quot;/&gt;&lt;property id=&quot;20300&quot; value=&quot;Slide 19 - &amp;quot;Variables: Categorical vs. Quantitative&amp;quot;&quot;/&gt;&lt;property id=&quot;20307&quot; value=&quot;283&quot;/&gt;&lt;/object&gt;&lt;object type=&quot;3&quot; unique_id=&quot;10022&quot;&gt;&lt;property id=&quot;20148&quot; value=&quot;5&quot;/&gt;&lt;property id=&quot;20300&quot; value=&quot;Slide 20&quot;/&gt;&lt;property id=&quot;20307&quot; value=&quot;303&quot;/&gt;&lt;/object&gt;&lt;object type=&quot;3&quot; unique_id=&quot;10023&quot;&gt;&lt;property id=&quot;20148&quot; value=&quot;5&quot;/&gt;&lt;property id=&quot;20300&quot; value=&quot;Slide 21 - &amp;quot;Let’s Collect Some Data!&amp;quot;&quot;/&gt;&lt;property id=&quot;20307&quot; value=&quot;304&quot;/&gt;&lt;/object&gt;&lt;object type=&quot;3&quot; unique_id=&quot;10024&quot;&gt;&lt;property id=&quot;20148&quot; value=&quot;5&quot;/&gt;&lt;property id=&quot;20300&quot; value=&quot;Slide 22 - &amp;quot;Which type of person are you generally more romantically interested in?&amp;quot;&quot;/&gt;&lt;property id=&quot;20307&quot; value=&quot;277&quot;/&gt;&lt;/object&gt;&lt;object type=&quot;3&quot; unique_id=&quot;10025&quot;&gt;&lt;property id=&quot;20148&quot; value=&quot;5&quot;/&gt;&lt;property id=&quot;20300&quot; value=&quot;Slide 23 - &amp;quot;Males Only: Which type of person are you generally more romantically interested in?&amp;quot;&quot;/&gt;&lt;property id=&quot;20307&quot; value=&quot;279&quot;/&gt;&lt;/object&gt;&lt;object type=&quot;3&quot; unique_id=&quot;10026&quot;&gt;&lt;property id=&quot;20148&quot; value=&quot;5&quot;/&gt;&lt;property id=&quot;20300&quot; value=&quot;Slide 24 - &amp;quot;Females Only:  Which type of person are you generally more romantically interested in?&amp;quot;&quot;/&gt;&lt;property id=&quot;20307&quot; value=&quot;280&quot;/&gt;&lt;/object&gt;&lt;object type=&quot;3&quot; unique_id=&quot;10027&quot;&gt;&lt;property id=&quot;20148&quot; value=&quot;5&quot;/&gt;&lt;property id=&quot;20300&quot; value=&quot;Slide 25 - &amp;quot;One or Two Variables&amp;quot;&quot;/&gt;&lt;property id=&quot;20307&quot; value=&quot;309&quot;/&gt;&lt;/object&gt;&lt;object type=&quot;3&quot; unique_id=&quot;10028&quot;&gt;&lt;property id=&quot;20148&quot; value=&quot;5&quot;/&gt;&lt;property id=&quot;20300&quot; value=&quot;Slide 26 - &amp;quot;Explanatory and Response&amp;quot;&quot;/&gt;&lt;property id=&quot;20307&quot; value=&quot;324&quot;/&gt;&lt;/object&gt;&lt;object type=&quot;3&quot; unique_id=&quot;10029&quot;&gt;&lt;property id=&quot;20148&quot; value=&quot;5&quot;/&gt;&lt;property id=&quot;20300&quot; value=&quot;Slide 27 - &amp;quot;Can eating a yogurt a day cause you to lose weight? Here, the explanatory variable is: &amp;quot;&quot;/&gt;&lt;property id=&quot;20307&quot; value=&quot;325&quot;/&gt;&lt;/object&gt;&lt;object type=&quot;3&quot; unique_id=&quot;10030&quot;&gt;&lt;property id=&quot;20148&quot; value=&quot;5&quot;/&gt;&lt;property id=&quot;20300&quot; value=&quot;Slide 28 - &amp;quot;Do males find females more attractive if they wear red? Here, the explanatory variable is:&amp;quot;&quot;/&gt;&lt;property id=&quot;20307&quot; value=&quot;326&quot;/&gt;&lt;/object&gt;&lt;object type=&quot;3&quot; unique_id=&quot;10031&quot;&gt;&lt;property id=&quot;20148&quot; value=&quot;5&quot;/&gt;&lt;property id=&quot;20300&quot; value=&quot;Slide 29 - &amp;quot;What do you want to know?&amp;quot;&quot;/&gt;&lt;property id=&quot;20307&quot; value=&quot;273&quot;/&gt;&lt;/object&gt;&lt;object type=&quot;3&quot; unique_id=&quot;10032&quot;&gt;&lt;property id=&quot;20148&quot; value=&quot;5&quot;/&gt;&lt;property id=&quot;20300&quot; value=&quot;Slide 30 - &amp;quot;What do you want to know?&amp;quot;&quot;/&gt;&lt;property id=&quot;20307&quot; value=&quot;310&quot;/&gt;&lt;/object&gt;&lt;object type=&quot;3&quot; unique_id=&quot;10033&quot;&gt;&lt;property id=&quot;20148&quot; value=&quot;5&quot;/&gt;&lt;property id=&quot;20300&quot; value=&quot;Slide 31 - &amp;quot;Summary&amp;quot;&quot;/&gt;&lt;property id=&quot;20307&quot; value=&quot;305&quot;/&gt;&lt;/object&gt;&lt;/object&gt;&lt;object type=&quot;8&quot; unique_id=&quot;10066&quot;&gt;&lt;/object&gt;&lt;/object&gt;&lt;/database&gt;"/>
  <p:tag name="MMPROD_NEXTUNIQUEID" val="10009"/>
  <p:tag name="SECTOMILLISECCONVERTED" val="1"/>
  <p:tag name="WASPOLLED" val="9B2B246AA169476BB237928B1AC49316"/>
  <p:tag name="TPVERSION" val="5"/>
  <p:tag name="TPFULLVERSION" val="5.4.1.2"/>
  <p:tag name="PPTVERSION" val="14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SLIDEGUID" val="CBCD1741BBB44250869375731613170B"/>
  <p:tag name="SLIDEID" val="CBCD1741BBB44250869375731613170B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QUESTIONALIAS" val="In the Countries of the World Dataset, what are the cases?"/>
  <p:tag name="ANSWERSALIAS" val="Countries|smicln|Land Areas|smicln|Populations|smicln|Afghanistan"/>
  <p:tag name="VALUES" val="No Value|smicln|No Value|smicln|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EAE4AE6A5EAC43A68DB20FCEF77E974D&lt;/guid&gt;&#10;        &lt;description /&gt;&#10;        &lt;date&gt;3/17/2015 1:31:0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FED47C4A564045B886DBEA50B1C326F8&lt;/guid&gt;&#10;            &lt;repollguid&gt;0DED4E99D98247B194392807A5A582C0&lt;/repollguid&gt;&#10;            &lt;sourceid&gt;6CC885265CBA4807B077E932C6A43204&lt;/sourceid&gt;&#10;            &lt;questiontext&gt;In the Countries of the World dataset, what are the cases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DD8FEA3650BC4F83AA212E99146D7786&lt;/guid&gt;&#10;                    &lt;answertext&gt;Countries &lt;/answertext&gt;&#10;                    &lt;valuetype&gt;0&lt;/valuetype&gt;&#10;                &lt;/answer&gt;&#10;                &lt;answer&gt;&#10;                    &lt;guid&gt;9CF291B050B245DE8B00D4478553FE7D&lt;/guid&gt;&#10;                    &lt;answertext&gt;Land Areas &lt;/answertext&gt;&#10;                    &lt;valuetype&gt;0&lt;/valuetype&gt;&#10;                &lt;/answer&gt;&#10;                &lt;answer&gt;&#10;                    &lt;guid&gt;071230E344454E25A80A9DF85405C2F7&lt;/guid&gt;&#10;                    &lt;answertext&gt;Populations &lt;/answertext&gt;&#10;                    &lt;valuetype&gt;0&lt;/valuetype&gt;&#10;                &lt;/answer&gt;&#10;                &lt;answer&gt;&#10;                    &lt;guid&gt;FCCE6A3466F44C1999AAADE855D898D8&lt;/guid&gt;&#10;                    &lt;answertext&gt;Afghanistan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4"/>
  <p:tag name="TEXTLENGTH" val="44"/>
  <p:tag name="FONTSIZE" val="29"/>
  <p:tag name="BULLETTYPE" val="ppBulletArabicPeriod"/>
  <p:tag name="ANSWERTEXT" val="Countries&#10;Land Areas&#10;Populations&#10;Afghanistan"/>
  <p:tag name="ZEROBASED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SLIDEID" val="CBCD1741BBB44250869375731613170B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SLIDEORDER" val="2"/>
  <p:tag name="SLIDEGUID" val="F410C21E59DB42C2B0BD3919BFAE28C2"/>
  <p:tag name="ANSWERSALIAS" val="Countries|smicln|Land Areas|smicln|Populations|smicln|Percent Rural|smicln|Health|smicln|All of the above|smicln|Answers b) through e)"/>
  <p:tag name="QUESTIONALIAS" val="In the Countries of the World Dataset, which of the options are the variables?"/>
  <p:tag name="VALUES" val="No Value|smicln|No Value|smicln|No Value|smicln|No Value|smicln|No Value|smicln|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2DB21D874F6341EBAE4A43BE183125B5&lt;/guid&gt;&#10;        &lt;description /&gt;&#10;        &lt;date&gt;3/17/2015 1:31:0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7AA5235077054BD39CECC87C624C8723&lt;/guid&gt;&#10;            &lt;repollguid&gt;FF1FF007906A4FDDAD75CCE6C2C4866D&lt;/repollguid&gt;&#10;            &lt;sourceid&gt;7B6D997AE48C4E079B431DDD71D6AC3A&lt;/sourceid&gt;&#10;            &lt;questiontext&gt;In the Countries of the World dataset, which of the options are the variables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3&lt;/bulletstyle&gt;&#10;            &lt;answers&gt;&#10;                &lt;answer&gt;&#10;                    &lt;guid&gt;21E87AC0C51447F48CD55CBAD471AB61&lt;/guid&gt;&#10;                    &lt;answertext&gt;Countries&lt;/answertext&gt;&#10;                    &lt;valuetype&gt;0&lt;/valuetype&gt;&#10;                &lt;/answer&gt;&#10;                &lt;answer&gt;&#10;                    &lt;guid&gt;0FB84A7B34FF4B9984F8B6B4C67CCFDE&lt;/guid&gt;&#10;                    &lt;answertext&gt;Land Areas&lt;/answertext&gt;&#10;                    &lt;valuetype&gt;0&lt;/valuetype&gt;&#10;                &lt;/answer&gt;&#10;                &lt;answer&gt;&#10;                    &lt;guid&gt;40E949AB0AB14D4E9FD6FA3983BF3469&lt;/guid&gt;&#10;                    &lt;answertext&gt;Populations&lt;/answertext&gt;&#10;                    &lt;valuetype&gt;0&lt;/valuetype&gt;&#10;                &lt;/answer&gt;&#10;                &lt;answer&gt;&#10;                    &lt;guid&gt;01662F6915DD40B3BC2CA0036A3E867B&lt;/guid&gt;&#10;                    &lt;answertext&gt;Percent Rural&lt;/answertext&gt;&#10;                    &lt;valuetype&gt;0&lt;/valuetype&gt;&#10;                &lt;/answer&gt;&#10;                &lt;answer&gt;&#10;                    &lt;guid&gt;2A3C0E59FC59460099DEA77A27B98B99&lt;/guid&gt;&#10;                    &lt;answertext&gt;Health&lt;/answertext&gt;&#10;                    &lt;valuetype&gt;0&lt;/valuetype&gt;&#10;                &lt;/answer&gt;&#10;                &lt;answer&gt;&#10;                    &lt;guid&gt;39C33F574F6D4F5283C6C56619A927EB&lt;/guid&gt;&#10;                    &lt;answertext&gt;All of the above&lt;/answertext&gt;&#10;                    &lt;valuetype&gt;0&lt;/valuetype&gt;&#10;                &lt;/answer&gt;&#10;                &lt;answer&gt;&#10;                    &lt;guid&gt;48BBF3D922A146AB8A34B59927AE9A79&lt;/guid&gt;&#10;                    &lt;answertext&gt;Answers b) through e)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9"/>
  <p:tag name="OLDNUMANSWERS" val="7"/>
  <p:tag name="TEXTLENGTH" val="92"/>
  <p:tag name="FONTSIZE" val="29"/>
  <p:tag name="BULLETTYPE" val="ppBulletAlphaLCParenRight"/>
  <p:tag name="ANSWERTEXT" val="Countries&#10;Land Areas&#10;Populations&#10;Percent Rural&#10;Health&#10;All of the above&#10;Answers b) through e)"/>
  <p:tag name="ZEROBAS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SLIDEID" val="CBCD1741BBB44250869375731613170B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SLIDEORDER" val="2"/>
  <p:tag name="SLIDEGUID" val="8B7BCC23FBE648A6B4A4F5A439EA42B3"/>
  <p:tag name="QUESTIONALIAS" val="In the Intro Statistics Survey Dataset, what are the cases?"/>
  <p:tag name="ANSWERSALIAS" val="Year|smicln|Gender|smicln|SAT|smicln|GPA|smicln|Siblings|smicln|Intro to Statistics Students"/>
  <p:tag name="RESPONSESGATHERED" val="False"/>
  <p:tag name="ANONYMOUSTEMP" val="False"/>
  <p:tag name="VALUES" val="No Value|smicln|No Value|smicln|No Value|smicln|No Value|smicln|No Value|smicln|No Value"/>
  <p:tag name="TYPE" val="MultiChoiceSlide"/>
  <p:tag name="TPQUESTIONXML" val="﻿&lt;?xml version=&quot;1.0&quot; encoding=&quot;utf-8&quot;?&gt;&#10;&lt;questionlist&gt;&#10;    &lt;properties&gt;&#10;        &lt;guid&gt;38820EC0B0934EBAA439D3DF266C3A88&lt;/guid&gt;&#10;        &lt;description /&gt;&#10;        &lt;date&gt;3/17/2015 1:31:0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03028DB6D8C451BB861A38AD4835D5A&lt;/guid&gt;&#10;            &lt;repollguid&gt;83CD73ED9EC94B13A7E6D2745ED75285&lt;/repollguid&gt;&#10;            &lt;sourceid&gt;5DEEFEF5C28D4A96A93BD5668F6AAD2F&lt;/sourceid&gt;&#10;            &lt;questiontext&gt;In the Intro Statistics Survey dataset, what are the cases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C55F85DA29614643BAAC0B0E90D693A8&lt;/guid&gt;&#10;                    &lt;answertext&gt;Year &lt;/answertext&gt;&#10;                    &lt;valuetype&gt;0&lt;/valuetype&gt;&#10;                &lt;/answer&gt;&#10;                &lt;answer&gt;&#10;                    &lt;guid&gt;53F2A9880105412188240C623861C86F&lt;/guid&gt;&#10;                    &lt;answertext&gt;Gender &lt;/answertext&gt;&#10;                    &lt;valuetype&gt;0&lt;/valuetype&gt;&#10;                &lt;/answer&gt;&#10;                &lt;answer&gt;&#10;                    &lt;guid&gt;5C421A9D7BC64FF1BE0E7926F4756137&lt;/guid&gt;&#10;                    &lt;answertext&gt;SAT &lt;/answertext&gt;&#10;                    &lt;valuetype&gt;0&lt;/valuetype&gt;&#10;                &lt;/answer&gt;&#10;                &lt;answer&gt;&#10;                    &lt;guid&gt;909CAD0B221C45DBA82CE32A800ED3E4&lt;/guid&gt;&#10;                    &lt;answertext&gt;GPA &lt;/answertext&gt;&#10;                    &lt;valuetype&gt;0&lt;/valuetype&gt;&#10;                &lt;/answer&gt;&#10;                &lt;answer&gt;&#10;                    &lt;guid&gt;75AAE58CB0F14AC09AC76FDE6FDC752C&lt;/guid&gt;&#10;                    &lt;answertext&gt;Siblings &lt;/answertext&gt;&#10;                    &lt;valuetype&gt;0&lt;/valuetype&gt;&#10;                &lt;/answer&gt;&#10;                &lt;answer&gt;&#10;                    &lt;guid&gt;2EAECDEF7EA946FBA6C55255531C078D&lt;/guid&gt;&#10;                    &lt;answertext&gt;Intro to Statistics Students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6"/>
  <p:tag name="TEXTLENGTH" val="57"/>
  <p:tag name="FONTSIZE" val="29"/>
  <p:tag name="BULLETTYPE" val="ppBulletArabicPeriod"/>
  <p:tag name="ANSWERTEXT" val="Year&#10;Gender&#10;SAT&#10;GPA&#10;Siblings&#10;Intro to Statistics Students"/>
  <p:tag name="ZEROBASED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SLIDEID" val="CBCD1741BBB44250869375731613170B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SLIDEORDER" val="3"/>
  <p:tag name="SLIDEGUID" val="A343FFE1CE9F4E6BB788570476F8B9C8"/>
  <p:tag name="QUESTIONALIAS" val="In the Intro Statistics Survey Dataset, what are the variables?"/>
  <p:tag name="ANSWERSALIAS" val="Year|smicln|Gender|smicln|SAT|smicln|GPA|smicln|Siblings|smicln|All of the Above"/>
  <p:tag name="VALUES" val="No Value|smicln|No Value|smicln|No Value|smicln|No Value|smicln|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DECEEFB7FBA440DB98598A920CA74136&lt;/guid&gt;&#10;        &lt;description /&gt;&#10;        &lt;date&gt;3/17/2015 1:31:0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4E8F60F81134E5391997CC8A63940CA&lt;/guid&gt;&#10;            &lt;repollguid&gt;AD1518EB41184107A4CF4FA4A49A0E14&lt;/repollguid&gt;&#10;            &lt;sourceid&gt;6779B055AC134176AB6CF7ED44050C41&lt;/sourceid&gt;&#10;            &lt;questiontext&gt;In the Intro Statistics Survey dataset, which of the options are the variables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3&lt;/bulletstyle&gt;&#10;            &lt;answers&gt;&#10;                &lt;answer&gt;&#10;                    &lt;guid&gt;91B848ACDB80423BA62846701014E329&lt;/guid&gt;&#10;                    &lt;answertext&gt;Year&lt;/answertext&gt;&#10;                    &lt;valuetype&gt;0&lt;/valuetype&gt;&#10;                &lt;/answer&gt;&#10;                &lt;answer&gt;&#10;                    &lt;guid&gt;1CAA1E1C18DA4E898E99CD6E1F3A18F1&lt;/guid&gt;&#10;                    &lt;answertext&gt;Gender&lt;/answertext&gt;&#10;                    &lt;valuetype&gt;0&lt;/valuetype&gt;&#10;                &lt;/answer&gt;&#10;                &lt;answer&gt;&#10;                    &lt;guid&gt;8A5FDB32818C4577AE74BB392D3D87E6&lt;/guid&gt;&#10;                    &lt;answertext&gt;SAT&lt;/answertext&gt;&#10;                    &lt;valuetype&gt;0&lt;/valuetype&gt;&#10;                &lt;/answer&gt;&#10;                &lt;answer&gt;&#10;                    &lt;guid&gt;80677CF14C464DFBAEFC8DEAB60B8BE1&lt;/guid&gt;&#10;                    &lt;answertext&gt;GPA&lt;/answertext&gt;&#10;                    &lt;valuetype&gt;0&lt;/valuetype&gt;&#10;                &lt;/answer&gt;&#10;                &lt;answer&gt;&#10;                    &lt;guid&gt;DB9CA5E68F014CF59E344293D460716A&lt;/guid&gt;&#10;                    &lt;answertext&gt;Siblings&lt;/answertext&gt;&#10;                    &lt;valuetype&gt;0&lt;/valuetype&gt;&#10;                &lt;/answer&gt;&#10;                &lt;answer&gt;&#10;                    &lt;guid&gt;C85075807BAF4C73B006461689AC6938&lt;/guid&gt;&#10;                    &lt;answertext&gt;All of the Above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9"/>
  <p:tag name="OLDNUMANSWERS" val="6"/>
  <p:tag name="TEXTLENGTH" val="45"/>
  <p:tag name="FONTSIZE" val="29"/>
  <p:tag name="BULLETTYPE" val="ppBulletAlphaLCParenRight"/>
  <p:tag name="ANSWERTEXT" val="Year&#10;Gender&#10;SAT&#10;GPA&#10;Siblings&#10;All of the Above"/>
  <p:tag name="ZEROBASED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TYPE" val="MultiChoiceSlide"/>
  <p:tag name="TPQUESTIONXML" val="﻿&lt;?xml version=&quot;1.0&quot; encoding=&quot;utf-8&quot;?&gt;&#10;&lt;questionlist&gt;&#10;    &lt;properties&gt;&#10;        &lt;guid&gt;8279D4D8A0A448A99D8582ADEE965311&lt;/guid&gt;&#10;        &lt;description /&gt;&#10;        &lt;date&gt;5/16/2017 2:34:12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7C06BB4AA1404655AF576C2A10F4EB60&lt;/guid&gt;&#10;            &lt;repollguid&gt;24E42C2A64264088B0310EB5F5BDB29C&lt;/repollguid&gt;&#10;            &lt;sourceid&gt;F3ECBCF804CC4C92AE24C4F3DC717039&lt;/sourceid&gt;&#10;            &lt;questiontext&gt;If the values in the kidney cancer dataset are rates of kidney cancer deaths, then what are the cases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F5E1CF4976264869A017887929E675EF&lt;/guid&gt;&#10;                    &lt;answertext&gt; The people living in the US&lt;/answertext&gt;&#10;                    &lt;valuetype&gt;0&lt;/valuetype&gt;&#10;                &lt;/answer&gt;&#10;                &lt;answer&gt;&#10;                    &lt;guid&gt;3649DA29C2E544A4A55FE2E32BD369C5&lt;/guid&gt;&#10;                    &lt;answertext&gt; The counties of the US&lt;/answertext&gt;&#10;                    &lt;valuetype&gt;0&lt;/valuetype&gt;&#10;                &lt;/answer&gt;&#10;            &lt;/answers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TYPE" val="MultiChoiceSlide"/>
  <p:tag name="TPQUESTIONXML" val="﻿&lt;?xml version=&quot;1.0&quot; encoding=&quot;utf-8&quot;?&gt;&#10;&lt;questionlist&gt;&#10;    &lt;properties&gt;&#10;        &lt;guid&gt;C46EDF41E6504C58BF7C27EBFB71BD5F&lt;/guid&gt;&#10;        &lt;description /&gt;&#10;        &lt;date&gt;5/16/2017 2:35:52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A81815ACE0CA43268589CD8C92C2FE1C&lt;/guid&gt;&#10;            &lt;repollguid&gt;B113E8D00E6D4AB897EC58858EFFC9B7&lt;/repollguid&gt;&#10;            &lt;sourceid&gt;3FC11071C5AB49149159E9F3E4E73EC2&lt;/sourceid&gt;&#10;            &lt;questiontext&gt;If the values in the kidney cancer dataset are yes/no, then what are the cases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03FF63A1152D454886B71C649A6FEE4C&lt;/guid&gt;&#10;                    &lt;answertext&gt; The people living in the US&lt;/answertext&gt;&#10;                    &lt;valuetype&gt;0&lt;/valuetype&gt;&#10;                &lt;/answer&gt;&#10;                &lt;answer&gt;&#10;                    &lt;guid&gt;E8228F8FE7494664B6A5B2B6263DF060&lt;/guid&gt;&#10;                    &lt;answertext&gt; The counties of the US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TYPE" val="MultiChoiceSlide"/>
  <p:tag name="TPQUESTIONXML" val="﻿&lt;?xml version=&quot;1.0&quot; encoding=&quot;utf-8&quot;?&gt;&#10;&lt;questionlist&gt;&#10;    &lt;properties&gt;&#10;        &lt;guid&gt;5BCD73F9018B44EF9DCB57CF1D4C0DF8&lt;/guid&gt;&#10;        &lt;description /&gt;&#10;        &lt;date&gt;5/16/2017 2:36:4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E7658EE0E6BB4EB7B7F670164C342966&lt;/guid&gt;&#10;            &lt;repollguid&gt;484B03E63F6043B7BD5D26A009100FAA&lt;/repollguid&gt;&#10;            &lt;sourceid&gt;AA843CB22BD24195836F89145A242C44&lt;/sourceid&gt;&#10;            &lt;questiontext&gt;If the cases in the kidney cancer dataset are counties, then the measured variable is…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621E2F23440644EBAADC59ECD6B4AF0E&lt;/guid&gt;&#10;                    &lt;answertext&gt;Categorical&lt;/answertext&gt;&#10;                    &lt;valuetype&gt;0&lt;/valuetype&gt;&#10;                &lt;/answer&gt;&#10;                &lt;answer&gt;&#10;                    &lt;guid&gt;39B673B5C19A40BD887CD82F2D739992&lt;/guid&gt;&#10;                    &lt;answertext&gt; Quantitative&lt;/answertext&gt;&#10;                    &lt;valuetype&gt;0&lt;/valuetype&gt;&#10;                &lt;/answer&gt;&#10;            &lt;/answers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TYPE" val="MultiChoiceSlide"/>
  <p:tag name="TPQUESTIONXML" val="﻿&lt;?xml version=&quot;1.0&quot; encoding=&quot;utf-8&quot;?&gt;&#10;&lt;questionlist&gt;&#10;    &lt;properties&gt;&#10;        &lt;guid&gt;999DCADE549A4EDF8258CE591B73D5E2&lt;/guid&gt;&#10;        &lt;description /&gt;&#10;        &lt;date&gt;5/16/2017 2:37:43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A45130D9B0CE4E6A9E79BF8834F9AC53&lt;/guid&gt;&#10;            &lt;repollguid&gt;806481C1DCAA4B9CAEFC953A7207DED9&lt;/repollguid&gt;&#10;            &lt;sourceid&gt;889791C61F3D448C88780C835EFF0836&lt;/sourceid&gt;&#10;            &lt;questiontext&gt;If the cases in the kidney cancer dataset are individual people, then the measured variable is…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DB61036893354B18A66496A65E9B95B4&lt;/guid&gt;&#10;                    &lt;answertext&gt; Categorical&lt;/answertext&gt;&#10;                    &lt;valuetype&gt;0&lt;/valuetype&gt;&#10;                &lt;/answer&gt;&#10;                &lt;answer&gt;&#10;                    &lt;guid&gt;DE6A5FD00D2F4B959225FC20589D4162&lt;/guid&gt;&#10;                    &lt;answertext&gt; Quantitative&lt;/answertext&gt;&#10;                    &lt;valuetype&gt;0&lt;/valuetype&gt;&#10;                &lt;/answer&gt;&#10;            &lt;/answers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TYPE" val="MultiChoiceSlide"/>
  <p:tag name="TPQUESTIONXML" val="﻿&lt;?xml version=&quot;1.0&quot; encoding=&quot;utf-8&quot;?&gt;&#10;&lt;questionlist&gt;&#10;    &lt;properties&gt;&#10;        &lt;guid&gt;60A2FB2D31C540E29B5CF9338047F10E&lt;/guid&gt;&#10;        &lt;description /&gt;&#10;        &lt;date&gt;3/17/2015 1:43:32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FE2B87F82252435CA5AD0AD0D6D52F95&lt;/guid&gt;&#10;            &lt;repollguid&gt;4DBC7BA1236E445F9FE6C966D6789313&lt;/repollguid&gt;&#10;            &lt;sourceid&gt;1A1185DD7BCB48D899F9B84C80440C2D&lt;/sourceid&gt;&#10;            &lt;questiontext&gt;Can eating a yogurt a day cause you to lose weight? Here, the explanatory variable is: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DF2B2C80F5B24669844E309BA6627F1D&lt;/guid&gt;&#10;                    &lt;answertext&gt;Eating yogurt&lt;/answertext&gt;&#10;                    &lt;valuetype&gt;0&lt;/valuetype&gt;&#10;                &lt;/answer&gt;&#10;                &lt;answer&gt;&#10;                    &lt;guid&gt;6E56645C6B644CF6AC526BB9912DB29A&lt;/guid&gt;&#10;                    &lt;answertext&gt;Weight loss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4300942521DB4E459C740F75C2E808A6&lt;/guid&gt;&#10;        &lt;description /&gt;&#10;        &lt;date&gt;3/17/2015 1:46:26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FF31671C82342C3AA9D4C871795D8CF&lt;/guid&gt;&#10;            &lt;repollguid&gt;3E75B31682EE4018A53A7D1307D4949A&lt;/repollguid&gt;&#10;            &lt;sourceid&gt;453F081CA2CB4AEB970E2A6CDDBA97B4&lt;/sourceid&gt;&#10;            &lt;questiontext&gt;Do males find females more attractive if they wear red? Here, the explanatory variable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correctanswerindicator&gt;True&lt;/correctanswerindicator&gt;&#10;            &lt;answers&gt;&#10;                &lt;answer&gt;&#10;                    &lt;guid&gt;22524F023FDF455C802079B5A54283C2&lt;/guid&gt;&#10;                    &lt;answertext&gt;Attraction&lt;/answertext&gt;&#10;                    &lt;valuetype&gt;0&lt;/valuetype&gt;&#10;                &lt;/answer&gt;&#10;                &lt;answer&gt;&#10;                    &lt;guid&gt;341BD2792E9D4394B00F75F5877EEAB5&lt;/guid&gt;&#10;                    &lt;answertext&gt;Wearing Red&lt;/answertext&gt;&#10;                    &lt;valuetype&gt;0&lt;/valuetype&gt;&#10;                &lt;/answer&gt;&#10;            &lt;/answers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2532</TotalTime>
  <Words>966</Words>
  <Application>Microsoft Office PowerPoint</Application>
  <PresentationFormat>On-screen Show (4:3)</PresentationFormat>
  <Paragraphs>267</Paragraphs>
  <Slides>26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Median</vt:lpstr>
      <vt:lpstr>Introduction and Section 1.1: The Structure of Data</vt:lpstr>
      <vt:lpstr>What is Data?</vt:lpstr>
      <vt:lpstr>Why Statistics?</vt:lpstr>
      <vt:lpstr>Cases and Variables</vt:lpstr>
      <vt:lpstr>Hollywood Movies</vt:lpstr>
      <vt:lpstr>Countries of the World</vt:lpstr>
      <vt:lpstr>In the Countries of the World dataset, what are the cases?</vt:lpstr>
      <vt:lpstr>In the Countries of the World dataset, which of the options are the variables?</vt:lpstr>
      <vt:lpstr>PowerPoint Presentation</vt:lpstr>
      <vt:lpstr>Intro Statistics Survey Data</vt:lpstr>
      <vt:lpstr>In the Intro Statistics Survey dataset, what are the cases?</vt:lpstr>
      <vt:lpstr>In the Intro Statistics Survey dataset, which of the options are the variables?</vt:lpstr>
      <vt:lpstr>PowerPoint Presentation</vt:lpstr>
      <vt:lpstr>Kidney Cancer</vt:lpstr>
      <vt:lpstr>Kidney Cancer</vt:lpstr>
      <vt:lpstr>If the values in the kidney cancer dataset are rates of kidney cancer deaths, then what are the cases?</vt:lpstr>
      <vt:lpstr>If the values in the kidney cancer dataset are yes/no, then what are the cases?</vt:lpstr>
      <vt:lpstr>Variables: Categorical vs. Quantitative</vt:lpstr>
      <vt:lpstr>PowerPoint Presentation</vt:lpstr>
      <vt:lpstr>If the cases in the kidney cancer dataset are counties, then the measured variable is…</vt:lpstr>
      <vt:lpstr>If the cases in the kidney cancer dataset are individual people, then the measured variable is…</vt:lpstr>
      <vt:lpstr>Caution:</vt:lpstr>
      <vt:lpstr>Explanatory and Response</vt:lpstr>
      <vt:lpstr>Can eating a yogurt a day cause you to lose weight? Here, the explanatory variable is: </vt:lpstr>
      <vt:lpstr>Do males find females more attractive if they wear red? Here, the explanatory variable is: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101:  Data Analysis and Statistical Inference</dc:title>
  <dc:creator>Kari</dc:creator>
  <cp:lastModifiedBy>Nadezhda Berezyuk</cp:lastModifiedBy>
  <cp:revision>150</cp:revision>
  <dcterms:created xsi:type="dcterms:W3CDTF">2011-08-23T18:19:54Z</dcterms:created>
  <dcterms:modified xsi:type="dcterms:W3CDTF">2019-09-18T10:39:06Z</dcterms:modified>
</cp:coreProperties>
</file>