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305" r:id="rId2"/>
    <p:sldId id="259" r:id="rId3"/>
    <p:sldId id="300" r:id="rId4"/>
    <p:sldId id="301" r:id="rId5"/>
    <p:sldId id="260" r:id="rId6"/>
    <p:sldId id="261" r:id="rId7"/>
    <p:sldId id="262" r:id="rId8"/>
    <p:sldId id="264" r:id="rId9"/>
    <p:sldId id="265" r:id="rId10"/>
    <p:sldId id="266" r:id="rId11"/>
    <p:sldId id="267" r:id="rId12"/>
    <p:sldId id="298" r:id="rId13"/>
    <p:sldId id="268" r:id="rId14"/>
    <p:sldId id="269" r:id="rId15"/>
    <p:sldId id="302" r:id="rId16"/>
    <p:sldId id="270" r:id="rId17"/>
    <p:sldId id="271" r:id="rId18"/>
    <p:sldId id="306" r:id="rId19"/>
    <p:sldId id="307" r:id="rId20"/>
    <p:sldId id="274" r:id="rId21"/>
    <p:sldId id="308" r:id="rId22"/>
    <p:sldId id="286" r:id="rId23"/>
    <p:sldId id="290" r:id="rId24"/>
    <p:sldId id="292" r:id="rId25"/>
    <p:sldId id="316" r:id="rId26"/>
    <p:sldId id="273" r:id="rId27"/>
    <p:sldId id="310" r:id="rId28"/>
    <p:sldId id="311" r:id="rId29"/>
    <p:sldId id="312" r:id="rId30"/>
    <p:sldId id="313" r:id="rId31"/>
    <p:sldId id="314" r:id="rId32"/>
    <p:sldId id="315" r:id="rId33"/>
  </p:sldIdLst>
  <p:sldSz cx="9144000" cy="6858000" type="screen4x3"/>
  <p:notesSz cx="6858000" cy="91440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906" autoAdjust="0"/>
  </p:normalViewPr>
  <p:slideViewPr>
    <p:cSldViewPr>
      <p:cViewPr>
        <p:scale>
          <a:sx n="92" d="100"/>
          <a:sy n="92" d="100"/>
        </p:scale>
        <p:origin x="-112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perspective val="3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xmlns:c16r2="http://schemas.microsoft.com/office/drawing/2015/06/chart">
            <c:ext xmlns:c16="http://schemas.microsoft.com/office/drawing/2014/chart" uri="{C3380CC4-5D6E-409C-BE32-E72D297353CC}">
              <c16:uniqueId val="{00000000-B269-4884-AEAF-25426C214651}"/>
            </c:ext>
          </c:extLst>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xmlns:c16r2="http://schemas.microsoft.com/office/drawing/2015/06/chart">
            <c:ext xmlns:c16="http://schemas.microsoft.com/office/drawing/2014/chart" uri="{C3380CC4-5D6E-409C-BE32-E72D297353CC}">
              <c16:uniqueId val="{00000001-B269-4884-AEAF-25426C214651}"/>
            </c:ext>
          </c:extLst>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xmlns:c16r2="http://schemas.microsoft.com/office/drawing/2015/06/chart">
            <c:ext xmlns:c16="http://schemas.microsoft.com/office/drawing/2014/chart" uri="{C3380CC4-5D6E-409C-BE32-E72D297353CC}">
              <c16:uniqueId val="{00000002-B269-4884-AEAF-25426C214651}"/>
            </c:ext>
          </c:extLst>
        </c:ser>
        <c:dLbls>
          <c:showLegendKey val="0"/>
          <c:showVal val="0"/>
          <c:showCatName val="0"/>
          <c:showSerName val="0"/>
          <c:showPercent val="0"/>
          <c:showBubbleSize val="0"/>
        </c:dLbls>
        <c:gapWidth val="150"/>
        <c:shape val="box"/>
        <c:axId val="92829184"/>
        <c:axId val="92830720"/>
        <c:axId val="92874496"/>
      </c:bar3DChart>
      <c:catAx>
        <c:axId val="92829184"/>
        <c:scaling>
          <c:orientation val="minMax"/>
        </c:scaling>
        <c:delete val="0"/>
        <c:axPos val="b"/>
        <c:numFmt formatCode="General" sourceLinked="0"/>
        <c:majorTickMark val="out"/>
        <c:minorTickMark val="none"/>
        <c:tickLblPos val="nextTo"/>
        <c:crossAx val="92830720"/>
        <c:crosses val="autoZero"/>
        <c:auto val="1"/>
        <c:lblAlgn val="ctr"/>
        <c:lblOffset val="100"/>
        <c:noMultiLvlLbl val="0"/>
      </c:catAx>
      <c:valAx>
        <c:axId val="92830720"/>
        <c:scaling>
          <c:orientation val="minMax"/>
        </c:scaling>
        <c:delete val="0"/>
        <c:axPos val="l"/>
        <c:majorGridlines/>
        <c:numFmt formatCode="General" sourceLinked="1"/>
        <c:majorTickMark val="out"/>
        <c:minorTickMark val="none"/>
        <c:tickLblPos val="nextTo"/>
        <c:crossAx val="92829184"/>
        <c:crosses val="autoZero"/>
        <c:crossBetween val="between"/>
      </c:valAx>
      <c:serAx>
        <c:axId val="92874496"/>
        <c:scaling>
          <c:orientation val="minMax"/>
        </c:scaling>
        <c:delete val="0"/>
        <c:axPos val="b"/>
        <c:majorTickMark val="out"/>
        <c:minorTickMark val="none"/>
        <c:tickLblPos val="nextTo"/>
        <c:crossAx val="92830720"/>
        <c:crosses val="autoZero"/>
      </c:serAx>
    </c:plotArea>
    <c:legend>
      <c:legendPos val="r"/>
      <c:overlay val="0"/>
    </c:legend>
    <c:plotVisOnly val="1"/>
    <c:dispBlanksAs val="gap"/>
    <c:showDLblsOverMax val="0"/>
  </c:chart>
  <c:txPr>
    <a:bodyPr/>
    <a:lstStyle/>
    <a:p>
      <a:pPr>
        <a:defRPr sz="1800"/>
      </a:pPr>
      <a:endParaRPr lang="ru-RU"/>
    </a:p>
  </c:txPr>
  <c:externalData r:id="rId1">
    <c:autoUpdate val="0"/>
  </c:externalData>
</c:chartSpace>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9F0FF1-C918-4600-8207-61DCDB11BF51}" type="datetimeFigureOut">
              <a:rPr lang="en-US" smtClean="0"/>
              <a:t>9/18/2019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6421F4-B958-4501-B074-EDE359BA913D}" type="slidenum">
              <a:rPr lang="en-US" smtClean="0"/>
              <a:t>‹#›</a:t>
            </a:fld>
            <a:endParaRPr lang="en-US"/>
          </a:p>
        </p:txBody>
      </p:sp>
    </p:spTree>
    <p:extLst>
      <p:ext uri="{BB962C8B-B14F-4D97-AF65-F5344CB8AC3E}">
        <p14:creationId xmlns:p14="http://schemas.microsoft.com/office/powerpoint/2010/main" val="795409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72D0DB1-5F8B-4D3B-AF4F-924A39AF5DAB}" type="slidenum">
              <a:rPr lang="en-US" smtClean="0">
                <a:solidFill>
                  <a:prstClr val="black"/>
                </a:solidFill>
              </a:rPr>
              <a:pPr/>
              <a:t>2</a:t>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72D0DB1-5F8B-4D3B-AF4F-924A39AF5DAB}" type="slidenum">
              <a:rPr lang="en-US" smtClean="0">
                <a:solidFill>
                  <a:prstClr val="black"/>
                </a:solidFill>
              </a:rPr>
              <a:pPr/>
              <a:t>3</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72D0DB1-5F8B-4D3B-AF4F-924A39AF5DAB}" type="slidenum">
              <a:rPr lang="en-US" smtClean="0">
                <a:solidFill>
                  <a:prstClr val="black"/>
                </a:solidFill>
              </a:rPr>
              <a:pPr/>
              <a:t>4</a:t>
            </a:fld>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Use </a:t>
            </a:r>
            <a:r>
              <a:rPr lang="en-US" dirty="0" err="1"/>
              <a:t>StatKey</a:t>
            </a:r>
            <a:r>
              <a:rPr lang="en-US" baseline="0" dirty="0"/>
              <a:t> to illustrate center and shape for several different populations, both mean and proportion</a:t>
            </a:r>
          </a:p>
          <a:p>
            <a:pPr marL="171450" indent="-171450">
              <a:buFontTx/>
              <a:buChar char="-"/>
            </a:pPr>
            <a:r>
              <a:rPr lang="en-US" baseline="0" dirty="0"/>
              <a:t>Generate one sample at a time first to talk them through the process of a sampling distribution, then generate thousands of samples so they see shape and center</a:t>
            </a:r>
          </a:p>
          <a:p>
            <a:pPr marL="171450" indent="-171450">
              <a:buFontTx/>
              <a:buChar char="-"/>
            </a:pPr>
            <a:r>
              <a:rPr lang="en-US" baseline="0" dirty="0"/>
              <a:t>may have to increase the sample size to get a distribution that is symmetric and bell-shaped (although you don’t have to dwell on that here – CLT will be covered in chapter 5)</a:t>
            </a:r>
          </a:p>
        </p:txBody>
      </p:sp>
      <p:sp>
        <p:nvSpPr>
          <p:cNvPr id="4" name="Slide Number Placeholder 3"/>
          <p:cNvSpPr>
            <a:spLocks noGrp="1"/>
          </p:cNvSpPr>
          <p:nvPr>
            <p:ph type="sldNum" sz="quarter" idx="10"/>
          </p:nvPr>
        </p:nvSpPr>
        <p:spPr/>
        <p:txBody>
          <a:bodyPr/>
          <a:lstStyle/>
          <a:p>
            <a:fld id="{AD881A71-1E8A-43E8-B5C2-524F1D0E2AC7}" type="slidenum">
              <a:rPr lang="en-US" smtClean="0"/>
              <a:pPr/>
              <a:t>18</a:t>
            </a:fld>
            <a:endParaRPr lang="en-US"/>
          </a:p>
        </p:txBody>
      </p:sp>
    </p:spTree>
    <p:extLst>
      <p:ext uri="{BB962C8B-B14F-4D97-AF65-F5344CB8AC3E}">
        <p14:creationId xmlns:p14="http://schemas.microsoft.com/office/powerpoint/2010/main" val="2200760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881A71-1E8A-43E8-B5C2-524F1D0E2AC7}" type="slidenum">
              <a:rPr lang="en-US" smtClean="0"/>
              <a:pPr/>
              <a:t>19</a:t>
            </a:fld>
            <a:endParaRPr lang="en-US"/>
          </a:p>
        </p:txBody>
      </p:sp>
    </p:spTree>
    <p:extLst>
      <p:ext uri="{BB962C8B-B14F-4D97-AF65-F5344CB8AC3E}">
        <p14:creationId xmlns:p14="http://schemas.microsoft.com/office/powerpoint/2010/main" val="502352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a:prstGeom prst="rect">
            <a:avLst/>
          </a:prstGeom>
        </p:spPr>
        <p:txBody>
          <a:bodyPr>
            <a:noAutofit/>
          </a:bodyPr>
          <a:lstStyle>
            <a:lvl1pPr algn="ctr">
              <a:defRPr sz="2000">
                <a:solidFill>
                  <a:srgbClr val="FFFFFF"/>
                </a:solidFill>
              </a:defRPr>
            </a:lvl1pPr>
          </a:lstStyle>
          <a:p>
            <a:pPr algn="ctr" eaLnBrk="1" latinLnBrk="0" hangingPunct="1"/>
            <a:fld id="{23A271A1-F6D6-438B-A432-4747EE7ECD40}" type="datetimeFigureOut">
              <a:rPr lang="en-US" smtClean="0"/>
              <a:pPr algn="ctr" eaLnBrk="1" latinLnBrk="0" hangingPunct="1"/>
              <a:t>9/18/2019</a:t>
            </a:fld>
            <a:endParaRPr lang="en-US" sz="2000" dirty="0">
              <a:solidFill>
                <a:srgbClr val="FFFFFF"/>
              </a:solidFill>
            </a:endParaRPr>
          </a:p>
        </p:txBody>
      </p:sp>
      <p:sp>
        <p:nvSpPr>
          <p:cNvPr id="17" name="Footer Placeholder 16"/>
          <p:cNvSpPr>
            <a:spLocks noGrp="1"/>
          </p:cNvSpPr>
          <p:nvPr>
            <p:ph type="ftr" sz="quarter" idx="11"/>
          </p:nvPr>
        </p:nvSpPr>
        <p:spPr>
          <a:xfrm>
            <a:off x="2085393" y="236538"/>
            <a:ext cx="5867400" cy="365125"/>
          </a:xfrm>
          <a:prstGeom prst="rect">
            <a:avLst/>
          </a:prstGeom>
        </p:spPr>
        <p:txBody>
          <a:bodyPr/>
          <a:lstStyle>
            <a:lvl1pPr algn="r">
              <a:defRPr>
                <a:solidFill>
                  <a:schemeClr val="tx2"/>
                </a:solidFill>
              </a:defRPr>
            </a:lvl1pPr>
          </a:lstStyle>
          <a:p>
            <a:pPr algn="r" eaLnBrk="1" latinLnBrk="0" hangingPunct="1"/>
            <a:endParaRPr kumimoji="0" lang="en-US" dirty="0">
              <a:solidFill>
                <a:schemeClr val="tx2"/>
              </a:solidFill>
            </a:endParaRPr>
          </a:p>
        </p:txBody>
      </p:sp>
      <p:sp>
        <p:nvSpPr>
          <p:cNvPr id="29" name="Slide Number Placeholder 28"/>
          <p:cNvSpPr>
            <a:spLocks noGrp="1"/>
          </p:cNvSpPr>
          <p:nvPr>
            <p:ph type="sldNum" sz="quarter" idx="12"/>
          </p:nvPr>
        </p:nvSpPr>
        <p:spPr>
          <a:xfrm>
            <a:off x="8001000" y="228600"/>
            <a:ext cx="838200" cy="381000"/>
          </a:xfrm>
          <a:prstGeom prst="rect">
            <a:avLst/>
          </a:prstGeom>
        </p:spPr>
        <p:txBody>
          <a:bodyPr/>
          <a:lstStyle>
            <a:lvl1pPr>
              <a:defRPr>
                <a:solidFill>
                  <a:schemeClr val="tx2"/>
                </a:solidFill>
              </a:defRPr>
            </a:lvl1pPr>
          </a:lstStyle>
          <a:p>
            <a:fld id="{F0C94032-CD4C-4C25-B0C2-CEC720522D92}" type="slidenum">
              <a:rPr kumimoji="0" lang="en-US" smtClean="0"/>
              <a:pPr eaLnBrk="1" latinLnBrk="0" hangingPunct="1"/>
              <a:t>‹#›</a:t>
            </a:fld>
            <a:endParaRPr kumimoji="0" lang="en-US" dirty="0">
              <a:solidFill>
                <a:schemeClr val="tx2"/>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9/18/2019</a:t>
            </a:fld>
            <a:endParaRPr lang="en-US" dirty="0"/>
          </a:p>
        </p:txBody>
      </p:sp>
      <p:sp>
        <p:nvSpPr>
          <p:cNvPr id="5" name="Footer Placeholder 4"/>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9/18/2019</a:t>
            </a:fld>
            <a:endParaRPr lang="en-US"/>
          </a:p>
        </p:txBody>
      </p:sp>
      <p:sp>
        <p:nvSpPr>
          <p:cNvPr id="13" name="Slide Number Placeholder 12"/>
          <p:cNvSpPr>
            <a:spLocks noGrp="1"/>
          </p:cNvSpPr>
          <p:nvPr>
            <p:ph type="sldNum" sz="quarter" idx="11"/>
          </p:nvPr>
        </p:nvSpPr>
        <p:spPr>
          <a:xfrm>
            <a:off x="0" y="1752600"/>
            <a:ext cx="1295400" cy="701676"/>
          </a:xfrm>
          <a:prstGeom prst="rect">
            <a:avLst/>
          </a:prstGeom>
        </p:spPr>
        <p:txBody>
          <a:bodyPr>
            <a:noAutofit/>
          </a:bodyPr>
          <a:lstStyle>
            <a:lvl1pPr>
              <a:defRPr sz="2400">
                <a:solidFill>
                  <a:srgbClr val="FFFFFF"/>
                </a:solidFill>
              </a:defRPr>
            </a:lvl1pPr>
          </a:lstStyle>
          <a:p>
            <a:pPr algn="ctr" eaLnBrk="1" latinLnBrk="0" hangingPunct="1"/>
            <a:fld id="{F0C94032-CD4C-4C25-B0C2-CEC720522D92}" type="slidenum">
              <a:rPr kumimoji="0" lang="en-US" smtClean="0"/>
              <a:pPr algn="ctr" eaLnBrk="1" latinLnBrk="0" hangingPunct="1"/>
              <a:t>‹#›</a:t>
            </a:fld>
            <a:endParaRPr kumimoji="0" lang="en-US" sz="2400" dirty="0">
              <a:solidFill>
                <a:srgbClr val="FFFFFF"/>
              </a:solidFill>
            </a:endParaRPr>
          </a:p>
        </p:txBody>
      </p:sp>
      <p:sp>
        <p:nvSpPr>
          <p:cNvPr id="14" name="Footer Placeholder 13"/>
          <p:cNvSpPr>
            <a:spLocks noGrp="1"/>
          </p:cNvSpPr>
          <p:nvPr>
            <p:ph type="ftr" sz="quarter" idx="12"/>
          </p:nvPr>
        </p:nvSpPr>
        <p:spPr>
          <a:xfrm>
            <a:off x="609600" y="6248206"/>
            <a:ext cx="5421083" cy="365125"/>
          </a:xfrm>
          <a:prstGeom prst="rect">
            <a:avLst/>
          </a:prstGeom>
        </p:spPr>
        <p:txBody>
          <a:bodyPr/>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a:xfrm>
            <a:off x="6096000" y="6248400"/>
            <a:ext cx="2667000" cy="365125"/>
          </a:xfrm>
          <a:prstGeom prst="rect">
            <a:avLst/>
          </a:prstGeom>
        </p:spPr>
        <p:txBody>
          <a:bodyPr rtlCol="0"/>
          <a:lstStyle/>
          <a:p>
            <a:pPr eaLnBrk="1" latinLnBrk="0" hangingPunct="1"/>
            <a:fld id="{23A271A1-F6D6-438B-A432-4747EE7ECD40}" type="datetimeFigureOut">
              <a:rPr lang="en-US" smtClean="0"/>
              <a:pPr eaLnBrk="1" latinLnBrk="0" hangingPunct="1"/>
              <a:t>9/18/2019</a:t>
            </a:fld>
            <a:endParaRPr lang="en-US"/>
          </a:p>
        </p:txBody>
      </p:sp>
      <p:sp>
        <p:nvSpPr>
          <p:cNvPr id="10" name="Slide Number Placeholder 9"/>
          <p:cNvSpPr>
            <a:spLocks noGrp="1"/>
          </p:cNvSpPr>
          <p:nvPr>
            <p:ph type="sldNum" sz="quarter" idx="16"/>
          </p:nvPr>
        </p:nvSpPr>
        <p:spPr>
          <a:xfrm>
            <a:off x="0" y="1272222"/>
            <a:ext cx="533400" cy="244476"/>
          </a:xfrm>
          <a:prstGeom prst="rect">
            <a:avLst/>
          </a:prstGeom>
        </p:spPr>
        <p:txBody>
          <a:bodyPr rtlCol="0"/>
          <a:lstStyle/>
          <a:p>
            <a:pPr algn="ctr" eaLnBrk="1" latinLnBrk="0" hangingPunct="1"/>
            <a:fld id="{F0C94032-CD4C-4C25-B0C2-CEC720522D92}" type="slidenum">
              <a:rPr kumimoji="0" lang="en-US" smtClean="0"/>
              <a:pPr algn="ctr" eaLnBrk="1" latinLnBrk="0" hangingPunct="1"/>
              <a:t>‹#›</a:t>
            </a:fld>
            <a:endParaRPr kumimoji="0" lang="en-US"/>
          </a:p>
        </p:txBody>
      </p:sp>
      <p:sp>
        <p:nvSpPr>
          <p:cNvPr id="12" name="Footer Placeholder 11"/>
          <p:cNvSpPr>
            <a:spLocks noGrp="1"/>
          </p:cNvSpPr>
          <p:nvPr>
            <p:ph type="ftr" sz="quarter" idx="17"/>
          </p:nvPr>
        </p:nvSpPr>
        <p:spPr>
          <a:xfrm>
            <a:off x="609600" y="6248206"/>
            <a:ext cx="5421083" cy="365125"/>
          </a:xfrm>
          <a:prstGeom prst="rect">
            <a:avLst/>
          </a:prstGeom>
        </p:spPr>
        <p:txBody>
          <a:bodyPr rtlCol="0"/>
          <a:lstStyle/>
          <a:p>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a:xfrm>
            <a:off x="6096000" y="6248400"/>
            <a:ext cx="2667000" cy="365125"/>
          </a:xfrm>
          <a:prstGeom prst="rect">
            <a:avLst/>
          </a:prstGeom>
        </p:spPr>
        <p:txBody>
          <a:bodyPr rtlCol="0"/>
          <a:lstStyle/>
          <a:p>
            <a:pPr eaLnBrk="1" latinLnBrk="0" hangingPunct="1"/>
            <a:fld id="{23A271A1-F6D6-438B-A432-4747EE7ECD40}" type="datetimeFigureOut">
              <a:rPr lang="en-US" smtClean="0"/>
              <a:pPr eaLnBrk="1" latinLnBrk="0" hangingPunct="1"/>
              <a:t>9/18/2019</a:t>
            </a:fld>
            <a:endParaRPr lang="en-US"/>
          </a:p>
        </p:txBody>
      </p:sp>
      <p:sp>
        <p:nvSpPr>
          <p:cNvPr id="12" name="Slide Number Placeholder 11"/>
          <p:cNvSpPr>
            <a:spLocks noGrp="1"/>
          </p:cNvSpPr>
          <p:nvPr>
            <p:ph type="sldNum" sz="quarter" idx="16"/>
          </p:nvPr>
        </p:nvSpPr>
        <p:spPr>
          <a:xfrm>
            <a:off x="0" y="1272222"/>
            <a:ext cx="533400" cy="244476"/>
          </a:xfrm>
          <a:prstGeom prst="rect">
            <a:avLst/>
          </a:prstGeom>
        </p:spPr>
        <p:txBody>
          <a:bodyPr rtlCol="0"/>
          <a:lstStyle/>
          <a:p>
            <a:pPr algn="ctr" eaLnBrk="1" latinLnBrk="0" hangingPunct="1"/>
            <a:fld id="{F0C94032-CD4C-4C25-B0C2-CEC720522D92}" type="slidenum">
              <a:rPr kumimoji="0" lang="en-US" smtClean="0"/>
              <a:pPr algn="ctr" eaLnBrk="1" latinLnBrk="0" hangingPunct="1"/>
              <a:t>‹#›</a:t>
            </a:fld>
            <a:endParaRPr kumimoji="0" lang="en-US"/>
          </a:p>
        </p:txBody>
      </p:sp>
      <p:sp>
        <p:nvSpPr>
          <p:cNvPr id="14" name="Footer Placeholder 13"/>
          <p:cNvSpPr>
            <a:spLocks noGrp="1"/>
          </p:cNvSpPr>
          <p:nvPr>
            <p:ph type="ftr" sz="quarter" idx="17"/>
          </p:nvPr>
        </p:nvSpPr>
        <p:spPr>
          <a:xfrm>
            <a:off x="609600" y="6248206"/>
            <a:ext cx="5421083" cy="365125"/>
          </a:xfrm>
          <a:prstGeom prst="rect">
            <a:avLst/>
          </a:prstGeom>
        </p:spPr>
        <p:txBody>
          <a:bodyPr rtlCol="0"/>
          <a:lstStyle/>
          <a:p>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9/18/2019</a:t>
            </a:fld>
            <a:endParaRPr lang="en-US"/>
          </a:p>
        </p:txBody>
      </p:sp>
      <p:sp>
        <p:nvSpPr>
          <p:cNvPr id="4" name="Footer Placeholder 3"/>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5" name="Slide Number Placeholder 4"/>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9/18/2019</a:t>
            </a:fld>
            <a:endParaRPr lang="en-US"/>
          </a:p>
        </p:txBody>
      </p:sp>
      <p:sp>
        <p:nvSpPr>
          <p:cNvPr id="3" name="Footer Placeholder 2"/>
          <p:cNvSpPr>
            <a:spLocks noGrp="1"/>
          </p:cNvSpPr>
          <p:nvPr>
            <p:ph type="ftr" sz="quarter" idx="11"/>
          </p:nvPr>
        </p:nvSpPr>
        <p:spPr>
          <a:xfrm>
            <a:off x="609600" y="6248206"/>
            <a:ext cx="5421083" cy="365125"/>
          </a:xfrm>
          <a:prstGeom prst="rect">
            <a:avLst/>
          </a:prstGeom>
        </p:spPr>
        <p:txBody>
          <a:bodyPr/>
          <a:lstStyle/>
          <a:p>
            <a:endParaRPr kumimoji="0" lang="en-US" dirty="0"/>
          </a:p>
        </p:txBody>
      </p:sp>
      <p:sp>
        <p:nvSpPr>
          <p:cNvPr id="4" name="Slide Number Placeholder 3"/>
          <p:cNvSpPr>
            <a:spLocks noGrp="1"/>
          </p:cNvSpPr>
          <p:nvPr>
            <p:ph type="sldNum" sz="quarter" idx="12"/>
          </p:nvPr>
        </p:nvSpPr>
        <p:spPr>
          <a:xfrm>
            <a:off x="0" y="6248400"/>
            <a:ext cx="533400" cy="381000"/>
          </a:xfrm>
          <a:prstGeom prst="rect">
            <a:avLst/>
          </a:prstGeom>
        </p:spPr>
        <p:txBody>
          <a:bodyPr/>
          <a:lstStyle>
            <a:lvl1pPr>
              <a:defRPr>
                <a:solidFill>
                  <a:schemeClr val="tx2"/>
                </a:solidFill>
              </a:defRPr>
            </a:lvl1pPr>
          </a:lstStyle>
          <a:p>
            <a:fld id="{F0C94032-CD4C-4C25-B0C2-CEC720522D92}" type="slidenum">
              <a:rPr kumimoji="0" lang="en-US" smtClean="0"/>
              <a:pPr eaLnBrk="1" latinLnBrk="0" hangingPunct="1"/>
              <a:t>‹#›</a:t>
            </a:fld>
            <a:endParaRPr kumimoji="0"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9/18/2019</a:t>
            </a:fld>
            <a:endParaRPr lang="en-US"/>
          </a:p>
        </p:txBody>
      </p:sp>
      <p:sp>
        <p:nvSpPr>
          <p:cNvPr id="6" name="Footer Placeholder 5"/>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7" name="Slide Number Placeholder 6"/>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a:prstGeom prst="rect">
            <a:avLst/>
          </a:prstGeom>
        </p:spPr>
        <p:txBody>
          <a:bodyPr rtlCol="0"/>
          <a:lstStyle/>
          <a:p>
            <a:pPr eaLnBrk="1" latinLnBrk="0" hangingPunct="1"/>
            <a:fld id="{23A271A1-F6D6-438B-A432-4747EE7ECD40}" type="datetimeFigureOut">
              <a:rPr lang="en-US" smtClean="0"/>
              <a:pPr eaLnBrk="1" latinLnBrk="0" hangingPunct="1"/>
              <a:t>9/18/2019</a:t>
            </a:fld>
            <a:endParaRPr lang="en-US"/>
          </a:p>
        </p:txBody>
      </p:sp>
      <p:sp>
        <p:nvSpPr>
          <p:cNvPr id="13" name="Slide Number Placeholder 12"/>
          <p:cNvSpPr>
            <a:spLocks noGrp="1"/>
          </p:cNvSpPr>
          <p:nvPr>
            <p:ph type="sldNum" sz="quarter" idx="11"/>
          </p:nvPr>
        </p:nvSpPr>
        <p:spPr>
          <a:xfrm>
            <a:off x="0" y="4667249"/>
            <a:ext cx="1447800" cy="663578"/>
          </a:xfrm>
          <a:prstGeom prst="rect">
            <a:avLst/>
          </a:prstGeom>
        </p:spPr>
        <p:txBody>
          <a:bodyPr rtlCol="0"/>
          <a:lstStyle>
            <a:lvl1pPr>
              <a:defRPr sz="2800"/>
            </a:lvl1pPr>
          </a:lstStyle>
          <a:p>
            <a:pPr algn="ctr" eaLnBrk="1" latinLnBrk="0" hangingPunct="1"/>
            <a:fld id="{F0C94032-CD4C-4C25-B0C2-CEC720522D92}" type="slidenum">
              <a:rPr kumimoji="0" lang="en-US" smtClean="0"/>
              <a:pPr algn="ctr" eaLnBrk="1" latinLnBrk="0" hangingPunct="1"/>
              <a:t>‹#›</a:t>
            </a:fld>
            <a:endParaRPr kumimoji="0" lang="en-US" sz="2800" dirty="0"/>
          </a:p>
        </p:txBody>
      </p:sp>
      <p:sp>
        <p:nvSpPr>
          <p:cNvPr id="14" name="Footer Placeholder 13"/>
          <p:cNvSpPr>
            <a:spLocks noGrp="1"/>
          </p:cNvSpPr>
          <p:nvPr>
            <p:ph type="ftr" sz="quarter" idx="12"/>
          </p:nvPr>
        </p:nvSpPr>
        <p:spPr>
          <a:xfrm>
            <a:off x="1600200" y="6248206"/>
            <a:ext cx="4572000" cy="365125"/>
          </a:xfrm>
          <a:prstGeom prst="rect">
            <a:avLst/>
          </a:prstGeom>
        </p:spPr>
        <p:txBody>
          <a:bodyPr rtlCol="0"/>
          <a:lstStyle/>
          <a:p>
            <a:endParaRPr kumimoji="0"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9/18/2019</a:t>
            </a:fld>
            <a:endParaRPr lang="en-US"/>
          </a:p>
        </p:txBody>
      </p:sp>
      <p:sp>
        <p:nvSpPr>
          <p:cNvPr id="5" name="Footer Placeholder 4"/>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0" y="1272222"/>
            <a:ext cx="533400" cy="244476"/>
          </a:xfrm>
          <a:prstGeom prst="rect">
            <a:avLst/>
          </a:prstGeom>
        </p:spPr>
        <p:txBody>
          <a:bodyPr/>
          <a:lstStyle/>
          <a:p>
            <a:fld id="{F0C94032-CD4C-4C25-B0C2-CEC720522D92}"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a:prstGeom prst="rect">
            <a:avLst/>
          </a:prstGeom>
        </p:spPr>
        <p:txBody>
          <a:bodyPr/>
          <a:lstStyle/>
          <a:p>
            <a:pPr eaLnBrk="1" latinLnBrk="0" hangingPunct="1"/>
            <a:fld id="{23A271A1-F6D6-438B-A432-4747EE7ECD40}" type="datetimeFigureOut">
              <a:rPr lang="en-US" smtClean="0"/>
              <a:pPr eaLnBrk="1" latinLnBrk="0" hangingPunct="1"/>
              <a:t>9/18/2019</a:t>
            </a:fld>
            <a:endParaRPr lang="en-US" dirty="0"/>
          </a:p>
        </p:txBody>
      </p:sp>
      <p:sp>
        <p:nvSpPr>
          <p:cNvPr id="5" name="Footer Placeholder 4"/>
          <p:cNvSpPr>
            <a:spLocks noGrp="1"/>
          </p:cNvSpPr>
          <p:nvPr>
            <p:ph type="ftr" sz="quarter" idx="11"/>
          </p:nvPr>
        </p:nvSpPr>
        <p:spPr>
          <a:xfrm>
            <a:off x="457201" y="6248207"/>
            <a:ext cx="5573483" cy="365125"/>
          </a:xfrm>
          <a:prstGeom prst="rect">
            <a:avLst/>
          </a:prstGeom>
        </p:spPr>
        <p:txBody>
          <a:bodyPr/>
          <a:lstStyle/>
          <a:p>
            <a:endParaRPr kumimoji="0"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a:prstGeom prst="rect">
            <a:avLst/>
          </a:prstGeom>
        </p:spPr>
        <p:txBody>
          <a:bodyPr/>
          <a:lstStyle/>
          <a:p>
            <a:fld id="{F0C94032-CD4C-4C25-B0C2-CEC720522D92}" type="slidenum">
              <a:rPr kumimoji="0" lang="en-US" smtClean="0"/>
              <a:pPr eaLnBrk="1" latinLnBrk="0" hangingPunct="1"/>
              <a:t>‹#›</a:t>
            </a:fld>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12"/>
          <p:cNvSpPr>
            <a:spLocks noGrp="1"/>
          </p:cNvSpPr>
          <p:nvPr>
            <p:ph idx="1"/>
          </p:nvPr>
        </p:nvSpPr>
        <p:spPr>
          <a:xfrm>
            <a:off x="1257300" y="1676400"/>
            <a:ext cx="6629400" cy="1759458"/>
          </a:xfrm>
          <a:prstGeom prst="rect">
            <a:avLst/>
          </a:prstGeom>
          <a:ln w="76200" cmpd="thickThin">
            <a:solidFill>
              <a:schemeClr val="accent1"/>
            </a:solidFill>
          </a:ln>
        </p:spPr>
        <p:txBody>
          <a:bodyPr vert="horz" anchor="ctr">
            <a:normAutofit/>
          </a:bodyPr>
          <a:lstStyle>
            <a:lvl1pPr marL="0" indent="0" algn="ctr">
              <a:spcBef>
                <a:spcPts val="0"/>
              </a:spcBef>
              <a:spcAft>
                <a:spcPts val="1800"/>
              </a:spcAft>
              <a:buNone/>
              <a:defRPr sz="3200"/>
            </a:lvl1pPr>
            <a:lvl2pPr>
              <a:defRPr sz="2800"/>
            </a:lvl2pPr>
            <a:lvl3pPr>
              <a:defRPr sz="2400"/>
            </a:lvl3pPr>
            <a:lvl4pPr>
              <a:defRPr sz="2000"/>
            </a:lvl4pPr>
          </a:lstStyle>
          <a:p>
            <a:pPr lvl="0" eaLnBrk="1" latinLnBrk="0" hangingPunct="1"/>
            <a:r>
              <a:rPr kumimoji="0" lang="en-US"/>
              <a:t>Click to edit Master text styles</a:t>
            </a:r>
          </a:p>
        </p:txBody>
      </p:sp>
      <p:sp>
        <p:nvSpPr>
          <p:cNvPr id="5" name="Text Placeholder 12"/>
          <p:cNvSpPr>
            <a:spLocks noGrp="1"/>
          </p:cNvSpPr>
          <p:nvPr>
            <p:ph idx="10"/>
          </p:nvPr>
        </p:nvSpPr>
        <p:spPr>
          <a:xfrm>
            <a:off x="304800" y="3962400"/>
            <a:ext cx="8534400" cy="1219200"/>
          </a:xfrm>
          <a:prstGeom prst="rect">
            <a:avLst/>
          </a:prstGeom>
        </p:spPr>
        <p:txBody>
          <a:bodyPr vert="horz">
            <a:normAutofit/>
          </a:bodyPr>
          <a:lstStyle>
            <a:lvl1pPr>
              <a:spcBef>
                <a:spcPts val="0"/>
              </a:spcBef>
              <a:spcAft>
                <a:spcPts val="1800"/>
              </a:spcAft>
              <a:defRPr/>
            </a:lvl1p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Tree>
    <p:extLst>
      <p:ext uri="{BB962C8B-B14F-4D97-AF65-F5344CB8AC3E}">
        <p14:creationId xmlns:p14="http://schemas.microsoft.com/office/powerpoint/2010/main" val="33850102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licker">
    <p:spTree>
      <p:nvGrpSpPr>
        <p:cNvPr id="1" name=""/>
        <p:cNvGrpSpPr/>
        <p:nvPr/>
      </p:nvGrpSpPr>
      <p:grpSpPr>
        <a:xfrm>
          <a:off x="0" y="0"/>
          <a:ext cx="0" cy="0"/>
          <a:chOff x="0" y="0"/>
          <a:chExt cx="0" cy="0"/>
        </a:xfrm>
      </p:grpSpPr>
      <p:sp>
        <p:nvSpPr>
          <p:cNvPr id="2" name="Title 1"/>
          <p:cNvSpPr>
            <a:spLocks noGrp="1"/>
          </p:cNvSpPr>
          <p:nvPr>
            <p:ph type="title"/>
          </p:nvPr>
        </p:nvSpPr>
        <p:spPr>
          <a:xfrm>
            <a:off x="1319784" y="152400"/>
            <a:ext cx="7290816" cy="762000"/>
          </a:xfrm>
        </p:spPr>
        <p:txBody>
          <a:bodyPr>
            <a:normAutofit/>
          </a:bodyPr>
          <a:lstStyle>
            <a:lvl1pPr>
              <a:defRPr sz="4000" b="1"/>
            </a:lvl1pPr>
          </a:lstStyle>
          <a:p>
            <a:r>
              <a:rPr lang="en-US"/>
              <a:t>Click to edit Master title style</a:t>
            </a:r>
            <a:endParaRPr lang="en-US" dirty="0"/>
          </a:p>
        </p:txBody>
      </p:sp>
      <p:pic>
        <p:nvPicPr>
          <p:cNvPr id="4" name="Picture 2" descr="http://t3.gstatic.com/images?q=tbn:ANd9GcTYmiLh9B_aVjviHh1xZIewSwIAVBJM6GGUwjQGMknDgt1O3VWWMFpakkXX"/>
          <p:cNvPicPr>
            <a:picLocks noChangeAspect="1" noChangeArrowheads="1"/>
          </p:cNvPicPr>
          <p:nvPr userDrawn="1"/>
        </p:nvPicPr>
        <p:blipFill>
          <a:blip r:embed="rId2" cstate="print"/>
          <a:srcRect t="17160" b="8480"/>
          <a:stretch>
            <a:fillRect/>
          </a:stretch>
        </p:blipFill>
        <p:spPr bwMode="auto">
          <a:xfrm>
            <a:off x="173736" y="173736"/>
            <a:ext cx="1066800" cy="990600"/>
          </a:xfrm>
          <a:prstGeom prst="rect">
            <a:avLst/>
          </a:prstGeom>
          <a:noFill/>
        </p:spPr>
      </p:pic>
      <p:sp>
        <p:nvSpPr>
          <p:cNvPr id="9" name="Text Placeholder 12"/>
          <p:cNvSpPr>
            <a:spLocks noGrp="1"/>
          </p:cNvSpPr>
          <p:nvPr>
            <p:ph idx="1"/>
          </p:nvPr>
        </p:nvSpPr>
        <p:spPr>
          <a:xfrm>
            <a:off x="301752" y="1371600"/>
            <a:ext cx="8534400" cy="2209800"/>
          </a:xfrm>
          <a:prstGeom prst="rect">
            <a:avLst/>
          </a:prstGeom>
        </p:spPr>
        <p:txBody>
          <a:bodyPr vert="horz">
            <a:normAutofit/>
          </a:bodyPr>
          <a:lstStyle>
            <a:lvl1pPr marL="0" indent="0">
              <a:spcBef>
                <a:spcPts val="0"/>
              </a:spcBef>
              <a:spcAft>
                <a:spcPts val="1800"/>
              </a:spcAft>
              <a:buNone/>
              <a:defRPr sz="3200"/>
            </a:lvl1pPr>
            <a:lvl2pPr>
              <a:spcBef>
                <a:spcPts val="0"/>
              </a:spcBef>
              <a:spcAft>
                <a:spcPts val="1800"/>
              </a:spcAft>
              <a:defRPr sz="2800"/>
            </a:lvl2pPr>
            <a:lvl3pPr>
              <a:spcBef>
                <a:spcPts val="0"/>
              </a:spcBef>
              <a:spcAft>
                <a:spcPts val="1800"/>
              </a:spcAft>
              <a:defRPr sz="2400"/>
            </a:lvl3pPr>
            <a:lvl4pPr>
              <a:spcBef>
                <a:spcPts val="0"/>
              </a:spcBef>
              <a:spcAft>
                <a:spcPts val="1800"/>
              </a:spcAft>
              <a:defRPr sz="2000"/>
            </a:lvl4pPr>
            <a:lvl5pPr>
              <a:spcBef>
                <a:spcPts val="0"/>
              </a:spcBef>
              <a:spcAft>
                <a:spcPts val="1800"/>
              </a:spcAft>
              <a:defRPr/>
            </a:lvl5p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
        <p:nvSpPr>
          <p:cNvPr id="10" name="Text Placeholder 12"/>
          <p:cNvSpPr>
            <a:spLocks noGrp="1"/>
          </p:cNvSpPr>
          <p:nvPr>
            <p:ph idx="13"/>
          </p:nvPr>
        </p:nvSpPr>
        <p:spPr>
          <a:xfrm>
            <a:off x="1143000" y="3886200"/>
            <a:ext cx="7568680" cy="2161032"/>
          </a:xfrm>
          <a:prstGeom prst="rect">
            <a:avLst/>
          </a:prstGeom>
        </p:spPr>
        <p:txBody>
          <a:bodyPr vert="horz">
            <a:normAutofit/>
          </a:bodyPr>
          <a:lstStyle>
            <a:lvl1pPr marL="0" indent="0">
              <a:spcBef>
                <a:spcPts val="0"/>
              </a:spcBef>
              <a:spcAft>
                <a:spcPts val="0"/>
              </a:spcAft>
              <a:buFont typeface="+mj-lt"/>
              <a:buAutoNum type="alphaLcParenR"/>
              <a:defRPr sz="3200"/>
            </a:lvl1pPr>
            <a:lvl2pPr>
              <a:defRPr sz="2800"/>
            </a:lvl2pPr>
            <a:lvl3pPr>
              <a:defRPr sz="2400"/>
            </a:lvl3pPr>
            <a:lvl4pPr>
              <a:defRPr sz="2000"/>
            </a:lvl4pPr>
          </a:lstStyle>
          <a:p>
            <a:pPr lvl="0" eaLnBrk="1" latinLnBrk="0" hangingPunct="1"/>
            <a:r>
              <a:rPr kumimoji="0" lang="en-US"/>
              <a:t>Click to edit Master text styles</a:t>
            </a:r>
          </a:p>
        </p:txBody>
      </p:sp>
      <p:sp>
        <p:nvSpPr>
          <p:cNvPr id="11" name="Text Placeholder 12"/>
          <p:cNvSpPr>
            <a:spLocks noGrp="1"/>
          </p:cNvSpPr>
          <p:nvPr>
            <p:ph idx="14"/>
          </p:nvPr>
        </p:nvSpPr>
        <p:spPr>
          <a:xfrm>
            <a:off x="5181600" y="4114800"/>
            <a:ext cx="3733800" cy="2057400"/>
          </a:xfrm>
          <a:prstGeom prst="rect">
            <a:avLst/>
          </a:prstGeom>
        </p:spPr>
        <p:txBody>
          <a:bodyPr vert="horz">
            <a:normAutofit/>
          </a:bodyPr>
          <a:lstStyle>
            <a:lvl1pPr marL="0" indent="0">
              <a:buNone/>
              <a:defRPr sz="2400">
                <a:solidFill>
                  <a:schemeClr val="accent1"/>
                </a:solidFill>
                <a:latin typeface="Segoe Print" pitchFamily="2" charset="0"/>
              </a:defRPr>
            </a:lvl1pPr>
            <a:lvl2pPr marL="274320" indent="0">
              <a:buNone/>
              <a:defRPr sz="2800">
                <a:solidFill>
                  <a:schemeClr val="accent1"/>
                </a:solidFill>
                <a:latin typeface="Segoe Print" pitchFamily="2" charset="0"/>
              </a:defRPr>
            </a:lvl2pPr>
            <a:lvl3pPr marL="594360" indent="0">
              <a:buNone/>
              <a:defRPr sz="2400">
                <a:solidFill>
                  <a:schemeClr val="accent1"/>
                </a:solidFill>
                <a:latin typeface="Segoe Print" pitchFamily="2" charset="0"/>
              </a:defRPr>
            </a:lvl3pPr>
            <a:lvl4pPr marL="868680" indent="0">
              <a:buNone/>
              <a:defRPr sz="2000">
                <a:solidFill>
                  <a:schemeClr val="accent1"/>
                </a:solidFill>
                <a:latin typeface="Segoe Print" pitchFamily="2" charset="0"/>
              </a:defRPr>
            </a:lvl4pPr>
            <a:lvl5pPr marL="1143000" indent="0">
              <a:buNone/>
              <a:defRPr>
                <a:solidFill>
                  <a:schemeClr val="accent1"/>
                </a:solidFill>
                <a:latin typeface="Segoe Print" pitchFamily="2" charset="0"/>
              </a:defRPr>
            </a:lvl5pPr>
          </a:lstStyle>
          <a:p>
            <a:pPr lvl="0" eaLnBrk="1" latinLnBrk="0" hangingPunct="1"/>
            <a:r>
              <a:rPr kumimoji="0" lang="en-US"/>
              <a:t>Click to edit Master text styles</a:t>
            </a:r>
          </a:p>
        </p:txBody>
      </p:sp>
    </p:spTree>
    <p:extLst>
      <p:ext uri="{BB962C8B-B14F-4D97-AF65-F5344CB8AC3E}">
        <p14:creationId xmlns:p14="http://schemas.microsoft.com/office/powerpoint/2010/main" val="3045646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POnTheFly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graphicFrame>
        <p:nvGraphicFramePr>
          <p:cNvPr id="3" name="TPChart" hidden="1"/>
          <p:cNvGraphicFramePr/>
          <p:nvPr userDrawn="1">
            <p:extLst>
              <p:ext uri="{D42A27DB-BD31-4B8C-83A1-F6EECF244321}">
                <p14:modId xmlns:p14="http://schemas.microsoft.com/office/powerpoint/2010/main" val="901693253"/>
              </p:ext>
            </p:extLst>
          </p:nvPr>
        </p:nvGraphicFramePr>
        <p:xfrm>
          <a:off x="6350000" y="1600200"/>
          <a:ext cx="2540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42545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dirty="0"/>
              <a:t>Click to edit Master title style</a:t>
            </a:r>
          </a:p>
        </p:txBody>
      </p:sp>
      <p:sp>
        <p:nvSpPr>
          <p:cNvPr id="13" name="Text Placeholder 12"/>
          <p:cNvSpPr>
            <a:spLocks noGrp="1"/>
          </p:cNvSpPr>
          <p:nvPr>
            <p:ph type="body" idx="1"/>
          </p:nvPr>
        </p:nvSpPr>
        <p:spPr>
          <a:xfrm>
            <a:off x="23948" y="1554480"/>
            <a:ext cx="9120051" cy="530352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rtl="0" eaLnBrk="1" latinLnBrk="0" hangingPunct="1">
        <a:spcBef>
          <a:spcPct val="0"/>
        </a:spcBef>
        <a:buNone/>
        <a:defRPr kumimoji="0" sz="4400" b="1"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3200" kern="1200">
          <a:solidFill>
            <a:schemeClr val="accent6">
              <a:lumMod val="50000"/>
            </a:schemeClr>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3200" kern="1200">
          <a:solidFill>
            <a:schemeClr val="accent6">
              <a:lumMod val="50000"/>
            </a:schemeClr>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3200" kern="1200">
          <a:solidFill>
            <a:schemeClr val="accent6">
              <a:lumMod val="50000"/>
            </a:schemeClr>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7.xml"/><Relationship Id="rId1" Type="http://schemas.openxmlformats.org/officeDocument/2006/relationships/tags" Target="../tags/tag13.xml"/><Relationship Id="rId5" Type="http://schemas.openxmlformats.org/officeDocument/2006/relationships/image" Target="../media/image5.png"/><Relationship Id="rId4" Type="http://schemas.openxmlformats.org/officeDocument/2006/relationships/hyperlink" Target="http://www.politico.com/p/2012-election/polls/president" TargetMode="Externa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hyperlink" Target="http://www.washingtonpost.com/wp-srv/special/politics/election-map-2012/president/" TargetMode="Externa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5.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slideLayout" Target="../slideLayouts/slideLayout2.xml"/><Relationship Id="rId7" Type="http://schemas.openxmlformats.org/officeDocument/2006/relationships/oleObject" Target="../embeddings/oleObject2.bin"/><Relationship Id="rId2" Type="http://schemas.openxmlformats.org/officeDocument/2006/relationships/tags" Target="../tags/tag19.xml"/><Relationship Id="rId1" Type="http://schemas.openxmlformats.org/officeDocument/2006/relationships/vmlDrawing" Target="../drawings/vmlDrawing1.vml"/><Relationship Id="rId6" Type="http://schemas.openxmlformats.org/officeDocument/2006/relationships/image" Target="../media/image8.wmf"/><Relationship Id="rId5" Type="http://schemas.openxmlformats.org/officeDocument/2006/relationships/oleObject" Target="../embeddings/oleObject1.bin"/><Relationship Id="rId4" Type="http://schemas.openxmlformats.org/officeDocument/2006/relationships/image" Target="../media/image10.jp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image" Target="../media/image10.jpg"/></Relationships>
</file>

<file path=ppt/slides/_rels/slide18.xml.rels><?xml version="1.0" encoding="UTF-8" standalone="yes"?>
<Relationships xmlns="http://schemas.openxmlformats.org/package/2006/relationships"><Relationship Id="rId3" Type="http://schemas.openxmlformats.org/officeDocument/2006/relationships/hyperlink" Target="http://www.lock5stat.com/statkey/index.html"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0.jp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8.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0.xml"/><Relationship Id="rId1" Type="http://schemas.openxmlformats.org/officeDocument/2006/relationships/tags" Target="../tags/tag29.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2.xml"/><Relationship Id="rId1" Type="http://schemas.openxmlformats.org/officeDocument/2006/relationships/tags" Target="../tags/tag31.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4.xml"/><Relationship Id="rId1" Type="http://schemas.openxmlformats.org/officeDocument/2006/relationships/tags" Target="../tags/tag33.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p:cNvSpPr txBox="1">
            <a:spLocks/>
          </p:cNvSpPr>
          <p:nvPr/>
        </p:nvSpPr>
        <p:spPr>
          <a:xfrm>
            <a:off x="2209799" y="2209799"/>
            <a:ext cx="6871855" cy="1690255"/>
          </a:xfrm>
          <a:prstGeom prst="rect">
            <a:avLst/>
          </a:prstGeom>
        </p:spPr>
        <p:txBody>
          <a:bodyPr vert="horz" lIns="91440" tIns="45720" rIns="91440" bIns="45720" rtlCol="0">
            <a:normAutofit/>
          </a:bodyPr>
          <a:lstStyle/>
          <a:p>
            <a:pPr lvl="0">
              <a:spcBef>
                <a:spcPct val="20000"/>
              </a:spcBef>
              <a:defRPr/>
            </a:pPr>
            <a:r>
              <a:rPr lang="en-US" sz="4000" b="1" dirty="0">
                <a:solidFill>
                  <a:schemeClr val="tx2"/>
                </a:solidFill>
              </a:rPr>
              <a:t>Section 3.1:</a:t>
            </a:r>
          </a:p>
          <a:p>
            <a:pPr lvl="0">
              <a:spcBef>
                <a:spcPct val="20000"/>
              </a:spcBef>
              <a:defRPr/>
            </a:pPr>
            <a:r>
              <a:rPr lang="en-US" sz="4000" b="1" dirty="0">
                <a:solidFill>
                  <a:schemeClr val="tx2"/>
                </a:solidFill>
              </a:rPr>
              <a:t>Sampling Distributions</a:t>
            </a:r>
          </a:p>
        </p:txBody>
      </p:sp>
      <p:sp>
        <p:nvSpPr>
          <p:cNvPr id="2" name="Footer Placeholder 1"/>
          <p:cNvSpPr>
            <a:spLocks noGrp="1"/>
          </p:cNvSpPr>
          <p:nvPr>
            <p:ph type="ftr" sz="quarter" idx="11"/>
          </p:nvPr>
        </p:nvSpPr>
        <p:spPr>
          <a:xfrm>
            <a:off x="2334491" y="6248400"/>
            <a:ext cx="6809508" cy="609600"/>
          </a:xfrm>
        </p:spPr>
        <p:txBody>
          <a:bodyPr/>
          <a:lstStyle/>
          <a:p>
            <a:pPr lvl="0"/>
            <a:r>
              <a:rPr lang="en-US" sz="2700" b="1" u="sng" dirty="0"/>
              <a:t>Statistics: Unlocking the Power of Data</a:t>
            </a:r>
            <a:r>
              <a:rPr lang="en-US" sz="2700" b="1" dirty="0"/>
              <a:t>, Lock</a:t>
            </a:r>
            <a:r>
              <a:rPr lang="en-US" sz="2700" b="1" baseline="30000" dirty="0"/>
              <a:t>5</a:t>
            </a:r>
            <a:endParaRPr lang="en-US" sz="2700" b="1" u="sng" dirty="0"/>
          </a:p>
          <a:p>
            <a:endParaRPr lang="en-US" sz="2700" dirty="0"/>
          </a:p>
        </p:txBody>
      </p:sp>
      <p:sp>
        <p:nvSpPr>
          <p:cNvPr id="3" name="TextBox 2"/>
          <p:cNvSpPr txBox="1"/>
          <p:nvPr/>
        </p:nvSpPr>
        <p:spPr>
          <a:xfrm>
            <a:off x="2514600" y="4267200"/>
            <a:ext cx="5534890" cy="523220"/>
          </a:xfrm>
          <a:prstGeom prst="rect">
            <a:avLst/>
          </a:prstGeom>
          <a:noFill/>
        </p:spPr>
        <p:txBody>
          <a:bodyPr wrap="square" rtlCol="0">
            <a:spAutoFit/>
          </a:bodyPr>
          <a:lstStyle/>
          <a:p>
            <a:pPr lvl="0">
              <a:spcBef>
                <a:spcPct val="20000"/>
              </a:spcBef>
              <a:defRPr/>
            </a:pPr>
            <a:r>
              <a:rPr lang="en-US" sz="2800" dirty="0">
                <a:solidFill>
                  <a:schemeClr val="bg2">
                    <a:lumMod val="20000"/>
                    <a:lumOff val="80000"/>
                  </a:schemeClr>
                </a:solidFill>
              </a:rPr>
              <a:t>Professor Kathryn </a:t>
            </a:r>
            <a:r>
              <a:rPr lang="en-US" sz="2800" dirty="0" err="1" smtClean="0">
                <a:solidFill>
                  <a:schemeClr val="bg2">
                    <a:lumMod val="20000"/>
                    <a:lumOff val="80000"/>
                  </a:schemeClr>
                </a:solidFill>
              </a:rPr>
              <a:t>Dobeck</a:t>
            </a:r>
            <a:endParaRPr lang="en-US" sz="2800" dirty="0">
              <a:solidFill>
                <a:schemeClr val="bg2">
                  <a:lumMod val="20000"/>
                  <a:lumOff val="80000"/>
                </a:schemeClr>
              </a:solidFill>
            </a:endParaRPr>
          </a:p>
        </p:txBody>
      </p:sp>
    </p:spTree>
    <p:custDataLst>
      <p:tags r:id="rId1"/>
    </p:custDataLst>
    <p:extLst>
      <p:ext uri="{BB962C8B-B14F-4D97-AF65-F5344CB8AC3E}">
        <p14:creationId xmlns:p14="http://schemas.microsoft.com/office/powerpoint/2010/main" val="459894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Answers"/>
          <p:cNvSpPr>
            <a:spLocks noGrp="1"/>
          </p:cNvSpPr>
          <p:nvPr>
            <p:ph sz="quarter" idx="4294967295"/>
            <p:custDataLst>
              <p:tags r:id="rId2"/>
            </p:custDataLst>
          </p:nvPr>
        </p:nvSpPr>
        <p:spPr>
          <a:xfrm>
            <a:off x="0" y="1676400"/>
            <a:ext cx="6172200" cy="5181600"/>
          </a:xfrm>
        </p:spPr>
        <p:txBody>
          <a:bodyPr>
            <a:noAutofit/>
          </a:bodyPr>
          <a:lstStyle/>
          <a:p>
            <a:pPr marL="514350" lvl="1" indent="-514350">
              <a:spcBef>
                <a:spcPct val="20000"/>
              </a:spcBef>
              <a:buClr>
                <a:schemeClr val="accent1"/>
              </a:buClr>
              <a:buSzPct val="100000"/>
              <a:buFont typeface="+mj-lt"/>
              <a:buAutoNum type="arabicPeriod"/>
            </a:pPr>
            <a:r>
              <a:rPr lang="en-US" sz="2800" dirty="0"/>
              <a:t>bar chart/pie chart, proportions, frequency table/relative frequency table </a:t>
            </a:r>
          </a:p>
          <a:p>
            <a:pPr marL="514350" lvl="1" indent="-514350">
              <a:spcBef>
                <a:spcPct val="20000"/>
              </a:spcBef>
              <a:buClr>
                <a:schemeClr val="accent1"/>
              </a:buClr>
              <a:buSzPct val="100000"/>
              <a:buFont typeface="+mj-lt"/>
              <a:buAutoNum type="arabicPeriod"/>
            </a:pPr>
            <a:r>
              <a:rPr lang="en-US" sz="2800" dirty="0" err="1"/>
              <a:t>dotplot</a:t>
            </a:r>
            <a:r>
              <a:rPr lang="en-US" sz="2800" dirty="0"/>
              <a:t>/histogram/boxplot, mean/median, </a:t>
            </a:r>
            <a:r>
              <a:rPr lang="en-US" sz="2800" dirty="0" err="1"/>
              <a:t>sd</a:t>
            </a:r>
            <a:r>
              <a:rPr lang="en-US" sz="2800" dirty="0"/>
              <a:t>/range/IQR, five number summary </a:t>
            </a:r>
          </a:p>
          <a:p>
            <a:pPr marL="514350" lvl="1" indent="-514350">
              <a:spcBef>
                <a:spcPct val="20000"/>
              </a:spcBef>
              <a:buClr>
                <a:schemeClr val="accent1"/>
              </a:buClr>
              <a:buSzPct val="100000"/>
              <a:buFont typeface="+mj-lt"/>
              <a:buAutoNum type="arabicPeriod"/>
            </a:pPr>
            <a:r>
              <a:rPr lang="en-US" sz="2800" dirty="0"/>
              <a:t>side-by-side or segmented bar plots, difference in proportions, two-way table </a:t>
            </a:r>
          </a:p>
          <a:p>
            <a:pPr marL="514350" lvl="1" indent="-514350">
              <a:spcBef>
                <a:spcPct val="20000"/>
              </a:spcBef>
              <a:buClr>
                <a:schemeClr val="accent1"/>
              </a:buClr>
              <a:buSzPct val="100000"/>
              <a:buFont typeface="+mj-lt"/>
              <a:buAutoNum type="arabicPeriod"/>
            </a:pPr>
            <a:r>
              <a:rPr lang="en-US" sz="2800" dirty="0"/>
              <a:t>side-by-side </a:t>
            </a:r>
            <a:r>
              <a:rPr lang="en-US" sz="2800" dirty="0" err="1"/>
              <a:t>boxplots</a:t>
            </a:r>
            <a:r>
              <a:rPr lang="en-US" sz="2800" dirty="0"/>
              <a:t>, stats by group</a:t>
            </a:r>
          </a:p>
          <a:p>
            <a:pPr marL="514350" lvl="1" indent="-514350">
              <a:spcBef>
                <a:spcPct val="20000"/>
              </a:spcBef>
              <a:buClr>
                <a:schemeClr val="accent1"/>
              </a:buClr>
              <a:buSzPct val="100000"/>
              <a:buFont typeface="+mj-lt"/>
              <a:buAutoNum type="arabicPeriod"/>
            </a:pPr>
            <a:r>
              <a:rPr lang="en-US" sz="2800" dirty="0"/>
              <a:t>scatterplot, correlation</a:t>
            </a:r>
            <a:endParaRPr lang="en-US" sz="2800" dirty="0">
              <a:solidFill>
                <a:schemeClr val="tx2"/>
              </a:solidFill>
            </a:endParaRPr>
          </a:p>
        </p:txBody>
      </p:sp>
      <p:sp>
        <p:nvSpPr>
          <p:cNvPr id="3" name="TPQuestion"/>
          <p:cNvSpPr>
            <a:spLocks noGrp="1"/>
          </p:cNvSpPr>
          <p:nvPr>
            <p:ph type="title" idx="4294967295"/>
          </p:nvPr>
        </p:nvSpPr>
        <p:spPr>
          <a:xfrm>
            <a:off x="0" y="27122"/>
            <a:ext cx="9144000" cy="1573078"/>
          </a:xfrm>
        </p:spPr>
        <p:txBody>
          <a:bodyPr anchor="ctr">
            <a:noAutofit/>
          </a:bodyPr>
          <a:lstStyle/>
          <a:p>
            <a:pPr marL="0" lvl="1" indent="0">
              <a:spcBef>
                <a:spcPts val="0"/>
              </a:spcBef>
            </a:pPr>
            <a:r>
              <a:rPr lang="en-US" sz="3200" b="1" kern="1200" dirty="0">
                <a:solidFill>
                  <a:schemeClr val="tx2"/>
                </a:solidFill>
                <a:latin typeface="+mj-lt"/>
                <a:ea typeface="+mj-ea"/>
                <a:cs typeface="+mj-cs"/>
              </a:rPr>
              <a:t>You are interested in analyzing the relationship between </a:t>
            </a:r>
            <a:r>
              <a:rPr lang="en-US" sz="3200" b="1" kern="1200" dirty="0">
                <a:solidFill>
                  <a:schemeClr val="accent1">
                    <a:lumMod val="50000"/>
                  </a:schemeClr>
                </a:solidFill>
                <a:latin typeface="+mj-lt"/>
                <a:ea typeface="+mj-ea"/>
                <a:cs typeface="+mj-cs"/>
              </a:rPr>
              <a:t>political party and IQ</a:t>
            </a:r>
            <a:r>
              <a:rPr lang="en-US" sz="3200" b="1" kern="1200" dirty="0">
                <a:solidFill>
                  <a:schemeClr val="tx2"/>
                </a:solidFill>
                <a:latin typeface="+mj-lt"/>
                <a:ea typeface="+mj-ea"/>
                <a:cs typeface="+mj-cs"/>
              </a:rPr>
              <a:t>.  How would you visualize and summarize the data?</a:t>
            </a:r>
          </a:p>
        </p:txBody>
      </p:sp>
    </p:spTree>
    <p:custDataLst>
      <p:tags r:id="rId1"/>
    </p:custDataLst>
    <p:extLst>
      <p:ext uri="{BB962C8B-B14F-4D97-AF65-F5344CB8AC3E}">
        <p14:creationId xmlns:p14="http://schemas.microsoft.com/office/powerpoint/2010/main" val="1995611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idx="4294967295"/>
          </p:nvPr>
        </p:nvSpPr>
        <p:spPr>
          <a:xfrm>
            <a:off x="0" y="27122"/>
            <a:ext cx="9144000" cy="1573078"/>
          </a:xfrm>
        </p:spPr>
        <p:txBody>
          <a:bodyPr anchor="ctr">
            <a:noAutofit/>
          </a:bodyPr>
          <a:lstStyle/>
          <a:p>
            <a:pPr marL="0" lvl="1" indent="0">
              <a:spcBef>
                <a:spcPts val="0"/>
              </a:spcBef>
            </a:pPr>
            <a:r>
              <a:rPr lang="en-US" sz="3200" b="1" kern="1200" dirty="0">
                <a:solidFill>
                  <a:schemeClr val="tx2"/>
                </a:solidFill>
                <a:latin typeface="+mj-lt"/>
                <a:ea typeface="+mj-ea"/>
                <a:cs typeface="+mj-cs"/>
              </a:rPr>
              <a:t>You are interested in analyzing the relationship between </a:t>
            </a:r>
            <a:r>
              <a:rPr lang="en-US" sz="3200" b="1" kern="1200" dirty="0">
                <a:solidFill>
                  <a:schemeClr val="accent1">
                    <a:lumMod val="50000"/>
                  </a:schemeClr>
                </a:solidFill>
                <a:latin typeface="+mj-lt"/>
                <a:ea typeface="+mj-ea"/>
                <a:cs typeface="+mj-cs"/>
              </a:rPr>
              <a:t>political party and gender</a:t>
            </a:r>
            <a:r>
              <a:rPr lang="en-US" sz="3200" b="1" kern="1200" dirty="0">
                <a:solidFill>
                  <a:schemeClr val="tx2"/>
                </a:solidFill>
                <a:latin typeface="+mj-lt"/>
                <a:ea typeface="+mj-ea"/>
                <a:cs typeface="+mj-cs"/>
              </a:rPr>
              <a:t>.  How would you visualize and summarize data?</a:t>
            </a:r>
          </a:p>
        </p:txBody>
      </p:sp>
      <p:sp>
        <p:nvSpPr>
          <p:cNvPr id="2" name="TPAnswers"/>
          <p:cNvSpPr>
            <a:spLocks noGrp="1"/>
          </p:cNvSpPr>
          <p:nvPr>
            <p:ph sz="quarter" idx="4294967295"/>
            <p:custDataLst>
              <p:tags r:id="rId2"/>
            </p:custDataLst>
          </p:nvPr>
        </p:nvSpPr>
        <p:spPr>
          <a:xfrm>
            <a:off x="0" y="1676400"/>
            <a:ext cx="6172200" cy="5181600"/>
          </a:xfrm>
        </p:spPr>
        <p:txBody>
          <a:bodyPr>
            <a:noAutofit/>
          </a:bodyPr>
          <a:lstStyle/>
          <a:p>
            <a:pPr marL="514350" lvl="1" indent="-514350">
              <a:spcBef>
                <a:spcPct val="20000"/>
              </a:spcBef>
              <a:buClr>
                <a:schemeClr val="accent1"/>
              </a:buClr>
              <a:buSzPct val="100000"/>
              <a:buFont typeface="+mj-lt"/>
              <a:buAutoNum type="arabicPeriod"/>
            </a:pPr>
            <a:r>
              <a:rPr lang="en-US" sz="2800" dirty="0"/>
              <a:t>bar chart/pie chart, proportions, frequency table/relative frequency table </a:t>
            </a:r>
          </a:p>
          <a:p>
            <a:pPr marL="514350" lvl="1" indent="-514350">
              <a:spcBef>
                <a:spcPct val="20000"/>
              </a:spcBef>
              <a:buClr>
                <a:schemeClr val="accent1"/>
              </a:buClr>
              <a:buSzPct val="100000"/>
              <a:buFont typeface="+mj-lt"/>
              <a:buAutoNum type="arabicPeriod"/>
            </a:pPr>
            <a:r>
              <a:rPr lang="en-US" sz="2800" dirty="0" err="1"/>
              <a:t>dotplot</a:t>
            </a:r>
            <a:r>
              <a:rPr lang="en-US" sz="2800" dirty="0"/>
              <a:t>/histogram/boxplot, mean/median, </a:t>
            </a:r>
            <a:r>
              <a:rPr lang="en-US" sz="2800" dirty="0" err="1"/>
              <a:t>sd</a:t>
            </a:r>
            <a:r>
              <a:rPr lang="en-US" sz="2800" dirty="0"/>
              <a:t>/range/IQR, five number summary </a:t>
            </a:r>
          </a:p>
          <a:p>
            <a:pPr marL="514350" lvl="1" indent="-514350">
              <a:spcBef>
                <a:spcPct val="20000"/>
              </a:spcBef>
              <a:buClr>
                <a:schemeClr val="accent1"/>
              </a:buClr>
              <a:buSzPct val="100000"/>
              <a:buFont typeface="+mj-lt"/>
              <a:buAutoNum type="arabicPeriod"/>
            </a:pPr>
            <a:r>
              <a:rPr lang="en-US" sz="2800" dirty="0"/>
              <a:t>side-by-side or segmented bar plots, difference in proportions, two-way table </a:t>
            </a:r>
          </a:p>
          <a:p>
            <a:pPr marL="514350" lvl="1" indent="-514350">
              <a:spcBef>
                <a:spcPct val="20000"/>
              </a:spcBef>
              <a:buClr>
                <a:schemeClr val="accent1"/>
              </a:buClr>
              <a:buSzPct val="100000"/>
              <a:buFont typeface="+mj-lt"/>
              <a:buAutoNum type="arabicPeriod"/>
            </a:pPr>
            <a:r>
              <a:rPr lang="en-US" sz="2800" dirty="0"/>
              <a:t>side-by-side </a:t>
            </a:r>
            <a:r>
              <a:rPr lang="en-US" sz="2800" dirty="0" err="1"/>
              <a:t>boxplots</a:t>
            </a:r>
            <a:r>
              <a:rPr lang="en-US" sz="2800" dirty="0"/>
              <a:t>, stats by group</a:t>
            </a:r>
          </a:p>
          <a:p>
            <a:pPr marL="514350" lvl="1" indent="-514350">
              <a:spcBef>
                <a:spcPct val="20000"/>
              </a:spcBef>
              <a:buClr>
                <a:schemeClr val="accent1"/>
              </a:buClr>
              <a:buSzPct val="100000"/>
              <a:buFont typeface="+mj-lt"/>
              <a:buAutoNum type="arabicPeriod"/>
            </a:pPr>
            <a:r>
              <a:rPr lang="en-US" sz="2800" dirty="0"/>
              <a:t>scatterplot, correlation</a:t>
            </a:r>
            <a:endParaRPr lang="en-US" sz="2800" dirty="0">
              <a:solidFill>
                <a:schemeClr val="tx2"/>
              </a:solidFill>
            </a:endParaRPr>
          </a:p>
        </p:txBody>
      </p:sp>
    </p:spTree>
    <p:custDataLst>
      <p:tags r:id="rId1"/>
    </p:custDataLst>
    <p:extLst>
      <p:ext uri="{BB962C8B-B14F-4D97-AF65-F5344CB8AC3E}">
        <p14:creationId xmlns:p14="http://schemas.microsoft.com/office/powerpoint/2010/main" val="3205147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idx="4294967295"/>
          </p:nvPr>
        </p:nvSpPr>
        <p:spPr>
          <a:xfrm>
            <a:off x="0" y="27122"/>
            <a:ext cx="9144000" cy="1573078"/>
          </a:xfrm>
        </p:spPr>
        <p:txBody>
          <a:bodyPr anchor="ctr">
            <a:noAutofit/>
          </a:bodyPr>
          <a:lstStyle/>
          <a:p>
            <a:pPr marL="0" lvl="1" indent="0">
              <a:spcBef>
                <a:spcPts val="0"/>
              </a:spcBef>
            </a:pPr>
            <a:r>
              <a:rPr lang="en-US" sz="3200" b="1" kern="1200" dirty="0">
                <a:solidFill>
                  <a:schemeClr val="tx2"/>
                </a:solidFill>
                <a:latin typeface="+mj-lt"/>
                <a:ea typeface="+mj-ea"/>
                <a:cs typeface="+mj-cs"/>
              </a:rPr>
              <a:t>You are interested in analyzing </a:t>
            </a:r>
            <a:r>
              <a:rPr lang="en-US" sz="3200" b="1" kern="1200" dirty="0">
                <a:solidFill>
                  <a:schemeClr val="accent1">
                    <a:lumMod val="50000"/>
                  </a:schemeClr>
                </a:solidFill>
                <a:latin typeface="+mj-lt"/>
                <a:ea typeface="+mj-ea"/>
                <a:cs typeface="+mj-cs"/>
              </a:rPr>
              <a:t>gender of Lorain County residents that voted in a recent election</a:t>
            </a:r>
            <a:r>
              <a:rPr lang="en-US" sz="3200" b="1" kern="1200" dirty="0">
                <a:solidFill>
                  <a:schemeClr val="tx2"/>
                </a:solidFill>
                <a:latin typeface="+mj-lt"/>
                <a:ea typeface="+mj-ea"/>
                <a:cs typeface="+mj-cs"/>
              </a:rPr>
              <a:t>.  How would you visualize and summarize the data?</a:t>
            </a:r>
          </a:p>
        </p:txBody>
      </p:sp>
      <p:sp>
        <p:nvSpPr>
          <p:cNvPr id="2" name="TPAnswers"/>
          <p:cNvSpPr>
            <a:spLocks noGrp="1"/>
          </p:cNvSpPr>
          <p:nvPr>
            <p:ph sz="quarter" idx="4294967295"/>
            <p:custDataLst>
              <p:tags r:id="rId2"/>
            </p:custDataLst>
          </p:nvPr>
        </p:nvSpPr>
        <p:spPr>
          <a:xfrm>
            <a:off x="0" y="1648691"/>
            <a:ext cx="6172200" cy="5181600"/>
          </a:xfrm>
        </p:spPr>
        <p:txBody>
          <a:bodyPr>
            <a:noAutofit/>
          </a:bodyPr>
          <a:lstStyle/>
          <a:p>
            <a:pPr marL="514350" lvl="1" indent="-514350">
              <a:spcBef>
                <a:spcPct val="20000"/>
              </a:spcBef>
              <a:buClr>
                <a:schemeClr val="accent1"/>
              </a:buClr>
              <a:buSzPct val="100000"/>
              <a:buFont typeface="+mj-lt"/>
              <a:buAutoNum type="arabicPeriod"/>
            </a:pPr>
            <a:r>
              <a:rPr lang="en-US" sz="2800" dirty="0"/>
              <a:t>bar chart/pie chart, proportions, frequency table/relative frequency table </a:t>
            </a:r>
          </a:p>
          <a:p>
            <a:pPr marL="514350" lvl="1" indent="-514350">
              <a:spcBef>
                <a:spcPct val="20000"/>
              </a:spcBef>
              <a:buClr>
                <a:schemeClr val="accent1"/>
              </a:buClr>
              <a:buSzPct val="100000"/>
              <a:buFont typeface="+mj-lt"/>
              <a:buAutoNum type="arabicPeriod"/>
            </a:pPr>
            <a:r>
              <a:rPr lang="en-US" sz="2800" dirty="0" err="1"/>
              <a:t>dotplot</a:t>
            </a:r>
            <a:r>
              <a:rPr lang="en-US" sz="2800" dirty="0"/>
              <a:t>/histogram/boxplot, mean/median, </a:t>
            </a:r>
            <a:r>
              <a:rPr lang="en-US" sz="2800" dirty="0" err="1"/>
              <a:t>sd</a:t>
            </a:r>
            <a:r>
              <a:rPr lang="en-US" sz="2800" dirty="0"/>
              <a:t>/range/IQR, five number summary </a:t>
            </a:r>
          </a:p>
          <a:p>
            <a:pPr marL="514350" lvl="1" indent="-514350">
              <a:spcBef>
                <a:spcPct val="20000"/>
              </a:spcBef>
              <a:buClr>
                <a:schemeClr val="accent1"/>
              </a:buClr>
              <a:buSzPct val="100000"/>
              <a:buFont typeface="+mj-lt"/>
              <a:buAutoNum type="arabicPeriod"/>
            </a:pPr>
            <a:r>
              <a:rPr lang="en-US" sz="2800" dirty="0"/>
              <a:t>side-by-side or segmented bar plots, difference in proportions, two-way table </a:t>
            </a:r>
          </a:p>
          <a:p>
            <a:pPr marL="514350" lvl="1" indent="-514350">
              <a:spcBef>
                <a:spcPct val="20000"/>
              </a:spcBef>
              <a:buClr>
                <a:schemeClr val="accent1"/>
              </a:buClr>
              <a:buSzPct val="100000"/>
              <a:buFont typeface="+mj-lt"/>
              <a:buAutoNum type="arabicPeriod"/>
            </a:pPr>
            <a:r>
              <a:rPr lang="en-US" sz="2800" dirty="0"/>
              <a:t>side-by-side </a:t>
            </a:r>
            <a:r>
              <a:rPr lang="en-US" sz="2800" dirty="0" err="1"/>
              <a:t>boxplots</a:t>
            </a:r>
            <a:r>
              <a:rPr lang="en-US" sz="2800" dirty="0"/>
              <a:t>, stats by group</a:t>
            </a:r>
          </a:p>
          <a:p>
            <a:pPr marL="514350" lvl="1" indent="-514350">
              <a:spcBef>
                <a:spcPct val="20000"/>
              </a:spcBef>
              <a:buClr>
                <a:schemeClr val="accent1"/>
              </a:buClr>
              <a:buSzPct val="100000"/>
              <a:buFont typeface="+mj-lt"/>
              <a:buAutoNum type="arabicPeriod"/>
            </a:pPr>
            <a:r>
              <a:rPr lang="en-US" sz="2800" dirty="0"/>
              <a:t>scatterplot, correlation</a:t>
            </a:r>
            <a:endParaRPr lang="en-US" sz="2800" dirty="0">
              <a:solidFill>
                <a:schemeClr val="tx2"/>
              </a:solidFill>
            </a:endParaRPr>
          </a:p>
        </p:txBody>
      </p:sp>
    </p:spTree>
    <p:custDataLst>
      <p:tags r:id="rId1"/>
    </p:custDataLst>
    <p:extLst>
      <p:ext uri="{BB962C8B-B14F-4D97-AF65-F5344CB8AC3E}">
        <p14:creationId xmlns:p14="http://schemas.microsoft.com/office/powerpoint/2010/main" val="4212183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2"/>
          <p:cNvSpPr txBox="1">
            <a:spLocks/>
          </p:cNvSpPr>
          <p:nvPr/>
        </p:nvSpPr>
        <p:spPr>
          <a:xfrm>
            <a:off x="457200" y="0"/>
            <a:ext cx="8229600" cy="11430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2"/>
                </a:solidFill>
                <a:effectLst/>
                <a:uLnTx/>
                <a:uFillTx/>
                <a:latin typeface="+mj-lt"/>
                <a:ea typeface="+mj-ea"/>
                <a:cs typeface="+mj-cs"/>
              </a:rPr>
              <a:t>The Big Picture</a:t>
            </a:r>
          </a:p>
        </p:txBody>
      </p:sp>
      <p:sp>
        <p:nvSpPr>
          <p:cNvPr id="11" name="Cloud"/>
          <p:cNvSpPr>
            <a:spLocks noChangeAspect="1" noEditPoints="1" noChangeArrowheads="1"/>
          </p:cNvSpPr>
          <p:nvPr/>
        </p:nvSpPr>
        <p:spPr bwMode="auto">
          <a:xfrm>
            <a:off x="380999" y="1219200"/>
            <a:ext cx="4890535" cy="32766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5">
              <a:lumMod val="60000"/>
              <a:lumOff val="40000"/>
            </a:schemeClr>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12" name="Text Box 5"/>
          <p:cNvSpPr txBox="1">
            <a:spLocks noChangeArrowheads="1"/>
          </p:cNvSpPr>
          <p:nvPr/>
        </p:nvSpPr>
        <p:spPr bwMode="auto">
          <a:xfrm>
            <a:off x="1219200" y="2430959"/>
            <a:ext cx="3124200" cy="769441"/>
          </a:xfrm>
          <a:prstGeom prst="rect">
            <a:avLst/>
          </a:prstGeom>
          <a:noFill/>
          <a:ln w="9525">
            <a:noFill/>
            <a:miter lim="800000"/>
            <a:headEnd/>
            <a:tailEnd/>
          </a:ln>
        </p:spPr>
        <p:txBody>
          <a:bodyPr wrap="square">
            <a:spAutoFit/>
          </a:bodyPr>
          <a:lstStyle/>
          <a:p>
            <a:pPr>
              <a:spcBef>
                <a:spcPct val="50000"/>
              </a:spcBef>
            </a:pPr>
            <a:r>
              <a:rPr lang="en-US" sz="4400" b="1" dirty="0">
                <a:solidFill>
                  <a:schemeClr val="tx1"/>
                </a:solidFill>
              </a:rPr>
              <a:t>Population</a:t>
            </a:r>
          </a:p>
        </p:txBody>
      </p:sp>
      <p:grpSp>
        <p:nvGrpSpPr>
          <p:cNvPr id="2" name="Group 17"/>
          <p:cNvGrpSpPr>
            <a:grpSpLocks/>
          </p:cNvGrpSpPr>
          <p:nvPr/>
        </p:nvGrpSpPr>
        <p:grpSpPr bwMode="auto">
          <a:xfrm>
            <a:off x="5410201" y="4038600"/>
            <a:ext cx="1845469" cy="1371600"/>
            <a:chOff x="3984" y="3120"/>
            <a:chExt cx="1302" cy="804"/>
          </a:xfrm>
        </p:grpSpPr>
        <p:sp>
          <p:nvSpPr>
            <p:cNvPr id="14" name="Cloud"/>
            <p:cNvSpPr>
              <a:spLocks noChangeAspect="1" noEditPoints="1" noChangeArrowheads="1"/>
            </p:cNvSpPr>
            <p:nvPr/>
          </p:nvSpPr>
          <p:spPr bwMode="auto">
            <a:xfrm>
              <a:off x="3984" y="3120"/>
              <a:ext cx="1200" cy="804"/>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5">
                <a:lumMod val="60000"/>
                <a:lumOff val="40000"/>
              </a:schemeClr>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15" name="Text Box 7"/>
            <p:cNvSpPr txBox="1">
              <a:spLocks noChangeArrowheads="1"/>
            </p:cNvSpPr>
            <p:nvPr/>
          </p:nvSpPr>
          <p:spPr bwMode="auto">
            <a:xfrm>
              <a:off x="4038" y="3313"/>
              <a:ext cx="1248" cy="343"/>
            </a:xfrm>
            <a:prstGeom prst="rect">
              <a:avLst/>
            </a:prstGeom>
            <a:noFill/>
            <a:ln w="9525">
              <a:noFill/>
              <a:miter lim="800000"/>
              <a:headEnd/>
              <a:tailEnd/>
            </a:ln>
          </p:spPr>
          <p:txBody>
            <a:bodyPr>
              <a:spAutoFit/>
            </a:bodyPr>
            <a:lstStyle/>
            <a:p>
              <a:pPr>
                <a:spcBef>
                  <a:spcPct val="50000"/>
                </a:spcBef>
              </a:pPr>
              <a:r>
                <a:rPr lang="en-US" sz="3200" b="1" dirty="0">
                  <a:solidFill>
                    <a:schemeClr val="tx1"/>
                  </a:solidFill>
                </a:rPr>
                <a:t>Sample</a:t>
              </a:r>
            </a:p>
          </p:txBody>
        </p:sp>
      </p:grpSp>
      <p:sp>
        <p:nvSpPr>
          <p:cNvPr id="16" name="AutoShape 12"/>
          <p:cNvSpPr>
            <a:spLocks noChangeArrowheads="1"/>
          </p:cNvSpPr>
          <p:nvPr/>
        </p:nvSpPr>
        <p:spPr bwMode="auto">
          <a:xfrm>
            <a:off x="3200400" y="1676400"/>
            <a:ext cx="3657600" cy="3733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56" y="11808"/>
                </a:moveTo>
                <a:cubicBezTo>
                  <a:pt x="19794" y="11473"/>
                  <a:pt x="19813" y="11137"/>
                  <a:pt x="19813" y="10800"/>
                </a:cubicBezTo>
                <a:cubicBezTo>
                  <a:pt x="19813" y="5822"/>
                  <a:pt x="15777" y="1787"/>
                  <a:pt x="10800" y="1787"/>
                </a:cubicBezTo>
                <a:cubicBezTo>
                  <a:pt x="8447" y="1786"/>
                  <a:pt x="6187" y="2706"/>
                  <a:pt x="4504" y="4350"/>
                </a:cubicBezTo>
                <a:lnTo>
                  <a:pt x="3256" y="3071"/>
                </a:lnTo>
                <a:cubicBezTo>
                  <a:pt x="5273" y="1102"/>
                  <a:pt x="7980" y="-1"/>
                  <a:pt x="10800" y="0"/>
                </a:cubicBezTo>
                <a:cubicBezTo>
                  <a:pt x="16764" y="0"/>
                  <a:pt x="21600" y="4835"/>
                  <a:pt x="21600" y="10800"/>
                </a:cubicBezTo>
                <a:cubicBezTo>
                  <a:pt x="21600" y="11203"/>
                  <a:pt x="21577" y="11607"/>
                  <a:pt x="21532" y="12008"/>
                </a:cubicBezTo>
                <a:lnTo>
                  <a:pt x="24215" y="12311"/>
                </a:lnTo>
                <a:lnTo>
                  <a:pt x="20241" y="15480"/>
                </a:lnTo>
                <a:lnTo>
                  <a:pt x="17073" y="11506"/>
                </a:lnTo>
                <a:lnTo>
                  <a:pt x="19756" y="11808"/>
                </a:lnTo>
                <a:close/>
              </a:path>
            </a:pathLst>
          </a:custGeom>
          <a:solidFill>
            <a:srgbClr val="FFFF66"/>
          </a:solidFill>
          <a:ln w="9525">
            <a:solidFill>
              <a:schemeClr val="tx1"/>
            </a:solidFill>
            <a:miter lim="800000"/>
            <a:headEnd/>
            <a:tailEnd/>
          </a:ln>
        </p:spPr>
        <p:txBody>
          <a:bodyPr wrap="none" anchor="ctr"/>
          <a:lstStyle/>
          <a:p>
            <a:endParaRPr lang="en-US"/>
          </a:p>
        </p:txBody>
      </p:sp>
      <p:sp>
        <p:nvSpPr>
          <p:cNvPr id="17" name="Text Box 13"/>
          <p:cNvSpPr txBox="1">
            <a:spLocks noChangeArrowheads="1"/>
          </p:cNvSpPr>
          <p:nvPr/>
        </p:nvSpPr>
        <p:spPr bwMode="auto">
          <a:xfrm>
            <a:off x="5715000" y="2448580"/>
            <a:ext cx="1752600" cy="523220"/>
          </a:xfrm>
          <a:prstGeom prst="rect">
            <a:avLst/>
          </a:prstGeom>
          <a:solidFill>
            <a:srgbClr val="FFFF66"/>
          </a:solidFill>
          <a:ln w="9525">
            <a:noFill/>
            <a:miter lim="800000"/>
            <a:headEnd/>
            <a:tailEnd/>
          </a:ln>
        </p:spPr>
        <p:txBody>
          <a:bodyPr wrap="square">
            <a:spAutoFit/>
          </a:bodyPr>
          <a:lstStyle/>
          <a:p>
            <a:pPr>
              <a:spcBef>
                <a:spcPct val="50000"/>
              </a:spcBef>
            </a:pPr>
            <a:r>
              <a:rPr lang="en-US" sz="2800" dirty="0"/>
              <a:t>Sampling</a:t>
            </a:r>
            <a:endParaRPr lang="en-US" sz="2800" dirty="0">
              <a:solidFill>
                <a:schemeClr val="tx1"/>
              </a:solidFill>
            </a:endParaRPr>
          </a:p>
        </p:txBody>
      </p:sp>
      <p:sp>
        <p:nvSpPr>
          <p:cNvPr id="18" name="AutoShape 15"/>
          <p:cNvSpPr>
            <a:spLocks noChangeArrowheads="1"/>
          </p:cNvSpPr>
          <p:nvPr/>
        </p:nvSpPr>
        <p:spPr bwMode="auto">
          <a:xfrm rot="10583633">
            <a:off x="2523144" y="2849979"/>
            <a:ext cx="3962400" cy="2819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56" y="11808"/>
                </a:moveTo>
                <a:cubicBezTo>
                  <a:pt x="19794" y="11473"/>
                  <a:pt x="19813" y="11137"/>
                  <a:pt x="19813" y="10800"/>
                </a:cubicBezTo>
                <a:cubicBezTo>
                  <a:pt x="19813" y="5822"/>
                  <a:pt x="15777" y="1787"/>
                  <a:pt x="10800" y="1787"/>
                </a:cubicBezTo>
                <a:cubicBezTo>
                  <a:pt x="8447" y="1786"/>
                  <a:pt x="6187" y="2706"/>
                  <a:pt x="4504" y="4350"/>
                </a:cubicBezTo>
                <a:lnTo>
                  <a:pt x="3256" y="3071"/>
                </a:lnTo>
                <a:cubicBezTo>
                  <a:pt x="5273" y="1102"/>
                  <a:pt x="7980" y="-1"/>
                  <a:pt x="10800" y="0"/>
                </a:cubicBezTo>
                <a:cubicBezTo>
                  <a:pt x="16764" y="0"/>
                  <a:pt x="21600" y="4835"/>
                  <a:pt x="21600" y="10800"/>
                </a:cubicBezTo>
                <a:cubicBezTo>
                  <a:pt x="21600" y="11203"/>
                  <a:pt x="21577" y="11607"/>
                  <a:pt x="21532" y="12008"/>
                </a:cubicBezTo>
                <a:lnTo>
                  <a:pt x="24215" y="12311"/>
                </a:lnTo>
                <a:lnTo>
                  <a:pt x="20241" y="15480"/>
                </a:lnTo>
                <a:lnTo>
                  <a:pt x="17073" y="11506"/>
                </a:lnTo>
                <a:lnTo>
                  <a:pt x="19756" y="11808"/>
                </a:lnTo>
                <a:close/>
              </a:path>
            </a:pathLst>
          </a:custGeom>
          <a:solidFill>
            <a:schemeClr val="accent2">
              <a:lumMod val="75000"/>
            </a:schemeClr>
          </a:solidFill>
          <a:ln w="9525">
            <a:solidFill>
              <a:schemeClr val="tx1"/>
            </a:solidFill>
            <a:miter lim="800000"/>
            <a:headEnd/>
            <a:tailEnd/>
          </a:ln>
        </p:spPr>
        <p:txBody>
          <a:bodyPr wrap="none" anchor="ctr"/>
          <a:lstStyle/>
          <a:p>
            <a:endParaRPr lang="en-US"/>
          </a:p>
        </p:txBody>
      </p:sp>
      <p:sp>
        <p:nvSpPr>
          <p:cNvPr id="19" name="Text Box 16"/>
          <p:cNvSpPr txBox="1">
            <a:spLocks noChangeArrowheads="1"/>
          </p:cNvSpPr>
          <p:nvPr/>
        </p:nvSpPr>
        <p:spPr bwMode="auto">
          <a:xfrm>
            <a:off x="2743200" y="5029200"/>
            <a:ext cx="2438400" cy="1200329"/>
          </a:xfrm>
          <a:prstGeom prst="rect">
            <a:avLst/>
          </a:prstGeom>
          <a:solidFill>
            <a:schemeClr val="accent2">
              <a:lumMod val="75000"/>
            </a:schemeClr>
          </a:solidFill>
          <a:ln w="9525">
            <a:noFill/>
            <a:miter lim="800000"/>
            <a:headEnd/>
            <a:tailEnd/>
          </a:ln>
        </p:spPr>
        <p:txBody>
          <a:bodyPr wrap="square">
            <a:spAutoFit/>
          </a:bodyPr>
          <a:lstStyle/>
          <a:p>
            <a:pPr>
              <a:spcBef>
                <a:spcPct val="50000"/>
              </a:spcBef>
            </a:pPr>
            <a:r>
              <a:rPr lang="en-US" sz="3600" dirty="0">
                <a:solidFill>
                  <a:schemeClr val="bg1"/>
                </a:solidFill>
              </a:rPr>
              <a:t>Statistical Inference</a:t>
            </a:r>
          </a:p>
        </p:txBody>
      </p:sp>
    </p:spTree>
    <p:custDataLst>
      <p:tags r:id="rId1"/>
    </p:custDataLst>
    <p:extLst>
      <p:ext uri="{BB962C8B-B14F-4D97-AF65-F5344CB8AC3E}">
        <p14:creationId xmlns:p14="http://schemas.microsoft.com/office/powerpoint/2010/main" val="1483347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par>
                                <p:cTn id="8" presetID="1" presetClass="entr" presetSubtype="0" fill="hold" grpId="0" nodeType="withEffect">
                                  <p:stCondLst>
                                    <p:cond delay="0"/>
                                  </p:stCondLst>
                                  <p:childTnLst>
                                    <p:set>
                                      <p:cBhvr>
                                        <p:cTn id="9" dur="1" fill="hold">
                                          <p:stCondLst>
                                            <p:cond delay="499"/>
                                          </p:stCondLst>
                                        </p:cTn>
                                        <p:tgtEl>
                                          <p:spTgt spid="1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7" presetClass="entr" presetSubtype="1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strVal val="#ppt_h"/>
                                          </p:val>
                                        </p:tav>
                                        <p:tav tm="100000">
                                          <p:val>
                                            <p:strVal val="#ppt_h"/>
                                          </p:val>
                                        </p:tav>
                                      </p:tavLst>
                                    </p:anim>
                                  </p:childTnLst>
                                </p:cTn>
                              </p:par>
                              <p:par>
                                <p:cTn id="16" presetID="1" presetClass="entr" presetSubtype="0" fill="hold" grpId="0" nodeType="withEffect">
                                  <p:stCondLst>
                                    <p:cond delay="0"/>
                                  </p:stCondLst>
                                  <p:childTnLst>
                                    <p:set>
                                      <p:cBhvr>
                                        <p:cTn id="17" dur="1" fill="hold">
                                          <p:stCondLst>
                                            <p:cond delay="499"/>
                                          </p:stCondLst>
                                        </p:cTn>
                                        <p:tgtEl>
                                          <p:spTgt spid="1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3" presetClass="entr" presetSubtype="52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anim calcmode="lin" valueType="num">
                                      <p:cBhvr>
                                        <p:cTn id="24" dur="500" fill="hold"/>
                                        <p:tgtEl>
                                          <p:spTgt spid="2"/>
                                        </p:tgtEl>
                                        <p:attrNameLst>
                                          <p:attrName>ppt_x</p:attrName>
                                        </p:attrNameLst>
                                      </p:cBhvr>
                                      <p:tavLst>
                                        <p:tav tm="0">
                                          <p:val>
                                            <p:fltVal val="0.5"/>
                                          </p:val>
                                        </p:tav>
                                        <p:tav tm="100000">
                                          <p:val>
                                            <p:strVal val="#ppt_x"/>
                                          </p:val>
                                        </p:tav>
                                      </p:tavLst>
                                    </p:anim>
                                    <p:anim calcmode="lin" valueType="num">
                                      <p:cBhvr>
                                        <p:cTn id="25" dur="500" fill="hold"/>
                                        <p:tgtEl>
                                          <p:spTgt spid="2"/>
                                        </p:tgtEl>
                                        <p:attrNameLst>
                                          <p:attrName>ppt_y</p:attrName>
                                        </p:attrNameLst>
                                      </p:cBhvr>
                                      <p:tavLst>
                                        <p:tav tm="0">
                                          <p:val>
                                            <p:fltVal val="0.5"/>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7" presetClass="entr" presetSubtype="2"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 calcmode="lin" valueType="num">
                                      <p:cBhvr>
                                        <p:cTn id="30" dur="500" fill="hold"/>
                                        <p:tgtEl>
                                          <p:spTgt spid="18"/>
                                        </p:tgtEl>
                                        <p:attrNameLst>
                                          <p:attrName>ppt_x</p:attrName>
                                        </p:attrNameLst>
                                      </p:cBhvr>
                                      <p:tavLst>
                                        <p:tav tm="0">
                                          <p:val>
                                            <p:strVal val="#ppt_x+#ppt_w/2"/>
                                          </p:val>
                                        </p:tav>
                                        <p:tav tm="100000">
                                          <p:val>
                                            <p:strVal val="#ppt_x"/>
                                          </p:val>
                                        </p:tav>
                                      </p:tavLst>
                                    </p:anim>
                                    <p:anim calcmode="lin" valueType="num">
                                      <p:cBhvr>
                                        <p:cTn id="31" dur="500" fill="hold"/>
                                        <p:tgtEl>
                                          <p:spTgt spid="18"/>
                                        </p:tgtEl>
                                        <p:attrNameLst>
                                          <p:attrName>ppt_y</p:attrName>
                                        </p:attrNameLst>
                                      </p:cBhvr>
                                      <p:tavLst>
                                        <p:tav tm="0">
                                          <p:val>
                                            <p:strVal val="#ppt_y"/>
                                          </p:val>
                                        </p:tav>
                                        <p:tav tm="100000">
                                          <p:val>
                                            <p:strVal val="#ppt_y"/>
                                          </p:val>
                                        </p:tav>
                                      </p:tavLst>
                                    </p:anim>
                                    <p:anim calcmode="lin" valueType="num">
                                      <p:cBhvr>
                                        <p:cTn id="32" dur="500" fill="hold"/>
                                        <p:tgtEl>
                                          <p:spTgt spid="18"/>
                                        </p:tgtEl>
                                        <p:attrNameLst>
                                          <p:attrName>ppt_w</p:attrName>
                                        </p:attrNameLst>
                                      </p:cBhvr>
                                      <p:tavLst>
                                        <p:tav tm="0">
                                          <p:val>
                                            <p:fltVal val="0"/>
                                          </p:val>
                                        </p:tav>
                                        <p:tav tm="100000">
                                          <p:val>
                                            <p:strVal val="#ppt_w"/>
                                          </p:val>
                                        </p:tav>
                                      </p:tavLst>
                                    </p:anim>
                                    <p:anim calcmode="lin" valueType="num">
                                      <p:cBhvr>
                                        <p:cTn id="33" dur="500" fill="hold"/>
                                        <p:tgtEl>
                                          <p:spTgt spid="18"/>
                                        </p:tgtEl>
                                        <p:attrNameLst>
                                          <p:attrName>ppt_h</p:attrName>
                                        </p:attrNameLst>
                                      </p:cBhvr>
                                      <p:tavLst>
                                        <p:tav tm="0">
                                          <p:val>
                                            <p:strVal val="#ppt_h"/>
                                          </p:val>
                                        </p:tav>
                                        <p:tav tm="100000">
                                          <p:val>
                                            <p:strVal val="#ppt_h"/>
                                          </p:val>
                                        </p:tav>
                                      </p:tavLst>
                                    </p:anim>
                                  </p:childTnLst>
                                </p:cTn>
                              </p:par>
                              <p:par>
                                <p:cTn id="34" presetID="1" presetClass="entr" presetSubtype="0" fill="hold" grpId="0" nodeType="withEffect">
                                  <p:stCondLst>
                                    <p:cond delay="0"/>
                                  </p:stCondLst>
                                  <p:childTnLst>
                                    <p:set>
                                      <p:cBhvr>
                                        <p:cTn id="35" dur="1" fill="hold">
                                          <p:stCondLst>
                                            <p:cond delay="49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utoUpdateAnimBg="0"/>
      <p:bldP spid="16" grpId="0" animBg="1"/>
      <p:bldP spid="17" grpId="0" animBg="1" autoUpdateAnimBg="0"/>
      <p:bldP spid="18" grpId="0" animBg="1"/>
      <p:bldP spid="19"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Statistical Inference</a:t>
            </a:r>
          </a:p>
        </p:txBody>
      </p:sp>
      <p:sp>
        <p:nvSpPr>
          <p:cNvPr id="3" name="Content Placeholder 2"/>
          <p:cNvSpPr>
            <a:spLocks noGrp="1"/>
          </p:cNvSpPr>
          <p:nvPr>
            <p:ph idx="1"/>
          </p:nvPr>
        </p:nvSpPr>
        <p:spPr>
          <a:xfrm>
            <a:off x="533400" y="1676400"/>
            <a:ext cx="8077200" cy="2133600"/>
          </a:xfrm>
        </p:spPr>
        <p:txBody>
          <a:bodyPr>
            <a:normAutofit/>
          </a:bodyPr>
          <a:lstStyle/>
          <a:p>
            <a:r>
              <a:rPr lang="en-US" b="1" i="1" dirty="0">
                <a:solidFill>
                  <a:schemeClr val="tx2"/>
                </a:solidFill>
              </a:rPr>
              <a:t>Statistical inference </a:t>
            </a:r>
            <a:r>
              <a:rPr lang="en-US" dirty="0">
                <a:solidFill>
                  <a:schemeClr val="tx2"/>
                </a:solidFill>
              </a:rPr>
              <a:t> </a:t>
            </a:r>
            <a:r>
              <a:rPr lang="en-US" dirty="0"/>
              <a:t>is the process of drawing conclusions about the entire population based on information in a sample.</a:t>
            </a:r>
            <a:endParaRPr lang="en-US" b="1" i="1" dirty="0"/>
          </a:p>
        </p:txBody>
      </p:sp>
    </p:spTree>
    <p:custDataLst>
      <p:tags r:id="rId1"/>
    </p:custDataLst>
    <p:extLst>
      <p:ext uri="{BB962C8B-B14F-4D97-AF65-F5344CB8AC3E}">
        <p14:creationId xmlns:p14="http://schemas.microsoft.com/office/powerpoint/2010/main" val="2694017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Statistic and Parameter</a:t>
            </a:r>
          </a:p>
        </p:txBody>
      </p:sp>
      <p:sp>
        <p:nvSpPr>
          <p:cNvPr id="3" name="Content Placeholder 2"/>
          <p:cNvSpPr>
            <a:spLocks noGrp="1"/>
          </p:cNvSpPr>
          <p:nvPr>
            <p:ph idx="1"/>
          </p:nvPr>
        </p:nvSpPr>
        <p:spPr>
          <a:xfrm>
            <a:off x="381000" y="1828800"/>
            <a:ext cx="7848600" cy="2286000"/>
          </a:xfrm>
        </p:spPr>
        <p:txBody>
          <a:bodyPr>
            <a:normAutofit/>
          </a:bodyPr>
          <a:lstStyle/>
          <a:p>
            <a:r>
              <a:rPr lang="en-US" dirty="0"/>
              <a:t>A </a:t>
            </a:r>
            <a:r>
              <a:rPr lang="en-US" b="1" i="1" dirty="0">
                <a:solidFill>
                  <a:schemeClr val="accent5">
                    <a:lumMod val="50000"/>
                  </a:schemeClr>
                </a:solidFill>
              </a:rPr>
              <a:t>parameter</a:t>
            </a:r>
            <a:r>
              <a:rPr lang="en-US" dirty="0">
                <a:solidFill>
                  <a:schemeClr val="accent5">
                    <a:lumMod val="50000"/>
                  </a:schemeClr>
                </a:solidFill>
              </a:rPr>
              <a:t> </a:t>
            </a:r>
            <a:r>
              <a:rPr lang="en-US" dirty="0"/>
              <a:t>is a number that describes some aspect of a population.</a:t>
            </a:r>
          </a:p>
          <a:p>
            <a:r>
              <a:rPr lang="en-US" dirty="0"/>
              <a:t>A </a:t>
            </a:r>
            <a:r>
              <a:rPr lang="en-US" b="1" i="1" dirty="0">
                <a:solidFill>
                  <a:schemeClr val="accent5">
                    <a:lumMod val="50000"/>
                  </a:schemeClr>
                </a:solidFill>
              </a:rPr>
              <a:t>statistic</a:t>
            </a:r>
            <a:r>
              <a:rPr lang="en-US" dirty="0">
                <a:solidFill>
                  <a:schemeClr val="accent5">
                    <a:lumMod val="50000"/>
                  </a:schemeClr>
                </a:solidFill>
              </a:rPr>
              <a:t> </a:t>
            </a:r>
            <a:r>
              <a:rPr lang="en-US" dirty="0"/>
              <a:t>is a number that is computed from data in a sample.</a:t>
            </a:r>
          </a:p>
        </p:txBody>
      </p:sp>
      <p:sp>
        <p:nvSpPr>
          <p:cNvPr id="5" name="Content Placeholder 3"/>
          <p:cNvSpPr>
            <a:spLocks noGrp="1"/>
          </p:cNvSpPr>
          <p:nvPr>
            <p:ph idx="10"/>
          </p:nvPr>
        </p:nvSpPr>
        <p:spPr>
          <a:xfrm>
            <a:off x="381000" y="4572000"/>
            <a:ext cx="8534400" cy="1600200"/>
          </a:xfrm>
        </p:spPr>
        <p:txBody>
          <a:bodyPr>
            <a:normAutofit/>
          </a:bodyPr>
          <a:lstStyle/>
          <a:p>
            <a:r>
              <a:rPr lang="en-US" dirty="0"/>
              <a:t>We usually have a sample statistic and want to use it to make inferences about the population parameter</a:t>
            </a:r>
          </a:p>
        </p:txBody>
      </p:sp>
    </p:spTree>
    <p:custDataLst>
      <p:tags r:id="rId1"/>
    </p:custDataLst>
    <p:extLst>
      <p:ext uri="{BB962C8B-B14F-4D97-AF65-F5344CB8AC3E}">
        <p14:creationId xmlns:p14="http://schemas.microsoft.com/office/powerpoint/2010/main" val="637139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 y="0"/>
            <a:ext cx="8991600" cy="1295400"/>
          </a:xfrm>
        </p:spPr>
        <p:txBody>
          <a:bodyPr anchor="ctr">
            <a:normAutofit/>
          </a:bodyPr>
          <a:lstStyle/>
          <a:p>
            <a:r>
              <a:rPr lang="en-US" b="1" dirty="0"/>
              <a:t>Parameter versus Statistic</a:t>
            </a:r>
          </a:p>
        </p:txBody>
      </p:sp>
      <p:sp>
        <p:nvSpPr>
          <p:cNvPr id="6" name="TextBox 5"/>
          <p:cNvSpPr txBox="1">
            <a:spLocks noRot="1" noChangeAspect="1" noMove="1" noResize="1" noEditPoints="1" noAdjustHandles="1" noChangeArrowheads="1" noChangeShapeType="1" noTextEdit="1"/>
          </p:cNvSpPr>
          <p:nvPr/>
        </p:nvSpPr>
        <p:spPr>
          <a:xfrm>
            <a:off x="970960" y="1809947"/>
            <a:ext cx="7466029" cy="3348462"/>
          </a:xfrm>
          <a:prstGeom prst="rect">
            <a:avLst/>
          </a:prstGeom>
          <a:blipFill rotWithShape="1">
            <a:blip r:embed="rId3" cstate="print"/>
            <a:srcRect/>
            <a:stretch>
              <a:fillRect l="-2450" t="-2916" r="1" b="-41549"/>
            </a:stretch>
          </a:blipFill>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noFill/>
                <a:effectLst/>
                <a:uLnTx/>
                <a:uFillTx/>
              </a:rPr>
              <a:t> </a:t>
            </a:r>
          </a:p>
        </p:txBody>
      </p:sp>
      <p:sp>
        <p:nvSpPr>
          <p:cNvPr id="8" name="TextBox 7"/>
          <p:cNvSpPr txBox="1"/>
          <p:nvPr/>
        </p:nvSpPr>
        <p:spPr>
          <a:xfrm>
            <a:off x="4572000" y="2590800"/>
            <a:ext cx="762000" cy="369332"/>
          </a:xfrm>
          <a:prstGeom prst="rect">
            <a:avLst/>
          </a:prstGeom>
          <a:noFill/>
        </p:spPr>
        <p:txBody>
          <a:bodyPr wrap="square" rtlCol="0">
            <a:spAutoFit/>
          </a:bodyPr>
          <a:lstStyle/>
          <a:p>
            <a:r>
              <a:rPr lang="en-US" dirty="0"/>
              <a:t>mu</a:t>
            </a:r>
          </a:p>
        </p:txBody>
      </p:sp>
      <p:sp>
        <p:nvSpPr>
          <p:cNvPr id="9" name="TextBox 8"/>
          <p:cNvSpPr txBox="1"/>
          <p:nvPr/>
        </p:nvSpPr>
        <p:spPr>
          <a:xfrm>
            <a:off x="4572000" y="3897868"/>
            <a:ext cx="914400" cy="369332"/>
          </a:xfrm>
          <a:prstGeom prst="rect">
            <a:avLst/>
          </a:prstGeom>
          <a:noFill/>
        </p:spPr>
        <p:txBody>
          <a:bodyPr wrap="square" rtlCol="0">
            <a:spAutoFit/>
          </a:bodyPr>
          <a:lstStyle/>
          <a:p>
            <a:r>
              <a:rPr lang="en-US" dirty="0"/>
              <a:t>sigma</a:t>
            </a:r>
          </a:p>
        </p:txBody>
      </p:sp>
      <p:sp>
        <p:nvSpPr>
          <p:cNvPr id="10" name="TextBox 9"/>
          <p:cNvSpPr txBox="1"/>
          <p:nvPr/>
        </p:nvSpPr>
        <p:spPr>
          <a:xfrm>
            <a:off x="4572000" y="4659868"/>
            <a:ext cx="762000" cy="369332"/>
          </a:xfrm>
          <a:prstGeom prst="rect">
            <a:avLst/>
          </a:prstGeom>
          <a:noFill/>
        </p:spPr>
        <p:txBody>
          <a:bodyPr wrap="square" rtlCol="0">
            <a:spAutoFit/>
          </a:bodyPr>
          <a:lstStyle/>
          <a:p>
            <a:r>
              <a:rPr lang="en-US" dirty="0"/>
              <a:t>rho</a:t>
            </a:r>
          </a:p>
        </p:txBody>
      </p:sp>
      <p:sp>
        <p:nvSpPr>
          <p:cNvPr id="12" name="TextBox 11"/>
          <p:cNvSpPr txBox="1"/>
          <p:nvPr/>
        </p:nvSpPr>
        <p:spPr>
          <a:xfrm>
            <a:off x="6629400" y="2558534"/>
            <a:ext cx="762000" cy="369332"/>
          </a:xfrm>
          <a:prstGeom prst="rect">
            <a:avLst/>
          </a:prstGeom>
          <a:noFill/>
        </p:spPr>
        <p:txBody>
          <a:bodyPr wrap="square" rtlCol="0">
            <a:spAutoFit/>
          </a:bodyPr>
          <a:lstStyle/>
          <a:p>
            <a:r>
              <a:rPr lang="en-US" dirty="0"/>
              <a:t>x-bar</a:t>
            </a:r>
          </a:p>
        </p:txBody>
      </p:sp>
      <p:sp>
        <p:nvSpPr>
          <p:cNvPr id="13" name="TextBox 12"/>
          <p:cNvSpPr txBox="1"/>
          <p:nvPr/>
        </p:nvSpPr>
        <p:spPr>
          <a:xfrm>
            <a:off x="6629400" y="3288268"/>
            <a:ext cx="762000" cy="369332"/>
          </a:xfrm>
          <a:prstGeom prst="rect">
            <a:avLst/>
          </a:prstGeom>
          <a:noFill/>
        </p:spPr>
        <p:txBody>
          <a:bodyPr wrap="square" rtlCol="0">
            <a:spAutoFit/>
          </a:bodyPr>
          <a:lstStyle/>
          <a:p>
            <a:r>
              <a:rPr lang="en-US" dirty="0"/>
              <a:t>p-hat</a:t>
            </a:r>
          </a:p>
        </p:txBody>
      </p:sp>
    </p:spTree>
    <p:custDataLst>
      <p:tags r:id="rId1"/>
    </p:custDataLst>
    <p:extLst>
      <p:ext uri="{BB962C8B-B14F-4D97-AF65-F5344CB8AC3E}">
        <p14:creationId xmlns:p14="http://schemas.microsoft.com/office/powerpoint/2010/main" val="4179315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90600" y="228600"/>
            <a:ext cx="8153400" cy="990600"/>
          </a:xfrm>
        </p:spPr>
        <p:txBody>
          <a:bodyPr/>
          <a:lstStyle/>
          <a:p>
            <a:r>
              <a:rPr lang="en-US" dirty="0"/>
              <a:t>Election Polls</a:t>
            </a:r>
          </a:p>
        </p:txBody>
      </p:sp>
      <p:sp>
        <p:nvSpPr>
          <p:cNvPr id="3" name="Content Placeholder 2"/>
          <p:cNvSpPr>
            <a:spLocks noGrp="1"/>
          </p:cNvSpPr>
          <p:nvPr>
            <p:ph idx="4294967295"/>
          </p:nvPr>
        </p:nvSpPr>
        <p:spPr>
          <a:xfrm>
            <a:off x="26988" y="990600"/>
            <a:ext cx="9117012" cy="5353050"/>
          </a:xfrm>
        </p:spPr>
        <p:txBody>
          <a:bodyPr>
            <a:normAutofit/>
          </a:bodyPr>
          <a:lstStyle/>
          <a:p>
            <a:r>
              <a:rPr lang="en-US" dirty="0"/>
              <a:t>On October 29, 2012 (roughly 1 week before the election), 1000 registered voters were asked who they plan to vote for in the 2012 presidential election.</a:t>
            </a:r>
          </a:p>
          <a:p>
            <a:endParaRPr lang="en-US" dirty="0"/>
          </a:p>
          <a:p>
            <a:endParaRPr lang="en-US" dirty="0"/>
          </a:p>
          <a:p>
            <a:pPr marL="0" indent="0">
              <a:buNone/>
            </a:pPr>
            <a:endParaRPr lang="en-US" dirty="0"/>
          </a:p>
          <a:p>
            <a:pPr marL="0" indent="0">
              <a:buNone/>
            </a:pPr>
            <a:endParaRPr lang="en-US" dirty="0"/>
          </a:p>
          <a:p>
            <a:r>
              <a:rPr lang="en-US" sz="3000" dirty="0"/>
              <a:t>What proportion of voters planned to vote for Obama?</a:t>
            </a:r>
          </a:p>
        </p:txBody>
      </p:sp>
      <mc:AlternateContent xmlns:mc="http://schemas.openxmlformats.org/markup-compatibility/2006" xmlns:a14="http://schemas.microsoft.com/office/drawing/2010/main">
        <mc:Choice Requires="a14">
          <p:sp>
            <p:nvSpPr>
              <p:cNvPr id="5" name="TextBox 4"/>
              <p:cNvSpPr txBox="1"/>
              <p:nvPr/>
            </p:nvSpPr>
            <p:spPr>
              <a:xfrm>
                <a:off x="2133600" y="5758527"/>
                <a:ext cx="175260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3200" i="1" smtClean="0">
                              <a:latin typeface="Cambria Math"/>
                            </a:rPr>
                          </m:ctrlPr>
                        </m:accPr>
                        <m:e>
                          <m:r>
                            <a:rPr lang="en-US" sz="3200" b="0" i="1" smtClean="0">
                              <a:latin typeface="Cambria Math"/>
                            </a:rPr>
                            <m:t>𝑝</m:t>
                          </m:r>
                        </m:e>
                      </m:acc>
                      <m:r>
                        <a:rPr lang="en-US" sz="3200" b="0" i="1" smtClean="0">
                          <a:latin typeface="Cambria Math"/>
                        </a:rPr>
                        <m:t>=0.49</m:t>
                      </m:r>
                    </m:oMath>
                  </m:oMathPara>
                </a14:m>
                <a:endParaRPr lang="en-US" sz="3200" dirty="0"/>
              </a:p>
            </p:txBody>
          </p:sp>
        </mc:Choice>
        <mc:Fallback xmlns="">
          <p:sp>
            <p:nvSpPr>
              <p:cNvPr id="5" name="TextBox 4"/>
              <p:cNvSpPr txBox="1">
                <a:spLocks noRot="1" noChangeAspect="1" noMove="1" noResize="1" noEditPoints="1" noAdjustHandles="1" noChangeArrowheads="1" noChangeShapeType="1" noTextEdit="1"/>
              </p:cNvSpPr>
              <p:nvPr/>
            </p:nvSpPr>
            <p:spPr>
              <a:xfrm>
                <a:off x="2133600" y="5758527"/>
                <a:ext cx="1752600" cy="584775"/>
              </a:xfrm>
              <a:prstGeom prst="rect">
                <a:avLst/>
              </a:prstGeom>
              <a:blipFill rotWithShape="1">
                <a:blip r:embed="rId3"/>
                <a:stretch>
                  <a:fillRect/>
                </a:stretch>
              </a:blipFill>
            </p:spPr>
            <p:txBody>
              <a:bodyPr/>
              <a:lstStyle/>
              <a:p>
                <a:r>
                  <a:rPr lang="en-US">
                    <a:noFill/>
                  </a:rPr>
                  <a:t> </a:t>
                </a:r>
              </a:p>
            </p:txBody>
          </p:sp>
        </mc:Fallback>
      </mc:AlternateContent>
      <p:sp>
        <p:nvSpPr>
          <p:cNvPr id="7" name="TextBox 6"/>
          <p:cNvSpPr txBox="1"/>
          <p:nvPr/>
        </p:nvSpPr>
        <p:spPr>
          <a:xfrm>
            <a:off x="5122762" y="5666193"/>
            <a:ext cx="2209800" cy="769441"/>
          </a:xfrm>
          <a:prstGeom prst="rect">
            <a:avLst/>
          </a:prstGeom>
          <a:noFill/>
        </p:spPr>
        <p:txBody>
          <a:bodyPr wrap="square" rtlCol="0">
            <a:spAutoFit/>
          </a:bodyPr>
          <a:lstStyle/>
          <a:p>
            <a:r>
              <a:rPr lang="en-US" sz="4400" i="1" dirty="0"/>
              <a:t>p </a:t>
            </a:r>
            <a:r>
              <a:rPr lang="en-US" sz="4400" dirty="0"/>
              <a:t>= ???</a:t>
            </a:r>
          </a:p>
        </p:txBody>
      </p:sp>
      <p:sp>
        <p:nvSpPr>
          <p:cNvPr id="6" name="TextBox 5"/>
          <p:cNvSpPr txBox="1"/>
          <p:nvPr/>
        </p:nvSpPr>
        <p:spPr>
          <a:xfrm>
            <a:off x="77150" y="6343302"/>
            <a:ext cx="7315200" cy="369332"/>
          </a:xfrm>
          <a:prstGeom prst="rect">
            <a:avLst/>
          </a:prstGeom>
          <a:noFill/>
        </p:spPr>
        <p:txBody>
          <a:bodyPr wrap="square" rtlCol="0">
            <a:spAutoFit/>
          </a:bodyPr>
          <a:lstStyle/>
          <a:p>
            <a:r>
              <a:rPr lang="en-US" dirty="0">
                <a:hlinkClick r:id="rId4"/>
              </a:rPr>
              <a:t>http://www.politico.com/p/2012-election/polls/president</a:t>
            </a:r>
            <a:endParaRPr lang="en-US" dirty="0"/>
          </a:p>
        </p:txBody>
      </p:sp>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047999"/>
            <a:ext cx="7638979" cy="2326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40622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1000" fill="hold"/>
                                        <p:tgtEl>
                                          <p:spTgt spid="7"/>
                                        </p:tgtEl>
                                        <p:attrNameLst>
                                          <p:attrName>ppt_w</p:attrName>
                                        </p:attrNameLst>
                                      </p:cBhvr>
                                      <p:tavLst>
                                        <p:tav tm="0">
                                          <p:val>
                                            <p:fltVal val="0"/>
                                          </p:val>
                                        </p:tav>
                                        <p:tav tm="100000">
                                          <p:val>
                                            <p:strVal val="#ppt_w"/>
                                          </p:val>
                                        </p:tav>
                                      </p:tavLst>
                                    </p:anim>
                                    <p:anim calcmode="lin" valueType="num">
                                      <p:cBhvr>
                                        <p:cTn id="20" dur="1000" fill="hold"/>
                                        <p:tgtEl>
                                          <p:spTgt spid="7"/>
                                        </p:tgtEl>
                                        <p:attrNameLst>
                                          <p:attrName>ppt_h</p:attrName>
                                        </p:attrNameLst>
                                      </p:cBhvr>
                                      <p:tavLst>
                                        <p:tav tm="0">
                                          <p:val>
                                            <p:fltVal val="0"/>
                                          </p:val>
                                        </p:tav>
                                        <p:tav tm="100000">
                                          <p:val>
                                            <p:strVal val="#ppt_h"/>
                                          </p:val>
                                        </p:tav>
                                      </p:tavLst>
                                    </p:anim>
                                    <p:anim calcmode="lin" valueType="num">
                                      <p:cBhvr>
                                        <p:cTn id="21" dur="1000" fill="hold"/>
                                        <p:tgtEl>
                                          <p:spTgt spid="7"/>
                                        </p:tgtEl>
                                        <p:attrNameLst>
                                          <p:attrName>style.rotation</p:attrName>
                                        </p:attrNameLst>
                                      </p:cBhvr>
                                      <p:tavLst>
                                        <p:tav tm="0">
                                          <p:val>
                                            <p:fltVal val="90"/>
                                          </p:val>
                                        </p:tav>
                                        <p:tav tm="100000">
                                          <p:val>
                                            <p:fltVal val="0"/>
                                          </p:val>
                                        </p:tav>
                                      </p:tavLst>
                                    </p:anim>
                                    <p:animEffect transition="in" filter="fade">
                                      <p:cBhvr>
                                        <p:cTn id="2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 Estimate</a:t>
            </a:r>
          </a:p>
        </p:txBody>
      </p:sp>
      <p:sp>
        <p:nvSpPr>
          <p:cNvPr id="3" name="Content Placeholder 2"/>
          <p:cNvSpPr>
            <a:spLocks noGrp="1"/>
          </p:cNvSpPr>
          <p:nvPr>
            <p:ph idx="1"/>
          </p:nvPr>
        </p:nvSpPr>
        <p:spPr/>
        <p:txBody>
          <a:bodyPr/>
          <a:lstStyle/>
          <a:p>
            <a:r>
              <a:rPr lang="en-US" dirty="0"/>
              <a:t>We use the statistic from a sample as a </a:t>
            </a:r>
            <a:r>
              <a:rPr lang="en-US" b="1" i="1" dirty="0">
                <a:solidFill>
                  <a:schemeClr val="accent5">
                    <a:lumMod val="50000"/>
                  </a:schemeClr>
                </a:solidFill>
              </a:rPr>
              <a:t>point estimate</a:t>
            </a:r>
            <a:r>
              <a:rPr lang="en-US" dirty="0">
                <a:solidFill>
                  <a:schemeClr val="accent5">
                    <a:lumMod val="50000"/>
                  </a:schemeClr>
                </a:solidFill>
              </a:rPr>
              <a:t> </a:t>
            </a:r>
            <a:r>
              <a:rPr lang="en-US" dirty="0"/>
              <a:t>for a population parameter.</a:t>
            </a:r>
          </a:p>
        </p:txBody>
      </p:sp>
      <p:sp>
        <p:nvSpPr>
          <p:cNvPr id="4" name="Content Placeholder 3"/>
          <p:cNvSpPr>
            <a:spLocks noGrp="1"/>
          </p:cNvSpPr>
          <p:nvPr>
            <p:ph idx="10"/>
          </p:nvPr>
        </p:nvSpPr>
        <p:spPr>
          <a:xfrm>
            <a:off x="304800" y="3962400"/>
            <a:ext cx="8534400" cy="1524000"/>
          </a:xfrm>
        </p:spPr>
        <p:txBody>
          <a:bodyPr>
            <a:normAutofit lnSpcReduction="10000"/>
          </a:bodyPr>
          <a:lstStyle/>
          <a:p>
            <a:r>
              <a:rPr lang="en-US" dirty="0"/>
              <a:t>Point estimates will not match population parameters exactly, but they are our best guess, given the data.</a:t>
            </a:r>
          </a:p>
        </p:txBody>
      </p:sp>
    </p:spTree>
    <p:custDataLst>
      <p:tags r:id="rId1"/>
    </p:custDataLst>
    <p:extLst>
      <p:ext uri="{BB962C8B-B14F-4D97-AF65-F5344CB8AC3E}">
        <p14:creationId xmlns:p14="http://schemas.microsoft.com/office/powerpoint/2010/main" val="229608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90600" y="228600"/>
            <a:ext cx="8153400" cy="990600"/>
          </a:xfrm>
        </p:spPr>
        <p:txBody>
          <a:bodyPr/>
          <a:lstStyle/>
          <a:p>
            <a:r>
              <a:rPr lang="en-US" dirty="0"/>
              <a:t>Election Polls</a:t>
            </a:r>
          </a:p>
        </p:txBody>
      </p:sp>
      <p:sp>
        <p:nvSpPr>
          <p:cNvPr id="3" name="Content Placeholder 2"/>
          <p:cNvSpPr>
            <a:spLocks noGrp="1"/>
          </p:cNvSpPr>
          <p:nvPr>
            <p:ph idx="4294967295"/>
          </p:nvPr>
        </p:nvSpPr>
        <p:spPr>
          <a:xfrm>
            <a:off x="0" y="1066800"/>
            <a:ext cx="9144000" cy="5583238"/>
          </a:xfrm>
        </p:spPr>
        <p:txBody>
          <a:bodyPr>
            <a:normAutofit/>
          </a:bodyPr>
          <a:lstStyle/>
          <a:p>
            <a:r>
              <a:rPr lang="en-US" dirty="0"/>
              <a:t>Actually, several polls were conducted that day:</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627163"/>
            <a:ext cx="8229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539354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Results…</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856055"/>
            <a:ext cx="7924800" cy="2316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28600" y="6324600"/>
            <a:ext cx="8610600" cy="369332"/>
          </a:xfrm>
          <a:prstGeom prst="rect">
            <a:avLst/>
          </a:prstGeom>
          <a:noFill/>
        </p:spPr>
        <p:txBody>
          <a:bodyPr wrap="square" rtlCol="0">
            <a:spAutoFit/>
          </a:bodyPr>
          <a:lstStyle/>
          <a:p>
            <a:r>
              <a:rPr lang="en-US" dirty="0">
                <a:hlinkClick r:id="rId4"/>
              </a:rPr>
              <a:t>http://www.washingtonpost.com/wp-srv/special/politics/election-map-2012/president/</a:t>
            </a:r>
            <a:endParaRPr lang="en-US" dirty="0"/>
          </a:p>
        </p:txBody>
      </p:sp>
    </p:spTree>
    <p:custDataLst>
      <p:tags r:id="rId1"/>
    </p:custDataLst>
    <p:extLst>
      <p:ext uri="{BB962C8B-B14F-4D97-AF65-F5344CB8AC3E}">
        <p14:creationId xmlns:p14="http://schemas.microsoft.com/office/powerpoint/2010/main" val="4084359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 y="0"/>
            <a:ext cx="8991600" cy="990600"/>
          </a:xfrm>
        </p:spPr>
        <p:txBody>
          <a:bodyPr>
            <a:normAutofit/>
          </a:bodyPr>
          <a:lstStyle/>
          <a:p>
            <a:r>
              <a:rPr lang="en-US" dirty="0"/>
              <a:t>Important Points</a:t>
            </a:r>
            <a:endParaRPr lang="en-US" b="1" dirty="0"/>
          </a:p>
        </p:txBody>
      </p:sp>
      <p:sp>
        <p:nvSpPr>
          <p:cNvPr id="7" name="Rectangle 6"/>
          <p:cNvSpPr/>
          <p:nvPr/>
        </p:nvSpPr>
        <p:spPr>
          <a:xfrm>
            <a:off x="0" y="1524000"/>
            <a:ext cx="9144000" cy="4216539"/>
          </a:xfrm>
          <a:prstGeom prst="rect">
            <a:avLst/>
          </a:prstGeom>
        </p:spPr>
        <p:txBody>
          <a:bodyPr wrap="square">
            <a:spAutoFit/>
          </a:bodyPr>
          <a:lstStyle/>
          <a:p>
            <a:pPr lvl="0">
              <a:spcBef>
                <a:spcPts val="2400"/>
              </a:spcBef>
              <a:buClr>
                <a:schemeClr val="accent1"/>
              </a:buClr>
              <a:buFont typeface="Arial" pitchFamily="34" charset="0"/>
              <a:buChar char="•"/>
              <a:defRPr/>
            </a:pPr>
            <a:r>
              <a:rPr lang="en-US" sz="3600" kern="0" dirty="0">
                <a:solidFill>
                  <a:schemeClr val="tx2"/>
                </a:solidFill>
              </a:rPr>
              <a:t> </a:t>
            </a:r>
            <a:r>
              <a:rPr lang="en-US" sz="3200" kern="0" dirty="0">
                <a:solidFill>
                  <a:schemeClr val="accent6">
                    <a:lumMod val="50000"/>
                  </a:schemeClr>
                </a:solidFill>
              </a:rPr>
              <a:t>Sample statistics </a:t>
            </a:r>
            <a:r>
              <a:rPr lang="en-US" sz="3200" b="1" i="1" kern="0" dirty="0">
                <a:solidFill>
                  <a:schemeClr val="accent5">
                    <a:lumMod val="50000"/>
                  </a:schemeClr>
                </a:solidFill>
              </a:rPr>
              <a:t>vary</a:t>
            </a:r>
            <a:r>
              <a:rPr lang="en-US" sz="3200" kern="0" dirty="0">
                <a:solidFill>
                  <a:schemeClr val="accent5">
                    <a:lumMod val="50000"/>
                  </a:schemeClr>
                </a:solidFill>
              </a:rPr>
              <a:t> </a:t>
            </a:r>
            <a:r>
              <a:rPr lang="en-US" sz="3200" kern="0" dirty="0">
                <a:solidFill>
                  <a:schemeClr val="accent6">
                    <a:lumMod val="50000"/>
                  </a:schemeClr>
                </a:solidFill>
              </a:rPr>
              <a:t>from sample to sample.  (They will not match the parameter exactly.) </a:t>
            </a:r>
          </a:p>
          <a:p>
            <a:pPr lvl="0">
              <a:spcBef>
                <a:spcPts val="2400"/>
              </a:spcBef>
              <a:buClr>
                <a:schemeClr val="accent1"/>
              </a:buClr>
              <a:buFont typeface="Arial" pitchFamily="34" charset="0"/>
              <a:buChar char="•"/>
              <a:defRPr/>
            </a:pPr>
            <a:r>
              <a:rPr lang="en-US" sz="3200" kern="0" dirty="0">
                <a:solidFill>
                  <a:schemeClr val="accent6">
                    <a:lumMod val="50000"/>
                  </a:schemeClr>
                </a:solidFill>
              </a:rPr>
              <a:t> </a:t>
            </a:r>
            <a:r>
              <a:rPr lang="en-US" sz="3200" i="1" kern="0" dirty="0">
                <a:solidFill>
                  <a:schemeClr val="accent6">
                    <a:lumMod val="50000"/>
                  </a:schemeClr>
                </a:solidFill>
              </a:rPr>
              <a:t>KEY QUESTION</a:t>
            </a:r>
            <a:r>
              <a:rPr lang="en-US" sz="3200" kern="0" dirty="0">
                <a:solidFill>
                  <a:schemeClr val="accent6">
                    <a:lumMod val="50000"/>
                  </a:schemeClr>
                </a:solidFill>
              </a:rPr>
              <a:t>: For a given sample statistic, what are plausible values for the population parameter?  How much uncertainty surrounds the sample statistic?</a:t>
            </a:r>
          </a:p>
          <a:p>
            <a:pPr lvl="0">
              <a:spcBef>
                <a:spcPts val="2400"/>
              </a:spcBef>
              <a:buClr>
                <a:schemeClr val="accent1"/>
              </a:buClr>
              <a:buFont typeface="Arial" pitchFamily="34" charset="0"/>
              <a:buChar char="•"/>
              <a:defRPr/>
            </a:pPr>
            <a:r>
              <a:rPr lang="en-US" sz="3200" kern="0" dirty="0">
                <a:solidFill>
                  <a:schemeClr val="accent6">
                    <a:lumMod val="50000"/>
                  </a:schemeClr>
                </a:solidFill>
              </a:rPr>
              <a:t> </a:t>
            </a:r>
            <a:r>
              <a:rPr lang="en-US" sz="3200" i="1" kern="0" dirty="0">
                <a:solidFill>
                  <a:schemeClr val="accent6">
                    <a:lumMod val="50000"/>
                  </a:schemeClr>
                </a:solidFill>
              </a:rPr>
              <a:t>KEY ANSWER</a:t>
            </a:r>
            <a:r>
              <a:rPr lang="en-US" sz="3200" kern="0" dirty="0">
                <a:solidFill>
                  <a:schemeClr val="accent6">
                    <a:lumMod val="50000"/>
                  </a:schemeClr>
                </a:solidFill>
              </a:rPr>
              <a:t>:  It depends on how much the statistic varies from sample to sample!</a:t>
            </a:r>
          </a:p>
        </p:txBody>
      </p:sp>
    </p:spTree>
    <p:custDataLst>
      <p:tags r:id="rId1"/>
    </p:custDataLst>
    <p:extLst>
      <p:ext uri="{BB962C8B-B14F-4D97-AF65-F5344CB8AC3E}">
        <p14:creationId xmlns:p14="http://schemas.microsoft.com/office/powerpoint/2010/main" val="49363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 y="0"/>
            <a:ext cx="8991600" cy="1295400"/>
          </a:xfrm>
        </p:spPr>
        <p:txBody>
          <a:bodyPr anchor="ctr">
            <a:normAutofit/>
          </a:bodyPr>
          <a:lstStyle/>
          <a:p>
            <a:r>
              <a:rPr lang="en-US" b="1" dirty="0"/>
              <a:t>Reese’s Pieces Experiment</a:t>
            </a:r>
          </a:p>
        </p:txBody>
      </p:sp>
      <p:sp>
        <p:nvSpPr>
          <p:cNvPr id="7" name="Rectangle 6"/>
          <p:cNvSpPr/>
          <p:nvPr/>
        </p:nvSpPr>
        <p:spPr>
          <a:xfrm>
            <a:off x="-29308" y="1524000"/>
            <a:ext cx="9173308" cy="2000548"/>
          </a:xfrm>
          <a:prstGeom prst="rect">
            <a:avLst/>
          </a:prstGeom>
        </p:spPr>
        <p:txBody>
          <a:bodyPr wrap="square">
            <a:spAutoFit/>
          </a:bodyPr>
          <a:lstStyle/>
          <a:p>
            <a:pPr>
              <a:spcBef>
                <a:spcPts val="2400"/>
              </a:spcBef>
              <a:buClr>
                <a:schemeClr val="accent1"/>
              </a:buClr>
              <a:defRPr/>
            </a:pPr>
            <a:r>
              <a:rPr lang="en-US" sz="2800" kern="0" dirty="0">
                <a:solidFill>
                  <a:schemeClr val="tx2"/>
                </a:solidFill>
              </a:rPr>
              <a:t>QUESTION:  </a:t>
            </a:r>
            <a:r>
              <a:rPr lang="en-US" sz="2800" b="1" u="sng" kern="0" dirty="0">
                <a:solidFill>
                  <a:schemeClr val="accent6">
                    <a:lumMod val="50000"/>
                  </a:schemeClr>
                </a:solidFill>
              </a:rPr>
              <a:t>What proportion of Reese’s pieces are orange?</a:t>
            </a:r>
          </a:p>
          <a:p>
            <a:pPr lvl="1">
              <a:spcBef>
                <a:spcPts val="2400"/>
              </a:spcBef>
              <a:buClr>
                <a:schemeClr val="accent1"/>
              </a:buClr>
              <a:buFont typeface="Arial" pitchFamily="34" charset="0"/>
              <a:buChar char="•"/>
              <a:defRPr/>
            </a:pPr>
            <a:r>
              <a:rPr lang="en-US" sz="2800" kern="0" dirty="0">
                <a:solidFill>
                  <a:schemeClr val="accent6">
                    <a:lumMod val="50000"/>
                  </a:schemeClr>
                </a:solidFill>
              </a:rPr>
              <a:t>  Take a random sample of 10 Reese’s pieces</a:t>
            </a:r>
          </a:p>
          <a:p>
            <a:pPr lvl="1">
              <a:spcBef>
                <a:spcPts val="2400"/>
              </a:spcBef>
              <a:buClr>
                <a:schemeClr val="accent1"/>
              </a:buClr>
              <a:buFont typeface="Arial" pitchFamily="34" charset="0"/>
              <a:buChar char="•"/>
              <a:defRPr/>
            </a:pPr>
            <a:r>
              <a:rPr lang="en-US" sz="2800" kern="0" dirty="0">
                <a:solidFill>
                  <a:schemeClr val="accent6">
                    <a:lumMod val="50000"/>
                  </a:schemeClr>
                </a:solidFill>
              </a:rPr>
              <a:t>  What is your sample proportion?  </a:t>
            </a:r>
            <a:r>
              <a:rPr lang="en-US" sz="2800" kern="0" dirty="0">
                <a:solidFill>
                  <a:schemeClr val="accent6">
                    <a:lumMod val="50000"/>
                  </a:schemeClr>
                </a:solidFill>
                <a:sym typeface="Symbol"/>
              </a:rPr>
              <a:t></a:t>
            </a:r>
            <a:r>
              <a:rPr lang="en-US" sz="2800" kern="0" dirty="0">
                <a:solidFill>
                  <a:schemeClr val="accent6">
                    <a:lumMod val="50000"/>
                  </a:schemeClr>
                </a:solidFill>
              </a:rPr>
              <a:t> class </a:t>
            </a:r>
            <a:r>
              <a:rPr lang="en-US" sz="2800" kern="0" dirty="0" err="1">
                <a:solidFill>
                  <a:schemeClr val="accent6">
                    <a:lumMod val="50000"/>
                  </a:schemeClr>
                </a:solidFill>
              </a:rPr>
              <a:t>dotplot</a:t>
            </a:r>
            <a:endParaRPr lang="en-US" sz="2800" kern="0" dirty="0">
              <a:solidFill>
                <a:schemeClr val="accent6">
                  <a:lumMod val="50000"/>
                </a:schemeClr>
              </a:solidFill>
            </a:endParaRPr>
          </a:p>
        </p:txBody>
      </p:sp>
      <p:sp>
        <p:nvSpPr>
          <p:cNvPr id="2" name="AutoShape 2" descr="data:image/jpeg;base64,/9j/4AAQSkZJRgABAQAAAQABAAD/2wCEAAkGBhQSERQUEhQVFRUVGBkYGRgXFx4YHBcZGBUcHBcdIBwYHCYgFxwjGRgXHy8gIycpLCwsGB4xNTAqNSYrLCkBCQoKDgwOGg8PGjQkHyI0Mi8yLC0sLCwsNSwsLywsLCkpKSwvLDQsLywsLCwsKi0sLCwsLCwsKSwsLCksLCwsLP/AABEIAJ8BPQMBIgACEQEDEQH/xAAbAAABBQEBAAAAAAAAAAAAAAAFAAMEBgcCAf/EAEEQAAIBAgMFBQUHAwMDBAMAAAECAwARBBIhBQYxQVETImFxgQcUMpGhI0JSscHR8DNicoKS4RVj8RZDU6IXk8L/xAAbAQACAwEBAQAAAAAAAAAAAAAEBQIDBgABB//EADIRAAEEAQIEAwcEAwEBAAAAAAEAAgMRBBIhBRMxQSJRYTJxgZGhsfAUFcHRI1Lh8VP/2gAMAwEAAhEDEQA/AKjjY8vfTuuneUjTUfmKKbL3rGKFnjk7ThdVLA6eGo4VX9o7SMrFU0T8/wCdKgkFRxI8v+KUcgSMp/XstTPlBsuqLp3VwOIvKI8rA6nvKRwHUin2ivVf2NvS8ZCSkvHcak3Kcrg/pV5fZpePOneUW4dDqD4C1L52OiIBCYY+a2QWUAlHSrFuGoOIcn/4zb/cL/Sg+JitUnYm0xh5kdtEvZjbQA6ft8qHlBkic0d0TkN1xOA8lpoSuHWpWCZHF8wsRoQdD8qbxKZTx+VZowvDOZ26evxCyIdvSre8G2YsOt5GtcaAak+lUHYu8cUbtmuFLkqSNACbi/TlQjerbhxGLkP3VZkUf4m1/W1DXcCtdh8PDIvH1KMjnLPZVy3r2icTMTEvG3DgO6B6/wDND8Hst0tcgGhe7218siqwut7eV/0q3SLzFezB0Pg7JxjPZI0Ob22QyTOOFj9PzpqDaAJsdDT+N4UDdvtNK8YwPG6NdK5lG1Yb0qbg+EU5Q52NJg02LSpV47gAkmwGpJ5UtjbFn2gxERMWHBs0xGrdQg5/y/SvdgC5xoDuhsnKjx22/wCSiYnaqK2UXdzwRBmP0qfBsLaEgumFCD/uuFPy0Iq+4DZGE2bCXAWNVF2kbVm/1cdeg+VU7Ge2Bu0vFhwYQdS5IZhflbRT86HjnfOSMaOwO7v4CzUvFciQ+DYenVDsfs/GYZc2Iw32Y4vE2cL5i5IHjXME6uoZTcGtdikDoG5MoNj0YX19DwrJd4dnrhNovGgtFKokVRwUnj5ag+lulRxcoZJLHNpw8uiIweJycwMlNgr2lSpUQtOlelSpVy5KlSpVy5KlelSrlyVKlSrlyVKlSrlyVKlSrlyVKlSrlyVKlSrlyDbqbE95mC3sNbnoOdGt6NzuxW4vbhr+hH81qursrHbOcTBdEN8yEMB5jiNPC1Fd5faY2KgVMove5I8BoAP5xp7tJ4mG/csBrdt28wqb2ViavOx94zBgInR7yLmQpfUqGNtPK1UGSRyb5W+Rq4+z/CB54UYDQlj4lQWH1AqGY0GPU7tv9CrsX2z5UVf9m7GzIsk6AOwvk45dOB6nrUjGRd21hbpajc8elD8VHoaxIyC9+pEMnc4iyqbj9pTQIRC+W2oHFfT8PpVdl3/xSjvG/iDRjeGcAcaquKwAGQq6tmXMQL3Q9D4+VaXDhje23tBRWS3YFnUoEspN/E3+dPpc8adnwIU3HDx61zCmtPNQI2SflOY7S5PxQFXQjmQPPXhV3k7YL/QfT+cBT+xcHHiVw0EUdzG3aSynQZtcqi/prpe1aY+zcoAI5Uh4lkmOjpuuvojIckY9jzWH4nHMWykFfAi1qcwWC1uda03bW7Uc4OZdbceY8QazbFQvhpjG3Lgeo5GqsfLbO2mbFNMfIZI4FynikzAC50FJGuL1zsvZLY/EdghIhjsZ3Hn8A8SR+Z5VwA3LjQHUprk5LceLWfgn9293G2i+d7rhEPkZmHIf29T+vDUkjSKOwCpGg5ABVUcfICusJhVjRUjUKiAKqjkByrPvarvRlAwcbWLANKei/dX14n0pMXycQnETNm/x5n1WLmmfO/W/qVXN7N5G2jPlQkYeM2VfxnmxH5dBbxrjYewPfMSkCD7OMhpmA0AH3Qep4f8AANc7tbvz4vu4dTHENHmYWsOYXqfAfMca1zYOwIsHEIoVsOLE6l26k8/0pvlZUeFHyo+o6D+SrjIyOPls3J6n+AiKrYWHAaD9Kx7e7aIxG1HKG6xKIwRzI+L/AOxPyq1b+79iBWw+GIadrhiNRELa6/j8OXGs72HE5bJBE88nMLwHUluAobhWI5gdkP79L9epUcUN5ge80Aj9KucXs3HQqXlwhyDUlHVyo6kA1xhsUsihlNwf56Gi9O1g2PQ2tfBmQznSx26dpV47gC5IAHEmokGPaUkYeGWcj8Cm3zrg0kX+fNWy5EcIuR1KXXtQ5cc0bBcRFJAx4dotgfWpl64tIXQ5EcwuM2lSqHiNqorZNWf8KDMfpToOIIzDB4nL17M/tXug1Z29+yqkzYIzTnC0/SqLhdpI5K6q44qwsw9DT0+IVBd2AHj/ADWvCxwNUrmzMe3W07JylUBdsBhdI5nHVYyRXeH2rG97GxF7hhlItx0NS5T/ACVbcuB50teLXMu2UDFQGdgbEIpOvyr3DbUDOUZHjYAGzixsfDiKtPs5ZYMLicZMwRJZCwJ/ClwPMkki3O1UTaO2zisbLOqOc5AVVFyFUWH0F/nU4wHyPjDdmjr6+SQ/u0vOrbTf0R+lUBdsoCFcPGT+NSv1qeDVTmOb1WhinjlFscD7kqVKlXiuVr3gIEbX6W+dUOHZyRXKqASb1cNqYkTNlU/CdflQHFRWbyqrDJjZp80kxYm0NQ3Q5iRT2ycWuGxMU/3Q1nHQMLE/WlMtgb0MxRZgVUXvTFo17HoiJmhzSCFuOImUgMDdSAfS2hoFtTa6KpuRWbYbH41IgnaKVUWALG4HS9qGNtWbt0EoIBPG9xw60sj4T4ydQKSxwCKjJfyVkxoDMWbj06CoEhXgRViwe7kkyBr5AeZBJPp+9OzbgG3dm18UsPob1eMiKPwucmzsiJnhtUbGxW8Qa7wGDLAm2lSNtbNkhuki26HkfI86n7LhtGtMDLUdgqprGPkvsjG6m1ThXQX+zYgMOl+BH84Vp74gsBc1jeOOVTRbcPe/FYgFDGCqaGUmw8rW7x8vW1JsvGklYZGGvP1QPEYWamkbErRJqyvf7FI+IUJqVBv5k1cNuYKeVbJPk8MunzBuKzbE4FoZSs2jDUnjfxvzFU8LgaHa9W47KvGiA3tOmZyqRRDNLKcqDz4n0/nCtb3a3fTB4dYk1PF25u5HeP6DwFVD2Y7Ezs+Nccbxwg8lGjN6nT/dWiVVxbJ8XIb23Pv8vghszIMz67DYf2lVYT2d4UzNPMHnd2LHtD3bk9FAuOVjpoKEb8e0F4ZPd8JbtB/UkIuIz+ED8XXpwov7Pd4JcXhC82ro5TMBbPYA36XF7aUM3HyceDng0D86QVXuiG2N4sNgUAldUFu6ijUjhoo5fSs63g9pWIxN48MpgjOhb77Dz+76fOu/aVtJcRjo4V1GHBDH+5jcj009b0IlwpBSKEXmmORfDqfT/nlTfBwomMbLILcd9+g9flvujcbGEjDI800KNu7uy+Mn7GO4UazS/hF+Hix6dfCtN2ntHDbHwypEgLH4EHxSEcWY9L8/QUX3a3eTB4dYk1PF2tq7niT+QHICo22dz8Ji5O0nBZrAf1CAAOQANhQmRnsyJtL75Y8u6Ee7Ub7IXuJvtJjXljmREdAGGS9ipNje54iqbtuFcLtHExiyxm0g5BcwubeAJrSdhbqYXBszwKQzDKSXLaA35nTWs+23s73/AG28IPcGVZCPwxqC/wBdPlV+I+F2Q8ximad/gpwzGGQSN7KTuruqcee2nBXDKe4nAykHUnotxb+E1YN699I9nhcPh40aSwOQd1EXlcDmeQ6cauGHgVFVEAVVAAUcABwFUfaPspE0rytipc8jFicg5nhx4Dh6ChWZUWRNc5pg6Df619V0srpX6n7kolsnFR7X2ee1QDPmQga5HXgyk6jkfmKy7BSysVwqf1Wk7EHpY2J6/wANbFu/sNNn4Xs8xZULOzsLeJPhYD6VkG7e1Au0YsQ/wvM5J6dpcA+Fs16PwC1zpuULYNwPVewSvjJLPJbBu7uxDg4wsSjN96QjvOeZvyHhQzen2gRYKQRZGlksCwUgZByuSDqeNqtVqxnfPBZNqTBuEmV1J6FR+Rv8qV4LG5c5M5va/wA9yhG3W8Nvqpu/W82DxcETwqTiWbu2GV49dQ1vivcW+dHd0/Z8FCz477SW1wjfDH5jgW68h560K9me7KyzSYxl7iNliFtCw4v6fm3hV+3j2bLPh3ihcRs/dLEE2X7wFuZGnqaMy8gQViwuodye19h7lzrYS0Hb6FAE9puG96XDxqxQsE7VbBAxNhYc1vz09a49pu7SS4V5woEsIzZhoWW/eBtx0NwfDxoNs32STRyxM08ZRHVyArXIVrm1xxq0e0Xaaw4Ca/xSDs1HUtx+Qufl1qt3Jjni/SOs3v19P+qsrM9ztlTbSlWKWV/d4FBIvoo5Ko4Ak8+WprXJPd9n4dmCrFFGPujU8gL8WYnTU1R/Y1IFbFRn4vs29BmB+rD51afaJs4zbPmC8VAkt1yG5/8Arc+lWcSkMmWIHGmWOnr3XVXVBf8A8h4DGJJHio2VcpIEgDZh/aRqrdPzqh7FxhzMFv2ZY5A2pC301/nOlgMCkya2POiWD2eE86aNihxw5rb37FP8HBkD2ytOymV7evKQodaZR93N4fd8WhlHdY2N9R09OJoztqIdoxX4SbjyPCqntTCkowtcnQADUk/CB43tR/YG62PWMCV48tvhYF2XTTUEfK5oqflhofYH8+5Z5z+ROL3sKHiEvYeNcLDl050RxGwZ45AXKFLEd0EEG2nhauHw9qqEjSPCbTBkrZBYUNhRLdjZSz4hQ4BWPvkdbHu/W3yqBNHerFuIwEzA8WTTzDA/leoTyFsTi3rShlWIXEeSuYj51y0OlTFjrhlrK6jdlZbWq3vJsgTwujcbEg9DyNVLd/DF41XmDlPgb2NaJikup8qyzZm3FinlUmwMjW0/u/enmA58kTmDtumWJJR9fw/2ie8+BKy9iPiLBdPEcfrerpsjZCQxLHGLKosP1PiSapGIMrz9tc3HDS/Hn52ruTGSk96Rz/qP5Cr543SsDGuodUZJjvla2zuFoDR1QPaNh+0kw8afHI3Zj/UR9LmuY9vTRG4diOhNx9a5wO1xidrYMsLBQxtyz5SRb1AqvFxXwycy7AB+yCnx347C4mxX3Wn7OwCwRJEnwxqFHpz8ydfWgu/G9AwWHJU/bSd2MePNvJfzoztLaUeHjaWVgqLxP6DqT0rFtpbTfaGKM7iyjuxr+FQdPU6k0vwMU5Mplk9kbn1Pl/aWRROleGNQ/sisZY3aSQ2HMs7H/wAmts3Y2N7phIoRqyLc+Lm5b/7aVmex8Mr7Swcb/CCXA6souo+YH8NbFRvGMglrYx0O/wDACJzmiOQRDo0fdYBhJyssnaJI0xdiVCksTfX63rQtxN1phO2LxSZGy5YoydVB4k9CRp11q2bW2vh8KDJO6Rk8zbO3lbvNVd3f9psOJxDxMOyBI7JnNs/UHkpJtYfrXSZc+TETFHQrc/wFQch5jEV7fnVEPaDtRoMBKyaM1kB6ZzYn5XrH4djFgDdvnW8bV2XHiInilW6ONeRHQjoRxqmp7Jkvb3qfs/wgAG3n/wAVDhmZFBEWONG/K/gugfGwkyCwszkwJDBELu50CISTf0rVfZ1uS2DV5Zj9tKAMvHIt72J5te1+lhXsEuC2ajDCQtPLwJiUyMT0aQDKnkPlVa2Z7TJlx98YDHCy5MmUjsgTdWsdWN+JPI+lHTST5kbmQim136n0AVcsjXutooK5e0babwYCRoyVZmVMw+6GOpvy0FqylZcU2oxE/wD+w/vW17SwMONwzISHjkGjIb6jUEHqDVIi9lk4OT3sCLqE79vnb60Hw3JhgiLJNnX3CsgMQJ5oseiok8uJciETTyM5sI8zNmv1F6dwGDWSJkOjLoQeKkf81pSLs7Y41N5WsCT35CCdTp8C8+V/Gud4NzY8bbF4KRVkYfENUl/ytezenmL60w/cW/6lrT0dW1/0rIp2Mk1afD5eikezneQ4iAwyn7bD2Vr/AHl+63y0Pl40I9sGzfs4cQujKxjPirAkfIg/OiG426E+GmlnxBQM6hAqG4sCCST6DShPte2yrCLCobuG7RwPu2UhQfE3Jt5UviDTxEGA2Oprp03Qz61HR0vZXbdbArDgsOii1o1PqwzMfm1ZnvlvJiXx8yRTSRpEQgCNb4eJ8STf6Vf9xdvJicJHlPfjVUkXmpUWv5EC4NDN5fZwJ5mngl7GR9XBXMrG3HjofnzqrHkZBmSHI679R3tcytQ1dO6zyTaWNUXOKnA6lz+9D8TicRL2TYh5XjYt2bSEkEiwNr+P6VpOH9nEMX2uPxHaKutj9nGPPW58ha9E/esBtWJsMjA5PhAGRlyiwZAeI/TiKa/uEbTqYzUB1cB0+itlfHqBjbt6qgbFxhwWKw8/3GPZyf4tpf04/wCmtoeMMCp1DAg+IIsfpWdL7KpSwSTFBoARpkOcgcrnQHlz61e9q7Tjw0DyyEBUXrxNrKB1JNhSniUkc5ZyjbvT6fFe5MjHv1MFbfVYrsxOymli5JIy/I2FGqruyXZ5GkPF3LH1N6sVPMkU4X1Wn4UTyBaVIUqVDJqnvZ5bFTvKw0j0X/I8T8tK0sxjpWZeyCYLJLF1GYeIvrWs+7kqTyFAcVY85Ohg2A2WFlnc+nOO6EYvBhhagEmzUYFSwVxwvwYdL9asmJxSi+tUTfvH3j+zJ7S4C5fiueQtxqjB1OeG9ii4HPAUbG4Yg86grtr3aRJBqVYG34uo9RU7Ym7mIZQcTK2v3Ry82txqJvbukkcYlQsCCAbksCD58D5U6Y6IScp7rTB+X/i2G/ktN2Rvjh3jDZ1F+KsQCD0/5pYreGAnuutvO9YWTbQjMOvA/TlUaV3A7jsPAm9enhIe3lh3h7bdPikpijYdVFatvDvqioyRHM7AjTgt+ZqibPgHbKT1vr1/81WYMe0b3Ot+NH8NiA4upouPBbitIb36lH4UkT9hsfJaCm0gIezRFB5txY6/ShE4p7Y2wMVKgYlUU8CwuxHW3TzqXiNyJTxmP+2w+lK3Sxsdpc8bI1ssUbjuq3jXA0P/AIqv4hGZgUJBXgRoR5EUb2vu5NAbv3k/Ev686WBhWmEcjWt1NNqwj9T4eyGywzzkdvLJIBwDsSB9aM4TChBT9qVUvmLhQ2HojMfCjg9kbodtbAl8rKSrKbgqbEH+Wpv/AK5tC1ve5reevz40VqI2HkxMy4WD42+NuUacyemn5gc6lG+xpcBQ8+yF4hjQEGaRC9ibtzbQnKqzNb+pM5LBR+p42H/Jqz7U9jkgy+7zBhl73a905v7bA6fzWrxFDh9l4M/djjFyfvSMdPVmNvL0qhbI3/xeJ2jAM2WKSQL2QAtkJ1vpcm2t/wAqFbmZOQ5zsegxvn3WTcbuhQQSTF7RwUhw7TyoQLgZswI6qTy8qi47G4ydljaaeZ30VASb+g486u/tfCqcJJ94Mw/02B/U/M1K9me7pscbMO/KLRj8Kcz/AKuA8L9avbmMGMMlzRfu7qxpjEZv2l5s/eOfA4RVbZ0qRwp3mMigXvqx04lj9azvaO1WxeIeaRSzymyoveNuCqPQAelW/wBq28hkkXBw62IMltbv91dONuPmfCrLuTuWmCi7WVc05W7G2Yxi18q+NuNuJ04caY5o8eI5L209/QAm/qq2O0m1QMButtWIZ8PHNCOOUSWP+y4v8qinefaEl0bEygroy/CR8rHrV62BvPjp9oAPE8eGYOArRkZQFupLEfETbnzque0SIx7T+xW7zRpoBxdiRe3XQVfFO6SXlytbZFgjf4FSjLS+39FVzhu/YhpJWNrasxJ/nnRnA7u7Vg7+HiniHEqrcf8ATfX5Vou7u7kOzMM00tjKFLyycT4qp6X08TQHdHfnE4zaOTQQEO2QKO6oHdNwL3vb51F2a+XXyWgtb1J6H0C9lkDtmigqqd8doyAo2IdSNGAUKw5HUAEUMwGFeSQiKOSeTicoLH1Ovz+tXbfbdhsRtVI4e6Zog0p5ABiGY+gA8TarTtPEwbIwR7JByCrwMj24seJ5k9BpXn62NjGcpg1P6AbfNeskDAC0b+f9LLMfsnF4Y9sYJ8Pb/wBxSdOl7cPW1O/+rMeEv73Jl66cPO160PcDbsm0MPP7yFYZ8migAqy3IIGmn61n25OxlxOOEMmsUZd8v4sp0HlqPS9Wxzh3MbO0XH8RR37rhK1xJkF/TdD0weLxnfyYnE68bMw9OVNy4JonUSJLh5B8JYFdeWunz+tbRvXt9dn4XOsYbVURB3VBINuHAAA6Cs33j9obYvCmCXDqsjMuVgbgC9za9yrcr35mvMXMmyN2R0y667/Jcx5b2sLmHfPaUQyiYOBwLoGPzIuaGbQxmJxbA4iRntwXgo8gNKnbIF0AOtgONT1jA5Cpl0cTyWsF+dLQQ8LjeA/6KJs7BZBc8am0qVDucXGynkcbY26WpUqVKoqaoWw9vSYaZZYzqtxbqCNRVjxG/WIkNzI3ly+lVJRb9qmRNpWjlhje7URv5r51BI5opWGPelzxLXq4bnYDth7w4ubkJf6n+dKzAPZgen5Vum6mEy4SEAfcB+ev60i4ppx4rYKJ2TJmQSw2nxhxVU9oc4TCPfnwq9yJlFzWOe0LbPvU6wRaop48i37DrSfhjHTTjyG5VfMJBI/CVX9k7cFxmsSOFxcH0ortfEwygFIxE/PKe6b/ANp+E/SoH/Q0RbEXPU8f+KhT4dl+EnyOtbEaHG2qwxSxs/yi/uuJIxfWiO7+CHaoSe6XUHxGYXoXDIS1nAo0Z0QBeB6CulLg2gvMZjHO1nYBb7hMunSpGMgUfCb1ju7vtEaKQLMbobC/0rUsJtFJVDKwIPQ1i8nGfitcx7bvo5DSwkO1NNhM4vBKwII0rK9vYH3bEFR8Ld4DprwrTtp7ciiBzOunK+vyrKt5Nr+9YjMo7o0FX8KbJqNjwphiF7d1Nie4BrumcItlFPUe4UVqmG2glRNpY3s0uNWJso6sa0LcXdb3SDNILzy96RunML6c/G/hVU3E2R71i2xDi8WHOWMcmk439OP+2tD2ttmLCx9pM2VLhb8dWP8A5J8AaX8QmIAxoxZPX+AslxLKM0ukey3791mHtS2/2uKGGzWihsWH4nI187AgfPrRH2YbsMXOMlUqLWhB530L/K4B53PSrh/0rAYlxiMkErG3fuDe3C4vYnzFDN8t/osJEUhdXnIsqqQQn9zW0FuQ8BUm5L3QjFgYQ7oT90sDtqQjb2C/6ntRYR/Qwo+0PU3uwHiTZfRjVt3o20MFhHlAF1AWNeWY6KPIcfSgXsnCHBs4IMjyMZNbsLfDfnwN7+Jq0bV2hBEl8Q8aqNe/Y6/4nUnyFDZR0ytgq2s2od/P5qI6LNfZZsAzzvjJu9kY5Sdc0p1J/wBIPzYdKsG/2/EuEljhw4QuVLNmF7C9l5joT8qL7u76YXFM8cJClTZVIClxb4lHnfTjUTe3cBcbKswlaJwuU93MCAdOYsdfGr3zB+YHZTaaBsD09FwruqS/tWx4Goht/jx+tGtxYJsdizj8SgARckdhYFgLXH+IJ16t4Vyd3Nl4A58VN28g1yMQ1yP+2v8A/RtUzY/tOR8SEkj7DDsto2bSxHU8FUjS3AdaMlLXRu/SRdvaqtvTzUnAH2RsvPa5tQrBFh1P9Zrt/ivD5t+VZumAZAXR3XTUqbaenKtc333OOOEbxuqSR3tm+FlbXlw1/Oq7D7O8gD7QxKLEv3EOUG3ViB9AT0tXnDsqGLHDCaO9it/kronRtB1iz2RP2U7MYYdsRISzzHKCxzWjQkAa8Ltf5Co293tEeHEvBFDFKIwLmQX7xFzbw1A9KsW7u9WDmJgw7KvZ2VVtlDKBxQHiPrQDej2ayzYl58PIi9pqyuDo1tSLA3HOhGOjfmOflNoHoDfw6eioFXv0QGT2sYhUYDDwoDcd241ItewPEVX90Nqe7YuCc/CWKufB9D8r39KueD3LwmEkR9oYlJJCRljOi38RxK3trYDrTG1fZPKXb3aWPsXNwHvdB5gG48RxFNWT4bLa0UHd6NHtSnbLNdFct99ke84GZBqwGdf8k1t6i49aybZMKyxi/GtU3h2yuz8DZ3zSCMRoD8Ttky3txtzrKN3zlsCQL+PWheGBwhfXs3sfv/CO4af81EbI3DCFFhTlKlVpJPVbIAAUEqVKlXi9SpClSrlyoGTXWvWitrV8n3Bkws95IDiYuI7JrEjlpxHiPlQXbuzM8x7OFoIxplc3anzMqN/suCwDIS/ZgtAtnxktbjca+VaPu7v02GiWOVDIq6KQbEDkNRraqrhcAE0qRLDewGp0Fut6CyxHkDS8WE7gwA2OpFP3j9pkmIkWEDsIWIDNfMxW+vDQC3IUJwCKcZMFuVjzKjdRmtceY/Orxs7c6KJQWUNLbVjrY9ADwt1qBiMEI5QSO7ex8qEiyYGAxwtr1Q+NAOZerYG6VfxQ1tahmLWwq2be2T2UhynMrC6kcwarGOioqB1ppIQ+PU1ApY7sCOXOuwb8vX+casmK2MkWz0mJvJM7AD+xdD63/SqzNPlFMmnUs3JTSU1O3dIrTPZ5u1LHGJJ3ezC6xZjlAPNhzJ6cBVF3PwYxGMiVhdQcxHXLwHztW8wwWFJuM5RhYIh1KjFueZ8EPxuyYpRZ41I8uHrxrO9u7IGFnyjVG1W/LqPGtVyVn/tHIzwjnZj6XFJuHTO5oZexTHHkOpQo2uAa8mNlNuNj+VM4A9ypBFMnCnUtSw6mAqx+zLakEezwGljRlZy4ZgpBvxsTr3ctVLfbef8A6hOEiJ7CI93+9ubft4edC8Vu8CxIFdnZZHZRLo0zrHfoCdT8qujx4ROcgG3Hp6LKHh74yXSeyEzszdiTEuVg0VfjlZrRp5nmfAXq0YDdrBYbUqcXJ1fuxg+CjVvWjWMw6xgYeIZYotAB94j4nPViedQhh6pflul6Gh9fiVZDiMf/AJH/ACCEY/ZMckhdQYSeIhJQfLlTEe70QN2DOertmo97vSMF68GQ4CgUaIIAb0hAdqYCHLmksmXgy90+AFuPlVVxO2XY2SSYqPxyH8hwqTvPjDJMRfuobKPLifMmg6HUdKc48PgDn7lJM2ZsklNbVd+6NbM2hEhGaEX/ABXzH5NVlbDpMnAMp4f+eRqoYWEyEKgJJ5D+aVcNi7JMS95r+A4CqMoNb4gd0VhzkDS4eH3LjD4TERDLDi5405KGJA8taafY2c5p5JJm/wC4xI+VHgg6U1MoAJtw/mlLxMbsdfOhfzRTY8bVelCJ9jRva6gW4Fe6R6ivUwUwFlxeIC/hzn96LRxAgEV37vXGc9D/AGinwQP3LQhi7uYWRMsnbLJf+tnz3PihGo8taG7QweNwKjs8TIcOTZZInOUdAwveM+fperKMNT+H7txYMrCzKdQ45gjmK8bkOB33Hkf4QU2BGd49j9FQVwckrZ5HaRj95iT+dFI9k2tr5/znXeKgGFxbwqSYyFeO/EK4uB42vaiFFSzGhp6I3h8EL2WBv3SFKlSoNOxslSpUq5clSpUq5cok3tPl917Jl+1Gmf8At8f7uV6a3W2kMUOzc/ag92/3x68xVJVzc3505DPka4up4gg21/SnZwImtIYKJ3tYGHMex+odPJaJjtluhsykelO7u4QHFRX4ZgfkCR9RVZX2gYjIFktIF4E6H5iiGy9uykpL2YWzAgXJvY/Sl8mPK1ptP4sxs7SwdVq2LhoFtPB3BvVkWRZY0kQ3VhfTl4UOx2H0NZeJzo3aT1SyCQtNHsqHjscUAV9VHDqKDSTpJfJf1olvYRHqdKB7FiZgSNQDqelanHaDHzE359vDB3UTakkgAUAsNbW148f54UJOzZm+4fUgVeY9kMdbG3W1e+6WvYUU3MDRQQ0vDWTOsu28ggu4OHaLGp2ilc2gPLiK3lE09KxPF4kqOjAggjiCD+dWrZntScIA8Idx94NYH0txpRxOCXLIe0eiEmw+WAyM2r/iWCqWYgAC5J5Csd3l2t71iWZfgHdXyH78albwb14jF902RPwrz8zzqFgcBbU1DCxP01yPO6IxMR97qZhUsop6lSq0mza0rW6QAlUXHxNZXT44mWRfNTe3rUqlXrSWm15JGJGlh6FWnB4qPHJ28PH/AN2P70b218x4157rVHlw8kcgmw7tHIOa/kRzHgaPYH2kcFxsF/8AuxfmV/Y0O/GcN4dx5dx7vNZqRkuL4XCx5o0cNXPu1SsBtjB4j+jiEufuscrfJrUSOym6AigXSFmzhR9VWMpp7rDttbPaOZ1I1DH5E6VE92NtR9K17eDc3tiHW6yLwIHHpf8Aeq5t3Y+KlRUcIMumZUsSL87aVocfiLHtaLHqgHtFkoXuZEuR20zFrE+AAI9Nf5pVmqv4Lc+dBeMtm434XqZiNolITnEyTqbEFbq1uhA08vHjVU5bK+2OtWxSBraRTN/P5woLtXbC5hHGQznQnkg5+v7UAmx2KnNu/Y9BlHzozu3unITexJPTgP3qXIZCNcjvgudPZpqsGxMPeMUR92otg9iMqhQvCucYYYBeeaKP/Jhf5XvSR84e86foixktaACUMGGpz3VVQySsEiTVnPAeA6noKFbS9oOGj0w8bYhvxN3Ix89W+VU/a+2MRjHBma4B7sa6IvkOfmdaMhxJZN3eEevX5KJyHybRj4r3ae1PesW8ygqpsqDmEUWF/E8fWjSDQUO2ds3LqeNEqNmc3ZregTvh+OYWb90qVKlQ6ZJUqiPtSMFgWtk46HTW3rqakSzqouxAHU6cakWOHZQEjTdHou6VcxyBhdSCDzFdVFTBB3CoWGwbMmYDQaXqNMup8Ksu621RCHWSBZY5OINwR4qw4HXpyoVtSPUlRzNuNaXX4qXzzkEs1Umtl4UPIinh8R9OH1q3Wyiqfsl2WYFgQCCLkGrUcTcUHlglw8k84TpEZ87RrYu8r4bRe8h1KHgfEHkaK432jwhf6Uma3C62+d6p+fWhG1nI1FLv0UUz7cETmRR6TJW6Z3j2tJipSzWCj4VHAfufGpW7m8IwylHBKk3uBfWwuCPShakWriSnBhZy+VWyz7JHMfzAd1d8X7QInWzOxHIZTYelEN2wccCygrEhy5iLZjzA/U+IrLXQXrfNy8CseAwyqBrGrHxLd4n5mlHEmMxIdTepNImPPlJqgB6Bd4fYMSiwjTzKgn5mm8fu/DICCig9VFiPlRz3emJo6zAneTdlSEzibtZhjMOcPMY316HqOtPqaIe0GEBY355iPQigmzsSCLX1HKtBGTLEJE/w8i6Du6mUqRriOUN8JB8q8pM9Qul0T1rlJlPAg+vyrjGf03/xb8qK4zbGFkeQuoYRxlY2k1EhLXcKcpKgaZRa/wAViONSDbF0T7kuzcx2OW02wUPvUfERoSA1gTw8aJh8Aixr9jJfs0diuuUnvtogswBOup4XJPCPiZ8OscqwtFeRQ1lUg5RJCVjuV0k7rnLXrBZ2B+SXni5dty/z5IJLseN75SptxpuGWaA2ixMkZHJZD+RNqsUc+GeCFZTDmWNUFw2dHPaXzm1hGMy+TWNeY3aEOTJE8KqIcRGAVtdmyd4ZlvlkCtlPM0SHm9JBPvGyXzZUbxvEoEO+O0Y9O3z/AOaK36VMT2lY4DvJA3mpH5GutpvhO8uHjgYnIikgsQpWS7aWs69y5JJva9MYOPD3gMrwKFztIHW7tIpfRiQVEZXs8osbkaDQ1SWQuFujHy3+iqLWaNYYQLrqpS+1TFDjh4D5Fh+tMze0uVxc4TDnqSzHl4GnWfAZ3VRhhkv2ZbNlYlZf6hGpQWj05ErzNN7x4aCSOeeLs2uVjUqDq+YHS4sR2QK9RlNxUWw44eByq9d/T1VALHECior78z3NsJhUI6o1wfJjXDb9Y86I8cY/siA/MVK2viMMQ3ZLE0mVHVlJLM/aZWW99R2evyNcSw4YHCqro4tadl0BHcKl7AFRmZgTxtm16XBkW3+Pr57/AHVrGx14ge6GT7Vxsos+JmIPINlHyW1RY9iEm5GvU6/nR5ThzkjK4XM6y55UzKkctmEWpNlS9tTpwI0tUvNgC5VewFhdWLsAz55FCsc39PRCfAg86lzC3Zja9wVrJYmdYygeH2UuuoJHG2tv2qfHhlTlbzqTGuGkRIz2HaBLK0ZYAu7z2WwN8inI3AkacqYiwcPbYuKQoqqPs2du6rrbPlBIzXYEX1K9NTVbnF13f4aRsPE42A1HuulcEXBBHUH9q8SVTwYHyINEMU2AftpG7O57XuLJYNaVwHAzW7QjKdL6WsutQ8ZLGZh2bRsCJb5CCATNcXtwuhW3kRyqkNu9j8UXBxUyyNZoq15SpUqgniCYnZ8rGUAWVgdM9wzFgQbH4TapW2BYIxykI1yGNgbqR62JvRGvBV/ONi+yE/TNpwB6/wDqibHjIgjBFjbh5m9TKVKqnu1OJREbdDQ3yUQYK3Ku1wIvcgUUSC9vG9ONhu7UjMUBqA2QjIByqBjIbarofz/5otNFao0kOlWsfW6mQCEHixo/EPmK4xOFZ7EISv4uA+vGpm7W6SzYp2a2VGvbzrRTsZSLEC1uFTyMtkDgBuUodK5zS2Tbt8llGJ3ekEImVcyagsNQCOIPSg4LcK0HebASYMdphpCmawYciG01B8KZ2LuKJlDyd2/4Txotmazlcxx2Sp8Bc4hqz+ZgpHWtz9mm3FxOCRRo8IEbDy+A+RX6g1QN7NzosLEGGpc5QLcOZN/Kh+7+1ZMFIJITbkyng46H96py2M4hj+Dr296qEbmuO634xG3Cok6/KqtgPbJh2ULOjxt5Zx8xr9KGbY9qKPcYVSbaZ3FrHwX96zLuGTB4DQfj0+anG1xdSa3lxEImlRwpaSaBNQhshRM9y3ejXKSbrzqLsbDYWbjliRHmGTtjrfsVDAlxa/xc+HA20rWRppC7nMWOpOtGYcIoA7q/IU90CKMNveq/6mMPDXymw6kVjwWFLkDIcjBSjYmyyACFmckm3dDv3RobEa2p1tm4dyCZFTvxqzdrYFLkdmgV7KfThwItQn3dfwr8h+1ee7L+Ff8AaP2qi9tnFFHhEl3zPun8FhIpMVIhbLDHyZ7XN0U5W7TXKzMRdmt4kVxiMFCs2GCuGR5VJzS5wYrRWLAkhe/22hHXTQVwYFIAKiw4CwsP2pDDrYjKuvHQa+fWrQ+nXasdwuR3WTtXdEDs7CrGxd8mURgxpiM4iDE6h8wzBlAJ42uQAL1GbCwRvFHJd3eRY3tiT9nmcm+jWP2eT59ajjCr+FdOGg0v+VeDCp+FenwjhUQfUqA4RL/9PukTCcI00ecSZ8iJ2hcAjJYEMRdXBZuBPC1rGncbh4kwylVjZ5jCnavIGP2sRzPl4xBHLC2nwA8teBCL3sLgWBsL26X6V57qtycq3PE5RrfjyqfMAPx/AvXcJkLdJkU3a2zYYzFGjEvK6x5jOQsZ0BYjM2hIOhPPys7LsqFZUtaSPOM+aYWj+zVsoQs2fMS51LWy8dNRi4RBwRRpb4Rw+VL3JPwJ/tH7VFpIrc7X+fBRPCJarmfdEsDsiBxEcpZTlcRNOAFD9gXuW+IJc6Hj6V4m7eHugRmzukjBu0tGCRxNmuiqbr3RyGa9qGHZ8f4E/wBo/avfcU/An+0ftXFx/wBioDg0n+6e2Vs5Z8O7OuZ7SKGaQKsZCJ2Zycy2ZmzDhbpRDGbDgRsmeQsysbrNorJGWbQk3zFbAMfvfIVJhUbVlUnhqAdK59wj/An+0VznWbsgeX55Kx3Cpi4uEn3UqXZF8VLArNooeNc9jqY+6xb7wQuxU8OWgrjauHijVTE7XvGGZ3zgrKjNmAPDLlv431pr3VLZcq5eNrC168TCINQijyUV7rqrJ2/LUxwybUDzOnvRPHbAw6yGPPNfNlVu1tlIjkcPwu1wi9PiNtLU1g9kYeR5FHaBIpchDShh3XNiQRd1kICW63ND/cI//jT/AGiumwaEAFF04aDSvA6hVlVftEpJJk3+KLDdhMzWZokVGbJ2isyNmk7NgVFijKmYA6C9uejo3aiszF50ChzbtA5YKVAlAVdFsc2U/i1IFAm2fGRbIuvhTjwZrZyXyiy5rd0XvYAaDXU9edQJcT7RXn7XktIqTb4r3Z2H7SFJHD2YyZmSQIEyR5lULYlmcXa/IDoDU7AbLjljSRTOA4cqhlTNIyiQ9iDl0cZFObmHHWh8uERjdlUnqRXj4JDe6jXjpUy9p70rncOyCSRKi826/wBplR5cpKqCzj4ybslwpJYRXbTqKe/9PQrMqMZZLENldxlZTIECEBQb3Ya35UBbBqSSwzk2uWOY6AAcfAAelIYCP8C/KoWempVftmUR4pPulgQRGoNwRoQfukGxU+INx6U/XiRgCwFgK9tXONm0/iaWsDSei//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ata:image/jpeg;base64,/9j/4AAQSkZJRgABAQAAAQABAAD/2wCEAAkGBhQSERQUEhQVFRUVGBkYGRgXFx4YHBcZGBUcHBcdIBwYHCYgFxwjGRgXHy8gIycpLCwsGB4xNTAqNSYrLCkBCQoKDgwOGg8PGjQkHyI0Mi8yLC0sLCwsNSwsLywsLCkpKSwvLDQsLywsLCwsKi0sLCwsLCwsKSwsLCksLCwsLP/AABEIAJ8BPQMBIgACEQEDEQH/xAAbAAABBQEBAAAAAAAAAAAAAAAFAAMEBgcCAf/EAEEQAAIBAgMFBQUHAwMDBAMAAAECAwARBBIhBQYxQVETImFxgQcUMpGhI0JSscHR8DNicoKS4RVj8RZDU6IXk8L/xAAbAQACAwEBAQAAAAAAAAAAAAAEBQIDBgABB//EADIRAAEEAQIEAwcEAwEBAAAAAAEAAgMRBBIhBRMxQSJRYTJxgZGhsfAUFcHRI1Lh8VP/2gAMAwEAAhEDEQA/AKjjY8vfTuuneUjTUfmKKbL3rGKFnjk7ThdVLA6eGo4VX9o7SMrFU0T8/wCdKgkFRxI8v+KUcgSMp/XstTPlBsuqLp3VwOIvKI8rA6nvKRwHUin2ivVf2NvS8ZCSkvHcak3Kcrg/pV5fZpePOneUW4dDqD4C1L52OiIBCYY+a2QWUAlHSrFuGoOIcn/4zb/cL/Sg+JitUnYm0xh5kdtEvZjbQA6ft8qHlBkic0d0TkN1xOA8lpoSuHWpWCZHF8wsRoQdD8qbxKZTx+VZowvDOZ26evxCyIdvSre8G2YsOt5GtcaAak+lUHYu8cUbtmuFLkqSNACbi/TlQjerbhxGLkP3VZkUf4m1/W1DXcCtdh8PDIvH1KMjnLPZVy3r2icTMTEvG3DgO6B6/wDND8Hst0tcgGhe7218siqwut7eV/0q3SLzFezB0Pg7JxjPZI0Ob22QyTOOFj9PzpqDaAJsdDT+N4UDdvtNK8YwPG6NdK5lG1Yb0qbg+EU5Q52NJg02LSpV47gAkmwGpJ5UtjbFn2gxERMWHBs0xGrdQg5/y/SvdgC5xoDuhsnKjx22/wCSiYnaqK2UXdzwRBmP0qfBsLaEgumFCD/uuFPy0Iq+4DZGE2bCXAWNVF2kbVm/1cdeg+VU7Ge2Bu0vFhwYQdS5IZhflbRT86HjnfOSMaOwO7v4CzUvFciQ+DYenVDsfs/GYZc2Iw32Y4vE2cL5i5IHjXME6uoZTcGtdikDoG5MoNj0YX19DwrJd4dnrhNovGgtFKokVRwUnj5ag+lulRxcoZJLHNpw8uiIweJycwMlNgr2lSpUQtOlelSpVy5KlSpVy5KlelSrlyVKlSrlyVKlSrlyVKlSrlyVKlSrlyVKlSrlyDbqbE95mC3sNbnoOdGt6NzuxW4vbhr+hH81qursrHbOcTBdEN8yEMB5jiNPC1Fd5faY2KgVMove5I8BoAP5xp7tJ4mG/csBrdt28wqb2ViavOx94zBgInR7yLmQpfUqGNtPK1UGSRyb5W+Rq4+z/CB54UYDQlj4lQWH1AqGY0GPU7tv9CrsX2z5UVf9m7GzIsk6AOwvk45dOB6nrUjGRd21hbpajc8elD8VHoaxIyC9+pEMnc4iyqbj9pTQIRC+W2oHFfT8PpVdl3/xSjvG/iDRjeGcAcaquKwAGQq6tmXMQL3Q9D4+VaXDhje23tBRWS3YFnUoEspN/E3+dPpc8adnwIU3HDx61zCmtPNQI2SflOY7S5PxQFXQjmQPPXhV3k7YL/QfT+cBT+xcHHiVw0EUdzG3aSynQZtcqi/prpe1aY+zcoAI5Uh4lkmOjpuuvojIckY9jzWH4nHMWykFfAi1qcwWC1uda03bW7Uc4OZdbceY8QazbFQvhpjG3Lgeo5GqsfLbO2mbFNMfIZI4FynikzAC50FJGuL1zsvZLY/EdghIhjsZ3Hn8A8SR+Z5VwA3LjQHUprk5LceLWfgn9293G2i+d7rhEPkZmHIf29T+vDUkjSKOwCpGg5ABVUcfICusJhVjRUjUKiAKqjkByrPvarvRlAwcbWLANKei/dX14n0pMXycQnETNm/x5n1WLmmfO/W/qVXN7N5G2jPlQkYeM2VfxnmxH5dBbxrjYewPfMSkCD7OMhpmA0AH3Qep4f8AANc7tbvz4vu4dTHENHmYWsOYXqfAfMca1zYOwIsHEIoVsOLE6l26k8/0pvlZUeFHyo+o6D+SrjIyOPls3J6n+AiKrYWHAaD9Kx7e7aIxG1HKG6xKIwRzI+L/AOxPyq1b+79iBWw+GIadrhiNRELa6/j8OXGs72HE5bJBE88nMLwHUluAobhWI5gdkP79L9epUcUN5ge80Aj9KucXs3HQqXlwhyDUlHVyo6kA1xhsUsihlNwf56Gi9O1g2PQ2tfBmQznSx26dpV47gC5IAHEmokGPaUkYeGWcj8Cm3zrg0kX+fNWy5EcIuR1KXXtQ5cc0bBcRFJAx4dotgfWpl64tIXQ5EcwuM2lSqHiNqorZNWf8KDMfpToOIIzDB4nL17M/tXug1Z29+yqkzYIzTnC0/SqLhdpI5K6q44qwsw9DT0+IVBd2AHj/ADWvCxwNUrmzMe3W07JylUBdsBhdI5nHVYyRXeH2rG97GxF7hhlItx0NS5T/ACVbcuB50teLXMu2UDFQGdgbEIpOvyr3DbUDOUZHjYAGzixsfDiKtPs5ZYMLicZMwRJZCwJ/ClwPMkki3O1UTaO2zisbLOqOc5AVVFyFUWH0F/nU4wHyPjDdmjr6+SQ/u0vOrbTf0R+lUBdsoCFcPGT+NSv1qeDVTmOb1WhinjlFscD7kqVKlXiuVr3gIEbX6W+dUOHZyRXKqASb1cNqYkTNlU/CdflQHFRWbyqrDJjZp80kxYm0NQ3Q5iRT2ycWuGxMU/3Q1nHQMLE/WlMtgb0MxRZgVUXvTFo17HoiJmhzSCFuOImUgMDdSAfS2hoFtTa6KpuRWbYbH41IgnaKVUWALG4HS9qGNtWbt0EoIBPG9xw60sj4T4ydQKSxwCKjJfyVkxoDMWbj06CoEhXgRViwe7kkyBr5AeZBJPp+9OzbgG3dm18UsPob1eMiKPwucmzsiJnhtUbGxW8Qa7wGDLAm2lSNtbNkhuki26HkfI86n7LhtGtMDLUdgqprGPkvsjG6m1ThXQX+zYgMOl+BH84Vp74gsBc1jeOOVTRbcPe/FYgFDGCqaGUmw8rW7x8vW1JsvGklYZGGvP1QPEYWamkbErRJqyvf7FI+IUJqVBv5k1cNuYKeVbJPk8MunzBuKzbE4FoZSs2jDUnjfxvzFU8LgaHa9W47KvGiA3tOmZyqRRDNLKcqDz4n0/nCtb3a3fTB4dYk1PF25u5HeP6DwFVD2Y7Ezs+Nccbxwg8lGjN6nT/dWiVVxbJ8XIb23Pv8vghszIMz67DYf2lVYT2d4UzNPMHnd2LHtD3bk9FAuOVjpoKEb8e0F4ZPd8JbtB/UkIuIz+ED8XXpwov7Pd4JcXhC82ro5TMBbPYA36XF7aUM3HyceDng0D86QVXuiG2N4sNgUAldUFu6ijUjhoo5fSs63g9pWIxN48MpgjOhb77Dz+76fOu/aVtJcRjo4V1GHBDH+5jcj009b0IlwpBSKEXmmORfDqfT/nlTfBwomMbLILcd9+g9flvujcbGEjDI800KNu7uy+Mn7GO4UazS/hF+Hix6dfCtN2ntHDbHwypEgLH4EHxSEcWY9L8/QUX3a3eTB4dYk1PF2tq7niT+QHICo22dz8Ji5O0nBZrAf1CAAOQANhQmRnsyJtL75Y8u6Ee7Ub7IXuJvtJjXljmREdAGGS9ipNje54iqbtuFcLtHExiyxm0g5BcwubeAJrSdhbqYXBszwKQzDKSXLaA35nTWs+23s73/AG28IPcGVZCPwxqC/wBdPlV+I+F2Q8ximad/gpwzGGQSN7KTuruqcee2nBXDKe4nAykHUnotxb+E1YN699I9nhcPh40aSwOQd1EXlcDmeQ6cauGHgVFVEAVVAAUcABwFUfaPspE0rytipc8jFicg5nhx4Dh6ChWZUWRNc5pg6Df619V0srpX6n7kolsnFR7X2ee1QDPmQga5HXgyk6jkfmKy7BSysVwqf1Wk7EHpY2J6/wANbFu/sNNn4Xs8xZULOzsLeJPhYD6VkG7e1Au0YsQ/wvM5J6dpcA+Fs16PwC1zpuULYNwPVewSvjJLPJbBu7uxDg4wsSjN96QjvOeZvyHhQzen2gRYKQRZGlksCwUgZByuSDqeNqtVqxnfPBZNqTBuEmV1J6FR+Rv8qV4LG5c5M5va/wA9yhG3W8Nvqpu/W82DxcETwqTiWbu2GV49dQ1vivcW+dHd0/Z8FCz477SW1wjfDH5jgW68h560K9me7KyzSYxl7iNliFtCw4v6fm3hV+3j2bLPh3ihcRs/dLEE2X7wFuZGnqaMy8gQViwuodye19h7lzrYS0Hb6FAE9puG96XDxqxQsE7VbBAxNhYc1vz09a49pu7SS4V5woEsIzZhoWW/eBtx0NwfDxoNs32STRyxM08ZRHVyArXIVrm1xxq0e0Xaaw4Ca/xSDs1HUtx+Qufl1qt3Jjni/SOs3v19P+qsrM9ztlTbSlWKWV/d4FBIvoo5Ko4Ak8+WprXJPd9n4dmCrFFGPujU8gL8WYnTU1R/Y1IFbFRn4vs29BmB+rD51afaJs4zbPmC8VAkt1yG5/8Arc+lWcSkMmWIHGmWOnr3XVXVBf8A8h4DGJJHio2VcpIEgDZh/aRqrdPzqh7FxhzMFv2ZY5A2pC301/nOlgMCkya2POiWD2eE86aNihxw5rb37FP8HBkD2ytOymV7evKQodaZR93N4fd8WhlHdY2N9R09OJoztqIdoxX4SbjyPCqntTCkowtcnQADUk/CB43tR/YG62PWMCV48tvhYF2XTTUEfK5oqflhofYH8+5Z5z+ROL3sKHiEvYeNcLDl050RxGwZ45AXKFLEd0EEG2nhauHw9qqEjSPCbTBkrZBYUNhRLdjZSz4hQ4BWPvkdbHu/W3yqBNHerFuIwEzA8WTTzDA/leoTyFsTi3rShlWIXEeSuYj51y0OlTFjrhlrK6jdlZbWq3vJsgTwujcbEg9DyNVLd/DF41XmDlPgb2NaJikup8qyzZm3FinlUmwMjW0/u/enmA58kTmDtumWJJR9fw/2ie8+BKy9iPiLBdPEcfrerpsjZCQxLHGLKosP1PiSapGIMrz9tc3HDS/Hn52ruTGSk96Rz/qP5Cr543SsDGuodUZJjvla2zuFoDR1QPaNh+0kw8afHI3Zj/UR9LmuY9vTRG4diOhNx9a5wO1xidrYMsLBQxtyz5SRb1AqvFxXwycy7AB+yCnx347C4mxX3Wn7OwCwRJEnwxqFHpz8ydfWgu/G9AwWHJU/bSd2MePNvJfzoztLaUeHjaWVgqLxP6DqT0rFtpbTfaGKM7iyjuxr+FQdPU6k0vwMU5Mplk9kbn1Pl/aWRROleGNQ/sisZY3aSQ2HMs7H/wAmts3Y2N7phIoRqyLc+Lm5b/7aVmex8Mr7Swcb/CCXA6souo+YH8NbFRvGMglrYx0O/wDACJzmiOQRDo0fdYBhJyssnaJI0xdiVCksTfX63rQtxN1phO2LxSZGy5YoydVB4k9CRp11q2bW2vh8KDJO6Rk8zbO3lbvNVd3f9psOJxDxMOyBI7JnNs/UHkpJtYfrXSZc+TETFHQrc/wFQch5jEV7fnVEPaDtRoMBKyaM1kB6ZzYn5XrH4djFgDdvnW8bV2XHiInilW6ONeRHQjoRxqmp7Jkvb3qfs/wgAG3n/wAVDhmZFBEWONG/K/gugfGwkyCwszkwJDBELu50CISTf0rVfZ1uS2DV5Zj9tKAMvHIt72J5te1+lhXsEuC2ajDCQtPLwJiUyMT0aQDKnkPlVa2Z7TJlx98YDHCy5MmUjsgTdWsdWN+JPI+lHTST5kbmQim136n0AVcsjXutooK5e0babwYCRoyVZmVMw+6GOpvy0FqylZcU2oxE/wD+w/vW17SwMONwzISHjkGjIb6jUEHqDVIi9lk4OT3sCLqE79vnb60Hw3JhgiLJNnX3CsgMQJ5oseiok8uJciETTyM5sI8zNmv1F6dwGDWSJkOjLoQeKkf81pSLs7Y41N5WsCT35CCdTp8C8+V/Gud4NzY8bbF4KRVkYfENUl/ytezenmL60w/cW/6lrT0dW1/0rIp2Mk1afD5eikezneQ4iAwyn7bD2Vr/AHl+63y0Pl40I9sGzfs4cQujKxjPirAkfIg/OiG426E+GmlnxBQM6hAqG4sCCST6DShPte2yrCLCobuG7RwPu2UhQfE3Jt5UviDTxEGA2Oprp03Qz61HR0vZXbdbArDgsOii1o1PqwzMfm1ZnvlvJiXx8yRTSRpEQgCNb4eJ8STf6Vf9xdvJicJHlPfjVUkXmpUWv5EC4NDN5fZwJ5mngl7GR9XBXMrG3HjofnzqrHkZBmSHI679R3tcytQ1dO6zyTaWNUXOKnA6lz+9D8TicRL2TYh5XjYt2bSEkEiwNr+P6VpOH9nEMX2uPxHaKutj9nGPPW58ha9E/esBtWJsMjA5PhAGRlyiwZAeI/TiKa/uEbTqYzUB1cB0+itlfHqBjbt6qgbFxhwWKw8/3GPZyf4tpf04/wCmtoeMMCp1DAg+IIsfpWdL7KpSwSTFBoARpkOcgcrnQHlz61e9q7Tjw0DyyEBUXrxNrKB1JNhSniUkc5ZyjbvT6fFe5MjHv1MFbfVYrsxOymli5JIy/I2FGqruyXZ5GkPF3LH1N6sVPMkU4X1Wn4UTyBaVIUqVDJqnvZ5bFTvKw0j0X/I8T8tK0sxjpWZeyCYLJLF1GYeIvrWs+7kqTyFAcVY85Ohg2A2WFlnc+nOO6EYvBhhagEmzUYFSwVxwvwYdL9asmJxSi+tUTfvH3j+zJ7S4C5fiueQtxqjB1OeG9ii4HPAUbG4Yg86grtr3aRJBqVYG34uo9RU7Ym7mIZQcTK2v3Ry82txqJvbukkcYlQsCCAbksCD58D5U6Y6IScp7rTB+X/i2G/ktN2Rvjh3jDZ1F+KsQCD0/5pYreGAnuutvO9YWTbQjMOvA/TlUaV3A7jsPAm9enhIe3lh3h7bdPikpijYdVFatvDvqioyRHM7AjTgt+ZqibPgHbKT1vr1/81WYMe0b3Ot+NH8NiA4upouPBbitIb36lH4UkT9hsfJaCm0gIezRFB5txY6/ShE4p7Y2wMVKgYlUU8CwuxHW3TzqXiNyJTxmP+2w+lK3Sxsdpc8bI1ssUbjuq3jXA0P/AIqv4hGZgUJBXgRoR5EUb2vu5NAbv3k/Ev686WBhWmEcjWt1NNqwj9T4eyGywzzkdvLJIBwDsSB9aM4TChBT9qVUvmLhQ2HojMfCjg9kbodtbAl8rKSrKbgqbEH+Wpv/AK5tC1ve5reevz40VqI2HkxMy4WD42+NuUacyemn5gc6lG+xpcBQ8+yF4hjQEGaRC9ibtzbQnKqzNb+pM5LBR+p42H/Jqz7U9jkgy+7zBhl73a905v7bA6fzWrxFDh9l4M/djjFyfvSMdPVmNvL0qhbI3/xeJ2jAM2WKSQL2QAtkJ1vpcm2t/wAqFbmZOQ5zsegxvn3WTcbuhQQSTF7RwUhw7TyoQLgZswI6qTy8qi47G4ydljaaeZ30VASb+g486u/tfCqcJJ94Mw/02B/U/M1K9me7pscbMO/KLRj8Kcz/AKuA8L9avbmMGMMlzRfu7qxpjEZv2l5s/eOfA4RVbZ0qRwp3mMigXvqx04lj9azvaO1WxeIeaRSzymyoveNuCqPQAelW/wBq28hkkXBw62IMltbv91dONuPmfCrLuTuWmCi7WVc05W7G2Yxi18q+NuNuJ04caY5o8eI5L209/QAm/qq2O0m1QMButtWIZ8PHNCOOUSWP+y4v8qinefaEl0bEygroy/CR8rHrV62BvPjp9oAPE8eGYOArRkZQFupLEfETbnzque0SIx7T+xW7zRpoBxdiRe3XQVfFO6SXlytbZFgjf4FSjLS+39FVzhu/YhpJWNrasxJ/nnRnA7u7Vg7+HiniHEqrcf8ATfX5Vou7u7kOzMM00tjKFLyycT4qp6X08TQHdHfnE4zaOTQQEO2QKO6oHdNwL3vb51F2a+XXyWgtb1J6H0C9lkDtmigqqd8doyAo2IdSNGAUKw5HUAEUMwGFeSQiKOSeTicoLH1Ovz+tXbfbdhsRtVI4e6Zog0p5ABiGY+gA8TarTtPEwbIwR7JByCrwMj24seJ5k9BpXn62NjGcpg1P6AbfNeskDAC0b+f9LLMfsnF4Y9sYJ8Pb/wBxSdOl7cPW1O/+rMeEv73Jl66cPO160PcDbsm0MPP7yFYZ8migAqy3IIGmn61n25OxlxOOEMmsUZd8v4sp0HlqPS9Wxzh3MbO0XH8RR37rhK1xJkF/TdD0weLxnfyYnE68bMw9OVNy4JonUSJLh5B8JYFdeWunz+tbRvXt9dn4XOsYbVURB3VBINuHAAA6Cs33j9obYvCmCXDqsjMuVgbgC9za9yrcr35mvMXMmyN2R0y667/Jcx5b2sLmHfPaUQyiYOBwLoGPzIuaGbQxmJxbA4iRntwXgo8gNKnbIF0AOtgONT1jA5Cpl0cTyWsF+dLQQ8LjeA/6KJs7BZBc8am0qVDucXGynkcbY26WpUqVKoqaoWw9vSYaZZYzqtxbqCNRVjxG/WIkNzI3ly+lVJRb9qmRNpWjlhje7URv5r51BI5opWGPelzxLXq4bnYDth7w4ubkJf6n+dKzAPZgen5Vum6mEy4SEAfcB+ev60i4ppx4rYKJ2TJmQSw2nxhxVU9oc4TCPfnwq9yJlFzWOe0LbPvU6wRaop48i37DrSfhjHTTjyG5VfMJBI/CVX9k7cFxmsSOFxcH0ortfEwygFIxE/PKe6b/ANp+E/SoH/Q0RbEXPU8f+KhT4dl+EnyOtbEaHG2qwxSxs/yi/uuJIxfWiO7+CHaoSe6XUHxGYXoXDIS1nAo0Z0QBeB6CulLg2gvMZjHO1nYBb7hMunSpGMgUfCb1ju7vtEaKQLMbobC/0rUsJtFJVDKwIPQ1i8nGfitcx7bvo5DSwkO1NNhM4vBKwII0rK9vYH3bEFR8Ld4DprwrTtp7ciiBzOunK+vyrKt5Nr+9YjMo7o0FX8KbJqNjwphiF7d1Nie4BrumcItlFPUe4UVqmG2glRNpY3s0uNWJso6sa0LcXdb3SDNILzy96RunML6c/G/hVU3E2R71i2xDi8WHOWMcmk439OP+2tD2ttmLCx9pM2VLhb8dWP8A5J8AaX8QmIAxoxZPX+AslxLKM0ukey3791mHtS2/2uKGGzWihsWH4nI187AgfPrRH2YbsMXOMlUqLWhB530L/K4B53PSrh/0rAYlxiMkErG3fuDe3C4vYnzFDN8t/osJEUhdXnIsqqQQn9zW0FuQ8BUm5L3QjFgYQ7oT90sDtqQjb2C/6ntRYR/Qwo+0PU3uwHiTZfRjVt3o20MFhHlAF1AWNeWY6KPIcfSgXsnCHBs4IMjyMZNbsLfDfnwN7+Jq0bV2hBEl8Q8aqNe/Y6/4nUnyFDZR0ytgq2s2od/P5qI6LNfZZsAzzvjJu9kY5Sdc0p1J/wBIPzYdKsG/2/EuEljhw4QuVLNmF7C9l5joT8qL7u76YXFM8cJClTZVIClxb4lHnfTjUTe3cBcbKswlaJwuU93MCAdOYsdfGr3zB+YHZTaaBsD09FwruqS/tWx4Goht/jx+tGtxYJsdizj8SgARckdhYFgLXH+IJ16t4Vyd3Nl4A58VN28g1yMQ1yP+2v8A/RtUzY/tOR8SEkj7DDsto2bSxHU8FUjS3AdaMlLXRu/SRdvaqtvTzUnAH2RsvPa5tQrBFh1P9Zrt/ivD5t+VZumAZAXR3XTUqbaenKtc333OOOEbxuqSR3tm+FlbXlw1/Oq7D7O8gD7QxKLEv3EOUG3ViB9AT0tXnDsqGLHDCaO9it/kronRtB1iz2RP2U7MYYdsRISzzHKCxzWjQkAa8Ltf5Co293tEeHEvBFDFKIwLmQX7xFzbw1A9KsW7u9WDmJgw7KvZ2VVtlDKBxQHiPrQDej2ayzYl58PIi9pqyuDo1tSLA3HOhGOjfmOflNoHoDfw6eioFXv0QGT2sYhUYDDwoDcd241ItewPEVX90Nqe7YuCc/CWKufB9D8r39KueD3LwmEkR9oYlJJCRljOi38RxK3trYDrTG1fZPKXb3aWPsXNwHvdB5gG48RxFNWT4bLa0UHd6NHtSnbLNdFct99ke84GZBqwGdf8k1t6i49aybZMKyxi/GtU3h2yuz8DZ3zSCMRoD8Ttky3txtzrKN3zlsCQL+PWheGBwhfXs3sfv/CO4af81EbI3DCFFhTlKlVpJPVbIAAUEqVKlXi9SpClSrlyoGTXWvWitrV8n3Bkws95IDiYuI7JrEjlpxHiPlQXbuzM8x7OFoIxplc3anzMqN/suCwDIS/ZgtAtnxktbjca+VaPu7v02GiWOVDIq6KQbEDkNRraqrhcAE0qRLDewGp0Fut6CyxHkDS8WE7gwA2OpFP3j9pkmIkWEDsIWIDNfMxW+vDQC3IUJwCKcZMFuVjzKjdRmtceY/Orxs7c6KJQWUNLbVjrY9ADwt1qBiMEI5QSO7ex8qEiyYGAxwtr1Q+NAOZerYG6VfxQ1tahmLWwq2be2T2UhynMrC6kcwarGOioqB1ppIQ+PU1ApY7sCOXOuwb8vX+casmK2MkWz0mJvJM7AD+xdD63/SqzNPlFMmnUs3JTSU1O3dIrTPZ5u1LHGJJ3ezC6xZjlAPNhzJ6cBVF3PwYxGMiVhdQcxHXLwHztW8wwWFJuM5RhYIh1KjFueZ8EPxuyYpRZ41I8uHrxrO9u7IGFnyjVG1W/LqPGtVyVn/tHIzwjnZj6XFJuHTO5oZexTHHkOpQo2uAa8mNlNuNj+VM4A9ypBFMnCnUtSw6mAqx+zLakEezwGljRlZy4ZgpBvxsTr3ctVLfbef8A6hOEiJ7CI93+9ubft4edC8Vu8CxIFdnZZHZRLo0zrHfoCdT8qujx4ROcgG3Hp6LKHh74yXSeyEzszdiTEuVg0VfjlZrRp5nmfAXq0YDdrBYbUqcXJ1fuxg+CjVvWjWMw6xgYeIZYotAB94j4nPViedQhh6pflul6Gh9fiVZDiMf/AJH/ACCEY/ZMckhdQYSeIhJQfLlTEe70QN2DOertmo97vSMF68GQ4CgUaIIAb0hAdqYCHLmksmXgy90+AFuPlVVxO2XY2SSYqPxyH8hwqTvPjDJMRfuobKPLifMmg6HUdKc48PgDn7lJM2ZsklNbVd+6NbM2hEhGaEX/ABXzH5NVlbDpMnAMp4f+eRqoYWEyEKgJJ5D+aVcNi7JMS95r+A4CqMoNb4gd0VhzkDS4eH3LjD4TERDLDi5405KGJA8taafY2c5p5JJm/wC4xI+VHgg6U1MoAJtw/mlLxMbsdfOhfzRTY8bVelCJ9jRva6gW4Fe6R6ivUwUwFlxeIC/hzn96LRxAgEV37vXGc9D/AGinwQP3LQhi7uYWRMsnbLJf+tnz3PihGo8taG7QweNwKjs8TIcOTZZInOUdAwveM+fperKMNT+H7txYMrCzKdQ45gjmK8bkOB33Hkf4QU2BGd49j9FQVwckrZ5HaRj95iT+dFI9k2tr5/znXeKgGFxbwqSYyFeO/EK4uB42vaiFFSzGhp6I3h8EL2WBv3SFKlSoNOxslSpUq5clSpUq5cok3tPl917Jl+1Gmf8At8f7uV6a3W2kMUOzc/ag92/3x68xVJVzc3505DPka4up4gg21/SnZwImtIYKJ3tYGHMex+odPJaJjtluhsykelO7u4QHFRX4ZgfkCR9RVZX2gYjIFktIF4E6H5iiGy9uykpL2YWzAgXJvY/Sl8mPK1ptP4sxs7SwdVq2LhoFtPB3BvVkWRZY0kQ3VhfTl4UOx2H0NZeJzo3aT1SyCQtNHsqHjscUAV9VHDqKDSTpJfJf1olvYRHqdKB7FiZgSNQDqelanHaDHzE359vDB3UTakkgAUAsNbW148f54UJOzZm+4fUgVeY9kMdbG3W1e+6WvYUU3MDRQQ0vDWTOsu28ggu4OHaLGp2ilc2gPLiK3lE09KxPF4kqOjAggjiCD+dWrZntScIA8Idx94NYH0txpRxOCXLIe0eiEmw+WAyM2r/iWCqWYgAC5J5Csd3l2t71iWZfgHdXyH78albwb14jF902RPwrz8zzqFgcBbU1DCxP01yPO6IxMR97qZhUsop6lSq0mza0rW6QAlUXHxNZXT44mWRfNTe3rUqlXrSWm15JGJGlh6FWnB4qPHJ28PH/AN2P70b218x4157rVHlw8kcgmw7tHIOa/kRzHgaPYH2kcFxsF/8AuxfmV/Y0O/GcN4dx5dx7vNZqRkuL4XCx5o0cNXPu1SsBtjB4j+jiEufuscrfJrUSOym6AigXSFmzhR9VWMpp7rDttbPaOZ1I1DH5E6VE92NtR9K17eDc3tiHW6yLwIHHpf8Aeq5t3Y+KlRUcIMumZUsSL87aVocfiLHtaLHqgHtFkoXuZEuR20zFrE+AAI9Nf5pVmqv4Lc+dBeMtm434XqZiNolITnEyTqbEFbq1uhA08vHjVU5bK+2OtWxSBraRTN/P5woLtXbC5hHGQznQnkg5+v7UAmx2KnNu/Y9BlHzozu3unITexJPTgP3qXIZCNcjvgudPZpqsGxMPeMUR92otg9iMqhQvCucYYYBeeaKP/Jhf5XvSR84e86foixktaACUMGGpz3VVQySsEiTVnPAeA6noKFbS9oOGj0w8bYhvxN3Ix89W+VU/a+2MRjHBma4B7sa6IvkOfmdaMhxJZN3eEevX5KJyHybRj4r3ae1PesW8ygqpsqDmEUWF/E8fWjSDQUO2ds3LqeNEqNmc3ZregTvh+OYWb90qVKlQ6ZJUqiPtSMFgWtk46HTW3rqakSzqouxAHU6cakWOHZQEjTdHou6VcxyBhdSCDzFdVFTBB3CoWGwbMmYDQaXqNMup8Ksu621RCHWSBZY5OINwR4qw4HXpyoVtSPUlRzNuNaXX4qXzzkEs1Umtl4UPIinh8R9OH1q3Wyiqfsl2WYFgQCCLkGrUcTcUHlglw8k84TpEZ87RrYu8r4bRe8h1KHgfEHkaK432jwhf6Uma3C62+d6p+fWhG1nI1FLv0UUz7cETmRR6TJW6Z3j2tJipSzWCj4VHAfufGpW7m8IwylHBKk3uBfWwuCPShakWriSnBhZy+VWyz7JHMfzAd1d8X7QInWzOxHIZTYelEN2wccCygrEhy5iLZjzA/U+IrLXQXrfNy8CseAwyqBrGrHxLd4n5mlHEmMxIdTepNImPPlJqgB6Bd4fYMSiwjTzKgn5mm8fu/DICCig9VFiPlRz3emJo6zAneTdlSEzibtZhjMOcPMY316HqOtPqaIe0GEBY355iPQigmzsSCLX1HKtBGTLEJE/w8i6Du6mUqRriOUN8JB8q8pM9Qul0T1rlJlPAg+vyrjGf03/xb8qK4zbGFkeQuoYRxlY2k1EhLXcKcpKgaZRa/wAViONSDbF0T7kuzcx2OW02wUPvUfERoSA1gTw8aJh8Aixr9jJfs0diuuUnvtogswBOup4XJPCPiZ8OscqwtFeRQ1lUg5RJCVjuV0k7rnLXrBZ2B+SXni5dty/z5IJLseN75SptxpuGWaA2ixMkZHJZD+RNqsUc+GeCFZTDmWNUFw2dHPaXzm1hGMy+TWNeY3aEOTJE8KqIcRGAVtdmyd4ZlvlkCtlPM0SHm9JBPvGyXzZUbxvEoEO+O0Y9O3z/AOaK36VMT2lY4DvJA3mpH5GutpvhO8uHjgYnIikgsQpWS7aWs69y5JJva9MYOPD3gMrwKFztIHW7tIpfRiQVEZXs8osbkaDQ1SWQuFujHy3+iqLWaNYYQLrqpS+1TFDjh4D5Fh+tMze0uVxc4TDnqSzHl4GnWfAZ3VRhhkv2ZbNlYlZf6hGpQWj05ErzNN7x4aCSOeeLs2uVjUqDq+YHS4sR2QK9RlNxUWw44eByq9d/T1VALHECior78z3NsJhUI6o1wfJjXDb9Y86I8cY/siA/MVK2viMMQ3ZLE0mVHVlJLM/aZWW99R2evyNcSw4YHCqro4tadl0BHcKl7AFRmZgTxtm16XBkW3+Pr57/AHVrGx14ge6GT7Vxsos+JmIPINlHyW1RY9iEm5GvU6/nR5ThzkjK4XM6y55UzKkctmEWpNlS9tTpwI0tUvNgC5VewFhdWLsAz55FCsc39PRCfAg86lzC3Zja9wVrJYmdYygeH2UuuoJHG2tv2qfHhlTlbzqTGuGkRIz2HaBLK0ZYAu7z2WwN8inI3AkacqYiwcPbYuKQoqqPs2du6rrbPlBIzXYEX1K9NTVbnF13f4aRsPE42A1HuulcEXBBHUH9q8SVTwYHyINEMU2AftpG7O57XuLJYNaVwHAzW7QjKdL6WsutQ8ZLGZh2bRsCJb5CCATNcXtwuhW3kRyqkNu9j8UXBxUyyNZoq15SpUqgniCYnZ8rGUAWVgdM9wzFgQbH4TapW2BYIxykI1yGNgbqR62JvRGvBV/ONi+yE/TNpwB6/wDqibHjIgjBFjbh5m9TKVKqnu1OJREbdDQ3yUQYK3Ku1wIvcgUUSC9vG9ONhu7UjMUBqA2QjIByqBjIbarofz/5otNFao0kOlWsfW6mQCEHixo/EPmK4xOFZ7EISv4uA+vGpm7W6SzYp2a2VGvbzrRTsZSLEC1uFTyMtkDgBuUodK5zS2Tbt8llGJ3ekEImVcyagsNQCOIPSg4LcK0HebASYMdphpCmawYciG01B8KZ2LuKJlDyd2/4Txotmazlcxx2Sp8Bc4hqz+ZgpHWtz9mm3FxOCRRo8IEbDy+A+RX6g1QN7NzosLEGGpc5QLcOZN/Kh+7+1ZMFIJITbkyng46H96py2M4hj+Dr296qEbmuO634xG3Cok6/KqtgPbJh2ULOjxt5Zx8xr9KGbY9qKPcYVSbaZ3FrHwX96zLuGTB4DQfj0+anG1xdSa3lxEImlRwpaSaBNQhshRM9y3ejXKSbrzqLsbDYWbjliRHmGTtjrfsVDAlxa/xc+HA20rWRppC7nMWOpOtGYcIoA7q/IU90CKMNveq/6mMPDXymw6kVjwWFLkDIcjBSjYmyyACFmckm3dDv3RobEa2p1tm4dyCZFTvxqzdrYFLkdmgV7KfThwItQn3dfwr8h+1ee7L+Ff8AaP2qi9tnFFHhEl3zPun8FhIpMVIhbLDHyZ7XN0U5W7TXKzMRdmt4kVxiMFCs2GCuGR5VJzS5wYrRWLAkhe/22hHXTQVwYFIAKiw4CwsP2pDDrYjKuvHQa+fWrQ+nXasdwuR3WTtXdEDs7CrGxd8mURgxpiM4iDE6h8wzBlAJ42uQAL1GbCwRvFHJd3eRY3tiT9nmcm+jWP2eT59ajjCr+FdOGg0v+VeDCp+FenwjhUQfUqA4RL/9PukTCcI00ecSZ8iJ2hcAjJYEMRdXBZuBPC1rGncbh4kwylVjZ5jCnavIGP2sRzPl4xBHLC2nwA8teBCL3sLgWBsL26X6V57qtycq3PE5RrfjyqfMAPx/AvXcJkLdJkU3a2zYYzFGjEvK6x5jOQsZ0BYjM2hIOhPPys7LsqFZUtaSPOM+aYWj+zVsoQs2fMS51LWy8dNRi4RBwRRpb4Rw+VL3JPwJ/tH7VFpIrc7X+fBRPCJarmfdEsDsiBxEcpZTlcRNOAFD9gXuW+IJc6Hj6V4m7eHugRmzukjBu0tGCRxNmuiqbr3RyGa9qGHZ8f4E/wBo/avfcU/An+0ftXFx/wBioDg0n+6e2Vs5Z8O7OuZ7SKGaQKsZCJ2Zycy2ZmzDhbpRDGbDgRsmeQsysbrNorJGWbQk3zFbAMfvfIVJhUbVlUnhqAdK59wj/An+0VznWbsgeX55Kx3Cpi4uEn3UqXZF8VLArNooeNc9jqY+6xb7wQuxU8OWgrjauHijVTE7XvGGZ3zgrKjNmAPDLlv431pr3VLZcq5eNrC168TCINQijyUV7rqrJ2/LUxwybUDzOnvRPHbAw6yGPPNfNlVu1tlIjkcPwu1wi9PiNtLU1g9kYeR5FHaBIpchDShh3XNiQRd1kICW63ND/cI//jT/AGiumwaEAFF04aDSvA6hVlVftEpJJk3+KLDdhMzWZokVGbJ2isyNmk7NgVFijKmYA6C9uejo3aiszF50ChzbtA5YKVAlAVdFsc2U/i1IFAm2fGRbIuvhTjwZrZyXyiy5rd0XvYAaDXU9edQJcT7RXn7XktIqTb4r3Z2H7SFJHD2YyZmSQIEyR5lULYlmcXa/IDoDU7AbLjljSRTOA4cqhlTNIyiQ9iDl0cZFObmHHWh8uERjdlUnqRXj4JDe6jXjpUy9p70rncOyCSRKi826/wBplR5cpKqCzj4ybslwpJYRXbTqKe/9PQrMqMZZLENldxlZTIECEBQb3Ya35UBbBqSSwzk2uWOY6AAcfAAelIYCP8C/KoWempVftmUR4pPulgQRGoNwRoQfukGxU+INx6U/XiRgCwFgK9tXONm0/iaWsDSei//Z"/>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data:image/jpeg;base64,/9j/4AAQSkZJRgABAQAAAQABAAD/2wCEAAkGBhQSERQUEhQVFRUVGBkYGRgXFx4YHBcZGBUcHBcdIBwYHCYgFxwjGRgXHy8gIycpLCwsGB4xNTAqNSYrLCkBCQoKDgwOGg8PGjQkHyI0Mi8yLC0sLCwsNSwsLywsLCkpKSwvLDQsLywsLCwsKi0sLCwsLCwsKSwsLCksLCwsLP/AABEIAJ8BPQMBIgACEQEDEQH/xAAbAAABBQEBAAAAAAAAAAAAAAAFAAMEBgcCAf/EAEEQAAIBAgMFBQUHAwMDBAMAAAECAwARBBIhBQYxQVETImFxgQcUMpGhI0JSscHR8DNicoKS4RVj8RZDU6IXk8L/xAAbAQACAwEBAQAAAAAAAAAAAAAEBQIDBgABB//EADIRAAEEAQIEAwcEAwEBAAAAAAEAAgMRBBIhBRMxQSJRYTJxgZGhsfAUFcHRI1Lh8VP/2gAMAwEAAhEDEQA/AKjjY8vfTuuneUjTUfmKKbL3rGKFnjk7ThdVLA6eGo4VX9o7SMrFU0T8/wCdKgkFRxI8v+KUcgSMp/XstTPlBsuqLp3VwOIvKI8rA6nvKRwHUin2ivVf2NvS8ZCSkvHcak3Kcrg/pV5fZpePOneUW4dDqD4C1L52OiIBCYY+a2QWUAlHSrFuGoOIcn/4zb/cL/Sg+JitUnYm0xh5kdtEvZjbQA6ft8qHlBkic0d0TkN1xOA8lpoSuHWpWCZHF8wsRoQdD8qbxKZTx+VZowvDOZ26evxCyIdvSre8G2YsOt5GtcaAak+lUHYu8cUbtmuFLkqSNACbi/TlQjerbhxGLkP3VZkUf4m1/W1DXcCtdh8PDIvH1KMjnLPZVy3r2icTMTEvG3DgO6B6/wDND8Hst0tcgGhe7218siqwut7eV/0q3SLzFezB0Pg7JxjPZI0Ob22QyTOOFj9PzpqDaAJsdDT+N4UDdvtNK8YwPG6NdK5lG1Yb0qbg+EU5Q52NJg02LSpV47gAkmwGpJ5UtjbFn2gxERMWHBs0xGrdQg5/y/SvdgC5xoDuhsnKjx22/wCSiYnaqK2UXdzwRBmP0qfBsLaEgumFCD/uuFPy0Iq+4DZGE2bCXAWNVF2kbVm/1cdeg+VU7Ge2Bu0vFhwYQdS5IZhflbRT86HjnfOSMaOwO7v4CzUvFciQ+DYenVDsfs/GYZc2Iw32Y4vE2cL5i5IHjXME6uoZTcGtdikDoG5MoNj0YX19DwrJd4dnrhNovGgtFKokVRwUnj5ag+lulRxcoZJLHNpw8uiIweJycwMlNgr2lSpUQtOlelSpVy5KlSpVy5KlelSrlyVKlSrlyVKlSrlyVKlSrlyVKlSrlyVKlSrlyDbqbE95mC3sNbnoOdGt6NzuxW4vbhr+hH81qursrHbOcTBdEN8yEMB5jiNPC1Fd5faY2KgVMove5I8BoAP5xp7tJ4mG/csBrdt28wqb2ViavOx94zBgInR7yLmQpfUqGNtPK1UGSRyb5W+Rq4+z/CB54UYDQlj4lQWH1AqGY0GPU7tv9CrsX2z5UVf9m7GzIsk6AOwvk45dOB6nrUjGRd21hbpajc8elD8VHoaxIyC9+pEMnc4iyqbj9pTQIRC+W2oHFfT8PpVdl3/xSjvG/iDRjeGcAcaquKwAGQq6tmXMQL3Q9D4+VaXDhje23tBRWS3YFnUoEspN/E3+dPpc8adnwIU3HDx61zCmtPNQI2SflOY7S5PxQFXQjmQPPXhV3k7YL/QfT+cBT+xcHHiVw0EUdzG3aSynQZtcqi/prpe1aY+zcoAI5Uh4lkmOjpuuvojIckY9jzWH4nHMWykFfAi1qcwWC1uda03bW7Uc4OZdbceY8QazbFQvhpjG3Lgeo5GqsfLbO2mbFNMfIZI4FynikzAC50FJGuL1zsvZLY/EdghIhjsZ3Hn8A8SR+Z5VwA3LjQHUprk5LceLWfgn9293G2i+d7rhEPkZmHIf29T+vDUkjSKOwCpGg5ABVUcfICusJhVjRUjUKiAKqjkByrPvarvRlAwcbWLANKei/dX14n0pMXycQnETNm/x5n1WLmmfO/W/qVXN7N5G2jPlQkYeM2VfxnmxH5dBbxrjYewPfMSkCD7OMhpmA0AH3Qep4f8AANc7tbvz4vu4dTHENHmYWsOYXqfAfMca1zYOwIsHEIoVsOLE6l26k8/0pvlZUeFHyo+o6D+SrjIyOPls3J6n+AiKrYWHAaD9Kx7e7aIxG1HKG6xKIwRzI+L/AOxPyq1b+79iBWw+GIadrhiNRELa6/j8OXGs72HE5bJBE88nMLwHUluAobhWI5gdkP79L9epUcUN5ge80Aj9KucXs3HQqXlwhyDUlHVyo6kA1xhsUsihlNwf56Gi9O1g2PQ2tfBmQznSx26dpV47gC5IAHEmokGPaUkYeGWcj8Cm3zrg0kX+fNWy5EcIuR1KXXtQ5cc0bBcRFJAx4dotgfWpl64tIXQ5EcwuM2lSqHiNqorZNWf8KDMfpToOIIzDB4nL17M/tXug1Z29+yqkzYIzTnC0/SqLhdpI5K6q44qwsw9DT0+IVBd2AHj/ADWvCxwNUrmzMe3W07JylUBdsBhdI5nHVYyRXeH2rG97GxF7hhlItx0NS5T/ACVbcuB50teLXMu2UDFQGdgbEIpOvyr3DbUDOUZHjYAGzixsfDiKtPs5ZYMLicZMwRJZCwJ/ClwPMkki3O1UTaO2zisbLOqOc5AVVFyFUWH0F/nU4wHyPjDdmjr6+SQ/u0vOrbTf0R+lUBdsoCFcPGT+NSv1qeDVTmOb1WhinjlFscD7kqVKlXiuVr3gIEbX6W+dUOHZyRXKqASb1cNqYkTNlU/CdflQHFRWbyqrDJjZp80kxYm0NQ3Q5iRT2ycWuGxMU/3Q1nHQMLE/WlMtgb0MxRZgVUXvTFo17HoiJmhzSCFuOImUgMDdSAfS2hoFtTa6KpuRWbYbH41IgnaKVUWALG4HS9qGNtWbt0EoIBPG9xw60sj4T4ydQKSxwCKjJfyVkxoDMWbj06CoEhXgRViwe7kkyBr5AeZBJPp+9OzbgG3dm18UsPob1eMiKPwucmzsiJnhtUbGxW8Qa7wGDLAm2lSNtbNkhuki26HkfI86n7LhtGtMDLUdgqprGPkvsjG6m1ThXQX+zYgMOl+BH84Vp74gsBc1jeOOVTRbcPe/FYgFDGCqaGUmw8rW7x8vW1JsvGklYZGGvP1QPEYWamkbErRJqyvf7FI+IUJqVBv5k1cNuYKeVbJPk8MunzBuKzbE4FoZSs2jDUnjfxvzFU8LgaHa9W47KvGiA3tOmZyqRRDNLKcqDz4n0/nCtb3a3fTB4dYk1PF25u5HeP6DwFVD2Y7Ezs+Nccbxwg8lGjN6nT/dWiVVxbJ8XIb23Pv8vghszIMz67DYf2lVYT2d4UzNPMHnd2LHtD3bk9FAuOVjpoKEb8e0F4ZPd8JbtB/UkIuIz+ED8XXpwov7Pd4JcXhC82ro5TMBbPYA36XF7aUM3HyceDng0D86QVXuiG2N4sNgUAldUFu6ijUjhoo5fSs63g9pWIxN48MpgjOhb77Dz+76fOu/aVtJcRjo4V1GHBDH+5jcj009b0IlwpBSKEXmmORfDqfT/nlTfBwomMbLILcd9+g9flvujcbGEjDI800KNu7uy+Mn7GO4UazS/hF+Hix6dfCtN2ntHDbHwypEgLH4EHxSEcWY9L8/QUX3a3eTB4dYk1PF2tq7niT+QHICo22dz8Ji5O0nBZrAf1CAAOQANhQmRnsyJtL75Y8u6Ee7Ub7IXuJvtJjXljmREdAGGS9ipNje54iqbtuFcLtHExiyxm0g5BcwubeAJrSdhbqYXBszwKQzDKSXLaA35nTWs+23s73/AG28IPcGVZCPwxqC/wBdPlV+I+F2Q8ximad/gpwzGGQSN7KTuruqcee2nBXDKe4nAykHUnotxb+E1YN699I9nhcPh40aSwOQd1EXlcDmeQ6cauGHgVFVEAVVAAUcABwFUfaPspE0rytipc8jFicg5nhx4Dh6ChWZUWRNc5pg6Df619V0srpX6n7kolsnFR7X2ee1QDPmQga5HXgyk6jkfmKy7BSysVwqf1Wk7EHpY2J6/wANbFu/sNNn4Xs8xZULOzsLeJPhYD6VkG7e1Au0YsQ/wvM5J6dpcA+Fs16PwC1zpuULYNwPVewSvjJLPJbBu7uxDg4wsSjN96QjvOeZvyHhQzen2gRYKQRZGlksCwUgZByuSDqeNqtVqxnfPBZNqTBuEmV1J6FR+Rv8qV4LG5c5M5va/wA9yhG3W8Nvqpu/W82DxcETwqTiWbu2GV49dQ1vivcW+dHd0/Z8FCz477SW1wjfDH5jgW68h560K9me7KyzSYxl7iNliFtCw4v6fm3hV+3j2bLPh3ihcRs/dLEE2X7wFuZGnqaMy8gQViwuodye19h7lzrYS0Hb6FAE9puG96XDxqxQsE7VbBAxNhYc1vz09a49pu7SS4V5woEsIzZhoWW/eBtx0NwfDxoNs32STRyxM08ZRHVyArXIVrm1xxq0e0Xaaw4Ca/xSDs1HUtx+Qufl1qt3Jjni/SOs3v19P+qsrM9ztlTbSlWKWV/d4FBIvoo5Ko4Ak8+WprXJPd9n4dmCrFFGPujU8gL8WYnTU1R/Y1IFbFRn4vs29BmB+rD51afaJs4zbPmC8VAkt1yG5/8Arc+lWcSkMmWIHGmWOnr3XVXVBf8A8h4DGJJHio2VcpIEgDZh/aRqrdPzqh7FxhzMFv2ZY5A2pC301/nOlgMCkya2POiWD2eE86aNihxw5rb37FP8HBkD2ytOymV7evKQodaZR93N4fd8WhlHdY2N9R09OJoztqIdoxX4SbjyPCqntTCkowtcnQADUk/CB43tR/YG62PWMCV48tvhYF2XTTUEfK5oqflhofYH8+5Z5z+ROL3sKHiEvYeNcLDl050RxGwZ45AXKFLEd0EEG2nhauHw9qqEjSPCbTBkrZBYUNhRLdjZSz4hQ4BWPvkdbHu/W3yqBNHerFuIwEzA8WTTzDA/leoTyFsTi3rShlWIXEeSuYj51y0OlTFjrhlrK6jdlZbWq3vJsgTwujcbEg9DyNVLd/DF41XmDlPgb2NaJikup8qyzZm3FinlUmwMjW0/u/enmA58kTmDtumWJJR9fw/2ie8+BKy9iPiLBdPEcfrerpsjZCQxLHGLKosP1PiSapGIMrz9tc3HDS/Hn52ruTGSk96Rz/qP5Cr543SsDGuodUZJjvla2zuFoDR1QPaNh+0kw8afHI3Zj/UR9LmuY9vTRG4diOhNx9a5wO1xidrYMsLBQxtyz5SRb1AqvFxXwycy7AB+yCnx347C4mxX3Wn7OwCwRJEnwxqFHpz8ydfWgu/G9AwWHJU/bSd2MePNvJfzoztLaUeHjaWVgqLxP6DqT0rFtpbTfaGKM7iyjuxr+FQdPU6k0vwMU5Mplk9kbn1Pl/aWRROleGNQ/sisZY3aSQ2HMs7H/wAmts3Y2N7phIoRqyLc+Lm5b/7aVmex8Mr7Swcb/CCXA6souo+YH8NbFRvGMglrYx0O/wDACJzmiOQRDo0fdYBhJyssnaJI0xdiVCksTfX63rQtxN1phO2LxSZGy5YoydVB4k9CRp11q2bW2vh8KDJO6Rk8zbO3lbvNVd3f9psOJxDxMOyBI7JnNs/UHkpJtYfrXSZc+TETFHQrc/wFQch5jEV7fnVEPaDtRoMBKyaM1kB6ZzYn5XrH4djFgDdvnW8bV2XHiInilW6ONeRHQjoRxqmp7Jkvb3qfs/wgAG3n/wAVDhmZFBEWONG/K/gugfGwkyCwszkwJDBELu50CISTf0rVfZ1uS2DV5Zj9tKAMvHIt72J5te1+lhXsEuC2ajDCQtPLwJiUyMT0aQDKnkPlVa2Z7TJlx98YDHCy5MmUjsgTdWsdWN+JPI+lHTST5kbmQim136n0AVcsjXutooK5e0babwYCRoyVZmVMw+6GOpvy0FqylZcU2oxE/wD+w/vW17SwMONwzISHjkGjIb6jUEHqDVIi9lk4OT3sCLqE79vnb60Hw3JhgiLJNnX3CsgMQJ5oseiok8uJciETTyM5sI8zNmv1F6dwGDWSJkOjLoQeKkf81pSLs7Y41N5WsCT35CCdTp8C8+V/Gud4NzY8bbF4KRVkYfENUl/ytezenmL60w/cW/6lrT0dW1/0rIp2Mk1afD5eikezneQ4iAwyn7bD2Vr/AHl+63y0Pl40I9sGzfs4cQujKxjPirAkfIg/OiG426E+GmlnxBQM6hAqG4sCCST6DShPte2yrCLCobuG7RwPu2UhQfE3Jt5UviDTxEGA2Oprp03Qz61HR0vZXbdbArDgsOii1o1PqwzMfm1ZnvlvJiXx8yRTSRpEQgCNb4eJ8STf6Vf9xdvJicJHlPfjVUkXmpUWv5EC4NDN5fZwJ5mngl7GR9XBXMrG3HjofnzqrHkZBmSHI679R3tcytQ1dO6zyTaWNUXOKnA6lz+9D8TicRL2TYh5XjYt2bSEkEiwNr+P6VpOH9nEMX2uPxHaKutj9nGPPW58ha9E/esBtWJsMjA5PhAGRlyiwZAeI/TiKa/uEbTqYzUB1cB0+itlfHqBjbt6qgbFxhwWKw8/3GPZyf4tpf04/wCmtoeMMCp1DAg+IIsfpWdL7KpSwSTFBoARpkOcgcrnQHlz61e9q7Tjw0DyyEBUXrxNrKB1JNhSniUkc5ZyjbvT6fFe5MjHv1MFbfVYrsxOymli5JIy/I2FGqruyXZ5GkPF3LH1N6sVPMkU4X1Wn4UTyBaVIUqVDJqnvZ5bFTvKw0j0X/I8T8tK0sxjpWZeyCYLJLF1GYeIvrWs+7kqTyFAcVY85Ohg2A2WFlnc+nOO6EYvBhhagEmzUYFSwVxwvwYdL9asmJxSi+tUTfvH3j+zJ7S4C5fiueQtxqjB1OeG9ii4HPAUbG4Yg86grtr3aRJBqVYG34uo9RU7Ym7mIZQcTK2v3Ry82txqJvbukkcYlQsCCAbksCD58D5U6Y6IScp7rTB+X/i2G/ktN2Rvjh3jDZ1F+KsQCD0/5pYreGAnuutvO9YWTbQjMOvA/TlUaV3A7jsPAm9enhIe3lh3h7bdPikpijYdVFatvDvqioyRHM7AjTgt+ZqibPgHbKT1vr1/81WYMe0b3Ot+NH8NiA4upouPBbitIb36lH4UkT9hsfJaCm0gIezRFB5txY6/ShE4p7Y2wMVKgYlUU8CwuxHW3TzqXiNyJTxmP+2w+lK3Sxsdpc8bI1ssUbjuq3jXA0P/AIqv4hGZgUJBXgRoR5EUb2vu5NAbv3k/Ev686WBhWmEcjWt1NNqwj9T4eyGywzzkdvLJIBwDsSB9aM4TChBT9qVUvmLhQ2HojMfCjg9kbodtbAl8rKSrKbgqbEH+Wpv/AK5tC1ve5reevz40VqI2HkxMy4WD42+NuUacyemn5gc6lG+xpcBQ8+yF4hjQEGaRC9ibtzbQnKqzNb+pM5LBR+p42H/Jqz7U9jkgy+7zBhl73a905v7bA6fzWrxFDh9l4M/djjFyfvSMdPVmNvL0qhbI3/xeJ2jAM2WKSQL2QAtkJ1vpcm2t/wAqFbmZOQ5zsegxvn3WTcbuhQQSTF7RwUhw7TyoQLgZswI6qTy8qi47G4ydljaaeZ30VASb+g486u/tfCqcJJ94Mw/02B/U/M1K9me7pscbMO/KLRj8Kcz/AKuA8L9avbmMGMMlzRfu7qxpjEZv2l5s/eOfA4RVbZ0qRwp3mMigXvqx04lj9azvaO1WxeIeaRSzymyoveNuCqPQAelW/wBq28hkkXBw62IMltbv91dONuPmfCrLuTuWmCi7WVc05W7G2Yxi18q+NuNuJ04caY5o8eI5L209/QAm/qq2O0m1QMButtWIZ8PHNCOOUSWP+y4v8qinefaEl0bEygroy/CR8rHrV62BvPjp9oAPE8eGYOArRkZQFupLEfETbnzque0SIx7T+xW7zRpoBxdiRe3XQVfFO6SXlytbZFgjf4FSjLS+39FVzhu/YhpJWNrasxJ/nnRnA7u7Vg7+HiniHEqrcf8ATfX5Vou7u7kOzMM00tjKFLyycT4qp6X08TQHdHfnE4zaOTQQEO2QKO6oHdNwL3vb51F2a+XXyWgtb1J6H0C9lkDtmigqqd8doyAo2IdSNGAUKw5HUAEUMwGFeSQiKOSeTicoLH1Ovz+tXbfbdhsRtVI4e6Zog0p5ABiGY+gA8TarTtPEwbIwR7JByCrwMj24seJ5k9BpXn62NjGcpg1P6AbfNeskDAC0b+f9LLMfsnF4Y9sYJ8Pb/wBxSdOl7cPW1O/+rMeEv73Jl66cPO160PcDbsm0MPP7yFYZ8migAqy3IIGmn61n25OxlxOOEMmsUZd8v4sp0HlqPS9Wxzh3MbO0XH8RR37rhK1xJkF/TdD0weLxnfyYnE68bMw9OVNy4JonUSJLh5B8JYFdeWunz+tbRvXt9dn4XOsYbVURB3VBINuHAAA6Cs33j9obYvCmCXDqsjMuVgbgC9za9yrcr35mvMXMmyN2R0y667/Jcx5b2sLmHfPaUQyiYOBwLoGPzIuaGbQxmJxbA4iRntwXgo8gNKnbIF0AOtgONT1jA5Cpl0cTyWsF+dLQQ8LjeA/6KJs7BZBc8am0qVDucXGynkcbY26WpUqVKoqaoWw9vSYaZZYzqtxbqCNRVjxG/WIkNzI3ly+lVJRb9qmRNpWjlhje7URv5r51BI5opWGPelzxLXq4bnYDth7w4ubkJf6n+dKzAPZgen5Vum6mEy4SEAfcB+ev60i4ppx4rYKJ2TJmQSw2nxhxVU9oc4TCPfnwq9yJlFzWOe0LbPvU6wRaop48i37DrSfhjHTTjyG5VfMJBI/CVX9k7cFxmsSOFxcH0ortfEwygFIxE/PKe6b/ANp+E/SoH/Q0RbEXPU8f+KhT4dl+EnyOtbEaHG2qwxSxs/yi/uuJIxfWiO7+CHaoSe6XUHxGYXoXDIS1nAo0Z0QBeB6CulLg2gvMZjHO1nYBb7hMunSpGMgUfCb1ju7vtEaKQLMbobC/0rUsJtFJVDKwIPQ1i8nGfitcx7bvo5DSwkO1NNhM4vBKwII0rK9vYH3bEFR8Ld4DprwrTtp7ciiBzOunK+vyrKt5Nr+9YjMo7o0FX8KbJqNjwphiF7d1Nie4BrumcItlFPUe4UVqmG2glRNpY3s0uNWJso6sa0LcXdb3SDNILzy96RunML6c/G/hVU3E2R71i2xDi8WHOWMcmk439OP+2tD2ttmLCx9pM2VLhb8dWP8A5J8AaX8QmIAxoxZPX+AslxLKM0ukey3791mHtS2/2uKGGzWihsWH4nI187AgfPrRH2YbsMXOMlUqLWhB530L/K4B53PSrh/0rAYlxiMkErG3fuDe3C4vYnzFDN8t/osJEUhdXnIsqqQQn9zW0FuQ8BUm5L3QjFgYQ7oT90sDtqQjb2C/6ntRYR/Qwo+0PU3uwHiTZfRjVt3o20MFhHlAF1AWNeWY6KPIcfSgXsnCHBs4IMjyMZNbsLfDfnwN7+Jq0bV2hBEl8Q8aqNe/Y6/4nUnyFDZR0ytgq2s2od/P5qI6LNfZZsAzzvjJu9kY5Sdc0p1J/wBIPzYdKsG/2/EuEljhw4QuVLNmF7C9l5joT8qL7u76YXFM8cJClTZVIClxb4lHnfTjUTe3cBcbKswlaJwuU93MCAdOYsdfGr3zB+YHZTaaBsD09FwruqS/tWx4Goht/jx+tGtxYJsdizj8SgARckdhYFgLXH+IJ16t4Vyd3Nl4A58VN28g1yMQ1yP+2v8A/RtUzY/tOR8SEkj7DDsto2bSxHU8FUjS3AdaMlLXRu/SRdvaqtvTzUnAH2RsvPa5tQrBFh1P9Zrt/ivD5t+VZumAZAXR3XTUqbaenKtc333OOOEbxuqSR3tm+FlbXlw1/Oq7D7O8gD7QxKLEv3EOUG3ViB9AT0tXnDsqGLHDCaO9it/kronRtB1iz2RP2U7MYYdsRISzzHKCxzWjQkAa8Ltf5Co293tEeHEvBFDFKIwLmQX7xFzbw1A9KsW7u9WDmJgw7KvZ2VVtlDKBxQHiPrQDej2ayzYl58PIi9pqyuDo1tSLA3HOhGOjfmOflNoHoDfw6eioFXv0QGT2sYhUYDDwoDcd241ItewPEVX90Nqe7YuCc/CWKufB9D8r39KueD3LwmEkR9oYlJJCRljOi38RxK3trYDrTG1fZPKXb3aWPsXNwHvdB5gG48RxFNWT4bLa0UHd6NHtSnbLNdFct99ke84GZBqwGdf8k1t6i49aybZMKyxi/GtU3h2yuz8DZ3zSCMRoD8Ttky3txtzrKN3zlsCQL+PWheGBwhfXs3sfv/CO4af81EbI3DCFFhTlKlVpJPVbIAAUEqVKlXi9SpClSrlyoGTXWvWitrV8n3Bkws95IDiYuI7JrEjlpxHiPlQXbuzM8x7OFoIxplc3anzMqN/suCwDIS/ZgtAtnxktbjca+VaPu7v02GiWOVDIq6KQbEDkNRraqrhcAE0qRLDewGp0Fut6CyxHkDS8WE7gwA2OpFP3j9pkmIkWEDsIWIDNfMxW+vDQC3IUJwCKcZMFuVjzKjdRmtceY/Orxs7c6KJQWUNLbVjrY9ADwt1qBiMEI5QSO7ex8qEiyYGAxwtr1Q+NAOZerYG6VfxQ1tahmLWwq2be2T2UhynMrC6kcwarGOioqB1ppIQ+PU1ApY7sCOXOuwb8vX+casmK2MkWz0mJvJM7AD+xdD63/SqzNPlFMmnUs3JTSU1O3dIrTPZ5u1LHGJJ3ezC6xZjlAPNhzJ6cBVF3PwYxGMiVhdQcxHXLwHztW8wwWFJuM5RhYIh1KjFueZ8EPxuyYpRZ41I8uHrxrO9u7IGFnyjVG1W/LqPGtVyVn/tHIzwjnZj6XFJuHTO5oZexTHHkOpQo2uAa8mNlNuNj+VM4A9ypBFMnCnUtSw6mAqx+zLakEezwGljRlZy4ZgpBvxsTr3ctVLfbef8A6hOEiJ7CI93+9ubft4edC8Vu8CxIFdnZZHZRLo0zrHfoCdT8qujx4ROcgG3Hp6LKHh74yXSeyEzszdiTEuVg0VfjlZrRp5nmfAXq0YDdrBYbUqcXJ1fuxg+CjVvWjWMw6xgYeIZYotAB94j4nPViedQhh6pflul6Gh9fiVZDiMf/AJH/ACCEY/ZMckhdQYSeIhJQfLlTEe70QN2DOertmo97vSMF68GQ4CgUaIIAb0hAdqYCHLmksmXgy90+AFuPlVVxO2XY2SSYqPxyH8hwqTvPjDJMRfuobKPLifMmg6HUdKc48PgDn7lJM2ZsklNbVd+6NbM2hEhGaEX/ABXzH5NVlbDpMnAMp4f+eRqoYWEyEKgJJ5D+aVcNi7JMS95r+A4CqMoNb4gd0VhzkDS4eH3LjD4TERDLDi5405KGJA8taafY2c5p5JJm/wC4xI+VHgg6U1MoAJtw/mlLxMbsdfOhfzRTY8bVelCJ9jRva6gW4Fe6R6ivUwUwFlxeIC/hzn96LRxAgEV37vXGc9D/AGinwQP3LQhi7uYWRMsnbLJf+tnz3PihGo8taG7QweNwKjs8TIcOTZZInOUdAwveM+fperKMNT+H7txYMrCzKdQ45gjmK8bkOB33Hkf4QU2BGd49j9FQVwckrZ5HaRj95iT+dFI9k2tr5/znXeKgGFxbwqSYyFeO/EK4uB42vaiFFSzGhp6I3h8EL2WBv3SFKlSoNOxslSpUq5clSpUq5cok3tPl917Jl+1Gmf8At8f7uV6a3W2kMUOzc/ag92/3x68xVJVzc3505DPka4up4gg21/SnZwImtIYKJ3tYGHMex+odPJaJjtluhsykelO7u4QHFRX4ZgfkCR9RVZX2gYjIFktIF4E6H5iiGy9uykpL2YWzAgXJvY/Sl8mPK1ptP4sxs7SwdVq2LhoFtPB3BvVkWRZY0kQ3VhfTl4UOx2H0NZeJzo3aT1SyCQtNHsqHjscUAV9VHDqKDSTpJfJf1olvYRHqdKB7FiZgSNQDqelanHaDHzE359vDB3UTakkgAUAsNbW148f54UJOzZm+4fUgVeY9kMdbG3W1e+6WvYUU3MDRQQ0vDWTOsu28ggu4OHaLGp2ilc2gPLiK3lE09KxPF4kqOjAggjiCD+dWrZntScIA8Idx94NYH0txpRxOCXLIe0eiEmw+WAyM2r/iWCqWYgAC5J5Csd3l2t71iWZfgHdXyH78albwb14jF902RPwrz8zzqFgcBbU1DCxP01yPO6IxMR97qZhUsop6lSq0mza0rW6QAlUXHxNZXT44mWRfNTe3rUqlXrSWm15JGJGlh6FWnB4qPHJ28PH/AN2P70b218x4157rVHlw8kcgmw7tHIOa/kRzHgaPYH2kcFxsF/8AuxfmV/Y0O/GcN4dx5dx7vNZqRkuL4XCx5o0cNXPu1SsBtjB4j+jiEufuscrfJrUSOym6AigXSFmzhR9VWMpp7rDttbPaOZ1I1DH5E6VE92NtR9K17eDc3tiHW6yLwIHHpf8Aeq5t3Y+KlRUcIMumZUsSL87aVocfiLHtaLHqgHtFkoXuZEuR20zFrE+AAI9Nf5pVmqv4Lc+dBeMtm434XqZiNolITnEyTqbEFbq1uhA08vHjVU5bK+2OtWxSBraRTN/P5woLtXbC5hHGQznQnkg5+v7UAmx2KnNu/Y9BlHzozu3unITexJPTgP3qXIZCNcjvgudPZpqsGxMPeMUR92otg9iMqhQvCucYYYBeeaKP/Jhf5XvSR84e86foixktaACUMGGpz3VVQySsEiTVnPAeA6noKFbS9oOGj0w8bYhvxN3Ix89W+VU/a+2MRjHBma4B7sa6IvkOfmdaMhxJZN3eEevX5KJyHybRj4r3ae1PesW8ygqpsqDmEUWF/E8fWjSDQUO2ds3LqeNEqNmc3ZregTvh+OYWb90qVKlQ6ZJUqiPtSMFgWtk46HTW3rqakSzqouxAHU6cakWOHZQEjTdHou6VcxyBhdSCDzFdVFTBB3CoWGwbMmYDQaXqNMup8Ksu621RCHWSBZY5OINwR4qw4HXpyoVtSPUlRzNuNaXX4qXzzkEs1Umtl4UPIinh8R9OH1q3Wyiqfsl2WYFgQCCLkGrUcTcUHlglw8k84TpEZ87RrYu8r4bRe8h1KHgfEHkaK432jwhf6Uma3C62+d6p+fWhG1nI1FLv0UUz7cETmRR6TJW6Z3j2tJipSzWCj4VHAfufGpW7m8IwylHBKk3uBfWwuCPShakWriSnBhZy+VWyz7JHMfzAd1d8X7QInWzOxHIZTYelEN2wccCygrEhy5iLZjzA/U+IrLXQXrfNy8CseAwyqBrGrHxLd4n5mlHEmMxIdTepNImPPlJqgB6Bd4fYMSiwjTzKgn5mm8fu/DICCig9VFiPlRz3emJo6zAneTdlSEzibtZhjMOcPMY316HqOtPqaIe0GEBY355iPQigmzsSCLX1HKtBGTLEJE/w8i6Du6mUqRriOUN8JB8q8pM9Qul0T1rlJlPAg+vyrjGf03/xb8qK4zbGFkeQuoYRxlY2k1EhLXcKcpKgaZRa/wAViONSDbF0T7kuzcx2OW02wUPvUfERoSA1gTw8aJh8Aixr9jJfs0diuuUnvtogswBOup4XJPCPiZ8OscqwtFeRQ1lUg5RJCVjuV0k7rnLXrBZ2B+SXni5dty/z5IJLseN75SptxpuGWaA2ixMkZHJZD+RNqsUc+GeCFZTDmWNUFw2dHPaXzm1hGMy+TWNeY3aEOTJE8KqIcRGAVtdmyd4ZlvlkCtlPM0SHm9JBPvGyXzZUbxvEoEO+O0Y9O3z/AOaK36VMT2lY4DvJA3mpH5GutpvhO8uHjgYnIikgsQpWS7aWs69y5JJva9MYOPD3gMrwKFztIHW7tIpfRiQVEZXs8osbkaDQ1SWQuFujHy3+iqLWaNYYQLrqpS+1TFDjh4D5Fh+tMze0uVxc4TDnqSzHl4GnWfAZ3VRhhkv2ZbNlYlZf6hGpQWj05ErzNN7x4aCSOeeLs2uVjUqDq+YHS4sR2QK9RlNxUWw44eByq9d/T1VALHECior78z3NsJhUI6o1wfJjXDb9Y86I8cY/siA/MVK2viMMQ3ZLE0mVHVlJLM/aZWW99R2evyNcSw4YHCqro4tadl0BHcKl7AFRmZgTxtm16XBkW3+Pr57/AHVrGx14ge6GT7Vxsos+JmIPINlHyW1RY9iEm5GvU6/nR5ThzkjK4XM6y55UzKkctmEWpNlS9tTpwI0tUvNgC5VewFhdWLsAz55FCsc39PRCfAg86lzC3Zja9wVrJYmdYygeH2UuuoJHG2tv2qfHhlTlbzqTGuGkRIz2HaBLK0ZYAu7z2WwN8inI3AkacqYiwcPbYuKQoqqPs2du6rrbPlBIzXYEX1K9NTVbnF13f4aRsPE42A1HuulcEXBBHUH9q8SVTwYHyINEMU2AftpG7O57XuLJYNaVwHAzW7QjKdL6WsutQ8ZLGZh2bRsCJb5CCATNcXtwuhW3kRyqkNu9j8UXBxUyyNZoq15SpUqgniCYnZ8rGUAWVgdM9wzFgQbH4TapW2BYIxykI1yGNgbqR62JvRGvBV/ONi+yE/TNpwB6/wDqibHjIgjBFjbh5m9TKVKqnu1OJREbdDQ3yUQYK3Ku1wIvcgUUSC9vG9ONhu7UjMUBqA2QjIByqBjIbarofz/5otNFao0kOlWsfW6mQCEHixo/EPmK4xOFZ7EISv4uA+vGpm7W6SzYp2a2VGvbzrRTsZSLEC1uFTyMtkDgBuUodK5zS2Tbt8llGJ3ekEImVcyagsNQCOIPSg4LcK0HebASYMdphpCmawYciG01B8KZ2LuKJlDyd2/4Txotmazlcxx2Sp8Bc4hqz+ZgpHWtz9mm3FxOCRRo8IEbDy+A+RX6g1QN7NzosLEGGpc5QLcOZN/Kh+7+1ZMFIJITbkyng46H96py2M4hj+Dr296qEbmuO634xG3Cok6/KqtgPbJh2ULOjxt5Zx8xr9KGbY9qKPcYVSbaZ3FrHwX96zLuGTB4DQfj0+anG1xdSa3lxEImlRwpaSaBNQhshRM9y3ejXKSbrzqLsbDYWbjliRHmGTtjrfsVDAlxa/xc+HA20rWRppC7nMWOpOtGYcIoA7q/IU90CKMNveq/6mMPDXymw6kVjwWFLkDIcjBSjYmyyACFmckm3dDv3RobEa2p1tm4dyCZFTvxqzdrYFLkdmgV7KfThwItQn3dfwr8h+1ee7L+Ff8AaP2qi9tnFFHhEl3zPun8FhIpMVIhbLDHyZ7XN0U5W7TXKzMRdmt4kVxiMFCs2GCuGR5VJzS5wYrRWLAkhe/22hHXTQVwYFIAKiw4CwsP2pDDrYjKuvHQa+fWrQ+nXasdwuR3WTtXdEDs7CrGxd8mURgxpiM4iDE6h8wzBlAJ42uQAL1GbCwRvFHJd3eRY3tiT9nmcm+jWP2eT59ajjCr+FdOGg0v+VeDCp+FenwjhUQfUqA4RL/9PukTCcI00ecSZ8iJ2hcAjJYEMRdXBZuBPC1rGncbh4kwylVjZ5jCnavIGP2sRzPl4xBHLC2nwA8teBCL3sLgWBsL26X6V57qtycq3PE5RrfjyqfMAPx/AvXcJkLdJkU3a2zYYzFGjEvK6x5jOQsZ0BYjM2hIOhPPys7LsqFZUtaSPOM+aYWj+zVsoQs2fMS51LWy8dNRi4RBwRRpb4Rw+VL3JPwJ/tH7VFpIrc7X+fBRPCJarmfdEsDsiBxEcpZTlcRNOAFD9gXuW+IJc6Hj6V4m7eHugRmzukjBu0tGCRxNmuiqbr3RyGa9qGHZ8f4E/wBo/avfcU/An+0ftXFx/wBioDg0n+6e2Vs5Z8O7OuZ7SKGaQKsZCJ2Zycy2ZmzDhbpRDGbDgRsmeQsysbrNorJGWbQk3zFbAMfvfIVJhUbVlUnhqAdK59wj/An+0VznWbsgeX55Kx3Cpi4uEn3UqXZF8VLArNooeNc9jqY+6xb7wQuxU8OWgrjauHijVTE7XvGGZ3zgrKjNmAPDLlv431pr3VLZcq5eNrC168TCINQijyUV7rqrJ2/LUxwybUDzOnvRPHbAw6yGPPNfNlVu1tlIjkcPwu1wi9PiNtLU1g9kYeR5FHaBIpchDShh3XNiQRd1kICW63ND/cI//jT/AGiumwaEAFF04aDSvA6hVlVftEpJJk3+KLDdhMzWZokVGbJ2isyNmk7NgVFijKmYA6C9uejo3aiszF50ChzbtA5YKVAlAVdFsc2U/i1IFAm2fGRbIuvhTjwZrZyXyiy5rd0XvYAaDXU9edQJcT7RXn7XktIqTb4r3Z2H7SFJHD2YyZmSQIEyR5lULYlmcXa/IDoDU7AbLjljSRTOA4cqhlTNIyiQ9iDl0cZFObmHHWh8uERjdlUnqRXj4JDe6jXjpUy9p70rncOyCSRKi826/wBplR5cpKqCzj4ybslwpJYRXbTqKe/9PQrMqMZZLENldxlZTIECEBQb3Ya35UBbBqSSwzk2uWOY6AAcfAAelIYCP8C/KoWempVftmUR4pPulgQRGoNwRoQfukGxU+INx6U/XiRgCwFgK9tXONm0/iaWsDSei//Z"/>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8" descr="data:image/jpeg;base64,/9j/4AAQSkZJRgABAQAAAQABAAD/2wCEAAkGBhQSERQUEhQVFRUVGBkYGRgXFx4YHBcZGBUcHBcdIBwYHCYgFxwjGRgXHy8gIycpLCwsGB4xNTAqNSYrLCkBCQoKDgwOGg8PGjQkHyI0Mi8yLC0sLCwsNSwsLywsLCkpKSwvLDQsLywsLCwsKi0sLCwsLCwsKSwsLCksLCwsLP/AABEIAJ8BPQMBIgACEQEDEQH/xAAbAAABBQEBAAAAAAAAAAAAAAAFAAMEBgcCAf/EAEEQAAIBAgMFBQUHAwMDBAMAAAECAwARBBIhBQYxQVETImFxgQcUMpGhI0JSscHR8DNicoKS4RVj8RZDU6IXk8L/xAAbAQACAwEBAQAAAAAAAAAAAAAEBQIDBgABB//EADIRAAEEAQIEAwcEAwEBAAAAAAEAAgMRBBIhBRMxQSJRYTJxgZGhsfAUFcHRI1Lh8VP/2gAMAwEAAhEDEQA/AKjjY8vfTuuneUjTUfmKKbL3rGKFnjk7ThdVLA6eGo4VX9o7SMrFU0T8/wCdKgkFRxI8v+KUcgSMp/XstTPlBsuqLp3VwOIvKI8rA6nvKRwHUin2ivVf2NvS8ZCSkvHcak3Kcrg/pV5fZpePOneUW4dDqD4C1L52OiIBCYY+a2QWUAlHSrFuGoOIcn/4zb/cL/Sg+JitUnYm0xh5kdtEvZjbQA6ft8qHlBkic0d0TkN1xOA8lpoSuHWpWCZHF8wsRoQdD8qbxKZTx+VZowvDOZ26evxCyIdvSre8G2YsOt5GtcaAak+lUHYu8cUbtmuFLkqSNACbi/TlQjerbhxGLkP3VZkUf4m1/W1DXcCtdh8PDIvH1KMjnLPZVy3r2icTMTEvG3DgO6B6/wDND8Hst0tcgGhe7218siqwut7eV/0q3SLzFezB0Pg7JxjPZI0Ob22QyTOOFj9PzpqDaAJsdDT+N4UDdvtNK8YwPG6NdK5lG1Yb0qbg+EU5Q52NJg02LSpV47gAkmwGpJ5UtjbFn2gxERMWHBs0xGrdQg5/y/SvdgC5xoDuhsnKjx22/wCSiYnaqK2UXdzwRBmP0qfBsLaEgumFCD/uuFPy0Iq+4DZGE2bCXAWNVF2kbVm/1cdeg+VU7Ge2Bu0vFhwYQdS5IZhflbRT86HjnfOSMaOwO7v4CzUvFciQ+DYenVDsfs/GYZc2Iw32Y4vE2cL5i5IHjXME6uoZTcGtdikDoG5MoNj0YX19DwrJd4dnrhNovGgtFKokVRwUnj5ag+lulRxcoZJLHNpw8uiIweJycwMlNgr2lSpUQtOlelSpVy5KlSpVy5KlelSrlyVKlSrlyVKlSrlyVKlSrlyVKlSrlyVKlSrlyDbqbE95mC3sNbnoOdGt6NzuxW4vbhr+hH81qursrHbOcTBdEN8yEMB5jiNPC1Fd5faY2KgVMove5I8BoAP5xp7tJ4mG/csBrdt28wqb2ViavOx94zBgInR7yLmQpfUqGNtPK1UGSRyb5W+Rq4+z/CB54UYDQlj4lQWH1AqGY0GPU7tv9CrsX2z5UVf9m7GzIsk6AOwvk45dOB6nrUjGRd21hbpajc8elD8VHoaxIyC9+pEMnc4iyqbj9pTQIRC+W2oHFfT8PpVdl3/xSjvG/iDRjeGcAcaquKwAGQq6tmXMQL3Q9D4+VaXDhje23tBRWS3YFnUoEspN/E3+dPpc8adnwIU3HDx61zCmtPNQI2SflOY7S5PxQFXQjmQPPXhV3k7YL/QfT+cBT+xcHHiVw0EUdzG3aSynQZtcqi/prpe1aY+zcoAI5Uh4lkmOjpuuvojIckY9jzWH4nHMWykFfAi1qcwWC1uda03bW7Uc4OZdbceY8QazbFQvhpjG3Lgeo5GqsfLbO2mbFNMfIZI4FynikzAC50FJGuL1zsvZLY/EdghIhjsZ3Hn8A8SR+Z5VwA3LjQHUprk5LceLWfgn9293G2i+d7rhEPkZmHIf29T+vDUkjSKOwCpGg5ABVUcfICusJhVjRUjUKiAKqjkByrPvarvRlAwcbWLANKei/dX14n0pMXycQnETNm/x5n1WLmmfO/W/qVXN7N5G2jPlQkYeM2VfxnmxH5dBbxrjYewPfMSkCD7OMhpmA0AH3Qep4f8AANc7tbvz4vu4dTHENHmYWsOYXqfAfMca1zYOwIsHEIoVsOLE6l26k8/0pvlZUeFHyo+o6D+SrjIyOPls3J6n+AiKrYWHAaD9Kx7e7aIxG1HKG6xKIwRzI+L/AOxPyq1b+79iBWw+GIadrhiNRELa6/j8OXGs72HE5bJBE88nMLwHUluAobhWI5gdkP79L9epUcUN5ge80Aj9KucXs3HQqXlwhyDUlHVyo6kA1xhsUsihlNwf56Gi9O1g2PQ2tfBmQznSx26dpV47gC5IAHEmokGPaUkYeGWcj8Cm3zrg0kX+fNWy5EcIuR1KXXtQ5cc0bBcRFJAx4dotgfWpl64tIXQ5EcwuM2lSqHiNqorZNWf8KDMfpToOIIzDB4nL17M/tXug1Z29+yqkzYIzTnC0/SqLhdpI5K6q44qwsw9DT0+IVBd2AHj/ADWvCxwNUrmzMe3W07JylUBdsBhdI5nHVYyRXeH2rG97GxF7hhlItx0NS5T/ACVbcuB50teLXMu2UDFQGdgbEIpOvyr3DbUDOUZHjYAGzixsfDiKtPs5ZYMLicZMwRJZCwJ/ClwPMkki3O1UTaO2zisbLOqOc5AVVFyFUWH0F/nU4wHyPjDdmjr6+SQ/u0vOrbTf0R+lUBdsoCFcPGT+NSv1qeDVTmOb1WhinjlFscD7kqVKlXiuVr3gIEbX6W+dUOHZyRXKqASb1cNqYkTNlU/CdflQHFRWbyqrDJjZp80kxYm0NQ3Q5iRT2ycWuGxMU/3Q1nHQMLE/WlMtgb0MxRZgVUXvTFo17HoiJmhzSCFuOImUgMDdSAfS2hoFtTa6KpuRWbYbH41IgnaKVUWALG4HS9qGNtWbt0EoIBPG9xw60sj4T4ydQKSxwCKjJfyVkxoDMWbj06CoEhXgRViwe7kkyBr5AeZBJPp+9OzbgG3dm18UsPob1eMiKPwucmzsiJnhtUbGxW8Qa7wGDLAm2lSNtbNkhuki26HkfI86n7LhtGtMDLUdgqprGPkvsjG6m1ThXQX+zYgMOl+BH84Vp74gsBc1jeOOVTRbcPe/FYgFDGCqaGUmw8rW7x8vW1JsvGklYZGGvP1QPEYWamkbErRJqyvf7FI+IUJqVBv5k1cNuYKeVbJPk8MunzBuKzbE4FoZSs2jDUnjfxvzFU8LgaHa9W47KvGiA3tOmZyqRRDNLKcqDz4n0/nCtb3a3fTB4dYk1PF25u5HeP6DwFVD2Y7Ezs+Nccbxwg8lGjN6nT/dWiVVxbJ8XIb23Pv8vghszIMz67DYf2lVYT2d4UzNPMHnd2LHtD3bk9FAuOVjpoKEb8e0F4ZPd8JbtB/UkIuIz+ED8XXpwov7Pd4JcXhC82ro5TMBbPYA36XF7aUM3HyceDng0D86QVXuiG2N4sNgUAldUFu6ijUjhoo5fSs63g9pWIxN48MpgjOhb77Dz+76fOu/aVtJcRjo4V1GHBDH+5jcj009b0IlwpBSKEXmmORfDqfT/nlTfBwomMbLILcd9+g9flvujcbGEjDI800KNu7uy+Mn7GO4UazS/hF+Hix6dfCtN2ntHDbHwypEgLH4EHxSEcWY9L8/QUX3a3eTB4dYk1PF2tq7niT+QHICo22dz8Ji5O0nBZrAf1CAAOQANhQmRnsyJtL75Y8u6Ee7Ub7IXuJvtJjXljmREdAGGS9ipNje54iqbtuFcLtHExiyxm0g5BcwubeAJrSdhbqYXBszwKQzDKSXLaA35nTWs+23s73/AG28IPcGVZCPwxqC/wBdPlV+I+F2Q8ximad/gpwzGGQSN7KTuruqcee2nBXDKe4nAykHUnotxb+E1YN699I9nhcPh40aSwOQd1EXlcDmeQ6cauGHgVFVEAVVAAUcABwFUfaPspE0rytipc8jFicg5nhx4Dh6ChWZUWRNc5pg6Df619V0srpX6n7kolsnFR7X2ee1QDPmQga5HXgyk6jkfmKy7BSysVwqf1Wk7EHpY2J6/wANbFu/sNNn4Xs8xZULOzsLeJPhYD6VkG7e1Au0YsQ/wvM5J6dpcA+Fs16PwC1zpuULYNwPVewSvjJLPJbBu7uxDg4wsSjN96QjvOeZvyHhQzen2gRYKQRZGlksCwUgZByuSDqeNqtVqxnfPBZNqTBuEmV1J6FR+Rv8qV4LG5c5M5va/wA9yhG3W8Nvqpu/W82DxcETwqTiWbu2GV49dQ1vivcW+dHd0/Z8FCz477SW1wjfDH5jgW68h560K9me7KyzSYxl7iNliFtCw4v6fm3hV+3j2bLPh3ihcRs/dLEE2X7wFuZGnqaMy8gQViwuodye19h7lzrYS0Hb6FAE9puG96XDxqxQsE7VbBAxNhYc1vz09a49pu7SS4V5woEsIzZhoWW/eBtx0NwfDxoNs32STRyxM08ZRHVyArXIVrm1xxq0e0Xaaw4Ca/xSDs1HUtx+Qufl1qt3Jjni/SOs3v19P+qsrM9ztlTbSlWKWV/d4FBIvoo5Ko4Ak8+WprXJPd9n4dmCrFFGPujU8gL8WYnTU1R/Y1IFbFRn4vs29BmB+rD51afaJs4zbPmC8VAkt1yG5/8Arc+lWcSkMmWIHGmWOnr3XVXVBf8A8h4DGJJHio2VcpIEgDZh/aRqrdPzqh7FxhzMFv2ZY5A2pC301/nOlgMCkya2POiWD2eE86aNihxw5rb37FP8HBkD2ytOymV7evKQodaZR93N4fd8WhlHdY2N9R09OJoztqIdoxX4SbjyPCqntTCkowtcnQADUk/CB43tR/YG62PWMCV48tvhYF2XTTUEfK5oqflhofYH8+5Z5z+ROL3sKHiEvYeNcLDl050RxGwZ45AXKFLEd0EEG2nhauHw9qqEjSPCbTBkrZBYUNhRLdjZSz4hQ4BWPvkdbHu/W3yqBNHerFuIwEzA8WTTzDA/leoTyFsTi3rShlWIXEeSuYj51y0OlTFjrhlrK6jdlZbWq3vJsgTwujcbEg9DyNVLd/DF41XmDlPgb2NaJikup8qyzZm3FinlUmwMjW0/u/enmA58kTmDtumWJJR9fw/2ie8+BKy9iPiLBdPEcfrerpsjZCQxLHGLKosP1PiSapGIMrz9tc3HDS/Hn52ruTGSk96Rz/qP5Cr543SsDGuodUZJjvla2zuFoDR1QPaNh+0kw8afHI3Zj/UR9LmuY9vTRG4diOhNx9a5wO1xidrYMsLBQxtyz5SRb1AqvFxXwycy7AB+yCnx347C4mxX3Wn7OwCwRJEnwxqFHpz8ydfWgu/G9AwWHJU/bSd2MePNvJfzoztLaUeHjaWVgqLxP6DqT0rFtpbTfaGKM7iyjuxr+FQdPU6k0vwMU5Mplk9kbn1Pl/aWRROleGNQ/sisZY3aSQ2HMs7H/wAmts3Y2N7phIoRqyLc+Lm5b/7aVmex8Mr7Swcb/CCXA6souo+YH8NbFRvGMglrYx0O/wDACJzmiOQRDo0fdYBhJyssnaJI0xdiVCksTfX63rQtxN1phO2LxSZGy5YoydVB4k9CRp11q2bW2vh8KDJO6Rk8zbO3lbvNVd3f9psOJxDxMOyBI7JnNs/UHkpJtYfrXSZc+TETFHQrc/wFQch5jEV7fnVEPaDtRoMBKyaM1kB6ZzYn5XrH4djFgDdvnW8bV2XHiInilW6ONeRHQjoRxqmp7Jkvb3qfs/wgAG3n/wAVDhmZFBEWONG/K/gugfGwkyCwszkwJDBELu50CISTf0rVfZ1uS2DV5Zj9tKAMvHIt72J5te1+lhXsEuC2ajDCQtPLwJiUyMT0aQDKnkPlVa2Z7TJlx98YDHCy5MmUjsgTdWsdWN+JPI+lHTST5kbmQim136n0AVcsjXutooK5e0babwYCRoyVZmVMw+6GOpvy0FqylZcU2oxE/wD+w/vW17SwMONwzISHjkGjIb6jUEHqDVIi9lk4OT3sCLqE79vnb60Hw3JhgiLJNnX3CsgMQJ5oseiok8uJciETTyM5sI8zNmv1F6dwGDWSJkOjLoQeKkf81pSLs7Y41N5WsCT35CCdTp8C8+V/Gud4NzY8bbF4KRVkYfENUl/ytezenmL60w/cW/6lrT0dW1/0rIp2Mk1afD5eikezneQ4iAwyn7bD2Vr/AHl+63y0Pl40I9sGzfs4cQujKxjPirAkfIg/OiG426E+GmlnxBQM6hAqG4sCCST6DShPte2yrCLCobuG7RwPu2UhQfE3Jt5UviDTxEGA2Oprp03Qz61HR0vZXbdbArDgsOii1o1PqwzMfm1ZnvlvJiXx8yRTSRpEQgCNb4eJ8STf6Vf9xdvJicJHlPfjVUkXmpUWv5EC4NDN5fZwJ5mngl7GR9XBXMrG3HjofnzqrHkZBmSHI679R3tcytQ1dO6zyTaWNUXOKnA6lz+9D8TicRL2TYh5XjYt2bSEkEiwNr+P6VpOH9nEMX2uPxHaKutj9nGPPW58ha9E/esBtWJsMjA5PhAGRlyiwZAeI/TiKa/uEbTqYzUB1cB0+itlfHqBjbt6qgbFxhwWKw8/3GPZyf4tpf04/wCmtoeMMCp1DAg+IIsfpWdL7KpSwSTFBoARpkOcgcrnQHlz61e9q7Tjw0DyyEBUXrxNrKB1JNhSniUkc5ZyjbvT6fFe5MjHv1MFbfVYrsxOymli5JIy/I2FGqruyXZ5GkPF3LH1N6sVPMkU4X1Wn4UTyBaVIUqVDJqnvZ5bFTvKw0j0X/I8T8tK0sxjpWZeyCYLJLF1GYeIvrWs+7kqTyFAcVY85Ohg2A2WFlnc+nOO6EYvBhhagEmzUYFSwVxwvwYdL9asmJxSi+tUTfvH3j+zJ7S4C5fiueQtxqjB1OeG9ii4HPAUbG4Yg86grtr3aRJBqVYG34uo9RU7Ym7mIZQcTK2v3Ry82txqJvbukkcYlQsCCAbksCD58D5U6Y6IScp7rTB+X/i2G/ktN2Rvjh3jDZ1F+KsQCD0/5pYreGAnuutvO9YWTbQjMOvA/TlUaV3A7jsPAm9enhIe3lh3h7bdPikpijYdVFatvDvqioyRHM7AjTgt+ZqibPgHbKT1vr1/81WYMe0b3Ot+NH8NiA4upouPBbitIb36lH4UkT9hsfJaCm0gIezRFB5txY6/ShE4p7Y2wMVKgYlUU8CwuxHW3TzqXiNyJTxmP+2w+lK3Sxsdpc8bI1ssUbjuq3jXA0P/AIqv4hGZgUJBXgRoR5EUb2vu5NAbv3k/Ev686WBhWmEcjWt1NNqwj9T4eyGywzzkdvLJIBwDsSB9aM4TChBT9qVUvmLhQ2HojMfCjg9kbodtbAl8rKSrKbgqbEH+Wpv/AK5tC1ve5reevz40VqI2HkxMy4WD42+NuUacyemn5gc6lG+xpcBQ8+yF4hjQEGaRC9ibtzbQnKqzNb+pM5LBR+p42H/Jqz7U9jkgy+7zBhl73a905v7bA6fzWrxFDh9l4M/djjFyfvSMdPVmNvL0qhbI3/xeJ2jAM2WKSQL2QAtkJ1vpcm2t/wAqFbmZOQ5zsegxvn3WTcbuhQQSTF7RwUhw7TyoQLgZswI6qTy8qi47G4ydljaaeZ30VASb+g486u/tfCqcJJ94Mw/02B/U/M1K9me7pscbMO/KLRj8Kcz/AKuA8L9avbmMGMMlzRfu7qxpjEZv2l5s/eOfA4RVbZ0qRwp3mMigXvqx04lj9azvaO1WxeIeaRSzymyoveNuCqPQAelW/wBq28hkkXBw62IMltbv91dONuPmfCrLuTuWmCi7WVc05W7G2Yxi18q+NuNuJ04caY5o8eI5L209/QAm/qq2O0m1QMButtWIZ8PHNCOOUSWP+y4v8qinefaEl0bEygroy/CR8rHrV62BvPjp9oAPE8eGYOArRkZQFupLEfETbnzque0SIx7T+xW7zRpoBxdiRe3XQVfFO6SXlytbZFgjf4FSjLS+39FVzhu/YhpJWNrasxJ/nnRnA7u7Vg7+HiniHEqrcf8ATfX5Vou7u7kOzMM00tjKFLyycT4qp6X08TQHdHfnE4zaOTQQEO2QKO6oHdNwL3vb51F2a+XXyWgtb1J6H0C9lkDtmigqqd8doyAo2IdSNGAUKw5HUAEUMwGFeSQiKOSeTicoLH1Ovz+tXbfbdhsRtVI4e6Zog0p5ABiGY+gA8TarTtPEwbIwR7JByCrwMj24seJ5k9BpXn62NjGcpg1P6AbfNeskDAC0b+f9LLMfsnF4Y9sYJ8Pb/wBxSdOl7cPW1O/+rMeEv73Jl66cPO160PcDbsm0MPP7yFYZ8migAqy3IIGmn61n25OxlxOOEMmsUZd8v4sp0HlqPS9Wxzh3MbO0XH8RR37rhK1xJkF/TdD0weLxnfyYnE68bMw9OVNy4JonUSJLh5B8JYFdeWunz+tbRvXt9dn4XOsYbVURB3VBINuHAAA6Cs33j9obYvCmCXDqsjMuVgbgC9za9yrcr35mvMXMmyN2R0y667/Jcx5b2sLmHfPaUQyiYOBwLoGPzIuaGbQxmJxbA4iRntwXgo8gNKnbIF0AOtgONT1jA5Cpl0cTyWsF+dLQQ8LjeA/6KJs7BZBc8am0qVDucXGynkcbY26WpUqVKoqaoWw9vSYaZZYzqtxbqCNRVjxG/WIkNzI3ly+lVJRb9qmRNpWjlhje7URv5r51BI5opWGPelzxLXq4bnYDth7w4ubkJf6n+dKzAPZgen5Vum6mEy4SEAfcB+ev60i4ppx4rYKJ2TJmQSw2nxhxVU9oc4TCPfnwq9yJlFzWOe0LbPvU6wRaop48i37DrSfhjHTTjyG5VfMJBI/CVX9k7cFxmsSOFxcH0ortfEwygFIxE/PKe6b/ANp+E/SoH/Q0RbEXPU8f+KhT4dl+EnyOtbEaHG2qwxSxs/yi/uuJIxfWiO7+CHaoSe6XUHxGYXoXDIS1nAo0Z0QBeB6CulLg2gvMZjHO1nYBb7hMunSpGMgUfCb1ju7vtEaKQLMbobC/0rUsJtFJVDKwIPQ1i8nGfitcx7bvo5DSwkO1NNhM4vBKwII0rK9vYH3bEFR8Ld4DprwrTtp7ciiBzOunK+vyrKt5Nr+9YjMo7o0FX8KbJqNjwphiF7d1Nie4BrumcItlFPUe4UVqmG2glRNpY3s0uNWJso6sa0LcXdb3SDNILzy96RunML6c/G/hVU3E2R71i2xDi8WHOWMcmk439OP+2tD2ttmLCx9pM2VLhb8dWP8A5J8AaX8QmIAxoxZPX+AslxLKM0ukey3791mHtS2/2uKGGzWihsWH4nI187AgfPrRH2YbsMXOMlUqLWhB530L/K4B53PSrh/0rAYlxiMkErG3fuDe3C4vYnzFDN8t/osJEUhdXnIsqqQQn9zW0FuQ8BUm5L3QjFgYQ7oT90sDtqQjb2C/6ntRYR/Qwo+0PU3uwHiTZfRjVt3o20MFhHlAF1AWNeWY6KPIcfSgXsnCHBs4IMjyMZNbsLfDfnwN7+Jq0bV2hBEl8Q8aqNe/Y6/4nUnyFDZR0ytgq2s2od/P5qI6LNfZZsAzzvjJu9kY5Sdc0p1J/wBIPzYdKsG/2/EuEljhw4QuVLNmF7C9l5joT8qL7u76YXFM8cJClTZVIClxb4lHnfTjUTe3cBcbKswlaJwuU93MCAdOYsdfGr3zB+YHZTaaBsD09FwruqS/tWx4Goht/jx+tGtxYJsdizj8SgARckdhYFgLXH+IJ16t4Vyd3Nl4A58VN28g1yMQ1yP+2v8A/RtUzY/tOR8SEkj7DDsto2bSxHU8FUjS3AdaMlLXRu/SRdvaqtvTzUnAH2RsvPa5tQrBFh1P9Zrt/ivD5t+VZumAZAXR3XTUqbaenKtc333OOOEbxuqSR3tm+FlbXlw1/Oq7D7O8gD7QxKLEv3EOUG3ViB9AT0tXnDsqGLHDCaO9it/kronRtB1iz2RP2U7MYYdsRISzzHKCxzWjQkAa8Ltf5Co293tEeHEvBFDFKIwLmQX7xFzbw1A9KsW7u9WDmJgw7KvZ2VVtlDKBxQHiPrQDej2ayzYl58PIi9pqyuDo1tSLA3HOhGOjfmOflNoHoDfw6eioFXv0QGT2sYhUYDDwoDcd241ItewPEVX90Nqe7YuCc/CWKufB9D8r39KueD3LwmEkR9oYlJJCRljOi38RxK3trYDrTG1fZPKXb3aWPsXNwHvdB5gG48RxFNWT4bLa0UHd6NHtSnbLNdFct99ke84GZBqwGdf8k1t6i49aybZMKyxi/GtU3h2yuz8DZ3zSCMRoD8Ttky3txtzrKN3zlsCQL+PWheGBwhfXs3sfv/CO4af81EbI3DCFFhTlKlVpJPVbIAAUEqVKlXi9SpClSrlyoGTXWvWitrV8n3Bkws95IDiYuI7JrEjlpxHiPlQXbuzM8x7OFoIxplc3anzMqN/suCwDIS/ZgtAtnxktbjca+VaPu7v02GiWOVDIq6KQbEDkNRraqrhcAE0qRLDewGp0Fut6CyxHkDS8WE7gwA2OpFP3j9pkmIkWEDsIWIDNfMxW+vDQC3IUJwCKcZMFuVjzKjdRmtceY/Orxs7c6KJQWUNLbVjrY9ADwt1qBiMEI5QSO7ex8qEiyYGAxwtr1Q+NAOZerYG6VfxQ1tahmLWwq2be2T2UhynMrC6kcwarGOioqB1ppIQ+PU1ApY7sCOXOuwb8vX+casmK2MkWz0mJvJM7AD+xdD63/SqzNPlFMmnUs3JTSU1O3dIrTPZ5u1LHGJJ3ezC6xZjlAPNhzJ6cBVF3PwYxGMiVhdQcxHXLwHztW8wwWFJuM5RhYIh1KjFueZ8EPxuyYpRZ41I8uHrxrO9u7IGFnyjVG1W/LqPGtVyVn/tHIzwjnZj6XFJuHTO5oZexTHHkOpQo2uAa8mNlNuNj+VM4A9ypBFMnCnUtSw6mAqx+zLakEezwGljRlZy4ZgpBvxsTr3ctVLfbef8A6hOEiJ7CI93+9ubft4edC8Vu8CxIFdnZZHZRLo0zrHfoCdT8qujx4ROcgG3Hp6LKHh74yXSeyEzszdiTEuVg0VfjlZrRp5nmfAXq0YDdrBYbUqcXJ1fuxg+CjVvWjWMw6xgYeIZYotAB94j4nPViedQhh6pflul6Gh9fiVZDiMf/AJH/ACCEY/ZMckhdQYSeIhJQfLlTEe70QN2DOertmo97vSMF68GQ4CgUaIIAb0hAdqYCHLmksmXgy90+AFuPlVVxO2XY2SSYqPxyH8hwqTvPjDJMRfuobKPLifMmg6HUdKc48PgDn7lJM2ZsklNbVd+6NbM2hEhGaEX/ABXzH5NVlbDpMnAMp4f+eRqoYWEyEKgJJ5D+aVcNi7JMS95r+A4CqMoNb4gd0VhzkDS4eH3LjD4TERDLDi5405KGJA8taafY2c5p5JJm/wC4xI+VHgg6U1MoAJtw/mlLxMbsdfOhfzRTY8bVelCJ9jRva6gW4Fe6R6ivUwUwFlxeIC/hzn96LRxAgEV37vXGc9D/AGinwQP3LQhi7uYWRMsnbLJf+tnz3PihGo8taG7QweNwKjs8TIcOTZZInOUdAwveM+fperKMNT+H7txYMrCzKdQ45gjmK8bkOB33Hkf4QU2BGd49j9FQVwckrZ5HaRj95iT+dFI9k2tr5/znXeKgGFxbwqSYyFeO/EK4uB42vaiFFSzGhp6I3h8EL2WBv3SFKlSoNOxslSpUq5clSpUq5cok3tPl917Jl+1Gmf8At8f7uV6a3W2kMUOzc/ag92/3x68xVJVzc3505DPka4up4gg21/SnZwImtIYKJ3tYGHMex+odPJaJjtluhsykelO7u4QHFRX4ZgfkCR9RVZX2gYjIFktIF4E6H5iiGy9uykpL2YWzAgXJvY/Sl8mPK1ptP4sxs7SwdVq2LhoFtPB3BvVkWRZY0kQ3VhfTl4UOx2H0NZeJzo3aT1SyCQtNHsqHjscUAV9VHDqKDSTpJfJf1olvYRHqdKB7FiZgSNQDqelanHaDHzE359vDB3UTakkgAUAsNbW148f54UJOzZm+4fUgVeY9kMdbG3W1e+6WvYUU3MDRQQ0vDWTOsu28ggu4OHaLGp2ilc2gPLiK3lE09KxPF4kqOjAggjiCD+dWrZntScIA8Idx94NYH0txpRxOCXLIe0eiEmw+WAyM2r/iWCqWYgAC5J5Csd3l2t71iWZfgHdXyH78albwb14jF902RPwrz8zzqFgcBbU1DCxP01yPO6IxMR97qZhUsop6lSq0mza0rW6QAlUXHxNZXT44mWRfNTe3rUqlXrSWm15JGJGlh6FWnB4qPHJ28PH/AN2P70b218x4157rVHlw8kcgmw7tHIOa/kRzHgaPYH2kcFxsF/8AuxfmV/Y0O/GcN4dx5dx7vNZqRkuL4XCx5o0cNXPu1SsBtjB4j+jiEufuscrfJrUSOym6AigXSFmzhR9VWMpp7rDttbPaOZ1I1DH5E6VE92NtR9K17eDc3tiHW6yLwIHHpf8Aeq5t3Y+KlRUcIMumZUsSL87aVocfiLHtaLHqgHtFkoXuZEuR20zFrE+AAI9Nf5pVmqv4Lc+dBeMtm434XqZiNolITnEyTqbEFbq1uhA08vHjVU5bK+2OtWxSBraRTN/P5woLtXbC5hHGQznQnkg5+v7UAmx2KnNu/Y9BlHzozu3unITexJPTgP3qXIZCNcjvgudPZpqsGxMPeMUR92otg9iMqhQvCucYYYBeeaKP/Jhf5XvSR84e86foixktaACUMGGpz3VVQySsEiTVnPAeA6noKFbS9oOGj0w8bYhvxN3Ix89W+VU/a+2MRjHBma4B7sa6IvkOfmdaMhxJZN3eEevX5KJyHybRj4r3ae1PesW8ygqpsqDmEUWF/E8fWjSDQUO2ds3LqeNEqNmc3ZregTvh+OYWb90qVKlQ6ZJUqiPtSMFgWtk46HTW3rqakSzqouxAHU6cakWOHZQEjTdHou6VcxyBhdSCDzFdVFTBB3CoWGwbMmYDQaXqNMup8Ksu621RCHWSBZY5OINwR4qw4HXpyoVtSPUlRzNuNaXX4qXzzkEs1Umtl4UPIinh8R9OH1q3Wyiqfsl2WYFgQCCLkGrUcTcUHlglw8k84TpEZ87RrYu8r4bRe8h1KHgfEHkaK432jwhf6Uma3C62+d6p+fWhG1nI1FLv0UUz7cETmRR6TJW6Z3j2tJipSzWCj4VHAfufGpW7m8IwylHBKk3uBfWwuCPShakWriSnBhZy+VWyz7JHMfzAd1d8X7QInWzOxHIZTYelEN2wccCygrEhy5iLZjzA/U+IrLXQXrfNy8CseAwyqBrGrHxLd4n5mlHEmMxIdTepNImPPlJqgB6Bd4fYMSiwjTzKgn5mm8fu/DICCig9VFiPlRz3emJo6zAneTdlSEzibtZhjMOcPMY316HqOtPqaIe0GEBY355iPQigmzsSCLX1HKtBGTLEJE/w8i6Du6mUqRriOUN8JB8q8pM9Qul0T1rlJlPAg+vyrjGf03/xb8qK4zbGFkeQuoYRxlY2k1EhLXcKcpKgaZRa/wAViONSDbF0T7kuzcx2OW02wUPvUfERoSA1gTw8aJh8Aixr9jJfs0diuuUnvtogswBOup4XJPCPiZ8OscqwtFeRQ1lUg5RJCVjuV0k7rnLXrBZ2B+SXni5dty/z5IJLseN75SptxpuGWaA2ixMkZHJZD+RNqsUc+GeCFZTDmWNUFw2dHPaXzm1hGMy+TWNeY3aEOTJE8KqIcRGAVtdmyd4ZlvlkCtlPM0SHm9JBPvGyXzZUbxvEoEO+O0Y9O3z/AOaK36VMT2lY4DvJA3mpH5GutpvhO8uHjgYnIikgsQpWS7aWs69y5JJva9MYOPD3gMrwKFztIHW7tIpfRiQVEZXs8osbkaDQ1SWQuFujHy3+iqLWaNYYQLrqpS+1TFDjh4D5Fh+tMze0uVxc4TDnqSzHl4GnWfAZ3VRhhkv2ZbNlYlZf6hGpQWj05ErzNN7x4aCSOeeLs2uVjUqDq+YHS4sR2QK9RlNxUWw44eByq9d/T1VALHECior78z3NsJhUI6o1wfJjXDb9Y86I8cY/siA/MVK2viMMQ3ZLE0mVHVlJLM/aZWW99R2evyNcSw4YHCqro4tadl0BHcKl7AFRmZgTxtm16XBkW3+Pr57/AHVrGx14ge6GT7Vxsos+JmIPINlHyW1RY9iEm5GvU6/nR5ThzkjK4XM6y55UzKkctmEWpNlS9tTpwI0tUvNgC5VewFhdWLsAz55FCsc39PRCfAg86lzC3Zja9wVrJYmdYygeH2UuuoJHG2tv2qfHhlTlbzqTGuGkRIz2HaBLK0ZYAu7z2WwN8inI3AkacqYiwcPbYuKQoqqPs2du6rrbPlBIzXYEX1K9NTVbnF13f4aRsPE42A1HuulcEXBBHUH9q8SVTwYHyINEMU2AftpG7O57XuLJYNaVwHAzW7QjKdL6WsutQ8ZLGZh2bRsCJb5CCATNcXtwuhW3kRyqkNu9j8UXBxUyyNZoq15SpUqgniCYnZ8rGUAWVgdM9wzFgQbH4TapW2BYIxykI1yGNgbqR62JvRGvBV/ONi+yE/TNpwB6/wDqibHjIgjBFjbh5m9TKVKqnu1OJREbdDQ3yUQYK3Ku1wIvcgUUSC9vG9ONhu7UjMUBqA2QjIByqBjIbarofz/5otNFao0kOlWsfW6mQCEHixo/EPmK4xOFZ7EISv4uA+vGpm7W6SzYp2a2VGvbzrRTsZSLEC1uFTyMtkDgBuUodK5zS2Tbt8llGJ3ekEImVcyagsNQCOIPSg4LcK0HebASYMdphpCmawYciG01B8KZ2LuKJlDyd2/4Txotmazlcxx2Sp8Bc4hqz+ZgpHWtz9mm3FxOCRRo8IEbDy+A+RX6g1QN7NzosLEGGpc5QLcOZN/Kh+7+1ZMFIJITbkyng46H96py2M4hj+Dr296qEbmuO634xG3Cok6/KqtgPbJh2ULOjxt5Zx8xr9KGbY9qKPcYVSbaZ3FrHwX96zLuGTB4DQfj0+anG1xdSa3lxEImlRwpaSaBNQhshRM9y3ejXKSbrzqLsbDYWbjliRHmGTtjrfsVDAlxa/xc+HA20rWRppC7nMWOpOtGYcIoA7q/IU90CKMNveq/6mMPDXymw6kVjwWFLkDIcjBSjYmyyACFmckm3dDv3RobEa2p1tm4dyCZFTvxqzdrYFLkdmgV7KfThwItQn3dfwr8h+1ee7L+Ff8AaP2qi9tnFFHhEl3zPun8FhIpMVIhbLDHyZ7XN0U5W7TXKzMRdmt4kVxiMFCs2GCuGR5VJzS5wYrRWLAkhe/22hHXTQVwYFIAKiw4CwsP2pDDrYjKuvHQa+fWrQ+nXasdwuR3WTtXdEDs7CrGxd8mURgxpiM4iDE6h8wzBlAJ42uQAL1GbCwRvFHJd3eRY3tiT9nmcm+jWP2eT59ajjCr+FdOGg0v+VeDCp+FenwjhUQfUqA4RL/9PukTCcI00ecSZ8iJ2hcAjJYEMRdXBZuBPC1rGncbh4kwylVjZ5jCnavIGP2sRzPl4xBHLC2nwA8teBCL3sLgWBsL26X6V57qtycq3PE5RrfjyqfMAPx/AvXcJkLdJkU3a2zYYzFGjEvK6x5jOQsZ0BYjM2hIOhPPys7LsqFZUtaSPOM+aYWj+zVsoQs2fMS51LWy8dNRi4RBwRRpb4Rw+VL3JPwJ/tH7VFpIrc7X+fBRPCJarmfdEsDsiBxEcpZTlcRNOAFD9gXuW+IJc6Hj6V4m7eHugRmzukjBu0tGCRxNmuiqbr3RyGa9qGHZ8f4E/wBo/avfcU/An+0ftXFx/wBioDg0n+6e2Vs5Z8O7OuZ7SKGaQKsZCJ2Zycy2ZmzDhbpRDGbDgRsmeQsysbrNorJGWbQk3zFbAMfvfIVJhUbVlUnhqAdK59wj/An+0VznWbsgeX55Kx3Cpi4uEn3UqXZF8VLArNooeNc9jqY+6xb7wQuxU8OWgrjauHijVTE7XvGGZ3zgrKjNmAPDLlv431pr3VLZcq5eNrC168TCINQijyUV7rqrJ2/LUxwybUDzOnvRPHbAw6yGPPNfNlVu1tlIjkcPwu1wi9PiNtLU1g9kYeR5FHaBIpchDShh3XNiQRd1kICW63ND/cI//jT/AGiumwaEAFF04aDSvA6hVlVftEpJJk3+KLDdhMzWZokVGbJ2isyNmk7NgVFijKmYA6C9uejo3aiszF50ChzbtA5YKVAlAVdFsc2U/i1IFAm2fGRbIuvhTjwZrZyXyiy5rd0XvYAaDXU9edQJcT7RXn7XktIqTb4r3Z2H7SFJHD2YyZmSQIEyR5lULYlmcXa/IDoDU7AbLjljSRTOA4cqhlTNIyiQ9iDl0cZFObmHHWh8uERjdlUnqRXj4JDe6jXjpUy9p70rncOyCSRKi826/wBplR5cpKqCzj4ybslwpJYRXbTqKe/9PQrMqMZZLENldxlZTIECEBQb3Ya35UBbBqSSwzk2uWOY6AAcfAAelIYCP8C/KoWempVftmUR4pPulgQRGoNwRoQfukGxU+INx6U/XiRgCwFgK9tXONm0/iaWsDSei//Z"/>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custDataLst>
      <p:tags r:id="rId1"/>
    </p:custDataLst>
    <p:extLst>
      <p:ext uri="{BB962C8B-B14F-4D97-AF65-F5344CB8AC3E}">
        <p14:creationId xmlns:p14="http://schemas.microsoft.com/office/powerpoint/2010/main" val="390065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
          </p:nvPr>
        </p:nvPicPr>
        <p:blipFill>
          <a:blip r:embed="rId4">
            <a:extLst>
              <a:ext uri="{28A0092B-C50C-407E-A947-70E740481C1C}">
                <a14:useLocalDpi xmlns:a14="http://schemas.microsoft.com/office/drawing/2010/main" val="0"/>
              </a:ext>
            </a:extLst>
          </a:blip>
          <a:stretch>
            <a:fillRect/>
          </a:stretch>
        </p:blipFill>
        <p:spPr>
          <a:xfrm>
            <a:off x="1371600" y="1524000"/>
            <a:ext cx="6096000" cy="3642360"/>
          </a:xfrm>
        </p:spPr>
      </p:pic>
      <p:sp>
        <p:nvSpPr>
          <p:cNvPr id="6" name="TextBox 5"/>
          <p:cNvSpPr txBox="1"/>
          <p:nvPr/>
        </p:nvSpPr>
        <p:spPr>
          <a:xfrm>
            <a:off x="1371600" y="5306289"/>
            <a:ext cx="6172200" cy="523220"/>
          </a:xfrm>
          <a:prstGeom prst="rect">
            <a:avLst/>
          </a:prstGeom>
          <a:noFill/>
        </p:spPr>
        <p:txBody>
          <a:bodyPr wrap="square" rtlCol="0">
            <a:spAutoFit/>
          </a:bodyPr>
          <a:lstStyle/>
          <a:p>
            <a:pPr algn="ctr"/>
            <a:r>
              <a:rPr lang="en-US" sz="2800" kern="0" dirty="0">
                <a:solidFill>
                  <a:schemeClr val="accent6">
                    <a:lumMod val="50000"/>
                  </a:schemeClr>
                </a:solidFill>
              </a:rPr>
              <a:t>26 Students performed the experiment</a:t>
            </a:r>
          </a:p>
        </p:txBody>
      </p:sp>
      <p:graphicFrame>
        <p:nvGraphicFramePr>
          <p:cNvPr id="11" name="Object 10"/>
          <p:cNvGraphicFramePr>
            <a:graphicFrameLocks noChangeAspect="1"/>
          </p:cNvGraphicFramePr>
          <p:nvPr>
            <p:extLst>
              <p:ext uri="{D42A27DB-BD31-4B8C-83A1-F6EECF244321}">
                <p14:modId xmlns:p14="http://schemas.microsoft.com/office/powerpoint/2010/main" val="1354655938"/>
              </p:ext>
            </p:extLst>
          </p:nvPr>
        </p:nvGraphicFramePr>
        <p:xfrm>
          <a:off x="838200" y="5881673"/>
          <a:ext cx="2654300" cy="822325"/>
        </p:xfrm>
        <a:graphic>
          <a:graphicData uri="http://schemas.openxmlformats.org/presentationml/2006/ole">
            <mc:AlternateContent xmlns:mc="http://schemas.openxmlformats.org/markup-compatibility/2006">
              <mc:Choice xmlns:v="urn:schemas-microsoft-com:vml" Requires="v">
                <p:oleObj spid="_x0000_s11319" name="Equation" r:id="rId5" imgW="1269720" imgH="393480" progId="Equation.BREE4">
                  <p:embed/>
                </p:oleObj>
              </mc:Choice>
              <mc:Fallback>
                <p:oleObj name="Equation" r:id="rId5" imgW="1269720" imgH="393480" progId="Equation.BREE4">
                  <p:embed/>
                  <p:pic>
                    <p:nvPicPr>
                      <p:cNvPr id="0" name=""/>
                      <p:cNvPicPr/>
                      <p:nvPr/>
                    </p:nvPicPr>
                    <p:blipFill>
                      <a:blip r:embed="rId6"/>
                      <a:stretch>
                        <a:fillRect/>
                      </a:stretch>
                    </p:blipFill>
                    <p:spPr>
                      <a:xfrm>
                        <a:off x="838200" y="5881673"/>
                        <a:ext cx="2654300" cy="822325"/>
                      </a:xfrm>
                      <a:prstGeom prst="rect">
                        <a:avLst/>
                      </a:prstGeom>
                    </p:spPr>
                  </p:pic>
                </p:oleObj>
              </mc:Fallback>
            </mc:AlternateContent>
          </a:graphicData>
        </a:graphic>
      </p:graphicFrame>
      <p:sp>
        <p:nvSpPr>
          <p:cNvPr id="12" name="TextBox 11"/>
          <p:cNvSpPr txBox="1"/>
          <p:nvPr/>
        </p:nvSpPr>
        <p:spPr>
          <a:xfrm>
            <a:off x="0" y="41564"/>
            <a:ext cx="9143999" cy="1200329"/>
          </a:xfrm>
          <a:prstGeom prst="rect">
            <a:avLst/>
          </a:prstGeom>
          <a:noFill/>
        </p:spPr>
        <p:txBody>
          <a:bodyPr wrap="square" rtlCol="0">
            <a:spAutoFit/>
          </a:bodyPr>
          <a:lstStyle/>
          <a:p>
            <a:pPr algn="ctr"/>
            <a:r>
              <a:rPr lang="en-US" sz="3600" b="1" kern="0" dirty="0">
                <a:solidFill>
                  <a:schemeClr val="accent6">
                    <a:lumMod val="50000"/>
                  </a:schemeClr>
                </a:solidFill>
              </a:rPr>
              <a:t> Give a range of plausible values for the population proportion</a:t>
            </a:r>
          </a:p>
        </p:txBody>
      </p:sp>
      <p:graphicFrame>
        <p:nvGraphicFramePr>
          <p:cNvPr id="13" name="Object 12"/>
          <p:cNvGraphicFramePr>
            <a:graphicFrameLocks noChangeAspect="1"/>
          </p:cNvGraphicFramePr>
          <p:nvPr>
            <p:extLst>
              <p:ext uri="{D42A27DB-BD31-4B8C-83A1-F6EECF244321}">
                <p14:modId xmlns:p14="http://schemas.microsoft.com/office/powerpoint/2010/main" val="2226582018"/>
              </p:ext>
            </p:extLst>
          </p:nvPr>
        </p:nvGraphicFramePr>
        <p:xfrm>
          <a:off x="3733800" y="5829509"/>
          <a:ext cx="4325699" cy="876091"/>
        </p:xfrm>
        <a:graphic>
          <a:graphicData uri="http://schemas.openxmlformats.org/presentationml/2006/ole">
            <mc:AlternateContent xmlns:mc="http://schemas.openxmlformats.org/markup-compatibility/2006">
              <mc:Choice xmlns:v="urn:schemas-microsoft-com:vml" Requires="v">
                <p:oleObj spid="_x0000_s11320" name="Equation" r:id="rId7" imgW="1002960" imgH="203040" progId="Equation.BREE4">
                  <p:embed/>
                </p:oleObj>
              </mc:Choice>
              <mc:Fallback>
                <p:oleObj name="Equation" r:id="rId7" imgW="1002960" imgH="203040" progId="Equation.BREE4">
                  <p:embed/>
                  <p:pic>
                    <p:nvPicPr>
                      <p:cNvPr id="0" name=""/>
                      <p:cNvPicPr/>
                      <p:nvPr/>
                    </p:nvPicPr>
                    <p:blipFill>
                      <a:blip r:embed="rId8"/>
                      <a:stretch>
                        <a:fillRect/>
                      </a:stretch>
                    </p:blipFill>
                    <p:spPr>
                      <a:xfrm>
                        <a:off x="3733800" y="5829509"/>
                        <a:ext cx="4325699" cy="876091"/>
                      </a:xfrm>
                      <a:prstGeom prst="rect">
                        <a:avLst/>
                      </a:prstGeom>
                    </p:spPr>
                  </p:pic>
                </p:oleObj>
              </mc:Fallback>
            </mc:AlternateContent>
          </a:graphicData>
        </a:graphic>
      </p:graphicFrame>
    </p:spTree>
    <p:custDataLst>
      <p:tags r:id="rId2"/>
    </p:custDataLst>
    <p:extLst>
      <p:ext uri="{BB962C8B-B14F-4D97-AF65-F5344CB8AC3E}">
        <p14:creationId xmlns:p14="http://schemas.microsoft.com/office/powerpoint/2010/main" val="100631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Distribution</a:t>
            </a:r>
          </a:p>
        </p:txBody>
      </p:sp>
      <p:sp>
        <p:nvSpPr>
          <p:cNvPr id="3" name="Content Placeholder 2"/>
          <p:cNvSpPr>
            <a:spLocks noGrp="1"/>
          </p:cNvSpPr>
          <p:nvPr>
            <p:ph idx="1"/>
          </p:nvPr>
        </p:nvSpPr>
        <p:spPr>
          <a:xfrm>
            <a:off x="1066800" y="1752600"/>
            <a:ext cx="6819900" cy="2133600"/>
          </a:xfrm>
        </p:spPr>
        <p:txBody>
          <a:bodyPr>
            <a:normAutofit/>
          </a:bodyPr>
          <a:lstStyle/>
          <a:p>
            <a:r>
              <a:rPr lang="en-US" dirty="0"/>
              <a:t>A </a:t>
            </a:r>
            <a:r>
              <a:rPr lang="en-US" b="1" i="1" dirty="0">
                <a:solidFill>
                  <a:schemeClr val="accent5">
                    <a:lumMod val="50000"/>
                  </a:schemeClr>
                </a:solidFill>
              </a:rPr>
              <a:t>sampling distribution</a:t>
            </a:r>
            <a:r>
              <a:rPr lang="en-US" dirty="0">
                <a:solidFill>
                  <a:schemeClr val="accent5">
                    <a:lumMod val="50000"/>
                  </a:schemeClr>
                </a:solidFill>
              </a:rPr>
              <a:t> </a:t>
            </a:r>
            <a:r>
              <a:rPr lang="en-US" dirty="0"/>
              <a:t>is the distribution of sample statistics computed for different samples of the same size from the same population.</a:t>
            </a:r>
          </a:p>
        </p:txBody>
      </p:sp>
      <p:sp>
        <p:nvSpPr>
          <p:cNvPr id="4" name="Content Placeholder 3"/>
          <p:cNvSpPr>
            <a:spLocks noGrp="1"/>
          </p:cNvSpPr>
          <p:nvPr>
            <p:ph idx="10"/>
          </p:nvPr>
        </p:nvSpPr>
        <p:spPr/>
        <p:txBody>
          <a:bodyPr/>
          <a:lstStyle/>
          <a:p>
            <a:r>
              <a:rPr lang="en-US" dirty="0"/>
              <a:t>A sampling distribution shows us how the sample statistic varies from sample to sample</a:t>
            </a:r>
          </a:p>
        </p:txBody>
      </p:sp>
    </p:spTree>
    <p:custDataLst>
      <p:tags r:id="rId1"/>
    </p:custDataLst>
    <p:extLst>
      <p:ext uri="{BB962C8B-B14F-4D97-AF65-F5344CB8AC3E}">
        <p14:creationId xmlns:p14="http://schemas.microsoft.com/office/powerpoint/2010/main" val="3932703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p:nvPr>
        </p:nvSpPr>
        <p:spPr>
          <a:xfrm>
            <a:off x="1295400" y="152400"/>
            <a:ext cx="7848600" cy="1066800"/>
          </a:xfrm>
        </p:spPr>
        <p:txBody>
          <a:bodyPr>
            <a:normAutofit/>
          </a:bodyPr>
          <a:lstStyle/>
          <a:p>
            <a:r>
              <a:rPr lang="en-US" sz="3200" dirty="0"/>
              <a:t>In the Reese’s Pieces sampling distribution, what does each dot represent?</a:t>
            </a:r>
          </a:p>
        </p:txBody>
      </p:sp>
      <p:sp>
        <p:nvSpPr>
          <p:cNvPr id="3" name="TPAnswers"/>
          <p:cNvSpPr>
            <a:spLocks noGrp="1"/>
          </p:cNvSpPr>
          <p:nvPr>
            <p:ph idx="1"/>
            <p:custDataLst>
              <p:tags r:id="rId2"/>
            </p:custDataLst>
          </p:nvPr>
        </p:nvSpPr>
        <p:spPr>
          <a:xfrm>
            <a:off x="0" y="1692166"/>
            <a:ext cx="4419600" cy="4175234"/>
          </a:xfrm>
        </p:spPr>
        <p:txBody>
          <a:bodyPr>
            <a:noAutofit/>
          </a:bodyPr>
          <a:lstStyle/>
          <a:p>
            <a:pPr marL="514350" indent="-514350">
              <a:spcBef>
                <a:spcPct val="20000"/>
              </a:spcBef>
              <a:spcAft>
                <a:spcPts val="0"/>
              </a:spcAft>
              <a:buFont typeface="+mj-lt"/>
              <a:buAutoNum type="arabicPeriod"/>
            </a:pPr>
            <a:r>
              <a:rPr lang="en-US" dirty="0"/>
              <a:t>One Reese’s piece</a:t>
            </a:r>
          </a:p>
          <a:p>
            <a:pPr marL="514350" indent="-514350">
              <a:spcBef>
                <a:spcPct val="20000"/>
              </a:spcBef>
              <a:spcAft>
                <a:spcPts val="0"/>
              </a:spcAft>
              <a:buFont typeface="+mj-lt"/>
              <a:buAutoNum type="arabicPeriod"/>
            </a:pPr>
            <a:r>
              <a:rPr lang="en-US" dirty="0"/>
              <a:t>One </a:t>
            </a:r>
            <a:r>
              <a:rPr lang="en-US"/>
              <a:t>sample statistic</a:t>
            </a:r>
            <a:endParaRPr lang="en-US" dirty="0"/>
          </a:p>
        </p:txBody>
      </p:sp>
      <p:pic>
        <p:nvPicPr>
          <p:cNvPr id="8" name="Content Placeholder 3"/>
          <p:cNvPicPr>
            <a:picLocks noGrp="1" noChangeAspect="1"/>
          </p:cNvPicPr>
          <p:nvPr>
            <p:ph sz="quarter" idx="1"/>
          </p:nvPr>
        </p:nvPicPr>
        <p:blipFill>
          <a:blip r:embed="rId4">
            <a:extLst>
              <a:ext uri="{28A0092B-C50C-407E-A947-70E740481C1C}">
                <a14:useLocalDpi xmlns:a14="http://schemas.microsoft.com/office/drawing/2010/main" val="0"/>
              </a:ext>
            </a:extLst>
          </a:blip>
          <a:stretch>
            <a:fillRect/>
          </a:stretch>
        </p:blipFill>
        <p:spPr>
          <a:xfrm>
            <a:off x="152400" y="3352800"/>
            <a:ext cx="5611381" cy="3352800"/>
          </a:xfrm>
        </p:spPr>
      </p:pic>
    </p:spTree>
    <p:custDataLst>
      <p:tags r:id="rId1"/>
    </p:custDataLst>
    <p:extLst>
      <p:ext uri="{BB962C8B-B14F-4D97-AF65-F5344CB8AC3E}">
        <p14:creationId xmlns:p14="http://schemas.microsoft.com/office/powerpoint/2010/main" val="2192770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 and Shape</a:t>
            </a:r>
          </a:p>
        </p:txBody>
      </p:sp>
      <p:sp>
        <p:nvSpPr>
          <p:cNvPr id="3" name="Content Placeholder 2"/>
          <p:cNvSpPr>
            <a:spLocks noGrp="1"/>
          </p:cNvSpPr>
          <p:nvPr>
            <p:ph idx="1"/>
          </p:nvPr>
        </p:nvSpPr>
        <p:spPr>
          <a:xfrm>
            <a:off x="685800" y="1676400"/>
            <a:ext cx="7620000" cy="1828800"/>
          </a:xfrm>
        </p:spPr>
        <p:txBody>
          <a:bodyPr>
            <a:noAutofit/>
          </a:bodyPr>
          <a:lstStyle/>
          <a:p>
            <a:r>
              <a:rPr lang="en-US" b="1" dirty="0">
                <a:solidFill>
                  <a:schemeClr val="accent2">
                    <a:lumMod val="75000"/>
                  </a:schemeClr>
                </a:solidFill>
              </a:rPr>
              <a:t>Center:</a:t>
            </a:r>
            <a:r>
              <a:rPr lang="en-US" b="1" dirty="0"/>
              <a:t> </a:t>
            </a:r>
            <a:r>
              <a:rPr lang="en-US" dirty="0"/>
              <a:t>If samples are randomly selected, the sampling distribution will be centered around the population parameter.</a:t>
            </a:r>
          </a:p>
        </p:txBody>
      </p:sp>
      <p:sp>
        <p:nvSpPr>
          <p:cNvPr id="5" name="Content Placeholder 2"/>
          <p:cNvSpPr>
            <a:spLocks noGrp="1"/>
          </p:cNvSpPr>
          <p:nvPr>
            <p:ph idx="1"/>
          </p:nvPr>
        </p:nvSpPr>
        <p:spPr>
          <a:xfrm>
            <a:off x="685800" y="3657600"/>
            <a:ext cx="7620000" cy="1981200"/>
          </a:xfrm>
        </p:spPr>
        <p:txBody>
          <a:bodyPr>
            <a:noAutofit/>
          </a:bodyPr>
          <a:lstStyle/>
          <a:p>
            <a:r>
              <a:rPr lang="en-US" b="1" dirty="0">
                <a:solidFill>
                  <a:schemeClr val="accent2">
                    <a:lumMod val="75000"/>
                  </a:schemeClr>
                </a:solidFill>
              </a:rPr>
              <a:t>Shape: </a:t>
            </a:r>
            <a:r>
              <a:rPr lang="en-US" dirty="0"/>
              <a:t>For most of the statistics we consider, if the sample size is large enough the sampling distribution will be symmetric and bell-shaped.</a:t>
            </a:r>
          </a:p>
        </p:txBody>
      </p:sp>
      <p:sp>
        <p:nvSpPr>
          <p:cNvPr id="6" name="Rectangle 5"/>
          <p:cNvSpPr/>
          <p:nvPr/>
        </p:nvSpPr>
        <p:spPr>
          <a:xfrm>
            <a:off x="685800" y="5867400"/>
            <a:ext cx="1453026" cy="584775"/>
          </a:xfrm>
          <a:prstGeom prst="rect">
            <a:avLst/>
          </a:prstGeom>
        </p:spPr>
        <p:txBody>
          <a:bodyPr wrap="none">
            <a:spAutoFit/>
          </a:bodyPr>
          <a:lstStyle/>
          <a:p>
            <a:pPr lvl="0">
              <a:spcAft>
                <a:spcPts val="1800"/>
              </a:spcAft>
              <a:buClr>
                <a:srgbClr val="0000BF"/>
              </a:buClr>
              <a:buSzPct val="85000"/>
            </a:pPr>
            <a:r>
              <a:rPr lang="en-US" sz="3200" dirty="0" err="1">
                <a:solidFill>
                  <a:prstClr val="black"/>
                </a:solidFill>
                <a:hlinkClick r:id="rId3"/>
              </a:rPr>
              <a:t>StatKey</a:t>
            </a:r>
            <a:endParaRPr lang="en-US" sz="3200" dirty="0">
              <a:solidFill>
                <a:prstClr val="black"/>
              </a:solidFill>
            </a:endParaRPr>
          </a:p>
        </p:txBody>
      </p:sp>
    </p:spTree>
    <p:extLst>
      <p:ext uri="{BB962C8B-B14F-4D97-AF65-F5344CB8AC3E}">
        <p14:creationId xmlns:p14="http://schemas.microsoft.com/office/powerpoint/2010/main" val="1174290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76200" y="152400"/>
            <a:ext cx="8991600" cy="838200"/>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2"/>
                </a:solidFill>
                <a:effectLst/>
                <a:uLnTx/>
                <a:uFillTx/>
                <a:latin typeface="+mj-lt"/>
                <a:ea typeface="+mj-ea"/>
                <a:cs typeface="+mj-cs"/>
              </a:rPr>
              <a:t>Lincoln’s Gettysburg</a:t>
            </a:r>
            <a:r>
              <a:rPr kumimoji="0" lang="en-US" sz="4400" b="1" i="0" u="none" strike="noStrike" kern="1200" cap="none" spc="0" normalizeH="0" noProof="0" dirty="0">
                <a:ln>
                  <a:noFill/>
                </a:ln>
                <a:solidFill>
                  <a:schemeClr val="tx2"/>
                </a:solidFill>
                <a:effectLst/>
                <a:uLnTx/>
                <a:uFillTx/>
                <a:latin typeface="+mj-lt"/>
                <a:ea typeface="+mj-ea"/>
                <a:cs typeface="+mj-cs"/>
              </a:rPr>
              <a:t> Address</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066800"/>
            <a:ext cx="9144000" cy="5468471"/>
          </a:xfrm>
          <a:prstGeom prst="rect">
            <a:avLst/>
          </a:prstGeom>
        </p:spPr>
      </p:pic>
    </p:spTree>
    <p:extLst>
      <p:ext uri="{BB962C8B-B14F-4D97-AF65-F5344CB8AC3E}">
        <p14:creationId xmlns:p14="http://schemas.microsoft.com/office/powerpoint/2010/main" val="1550228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Random Samples</a:t>
            </a:r>
          </a:p>
        </p:txBody>
      </p:sp>
      <p:sp>
        <p:nvSpPr>
          <p:cNvPr id="5" name="Content Placeholder 4"/>
          <p:cNvSpPr>
            <a:spLocks noGrp="1"/>
          </p:cNvSpPr>
          <p:nvPr>
            <p:ph sz="quarter" idx="1"/>
          </p:nvPr>
        </p:nvSpPr>
        <p:spPr>
          <a:xfrm>
            <a:off x="0" y="1524000"/>
            <a:ext cx="9144000" cy="5334000"/>
          </a:xfrm>
        </p:spPr>
        <p:txBody>
          <a:bodyPr/>
          <a:lstStyle/>
          <a:p>
            <a:r>
              <a:rPr lang="en-US" dirty="0"/>
              <a:t>If you take many </a:t>
            </a:r>
            <a:r>
              <a:rPr lang="en-US" b="1" dirty="0">
                <a:solidFill>
                  <a:schemeClr val="accent1">
                    <a:lumMod val="50000"/>
                  </a:schemeClr>
                </a:solidFill>
              </a:rPr>
              <a:t>random samples </a:t>
            </a:r>
            <a:r>
              <a:rPr lang="en-US" dirty="0"/>
              <a:t>of the same size from the same population, the sampling distribution will be centered around the true population parameter</a:t>
            </a:r>
          </a:p>
          <a:p>
            <a:r>
              <a:rPr lang="en-US" dirty="0"/>
              <a:t> If sampling bias exists (if you do not take random samples), your sampling distribution may give you </a:t>
            </a:r>
            <a:r>
              <a:rPr lang="en-US" i="1" u="sng" dirty="0"/>
              <a:t>bad information </a:t>
            </a:r>
            <a:r>
              <a:rPr lang="en-US" dirty="0"/>
              <a:t>about the true parameter</a:t>
            </a:r>
          </a:p>
        </p:txBody>
      </p:sp>
    </p:spTree>
    <p:custDataLst>
      <p:tags r:id="rId1"/>
    </p:custDataLst>
    <p:extLst>
      <p:ext uri="{BB962C8B-B14F-4D97-AF65-F5344CB8AC3E}">
        <p14:creationId xmlns:p14="http://schemas.microsoft.com/office/powerpoint/2010/main" val="3140854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Distribution</a:t>
            </a:r>
          </a:p>
        </p:txBody>
      </p:sp>
      <p:sp>
        <p:nvSpPr>
          <p:cNvPr id="4" name="Content Placeholder 3"/>
          <p:cNvSpPr>
            <a:spLocks noGrp="1"/>
          </p:cNvSpPr>
          <p:nvPr>
            <p:ph idx="10"/>
          </p:nvPr>
        </p:nvSpPr>
        <p:spPr>
          <a:xfrm>
            <a:off x="0" y="1524000"/>
            <a:ext cx="9144000" cy="5334000"/>
          </a:xfrm>
        </p:spPr>
        <p:txBody>
          <a:bodyPr>
            <a:normAutofit/>
          </a:bodyPr>
          <a:lstStyle/>
          <a:p>
            <a:r>
              <a:rPr lang="en-US" dirty="0"/>
              <a:t>We’ve learned about center and shape, but remember what we really care about is </a:t>
            </a:r>
            <a:r>
              <a:rPr lang="en-US" b="1" i="1" dirty="0">
                <a:solidFill>
                  <a:schemeClr val="accent1">
                    <a:lumMod val="50000"/>
                  </a:schemeClr>
                </a:solidFill>
              </a:rPr>
              <a:t>variability</a:t>
            </a:r>
            <a:r>
              <a:rPr lang="en-US" dirty="0">
                <a:solidFill>
                  <a:schemeClr val="accent1">
                    <a:lumMod val="50000"/>
                  </a:schemeClr>
                </a:solidFill>
              </a:rPr>
              <a:t> </a:t>
            </a:r>
            <a:r>
              <a:rPr lang="en-US" dirty="0"/>
              <a:t>of the sampling distribution</a:t>
            </a:r>
          </a:p>
          <a:p>
            <a:r>
              <a:rPr lang="en-US" dirty="0"/>
              <a:t>Remember our key question and answer: to assess uncertainty of a statistic, we need to know how much the statistic varies from sample to sample!</a:t>
            </a:r>
          </a:p>
          <a:p>
            <a:r>
              <a:rPr lang="en-US" dirty="0"/>
              <a:t>The variability of the sample statistic is so important that it gets it’s own name…</a:t>
            </a:r>
          </a:p>
        </p:txBody>
      </p:sp>
    </p:spTree>
    <p:extLst>
      <p:ext uri="{BB962C8B-B14F-4D97-AF65-F5344CB8AC3E}">
        <p14:creationId xmlns:p14="http://schemas.microsoft.com/office/powerpoint/2010/main" val="4097897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Error</a:t>
            </a:r>
          </a:p>
        </p:txBody>
      </p:sp>
      <p:sp>
        <p:nvSpPr>
          <p:cNvPr id="3" name="Content Placeholder 2"/>
          <p:cNvSpPr>
            <a:spLocks noGrp="1"/>
          </p:cNvSpPr>
          <p:nvPr>
            <p:ph idx="1"/>
          </p:nvPr>
        </p:nvSpPr>
        <p:spPr/>
        <p:txBody>
          <a:bodyPr/>
          <a:lstStyle/>
          <a:p>
            <a:r>
              <a:rPr lang="en-US" dirty="0"/>
              <a:t>The </a:t>
            </a:r>
            <a:r>
              <a:rPr lang="en-US" b="1" i="1" dirty="0">
                <a:solidFill>
                  <a:schemeClr val="accent5">
                    <a:lumMod val="50000"/>
                  </a:schemeClr>
                </a:solidFill>
              </a:rPr>
              <a:t>standard error</a:t>
            </a:r>
            <a:r>
              <a:rPr lang="en-US" dirty="0">
                <a:solidFill>
                  <a:schemeClr val="tx2"/>
                </a:solidFill>
              </a:rPr>
              <a:t> </a:t>
            </a:r>
            <a:r>
              <a:rPr lang="en-US" dirty="0"/>
              <a:t>of a statistic, SE, is the standard deviation of the sample statistic</a:t>
            </a:r>
          </a:p>
        </p:txBody>
      </p:sp>
      <p:sp>
        <p:nvSpPr>
          <p:cNvPr id="4" name="Content Placeholder 3"/>
          <p:cNvSpPr>
            <a:spLocks noGrp="1"/>
          </p:cNvSpPr>
          <p:nvPr>
            <p:ph idx="10"/>
          </p:nvPr>
        </p:nvSpPr>
        <p:spPr>
          <a:xfrm>
            <a:off x="0" y="3886200"/>
            <a:ext cx="9144000" cy="1752600"/>
          </a:xfrm>
        </p:spPr>
        <p:txBody>
          <a:bodyPr>
            <a:normAutofit/>
          </a:bodyPr>
          <a:lstStyle/>
          <a:p>
            <a:r>
              <a:rPr lang="en-US" dirty="0"/>
              <a:t>The standard error can be calculated as the standard deviation of the sampling distribution</a:t>
            </a:r>
          </a:p>
        </p:txBody>
      </p:sp>
    </p:spTree>
    <p:custDataLst>
      <p:tags r:id="rId1"/>
    </p:custDataLst>
    <p:extLst>
      <p:ext uri="{BB962C8B-B14F-4D97-AF65-F5344CB8AC3E}">
        <p14:creationId xmlns:p14="http://schemas.microsoft.com/office/powerpoint/2010/main" val="3472109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idx="4294967295"/>
            <p:custDataLst>
              <p:tags r:id="rId2"/>
            </p:custDataLst>
          </p:nvPr>
        </p:nvSpPr>
        <p:spPr>
          <a:xfrm>
            <a:off x="-20782" y="1600200"/>
            <a:ext cx="4332288" cy="3659187"/>
          </a:xfrm>
        </p:spPr>
        <p:txBody>
          <a:bodyPr>
            <a:noAutofit/>
          </a:bodyPr>
          <a:lstStyle/>
          <a:p>
            <a:pPr marL="514350" indent="-514350">
              <a:spcBef>
                <a:spcPct val="20000"/>
              </a:spcBef>
              <a:buFont typeface="+mj-lt"/>
              <a:buAutoNum type="arabicPeriod"/>
            </a:pPr>
            <a:r>
              <a:rPr lang="en-US" dirty="0"/>
              <a:t> 0.05</a:t>
            </a:r>
          </a:p>
          <a:p>
            <a:pPr marL="514350" indent="-514350">
              <a:spcBef>
                <a:spcPct val="20000"/>
              </a:spcBef>
              <a:buFont typeface="+mj-lt"/>
              <a:buAutoNum type="arabicPeriod"/>
            </a:pPr>
            <a:r>
              <a:rPr lang="en-US" dirty="0"/>
              <a:t> 0.15</a:t>
            </a:r>
          </a:p>
          <a:p>
            <a:pPr marL="514350" indent="-514350">
              <a:spcBef>
                <a:spcPct val="20000"/>
              </a:spcBef>
              <a:buFont typeface="+mj-lt"/>
              <a:buAutoNum type="arabicPeriod"/>
            </a:pPr>
            <a:r>
              <a:rPr lang="en-US" dirty="0"/>
              <a:t> 0.25</a:t>
            </a:r>
          </a:p>
          <a:p>
            <a:pPr marL="514350" indent="-514350">
              <a:spcBef>
                <a:spcPct val="20000"/>
              </a:spcBef>
              <a:buFont typeface="+mj-lt"/>
              <a:buAutoNum type="arabicPeriod"/>
            </a:pPr>
            <a:r>
              <a:rPr lang="en-US" dirty="0"/>
              <a:t> 0.35</a:t>
            </a:r>
          </a:p>
        </p:txBody>
      </p:sp>
      <mc:AlternateContent xmlns:mc="http://schemas.openxmlformats.org/markup-compatibility/2006" xmlns:a14="http://schemas.microsoft.com/office/drawing/2010/main">
        <mc:Choice Requires="a14">
          <p:sp>
            <p:nvSpPr>
              <p:cNvPr id="2" name="TPQuestion"/>
              <p:cNvSpPr>
                <a:spLocks noGrp="1"/>
              </p:cNvSpPr>
              <p:nvPr>
                <p:ph type="title" idx="4294967295"/>
              </p:nvPr>
            </p:nvSpPr>
            <p:spPr>
              <a:xfrm>
                <a:off x="1" y="0"/>
                <a:ext cx="9144000" cy="1752600"/>
              </a:xfrm>
            </p:spPr>
            <p:txBody>
              <a:bodyPr>
                <a:noAutofit/>
              </a:bodyPr>
              <a:lstStyle/>
              <a:p>
                <a:r>
                  <a:rPr lang="en-US" sz="3400" dirty="0"/>
                  <a:t>The standard error for </a:t>
                </a:r>
                <a14:m>
                  <m:oMath xmlns:m="http://schemas.openxmlformats.org/officeDocument/2006/math">
                    <m:acc>
                      <m:accPr>
                        <m:chr m:val="̂"/>
                        <m:ctrlPr>
                          <a:rPr lang="en-US" sz="3400" i="1">
                            <a:latin typeface="Cambria Math"/>
                          </a:rPr>
                        </m:ctrlPr>
                      </m:accPr>
                      <m:e>
                        <m:r>
                          <a:rPr lang="en-US" sz="3400" i="1">
                            <a:latin typeface="Cambria Math"/>
                          </a:rPr>
                          <m:t>𝑝</m:t>
                        </m:r>
                      </m:e>
                    </m:acc>
                    <m:r>
                      <a:rPr lang="en-US" sz="3400" i="1">
                        <a:latin typeface="Cambria Math"/>
                      </a:rPr>
                      <m:t>,</m:t>
                    </m:r>
                  </m:oMath>
                </a14:m>
                <a:r>
                  <a:rPr lang="en-US" sz="3400" dirty="0"/>
                  <a:t> the proportion of orange Reese’s Pieces in a random sample of 10, is closest to</a:t>
                </a:r>
              </a:p>
            </p:txBody>
          </p:sp>
        </mc:Choice>
        <mc:Fallback xmlns="">
          <p:sp>
            <p:nvSpPr>
              <p:cNvPr id="2" name="TPQuestion"/>
              <p:cNvSpPr>
                <a:spLocks noGrp="1" noRot="1" noChangeAspect="1" noMove="1" noResize="1" noEditPoints="1" noAdjustHandles="1" noChangeArrowheads="1" noChangeShapeType="1" noTextEdit="1"/>
              </p:cNvSpPr>
              <p:nvPr>
                <p:ph type="title" idx="4294967295"/>
              </p:nvPr>
            </p:nvSpPr>
            <p:spPr>
              <a:xfrm>
                <a:off x="1" y="0"/>
                <a:ext cx="9144000" cy="1752600"/>
              </a:xfrm>
              <a:blipFill rotWithShape="1">
                <a:blip r:embed="rId6"/>
                <a:stretch>
                  <a:fillRect l="-1800" t="-1389" r="-2400" b="-9375"/>
                </a:stretch>
              </a:blipFill>
            </p:spPr>
            <p:txBody>
              <a:bodyPr/>
              <a:lstStyle/>
              <a:p>
                <a:r>
                  <a:rPr lang="en-US">
                    <a:noFill/>
                  </a:rPr>
                  <a:t> </a:t>
                </a:r>
              </a:p>
            </p:txBody>
          </p:sp>
        </mc:Fallback>
      </mc:AlternateContent>
      <p:pic>
        <p:nvPicPr>
          <p:cNvPr id="7" name="Content Placeholder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64" y="4100945"/>
            <a:ext cx="4591128" cy="2743200"/>
          </a:xfrm>
          <a:prstGeom prst="rect">
            <a:avLst/>
          </a:prstGeom>
        </p:spPr>
      </p:pic>
    </p:spTree>
    <p:custDataLst>
      <p:tags r:id="rId1"/>
    </p:custDataLst>
    <p:extLst>
      <p:ext uri="{BB962C8B-B14F-4D97-AF65-F5344CB8AC3E}">
        <p14:creationId xmlns:p14="http://schemas.microsoft.com/office/powerpoint/2010/main" val="3548275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Reese’s Pieces</a:t>
            </a:r>
          </a:p>
        </p:txBody>
      </p:sp>
      <p:sp>
        <p:nvSpPr>
          <p:cNvPr id="3" name="Content Placeholder 2"/>
          <p:cNvSpPr>
            <a:spLocks noGrp="1"/>
          </p:cNvSpPr>
          <p:nvPr>
            <p:ph idx="1"/>
          </p:nvPr>
        </p:nvSpPr>
        <p:spPr>
          <a:xfrm>
            <a:off x="3516" y="1524000"/>
            <a:ext cx="9140483" cy="5334000"/>
          </a:xfrm>
        </p:spPr>
        <p:txBody>
          <a:bodyPr/>
          <a:lstStyle/>
          <a:p>
            <a:r>
              <a:rPr lang="en-US" dirty="0"/>
              <a:t>We can use StatKey to obtain the </a:t>
            </a:r>
            <a:r>
              <a:rPr lang="en-US" b="1" dirty="0">
                <a:solidFill>
                  <a:schemeClr val="accent1">
                    <a:lumMod val="50000"/>
                  </a:schemeClr>
                </a:solidFill>
              </a:rPr>
              <a:t>standard deviation of our class sample proportions</a:t>
            </a:r>
            <a:r>
              <a:rPr lang="en-US" dirty="0"/>
              <a:t> to more precisely estimate the </a:t>
            </a:r>
            <a:r>
              <a:rPr lang="en-US" b="1" dirty="0">
                <a:solidFill>
                  <a:schemeClr val="accent2">
                    <a:lumMod val="75000"/>
                  </a:schemeClr>
                </a:solidFill>
              </a:rPr>
              <a:t>standard error</a:t>
            </a:r>
            <a:r>
              <a:rPr lang="en-US" dirty="0"/>
              <a:t>.</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120210"/>
            <a:ext cx="7620000" cy="371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947155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Effect Does Sample Size Have on the Distribution?</a:t>
            </a:r>
          </a:p>
        </p:txBody>
      </p:sp>
      <p:pic>
        <p:nvPicPr>
          <p:cNvPr id="13314"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533400" y="1752599"/>
            <a:ext cx="8153400" cy="3928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14649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p:cNvSpPr>
            <a:spLocks noGrp="1"/>
          </p:cNvSpPr>
          <p:nvPr>
            <p:ph idx="10"/>
          </p:nvPr>
        </p:nvSpPr>
        <p:spPr>
          <a:xfrm>
            <a:off x="-12896" y="1524000"/>
            <a:ext cx="9080695" cy="5334000"/>
          </a:xfrm>
        </p:spPr>
        <p:txBody>
          <a:bodyPr>
            <a:normAutofit/>
          </a:bodyPr>
          <a:lstStyle/>
          <a:p>
            <a:pPr marL="0" indent="0">
              <a:buNone/>
            </a:pPr>
            <a:endParaRPr lang="en-US" dirty="0"/>
          </a:p>
          <a:p>
            <a:endParaRPr lang="en-US" dirty="0"/>
          </a:p>
          <a:p>
            <a:endParaRPr lang="en-US" dirty="0"/>
          </a:p>
          <a:p>
            <a:endParaRPr lang="en-US" dirty="0"/>
          </a:p>
          <a:p>
            <a:endParaRPr lang="en-US" dirty="0"/>
          </a:p>
          <a:p>
            <a:pPr marL="0" indent="0">
              <a:buNone/>
            </a:pPr>
            <a:r>
              <a:rPr lang="en-US" dirty="0"/>
              <a:t>For larger sample sizes, you get less variability in the statistics, so less uncertainty in your estimates  </a:t>
            </a:r>
          </a:p>
        </p:txBody>
      </p:sp>
      <p:sp>
        <p:nvSpPr>
          <p:cNvPr id="2" name="Title 1"/>
          <p:cNvSpPr>
            <a:spLocks noGrp="1"/>
          </p:cNvSpPr>
          <p:nvPr>
            <p:ph type="title"/>
          </p:nvPr>
        </p:nvSpPr>
        <p:spPr/>
        <p:txBody>
          <a:bodyPr/>
          <a:lstStyle/>
          <a:p>
            <a:r>
              <a:rPr lang="en-US" dirty="0"/>
              <a:t>Sample Size Matters!</a:t>
            </a:r>
          </a:p>
        </p:txBody>
      </p:sp>
      <p:sp>
        <p:nvSpPr>
          <p:cNvPr id="3" name="Content Placeholder 2"/>
          <p:cNvSpPr>
            <a:spLocks noGrp="1"/>
          </p:cNvSpPr>
          <p:nvPr>
            <p:ph idx="1"/>
          </p:nvPr>
        </p:nvSpPr>
        <p:spPr>
          <a:xfrm>
            <a:off x="1295400" y="2057400"/>
            <a:ext cx="6629400" cy="2514600"/>
          </a:xfrm>
        </p:spPr>
        <p:txBody>
          <a:bodyPr>
            <a:normAutofit lnSpcReduction="10000"/>
          </a:bodyPr>
          <a:lstStyle/>
          <a:p>
            <a:r>
              <a:rPr lang="en-US" dirty="0"/>
              <a:t>As the </a:t>
            </a:r>
            <a:r>
              <a:rPr lang="en-US" i="1" u="sng" dirty="0"/>
              <a:t>sample size </a:t>
            </a:r>
            <a:r>
              <a:rPr lang="en-US" b="1" dirty="0">
                <a:solidFill>
                  <a:schemeClr val="accent1">
                    <a:lumMod val="50000"/>
                  </a:schemeClr>
                </a:solidFill>
              </a:rPr>
              <a:t>increases</a:t>
            </a:r>
            <a:r>
              <a:rPr lang="en-US" dirty="0"/>
              <a:t>, the </a:t>
            </a:r>
            <a:r>
              <a:rPr lang="en-US" u="sng" dirty="0"/>
              <a:t>variability</a:t>
            </a:r>
            <a:r>
              <a:rPr lang="en-US" dirty="0"/>
              <a:t> of the sample statistics tends to </a:t>
            </a:r>
            <a:r>
              <a:rPr lang="en-US" b="1" dirty="0">
                <a:solidFill>
                  <a:schemeClr val="accent1">
                    <a:lumMod val="75000"/>
                  </a:schemeClr>
                </a:solidFill>
              </a:rPr>
              <a:t>decrease</a:t>
            </a:r>
            <a:r>
              <a:rPr lang="en-US" dirty="0"/>
              <a:t> and the sample statistics tend to be </a:t>
            </a:r>
            <a:r>
              <a:rPr lang="en-US" b="1" dirty="0">
                <a:solidFill>
                  <a:schemeClr val="accent1">
                    <a:lumMod val="75000"/>
                  </a:schemeClr>
                </a:solidFill>
              </a:rPr>
              <a:t>closer</a:t>
            </a:r>
            <a:r>
              <a:rPr lang="en-US" dirty="0">
                <a:solidFill>
                  <a:schemeClr val="accent1">
                    <a:lumMod val="75000"/>
                  </a:schemeClr>
                </a:solidFill>
              </a:rPr>
              <a:t> </a:t>
            </a:r>
            <a:r>
              <a:rPr lang="en-US" dirty="0"/>
              <a:t>to the true value of the population parameter!</a:t>
            </a:r>
          </a:p>
        </p:txBody>
      </p:sp>
    </p:spTree>
    <p:custDataLst>
      <p:tags r:id="rId1"/>
    </p:custDataLst>
    <p:extLst>
      <p:ext uri="{BB962C8B-B14F-4D97-AF65-F5344CB8AC3E}">
        <p14:creationId xmlns:p14="http://schemas.microsoft.com/office/powerpoint/2010/main" val="3929022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3" grpId="0" uiExpand="1"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PAnswers"/>
          <p:cNvSpPr>
            <a:spLocks noGrp="1"/>
          </p:cNvSpPr>
          <p:nvPr>
            <p:ph sz="quarter" idx="4294967295"/>
            <p:custDataLst>
              <p:tags r:id="rId2"/>
            </p:custDataLst>
          </p:nvPr>
        </p:nvSpPr>
        <p:spPr>
          <a:xfrm>
            <a:off x="0" y="3124200"/>
            <a:ext cx="8153400" cy="3733800"/>
          </a:xfrm>
        </p:spPr>
        <p:txBody>
          <a:bodyPr>
            <a:normAutofit/>
          </a:bodyPr>
          <a:lstStyle/>
          <a:p>
            <a:pPr marL="514350" indent="-514350">
              <a:buFont typeface="+mj-lt"/>
              <a:buAutoNum type="alphaUcPeriod"/>
            </a:pPr>
            <a:r>
              <a:rPr lang="en-US" dirty="0"/>
              <a:t> The sample means using n = 10</a:t>
            </a:r>
          </a:p>
          <a:p>
            <a:pPr marL="514350" indent="-514350">
              <a:buFont typeface="+mj-lt"/>
              <a:buAutoNum type="alphaUcPeriod"/>
            </a:pPr>
            <a:r>
              <a:rPr lang="en-US" dirty="0"/>
              <a:t> The sample means using n = 100</a:t>
            </a:r>
          </a:p>
        </p:txBody>
      </p:sp>
      <p:sp>
        <p:nvSpPr>
          <p:cNvPr id="2" name="TPQuestion"/>
          <p:cNvSpPr>
            <a:spLocks noGrp="1"/>
          </p:cNvSpPr>
          <p:nvPr>
            <p:ph type="title" idx="4294967295"/>
          </p:nvPr>
        </p:nvSpPr>
        <p:spPr>
          <a:xfrm>
            <a:off x="0" y="76200"/>
            <a:ext cx="9144000" cy="2819400"/>
          </a:xfrm>
        </p:spPr>
        <p:txBody>
          <a:bodyPr>
            <a:noAutofit/>
          </a:bodyPr>
          <a:lstStyle/>
          <a:p>
            <a:r>
              <a:rPr lang="en-US" sz="3600" dirty="0"/>
              <a:t>Suppose we were to take samples of size 10 and samples of size 100 from the same population, and compute the sample means.  Which sample means would have the </a:t>
            </a:r>
            <a:r>
              <a:rPr lang="en-US" sz="3600" i="1" dirty="0">
                <a:solidFill>
                  <a:schemeClr val="accent5">
                    <a:lumMod val="75000"/>
                  </a:schemeClr>
                </a:solidFill>
              </a:rPr>
              <a:t>higher</a:t>
            </a:r>
            <a:r>
              <a:rPr lang="en-US" sz="3600" i="1" dirty="0"/>
              <a:t> </a:t>
            </a:r>
            <a:r>
              <a:rPr lang="en-US" sz="3600" dirty="0"/>
              <a:t>standard error?</a:t>
            </a:r>
          </a:p>
        </p:txBody>
      </p:sp>
    </p:spTree>
    <p:custDataLst>
      <p:tags r:id="rId1"/>
    </p:custDataLst>
    <p:extLst>
      <p:ext uri="{BB962C8B-B14F-4D97-AF65-F5344CB8AC3E}">
        <p14:creationId xmlns:p14="http://schemas.microsoft.com/office/powerpoint/2010/main" val="2357207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152400"/>
            <a:ext cx="9144000" cy="2895600"/>
          </a:xfrm>
        </p:spPr>
        <p:txBody>
          <a:bodyPr>
            <a:normAutofit/>
          </a:bodyPr>
          <a:lstStyle/>
          <a:p>
            <a:r>
              <a:rPr lang="en-US" sz="3600" dirty="0"/>
              <a:t>Suppose we were to take a sample of size 10 and a sample of size 100 from the same population, and compute the sample mean.  Which sample mean would have </a:t>
            </a:r>
            <a:r>
              <a:rPr lang="en-US" sz="3600" i="1" dirty="0">
                <a:solidFill>
                  <a:schemeClr val="accent5">
                    <a:lumMod val="75000"/>
                  </a:schemeClr>
                </a:solidFill>
              </a:rPr>
              <a:t>higher </a:t>
            </a:r>
            <a:r>
              <a:rPr lang="en-US" sz="3600" dirty="0"/>
              <a:t>uncertainty?</a:t>
            </a:r>
          </a:p>
        </p:txBody>
      </p:sp>
      <p:sp>
        <p:nvSpPr>
          <p:cNvPr id="3" name="TPAnswers"/>
          <p:cNvSpPr>
            <a:spLocks noGrp="1"/>
          </p:cNvSpPr>
          <p:nvPr>
            <p:ph sz="quarter" idx="4294967295"/>
            <p:custDataLst>
              <p:tags r:id="rId2"/>
            </p:custDataLst>
          </p:nvPr>
        </p:nvSpPr>
        <p:spPr>
          <a:xfrm>
            <a:off x="0" y="3124200"/>
            <a:ext cx="6019800" cy="2057400"/>
          </a:xfrm>
        </p:spPr>
        <p:txBody>
          <a:bodyPr>
            <a:normAutofit/>
          </a:bodyPr>
          <a:lstStyle/>
          <a:p>
            <a:pPr marL="514350" indent="-514350">
              <a:buFont typeface="+mj-lt"/>
              <a:buAutoNum type="alphaUcPeriod"/>
            </a:pPr>
            <a:r>
              <a:rPr lang="en-US" dirty="0"/>
              <a:t> The sample mean from n = 10</a:t>
            </a:r>
          </a:p>
          <a:p>
            <a:pPr marL="514350" indent="-514350">
              <a:buFont typeface="+mj-lt"/>
              <a:buAutoNum type="alphaUcPeriod"/>
            </a:pPr>
            <a:r>
              <a:rPr lang="en-US" dirty="0"/>
              <a:t> The sample mean from n = 100</a:t>
            </a:r>
          </a:p>
        </p:txBody>
      </p:sp>
    </p:spTree>
    <p:custDataLst>
      <p:tags r:id="rId1"/>
    </p:custDataLst>
    <p:extLst>
      <p:ext uri="{BB962C8B-B14F-4D97-AF65-F5344CB8AC3E}">
        <p14:creationId xmlns:p14="http://schemas.microsoft.com/office/powerpoint/2010/main" val="38346933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sz="quarter" idx="4294967295"/>
            <p:custDataLst>
              <p:tags r:id="rId2"/>
            </p:custDataLst>
          </p:nvPr>
        </p:nvSpPr>
        <p:spPr>
          <a:xfrm>
            <a:off x="0" y="2133600"/>
            <a:ext cx="5257800" cy="4724400"/>
          </a:xfrm>
        </p:spPr>
        <p:txBody>
          <a:bodyPr/>
          <a:lstStyle/>
          <a:p>
            <a:pPr marL="514350" indent="-514350">
              <a:buAutoNum type="alphaUcPeriod"/>
            </a:pPr>
            <a:r>
              <a:rPr lang="en-US" dirty="0"/>
              <a:t>Enrollment at one statistics grad program</a:t>
            </a:r>
          </a:p>
          <a:p>
            <a:pPr marL="514350" indent="-514350">
              <a:buAutoNum type="alphaUcPeriod"/>
            </a:pPr>
            <a:r>
              <a:rPr lang="en-US" dirty="0"/>
              <a:t>One sample mean</a:t>
            </a:r>
          </a:p>
          <a:p>
            <a:pPr marL="514350" indent="-514350">
              <a:buAutoNum type="alphaUcPeriod"/>
            </a:pPr>
            <a:r>
              <a:rPr lang="en-US" dirty="0"/>
              <a:t>1000 different enrollments</a:t>
            </a:r>
          </a:p>
          <a:p>
            <a:pPr marL="514350" indent="-514350">
              <a:buAutoNum type="alphaUcPeriod"/>
            </a:pPr>
            <a:r>
              <a:rPr lang="en-US" dirty="0"/>
              <a:t>1000 sample means</a:t>
            </a:r>
          </a:p>
        </p:txBody>
      </p:sp>
      <p:sp>
        <p:nvSpPr>
          <p:cNvPr id="2" name="TPQuestion"/>
          <p:cNvSpPr>
            <a:spLocks noGrp="1"/>
          </p:cNvSpPr>
          <p:nvPr>
            <p:ph type="title" idx="4294967295"/>
          </p:nvPr>
        </p:nvSpPr>
        <p:spPr>
          <a:xfrm>
            <a:off x="1" y="0"/>
            <a:ext cx="9144000" cy="2133600"/>
          </a:xfrm>
        </p:spPr>
        <p:txBody>
          <a:bodyPr>
            <a:normAutofit/>
          </a:bodyPr>
          <a:lstStyle/>
          <a:p>
            <a:r>
              <a:rPr lang="en-US" sz="3600" dirty="0"/>
              <a:t>The sampling distribution is shown for enrollment in statistics grad schools.  One dot represents:</a:t>
            </a:r>
          </a:p>
        </p:txBody>
      </p:sp>
      <p:pic>
        <p:nvPicPr>
          <p:cNvPr id="1026" name="Picture 2"/>
          <p:cNvPicPr>
            <a:picLocks noChangeAspect="1" noChangeArrowheads="1"/>
          </p:cNvPicPr>
          <p:nvPr/>
        </p:nvPicPr>
        <p:blipFill>
          <a:blip r:embed="rId4" cstate="print"/>
          <a:srcRect/>
          <a:stretch>
            <a:fillRect/>
          </a:stretch>
        </p:blipFill>
        <p:spPr bwMode="auto">
          <a:xfrm>
            <a:off x="3886201" y="3452474"/>
            <a:ext cx="5257800" cy="3405526"/>
          </a:xfrm>
          <a:prstGeom prst="rect">
            <a:avLst/>
          </a:prstGeom>
          <a:noFill/>
          <a:ln>
            <a:solidFill>
              <a:schemeClr val="bg1"/>
            </a:solidFill>
          </a:ln>
        </p:spPr>
      </p:pic>
      <p:sp>
        <p:nvSpPr>
          <p:cNvPr id="5" name="Rectangle 4"/>
          <p:cNvSpPr/>
          <p:nvPr/>
        </p:nvSpPr>
        <p:spPr>
          <a:xfrm>
            <a:off x="3886201" y="3352800"/>
            <a:ext cx="5257800" cy="1371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9839950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4" cstate="print"/>
          <a:srcRect/>
          <a:stretch>
            <a:fillRect/>
          </a:stretch>
        </p:blipFill>
        <p:spPr bwMode="auto">
          <a:xfrm>
            <a:off x="3964172" y="3429000"/>
            <a:ext cx="5181600" cy="3356171"/>
          </a:xfrm>
          <a:prstGeom prst="rect">
            <a:avLst/>
          </a:prstGeom>
          <a:noFill/>
          <a:ln w="9525">
            <a:noFill/>
            <a:miter lim="800000"/>
            <a:headEnd/>
            <a:tailEnd/>
          </a:ln>
        </p:spPr>
      </p:pic>
      <p:sp>
        <p:nvSpPr>
          <p:cNvPr id="5" name="Rectangle 4"/>
          <p:cNvSpPr/>
          <p:nvPr/>
        </p:nvSpPr>
        <p:spPr>
          <a:xfrm>
            <a:off x="2819400" y="3396014"/>
            <a:ext cx="6324600" cy="1371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PAnswers"/>
          <p:cNvSpPr>
            <a:spLocks noGrp="1"/>
          </p:cNvSpPr>
          <p:nvPr>
            <p:ph sz="quarter" idx="4294967295"/>
            <p:custDataLst>
              <p:tags r:id="rId2"/>
            </p:custDataLst>
          </p:nvPr>
        </p:nvSpPr>
        <p:spPr>
          <a:xfrm>
            <a:off x="58294" y="1752600"/>
            <a:ext cx="2968625" cy="3124200"/>
          </a:xfrm>
        </p:spPr>
        <p:txBody>
          <a:bodyPr/>
          <a:lstStyle/>
          <a:p>
            <a:pPr marL="514350" indent="-514350">
              <a:buFont typeface="+mj-lt"/>
              <a:buAutoNum type="alphaUcPeriod"/>
            </a:pPr>
            <a:r>
              <a:rPr lang="en-US" dirty="0"/>
              <a:t>5 </a:t>
            </a:r>
          </a:p>
          <a:p>
            <a:pPr marL="514350" indent="-514350">
              <a:buFont typeface="+mj-lt"/>
              <a:buAutoNum type="alphaUcPeriod"/>
            </a:pPr>
            <a:r>
              <a:rPr lang="en-US" dirty="0"/>
              <a:t>10</a:t>
            </a:r>
          </a:p>
          <a:p>
            <a:pPr marL="514350" indent="-514350">
              <a:buFont typeface="+mj-lt"/>
              <a:buAutoNum type="alphaUcPeriod"/>
            </a:pPr>
            <a:r>
              <a:rPr lang="en-US" dirty="0"/>
              <a:t>20</a:t>
            </a:r>
          </a:p>
          <a:p>
            <a:pPr marL="514350" indent="-514350">
              <a:buFont typeface="+mj-lt"/>
              <a:buAutoNum type="alphaUcPeriod"/>
            </a:pPr>
            <a:r>
              <a:rPr lang="en-US" dirty="0"/>
              <a:t>55</a:t>
            </a:r>
          </a:p>
          <a:p>
            <a:pPr marL="514350" indent="-514350">
              <a:buFont typeface="+mj-lt"/>
              <a:buAutoNum type="alphaUcPeriod"/>
            </a:pPr>
            <a:r>
              <a:rPr lang="en-US" dirty="0"/>
              <a:t>65</a:t>
            </a:r>
          </a:p>
        </p:txBody>
      </p:sp>
      <p:sp>
        <p:nvSpPr>
          <p:cNvPr id="2" name="TPQuestion"/>
          <p:cNvSpPr>
            <a:spLocks noGrp="1"/>
          </p:cNvSpPr>
          <p:nvPr>
            <p:ph type="title" idx="4294967295"/>
          </p:nvPr>
        </p:nvSpPr>
        <p:spPr>
          <a:xfrm>
            <a:off x="-23813" y="228600"/>
            <a:ext cx="9167813" cy="1809750"/>
          </a:xfrm>
        </p:spPr>
        <p:txBody>
          <a:bodyPr>
            <a:noAutofit/>
          </a:bodyPr>
          <a:lstStyle/>
          <a:p>
            <a:r>
              <a:rPr lang="en-US" sz="3600" dirty="0"/>
              <a:t>The sampling distribution is shown for enrollment in statistics grad schools.  The population parameter is closest to:</a:t>
            </a:r>
          </a:p>
        </p:txBody>
      </p:sp>
    </p:spTree>
    <p:custDataLst>
      <p:tags r:id="rId1"/>
    </p:custDataLst>
    <p:extLst>
      <p:ext uri="{BB962C8B-B14F-4D97-AF65-F5344CB8AC3E}">
        <p14:creationId xmlns:p14="http://schemas.microsoft.com/office/powerpoint/2010/main" val="3426732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4" cstate="print"/>
          <a:srcRect/>
          <a:stretch>
            <a:fillRect/>
          </a:stretch>
        </p:blipFill>
        <p:spPr bwMode="auto">
          <a:xfrm>
            <a:off x="4114800" y="3582819"/>
            <a:ext cx="5029200" cy="3257460"/>
          </a:xfrm>
          <a:prstGeom prst="rect">
            <a:avLst/>
          </a:prstGeom>
          <a:noFill/>
          <a:ln w="9525">
            <a:noFill/>
            <a:miter lim="800000"/>
            <a:headEnd/>
            <a:tailEnd/>
          </a:ln>
        </p:spPr>
      </p:pic>
      <p:sp>
        <p:nvSpPr>
          <p:cNvPr id="5" name="Rectangle 4"/>
          <p:cNvSpPr/>
          <p:nvPr/>
        </p:nvSpPr>
        <p:spPr>
          <a:xfrm>
            <a:off x="2819400" y="3550921"/>
            <a:ext cx="6324600" cy="1371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PQuestion"/>
          <p:cNvSpPr>
            <a:spLocks noGrp="1"/>
          </p:cNvSpPr>
          <p:nvPr>
            <p:ph type="title" idx="4294967295"/>
          </p:nvPr>
        </p:nvSpPr>
        <p:spPr>
          <a:xfrm>
            <a:off x="0" y="33338"/>
            <a:ext cx="9144000" cy="2328862"/>
          </a:xfrm>
        </p:spPr>
        <p:txBody>
          <a:bodyPr>
            <a:noAutofit/>
          </a:bodyPr>
          <a:lstStyle/>
          <a:p>
            <a:r>
              <a:rPr lang="en-US" sz="3600" dirty="0"/>
              <a:t>The sampling distribution is shown for enrollment in statistics grad schools.  The standard error is closest to:</a:t>
            </a:r>
            <a:br>
              <a:rPr lang="en-US" sz="3600" dirty="0"/>
            </a:br>
            <a:endParaRPr lang="en-US" sz="3600" dirty="0"/>
          </a:p>
        </p:txBody>
      </p:sp>
      <p:sp>
        <p:nvSpPr>
          <p:cNvPr id="9" name="Oval 8"/>
          <p:cNvSpPr/>
          <p:nvPr/>
        </p:nvSpPr>
        <p:spPr>
          <a:xfrm>
            <a:off x="0" y="2743200"/>
            <a:ext cx="1524000" cy="591335"/>
          </a:xfrm>
          <a:prstGeom prst="ellipse">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PAnswers"/>
          <p:cNvSpPr>
            <a:spLocks noGrp="1"/>
          </p:cNvSpPr>
          <p:nvPr>
            <p:ph sz="quarter" idx="4294967295"/>
            <p:custDataLst>
              <p:tags r:id="rId2"/>
            </p:custDataLst>
          </p:nvPr>
        </p:nvSpPr>
        <p:spPr>
          <a:xfrm>
            <a:off x="0" y="2133600"/>
            <a:ext cx="5867400" cy="4724400"/>
          </a:xfrm>
        </p:spPr>
        <p:txBody>
          <a:bodyPr/>
          <a:lstStyle/>
          <a:p>
            <a:pPr marL="514350" indent="-514350">
              <a:buFont typeface="+mj-lt"/>
              <a:buAutoNum type="alphaUcPeriod"/>
            </a:pPr>
            <a:r>
              <a:rPr lang="en-US" dirty="0"/>
              <a:t>5</a:t>
            </a:r>
          </a:p>
          <a:p>
            <a:pPr marL="514350" indent="-514350">
              <a:buFont typeface="+mj-lt"/>
              <a:buAutoNum type="alphaUcPeriod"/>
            </a:pPr>
            <a:r>
              <a:rPr lang="en-US" dirty="0"/>
              <a:t>10</a:t>
            </a:r>
          </a:p>
          <a:p>
            <a:pPr marL="514350" indent="-514350">
              <a:buFont typeface="+mj-lt"/>
              <a:buAutoNum type="alphaUcPeriod"/>
            </a:pPr>
            <a:r>
              <a:rPr lang="en-US" dirty="0"/>
              <a:t>20</a:t>
            </a:r>
          </a:p>
          <a:p>
            <a:pPr marL="514350" indent="-514350">
              <a:buFont typeface="+mj-lt"/>
              <a:buAutoNum type="alphaUcPeriod"/>
            </a:pPr>
            <a:r>
              <a:rPr lang="en-US" dirty="0"/>
              <a:t>55</a:t>
            </a:r>
          </a:p>
          <a:p>
            <a:pPr marL="514350" indent="-514350">
              <a:buFont typeface="+mj-lt"/>
              <a:buAutoNum type="alphaUcPeriod"/>
            </a:pPr>
            <a:r>
              <a:rPr lang="en-US" dirty="0"/>
              <a:t>65</a:t>
            </a:r>
          </a:p>
        </p:txBody>
      </p:sp>
    </p:spTree>
    <p:custDataLst>
      <p:tags r:id="rId1"/>
    </p:custDataLst>
    <p:extLst>
      <p:ext uri="{BB962C8B-B14F-4D97-AF65-F5344CB8AC3E}">
        <p14:creationId xmlns:p14="http://schemas.microsoft.com/office/powerpoint/2010/main" val="2458398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0" y="1524000"/>
            <a:ext cx="9144000" cy="5334000"/>
          </a:xfrm>
        </p:spPr>
        <p:txBody>
          <a:bodyPr>
            <a:normAutofit/>
          </a:bodyPr>
          <a:lstStyle/>
          <a:p>
            <a:r>
              <a:rPr lang="en-US" i="1" dirty="0"/>
              <a:t>Statistical inference </a:t>
            </a:r>
            <a:r>
              <a:rPr lang="en-US" dirty="0"/>
              <a:t>is drawing conclusions about a population based on a sample</a:t>
            </a:r>
          </a:p>
          <a:p>
            <a:r>
              <a:rPr lang="en-US" dirty="0"/>
              <a:t>We use a </a:t>
            </a:r>
            <a:r>
              <a:rPr lang="en-US" i="1" dirty="0"/>
              <a:t>sample statistic </a:t>
            </a:r>
            <a:r>
              <a:rPr lang="en-US" dirty="0"/>
              <a:t>to estimate a </a:t>
            </a:r>
            <a:r>
              <a:rPr lang="en-US" i="1" dirty="0"/>
              <a:t>population parameter</a:t>
            </a:r>
          </a:p>
          <a:p>
            <a:r>
              <a:rPr lang="en-US" dirty="0"/>
              <a:t>To assess the uncertainty of a statistic, we need to know how much it varies from sample to sample</a:t>
            </a:r>
          </a:p>
          <a:p>
            <a:r>
              <a:rPr lang="en-US" dirty="0"/>
              <a:t>To create a </a:t>
            </a:r>
            <a:r>
              <a:rPr lang="en-US" i="1" dirty="0"/>
              <a:t>sampling distribution</a:t>
            </a:r>
            <a:r>
              <a:rPr lang="en-US" dirty="0"/>
              <a:t>, take many samples of the same size from the population, and compute the statistic for each</a:t>
            </a:r>
          </a:p>
          <a:p>
            <a:r>
              <a:rPr lang="en-US" i="1" dirty="0"/>
              <a:t>Standard error </a:t>
            </a:r>
            <a:r>
              <a:rPr lang="en-US" dirty="0"/>
              <a:t>is the standard deviation of a statistic</a:t>
            </a:r>
          </a:p>
          <a:p>
            <a:endParaRPr lang="en-US" dirty="0"/>
          </a:p>
          <a:p>
            <a:endParaRPr lang="en-US" dirty="0"/>
          </a:p>
        </p:txBody>
      </p:sp>
    </p:spTree>
    <p:extLst>
      <p:ext uri="{BB962C8B-B14F-4D97-AF65-F5344CB8AC3E}">
        <p14:creationId xmlns:p14="http://schemas.microsoft.com/office/powerpoint/2010/main" val="27087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SHOWBARVISIBLE" val="True"/>
  <p:tag name="CSVFORMAT" val="0"/>
  <p:tag name="COUNTDOWNSTYLE" val="-1"/>
  <p:tag name="COUNTDOWNSECONDS" val="10"/>
  <p:tag name="BACKUPSESSIONS" val="True"/>
  <p:tag name="REVIEWONLY" val="False"/>
  <p:tag name="RACEENDPOINTS" val="100"/>
  <p:tag name="PARTICIPANTSINLEADERBOARD" val="5"/>
  <p:tag name="BUBBLESIZEVISIBLE" val="True"/>
  <p:tag name="CUSTOMGRIDBACKCOLOR" val="-2830136"/>
  <p:tag name="CUSTOMCELLBACKCOLOR3" val="-268652"/>
  <p:tag name="DISPLAYDEVICENUMBER" val="True"/>
  <p:tag name="AUTOSIZEGRID" val="True"/>
  <p:tag name="POLLINGCYCLE" val="2"/>
  <p:tag name="INCLUDENONRESPONDERS" val="False"/>
  <p:tag name="CORRECTPOINTVALUE" val="100"/>
  <p:tag name="ZEROBASED" val="False"/>
  <p:tag name="FIBDISPLAYRESULTS" val="True"/>
  <p:tag name="PRRESPONSE1" val="10"/>
  <p:tag name="PRRESPONSE5" val="6"/>
  <p:tag name="PRRESPONSE9" val="2"/>
  <p:tag name="USESECONDARYMONITOR" val="True"/>
  <p:tag name="ANSWERNOWTEXT" val="Answer Now"/>
  <p:tag name="INPUTSOURCE" val="1"/>
  <p:tag name="CHARTVALUEFORMAT" val="0%"/>
  <p:tag name="STDCHART" val="1"/>
  <p:tag name="TEAMSINLEADERBOARD" val="5"/>
  <p:tag name="BUBBLEGROUPING" val="3"/>
  <p:tag name="CUSTOMCELLBACKCOLOR2" val="-13395457"/>
  <p:tag name="DISPLAYDEVICEID" val="True"/>
  <p:tag name="GRIDPOSITION" val="1"/>
  <p:tag name="RESETCHARTS" val="True"/>
  <p:tag name="INCORRECTPOINTVALUE" val="0"/>
  <p:tag name="CHARTSCALE" val="True"/>
  <p:tag name="FIBDISPLAYKEYWORDS" val="True"/>
  <p:tag name="PRRESPONSE6" val="5"/>
  <p:tag name="SHOWFLASHWARNING" val="True"/>
  <p:tag name="RESPCOUNTERSTYLE" val="-1"/>
  <p:tag name="ALLOWDUPLICATES" val="False"/>
  <p:tag name="AUTOUPDATEALIASES" val="True"/>
  <p:tag name="MAXRESPONDERS" val="5"/>
  <p:tag name="CUSTOMCELLFORECOLOR" val="-16777216"/>
  <p:tag name="DISPLAYNAME" val="True"/>
  <p:tag name="GRIDFONTSIZE" val="12"/>
  <p:tag name="INCLUDEPPT" val="True"/>
  <p:tag name="AUTOADJUSTPARTRANGE" val="True"/>
  <p:tag name="PRRESPONSE2" val="9"/>
  <p:tag name="PRRESPONSE8" val="3"/>
  <p:tag name="POWERPOINTVERSION" val="14.0"/>
  <p:tag name="RESPCOUNTERFORMAT" val="0"/>
  <p:tag name="AUTOADVANCE" val="False"/>
  <p:tag name="SKIPREMAININGRACESLIDES" val="True"/>
  <p:tag name="CUSTOMCELLBACKCOLOR1" val="-657956"/>
  <p:tag name="GRIDROTATIONINTERVAL" val="2"/>
  <p:tag name="MULTIRESPDIVISOR" val="1"/>
  <p:tag name="ADVANCEDSETTINGSVIEW" val="False"/>
  <p:tag name="PRRESPONSE4" val="7"/>
  <p:tag name="RESPTABLESTYLE" val="-1"/>
  <p:tag name="RACERSMAXDISPLAYED" val="5"/>
  <p:tag name="DEFAULTNUMTEAMS" val="5"/>
  <p:tag name="GRIDSIZE" val="{Width=800, Height=600}"/>
  <p:tag name="REALTIMEBACKUP" val="False"/>
  <p:tag name="PRRESPONSE3" val="8"/>
  <p:tag name="SAVECSVWITHSESSION" val="True"/>
  <p:tag name="BACKUPMAINTENANCE" val="7"/>
  <p:tag name="BUBBLEVALUEFORMAT" val="0.0"/>
  <p:tag name="CHARTCOLORS" val="0"/>
  <p:tag name="FIBNUMRESULTS" val="5"/>
  <p:tag name="ALWAYSOPENPOLL" val="False"/>
  <p:tag name="ROTATIONINTERVAL" val="2"/>
  <p:tag name="USESCHEMECOLORS" val="True"/>
  <p:tag name="REALTIMEBACKUPPATH" val="(None)"/>
  <p:tag name="BULLETTYPE" val="3"/>
  <p:tag name="BUBBLENAMEVISIBLE" val="True"/>
  <p:tag name="ALLOWUSERFEEDBACK" val="True"/>
  <p:tag name="ANSWERNOWSTYLE" val="-1"/>
  <p:tag name="GRIDOPACITY" val="90"/>
  <p:tag name="PRRESPONSE10" val="1"/>
  <p:tag name="CHARTLABELS" val="0"/>
  <p:tag name="RACEANIMATIONSPEED" val="3"/>
  <p:tag name="NUMRESPONSES" val="1"/>
  <p:tag name="CUSTOMCELLBACKCOLOR4" val="-8355712"/>
  <p:tag name="PRRESPONSE7" val="4"/>
  <p:tag name="FIBINCLUDEOTHER" val="True"/>
  <p:tag name="DELIMITERS" val="3.1"/>
  <p:tag name="TASKPANEKEY" val="68155a82-bf78-4561-a694-ba6a997017df"/>
  <p:tag name="EXPANDSHOWBAR" val="False"/>
  <p:tag name="TPPRESENTATIONGUID" val="bc3584e2-b3f6-40a8-bc55-53e028616ddf"/>
  <p:tag name="WASPOLLED" val="84A68446B22F42838DA0899B3345A841"/>
  <p:tag name="TPVERSION" val="6"/>
  <p:tag name="TPFULLVERSION" val="7.4.0.111"/>
  <p:tag name="PPTVERSION" val="14"/>
  <p:tag name="TPOS" val="2"/>
  <p:tag name="TPLASTSAVEVERSION" val="6.2 PC"/>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DELIMITERS" val="3.1"/>
  <p:tag name="NOPREFERENCE" val="False"/>
  <p:tag name="SLIDEGUID" val="C2CD2A2E6E244A8B928EDEC7AB4FB1CA"/>
  <p:tag name="SLIDEID" val="C2CD2A2E6E244A8B928EDEC7AB4FB1CA"/>
  <p:tag name="SLIDEORDER" val="1"/>
  <p:tag name="SLIDETYPE" val="Q"/>
  <p:tag name="DEMOGRAPHIC" val="False"/>
  <p:tag name="SPEEDSCORING" val="False"/>
  <p:tag name="CORRECTPOINTVALUE" val="100"/>
  <p:tag name="INCORRECTPOINTVALUE" val="0"/>
  <p:tag name="ZEROBASED" val="False"/>
  <p:tag name="QUESTIONALIAS" val="You are interested in analyzing the relationship between political party and IQ.  How would you visualize and summarize this pair of variables?"/>
  <p:tag name="VALUEFORMAT" val="0%"/>
  <p:tag name="ANSWERSALIAS" val="bar chart/pie chart, proportions, frequency table/relative frequency table |smicln|dotplot/histogram/boxplot, mean/median, sd/range/IQR, five number summary |smicln|side-by-side or segmented bar plots, difference in proportions, two-way table |smicln|side-by-side boxplots, stats by group|smicln|scatterplot, correlation"/>
  <p:tag name="TOTALRESPONSES" val="0"/>
  <p:tag name="VALUES" val="No Value|smicln|No Value|smicln|No Value|smicln|No Value|smicln|No Value"/>
  <p:tag name="RESPONSESGATHERED" val="False"/>
  <p:tag name="ANONYMOUSTEMP" val="False"/>
  <p:tag name="TYPE" val="MultiChoiceSlide"/>
  <p:tag name="TPQUESTIONXML" val="﻿&lt;?xml version=&quot;1.0&quot; encoding=&quot;utf-8&quot;?&gt;&#10;&lt;questionlist&gt;&#10;    &lt;properties&gt;&#10;        &lt;guid&gt;1EEF43D68F624BD28C95BA956E9DDCAC&lt;/guid&gt;&#10;        &lt;description /&gt;&#10;        &lt;date&gt;6/19/2017 2:19:56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823D5848E1C848098F52B38C282437E0&lt;/guid&gt;&#10;            &lt;repollguid&gt;42E0AE8FD824482E97440C2A6E1BCBC1&lt;/repollguid&gt;&#10;            &lt;sourceid&gt;383EC498A8A3438F81954CDA121568EF&lt;/sourceid&gt;&#10;            &lt;questiontext&gt;You are interested in analyzing the relationship between political party and IQ.  How would you visualize and summarize the data?&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07F8F3836AA145E0AF20F9B297EE9CDB&lt;/guid&gt;&#10;                    &lt;answertext&gt;bar chart/pie chart, proportions, frequency table/relative frequency table  &lt;/answertext&gt;&#10;                    &lt;valuetype&gt;0&lt;/valuetype&gt;&#10;                &lt;/answer&gt;&#10;                &lt;answer&gt;&#10;                    &lt;guid&gt;33C8F74732B0453B93B5898CD76D2668&lt;/guid&gt;&#10;                    &lt;answertext&gt;dotplot/histogram/boxplot, mean/median, sd/range/IQR, five number summary  &lt;/answertext&gt;&#10;                    &lt;valuetype&gt;0&lt;/valuetype&gt;&#10;                &lt;/answer&gt;&#10;                &lt;answer&gt;&#10;                    &lt;guid&gt;8536D6FE4D0942499CC99C396A4E0502&lt;/guid&gt;&#10;                    &lt;answertext&gt;side-by-side or segmented bar plots, difference in proportions, two-way table  &lt;/answertext&gt;&#10;                    &lt;valuetype&gt;0&lt;/valuetype&gt;&#10;                &lt;/answer&gt;&#10;                &lt;answer&gt;&#10;                    &lt;guid&gt;4737E468BFCE4624A32D3DC088346F9B&lt;/guid&gt;&#10;                    &lt;answertext&gt;side-by-side boxplots, stats by group &lt;/answertext&gt;&#10;                    &lt;valuetype&gt;0&lt;/valuetype&gt;&#10;                &lt;/answer&gt;&#10;                &lt;answer&gt;&#10;                    &lt;guid&gt;B61FD4D3B44B452CB88FEA7F4054F6F3&lt;/guid&gt;&#10;                    &lt;answertext&gt;scatterplot, correlation&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4.xml><?xml version="1.0" encoding="utf-8"?>
<p:tagLst xmlns:a="http://schemas.openxmlformats.org/drawingml/2006/main" xmlns:r="http://schemas.openxmlformats.org/officeDocument/2006/relationships" xmlns:p="http://schemas.openxmlformats.org/presentationml/2006/main">
  <p:tag name="ANSWERBULLETS" val="3"/>
  <p:tag name="OLDNUMANSWERS" val="5"/>
  <p:tag name="TEXTLENGTH" val="292"/>
  <p:tag name="FONTSIZE" val="28"/>
  <p:tag name="BULLETTYPE" val="ppBulletArabicPeriod"/>
  <p:tag name="ANSWERTEXT" val="bar chart/pie chart, proportions, frequency table/relative frequency table &#10;dotplot/histogram/boxplot, mean/median, sd/range/IQR, five number summary &#10;side-by-side or segmented bar plots, difference in proportions, two-way table &#10;side-by-side boxplots, stats by group&#10;scatterplot, correlation"/>
</p:tagLst>
</file>

<file path=ppt/tags/tag5.xml><?xml version="1.0" encoding="utf-8"?>
<p:tagLst xmlns:a="http://schemas.openxmlformats.org/drawingml/2006/main" xmlns:r="http://schemas.openxmlformats.org/officeDocument/2006/relationships" xmlns:p="http://schemas.openxmlformats.org/presentationml/2006/main">
  <p:tag name="DELIMITERS" val="3.1"/>
  <p:tag name="NOPREFERENCE" val="False"/>
  <p:tag name="SLIDEID" val="C2CD2A2E6E244A8B928EDEC7AB4FB1CA"/>
  <p:tag name="SLIDETYPE" val="Q"/>
  <p:tag name="DEMOGRAPHIC" val="False"/>
  <p:tag name="SPEEDSCORING" val="False"/>
  <p:tag name="CORRECTPOINTVALUE" val="100"/>
  <p:tag name="INCORRECTPOINTVALUE" val="0"/>
  <p:tag name="ZEROBASED" val="False"/>
  <p:tag name="VALUEFORMAT" val="0%"/>
  <p:tag name="ANSWERSALIAS" val="bar chart/pie chart, proportions, frequency table/relative frequency table |smicln|dotplot/histogram/boxplot, mean/median, sd/range/IQR, five number summary |smicln|side-by-side or segmented bar plots, difference in proportions, two-way table |smicln|side-by-side boxplots, stats by group|smicln|scatterplot, correlation"/>
  <p:tag name="SLIDEORDER" val="2"/>
  <p:tag name="SLIDEGUID" val="B2E415465AE7476A890C0186621655C1"/>
  <p:tag name="QUESTIONALIAS" val="You are interested in analyzing the relationship between political party and gender.  How would you visualize and summarize this pair of variables?"/>
  <p:tag name="TOTALRESPONSES" val="0"/>
  <p:tag name="VALUES" val="No Value|smicln|No Value|smicln|No Value|smicln|No Value|smicln|No Value"/>
  <p:tag name="RESPONSESGATHERED" val="False"/>
  <p:tag name="ANONYMOUSTEMP" val="False"/>
  <p:tag name="TYPE" val="MultiChoiceSlide"/>
  <p:tag name="TPQUESTIONXML" val="﻿&lt;?xml version=&quot;1.0&quot; encoding=&quot;utf-8&quot;?&gt;&#10;&lt;questionlist&gt;&#10;    &lt;properties&gt;&#10;        &lt;guid&gt;C46F4750924A42979AA5309DE6FBEDC0&lt;/guid&gt;&#10;        &lt;description /&gt;&#10;        &lt;date&gt;6/19/2017 2:19:56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398A381F64A340B5974AB458F92E8E1B&lt;/guid&gt;&#10;            &lt;repollguid&gt;4CCCC7D79B4E42EC946BD6DA80262E93&lt;/repollguid&gt;&#10;            &lt;sourceid&gt;EBAD88B66D474708A08DC2DACD785622&lt;/sourceid&gt;&#10;            &lt;questiontext&gt;You are interested in analyzing the relationship between political party and gender.  How would you visualize and summarize data?&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11EDA57B01C840FFAC980C7C1319E55C&lt;/guid&gt;&#10;                    &lt;answertext&gt;bar chart/pie chart, proportions, frequency table/relative frequency table  &lt;/answertext&gt;&#10;                    &lt;valuetype&gt;0&lt;/valuetype&gt;&#10;                &lt;/answer&gt;&#10;                &lt;answer&gt;&#10;                    &lt;guid&gt;CCC4BF1A29154FC68D540611BD5CA4B8&lt;/guid&gt;&#10;                    &lt;answertext&gt;dotplot/histogram/boxplot, mean/median, sd/range/IQR, five number summary  &lt;/answertext&gt;&#10;                    &lt;valuetype&gt;0&lt;/valuetype&gt;&#10;                &lt;/answer&gt;&#10;                &lt;answer&gt;&#10;                    &lt;guid&gt;641DDFC98169450495A94831A1DE5565&lt;/guid&gt;&#10;                    &lt;answertext&gt;side-by-side or segmented bar plots, difference in proportions, two-way table  &lt;/answertext&gt;&#10;                    &lt;valuetype&gt;0&lt;/valuetype&gt;&#10;                &lt;/answer&gt;&#10;                &lt;answer&gt;&#10;                    &lt;guid&gt;D982BC2379954F5F846C6C38B39C9DE5&lt;/guid&gt;&#10;                    &lt;answertext&gt;side-by-side boxplots, stats by group &lt;/answertext&gt;&#10;                    &lt;valuetype&gt;0&lt;/valuetype&gt;&#10;                &lt;/answer&gt;&#10;                &lt;answer&gt;&#10;                    &lt;guid&gt;07D459C98F40426B842A20280CB83C5E&lt;/guid&gt;&#10;                    &lt;answertext&gt;scatterplot, correlation&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6.xml><?xml version="1.0" encoding="utf-8"?>
<p:tagLst xmlns:a="http://schemas.openxmlformats.org/drawingml/2006/main" xmlns:r="http://schemas.openxmlformats.org/officeDocument/2006/relationships" xmlns:p="http://schemas.openxmlformats.org/presentationml/2006/main">
  <p:tag name="ANSWERBULLETS" val="3"/>
  <p:tag name="OLDNUMANSWERS" val="5"/>
  <p:tag name="TEXTLENGTH" val="292"/>
  <p:tag name="FONTSIZE" val="28"/>
  <p:tag name="BULLETTYPE" val="ppBulletArabicPeriod"/>
  <p:tag name="ANSWERTEXT" val="bar chart/pie chart, proportions, frequency table/relative frequency table &#10;dotplot/histogram/boxplot, mean/median, sd/range/IQR, five number summary &#10;side-by-side or segmented bar plots, difference in proportions, two-way table &#10;side-by-side boxplots, stats by group&#10;scatterplot, correlation"/>
</p:tagLst>
</file>

<file path=ppt/tags/tag7.xml><?xml version="1.0" encoding="utf-8"?>
<p:tagLst xmlns:a="http://schemas.openxmlformats.org/drawingml/2006/main" xmlns:r="http://schemas.openxmlformats.org/officeDocument/2006/relationships" xmlns:p="http://schemas.openxmlformats.org/presentationml/2006/main">
  <p:tag name="DELIMITERS" val="3.1"/>
  <p:tag name="NOPREFERENCE" val="False"/>
  <p:tag name="SLIDEID" val="C2CD2A2E6E244A8B928EDEC7AB4FB1CA"/>
  <p:tag name="SLIDETYPE" val="Q"/>
  <p:tag name="DEMOGRAPHIC" val="False"/>
  <p:tag name="SPEEDSCORING" val="False"/>
  <p:tag name="CORRECTPOINTVALUE" val="100"/>
  <p:tag name="INCORRECTPOINTVALUE" val="0"/>
  <p:tag name="ZEROBASED" val="False"/>
  <p:tag name="VALUEFORMAT" val="0%"/>
  <p:tag name="ANSWERSALIAS" val="bar chart/pie chart, proportions, frequency table/relative frequency table |smicln|dotplot/histogram/boxplot, mean/median, sd/range/IQR, five number summary |smicln|side-by-side or segmented bar plots, difference in proportions, two-way table |smicln|side-by-side boxplots, stats by group|smicln|scatterplot, correlation"/>
  <p:tag name="SLIDEORDER" val="3"/>
  <p:tag name="SLIDEGUID" val="FDACEAB303454F68812D02CB452E41AD"/>
  <p:tag name="QUESTIONALIAS" val="You are interested in analyzing gender of Lorain County residents that voted in a recent election.  How would you visualize and summarize the data?"/>
  <p:tag name="TOTALRESPONSES" val="0"/>
  <p:tag name="VALUES" val="No Value|smicln|No Value|smicln|No Value|smicln|No Value|smicln|No Value"/>
  <p:tag name="RESPONSESGATHERED" val="False"/>
  <p:tag name="ANONYMOUSTEMP" val="False"/>
  <p:tag name="TYPE" val="MultiChoiceSlide"/>
  <p:tag name="TPQUESTIONXML" val="﻿&lt;?xml version=&quot;1.0&quot; encoding=&quot;utf-8&quot;?&gt;&#10;&lt;questionlist&gt;&#10;    &lt;properties&gt;&#10;        &lt;guid&gt;D9A5FFFB45934FBBA5ABCD405A1861D8&lt;/guid&gt;&#10;        &lt;description /&gt;&#10;        &lt;date&gt;6/19/2017 2:19:56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4C4A462AABC04775AB3B25ED14794950&lt;/guid&gt;&#10;            &lt;repollguid&gt;E7033BC49B3D434FA2AE8978CB98A6AC&lt;/repollguid&gt;&#10;            &lt;sourceid&gt;CED04FB2DA9642F69D02C13812D9981B&lt;/sourceid&gt;&#10;            &lt;questiontext&gt;You are interested in analyzing gender of Lorain County residents that voted in a recent election.  How would you visualize and summarize the data?&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D482CC4346FE4E61A42E234536C5895F&lt;/guid&gt;&#10;                    &lt;answertext&gt;bar chart/pie chart, proportions, frequency table/relative frequency table  &lt;/answertext&gt;&#10;                    &lt;valuetype&gt;0&lt;/valuetype&gt;&#10;                &lt;/answer&gt;&#10;                &lt;answer&gt;&#10;                    &lt;guid&gt;7695BCB531534C9AA3DD9F52BD930558&lt;/guid&gt;&#10;                    &lt;answertext&gt;dotplot/histogram/boxplot, mean/median, sd/range/IQR, five number summary  &lt;/answertext&gt;&#10;                    &lt;valuetype&gt;0&lt;/valuetype&gt;&#10;                &lt;/answer&gt;&#10;                &lt;answer&gt;&#10;                    &lt;guid&gt;2E62EA5C148846E89781B1582073252B&lt;/guid&gt;&#10;                    &lt;answertext&gt;side-by-side or segmented bar plots, difference in proportions, two-way table  &lt;/answertext&gt;&#10;                    &lt;valuetype&gt;0&lt;/valuetype&gt;&#10;                &lt;/answer&gt;&#10;                &lt;answer&gt;&#10;                    &lt;guid&gt;1BA000BAFCD14110861B5702A01CE5FC&lt;/guid&gt;&#10;                    &lt;answertext&gt;side-by-side boxplots, stats by group &lt;/answertext&gt;&#10;                    &lt;valuetype&gt;0&lt;/valuetype&gt;&#10;                &lt;/answer&gt;&#10;                &lt;answer&gt;&#10;                    &lt;guid&gt;1CA67D91E3F54F7EBBA4E3ECEBE0D7B4&lt;/guid&gt;&#10;                    &lt;answertext&gt;scatterplot, correlation&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8.xml><?xml version="1.0" encoding="utf-8"?>
<p:tagLst xmlns:a="http://schemas.openxmlformats.org/drawingml/2006/main" xmlns:r="http://schemas.openxmlformats.org/officeDocument/2006/relationships" xmlns:p="http://schemas.openxmlformats.org/presentationml/2006/main">
  <p:tag name="ANSWERBULLETS" val="3"/>
  <p:tag name="OLDNUMANSWERS" val="5"/>
  <p:tag name="TEXTLENGTH" val="292"/>
  <p:tag name="FONTSIZE" val="28"/>
  <p:tag name="BULLETTYPE" val="ppBulletArabicPeriod"/>
  <p:tag name="ANSWERTEXT" val="bar chart/pie chart, proportions, frequency table/relative frequency table &#10;dotplot/histogram/boxplot, mean/median, sd/range/IQR, five number summary &#10;side-by-side or segmented bar plots, difference in proportions, two-way table &#10;side-by-side boxplots, stats by group&#10;scatterplot, correlation"/>
</p:tagLst>
</file>

<file path=ppt/tags/tag9.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Lst>
</file>

<file path=ppt/tags/tag12.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Lst>
</file>

<file path=ppt/tags/tag17.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8.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9.xml><?xml version="1.0" encoding="utf-8"?>
<p:tagLst xmlns:a="http://schemas.openxmlformats.org/drawingml/2006/main" xmlns:r="http://schemas.openxmlformats.org/officeDocument/2006/relationships" xmlns:p="http://schemas.openxmlformats.org/presentationml/2006/main">
  <p:tag name="DELIMITERS" val="3.1"/>
</p:tagLst>
</file>

<file path=ppt/tags/tag20.xml><?xml version="1.0" encoding="utf-8"?>
<p:tagLst xmlns:a="http://schemas.openxmlformats.org/drawingml/2006/main" xmlns:r="http://schemas.openxmlformats.org/officeDocument/2006/relationships" xmlns:p="http://schemas.openxmlformats.org/presentationml/2006/main">
  <p:tag name="NOPREFERENCE" val="False"/>
</p:tagLst>
</file>

<file path=ppt/tags/tag21.xml><?xml version="1.0" encoding="utf-8"?>
<p:tagLst xmlns:a="http://schemas.openxmlformats.org/drawingml/2006/main" xmlns:r="http://schemas.openxmlformats.org/officeDocument/2006/relationships" xmlns:p="http://schemas.openxmlformats.org/presentationml/2006/main">
  <p:tag name="NOPREFERENCE" val="False"/>
  <p:tag name="SLIDEGUID" val="0C2DDF76DF824509A078F5FB7C45BDBB"/>
  <p:tag name="SLIDEID" val="0C2DDF76DF824509A078F5FB7C45BDBB"/>
  <p:tag name="SLIDEORDER" val="1"/>
  <p:tag name="SLIDETYPE" val="Q"/>
  <p:tag name="DEMOGRAPHIC" val="False"/>
  <p:tag name="SPEEDSCORING" val="False"/>
  <p:tag name="CORRECTPOINTVALUE" val="100"/>
  <p:tag name="INCORRECTPOINTVALUE" val="0"/>
  <p:tag name="ZEROBASED" val="False"/>
  <p:tag name="QUESTIONALIAS" val="In the Reese’s Pieces sampling distribution, what does each dot represent?"/>
  <p:tag name="VALUEFORMAT" val="0%"/>
  <p:tag name="ANSWERSALIAS" val="One Reese’s piece|smicln|One sample statistic"/>
  <p:tag name="DELIMITERS" val="3.1"/>
  <p:tag name="TOTALRESPONSES" val="0"/>
  <p:tag name="VALUES" val="No Value|smicln|No Value"/>
  <p:tag name="RESPONSESGATHERED" val="False"/>
  <p:tag name="ANONYMOUSTEMP" val="False"/>
  <p:tag name="TYPE" val="MultiChoiceSlide"/>
  <p:tag name="TPQUESTIONXML" val="﻿&lt;?xml version=&quot;1.0&quot; encoding=&quot;utf-8&quot;?&gt;&#10;&lt;questionlist&gt;&#10;    &lt;properties&gt;&#10;        &lt;guid&gt;77B40DD8D5AD4679866014F9E6055837&lt;/guid&gt;&#10;        &lt;description /&gt;&#10;        &lt;date&gt;6/19/2017 2:19:56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5123C29690784CC0AB9EEB1C81150008&lt;/guid&gt;&#10;            &lt;repollguid&gt;91173CE5A0E8478985D329467E8D40AC&lt;/repollguid&gt;&#10;            &lt;sourceid&gt;A6D2EEA1F0D24742A6D9752492935302&lt;/sourceid&gt;&#10;            &lt;questiontext&gt;In the Reese’s Pieces sampling distribution, what does each dot represent?&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AF9B542217C44C2EABBBEB692AB33F5C&lt;/guid&gt;&#10;                    &lt;answertext&gt;One Reese’s piece &lt;/answertext&gt;&#10;                    &lt;valuetype&gt;0&lt;/valuetype&gt;&#10;                &lt;/answer&gt;&#10;                &lt;answer&gt;&#10;                    &lt;guid&gt;1572701EBA7E4ECDB2902B79EE2FA933&lt;/guid&gt;&#10;                    &lt;answertext&gt;One sample statistic&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2.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38"/>
  <p:tag name="FONTSIZE" val="32"/>
  <p:tag name="BULLETTYPE" val="ppBulletArabicPeriod"/>
  <p:tag name="ANSWERTEXT" val="One Reese’s piece&#10;One sample statistic"/>
  <p:tag name="ZEROBASED" val="False"/>
</p:tagLst>
</file>

<file path=ppt/tags/tag23.xml><?xml version="1.0" encoding="utf-8"?>
<p:tagLst xmlns:a="http://schemas.openxmlformats.org/drawingml/2006/main" xmlns:r="http://schemas.openxmlformats.org/officeDocument/2006/relationships" xmlns:p="http://schemas.openxmlformats.org/presentationml/2006/main">
  <p:tag name="NOPREFERENCE" val="False"/>
</p:tagLst>
</file>

<file path=ppt/tags/tag24.xml><?xml version="1.0" encoding="utf-8"?>
<p:tagLst xmlns:a="http://schemas.openxmlformats.org/drawingml/2006/main" xmlns:r="http://schemas.openxmlformats.org/officeDocument/2006/relationships" xmlns:p="http://schemas.openxmlformats.org/presentationml/2006/main">
  <p:tag name="NOPREFERENCE" val="False"/>
</p:tagLst>
</file>

<file path=ppt/tags/tag25.xml><?xml version="1.0" encoding="utf-8"?>
<p:tagLst xmlns:a="http://schemas.openxmlformats.org/drawingml/2006/main" xmlns:r="http://schemas.openxmlformats.org/officeDocument/2006/relationships" xmlns:p="http://schemas.openxmlformats.org/presentationml/2006/main">
  <p:tag name="NOPREFERENCE" val="False"/>
  <p:tag name="SLIDEGUID" val="D128687A0EF848F99594CE9E4F83409C"/>
  <p:tag name="SLIDEID" val="D128687A0EF848F99594CE9E4F83409C"/>
  <p:tag name="SLIDEORDER" val="1"/>
  <p:tag name="SLIDETYPE" val="Q"/>
  <p:tag name="DEMOGRAPHIC" val="False"/>
  <p:tag name="SPEEDSCORING" val="False"/>
  <p:tag name="CORRECTPOINTVALUE" val="100"/>
  <p:tag name="INCORRECTPOINTVALUE" val="0"/>
  <p:tag name="ZEROBASED" val="False"/>
  <p:tag name="QUESTIONALIAS" val="The standard error for  𝑝 , the proportion of orange Reese’s Pieces in a random sample of 10, is closest to"/>
  <p:tag name="VALUEFORMAT" val="0%"/>
  <p:tag name="ANSWERSALIAS" val=" 0.05|smicln| 0.15|smicln| 0.25|smicln| 0.35"/>
  <p:tag name="DELIMITERS" val="3.1"/>
  <p:tag name="TOTALRESPONSES" val="0"/>
  <p:tag name="VALUES" val="No Value|smicln|No Value|smicln|No Value|smicln|No Value"/>
  <p:tag name="RESPONSESGATHERED" val="False"/>
  <p:tag name="ANONYMOUSTEMP" val="False"/>
  <p:tag name="TYPE" val="MultiChoiceSlide"/>
  <p:tag name="TPQUESTIONXML" val="﻿&lt;?xml version=&quot;1.0&quot; encoding=&quot;utf-8&quot;?&gt;&#10;&lt;questionlist&gt;&#10;    &lt;properties&gt;&#10;        &lt;guid&gt;EBCC4E73502B4B5C90D6B77BC2F465B2&lt;/guid&gt;&#10;        &lt;description /&gt;&#10;        &lt;date&gt;6/19/2017 2:19:56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CED09E5D18814DCEA499EA3FF0D298CC&lt;/guid&gt;&#10;            &lt;repollguid&gt;27AE51084A744B0885A41D1DBBDA8D9B&lt;/repollguid&gt;&#10;            &lt;sourceid&gt;1E45C1E2700C4F608A8529637066A39D&lt;/sourceid&gt;&#10;            &lt;questiontext&gt;The standard error for  $$ , the proportion of orange Reese’s Pieces in a random sample of 10, is closest to&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DBC80456278C4B4E91973B813AF35124&lt;/guid&gt;&#10;                    &lt;answertext&gt; 0.05&lt;/answertext&gt;&#10;                    &lt;valuetype&gt;0&lt;/valuetype&gt;&#10;                &lt;/answer&gt;&#10;                &lt;answer&gt;&#10;                    &lt;guid&gt;EC0E24D571BA4870BE8894F1797BD606&lt;/guid&gt;&#10;                    &lt;answertext&gt; 0.15&lt;/answertext&gt;&#10;                    &lt;valuetype&gt;0&lt;/valuetype&gt;&#10;                &lt;/answer&gt;&#10;                &lt;answer&gt;&#10;                    &lt;guid&gt;D2EDD73DE1A24282B15F18D755E21E28&lt;/guid&gt;&#10;                    &lt;answertext&gt; 0.25&lt;/answertext&gt;&#10;                    &lt;valuetype&gt;0&lt;/valuetype&gt;&#10;                &lt;/answer&gt;&#10;                &lt;answer&gt;&#10;                    &lt;guid&gt;E5639A196B7D4CE5AC37300DB15DC577&lt;/guid&gt;&#10;                    &lt;answertext&gt; 0.35&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26.xml><?xml version="1.0" encoding="utf-8"?>
<p:tagLst xmlns:a="http://schemas.openxmlformats.org/drawingml/2006/main" xmlns:r="http://schemas.openxmlformats.org/officeDocument/2006/relationships" xmlns:p="http://schemas.openxmlformats.org/presentationml/2006/main">
  <p:tag name="OLDNUMANSWERS" val="4"/>
  <p:tag name="ANSWERBULLETS" val="3"/>
  <p:tag name="TEXTLENGTH" val="23"/>
  <p:tag name="FONTSIZE" val="32"/>
  <p:tag name="BULLETTYPE" val="ppBulletArabicPeriod"/>
  <p:tag name="ANSWERTEXT" val=" 0.05&#10; 0.15&#10; 0.25&#10; 0.35"/>
  <p:tag name="ZEROBASED" val="False"/>
</p:tagLst>
</file>

<file path=ppt/tags/tag27.xml><?xml version="1.0" encoding="utf-8"?>
<p:tagLst xmlns:a="http://schemas.openxmlformats.org/drawingml/2006/main" xmlns:r="http://schemas.openxmlformats.org/officeDocument/2006/relationships" xmlns:p="http://schemas.openxmlformats.org/presentationml/2006/main">
  <p:tag name="NOPREFERENCE" val="False"/>
</p:tagLst>
</file>

<file path=ppt/tags/tag28.xml><?xml version="1.0" encoding="utf-8"?>
<p:tagLst xmlns:a="http://schemas.openxmlformats.org/drawingml/2006/main" xmlns:r="http://schemas.openxmlformats.org/officeDocument/2006/relationships" xmlns:p="http://schemas.openxmlformats.org/presentationml/2006/main">
  <p:tag name="NOPREFERENCE" val="False"/>
</p:tagLst>
</file>

<file path=ppt/tags/tag29.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F2A9EEE362C2401581AFE62512BB0F6E&lt;/guid&gt;&#10;        &lt;description /&gt;&#10;        &lt;date&gt;6/19/2017 3:39:24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90D464E5E5834B00911954DD18BDB5BC&lt;/guid&gt;&#10;            &lt;repollguid&gt;A6FAD3D5BE364CAB803676B8E8A34C67&lt;/repollguid&gt;&#10;            &lt;sourceid&gt;39AE22627D934A04A5A854C324B9C121&lt;/sourceid&gt;&#10;            &lt;questiontext&gt;Suppose we were to take samples of size 10 and samples of size 100 from the same population, and compute the sample means.  Which sample means would have the higher standard error?&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2581C455C7DB4A5999999E669598560C&lt;/guid&gt;&#10;                    &lt;answertext&gt; The sample means using n = 10&lt;/answertext&gt;&#10;                    &lt;valuetype&gt;0&lt;/valuetype&gt;&#10;                &lt;/answer&gt;&#10;                &lt;answer&gt;&#10;                    &lt;guid&gt;903B1A1EB8CC478796896D06AF2673BB&lt;/guid&gt;&#10;                    &lt;answertext&gt; The sample means using n = 100&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30.xml><?xml version="1.0" encoding="utf-8"?>
<p:tagLst xmlns:a="http://schemas.openxmlformats.org/drawingml/2006/main" xmlns:r="http://schemas.openxmlformats.org/officeDocument/2006/relationships" xmlns:p="http://schemas.openxmlformats.org/presentationml/2006/main">
  <p:tag name="ZEROBASED" val="False"/>
</p:tagLst>
</file>

<file path=ppt/tags/tag31.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E1255F68A9F1401D8E09AA08645D3A07&lt;/guid&gt;&#10;        &lt;description /&gt;&#10;        &lt;date&gt;6/19/2017 3:42:01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B49FE29419DE4CDAA07AAF3D73020662&lt;/guid&gt;&#10;            &lt;repollguid&gt;E3E3FAA8EDC4467BB89B2C424CC7066D&lt;/repollguid&gt;&#10;            &lt;sourceid&gt;A29117B16B644B38A2EC89D3B9CD51A5&lt;/sourceid&gt;&#10;            &lt;questiontext&gt;Suppose we were to take a sample of size 10 and a sample of size 100 from the same population, and compute the sample mean.  Which sample mean would have higher uncertainty?&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1A074A389004239B0726914BDDEA7AD&lt;/guid&gt;&#10;                    &lt;answertext&gt; The sample mean from n = 10&lt;/answertext&gt;&#10;                    &lt;valuetype&gt;0&lt;/valuetype&gt;&#10;                &lt;/answer&gt;&#10;                &lt;answer&gt;&#10;                    &lt;guid&gt;631331DB248641F7BB292A12E9B8474B&lt;/guid&gt;&#10;                    &lt;answertext&gt; The sample mean from n = 100&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32.xml><?xml version="1.0" encoding="utf-8"?>
<p:tagLst xmlns:a="http://schemas.openxmlformats.org/drawingml/2006/main" xmlns:r="http://schemas.openxmlformats.org/officeDocument/2006/relationships" xmlns:p="http://schemas.openxmlformats.org/presentationml/2006/main">
  <p:tag name="ZEROBASED" val="False"/>
</p:tagLst>
</file>

<file path=ppt/tags/tag3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68C0DA90D2F046D6845E25D2E9193E91&lt;/guid&gt;&#10;        &lt;description /&gt;&#10;        &lt;date&gt;6/19/2017 3:43:16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5FC365F2E3A457484AA7006F2E50ED4&lt;/guid&gt;&#10;            &lt;repollguid&gt;B1C787ABBD7D476E8361BE5E02519E94&lt;/repollguid&gt;&#10;            &lt;sourceid&gt;C46CB0FAA7FB4F4BB5F2AFA133217454&lt;/sourceid&gt;&#10;            &lt;questiontext&gt;The sampling distribution is shown for enrollment in statistics grad schools.  One dot represents:&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718AE619C77D4BC3A91BDC482836AF72&lt;/guid&gt;&#10;                    &lt;answertext&gt;Enrollment at one statistics grad program&lt;/answertext&gt;&#10;                    &lt;valuetype&gt;0&lt;/valuetype&gt;&#10;                &lt;/answer&gt;&#10;                &lt;answer&gt;&#10;                    &lt;guid&gt;BB7F84DFF3C34962B7BBFF9FF2F1B4B4&lt;/guid&gt;&#10;                    &lt;answertext&gt;One sample mean&lt;/answertext&gt;&#10;                    &lt;valuetype&gt;0&lt;/valuetype&gt;&#10;                &lt;/answer&gt;&#10;                &lt;answer&gt;&#10;                    &lt;guid&gt;6BA110DD7AC6400E9F2F9F4564309904&lt;/guid&gt;&#10;                    &lt;answertext&gt;1000 different enrollments&lt;/answertext&gt;&#10;                    &lt;valuetype&gt;0&lt;/valuetype&gt;&#10;                &lt;/answer&gt;&#10;                &lt;answer&gt;&#10;                    &lt;guid&gt;40C27E8E1BAE437C8C752EF1605A85AD&lt;/guid&gt;&#10;                    &lt;answertext&gt;1000 sample means&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34.xml><?xml version="1.0" encoding="utf-8"?>
<p:tagLst xmlns:a="http://schemas.openxmlformats.org/drawingml/2006/main" xmlns:r="http://schemas.openxmlformats.org/officeDocument/2006/relationships" xmlns:p="http://schemas.openxmlformats.org/presentationml/2006/main">
  <p:tag name="ZEROBASED" val="False"/>
</p:tagLst>
</file>

<file path=ppt/tags/tag35.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F782DF570D9B403E8FA4BB43F1072B19&lt;/guid&gt;&#10;        &lt;description /&gt;&#10;        &lt;date&gt;6/19/2017 7:03:54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6A7915E6BCFA4FE896C71A1C6E01B691&lt;/guid&gt;&#10;            &lt;repollguid&gt;8F500B2B1CAB42AC8D592604C551D45B&lt;/repollguid&gt;&#10;            &lt;sourceid&gt;4C7DBA9F2A3C4580887112BEC4E378F9&lt;/sourceid&gt;&#10;            &lt;questiontext&gt;The sampling distribution is shown for enrollment in statistics grad schools.  The population parameter is closest to:&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39D8D2B9C5941419916592C6571581E&lt;/guid&gt;&#10;                    &lt;answertext&gt;5 &lt;/answertext&gt;&#10;                    &lt;valuetype&gt;0&lt;/valuetype&gt;&#10;                &lt;/answer&gt;&#10;                &lt;answer&gt;&#10;                    &lt;guid&gt;83F3C955C81647F2AEC71DD48B24DD3E&lt;/guid&gt;&#10;                    &lt;answertext&gt;10&lt;/answertext&gt;&#10;                    &lt;valuetype&gt;0&lt;/valuetype&gt;&#10;                &lt;/answer&gt;&#10;                &lt;answer&gt;&#10;                    &lt;guid&gt;D489669CE82E4C6093A802EDE663E9E6&lt;/guid&gt;&#10;                    &lt;answertext&gt;20&lt;/answertext&gt;&#10;                    &lt;valuetype&gt;0&lt;/valuetype&gt;&#10;                &lt;/answer&gt;&#10;                &lt;answer&gt;&#10;                    &lt;guid&gt;31DF4D6EF4B74DA3A871FAEBB825A7FD&lt;/guid&gt;&#10;                    &lt;answertext&gt;55&lt;/answertext&gt;&#10;                    &lt;valuetype&gt;0&lt;/valuetype&gt;&#10;                &lt;/answer&gt;&#10;                &lt;answer&gt;&#10;                    &lt;guid&gt;944B6C8F374D4FDC8B6CFBE0F3D350AD&lt;/guid&gt;&#10;                    &lt;answertext&gt;65&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36.xml><?xml version="1.0" encoding="utf-8"?>
<p:tagLst xmlns:a="http://schemas.openxmlformats.org/drawingml/2006/main" xmlns:r="http://schemas.openxmlformats.org/officeDocument/2006/relationships" xmlns:p="http://schemas.openxmlformats.org/presentationml/2006/main">
  <p:tag name="ZEROBASED" val="False"/>
</p:tagLst>
</file>

<file path=ppt/tags/tag37.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356F9D8DBF074692B209CC960D4ABAA2&lt;/guid&gt;&#10;        &lt;description /&gt;&#10;        &lt;date&gt;6/19/2017 7:09:51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BBAF3F4F750B492CACB4052B0EA5A206&lt;/guid&gt;&#10;            &lt;repollguid&gt;A6404032D6E64CB289102E4DC0EEE5F5&lt;/repollguid&gt;&#10;            &lt;sourceid&gt;9FAE101BA8C44C0AA50E5C010F02F4A2&lt;/sourceid&gt;&#10;            &lt;questiontext&gt;The sampling distribution is shown for enrollment in statistics grad schools.  The standard error is closest to:&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937254CD27BB42449F118CD48DFDAFDB&lt;/guid&gt;&#10;                    &lt;answertext&gt;5&lt;/answertext&gt;&#10;                    &lt;valuetype&gt;0&lt;/valuetype&gt;&#10;                &lt;/answer&gt;&#10;                &lt;answer&gt;&#10;                    &lt;guid&gt;0713D3E04FFE49ECB22C34F796004839&lt;/guid&gt;&#10;                    &lt;answertext&gt;10&lt;/answertext&gt;&#10;                    &lt;valuetype&gt;0&lt;/valuetype&gt;&#10;                &lt;/answer&gt;&#10;                &lt;answer&gt;&#10;                    &lt;guid&gt;915A61B7537B45D89773C66D253C1AA5&lt;/guid&gt;&#10;                    &lt;answertext&gt;20&lt;/answertext&gt;&#10;                    &lt;valuetype&gt;0&lt;/valuetype&gt;&#10;                &lt;/answer&gt;&#10;                &lt;answer&gt;&#10;                    &lt;guid&gt;DCE3D6BA5A304EAD8D973678D3CA4768&lt;/guid&gt;&#10;                    &lt;answertext&gt;55&lt;/answertext&gt;&#10;                    &lt;valuetype&gt;0&lt;/valuetype&gt;&#10;                &lt;/answer&gt;&#10;                &lt;answer&gt;&#10;                    &lt;guid&gt;841313760EE04F6DA74A932A37F59FB3&lt;/guid&gt;&#10;                    &lt;answertext&gt;65&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38.xml><?xml version="1.0" encoding="utf-8"?>
<p:tagLst xmlns:a="http://schemas.openxmlformats.org/drawingml/2006/main" xmlns:r="http://schemas.openxmlformats.org/officeDocument/2006/relationships" xmlns:p="http://schemas.openxmlformats.org/presentationml/2006/main">
  <p:tag name="ZEROBASED" val="False"/>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2763</TotalTime>
  <Words>1234</Words>
  <Application>Microsoft Office PowerPoint</Application>
  <PresentationFormat>On-screen Show (4:3)</PresentationFormat>
  <Paragraphs>141</Paragraphs>
  <Slides>32</Slides>
  <Notes>5</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34" baseType="lpstr">
      <vt:lpstr>Median</vt:lpstr>
      <vt:lpstr>Equation</vt:lpstr>
      <vt:lpstr>PowerPoint Presentation</vt:lpstr>
      <vt:lpstr>You are interested in analyzing the relationship between political party and IQ.  How would you visualize and summarize the data?</vt:lpstr>
      <vt:lpstr>You are interested in analyzing the relationship between political party and gender.  How would you visualize and summarize data?</vt:lpstr>
      <vt:lpstr>You are interested in analyzing gender of Lorain County residents that voted in a recent election.  How would you visualize and summarize the data?</vt:lpstr>
      <vt:lpstr>PowerPoint Presentation</vt:lpstr>
      <vt:lpstr>Statistical Inference</vt:lpstr>
      <vt:lpstr>Statistic and Parameter</vt:lpstr>
      <vt:lpstr>Parameter versus Statistic</vt:lpstr>
      <vt:lpstr>Election Polls</vt:lpstr>
      <vt:lpstr>Point Estimate</vt:lpstr>
      <vt:lpstr>Election Polls</vt:lpstr>
      <vt:lpstr>The Results…</vt:lpstr>
      <vt:lpstr>Important Points</vt:lpstr>
      <vt:lpstr>Reese’s Pieces Experiment</vt:lpstr>
      <vt:lpstr>PowerPoint Presentation</vt:lpstr>
      <vt:lpstr>Sampling Distribution</vt:lpstr>
      <vt:lpstr>In the Reese’s Pieces sampling distribution, what does each dot represent?</vt:lpstr>
      <vt:lpstr>Center and Shape</vt:lpstr>
      <vt:lpstr>PowerPoint Presentation</vt:lpstr>
      <vt:lpstr>Random Samples</vt:lpstr>
      <vt:lpstr>Sampling Distribution</vt:lpstr>
      <vt:lpstr>Standard Error</vt:lpstr>
      <vt:lpstr>The standard error for p ̂, the proportion of orange Reese’s Pieces in a random sample of 10, is closest to</vt:lpstr>
      <vt:lpstr>Reese’s Pieces</vt:lpstr>
      <vt:lpstr>What Effect Does Sample Size Have on the Distribution?</vt:lpstr>
      <vt:lpstr>Sample Size Matters!</vt:lpstr>
      <vt:lpstr>Suppose we were to take samples of size 10 and samples of size 100 from the same population, and compute the sample means.  Which sample means would have the higher standard error?</vt:lpstr>
      <vt:lpstr>Suppose we were to take a sample of size 10 and a sample of size 100 from the same population, and compute the sample mean.  Which sample mean would have higher uncertainty?</vt:lpstr>
      <vt:lpstr>The sampling distribution is shown for enrollment in statistics grad schools.  One dot represents:</vt:lpstr>
      <vt:lpstr>The sampling distribution is shown for enrollment in statistics grad schools.  The population parameter is closest to:</vt:lpstr>
      <vt:lpstr>The sampling distribution is shown for enrollment in statistics grad schools.  The standard error is closest to: </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Dobeck</dc:creator>
  <cp:lastModifiedBy>Nadezhda Berezyuk</cp:lastModifiedBy>
  <cp:revision>66</cp:revision>
  <dcterms:created xsi:type="dcterms:W3CDTF">2012-12-24T20:14:58Z</dcterms:created>
  <dcterms:modified xsi:type="dcterms:W3CDTF">2019-09-18T10:44:51Z</dcterms:modified>
</cp:coreProperties>
</file>