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305" r:id="rId2"/>
    <p:sldId id="258" r:id="rId3"/>
    <p:sldId id="260" r:id="rId4"/>
    <p:sldId id="263" r:id="rId5"/>
    <p:sldId id="264" r:id="rId6"/>
    <p:sldId id="265" r:id="rId7"/>
    <p:sldId id="301" r:id="rId8"/>
    <p:sldId id="266" r:id="rId9"/>
    <p:sldId id="268" r:id="rId10"/>
    <p:sldId id="267" r:id="rId11"/>
    <p:sldId id="272" r:id="rId12"/>
    <p:sldId id="270" r:id="rId13"/>
    <p:sldId id="277" r:id="rId14"/>
    <p:sldId id="278" r:id="rId15"/>
    <p:sldId id="279" r:id="rId16"/>
    <p:sldId id="280" r:id="rId17"/>
    <p:sldId id="281" r:id="rId18"/>
    <p:sldId id="269" r:id="rId19"/>
    <p:sldId id="271" r:id="rId20"/>
    <p:sldId id="303" r:id="rId21"/>
    <p:sldId id="304" r:id="rId22"/>
    <p:sldId id="273" r:id="rId23"/>
    <p:sldId id="283" r:id="rId24"/>
    <p:sldId id="284" r:id="rId25"/>
    <p:sldId id="285" r:id="rId26"/>
    <p:sldId id="286" r:id="rId27"/>
    <p:sldId id="288" r:id="rId28"/>
    <p:sldId id="300" r:id="rId29"/>
    <p:sldId id="289" r:id="rId30"/>
    <p:sldId id="290" r:id="rId31"/>
    <p:sldId id="291" r:id="rId32"/>
    <p:sldId id="292" r:id="rId33"/>
    <p:sldId id="293" r:id="rId34"/>
    <p:sldId id="294" r:id="rId35"/>
    <p:sldId id="308" r:id="rId36"/>
    <p:sldId id="309" r:id="rId37"/>
    <p:sldId id="296" r:id="rId38"/>
    <p:sldId id="297" r:id="rId39"/>
    <p:sldId id="298" r:id="rId40"/>
    <p:sldId id="306" r:id="rId41"/>
  </p:sldIdLst>
  <p:sldSz cx="9144000" cy="6858000" type="screen4x3"/>
  <p:notesSz cx="6858000" cy="9313863"/>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34">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7" d="100"/>
          <a:sy n="107" d="100"/>
        </p:scale>
        <p:origin x="-678" y="-6"/>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1860" y="-84"/>
      </p:cViewPr>
      <p:guideLst>
        <p:guide orient="horz" pos="2934"/>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613" y="8846553"/>
            <a:ext cx="2971800" cy="465693"/>
          </a:xfrm>
          <a:prstGeom prst="rect">
            <a:avLst/>
          </a:prstGeom>
        </p:spPr>
        <p:txBody>
          <a:bodyPr vert="horz" lIns="91440" tIns="45720" rIns="91440" bIns="45720" rtlCol="0" anchor="b"/>
          <a:lstStyle>
            <a:lvl1pPr algn="r">
              <a:defRPr sz="1200"/>
            </a:lvl1pPr>
          </a:lstStyle>
          <a:p>
            <a:fld id="{29681217-A8DF-4FA9-8B41-236F56FAA562}" type="slidenum">
              <a:rPr lang="en-US" smtClean="0"/>
              <a:t>‹#›</a:t>
            </a:fld>
            <a:endParaRPr lang="en-US"/>
          </a:p>
        </p:txBody>
      </p:sp>
    </p:spTree>
    <p:extLst>
      <p:ext uri="{BB962C8B-B14F-4D97-AF65-F5344CB8AC3E}">
        <p14:creationId xmlns:p14="http://schemas.microsoft.com/office/powerpoint/2010/main" val="950648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5693"/>
          </a:xfrm>
          <a:prstGeom prst="rect">
            <a:avLst/>
          </a:prstGeom>
        </p:spPr>
        <p:txBody>
          <a:bodyPr vert="horz" lIns="91440" tIns="45720" rIns="91440" bIns="45720" rtlCol="0"/>
          <a:lstStyle>
            <a:lvl1pPr algn="r">
              <a:defRPr sz="1200"/>
            </a:lvl1pPr>
          </a:lstStyle>
          <a:p>
            <a:fld id="{2D508BA2-70A8-4609-8B14-BA4C51E482B5}" type="datetimeFigureOut">
              <a:rPr lang="en-US" smtClean="0"/>
              <a:t>9/18/2019</a:t>
            </a:fld>
            <a:endParaRPr lang="en-US"/>
          </a:p>
        </p:txBody>
      </p:sp>
      <p:sp>
        <p:nvSpPr>
          <p:cNvPr id="4" name="Slide Image Placeholder 3"/>
          <p:cNvSpPr>
            <a:spLocks noGrp="1" noRot="1" noChangeAspect="1"/>
          </p:cNvSpPr>
          <p:nvPr>
            <p:ph type="sldImg" idx="2"/>
          </p:nvPr>
        </p:nvSpPr>
        <p:spPr>
          <a:xfrm>
            <a:off x="1101725" y="698500"/>
            <a:ext cx="4654550" cy="34925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24085"/>
            <a:ext cx="5486400" cy="41912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6553"/>
            <a:ext cx="2971800" cy="46569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46553"/>
            <a:ext cx="2971800" cy="465693"/>
          </a:xfrm>
          <a:prstGeom prst="rect">
            <a:avLst/>
          </a:prstGeom>
        </p:spPr>
        <p:txBody>
          <a:bodyPr vert="horz" lIns="91440" tIns="45720" rIns="91440" bIns="45720" rtlCol="0" anchor="b"/>
          <a:lstStyle>
            <a:lvl1pPr algn="r">
              <a:defRPr sz="1200"/>
            </a:lvl1pPr>
          </a:lstStyle>
          <a:p>
            <a:fld id="{EF6941C8-FE0C-48C7-A3F2-825292D988A2}" type="slidenum">
              <a:rPr lang="en-US" smtClean="0"/>
              <a:t>‹#›</a:t>
            </a:fld>
            <a:endParaRPr lang="en-US"/>
          </a:p>
        </p:txBody>
      </p:sp>
    </p:spTree>
    <p:extLst>
      <p:ext uri="{BB962C8B-B14F-4D97-AF65-F5344CB8AC3E}">
        <p14:creationId xmlns:p14="http://schemas.microsoft.com/office/powerpoint/2010/main" val="39328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D881A71-1E8A-43E8-B5C2-524F1D0E2AC7}"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userDrawn="1"/>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87C6C87E-36C8-4266-9681-E446B34FD354}"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lvl1pPr>
              <a:defRPr b="1"/>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87C6C87E-36C8-4266-9681-E446B34FD354}" type="slidenum">
              <a:rPr lang="en-US" smtClean="0"/>
              <a:t>‹#›</a:t>
            </a:fld>
            <a:endParaRPr lang="en-US"/>
          </a:p>
        </p:txBody>
      </p:sp>
      <p:sp>
        <p:nvSpPr>
          <p:cNvPr id="8" name="Content Placeholder 7"/>
          <p:cNvSpPr>
            <a:spLocks noGrp="1"/>
          </p:cNvSpPr>
          <p:nvPr>
            <p:ph sz="quarter" idx="1"/>
          </p:nvPr>
        </p:nvSpPr>
        <p:spPr>
          <a:xfrm>
            <a:off x="612648" y="1600200"/>
            <a:ext cx="8074152" cy="5029200"/>
          </a:xfrm>
        </p:spPr>
        <p:txBody>
          <a:bodyPr>
            <a:normAutofit/>
          </a:bodyPr>
          <a:lstStyle>
            <a:lvl1pPr>
              <a:defRPr sz="3600">
                <a:solidFill>
                  <a:schemeClr val="tx2"/>
                </a:solidFill>
              </a:defRPr>
            </a:lvl1pPr>
            <a:lvl2pPr>
              <a:defRPr sz="3600">
                <a:solidFill>
                  <a:schemeClr val="tx2"/>
                </a:solidFill>
              </a:defRPr>
            </a:lvl2pPr>
            <a:lvl3pPr>
              <a:defRPr sz="3600">
                <a:solidFill>
                  <a:schemeClr val="tx2"/>
                </a:solidFill>
              </a:defRPr>
            </a:lvl3pPr>
            <a:lvl4pPr>
              <a:defRPr sz="3600">
                <a:solidFill>
                  <a:schemeClr val="tx2"/>
                </a:solidFill>
              </a:defRPr>
            </a:lvl4pPr>
            <a:lvl5pPr>
              <a:defRPr sz="3600">
                <a:solidFill>
                  <a:schemeClr val="tx2"/>
                </a:solidFill>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9798F07D-C4B5-441C-920F-D00A9857AB01}" type="datetimeFigureOut">
              <a:rPr lang="en-US" smtClean="0"/>
              <a:t>9/18/2019</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87C6C87E-36C8-4266-9681-E446B34FD354}"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98F07D-C4B5-441C-920F-D00A9857AB01}" type="datetimeFigureOut">
              <a:rPr lang="en-US" smtClean="0"/>
              <a:t>9/18/2019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87C6C87E-36C8-4266-9681-E446B34FD3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licker">
    <p:spTree>
      <p:nvGrpSpPr>
        <p:cNvPr id="1" name=""/>
        <p:cNvGrpSpPr/>
        <p:nvPr/>
      </p:nvGrpSpPr>
      <p:grpSpPr>
        <a:xfrm>
          <a:off x="0" y="0"/>
          <a:ext cx="0" cy="0"/>
          <a:chOff x="0" y="0"/>
          <a:chExt cx="0" cy="0"/>
        </a:xfrm>
      </p:grpSpPr>
      <p:sp>
        <p:nvSpPr>
          <p:cNvPr id="2" name="Title 1"/>
          <p:cNvSpPr>
            <a:spLocks noGrp="1"/>
          </p:cNvSpPr>
          <p:nvPr>
            <p:ph type="title"/>
          </p:nvPr>
        </p:nvSpPr>
        <p:spPr>
          <a:xfrm>
            <a:off x="1319784" y="152400"/>
            <a:ext cx="7290816" cy="762000"/>
          </a:xfrm>
        </p:spPr>
        <p:txBody>
          <a:bodyPr>
            <a:normAutofit/>
          </a:bodyPr>
          <a:lstStyle>
            <a:lvl1pPr>
              <a:defRPr sz="4000" b="1"/>
            </a:lvl1pPr>
          </a:lstStyle>
          <a:p>
            <a:r>
              <a:rPr lang="en-US"/>
              <a:t>Click to edit Master title style</a:t>
            </a:r>
            <a:endParaRPr lang="en-US" dirty="0"/>
          </a:p>
        </p:txBody>
      </p:sp>
      <p:pic>
        <p:nvPicPr>
          <p:cNvPr id="4" name="Picture 2" descr="http://t3.gstatic.com/images?q=tbn:ANd9GcTYmiLh9B_aVjviHh1xZIewSwIAVBJM6GGUwjQGMknDgt1O3VWWMFpakkXX"/>
          <p:cNvPicPr>
            <a:picLocks noChangeAspect="1" noChangeArrowheads="1"/>
          </p:cNvPicPr>
          <p:nvPr userDrawn="1"/>
        </p:nvPicPr>
        <p:blipFill>
          <a:blip r:embed="rId2" cstate="print"/>
          <a:srcRect t="17160" b="8480"/>
          <a:stretch>
            <a:fillRect/>
          </a:stretch>
        </p:blipFill>
        <p:spPr bwMode="auto">
          <a:xfrm>
            <a:off x="173736" y="173736"/>
            <a:ext cx="1066800" cy="990600"/>
          </a:xfrm>
          <a:prstGeom prst="rect">
            <a:avLst/>
          </a:prstGeom>
          <a:noFill/>
        </p:spPr>
      </p:pic>
      <p:sp>
        <p:nvSpPr>
          <p:cNvPr id="9" name="Text Placeholder 12"/>
          <p:cNvSpPr>
            <a:spLocks noGrp="1"/>
          </p:cNvSpPr>
          <p:nvPr>
            <p:ph idx="1"/>
          </p:nvPr>
        </p:nvSpPr>
        <p:spPr>
          <a:xfrm>
            <a:off x="301752" y="1371600"/>
            <a:ext cx="8534400" cy="2209800"/>
          </a:xfrm>
          <a:prstGeom prst="rect">
            <a:avLst/>
          </a:prstGeom>
        </p:spPr>
        <p:txBody>
          <a:bodyPr vert="horz">
            <a:normAutofit/>
          </a:bodyPr>
          <a:lstStyle>
            <a:lvl1pPr marL="0" indent="0">
              <a:spcBef>
                <a:spcPts val="0"/>
              </a:spcBef>
              <a:spcAft>
                <a:spcPts val="1800"/>
              </a:spcAft>
              <a:buNone/>
              <a:defRPr sz="3200"/>
            </a:lvl1pPr>
            <a:lvl2pPr>
              <a:spcBef>
                <a:spcPts val="0"/>
              </a:spcBef>
              <a:spcAft>
                <a:spcPts val="1800"/>
              </a:spcAft>
              <a:defRPr sz="2800"/>
            </a:lvl2pPr>
            <a:lvl3pPr>
              <a:spcBef>
                <a:spcPts val="0"/>
              </a:spcBef>
              <a:spcAft>
                <a:spcPts val="1800"/>
              </a:spcAft>
              <a:defRPr sz="2400"/>
            </a:lvl3pPr>
            <a:lvl4pPr>
              <a:spcBef>
                <a:spcPts val="0"/>
              </a:spcBef>
              <a:spcAft>
                <a:spcPts val="1800"/>
              </a:spcAft>
              <a:defRPr sz="2000"/>
            </a:lvl4pPr>
            <a:lvl5pPr>
              <a:spcBef>
                <a:spcPts val="0"/>
              </a:spcBef>
              <a:spcAft>
                <a:spcPts val="1800"/>
              </a:spcAft>
              <a:defRPr/>
            </a:lvl5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10" name="Text Placeholder 12"/>
          <p:cNvSpPr>
            <a:spLocks noGrp="1"/>
          </p:cNvSpPr>
          <p:nvPr>
            <p:ph idx="13"/>
          </p:nvPr>
        </p:nvSpPr>
        <p:spPr>
          <a:xfrm>
            <a:off x="1143000" y="3886200"/>
            <a:ext cx="7568680" cy="2161032"/>
          </a:xfrm>
          <a:prstGeom prst="rect">
            <a:avLst/>
          </a:prstGeom>
        </p:spPr>
        <p:txBody>
          <a:bodyPr vert="horz">
            <a:normAutofit/>
          </a:bodyPr>
          <a:lstStyle>
            <a:lvl1pPr marL="0" indent="0">
              <a:spcBef>
                <a:spcPts val="0"/>
              </a:spcBef>
              <a:spcAft>
                <a:spcPts val="0"/>
              </a:spcAft>
              <a:buFont typeface="+mj-lt"/>
              <a:buAutoNum type="alphaLcParenR"/>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11" name="Text Placeholder 12"/>
          <p:cNvSpPr>
            <a:spLocks noGrp="1"/>
          </p:cNvSpPr>
          <p:nvPr>
            <p:ph idx="14"/>
          </p:nvPr>
        </p:nvSpPr>
        <p:spPr>
          <a:xfrm>
            <a:off x="5181600" y="4114800"/>
            <a:ext cx="3733800" cy="2057400"/>
          </a:xfrm>
          <a:prstGeom prst="rect">
            <a:avLst/>
          </a:prstGeom>
        </p:spPr>
        <p:txBody>
          <a:bodyPr vert="horz">
            <a:normAutofit/>
          </a:bodyPr>
          <a:lstStyle>
            <a:lvl1pPr marL="0" indent="0">
              <a:buNone/>
              <a:defRPr sz="2400">
                <a:solidFill>
                  <a:schemeClr val="accent1"/>
                </a:solidFill>
                <a:latin typeface="Segoe Print" pitchFamily="2" charset="0"/>
              </a:defRPr>
            </a:lvl1pPr>
            <a:lvl2pPr marL="274320" indent="0">
              <a:buNone/>
              <a:defRPr sz="2800">
                <a:solidFill>
                  <a:schemeClr val="accent1"/>
                </a:solidFill>
                <a:latin typeface="Segoe Print" pitchFamily="2" charset="0"/>
              </a:defRPr>
            </a:lvl2pPr>
            <a:lvl3pPr marL="594360" indent="0">
              <a:buNone/>
              <a:defRPr sz="2400">
                <a:solidFill>
                  <a:schemeClr val="accent1"/>
                </a:solidFill>
                <a:latin typeface="Segoe Print" pitchFamily="2" charset="0"/>
              </a:defRPr>
            </a:lvl3pPr>
            <a:lvl4pPr marL="868680" indent="0">
              <a:buNone/>
              <a:defRPr sz="2000">
                <a:solidFill>
                  <a:schemeClr val="accent1"/>
                </a:solidFill>
                <a:latin typeface="Segoe Print" pitchFamily="2" charset="0"/>
              </a:defRPr>
            </a:lvl4pPr>
            <a:lvl5pPr marL="1143000" indent="0">
              <a:buNone/>
              <a:defRPr>
                <a:solidFill>
                  <a:schemeClr val="accent1"/>
                </a:solidFill>
                <a:latin typeface="Segoe Print" pitchFamily="2" charset="0"/>
              </a:defRPr>
            </a:lvl5pPr>
          </a:lstStyle>
          <a:p>
            <a:pPr lvl="0" eaLnBrk="1" latinLnBrk="0" hangingPunct="1"/>
            <a:r>
              <a:rPr kumimoji="0" lang="en-US"/>
              <a:t>Click to edit Master text styles</a:t>
            </a:r>
          </a:p>
        </p:txBody>
      </p:sp>
    </p:spTree>
    <p:extLst>
      <p:ext uri="{BB962C8B-B14F-4D97-AF65-F5344CB8AC3E}">
        <p14:creationId xmlns:p14="http://schemas.microsoft.com/office/powerpoint/2010/main" val="2015650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Tree>
    <p:extLst>
      <p:ext uri="{BB962C8B-B14F-4D97-AF65-F5344CB8AC3E}">
        <p14:creationId xmlns:p14="http://schemas.microsoft.com/office/powerpoint/2010/main" val="3014268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a:solidFill>
                  <a:schemeClr val="tx2"/>
                </a:solidFill>
              </a:defRPr>
            </a:lvl1pPr>
          </a:lstStyle>
          <a:p>
            <a:r>
              <a:rPr kumimoji="0" lang="en-US"/>
              <a:t>Click to edit Master title style</a:t>
            </a:r>
            <a:endParaRPr kumimoji="0" lang="en-US" dirty="0"/>
          </a:p>
        </p:txBody>
      </p:sp>
      <p:sp>
        <p:nvSpPr>
          <p:cNvPr id="8" name="Rectangle 7"/>
          <p:cNvSpPr>
            <a:spLocks noChangeArrowheads="1"/>
          </p:cNvSpPr>
          <p:nvPr userDrawn="1"/>
        </p:nvSpPr>
        <p:spPr bwMode="auto">
          <a:xfrm>
            <a:off x="152400" y="152400"/>
            <a:ext cx="8833104" cy="6547104"/>
          </a:xfrm>
          <a:prstGeom prst="rect">
            <a:avLst/>
          </a:prstGeom>
          <a:noFill/>
          <a:ln w="38100" cap="flat" cmpd="thickThin" algn="ctr">
            <a:solidFill>
              <a:schemeClr val="accent4"/>
            </a:solidFill>
            <a:prstDash val="solid"/>
            <a:miter lim="800000"/>
            <a:headEnd type="none" w="med" len="med"/>
            <a:tailEnd type="none" w="med" len="med"/>
          </a:ln>
          <a:effectLst/>
        </p:spPr>
        <p:txBody>
          <a:bodyPr vert="horz" wrap="none" lIns="91440" tIns="45720" rIns="91440" bIns="45720" anchor="ctr" compatLnSpc="1"/>
          <a:lstStyle/>
          <a:p>
            <a:endParaRPr lang="en-US" dirty="0">
              <a:solidFill>
                <a:prstClr val="black"/>
              </a:solidFill>
            </a:endParaRPr>
          </a:p>
        </p:txBody>
      </p:sp>
      <p:sp>
        <p:nvSpPr>
          <p:cNvPr id="6" name="Rectangle 5"/>
          <p:cNvSpPr>
            <a:spLocks noChangeArrowheads="1"/>
          </p:cNvSpPr>
          <p:nvPr userDrawn="1"/>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r>
              <a:rPr lang="en-US" dirty="0">
                <a:solidFill>
                  <a:schemeClr val="bg1"/>
                </a:solidFill>
              </a:rPr>
              <a:t>Statistics: Unlocking the Power of Data				</a:t>
            </a:r>
            <a:r>
              <a:rPr lang="en-US" baseline="0" dirty="0">
                <a:solidFill>
                  <a:schemeClr val="bg1"/>
                </a:solidFill>
              </a:rPr>
              <a:t>               </a:t>
            </a:r>
            <a:r>
              <a:rPr lang="en-US" dirty="0">
                <a:solidFill>
                  <a:schemeClr val="bg1"/>
                </a:solidFill>
              </a:rPr>
              <a:t>Lock</a:t>
            </a:r>
            <a:r>
              <a:rPr lang="en-US" baseline="30000" dirty="0">
                <a:solidFill>
                  <a:schemeClr val="bg1"/>
                </a:solidFill>
              </a:rPr>
              <a:t>5</a:t>
            </a:r>
            <a:endParaRPr lang="en-US" dirty="0">
              <a:solidFill>
                <a:schemeClr val="bg1"/>
              </a:solidFill>
            </a:endParaRPr>
          </a:p>
        </p:txBody>
      </p:sp>
    </p:spTree>
    <p:extLst>
      <p:ext uri="{BB962C8B-B14F-4D97-AF65-F5344CB8AC3E}">
        <p14:creationId xmlns:p14="http://schemas.microsoft.com/office/powerpoint/2010/main" val="1434633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798F07D-C4B5-441C-920F-D00A9857AB01}" type="datetimeFigureOut">
              <a:rPr lang="en-US" smtClean="0"/>
              <a:t>9/18/2019</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87C6C87E-36C8-4266-9681-E446B34FD35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7" r:id="rId4"/>
    <p:sldLayoutId id="2147483668" r:id="rId5"/>
    <p:sldLayoutId id="2147483669" r:id="rId6"/>
    <p:sldLayoutId id="2147483670" r:id="rId7"/>
  </p:sldLayoutIdLst>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600" kern="1200">
          <a:solidFill>
            <a:schemeClr val="tx2"/>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600" kern="1200">
          <a:solidFill>
            <a:schemeClr val="tx2"/>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3600" kern="1200">
          <a:solidFill>
            <a:schemeClr val="tx2"/>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3600" kern="1200">
          <a:solidFill>
            <a:schemeClr val="tx2"/>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3600" kern="1200">
          <a:solidFill>
            <a:schemeClr val="tx2"/>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hyperlink" Target="http://www.nytimes.com/2012/01/22/education/edlife/a-sharper-mind-middle-age-and-beyond.html?_r=1&amp;hp" TargetMode="Externa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3.xml.rels><?xml version="1.0" encoding="UTF-8" standalone="yes"?>
<Relationships xmlns="http://schemas.openxmlformats.org/package/2006/relationships"><Relationship Id="rId3" Type="http://schemas.openxmlformats.org/officeDocument/2006/relationships/hyperlink" Target="http://www.businessweek.com/magazine/correlation-or-causation-12012011-gfx.html" TargetMode="External"/><Relationship Id="rId2" Type="http://schemas.openxmlformats.org/officeDocument/2006/relationships/slideLayout" Target="../slideLayouts/slideLayout4.xml"/><Relationship Id="rId1" Type="http://schemas.openxmlformats.org/officeDocument/2006/relationships/tags" Target="../tags/tag17.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hyperlink" Target="http://www.businessweek.com/magazine/correlation-or-causation-12012011-gfx.html" TargetMode="External"/><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hyperlink" Target="http://www.businessweek.com/magazine/correlation-or-causation-12012011-gfx.html" TargetMode="External"/><Relationship Id="rId2" Type="http://schemas.openxmlformats.org/officeDocument/2006/relationships/slideLayout" Target="../slideLayouts/slideLayout4.xml"/><Relationship Id="rId1" Type="http://schemas.openxmlformats.org/officeDocument/2006/relationships/tags" Target="../tags/tag19.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hyperlink" Target="http://www.businessweek.com/magazine/correlation-or-causation-12012011-gfx.html" TargetMode="External"/><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hyperlink" Target="http://scienceornot.net/2012/07/05/confusing-correlation-with-causation-rooster-syndrome/" TargetMode="Externa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tags" Target="../tags/tag2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hyperlink" Target="http://well.blogs.nytimes.com/2010/07/07/your-brain-on-exercise/" TargetMode="Externa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5.xml"/><Relationship Id="rId1" Type="http://schemas.openxmlformats.org/officeDocument/2006/relationships/tags" Target="../tags/tag3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tags" Target="../tags/tag3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3.xml.rels><?xml version="1.0" encoding="UTF-8" standalone="yes"?>
<Relationships xmlns="http://schemas.openxmlformats.org/package/2006/relationships"><Relationship Id="rId3" Type="http://schemas.openxmlformats.org/officeDocument/2006/relationships/hyperlink" Target="http://www.nytimes.com/library/magazine/home/20000109mag-talbot7.html" TargetMode="Externa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4.xml.rels><?xml version="1.0" encoding="UTF-8" standalone="yes"?>
<Relationships xmlns="http://schemas.openxmlformats.org/package/2006/relationships"><Relationship Id="rId3" Type="http://schemas.openxmlformats.org/officeDocument/2006/relationships/hyperlink" Target="http://www.nytimes.com/library/magazine/home/20000109mag-talbot7.html" TargetMode="Externa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4.xml"/><Relationship Id="rId1" Type="http://schemas.openxmlformats.org/officeDocument/2006/relationships/tags" Target="../tags/tag4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1295400" y="2133600"/>
            <a:ext cx="6934200" cy="1905000"/>
          </a:xfrm>
          <a:prstGeom prst="rect">
            <a:avLst/>
          </a:prstGeom>
        </p:spPr>
        <p:txBody>
          <a:bodyPr vert="horz" lIns="91440" tIns="45720" rIns="91440" bIns="45720" rtlCol="0">
            <a:normAutofit/>
          </a:bodyPr>
          <a:lstStyle/>
          <a:p>
            <a:pPr marL="0" marR="0" lvl="0" indent="0" defTabSz="914400" rtl="0" eaLnBrk="1" fontAlgn="auto" latinLnBrk="0" hangingPunct="1">
              <a:lnSpc>
                <a:spcPct val="100000"/>
              </a:lnSpc>
              <a:spcBef>
                <a:spcPct val="20000"/>
              </a:spcBef>
              <a:spcAft>
                <a:spcPts val="0"/>
              </a:spcAft>
              <a:buClrTx/>
              <a:buSzTx/>
              <a:tabLst/>
              <a:defRPr/>
            </a:pPr>
            <a:r>
              <a:rPr lang="en-US" sz="4400" b="1" dirty="0">
                <a:solidFill>
                  <a:schemeClr val="tx2"/>
                </a:solidFill>
              </a:rPr>
              <a:t>Section 1.3:</a:t>
            </a:r>
          </a:p>
          <a:p>
            <a:pPr lvl="0">
              <a:spcBef>
                <a:spcPct val="20000"/>
              </a:spcBef>
              <a:defRPr/>
            </a:pPr>
            <a:r>
              <a:rPr lang="en-US" sz="4400" b="1" dirty="0">
                <a:solidFill>
                  <a:schemeClr val="tx2"/>
                </a:solidFill>
              </a:rPr>
              <a:t>Experiments</a:t>
            </a:r>
          </a:p>
        </p:txBody>
      </p:sp>
      <p:sp>
        <p:nvSpPr>
          <p:cNvPr id="2" name="Footer Placeholder 1"/>
          <p:cNvSpPr>
            <a:spLocks noGrp="1"/>
          </p:cNvSpPr>
          <p:nvPr>
            <p:ph type="ftr" sz="quarter" idx="11"/>
          </p:nvPr>
        </p:nvSpPr>
        <p:spPr>
          <a:xfrm>
            <a:off x="2334491" y="6248400"/>
            <a:ext cx="6809508" cy="609600"/>
          </a:xfrm>
        </p:spPr>
        <p:txBody>
          <a:bodyPr/>
          <a:lstStyle/>
          <a:p>
            <a:pPr lvl="0"/>
            <a:r>
              <a:rPr lang="en-US" sz="2700" b="1" u="sng" dirty="0"/>
              <a:t>Statistics: Unlocking the Power of Data</a:t>
            </a:r>
            <a:r>
              <a:rPr lang="en-US" sz="2700" b="1" dirty="0"/>
              <a:t>, Lock</a:t>
            </a:r>
            <a:r>
              <a:rPr lang="en-US" sz="2700" b="1" baseline="30000" dirty="0"/>
              <a:t>5</a:t>
            </a:r>
            <a:endParaRPr lang="en-US" sz="2700" b="1" u="sng" dirty="0"/>
          </a:p>
          <a:p>
            <a:endParaRPr lang="en-US" sz="2700" dirty="0"/>
          </a:p>
        </p:txBody>
      </p:sp>
      <p:sp>
        <p:nvSpPr>
          <p:cNvPr id="3" name="TextBox 2"/>
          <p:cNvSpPr txBox="1"/>
          <p:nvPr/>
        </p:nvSpPr>
        <p:spPr>
          <a:xfrm>
            <a:off x="2334491" y="3886200"/>
            <a:ext cx="5715000" cy="523220"/>
          </a:xfrm>
          <a:prstGeom prst="rect">
            <a:avLst/>
          </a:prstGeom>
          <a:noFill/>
        </p:spPr>
        <p:txBody>
          <a:bodyPr wrap="square" rtlCol="0">
            <a:spAutoFit/>
          </a:bodyPr>
          <a:lstStyle/>
          <a:p>
            <a:pPr lvl="0">
              <a:spcBef>
                <a:spcPct val="20000"/>
              </a:spcBef>
              <a:defRPr/>
            </a:pPr>
            <a:r>
              <a:rPr lang="en-US" sz="2800" dirty="0">
                <a:solidFill>
                  <a:schemeClr val="bg2">
                    <a:lumMod val="20000"/>
                    <a:lumOff val="80000"/>
                  </a:schemeClr>
                </a:solidFill>
              </a:rPr>
              <a:t>Professor Kathryn </a:t>
            </a:r>
            <a:r>
              <a:rPr lang="en-US" sz="2800" dirty="0" err="1" smtClean="0">
                <a:solidFill>
                  <a:schemeClr val="bg2">
                    <a:lumMod val="20000"/>
                    <a:lumOff val="80000"/>
                  </a:schemeClr>
                </a:solidFill>
              </a:rPr>
              <a:t>Dobeck</a:t>
            </a:r>
            <a:endParaRPr lang="en-US" sz="2800" dirty="0">
              <a:solidFill>
                <a:schemeClr val="bg2">
                  <a:lumMod val="20000"/>
                  <a:lumOff val="80000"/>
                </a:schemeClr>
              </a:solidFill>
            </a:endParaRPr>
          </a:p>
        </p:txBody>
      </p:sp>
    </p:spTree>
    <p:custDataLst>
      <p:tags r:id="rId1"/>
    </p:custDataLst>
    <p:extLst>
      <p:ext uri="{BB962C8B-B14F-4D97-AF65-F5344CB8AC3E}">
        <p14:creationId xmlns:p14="http://schemas.microsoft.com/office/powerpoint/2010/main" val="30135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7584"/>
            <a:ext cx="9144000" cy="2497016"/>
          </a:xfrm>
        </p:spPr>
        <p:txBody>
          <a:bodyPr>
            <a:noAutofit/>
          </a:bodyPr>
          <a:lstStyle/>
          <a:p>
            <a:r>
              <a:rPr lang="en-US" sz="3000" dirty="0">
                <a:solidFill>
                  <a:schemeClr val="accent5">
                    <a:lumMod val="50000"/>
                  </a:schemeClr>
                </a:solidFill>
              </a:rPr>
              <a:t>To estimate the proportion of LCCC students who believe that LCCC should be a smoke-free campus, you compute the proportion that say yes after responding to an email sent to all students asking “Do you think LCCC should be a smoke-free  campus?”  The data collected is</a:t>
            </a:r>
          </a:p>
        </p:txBody>
      </p:sp>
      <p:sp>
        <p:nvSpPr>
          <p:cNvPr id="4" name="TPAnswers"/>
          <p:cNvSpPr>
            <a:spLocks noGrp="1"/>
          </p:cNvSpPr>
          <p:nvPr>
            <p:ph sz="quarter" idx="4294967295"/>
            <p:custDataLst>
              <p:tags r:id="rId2"/>
            </p:custDataLst>
          </p:nvPr>
        </p:nvSpPr>
        <p:spPr>
          <a:xfrm>
            <a:off x="0" y="2667000"/>
            <a:ext cx="5562600" cy="4114800"/>
          </a:xfrm>
        </p:spPr>
        <p:txBody>
          <a:bodyPr>
            <a:noAutofit/>
          </a:bodyPr>
          <a:lstStyle/>
          <a:p>
            <a:pPr marL="514350" indent="-514350">
              <a:spcBef>
                <a:spcPct val="20000"/>
              </a:spcBef>
              <a:buFont typeface="Wingdings"/>
              <a:buAutoNum type="arabicPeriod"/>
            </a:pPr>
            <a:r>
              <a:rPr lang="en-US" sz="2800" dirty="0"/>
              <a:t> Not biased</a:t>
            </a:r>
          </a:p>
          <a:p>
            <a:pPr marL="514350" indent="-514350">
              <a:spcBef>
                <a:spcPct val="20000"/>
              </a:spcBef>
              <a:buFont typeface="Wingdings"/>
              <a:buAutoNum type="arabicPeriod"/>
            </a:pPr>
            <a:r>
              <a:rPr lang="en-US" sz="2800" dirty="0"/>
              <a:t> Biased because of wording bias</a:t>
            </a:r>
          </a:p>
          <a:p>
            <a:pPr marL="514350" indent="-514350">
              <a:spcBef>
                <a:spcPct val="20000"/>
              </a:spcBef>
              <a:buFont typeface="Wingdings"/>
              <a:buAutoNum type="arabicPeriod"/>
            </a:pPr>
            <a:r>
              <a:rPr lang="en-US" sz="2800" dirty="0"/>
              <a:t> Biased because asked over email instead of in person</a:t>
            </a:r>
          </a:p>
          <a:p>
            <a:pPr marL="514350" indent="-514350">
              <a:spcBef>
                <a:spcPct val="20000"/>
              </a:spcBef>
              <a:buFont typeface="Wingdings"/>
              <a:buAutoNum type="arabicPeriod"/>
            </a:pPr>
            <a:r>
              <a:rPr lang="en-US" sz="2800" dirty="0"/>
              <a:t> Biased because responses may be inaccurate</a:t>
            </a:r>
          </a:p>
          <a:p>
            <a:pPr marL="514350" indent="-514350">
              <a:spcBef>
                <a:spcPct val="20000"/>
              </a:spcBef>
              <a:buFont typeface="Wingdings"/>
              <a:buAutoNum type="arabicPeriod"/>
            </a:pPr>
            <a:r>
              <a:rPr lang="en-US" sz="2800" dirty="0"/>
              <a:t> Biased because volunteer samples are almost always biased</a:t>
            </a:r>
          </a:p>
        </p:txBody>
      </p:sp>
    </p:spTree>
    <p:custDataLst>
      <p:tags r:id="rId1"/>
    </p:custDataLst>
    <p:extLst>
      <p:ext uri="{BB962C8B-B14F-4D97-AF65-F5344CB8AC3E}">
        <p14:creationId xmlns:p14="http://schemas.microsoft.com/office/powerpoint/2010/main" val="228275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Ideas in This Section</a:t>
            </a:r>
          </a:p>
        </p:txBody>
      </p:sp>
      <p:sp>
        <p:nvSpPr>
          <p:cNvPr id="3" name="Content Placeholder 2"/>
          <p:cNvSpPr>
            <a:spLocks noGrp="1"/>
          </p:cNvSpPr>
          <p:nvPr>
            <p:ph sz="quarter" idx="1"/>
          </p:nvPr>
        </p:nvSpPr>
        <p:spPr/>
        <p:txBody>
          <a:bodyPr/>
          <a:lstStyle/>
          <a:p>
            <a:pPr marL="708660" lvl="0" indent="-571500">
              <a:lnSpc>
                <a:spcPct val="120000"/>
              </a:lnSpc>
              <a:buClr>
                <a:schemeClr val="accent1"/>
              </a:buClr>
              <a:buFont typeface="Wingdings" pitchFamily="2" charset="2"/>
              <a:buChar char="q"/>
              <a:defRPr/>
            </a:pPr>
            <a:r>
              <a:rPr lang="en-US" dirty="0"/>
              <a:t>Association versus Causation</a:t>
            </a:r>
          </a:p>
          <a:p>
            <a:pPr marL="708660" lvl="0" indent="-571500">
              <a:lnSpc>
                <a:spcPct val="120000"/>
              </a:lnSpc>
              <a:buClr>
                <a:schemeClr val="accent1"/>
              </a:buClr>
              <a:buFont typeface="Wingdings" pitchFamily="2" charset="2"/>
              <a:buChar char="q"/>
              <a:defRPr/>
            </a:pPr>
            <a:r>
              <a:rPr lang="en-US" dirty="0"/>
              <a:t>Confounding Variables</a:t>
            </a:r>
          </a:p>
          <a:p>
            <a:pPr marL="708660" lvl="0" indent="-571500">
              <a:lnSpc>
                <a:spcPct val="120000"/>
              </a:lnSpc>
              <a:buClr>
                <a:schemeClr val="accent1"/>
              </a:buClr>
              <a:buFont typeface="Wingdings" pitchFamily="2" charset="2"/>
              <a:buChar char="q"/>
              <a:defRPr/>
            </a:pPr>
            <a:r>
              <a:rPr lang="en-US" dirty="0"/>
              <a:t>Observational Studies </a:t>
            </a:r>
            <a:r>
              <a:rPr lang="en-US" dirty="0" err="1"/>
              <a:t>vs</a:t>
            </a:r>
            <a:r>
              <a:rPr lang="en-US" dirty="0"/>
              <a:t> Experiments</a:t>
            </a:r>
          </a:p>
          <a:p>
            <a:pPr marL="708660" lvl="0" indent="-571500">
              <a:lnSpc>
                <a:spcPct val="120000"/>
              </a:lnSpc>
              <a:buClr>
                <a:schemeClr val="accent1"/>
              </a:buClr>
              <a:buFont typeface="Wingdings" pitchFamily="2" charset="2"/>
              <a:buChar char="q"/>
              <a:defRPr/>
            </a:pPr>
            <a:r>
              <a:rPr lang="en-US" dirty="0"/>
              <a:t>Randomized Experiments</a:t>
            </a:r>
          </a:p>
          <a:p>
            <a:endParaRPr lang="en-US" dirty="0"/>
          </a:p>
        </p:txBody>
      </p:sp>
    </p:spTree>
    <p:custDataLst>
      <p:tags r:id="rId1"/>
    </p:custDataLst>
    <p:extLst>
      <p:ext uri="{BB962C8B-B14F-4D97-AF65-F5344CB8AC3E}">
        <p14:creationId xmlns:p14="http://schemas.microsoft.com/office/powerpoint/2010/main" val="3112744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Explanatory and Response</a:t>
            </a:r>
          </a:p>
        </p:txBody>
      </p:sp>
      <p:sp>
        <p:nvSpPr>
          <p:cNvPr id="3" name="Content Placeholder 2"/>
          <p:cNvSpPr>
            <a:spLocks noGrp="1"/>
          </p:cNvSpPr>
          <p:nvPr>
            <p:ph idx="1"/>
          </p:nvPr>
        </p:nvSpPr>
        <p:spPr>
          <a:xfrm>
            <a:off x="533400" y="1600200"/>
            <a:ext cx="8153400" cy="2438400"/>
          </a:xfrm>
        </p:spPr>
        <p:txBody>
          <a:bodyPr>
            <a:normAutofit lnSpcReduction="10000"/>
          </a:bodyPr>
          <a:lstStyle/>
          <a:p>
            <a:r>
              <a:rPr lang="en-US" dirty="0"/>
              <a:t>If we are using one variable to help us </a:t>
            </a:r>
            <a:r>
              <a:rPr lang="en-US" u="sng" dirty="0"/>
              <a:t>understand or predict</a:t>
            </a:r>
            <a:r>
              <a:rPr lang="en-US" dirty="0"/>
              <a:t> values of another variable, we call the former the </a:t>
            </a:r>
            <a:r>
              <a:rPr lang="en-US" b="1" i="1" dirty="0">
                <a:solidFill>
                  <a:schemeClr val="accent5">
                    <a:lumMod val="50000"/>
                  </a:schemeClr>
                </a:solidFill>
              </a:rPr>
              <a:t>explanatory variable</a:t>
            </a:r>
            <a:r>
              <a:rPr lang="en-US" dirty="0"/>
              <a:t> and the latter the </a:t>
            </a:r>
            <a:r>
              <a:rPr lang="en-US" b="1" i="1" dirty="0">
                <a:solidFill>
                  <a:schemeClr val="accent5">
                    <a:lumMod val="50000"/>
                  </a:schemeClr>
                </a:solidFill>
              </a:rPr>
              <a:t>response variable</a:t>
            </a:r>
            <a:endParaRPr lang="en-US" dirty="0">
              <a:solidFill>
                <a:schemeClr val="accent5">
                  <a:lumMod val="50000"/>
                </a:schemeClr>
              </a:solidFill>
            </a:endParaRPr>
          </a:p>
        </p:txBody>
      </p:sp>
    </p:spTree>
    <p:custDataLst>
      <p:tags r:id="rId1"/>
    </p:custDataLst>
    <p:extLst>
      <p:ext uri="{BB962C8B-B14F-4D97-AF65-F5344CB8AC3E}">
        <p14:creationId xmlns:p14="http://schemas.microsoft.com/office/powerpoint/2010/main" val="184512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Association and Causation</a:t>
            </a:r>
          </a:p>
        </p:txBody>
      </p:sp>
      <p:sp>
        <p:nvSpPr>
          <p:cNvPr id="3" name="Content Placeholder 2"/>
          <p:cNvSpPr>
            <a:spLocks noGrp="1"/>
          </p:cNvSpPr>
          <p:nvPr>
            <p:ph idx="1"/>
          </p:nvPr>
        </p:nvSpPr>
        <p:spPr>
          <a:xfrm>
            <a:off x="838200" y="1676400"/>
            <a:ext cx="7277100" cy="1759458"/>
          </a:xfrm>
        </p:spPr>
        <p:txBody>
          <a:bodyPr>
            <a:normAutofit/>
          </a:bodyPr>
          <a:lstStyle/>
          <a:p>
            <a:r>
              <a:rPr lang="en-US" dirty="0"/>
              <a:t>Two variables are </a:t>
            </a:r>
            <a:r>
              <a:rPr lang="en-US" b="1" i="1" dirty="0">
                <a:solidFill>
                  <a:schemeClr val="accent5">
                    <a:lumMod val="50000"/>
                  </a:schemeClr>
                </a:solidFill>
              </a:rPr>
              <a:t>associated </a:t>
            </a:r>
            <a:r>
              <a:rPr lang="en-US" dirty="0"/>
              <a:t>if values of one variable tends to be related to values of the other variable</a:t>
            </a:r>
          </a:p>
        </p:txBody>
      </p:sp>
      <p:sp>
        <p:nvSpPr>
          <p:cNvPr id="5" name="Content Placeholder 2"/>
          <p:cNvSpPr>
            <a:spLocks noGrp="1"/>
          </p:cNvSpPr>
          <p:nvPr>
            <p:ph idx="1"/>
          </p:nvPr>
        </p:nvSpPr>
        <p:spPr>
          <a:xfrm>
            <a:off x="838200" y="3733800"/>
            <a:ext cx="7467600" cy="1981200"/>
          </a:xfrm>
        </p:spPr>
        <p:txBody>
          <a:bodyPr>
            <a:normAutofit lnSpcReduction="10000"/>
          </a:bodyPr>
          <a:lstStyle/>
          <a:p>
            <a:r>
              <a:rPr lang="en-US" dirty="0"/>
              <a:t>Two variables are </a:t>
            </a:r>
            <a:r>
              <a:rPr lang="en-US" b="1" i="1" dirty="0">
                <a:solidFill>
                  <a:schemeClr val="accent5">
                    <a:lumMod val="50000"/>
                  </a:schemeClr>
                </a:solidFill>
              </a:rPr>
              <a:t>causally associated</a:t>
            </a:r>
            <a:r>
              <a:rPr lang="en-US" b="1" i="1" dirty="0">
                <a:solidFill>
                  <a:schemeClr val="tx2"/>
                </a:solidFill>
              </a:rPr>
              <a:t> </a:t>
            </a:r>
            <a:r>
              <a:rPr lang="en-US" dirty="0"/>
              <a:t>if changing the value of the </a:t>
            </a:r>
            <a:r>
              <a:rPr lang="en-US" u="sng" dirty="0"/>
              <a:t>explanatory variable</a:t>
            </a:r>
            <a:r>
              <a:rPr lang="en-US" dirty="0"/>
              <a:t> influences the value of the response variable</a:t>
            </a:r>
          </a:p>
        </p:txBody>
      </p:sp>
    </p:spTree>
    <p:custDataLst>
      <p:tags r:id="rId1"/>
    </p:custDataLst>
    <p:extLst>
      <p:ext uri="{BB962C8B-B14F-4D97-AF65-F5344CB8AC3E}">
        <p14:creationId xmlns:p14="http://schemas.microsoft.com/office/powerpoint/2010/main" val="853133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College Education and Aging</a:t>
            </a:r>
          </a:p>
        </p:txBody>
      </p:sp>
      <p:sp>
        <p:nvSpPr>
          <p:cNvPr id="3" name="Content Placeholder 2"/>
          <p:cNvSpPr>
            <a:spLocks noGrp="1"/>
          </p:cNvSpPr>
          <p:nvPr>
            <p:ph idx="1"/>
          </p:nvPr>
        </p:nvSpPr>
        <p:spPr>
          <a:xfrm>
            <a:off x="67944" y="1600200"/>
            <a:ext cx="9076056" cy="4419600"/>
          </a:xfrm>
        </p:spPr>
        <p:txBody>
          <a:bodyPr>
            <a:noAutofit/>
          </a:bodyPr>
          <a:lstStyle/>
          <a:p>
            <a:r>
              <a:rPr lang="en-US" i="1" dirty="0"/>
              <a:t>“Education seems to be an elixir that can bring us a healthy body and mind throughout adulthood and even a longer life,” says Margie E. </a:t>
            </a:r>
            <a:r>
              <a:rPr lang="en-US" i="1" dirty="0" err="1"/>
              <a:t>Lachman</a:t>
            </a:r>
            <a:r>
              <a:rPr lang="en-US" i="1" dirty="0"/>
              <a:t>, a psychologist at Brandeis University who specializes in aging. For those in midlife and beyond, a college degree appears to slow the brain’s aging process by up to a decade, adding a new twist to the cost-benefit analysis of higher education — for young students as well as those thinking about returning to school.”</a:t>
            </a:r>
          </a:p>
          <a:p>
            <a:endParaRPr lang="en-US" dirty="0"/>
          </a:p>
        </p:txBody>
      </p:sp>
      <p:sp>
        <p:nvSpPr>
          <p:cNvPr id="6" name="Rectangle 5"/>
          <p:cNvSpPr/>
          <p:nvPr/>
        </p:nvSpPr>
        <p:spPr>
          <a:xfrm>
            <a:off x="3603724" y="6019800"/>
            <a:ext cx="5570756" cy="830997"/>
          </a:xfrm>
          <a:prstGeom prst="rect">
            <a:avLst/>
          </a:prstGeom>
        </p:spPr>
        <p:txBody>
          <a:bodyPr wrap="none">
            <a:spAutoFit/>
          </a:bodyPr>
          <a:lstStyle/>
          <a:p>
            <a:r>
              <a:rPr lang="en-US" sz="2400" dirty="0">
                <a:hlinkClick r:id="rId3"/>
              </a:rPr>
              <a:t>A Sharper Mind, Middle Age and Beyond</a:t>
            </a:r>
            <a:endParaRPr lang="en-US" sz="2400" dirty="0"/>
          </a:p>
          <a:p>
            <a:pPr algn="r"/>
            <a:r>
              <a:rPr lang="en-US" sz="2400" dirty="0"/>
              <a:t>-NY Times, 1/19/12</a:t>
            </a:r>
          </a:p>
        </p:txBody>
      </p:sp>
    </p:spTree>
    <p:custDataLst>
      <p:tags r:id="rId1"/>
    </p:custDataLst>
    <p:extLst>
      <p:ext uri="{BB962C8B-B14F-4D97-AF65-F5344CB8AC3E}">
        <p14:creationId xmlns:p14="http://schemas.microsoft.com/office/powerpoint/2010/main" val="3049278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6239" y="0"/>
            <a:ext cx="9127761" cy="3429000"/>
          </a:xfrm>
        </p:spPr>
        <p:txBody>
          <a:bodyPr>
            <a:noAutofit/>
          </a:bodyPr>
          <a:lstStyle/>
          <a:p>
            <a:r>
              <a:rPr lang="en-US" sz="2800" i="1" dirty="0">
                <a:solidFill>
                  <a:schemeClr val="accent5">
                    <a:lumMod val="50000"/>
                  </a:schemeClr>
                </a:solidFill>
              </a:rPr>
              <a:t>“Education seems to be an elixir that can bring us a healthy body and mind throughout adulthood and even a longer life,” says Margie E. </a:t>
            </a:r>
            <a:r>
              <a:rPr lang="en-US" sz="2800" i="1" dirty="0" err="1">
                <a:solidFill>
                  <a:schemeClr val="accent5">
                    <a:lumMod val="50000"/>
                  </a:schemeClr>
                </a:solidFill>
              </a:rPr>
              <a:t>Lachman</a:t>
            </a:r>
            <a:r>
              <a:rPr lang="en-US" sz="2800" i="1" dirty="0">
                <a:solidFill>
                  <a:schemeClr val="accent5">
                    <a:lumMod val="50000"/>
                  </a:schemeClr>
                </a:solidFill>
              </a:rPr>
              <a:t>, a psychologist at Brandeis University who specializes in aging. “For those in midlife and beyond, a college degree appears to slow the brain’s aging process by up to a decade, adding a new twist to the cost-benefit analysis of higher education — for young students as well as those thinking about returning to school.”    </a:t>
            </a:r>
            <a:r>
              <a:rPr lang="en-US" sz="2800" dirty="0">
                <a:solidFill>
                  <a:schemeClr val="accent5">
                    <a:lumMod val="50000"/>
                  </a:schemeClr>
                </a:solidFill>
              </a:rPr>
              <a:t>Which of the following is true?</a:t>
            </a:r>
          </a:p>
        </p:txBody>
      </p:sp>
      <p:sp>
        <p:nvSpPr>
          <p:cNvPr id="3" name="TPAnswers"/>
          <p:cNvSpPr>
            <a:spLocks noGrp="1"/>
          </p:cNvSpPr>
          <p:nvPr>
            <p:ph idx="4294967295"/>
            <p:custDataLst>
              <p:tags r:id="rId2"/>
            </p:custDataLst>
          </p:nvPr>
        </p:nvSpPr>
        <p:spPr>
          <a:xfrm>
            <a:off x="152400" y="3657600"/>
            <a:ext cx="6477000" cy="3048000"/>
          </a:xfrm>
        </p:spPr>
        <p:txBody>
          <a:bodyPr>
            <a:noAutofit/>
          </a:bodyPr>
          <a:lstStyle/>
          <a:p>
            <a:pPr marL="514350" indent="-514350">
              <a:spcBef>
                <a:spcPct val="20000"/>
              </a:spcBef>
              <a:buFont typeface="Wingdings"/>
              <a:buAutoNum type="arabicPeriod"/>
            </a:pPr>
            <a:r>
              <a:rPr lang="en-US" sz="2800" dirty="0"/>
              <a:t>Explanatory Variable = brain aging; Response Variable = elixir</a:t>
            </a:r>
          </a:p>
          <a:p>
            <a:pPr marL="514350" indent="-514350">
              <a:spcBef>
                <a:spcPct val="20000"/>
              </a:spcBef>
              <a:buFont typeface="Wingdings"/>
              <a:buAutoNum type="arabicPeriod"/>
            </a:pPr>
            <a:r>
              <a:rPr lang="en-US" sz="2800" dirty="0"/>
              <a:t>Explanatory Variable = brain aging; Response Variable = college degree</a:t>
            </a:r>
          </a:p>
          <a:p>
            <a:pPr marL="514350" indent="-514350">
              <a:spcBef>
                <a:spcPct val="20000"/>
              </a:spcBef>
              <a:buFont typeface="Wingdings"/>
              <a:buAutoNum type="arabicPeriod"/>
            </a:pPr>
            <a:r>
              <a:rPr lang="en-US" sz="2800" dirty="0"/>
              <a:t>Explanatory Variable = college degree; Response Variable = brain aging</a:t>
            </a:r>
          </a:p>
        </p:txBody>
      </p:sp>
    </p:spTree>
    <p:custDataLst>
      <p:tags r:id="rId1"/>
    </p:custDataLst>
    <p:extLst>
      <p:ext uri="{BB962C8B-B14F-4D97-AF65-F5344CB8AC3E}">
        <p14:creationId xmlns:p14="http://schemas.microsoft.com/office/powerpoint/2010/main" val="229990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7488"/>
            <a:ext cx="9144000" cy="1963712"/>
          </a:xfrm>
        </p:spPr>
        <p:txBody>
          <a:bodyPr>
            <a:noAutofit/>
          </a:bodyPr>
          <a:lstStyle/>
          <a:p>
            <a:pPr algn="ctr"/>
            <a:r>
              <a:rPr lang="en-US" sz="3200" dirty="0">
                <a:solidFill>
                  <a:schemeClr val="accent6">
                    <a:lumMod val="50000"/>
                  </a:schemeClr>
                </a:solidFill>
              </a:rPr>
              <a:t>Based on this passage, should we conclude that obtaining a college degree causes a slowdown in the brain’s aging process?</a:t>
            </a:r>
          </a:p>
        </p:txBody>
      </p:sp>
      <p:sp>
        <p:nvSpPr>
          <p:cNvPr id="6" name="TPAnswers"/>
          <p:cNvSpPr>
            <a:spLocks noGrp="1"/>
          </p:cNvSpPr>
          <p:nvPr>
            <p:ph idx="4294967295"/>
            <p:custDataLst>
              <p:tags r:id="rId2"/>
            </p:custDataLst>
          </p:nvPr>
        </p:nvSpPr>
        <p:spPr>
          <a:xfrm>
            <a:off x="0" y="2057400"/>
            <a:ext cx="3810000" cy="2362200"/>
          </a:xfrm>
        </p:spPr>
        <p:txBody>
          <a:bodyPr>
            <a:noAutofit/>
          </a:bodyPr>
          <a:lstStyle/>
          <a:p>
            <a:pPr marL="514350" indent="-514350">
              <a:spcBef>
                <a:spcPct val="20000"/>
              </a:spcBef>
              <a:buFont typeface="+mj-lt"/>
              <a:buAutoNum type="arabicPeriod"/>
            </a:pPr>
            <a:r>
              <a:rPr lang="en-US" sz="3200" dirty="0"/>
              <a:t>Yes</a:t>
            </a:r>
          </a:p>
          <a:p>
            <a:pPr marL="514350" indent="-514350">
              <a:spcBef>
                <a:spcPct val="20000"/>
              </a:spcBef>
              <a:buFont typeface="+mj-lt"/>
              <a:buAutoNum type="arabicPeriod"/>
            </a:pPr>
            <a:r>
              <a:rPr lang="en-US" sz="3200" dirty="0"/>
              <a:t>No</a:t>
            </a:r>
          </a:p>
        </p:txBody>
      </p:sp>
    </p:spTree>
    <p:custDataLst>
      <p:tags r:id="rId1"/>
    </p:custDataLst>
    <p:extLst>
      <p:ext uri="{BB962C8B-B14F-4D97-AF65-F5344CB8AC3E}">
        <p14:creationId xmlns:p14="http://schemas.microsoft.com/office/powerpoint/2010/main" val="180286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81000"/>
            <a:ext cx="8229600" cy="673807"/>
          </a:xfrm>
        </p:spPr>
        <p:txBody>
          <a:bodyPr anchor="ctr">
            <a:normAutofit fontScale="90000"/>
          </a:bodyPr>
          <a:lstStyle/>
          <a:p>
            <a:r>
              <a:rPr lang="en-US" dirty="0"/>
              <a:t>Explanatory, Response, Causation</a:t>
            </a:r>
            <a:endParaRPr lang="en-US" b="1" dirty="0"/>
          </a:p>
        </p:txBody>
      </p:sp>
      <p:sp>
        <p:nvSpPr>
          <p:cNvPr id="2" name="Content Placeholder 1"/>
          <p:cNvSpPr>
            <a:spLocks noGrp="1"/>
          </p:cNvSpPr>
          <p:nvPr>
            <p:ph idx="1"/>
          </p:nvPr>
        </p:nvSpPr>
        <p:spPr>
          <a:xfrm>
            <a:off x="0" y="1524000"/>
            <a:ext cx="9144000" cy="5334000"/>
          </a:xfrm>
        </p:spPr>
        <p:txBody>
          <a:bodyPr>
            <a:normAutofit lnSpcReduction="10000"/>
          </a:bodyPr>
          <a:lstStyle/>
          <a:p>
            <a:pPr marL="0" indent="0">
              <a:spcAft>
                <a:spcPts val="0"/>
              </a:spcAft>
              <a:buNone/>
            </a:pPr>
            <a:r>
              <a:rPr lang="en-US" sz="3200" dirty="0"/>
              <a:t>For each of the following headlines:</a:t>
            </a:r>
          </a:p>
          <a:p>
            <a:pPr marL="274320" lvl="1" indent="0">
              <a:spcAft>
                <a:spcPts val="0"/>
              </a:spcAft>
            </a:pPr>
            <a:r>
              <a:rPr lang="en-US" sz="3200" dirty="0"/>
              <a:t> Does the headline imply a causal association?</a:t>
            </a:r>
          </a:p>
          <a:p>
            <a:pPr marL="274320" lvl="1" indent="0"/>
            <a:r>
              <a:rPr lang="en-US" sz="3200" dirty="0"/>
              <a:t> Identify the explanatory and response variables (if appropriate).</a:t>
            </a:r>
          </a:p>
          <a:p>
            <a:pPr marL="274320" lvl="1" indent="0">
              <a:spcAft>
                <a:spcPts val="0"/>
              </a:spcAft>
              <a:buNone/>
            </a:pPr>
            <a:endParaRPr lang="en-US" dirty="0"/>
          </a:p>
          <a:p>
            <a:pPr marL="365760" indent="-365760">
              <a:spcAft>
                <a:spcPts val="1200"/>
              </a:spcAft>
              <a:buFont typeface="+mj-lt"/>
              <a:buAutoNum type="arabicPeriod"/>
            </a:pPr>
            <a:r>
              <a:rPr lang="en-US" sz="2800" i="1" dirty="0"/>
              <a:t>“Daily Exercise Improves Mental Performance”</a:t>
            </a:r>
          </a:p>
          <a:p>
            <a:pPr marL="365760" indent="-365760">
              <a:spcAft>
                <a:spcPts val="1200"/>
              </a:spcAft>
              <a:buFont typeface="+mj-lt"/>
              <a:buAutoNum type="arabicPeriod"/>
            </a:pPr>
            <a:r>
              <a:rPr lang="en-US" sz="2800" i="1" dirty="0"/>
              <a:t>“Want to lose weight?  Eat more fiber!”</a:t>
            </a:r>
          </a:p>
          <a:p>
            <a:pPr marL="365760" indent="-365760">
              <a:spcAft>
                <a:spcPts val="1200"/>
              </a:spcAft>
              <a:buFont typeface="+mj-lt"/>
              <a:buAutoNum type="arabicPeriod"/>
            </a:pPr>
            <a:r>
              <a:rPr lang="en-US" sz="2800" i="1" dirty="0"/>
              <a:t>“Cat owners tend to be more educated than dog owners”</a:t>
            </a:r>
          </a:p>
          <a:p>
            <a:pPr marL="0" indent="0">
              <a:buNone/>
            </a:pPr>
            <a:endParaRPr lang="en-US" dirty="0">
              <a:solidFill>
                <a:schemeClr val="tx2"/>
              </a:solidFill>
            </a:endParaRPr>
          </a:p>
          <a:p>
            <a:endParaRPr lang="en-US" dirty="0">
              <a:solidFill>
                <a:schemeClr val="tx2"/>
              </a:solidFill>
            </a:endParaRPr>
          </a:p>
        </p:txBody>
      </p:sp>
    </p:spTree>
    <p:custDataLst>
      <p:tags r:id="rId1"/>
    </p:custDataLst>
    <p:extLst>
      <p:ext uri="{BB962C8B-B14F-4D97-AF65-F5344CB8AC3E}">
        <p14:creationId xmlns:p14="http://schemas.microsoft.com/office/powerpoint/2010/main" val="96360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cstate="print"/>
          <a:srcRect t="11842"/>
          <a:stretch>
            <a:fillRect/>
          </a:stretch>
        </p:blipFill>
        <p:spPr bwMode="auto">
          <a:xfrm>
            <a:off x="167640" y="838200"/>
            <a:ext cx="8839200" cy="5486400"/>
          </a:xfrm>
          <a:prstGeom prst="rect">
            <a:avLst/>
          </a:prstGeom>
          <a:noFill/>
          <a:ln w="9525">
            <a:noFill/>
            <a:miter lim="800000"/>
            <a:headEnd/>
            <a:tailEnd/>
          </a:ln>
        </p:spPr>
      </p:pic>
      <p:sp>
        <p:nvSpPr>
          <p:cNvPr id="3"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uLnTx/>
                <a:uFillTx/>
                <a:latin typeface="+mj-lt"/>
                <a:ea typeface="+mj-ea"/>
                <a:cs typeface="+mj-cs"/>
              </a:rPr>
              <a:t>TVs and Life Expectancy</a:t>
            </a:r>
          </a:p>
        </p:txBody>
      </p:sp>
      <p:sp>
        <p:nvSpPr>
          <p:cNvPr id="4" name="TextBox 3"/>
          <p:cNvSpPr txBox="1"/>
          <p:nvPr/>
        </p:nvSpPr>
        <p:spPr>
          <a:xfrm>
            <a:off x="1066800" y="6200447"/>
            <a:ext cx="7467600" cy="584775"/>
          </a:xfrm>
          <a:prstGeom prst="rect">
            <a:avLst/>
          </a:prstGeom>
          <a:noFill/>
        </p:spPr>
        <p:txBody>
          <a:bodyPr wrap="square" rtlCol="0">
            <a:spAutoFit/>
          </a:bodyPr>
          <a:lstStyle/>
          <a:p>
            <a:pPr algn="ctr"/>
            <a:r>
              <a:rPr lang="en-US" sz="3200" b="1" i="1" dirty="0">
                <a:solidFill>
                  <a:schemeClr val="accent2"/>
                </a:solidFill>
              </a:rPr>
              <a:t>Should you buy more TVs to live longer?</a:t>
            </a:r>
          </a:p>
        </p:txBody>
      </p:sp>
    </p:spTree>
    <p:custDataLst>
      <p:tags r:id="rId1"/>
    </p:custDataLst>
    <p:extLst>
      <p:ext uri="{BB962C8B-B14F-4D97-AF65-F5344CB8AC3E}">
        <p14:creationId xmlns:p14="http://schemas.microsoft.com/office/powerpoint/2010/main" val="209587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Association and Causation</a:t>
            </a:r>
          </a:p>
        </p:txBody>
      </p:sp>
      <p:sp>
        <p:nvSpPr>
          <p:cNvPr id="3" name="Content Placeholder 2"/>
          <p:cNvSpPr>
            <a:spLocks noGrp="1"/>
          </p:cNvSpPr>
          <p:nvPr>
            <p:ph idx="1"/>
          </p:nvPr>
        </p:nvSpPr>
        <p:spPr>
          <a:xfrm>
            <a:off x="37474" y="1524000"/>
            <a:ext cx="9106525" cy="5334000"/>
          </a:xfrm>
        </p:spPr>
        <p:txBody>
          <a:bodyPr>
            <a:normAutofit/>
          </a:bodyPr>
          <a:lstStyle/>
          <a:p>
            <a:r>
              <a:rPr lang="en-US" sz="3200" b="1" dirty="0">
                <a:solidFill>
                  <a:schemeClr val="accent5">
                    <a:lumMod val="50000"/>
                  </a:schemeClr>
                </a:solidFill>
              </a:rPr>
              <a:t>ASSOCIATION IS NOT NECESSARILY CAUSAL!</a:t>
            </a:r>
          </a:p>
        </p:txBody>
      </p:sp>
    </p:spTree>
    <p:custDataLst>
      <p:tags r:id="rId1"/>
    </p:custDataLst>
    <p:extLst>
      <p:ext uri="{BB962C8B-B14F-4D97-AF65-F5344CB8AC3E}">
        <p14:creationId xmlns:p14="http://schemas.microsoft.com/office/powerpoint/2010/main" val="284266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a:t>TVs and Life Expectancy</a:t>
            </a:r>
          </a:p>
        </p:txBody>
      </p:sp>
      <p:sp>
        <p:nvSpPr>
          <p:cNvPr id="7" name="TextBox 6"/>
          <p:cNvSpPr txBox="1"/>
          <p:nvPr/>
        </p:nvSpPr>
        <p:spPr>
          <a:xfrm>
            <a:off x="914400" y="3257252"/>
            <a:ext cx="2667000" cy="1077218"/>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solidFill>
                  <a:schemeClr val="tx1"/>
                </a:solidFill>
              </a:rPr>
              <a:t>Number of TVs per capita</a:t>
            </a:r>
          </a:p>
        </p:txBody>
      </p:sp>
      <p:sp>
        <p:nvSpPr>
          <p:cNvPr id="8" name="TextBox 7"/>
          <p:cNvSpPr txBox="1"/>
          <p:nvPr/>
        </p:nvSpPr>
        <p:spPr>
          <a:xfrm>
            <a:off x="5029200" y="3257252"/>
            <a:ext cx="3505200" cy="1077218"/>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solidFill>
                  <a:schemeClr val="tx1"/>
                </a:solidFill>
              </a:rPr>
              <a:t>Life </a:t>
            </a:r>
          </a:p>
          <a:p>
            <a:pPr algn="ctr"/>
            <a:r>
              <a:rPr lang="en-US" sz="3200" dirty="0">
                <a:solidFill>
                  <a:schemeClr val="tx1"/>
                </a:solidFill>
              </a:rPr>
              <a:t>Expectancy</a:t>
            </a:r>
            <a:endParaRPr lang="en-US" sz="2800" dirty="0">
              <a:solidFill>
                <a:schemeClr val="tx1"/>
              </a:solidFill>
            </a:endParaRPr>
          </a:p>
        </p:txBody>
      </p:sp>
      <p:sp>
        <p:nvSpPr>
          <p:cNvPr id="9" name="TextBox 8"/>
          <p:cNvSpPr txBox="1"/>
          <p:nvPr/>
        </p:nvSpPr>
        <p:spPr>
          <a:xfrm>
            <a:off x="3110061" y="1740185"/>
            <a:ext cx="2488675" cy="584775"/>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solidFill>
                  <a:schemeClr val="tx1"/>
                </a:solidFill>
              </a:rPr>
              <a:t>Wealth</a:t>
            </a:r>
          </a:p>
        </p:txBody>
      </p:sp>
      <p:cxnSp>
        <p:nvCxnSpPr>
          <p:cNvPr id="10" name="Straight Arrow Connector 9"/>
          <p:cNvCxnSpPr>
            <a:stCxn id="9" idx="2"/>
            <a:endCxn id="7" idx="0"/>
          </p:cNvCxnSpPr>
          <p:nvPr/>
        </p:nvCxnSpPr>
        <p:spPr bwMode="auto">
          <a:xfrm flipH="1">
            <a:off x="2247900" y="2324960"/>
            <a:ext cx="2106499" cy="932292"/>
          </a:xfrm>
          <a:prstGeom prst="straightConnector1">
            <a:avLst/>
          </a:prstGeom>
          <a:solidFill>
            <a:schemeClr val="tx1"/>
          </a:solidFill>
          <a:ln w="57150" cap="flat" cmpd="dbl" algn="ctr">
            <a:solidFill>
              <a:schemeClr val="accent2">
                <a:lumMod val="60000"/>
                <a:lumOff val="40000"/>
              </a:schemeClr>
            </a:solidFill>
            <a:prstDash val="solid"/>
            <a:round/>
            <a:headEnd type="none" w="med" len="med"/>
            <a:tailEnd type="arrow"/>
          </a:ln>
          <a:effectLst/>
        </p:spPr>
      </p:cxnSp>
      <p:cxnSp>
        <p:nvCxnSpPr>
          <p:cNvPr id="11" name="Straight Arrow Connector 10"/>
          <p:cNvCxnSpPr>
            <a:stCxn id="9" idx="2"/>
            <a:endCxn id="8" idx="0"/>
          </p:cNvCxnSpPr>
          <p:nvPr/>
        </p:nvCxnSpPr>
        <p:spPr bwMode="auto">
          <a:xfrm>
            <a:off x="4354399" y="2324960"/>
            <a:ext cx="2427401" cy="932292"/>
          </a:xfrm>
          <a:prstGeom prst="straightConnector1">
            <a:avLst/>
          </a:prstGeom>
          <a:solidFill>
            <a:schemeClr val="tx1"/>
          </a:solidFill>
          <a:ln w="57150" cap="flat" cmpd="dbl" algn="ctr">
            <a:solidFill>
              <a:schemeClr val="accent2">
                <a:lumMod val="60000"/>
                <a:lumOff val="40000"/>
              </a:schemeClr>
            </a:solidFill>
            <a:prstDash val="solid"/>
            <a:round/>
            <a:headEnd type="none" w="med" len="med"/>
            <a:tailEnd type="arrow"/>
          </a:ln>
          <a:effectLst/>
        </p:spPr>
      </p:cxnSp>
      <p:cxnSp>
        <p:nvCxnSpPr>
          <p:cNvPr id="21" name="Straight Connector 20"/>
          <p:cNvCxnSpPr>
            <a:stCxn id="7" idx="3"/>
            <a:endCxn id="8" idx="1"/>
          </p:cNvCxnSpPr>
          <p:nvPr/>
        </p:nvCxnSpPr>
        <p:spPr>
          <a:xfrm>
            <a:off x="3581400" y="3795861"/>
            <a:ext cx="1447800" cy="0"/>
          </a:xfrm>
          <a:prstGeom prst="line">
            <a:avLst/>
          </a:prstGeom>
          <a:ln w="63500" cmpd="dbl">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62400" y="3420070"/>
            <a:ext cx="497252" cy="923330"/>
          </a:xfrm>
          <a:prstGeom prst="rect">
            <a:avLst/>
          </a:prstGeom>
          <a:noFill/>
        </p:spPr>
        <p:txBody>
          <a:bodyPr wrap="none" lIns="91440" tIns="45720" rIns="91440" bIns="45720">
            <a:spAutoFit/>
          </a:bodyPr>
          <a:lstStyle/>
          <a:p>
            <a:pPr algn="ct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p>
        </p:txBody>
      </p:sp>
    </p:spTree>
    <p:custDataLst>
      <p:tags r:id="rId1"/>
    </p:custDataLst>
    <p:extLst>
      <p:ext uri="{BB962C8B-B14F-4D97-AF65-F5344CB8AC3E}">
        <p14:creationId xmlns:p14="http://schemas.microsoft.com/office/powerpoint/2010/main" val="39291250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animEffect transition="in" filter="fade">
                                      <p:cBhvr>
                                        <p:cTn id="18" dur="500"/>
                                        <p:tgtEl>
                                          <p:spTgt spid="9"/>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22" presetClass="entr" presetSubtype="1"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up)">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9" presetClass="entr" presetSubtype="1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0" fill="hold"/>
                                        <p:tgtEl>
                                          <p:spTgt spid="14"/>
                                        </p:tgtEl>
                                        <p:attrNameLst>
                                          <p:attrName>ppt_w</p:attrName>
                                        </p:attrNameLst>
                                      </p:cBhvr>
                                      <p:tavLst>
                                        <p:tav tm="0" fmla="#ppt_w*sin(2.5*pi*$)">
                                          <p:val>
                                            <p:fltVal val="0"/>
                                          </p:val>
                                        </p:tav>
                                        <p:tav tm="100000">
                                          <p:val>
                                            <p:fltVal val="1"/>
                                          </p:val>
                                        </p:tav>
                                      </p:tavLst>
                                    </p:anim>
                                    <p:anim calcmode="lin" valueType="num">
                                      <p:cBhvr>
                                        <p:cTn id="33" dur="50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6031468"/>
            <a:ext cx="8839200" cy="369332"/>
          </a:xfrm>
          <a:prstGeom prst="rect">
            <a:avLst/>
          </a:prstGeom>
          <a:noFill/>
        </p:spPr>
        <p:txBody>
          <a:bodyPr wrap="square" rtlCol="0">
            <a:spAutoFit/>
          </a:bodyPr>
          <a:lstStyle/>
          <a:p>
            <a:r>
              <a:rPr lang="en-US" dirty="0">
                <a:hlinkClick r:id="rId3"/>
              </a:rPr>
              <a:t>http://www.businessweek.com/magazine/correlation-or-causation-12012011-gfx.html</a:t>
            </a:r>
            <a:endParaRPr lang="en-US" dirty="0">
              <a:solidFill>
                <a:schemeClr val="tx2"/>
              </a:solidFill>
            </a:endParaRPr>
          </a:p>
        </p:txBody>
      </p:sp>
      <p:pic>
        <p:nvPicPr>
          <p:cNvPr id="1026" name="Picture 2" descr="http://images.businessweek.com/cms/2011-11-30/etc_correlation50__01__960.jpg"/>
          <p:cNvPicPr>
            <a:picLocks noChangeAspect="1" noChangeArrowheads="1"/>
          </p:cNvPicPr>
          <p:nvPr/>
        </p:nvPicPr>
        <p:blipFill>
          <a:blip r:embed="rId4" cstate="print"/>
          <a:srcRect l="5833" t="1206" r="47500" b="66070"/>
          <a:stretch>
            <a:fillRect/>
          </a:stretch>
        </p:blipFill>
        <p:spPr bwMode="auto">
          <a:xfrm>
            <a:off x="800100" y="152400"/>
            <a:ext cx="7543800" cy="5846445"/>
          </a:xfrm>
          <a:prstGeom prst="rect">
            <a:avLst/>
          </a:prstGeom>
          <a:noFill/>
        </p:spPr>
      </p:pic>
      <p:sp>
        <p:nvSpPr>
          <p:cNvPr id="8" name="TextBox 7"/>
          <p:cNvSpPr txBox="1"/>
          <p:nvPr/>
        </p:nvSpPr>
        <p:spPr>
          <a:xfrm>
            <a:off x="1066800" y="5867400"/>
            <a:ext cx="6705600" cy="369332"/>
          </a:xfrm>
          <a:prstGeom prst="rect">
            <a:avLst/>
          </a:prstGeom>
          <a:noFill/>
        </p:spPr>
        <p:txBody>
          <a:bodyPr wrap="square" rtlCol="0">
            <a:spAutoFit/>
          </a:bodyPr>
          <a:lstStyle/>
          <a:p>
            <a:pPr algn="ctr"/>
            <a:r>
              <a:rPr lang="en-US" dirty="0"/>
              <a:t>Data from </a:t>
            </a:r>
            <a:r>
              <a:rPr lang="en-US" dirty="0" err="1"/>
              <a:t>Facebook</a:t>
            </a:r>
            <a:r>
              <a:rPr lang="en-US" dirty="0"/>
              <a:t> and Bloomberg</a:t>
            </a:r>
          </a:p>
        </p:txBody>
      </p:sp>
    </p:spTree>
    <p:custDataLst>
      <p:tags r:id="rId1"/>
    </p:custDataLst>
    <p:extLst>
      <p:ext uri="{BB962C8B-B14F-4D97-AF65-F5344CB8AC3E}">
        <p14:creationId xmlns:p14="http://schemas.microsoft.com/office/powerpoint/2010/main" val="1299471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6019800"/>
            <a:ext cx="8839200" cy="369332"/>
          </a:xfrm>
          <a:prstGeom prst="rect">
            <a:avLst/>
          </a:prstGeom>
          <a:noFill/>
        </p:spPr>
        <p:txBody>
          <a:bodyPr wrap="square" rtlCol="0">
            <a:spAutoFit/>
          </a:bodyPr>
          <a:lstStyle/>
          <a:p>
            <a:r>
              <a:rPr lang="en-US" dirty="0">
                <a:hlinkClick r:id="rId3"/>
              </a:rPr>
              <a:t>http://www.businessweek.com/magazine/correlation-or-causation-12012011-gfx.html</a:t>
            </a:r>
            <a:endParaRPr lang="en-US" dirty="0">
              <a:solidFill>
                <a:schemeClr val="tx2"/>
              </a:solidFill>
            </a:endParaRPr>
          </a:p>
        </p:txBody>
      </p:sp>
      <p:sp>
        <p:nvSpPr>
          <p:cNvPr id="8" name="TextBox 7"/>
          <p:cNvSpPr txBox="1"/>
          <p:nvPr/>
        </p:nvSpPr>
        <p:spPr>
          <a:xfrm>
            <a:off x="1447800" y="5867400"/>
            <a:ext cx="6705600" cy="369332"/>
          </a:xfrm>
          <a:prstGeom prst="rect">
            <a:avLst/>
          </a:prstGeom>
          <a:noFill/>
        </p:spPr>
        <p:txBody>
          <a:bodyPr wrap="square" rtlCol="0">
            <a:spAutoFit/>
          </a:bodyPr>
          <a:lstStyle/>
          <a:p>
            <a:pPr algn="ctr"/>
            <a:r>
              <a:rPr lang="en-US" dirty="0"/>
              <a:t>Data from NASA and National Science Foundation</a:t>
            </a:r>
          </a:p>
        </p:txBody>
      </p:sp>
      <p:pic>
        <p:nvPicPr>
          <p:cNvPr id="6" name="Picture 2" descr="http://images.businessweek.com/cms/2011-11-30/etc_correlation50__01__960.jpg"/>
          <p:cNvPicPr>
            <a:picLocks noChangeAspect="1" noChangeArrowheads="1"/>
          </p:cNvPicPr>
          <p:nvPr/>
        </p:nvPicPr>
        <p:blipFill>
          <a:blip r:embed="rId4" cstate="print"/>
          <a:srcRect l="51667" t="1543" b="66070"/>
          <a:stretch>
            <a:fillRect/>
          </a:stretch>
        </p:blipFill>
        <p:spPr bwMode="auto">
          <a:xfrm>
            <a:off x="685800" y="152400"/>
            <a:ext cx="7848600" cy="5812422"/>
          </a:xfrm>
          <a:prstGeom prst="rect">
            <a:avLst/>
          </a:prstGeom>
          <a:noFill/>
        </p:spPr>
      </p:pic>
    </p:spTree>
    <p:custDataLst>
      <p:tags r:id="rId1"/>
    </p:custDataLst>
    <p:extLst>
      <p:ext uri="{BB962C8B-B14F-4D97-AF65-F5344CB8AC3E}">
        <p14:creationId xmlns:p14="http://schemas.microsoft.com/office/powerpoint/2010/main" val="96891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6096000"/>
            <a:ext cx="8839200" cy="369332"/>
          </a:xfrm>
          <a:prstGeom prst="rect">
            <a:avLst/>
          </a:prstGeom>
          <a:noFill/>
        </p:spPr>
        <p:txBody>
          <a:bodyPr wrap="square" rtlCol="0">
            <a:spAutoFit/>
          </a:bodyPr>
          <a:lstStyle/>
          <a:p>
            <a:r>
              <a:rPr lang="en-US" dirty="0">
                <a:hlinkClick r:id="rId3"/>
              </a:rPr>
              <a:t>http://www.businessweek.com/magazine/correlation-or-causation-12012011-gfx.html</a:t>
            </a:r>
            <a:endParaRPr lang="en-US" dirty="0">
              <a:solidFill>
                <a:schemeClr val="tx2"/>
              </a:solidFill>
            </a:endParaRPr>
          </a:p>
        </p:txBody>
      </p:sp>
      <p:sp>
        <p:nvSpPr>
          <p:cNvPr id="5" name="TextBox 4"/>
          <p:cNvSpPr txBox="1"/>
          <p:nvPr/>
        </p:nvSpPr>
        <p:spPr>
          <a:xfrm>
            <a:off x="76200" y="5867400"/>
            <a:ext cx="8839200" cy="369332"/>
          </a:xfrm>
          <a:prstGeom prst="rect">
            <a:avLst/>
          </a:prstGeom>
          <a:noFill/>
        </p:spPr>
        <p:txBody>
          <a:bodyPr wrap="square" rtlCol="0">
            <a:spAutoFit/>
          </a:bodyPr>
          <a:lstStyle/>
          <a:p>
            <a:pPr algn="ctr"/>
            <a:r>
              <a:rPr lang="en-US" dirty="0"/>
              <a:t>Data from US Social Security Administration and National Housing Finance Agency </a:t>
            </a:r>
          </a:p>
        </p:txBody>
      </p:sp>
      <p:pic>
        <p:nvPicPr>
          <p:cNvPr id="6" name="Picture 2" descr="http://images.businessweek.com/cms/2011-11-30/etc_correlation50__01__960.jpg"/>
          <p:cNvPicPr>
            <a:picLocks noChangeAspect="1" noChangeArrowheads="1"/>
          </p:cNvPicPr>
          <p:nvPr/>
        </p:nvPicPr>
        <p:blipFill>
          <a:blip r:embed="rId4" cstate="print"/>
          <a:srcRect l="5833" t="33176" r="47500" b="34402"/>
          <a:stretch>
            <a:fillRect/>
          </a:stretch>
        </p:blipFill>
        <p:spPr bwMode="auto">
          <a:xfrm>
            <a:off x="914400" y="194583"/>
            <a:ext cx="7467600" cy="5734050"/>
          </a:xfrm>
          <a:prstGeom prst="rect">
            <a:avLst/>
          </a:prstGeom>
          <a:noFill/>
        </p:spPr>
      </p:pic>
    </p:spTree>
    <p:custDataLst>
      <p:tags r:id="rId1"/>
    </p:custDataLst>
    <p:extLst>
      <p:ext uri="{BB962C8B-B14F-4D97-AF65-F5344CB8AC3E}">
        <p14:creationId xmlns:p14="http://schemas.microsoft.com/office/powerpoint/2010/main" val="278925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6031468"/>
            <a:ext cx="8839200" cy="369332"/>
          </a:xfrm>
          <a:prstGeom prst="rect">
            <a:avLst/>
          </a:prstGeom>
          <a:noFill/>
        </p:spPr>
        <p:txBody>
          <a:bodyPr wrap="square" rtlCol="0">
            <a:spAutoFit/>
          </a:bodyPr>
          <a:lstStyle/>
          <a:p>
            <a:r>
              <a:rPr lang="en-US" dirty="0">
                <a:hlinkClick r:id="rId3"/>
              </a:rPr>
              <a:t>http://www.businessweek.com/magazine/correlation-or-causation-12012011-gfx.html</a:t>
            </a:r>
            <a:endParaRPr lang="en-US" dirty="0">
              <a:solidFill>
                <a:schemeClr val="tx2"/>
              </a:solidFill>
            </a:endParaRPr>
          </a:p>
        </p:txBody>
      </p:sp>
      <p:pic>
        <p:nvPicPr>
          <p:cNvPr id="1026" name="Picture 2" descr="http://images.businessweek.com/cms/2011-11-30/etc_correlation50__01__960.jpg"/>
          <p:cNvPicPr>
            <a:picLocks noChangeAspect="1" noChangeArrowheads="1"/>
          </p:cNvPicPr>
          <p:nvPr/>
        </p:nvPicPr>
        <p:blipFill>
          <a:blip r:embed="rId4" cstate="print"/>
          <a:srcRect l="52500" t="33176" r="1667" b="34402"/>
          <a:stretch>
            <a:fillRect/>
          </a:stretch>
        </p:blipFill>
        <p:spPr bwMode="auto">
          <a:xfrm>
            <a:off x="1066800" y="302028"/>
            <a:ext cx="7010401" cy="5480859"/>
          </a:xfrm>
          <a:prstGeom prst="rect">
            <a:avLst/>
          </a:prstGeom>
          <a:noFill/>
        </p:spPr>
      </p:pic>
      <p:sp>
        <p:nvSpPr>
          <p:cNvPr id="6" name="TextBox 5"/>
          <p:cNvSpPr txBox="1"/>
          <p:nvPr/>
        </p:nvSpPr>
        <p:spPr>
          <a:xfrm>
            <a:off x="76200" y="5867400"/>
            <a:ext cx="8839200" cy="369332"/>
          </a:xfrm>
          <a:prstGeom prst="rect">
            <a:avLst/>
          </a:prstGeom>
          <a:noFill/>
        </p:spPr>
        <p:txBody>
          <a:bodyPr wrap="square" rtlCol="0">
            <a:spAutoFit/>
          </a:bodyPr>
          <a:lstStyle/>
          <a:p>
            <a:pPr algn="ctr"/>
            <a:r>
              <a:rPr lang="en-US" dirty="0"/>
              <a:t>Data from Rotten Tomatoes, Newspaper Association of America</a:t>
            </a:r>
          </a:p>
        </p:txBody>
      </p:sp>
    </p:spTree>
    <p:custDataLst>
      <p:tags r:id="rId1"/>
    </p:custDataLst>
    <p:extLst>
      <p:ext uri="{BB962C8B-B14F-4D97-AF65-F5344CB8AC3E}">
        <p14:creationId xmlns:p14="http://schemas.microsoft.com/office/powerpoint/2010/main" val="164695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a:t>It’s a Common Mistake!</a:t>
            </a:r>
          </a:p>
        </p:txBody>
      </p:sp>
      <p:sp>
        <p:nvSpPr>
          <p:cNvPr id="2" name="Content Placeholder 1"/>
          <p:cNvSpPr>
            <a:spLocks noGrp="1"/>
          </p:cNvSpPr>
          <p:nvPr>
            <p:ph idx="1"/>
          </p:nvPr>
        </p:nvSpPr>
        <p:spPr>
          <a:xfrm>
            <a:off x="304800" y="1371600"/>
            <a:ext cx="8686800" cy="4800600"/>
          </a:xfrm>
        </p:spPr>
        <p:txBody>
          <a:bodyPr>
            <a:normAutofit/>
          </a:bodyPr>
          <a:lstStyle/>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
        <p:nvSpPr>
          <p:cNvPr id="4" name="Content Placeholder 1"/>
          <p:cNvSpPr txBox="1">
            <a:spLocks/>
          </p:cNvSpPr>
          <p:nvPr/>
        </p:nvSpPr>
        <p:spPr>
          <a:xfrm>
            <a:off x="228600" y="1371600"/>
            <a:ext cx="8686800" cy="5334000"/>
          </a:xfrm>
          <a:prstGeom prst="rect">
            <a:avLst/>
          </a:prstGeom>
        </p:spPr>
        <p:txBody>
          <a:bodyPr vert="horz" lIns="91440" tIns="45720" rIns="91440" bIns="45720" rtlCol="0">
            <a:normAutofit/>
          </a:bodyPr>
          <a:lstStyle/>
          <a:p>
            <a:pPr lvl="0" indent="-342900">
              <a:defRPr/>
            </a:pPr>
            <a:r>
              <a:rPr lang="en-US" sz="3600" i="1" dirty="0"/>
              <a:t>“The invalid assumption that correlation implies cause is probably among the two or three most serious and common errors of human reasoning.”</a:t>
            </a:r>
          </a:p>
          <a:p>
            <a:pPr marL="457200" lvl="0" indent="-457200" algn="r">
              <a:buFontTx/>
              <a:buChar char="-"/>
              <a:defRPr/>
            </a:pPr>
            <a:r>
              <a:rPr lang="en-US" sz="3200" dirty="0"/>
              <a:t>Stephen Jay Gould, </a:t>
            </a:r>
          </a:p>
          <a:p>
            <a:pPr lvl="0" algn="ctr">
              <a:defRPr/>
            </a:pPr>
            <a:r>
              <a:rPr lang="en-US" sz="3200" dirty="0"/>
              <a:t>(American geologist, paleontologist, evolutionary biologist and popular-science author)</a:t>
            </a:r>
          </a:p>
          <a:p>
            <a:pPr lvl="0" algn="ctr">
              <a:defRPr/>
            </a:pPr>
            <a:r>
              <a:rPr lang="en-US" sz="2400" dirty="0">
                <a:hlinkClick r:id="rId3"/>
              </a:rPr>
              <a:t>http://scienceornot.net/2012/07/05/confusing-correlation-with-causation-rooster-syndrome/</a:t>
            </a:r>
            <a:endParaRPr lang="en-US" sz="2400" dirty="0"/>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spTree>
    <p:custDataLst>
      <p:tags r:id="rId1"/>
    </p:custDataLst>
    <p:extLst>
      <p:ext uri="{BB962C8B-B14F-4D97-AF65-F5344CB8AC3E}">
        <p14:creationId xmlns:p14="http://schemas.microsoft.com/office/powerpoint/2010/main" val="2166353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Confounding Variable</a:t>
            </a:r>
          </a:p>
        </p:txBody>
      </p:sp>
      <p:sp>
        <p:nvSpPr>
          <p:cNvPr id="3" name="Content Placeholder 2"/>
          <p:cNvSpPr>
            <a:spLocks noGrp="1"/>
          </p:cNvSpPr>
          <p:nvPr>
            <p:ph idx="1"/>
          </p:nvPr>
        </p:nvSpPr>
        <p:spPr>
          <a:xfrm>
            <a:off x="533400" y="1676400"/>
            <a:ext cx="8001000" cy="1752600"/>
          </a:xfrm>
        </p:spPr>
        <p:txBody>
          <a:bodyPr>
            <a:normAutofit/>
          </a:bodyPr>
          <a:lstStyle/>
          <a:p>
            <a:pPr lvl="0">
              <a:buClr>
                <a:srgbClr val="0000BF"/>
              </a:buClr>
            </a:pPr>
            <a:r>
              <a:rPr lang="en-US" dirty="0"/>
              <a:t>A third variable that is associated with both the explanatory variable and the response variable is called a </a:t>
            </a:r>
            <a:r>
              <a:rPr lang="en-US" b="1" i="1" dirty="0">
                <a:solidFill>
                  <a:schemeClr val="accent5">
                    <a:lumMod val="50000"/>
                  </a:schemeClr>
                </a:solidFill>
              </a:rPr>
              <a:t>confounding variable</a:t>
            </a:r>
          </a:p>
        </p:txBody>
      </p:sp>
      <p:sp>
        <p:nvSpPr>
          <p:cNvPr id="12" name="Rectangle 11"/>
          <p:cNvSpPr/>
          <p:nvPr/>
        </p:nvSpPr>
        <p:spPr>
          <a:xfrm>
            <a:off x="533400" y="3548480"/>
            <a:ext cx="8001000" cy="3277820"/>
          </a:xfrm>
          <a:prstGeom prst="rect">
            <a:avLst/>
          </a:prstGeom>
        </p:spPr>
        <p:txBody>
          <a:bodyPr wrap="square">
            <a:spAutoFit/>
          </a:bodyPr>
          <a:lstStyle/>
          <a:p>
            <a:pPr>
              <a:spcAft>
                <a:spcPts val="1800"/>
              </a:spcAft>
              <a:buClr>
                <a:srgbClr val="0000BF"/>
              </a:buClr>
              <a:buSzPct val="60000"/>
            </a:pPr>
            <a:r>
              <a:rPr lang="en-US" sz="3200" dirty="0">
                <a:solidFill>
                  <a:schemeClr val="tx2"/>
                </a:solidFill>
              </a:rPr>
              <a:t>A confounding variable can offer a plausible explanation for an association between the two variables.</a:t>
            </a:r>
          </a:p>
          <a:p>
            <a:pPr>
              <a:spcAft>
                <a:spcPts val="1800"/>
              </a:spcAft>
              <a:buClr>
                <a:srgbClr val="0000BF"/>
              </a:buClr>
              <a:buSzPct val="60000"/>
            </a:pPr>
            <a:r>
              <a:rPr lang="en-US" sz="3200" dirty="0">
                <a:solidFill>
                  <a:schemeClr val="tx2"/>
                </a:solidFill>
              </a:rPr>
              <a:t>Whenever confounding variables are present (or may be present), a causal association cannot be determined.</a:t>
            </a:r>
          </a:p>
        </p:txBody>
      </p:sp>
    </p:spTree>
    <p:custDataLst>
      <p:tags r:id="rId1"/>
    </p:custDataLst>
    <p:extLst>
      <p:ext uri="{BB962C8B-B14F-4D97-AF65-F5344CB8AC3E}">
        <p14:creationId xmlns:p14="http://schemas.microsoft.com/office/powerpoint/2010/main" val="427523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534400" cy="990600"/>
          </a:xfrm>
        </p:spPr>
        <p:txBody>
          <a:bodyPr>
            <a:normAutofit/>
          </a:bodyPr>
          <a:lstStyle/>
          <a:p>
            <a:r>
              <a:rPr lang="en-US" dirty="0"/>
              <a:t>Experiment </a:t>
            </a:r>
            <a:r>
              <a:rPr lang="en-US" dirty="0" err="1"/>
              <a:t>vs</a:t>
            </a:r>
            <a:r>
              <a:rPr lang="en-US" dirty="0"/>
              <a:t> Observational Study</a:t>
            </a:r>
          </a:p>
        </p:txBody>
      </p:sp>
      <p:sp>
        <p:nvSpPr>
          <p:cNvPr id="3" name="Content Placeholder 2"/>
          <p:cNvSpPr>
            <a:spLocks noGrp="1"/>
          </p:cNvSpPr>
          <p:nvPr>
            <p:ph idx="1"/>
          </p:nvPr>
        </p:nvSpPr>
        <p:spPr>
          <a:xfrm>
            <a:off x="914400" y="1752600"/>
            <a:ext cx="7353300" cy="2133600"/>
          </a:xfrm>
        </p:spPr>
        <p:txBody>
          <a:bodyPr>
            <a:normAutofit/>
          </a:bodyPr>
          <a:lstStyle/>
          <a:p>
            <a:r>
              <a:rPr lang="en-US" dirty="0"/>
              <a:t>An </a:t>
            </a:r>
            <a:r>
              <a:rPr lang="en-US" b="1" i="1" dirty="0">
                <a:solidFill>
                  <a:schemeClr val="accent5">
                    <a:lumMod val="50000"/>
                  </a:schemeClr>
                </a:solidFill>
              </a:rPr>
              <a:t>observational study</a:t>
            </a:r>
            <a:r>
              <a:rPr lang="en-US" dirty="0">
                <a:solidFill>
                  <a:schemeClr val="tx2"/>
                </a:solidFill>
              </a:rPr>
              <a:t> </a:t>
            </a:r>
            <a:r>
              <a:rPr lang="en-US" dirty="0"/>
              <a:t>is a study in which the researcher does not actively control the value of any variable, but simply observes the values as they naturally exist</a:t>
            </a:r>
          </a:p>
        </p:txBody>
      </p:sp>
      <p:sp>
        <p:nvSpPr>
          <p:cNvPr id="5" name="Content Placeholder 2"/>
          <p:cNvSpPr>
            <a:spLocks noGrp="1"/>
          </p:cNvSpPr>
          <p:nvPr>
            <p:ph idx="1"/>
          </p:nvPr>
        </p:nvSpPr>
        <p:spPr>
          <a:xfrm>
            <a:off x="895350" y="4191000"/>
            <a:ext cx="7353300" cy="1752600"/>
          </a:xfrm>
        </p:spPr>
        <p:txBody>
          <a:bodyPr>
            <a:normAutofit/>
          </a:bodyPr>
          <a:lstStyle/>
          <a:p>
            <a:r>
              <a:rPr lang="en-US" dirty="0"/>
              <a:t>An </a:t>
            </a:r>
            <a:r>
              <a:rPr lang="en-US" b="1" i="1" dirty="0">
                <a:solidFill>
                  <a:schemeClr val="accent5">
                    <a:lumMod val="50000"/>
                  </a:schemeClr>
                </a:solidFill>
              </a:rPr>
              <a:t>experiment </a:t>
            </a:r>
            <a:r>
              <a:rPr lang="en-US" dirty="0"/>
              <a:t>is a study in which the researcher actively controls one or more of the explanatory variables</a:t>
            </a:r>
          </a:p>
        </p:txBody>
      </p:sp>
    </p:spTree>
    <p:custDataLst>
      <p:tags r:id="rId1"/>
    </p:custDataLst>
    <p:extLst>
      <p:ext uri="{BB962C8B-B14F-4D97-AF65-F5344CB8AC3E}">
        <p14:creationId xmlns:p14="http://schemas.microsoft.com/office/powerpoint/2010/main" val="240745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33728"/>
            <a:ext cx="9144000" cy="3395272"/>
          </a:xfrm>
        </p:spPr>
        <p:txBody>
          <a:bodyPr>
            <a:noAutofit/>
          </a:bodyPr>
          <a:lstStyle/>
          <a:p>
            <a:r>
              <a:rPr lang="en-US" sz="3400" dirty="0">
                <a:solidFill>
                  <a:schemeClr val="accent5">
                    <a:lumMod val="50000"/>
                  </a:schemeClr>
                </a:solidFill>
              </a:rPr>
              <a:t>To examine whether playing music in a store increases the amount customers spend, we randomly assign some stores to play music and some to stay silent and compare the average amount spent by customers. Does this describe an experiment or an observational study?</a:t>
            </a:r>
          </a:p>
        </p:txBody>
      </p:sp>
      <p:sp>
        <p:nvSpPr>
          <p:cNvPr id="4" name="TPAnswers"/>
          <p:cNvSpPr>
            <a:spLocks noGrp="1"/>
          </p:cNvSpPr>
          <p:nvPr>
            <p:ph idx="4294967295"/>
            <p:custDataLst>
              <p:tags r:id="rId2"/>
            </p:custDataLst>
          </p:nvPr>
        </p:nvSpPr>
        <p:spPr>
          <a:xfrm>
            <a:off x="0" y="3962400"/>
            <a:ext cx="8534400" cy="1219200"/>
          </a:xfrm>
        </p:spPr>
        <p:txBody>
          <a:bodyPr>
            <a:noAutofit/>
          </a:bodyPr>
          <a:lstStyle/>
          <a:p>
            <a:pPr marL="742950" indent="-742950">
              <a:spcBef>
                <a:spcPct val="20000"/>
              </a:spcBef>
              <a:buFont typeface="Wingdings"/>
              <a:buAutoNum type="arabicPeriod"/>
            </a:pPr>
            <a:r>
              <a:rPr lang="en-US" sz="3200" dirty="0"/>
              <a:t>Experiment</a:t>
            </a:r>
          </a:p>
          <a:p>
            <a:pPr marL="742950" indent="-742950">
              <a:spcBef>
                <a:spcPct val="20000"/>
              </a:spcBef>
              <a:buFont typeface="Wingdings"/>
              <a:buAutoNum type="arabicPeriod"/>
            </a:pPr>
            <a:r>
              <a:rPr lang="en-US" sz="3200" dirty="0"/>
              <a:t>Observational Study</a:t>
            </a:r>
          </a:p>
        </p:txBody>
      </p:sp>
    </p:spTree>
    <p:custDataLst>
      <p:tags r:id="rId1"/>
    </p:custDataLst>
    <p:extLst>
      <p:ext uri="{BB962C8B-B14F-4D97-AF65-F5344CB8AC3E}">
        <p14:creationId xmlns:p14="http://schemas.microsoft.com/office/powerpoint/2010/main" val="1684102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33728"/>
            <a:ext cx="9144000" cy="2404672"/>
          </a:xfrm>
        </p:spPr>
        <p:txBody>
          <a:bodyPr>
            <a:noAutofit/>
          </a:bodyPr>
          <a:lstStyle/>
          <a:p>
            <a:r>
              <a:rPr lang="en-US" sz="3400" dirty="0"/>
              <a:t>To examine whether farm-grown salmon contain more omega-3 oils if water is more acidic, we collect samples of salmon and water from multiple fish farms to see if the two variables are related.</a:t>
            </a:r>
          </a:p>
        </p:txBody>
      </p:sp>
      <p:sp>
        <p:nvSpPr>
          <p:cNvPr id="4" name="TPAnswers"/>
          <p:cNvSpPr>
            <a:spLocks noGrp="1"/>
          </p:cNvSpPr>
          <p:nvPr>
            <p:ph idx="4294967295"/>
            <p:custDataLst>
              <p:tags r:id="rId2"/>
            </p:custDataLst>
          </p:nvPr>
        </p:nvSpPr>
        <p:spPr>
          <a:xfrm>
            <a:off x="152400" y="2819400"/>
            <a:ext cx="4876800" cy="1295400"/>
          </a:xfrm>
        </p:spPr>
        <p:txBody>
          <a:bodyPr>
            <a:noAutofit/>
          </a:bodyPr>
          <a:lstStyle/>
          <a:p>
            <a:pPr marL="742950" indent="-742950">
              <a:spcBef>
                <a:spcPct val="20000"/>
              </a:spcBef>
              <a:buFont typeface="Wingdings"/>
              <a:buAutoNum type="arabicPeriod"/>
            </a:pPr>
            <a:r>
              <a:rPr lang="en-US" sz="3200" dirty="0"/>
              <a:t>Experiment</a:t>
            </a:r>
          </a:p>
          <a:p>
            <a:pPr marL="742950" indent="-742950">
              <a:spcBef>
                <a:spcPct val="20000"/>
              </a:spcBef>
              <a:buFont typeface="Wingdings"/>
              <a:buAutoNum type="arabicPeriod"/>
            </a:pPr>
            <a:r>
              <a:rPr lang="en-US" sz="3200" dirty="0"/>
              <a:t>Observational Study</a:t>
            </a:r>
          </a:p>
        </p:txBody>
      </p:sp>
    </p:spTree>
    <p:custDataLst>
      <p:tags r:id="rId1"/>
    </p:custDataLst>
    <p:extLst>
      <p:ext uri="{BB962C8B-B14F-4D97-AF65-F5344CB8AC3E}">
        <p14:creationId xmlns:p14="http://schemas.microsoft.com/office/powerpoint/2010/main" val="1978535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nchor="ctr">
            <a:normAutofit/>
          </a:bodyPr>
          <a:lstStyle/>
          <a:p>
            <a:r>
              <a:rPr lang="en-US" b="1" dirty="0"/>
              <a:t>Observational Studies</a:t>
            </a:r>
          </a:p>
        </p:txBody>
      </p:sp>
      <p:sp>
        <p:nvSpPr>
          <p:cNvPr id="2" name="Content Placeholder 1"/>
          <p:cNvSpPr>
            <a:spLocks noGrp="1"/>
          </p:cNvSpPr>
          <p:nvPr>
            <p:ph idx="1"/>
          </p:nvPr>
        </p:nvSpPr>
        <p:spPr>
          <a:xfrm>
            <a:off x="304800" y="1714500"/>
            <a:ext cx="8534400" cy="4800600"/>
          </a:xfrm>
        </p:spPr>
        <p:txBody>
          <a:bodyPr>
            <a:normAutofit/>
          </a:bodyPr>
          <a:lstStyle/>
          <a:p>
            <a:pPr>
              <a:spcBef>
                <a:spcPts val="0"/>
              </a:spcBef>
            </a:pPr>
            <a:r>
              <a:rPr lang="en-US" dirty="0"/>
              <a:t>There are almost always confounding variables in observational studies</a:t>
            </a:r>
          </a:p>
          <a:p>
            <a:pPr>
              <a:spcBef>
                <a:spcPts val="0"/>
              </a:spcBef>
              <a:buNone/>
            </a:pPr>
            <a:endParaRPr lang="en-US" dirty="0"/>
          </a:p>
          <a:p>
            <a:pPr>
              <a:spcBef>
                <a:spcPts val="0"/>
              </a:spcBef>
            </a:pPr>
            <a:r>
              <a:rPr lang="en-US" b="1" dirty="0">
                <a:solidFill>
                  <a:schemeClr val="accent5">
                    <a:lumMod val="50000"/>
                  </a:schemeClr>
                </a:solidFill>
              </a:rPr>
              <a:t>Observational studies can almost never be used to establish causation!!</a:t>
            </a:r>
          </a:p>
          <a:p>
            <a:pPr>
              <a:spcBef>
                <a:spcPts val="0"/>
              </a:spcBef>
            </a:pPr>
            <a:endParaRPr lang="en-US" dirty="0">
              <a:solidFill>
                <a:schemeClr val="tx2"/>
              </a:solidFill>
            </a:endParaRPr>
          </a:p>
        </p:txBody>
      </p:sp>
    </p:spTree>
    <p:custDataLst>
      <p:tags r:id="rId1"/>
    </p:custDataLst>
    <p:extLst>
      <p:ext uri="{BB962C8B-B14F-4D97-AF65-F5344CB8AC3E}">
        <p14:creationId xmlns:p14="http://schemas.microsoft.com/office/powerpoint/2010/main" val="402019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lstStyle/>
          <a:p>
            <a:r>
              <a:rPr lang="en-US" b="1" dirty="0"/>
              <a:t>Randomization</a:t>
            </a:r>
          </a:p>
        </p:txBody>
      </p:sp>
      <p:sp>
        <p:nvSpPr>
          <p:cNvPr id="2" name="Content Placeholder 1"/>
          <p:cNvSpPr>
            <a:spLocks noGrp="1"/>
          </p:cNvSpPr>
          <p:nvPr>
            <p:ph idx="1"/>
          </p:nvPr>
        </p:nvSpPr>
        <p:spPr>
          <a:xfrm>
            <a:off x="304800" y="1371600"/>
            <a:ext cx="8686800" cy="4800600"/>
          </a:xfrm>
        </p:spPr>
        <p:txBody>
          <a:bodyPr>
            <a:normAutofit/>
          </a:bodyPr>
          <a:lstStyle/>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
        <p:nvSpPr>
          <p:cNvPr id="4" name="Content Placeholder 1"/>
          <p:cNvSpPr txBox="1">
            <a:spLocks/>
          </p:cNvSpPr>
          <p:nvPr/>
        </p:nvSpPr>
        <p:spPr>
          <a:xfrm>
            <a:off x="228600" y="1524000"/>
            <a:ext cx="8686800" cy="5181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3200" b="0" i="0" u="none" strike="noStrike" kern="1200" cap="none" spc="0" normalizeH="0" baseline="0" noProof="0" dirty="0">
                <a:ln>
                  <a:noFill/>
                </a:ln>
                <a:effectLst/>
                <a:uLnTx/>
                <a:uFillTx/>
                <a:latin typeface="+mn-lt"/>
                <a:ea typeface="+mn-ea"/>
                <a:cs typeface="+mn-cs"/>
              </a:rPr>
              <a:t>How can we make sure to avoid confounding variables?</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sp>
        <p:nvSpPr>
          <p:cNvPr id="5" name="Rounded Rectangle 4"/>
          <p:cNvSpPr/>
          <p:nvPr/>
        </p:nvSpPr>
        <p:spPr>
          <a:xfrm>
            <a:off x="685800" y="2743200"/>
            <a:ext cx="7848600" cy="2819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t>RANDOMLY assign values of the explanatory variable</a:t>
            </a:r>
            <a:endParaRPr lang="en-US" sz="5400" dirty="0"/>
          </a:p>
        </p:txBody>
      </p:sp>
    </p:spTree>
    <p:custDataLst>
      <p:tags r:id="rId1"/>
    </p:custDataLst>
    <p:extLst>
      <p:ext uri="{BB962C8B-B14F-4D97-AF65-F5344CB8AC3E}">
        <p14:creationId xmlns:p14="http://schemas.microsoft.com/office/powerpoint/2010/main" val="3479209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Randomized Experiment</a:t>
            </a:r>
          </a:p>
        </p:txBody>
      </p:sp>
      <p:sp>
        <p:nvSpPr>
          <p:cNvPr id="3" name="Content Placeholder 2"/>
          <p:cNvSpPr>
            <a:spLocks noGrp="1"/>
          </p:cNvSpPr>
          <p:nvPr>
            <p:ph idx="1"/>
          </p:nvPr>
        </p:nvSpPr>
        <p:spPr>
          <a:xfrm>
            <a:off x="1219200" y="1981200"/>
            <a:ext cx="6972300" cy="2064258"/>
          </a:xfrm>
        </p:spPr>
        <p:txBody>
          <a:bodyPr>
            <a:normAutofit/>
          </a:bodyPr>
          <a:lstStyle/>
          <a:p>
            <a:r>
              <a:rPr lang="en-US" dirty="0"/>
              <a:t>In a </a:t>
            </a:r>
            <a:r>
              <a:rPr lang="en-US" b="1" i="1" dirty="0">
                <a:solidFill>
                  <a:schemeClr val="accent5">
                    <a:lumMod val="50000"/>
                  </a:schemeClr>
                </a:solidFill>
              </a:rPr>
              <a:t>randomized experiment</a:t>
            </a:r>
            <a:r>
              <a:rPr lang="en-US" dirty="0">
                <a:solidFill>
                  <a:schemeClr val="accent5">
                    <a:lumMod val="50000"/>
                  </a:schemeClr>
                </a:solidFill>
              </a:rPr>
              <a:t> </a:t>
            </a:r>
            <a:r>
              <a:rPr lang="en-US" dirty="0"/>
              <a:t>the explanatory variable for each unit is determined randomly, before the response variable is measured</a:t>
            </a:r>
          </a:p>
        </p:txBody>
      </p:sp>
    </p:spTree>
    <p:custDataLst>
      <p:tags r:id="rId1"/>
    </p:custDataLst>
    <p:extLst>
      <p:ext uri="{BB962C8B-B14F-4D97-AF65-F5344CB8AC3E}">
        <p14:creationId xmlns:p14="http://schemas.microsoft.com/office/powerpoint/2010/main" val="1015940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Randomized Experiment</a:t>
            </a:r>
          </a:p>
        </p:txBody>
      </p:sp>
      <p:sp>
        <p:nvSpPr>
          <p:cNvPr id="4" name="Content Placeholder 3"/>
          <p:cNvSpPr>
            <a:spLocks noGrp="1"/>
          </p:cNvSpPr>
          <p:nvPr>
            <p:ph idx="10"/>
          </p:nvPr>
        </p:nvSpPr>
        <p:spPr>
          <a:xfrm>
            <a:off x="228600" y="1676400"/>
            <a:ext cx="8534400" cy="4572000"/>
          </a:xfrm>
        </p:spPr>
        <p:txBody>
          <a:bodyPr>
            <a:normAutofit/>
          </a:bodyPr>
          <a:lstStyle/>
          <a:p>
            <a:r>
              <a:rPr lang="en-US" sz="3200" dirty="0"/>
              <a:t>The different levels of the explanatory variable are known as </a:t>
            </a:r>
            <a:r>
              <a:rPr lang="en-US" sz="3200" b="1" i="1" dirty="0">
                <a:solidFill>
                  <a:schemeClr val="accent5">
                    <a:lumMod val="50000"/>
                  </a:schemeClr>
                </a:solidFill>
              </a:rPr>
              <a:t>treatments</a:t>
            </a:r>
          </a:p>
          <a:p>
            <a:r>
              <a:rPr lang="en-US" sz="3200" dirty="0"/>
              <a:t>Randomly divide the units into groups, and randomly assign a different treatment to each group</a:t>
            </a:r>
          </a:p>
          <a:p>
            <a:r>
              <a:rPr lang="en-US" sz="3200" dirty="0"/>
              <a:t>If the treatments are randomly assigned, the treatment groups should all look similar</a:t>
            </a:r>
          </a:p>
        </p:txBody>
      </p:sp>
    </p:spTree>
    <p:custDataLst>
      <p:tags r:id="rId1"/>
    </p:custDataLst>
    <p:extLst>
      <p:ext uri="{BB962C8B-B14F-4D97-AF65-F5344CB8AC3E}">
        <p14:creationId xmlns:p14="http://schemas.microsoft.com/office/powerpoint/2010/main" val="210513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Randomized Experiments</a:t>
            </a:r>
          </a:p>
        </p:txBody>
      </p:sp>
      <p:sp>
        <p:nvSpPr>
          <p:cNvPr id="2" name="Content Placeholder 1"/>
          <p:cNvSpPr>
            <a:spLocks noGrp="1"/>
          </p:cNvSpPr>
          <p:nvPr>
            <p:ph idx="1"/>
          </p:nvPr>
        </p:nvSpPr>
        <p:spPr>
          <a:xfrm>
            <a:off x="152400" y="1524000"/>
            <a:ext cx="8915400" cy="5257800"/>
          </a:xfrm>
        </p:spPr>
        <p:txBody>
          <a:bodyPr>
            <a:normAutofit/>
          </a:bodyPr>
          <a:lstStyle/>
          <a:p>
            <a:pPr>
              <a:spcBef>
                <a:spcPts val="0"/>
              </a:spcBef>
            </a:pPr>
            <a:r>
              <a:rPr lang="en-US" sz="3200" dirty="0"/>
              <a:t>Because the explanatory variable is randomly assigned, it is not associated with any other variables.  Confounding variables are eliminated!!!</a:t>
            </a:r>
          </a:p>
          <a:p>
            <a:pPr>
              <a:spcBef>
                <a:spcPts val="0"/>
              </a:spcBef>
              <a:buNone/>
            </a:pPr>
            <a:endParaRPr lang="en-US" sz="1600"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
        <p:nvSpPr>
          <p:cNvPr id="7" name="TextBox 6"/>
          <p:cNvSpPr txBox="1"/>
          <p:nvPr/>
        </p:nvSpPr>
        <p:spPr>
          <a:xfrm>
            <a:off x="878205" y="5536942"/>
            <a:ext cx="2514600" cy="1077218"/>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t>E</a:t>
            </a:r>
            <a:r>
              <a:rPr lang="en-US" sz="3200" dirty="0">
                <a:solidFill>
                  <a:schemeClr val="tx1"/>
                </a:solidFill>
              </a:rPr>
              <a:t>xplanatory </a:t>
            </a:r>
            <a:r>
              <a:rPr lang="en-US" sz="3200" dirty="0"/>
              <a:t>V</a:t>
            </a:r>
            <a:r>
              <a:rPr lang="en-US" sz="3200" dirty="0">
                <a:solidFill>
                  <a:schemeClr val="tx1"/>
                </a:solidFill>
              </a:rPr>
              <a:t>ariable</a:t>
            </a:r>
          </a:p>
        </p:txBody>
      </p:sp>
      <p:sp>
        <p:nvSpPr>
          <p:cNvPr id="8" name="TextBox 7"/>
          <p:cNvSpPr txBox="1"/>
          <p:nvPr/>
        </p:nvSpPr>
        <p:spPr>
          <a:xfrm>
            <a:off x="5928360" y="5536942"/>
            <a:ext cx="2057400" cy="1077218"/>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solidFill>
                  <a:schemeClr val="tx1"/>
                </a:solidFill>
              </a:rPr>
              <a:t>Response Variable</a:t>
            </a:r>
            <a:endParaRPr lang="en-US" sz="2800" dirty="0">
              <a:solidFill>
                <a:schemeClr val="tx1"/>
              </a:solidFill>
            </a:endParaRPr>
          </a:p>
        </p:txBody>
      </p:sp>
      <p:sp>
        <p:nvSpPr>
          <p:cNvPr id="9" name="TextBox 8"/>
          <p:cNvSpPr txBox="1"/>
          <p:nvPr/>
        </p:nvSpPr>
        <p:spPr>
          <a:xfrm>
            <a:off x="3162300" y="3418581"/>
            <a:ext cx="2438400" cy="1077218"/>
          </a:xfrm>
          <a:prstGeom prst="rect">
            <a:avLst/>
          </a:prstGeom>
          <a:solidFill>
            <a:schemeClr val="accent1">
              <a:lumMod val="20000"/>
              <a:lumOff val="80000"/>
            </a:schemeClr>
          </a:solidFill>
          <a:effectLst>
            <a:glow rad="139700">
              <a:srgbClr val="C00000">
                <a:alpha val="40000"/>
              </a:srgbClr>
            </a:glow>
          </a:effectLst>
        </p:spPr>
        <p:txBody>
          <a:bodyPr wrap="square" rtlCol="0">
            <a:spAutoFit/>
          </a:bodyPr>
          <a:lstStyle/>
          <a:p>
            <a:pPr algn="ctr"/>
            <a:r>
              <a:rPr lang="en-US" sz="3200" dirty="0">
                <a:solidFill>
                  <a:schemeClr val="tx1"/>
                </a:solidFill>
              </a:rPr>
              <a:t>Confounding Variable</a:t>
            </a:r>
          </a:p>
        </p:txBody>
      </p:sp>
      <p:cxnSp>
        <p:nvCxnSpPr>
          <p:cNvPr id="10" name="Straight Arrow Connector 9"/>
          <p:cNvCxnSpPr/>
          <p:nvPr/>
        </p:nvCxnSpPr>
        <p:spPr bwMode="auto">
          <a:xfrm flipH="1">
            <a:off x="2165985" y="4495800"/>
            <a:ext cx="2122170" cy="914013"/>
          </a:xfrm>
          <a:prstGeom prst="straightConnector1">
            <a:avLst/>
          </a:prstGeom>
          <a:solidFill>
            <a:schemeClr val="tx1"/>
          </a:solidFill>
          <a:ln w="57150" cap="flat" cmpd="dbl" algn="ctr">
            <a:solidFill>
              <a:schemeClr val="accent2">
                <a:lumMod val="60000"/>
                <a:lumOff val="40000"/>
              </a:schemeClr>
            </a:solidFill>
            <a:prstDash val="solid"/>
            <a:round/>
            <a:headEnd type="none" w="med" len="med"/>
            <a:tailEnd type="arrow"/>
          </a:ln>
          <a:effectLst/>
        </p:spPr>
      </p:cxnSp>
      <p:cxnSp>
        <p:nvCxnSpPr>
          <p:cNvPr id="11" name="Straight Arrow Connector 10"/>
          <p:cNvCxnSpPr/>
          <p:nvPr/>
        </p:nvCxnSpPr>
        <p:spPr bwMode="auto">
          <a:xfrm>
            <a:off x="4614862" y="4495800"/>
            <a:ext cx="2243138" cy="914013"/>
          </a:xfrm>
          <a:prstGeom prst="straightConnector1">
            <a:avLst/>
          </a:prstGeom>
          <a:solidFill>
            <a:schemeClr val="tx1"/>
          </a:solidFill>
          <a:ln w="57150" cap="flat" cmpd="dbl" algn="ctr">
            <a:solidFill>
              <a:schemeClr val="accent2">
                <a:lumMod val="60000"/>
                <a:lumOff val="40000"/>
              </a:schemeClr>
            </a:solidFill>
            <a:prstDash val="solid"/>
            <a:round/>
            <a:headEnd type="none" w="med" len="med"/>
            <a:tailEnd type="arrow"/>
          </a:ln>
          <a:effectLst/>
        </p:spPr>
      </p:cxnSp>
      <p:cxnSp>
        <p:nvCxnSpPr>
          <p:cNvPr id="12" name="Straight Connector 11"/>
          <p:cNvCxnSpPr>
            <a:stCxn id="7" idx="3"/>
            <a:endCxn id="8" idx="1"/>
          </p:cNvCxnSpPr>
          <p:nvPr/>
        </p:nvCxnSpPr>
        <p:spPr>
          <a:xfrm>
            <a:off x="3392805" y="6075551"/>
            <a:ext cx="2535555" cy="0"/>
          </a:xfrm>
          <a:prstGeom prst="line">
            <a:avLst/>
          </a:prstGeom>
          <a:ln w="63500" cmpd="dbl">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880360" y="4739639"/>
            <a:ext cx="533400" cy="60960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2880360" y="4724400"/>
            <a:ext cx="457200" cy="609600"/>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57200" y="4080301"/>
            <a:ext cx="2209800" cy="830997"/>
          </a:xfrm>
          <a:prstGeom prst="rect">
            <a:avLst/>
          </a:prstGeom>
          <a:noFill/>
        </p:spPr>
        <p:txBody>
          <a:bodyPr wrap="square" rtlCol="0">
            <a:spAutoFit/>
          </a:bodyPr>
          <a:lstStyle/>
          <a:p>
            <a:r>
              <a:rPr lang="en-US" sz="2400" b="1" dirty="0">
                <a:solidFill>
                  <a:srgbClr val="FF0000"/>
                </a:solidFill>
              </a:rPr>
              <a:t>RANDOMIZED EXPERIMENT</a:t>
            </a:r>
          </a:p>
        </p:txBody>
      </p:sp>
    </p:spTree>
    <p:custDataLst>
      <p:tags r:id="rId1"/>
    </p:custDataLst>
    <p:extLst>
      <p:ext uri="{BB962C8B-B14F-4D97-AF65-F5344CB8AC3E}">
        <p14:creationId xmlns:p14="http://schemas.microsoft.com/office/powerpoint/2010/main" val="123923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p:cTn id="25" dur="500" fill="hold"/>
                                        <p:tgtEl>
                                          <p:spTgt spid="28"/>
                                        </p:tgtEl>
                                        <p:attrNameLst>
                                          <p:attrName>ppt_w</p:attrName>
                                        </p:attrNameLst>
                                      </p:cBhvr>
                                      <p:tavLst>
                                        <p:tav tm="0">
                                          <p:val>
                                            <p:fltVal val="0"/>
                                          </p:val>
                                        </p:tav>
                                        <p:tav tm="100000">
                                          <p:val>
                                            <p:strVal val="#ppt_w"/>
                                          </p:val>
                                        </p:tav>
                                      </p:tavLst>
                                    </p:anim>
                                    <p:anim calcmode="lin" valueType="num">
                                      <p:cBhvr>
                                        <p:cTn id="26" dur="500" fill="hold"/>
                                        <p:tgtEl>
                                          <p:spTgt spid="28"/>
                                        </p:tgtEl>
                                        <p:attrNameLst>
                                          <p:attrName>ppt_h</p:attrName>
                                        </p:attrNameLst>
                                      </p:cBhvr>
                                      <p:tavLst>
                                        <p:tav tm="0">
                                          <p:val>
                                            <p:fltVal val="0"/>
                                          </p:val>
                                        </p:tav>
                                        <p:tav tm="100000">
                                          <p:val>
                                            <p:strVal val="#ppt_h"/>
                                          </p:val>
                                        </p:tav>
                                      </p:tavLst>
                                    </p:anim>
                                    <p:animEffect transition="in" filter="fade">
                                      <p:cBhvr>
                                        <p:cTn id="27" dur="500"/>
                                        <p:tgtEl>
                                          <p:spTgt spid="28"/>
                                        </p:tgtEl>
                                      </p:cBhvr>
                                    </p:animEffect>
                                  </p:childTnLst>
                                </p:cTn>
                              </p:par>
                            </p:childTnLst>
                          </p:cTn>
                        </p:par>
                        <p:par>
                          <p:cTn id="28" fill="hold">
                            <p:stCondLst>
                              <p:cond delay="500"/>
                            </p:stCondLst>
                            <p:childTnLst>
                              <p:par>
                                <p:cTn id="29" presetID="53"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par>
                          <p:cTn id="34" fill="hold">
                            <p:stCondLst>
                              <p:cond delay="1000"/>
                            </p:stCondLst>
                            <p:childTnLst>
                              <p:par>
                                <p:cTn id="35" presetID="53" presetClass="entr" presetSubtype="0" fill="hold" nodeType="after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childTnLst>
                                </p:cTn>
                              </p:par>
                            </p:childTnLst>
                          </p:cTn>
                        </p:par>
                        <p:par>
                          <p:cTn id="40" fill="hold">
                            <p:stCondLst>
                              <p:cond delay="1500"/>
                            </p:stCondLst>
                            <p:childTnLst>
                              <p:par>
                                <p:cTn id="41" presetID="53" presetClass="exit" presetSubtype="0" fill="hold" nodeType="afterEffect">
                                  <p:stCondLst>
                                    <p:cond delay="0"/>
                                  </p:stCondLst>
                                  <p:childTnLst>
                                    <p:anim calcmode="lin" valueType="num">
                                      <p:cBhvr>
                                        <p:cTn id="42" dur="2000"/>
                                        <p:tgtEl>
                                          <p:spTgt spid="10"/>
                                        </p:tgtEl>
                                        <p:attrNameLst>
                                          <p:attrName>ppt_w</p:attrName>
                                        </p:attrNameLst>
                                      </p:cBhvr>
                                      <p:tavLst>
                                        <p:tav tm="0">
                                          <p:val>
                                            <p:strVal val="ppt_w"/>
                                          </p:val>
                                        </p:tav>
                                        <p:tav tm="100000">
                                          <p:val>
                                            <p:fltVal val="0"/>
                                          </p:val>
                                        </p:tav>
                                      </p:tavLst>
                                    </p:anim>
                                    <p:anim calcmode="lin" valueType="num">
                                      <p:cBhvr>
                                        <p:cTn id="43" dur="2000"/>
                                        <p:tgtEl>
                                          <p:spTgt spid="10"/>
                                        </p:tgtEl>
                                        <p:attrNameLst>
                                          <p:attrName>ppt_h</p:attrName>
                                        </p:attrNameLst>
                                      </p:cBhvr>
                                      <p:tavLst>
                                        <p:tav tm="0">
                                          <p:val>
                                            <p:strVal val="ppt_h"/>
                                          </p:val>
                                        </p:tav>
                                        <p:tav tm="100000">
                                          <p:val>
                                            <p:fltVal val="0"/>
                                          </p:val>
                                        </p:tav>
                                      </p:tavLst>
                                    </p:anim>
                                    <p:animEffect transition="out" filter="fade">
                                      <p:cBhvr>
                                        <p:cTn id="44" dur="2000"/>
                                        <p:tgtEl>
                                          <p:spTgt spid="10"/>
                                        </p:tgtEl>
                                      </p:cBhvr>
                                    </p:animEffect>
                                    <p:set>
                                      <p:cBhvr>
                                        <p:cTn id="45" dur="1" fill="hold">
                                          <p:stCondLst>
                                            <p:cond delay="1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animBg="1"/>
      <p:bldP spid="8" grpId="0" animBg="1"/>
      <p:bldP spid="9" grpId="0" animBg="1"/>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Exercise and the Brain</a:t>
            </a:r>
          </a:p>
        </p:txBody>
      </p:sp>
      <p:sp>
        <p:nvSpPr>
          <p:cNvPr id="2" name="Content Placeholder 1"/>
          <p:cNvSpPr>
            <a:spLocks noGrp="1"/>
          </p:cNvSpPr>
          <p:nvPr>
            <p:ph idx="1"/>
          </p:nvPr>
        </p:nvSpPr>
        <p:spPr>
          <a:xfrm>
            <a:off x="0" y="1546860"/>
            <a:ext cx="9144000" cy="4930140"/>
          </a:xfrm>
        </p:spPr>
        <p:txBody>
          <a:bodyPr>
            <a:normAutofit/>
          </a:bodyPr>
          <a:lstStyle/>
          <a:p>
            <a:pPr>
              <a:spcBef>
                <a:spcPts val="0"/>
              </a:spcBef>
            </a:pPr>
            <a:r>
              <a:rPr lang="en-US" sz="3000" dirty="0"/>
              <a:t>A sample of mice were divided </a:t>
            </a:r>
            <a:r>
              <a:rPr lang="en-US" sz="3000" i="1" dirty="0"/>
              <a:t>randomly</a:t>
            </a:r>
            <a:r>
              <a:rPr lang="en-US" sz="3000" dirty="0"/>
              <a:t> into two groups.  One group was given access to an exercise wheel, the other group was kept sedentary  </a:t>
            </a:r>
          </a:p>
          <a:p>
            <a:pPr lvl="1">
              <a:spcBef>
                <a:spcPts val="0"/>
              </a:spcBef>
              <a:buNone/>
            </a:pPr>
            <a:r>
              <a:rPr lang="en-US" sz="3000" dirty="0"/>
              <a:t>	</a:t>
            </a:r>
            <a:endParaRPr lang="en-US" dirty="0">
              <a:solidFill>
                <a:schemeClr val="tx2"/>
              </a:solidFill>
            </a:endParaRPr>
          </a:p>
          <a:p>
            <a:pPr>
              <a:spcBef>
                <a:spcPts val="0"/>
              </a:spcBef>
              <a:buNone/>
            </a:pPr>
            <a:endParaRPr lang="en-US" dirty="0">
              <a:solidFill>
                <a:schemeClr val="tx2"/>
              </a:solidFill>
            </a:endParaRPr>
          </a:p>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
        <p:nvSpPr>
          <p:cNvPr id="5" name="Content Placeholder 1"/>
          <p:cNvSpPr txBox="1">
            <a:spLocks/>
          </p:cNvSpPr>
          <p:nvPr/>
        </p:nvSpPr>
        <p:spPr>
          <a:xfrm>
            <a:off x="152400" y="6324600"/>
            <a:ext cx="8915400" cy="533400"/>
          </a:xfrm>
          <a:prstGeom prst="rect">
            <a:avLst/>
          </a:prstGeom>
        </p:spPr>
        <p:txBody>
          <a:bodyPr vert="horz" lIns="91440" tIns="45720" rIns="91440" bIns="45720" rtlCol="0">
            <a:normAutofit fontScale="85000" lnSpcReduction="10000"/>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2800" b="0" i="0" u="none" strike="noStrike" kern="1200" cap="none" spc="0" normalizeH="0" baseline="0" noProof="0" dirty="0">
                <a:ln>
                  <a:noFill/>
                </a:ln>
                <a:effectLst/>
                <a:uLnTx/>
                <a:uFillTx/>
                <a:latin typeface="+mn-lt"/>
                <a:ea typeface="+mn-ea"/>
                <a:cs typeface="+mn-cs"/>
              </a:rPr>
              <a:t>Reynolds, “</a:t>
            </a:r>
            <a:r>
              <a:rPr kumimoji="0" lang="en-US" sz="2800" b="0" i="0" u="none" strike="noStrike" kern="1200" cap="none" spc="0" normalizeH="0" baseline="0" noProof="0" dirty="0">
                <a:ln>
                  <a:noFill/>
                </a:ln>
                <a:effectLst/>
                <a:uLnTx/>
                <a:uFillTx/>
                <a:latin typeface="+mn-lt"/>
                <a:ea typeface="+mn-ea"/>
                <a:cs typeface="+mn-cs"/>
                <a:hlinkClick r:id="rId3"/>
              </a:rPr>
              <a:t>Phys Ed: Your Brain on Exercise</a:t>
            </a:r>
            <a:r>
              <a:rPr kumimoji="0" lang="en-US" sz="2800" b="0" i="0" u="none" strike="noStrike" kern="1200" cap="none" spc="0" normalizeH="0" baseline="0" noProof="0" dirty="0">
                <a:ln>
                  <a:noFill/>
                </a:ln>
                <a:effectLst/>
                <a:uLnTx/>
                <a:uFillTx/>
                <a:latin typeface="+mn-lt"/>
                <a:ea typeface="+mn-ea"/>
                <a:cs typeface="+mn-cs"/>
              </a:rPr>
              <a:t>", </a:t>
            </a:r>
            <a:r>
              <a:rPr kumimoji="0" lang="en-US" sz="2800" b="0" i="1" u="none" strike="noStrike" kern="1200" cap="none" spc="0" normalizeH="0" baseline="0" noProof="0" dirty="0">
                <a:ln>
                  <a:noFill/>
                </a:ln>
                <a:effectLst/>
                <a:uLnTx/>
                <a:uFillTx/>
                <a:latin typeface="+mn-lt"/>
                <a:ea typeface="+mn-ea"/>
                <a:cs typeface="+mn-cs"/>
              </a:rPr>
              <a:t>NY Times, July 7, 2010.</a:t>
            </a:r>
            <a:endParaRPr kumimoji="0" lang="en-US" sz="2800" b="0" i="0" u="none" strike="noStrike" kern="1200" cap="none" spc="0" normalizeH="0" baseline="0" noProof="0" dirty="0">
              <a:ln>
                <a:noFill/>
              </a:ln>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6" name="Picture 2" descr="http://t3.gstatic.com/images?q=tbn:ANd9GcTYmiLh9B_aVjviHh1xZIewSwIAVBJM6GGUwjQGMknDgt1O3VWWMFpakkXX"/>
          <p:cNvPicPr>
            <a:picLocks noChangeAspect="1" noChangeArrowheads="1"/>
          </p:cNvPicPr>
          <p:nvPr/>
        </p:nvPicPr>
        <p:blipFill>
          <a:blip r:embed="rId4" cstate="print"/>
          <a:srcRect t="17160" b="8480"/>
          <a:stretch>
            <a:fillRect/>
          </a:stretch>
        </p:blipFill>
        <p:spPr bwMode="auto">
          <a:xfrm>
            <a:off x="7848600" y="144780"/>
            <a:ext cx="1066800" cy="990600"/>
          </a:xfrm>
          <a:prstGeom prst="rect">
            <a:avLst/>
          </a:prstGeom>
          <a:noFill/>
        </p:spPr>
      </p:pic>
    </p:spTree>
    <p:custDataLst>
      <p:tags r:id="rId1"/>
    </p:custDataLst>
    <p:extLst>
      <p:ext uri="{BB962C8B-B14F-4D97-AF65-F5344CB8AC3E}">
        <p14:creationId xmlns:p14="http://schemas.microsoft.com/office/powerpoint/2010/main" val="219167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31750"/>
            <a:ext cx="9144000" cy="3930650"/>
          </a:xfrm>
        </p:spPr>
        <p:txBody>
          <a:bodyPr>
            <a:noAutofit/>
          </a:bodyPr>
          <a:lstStyle/>
          <a:p>
            <a:pPr>
              <a:spcBef>
                <a:spcPts val="0"/>
              </a:spcBef>
            </a:pPr>
            <a:r>
              <a:rPr lang="en-US" sz="3200" dirty="0">
                <a:solidFill>
                  <a:schemeClr val="accent5">
                    <a:lumMod val="50000"/>
                  </a:schemeClr>
                </a:solidFill>
              </a:rPr>
              <a:t>“</a:t>
            </a:r>
            <a:r>
              <a:rPr lang="en-US" sz="3200" i="1" dirty="0">
                <a:solidFill>
                  <a:schemeClr val="accent5">
                    <a:lumMod val="50000"/>
                  </a:schemeClr>
                </a:solidFill>
              </a:rPr>
              <a:t>The brains of mice and rats that were allowed to run on wheels pulsed with vigorous, newly born neurons, and those animals then breezed through mazes and other tests of rodent IQ</a:t>
            </a:r>
            <a:r>
              <a:rPr lang="en-US" sz="3200" dirty="0">
                <a:solidFill>
                  <a:schemeClr val="accent5">
                    <a:lumMod val="50000"/>
                  </a:schemeClr>
                </a:solidFill>
              </a:rPr>
              <a:t>” compared to the sedentary mice</a:t>
            </a:r>
            <a:br>
              <a:rPr lang="en-US" sz="3200" dirty="0">
                <a:solidFill>
                  <a:schemeClr val="accent5">
                    <a:lumMod val="50000"/>
                  </a:schemeClr>
                </a:solidFill>
              </a:rPr>
            </a:br>
            <a:r>
              <a:rPr lang="en-US" sz="3200" dirty="0">
                <a:solidFill>
                  <a:schemeClr val="accent5">
                    <a:lumMod val="50000"/>
                  </a:schemeClr>
                </a:solidFill>
              </a:rPr>
              <a:t>Is this evidence that exercise </a:t>
            </a:r>
            <a:r>
              <a:rPr lang="en-US" sz="3200" i="1" dirty="0">
                <a:solidFill>
                  <a:schemeClr val="accent5">
                    <a:lumMod val="50000"/>
                  </a:schemeClr>
                </a:solidFill>
              </a:rPr>
              <a:t>causes </a:t>
            </a:r>
            <a:r>
              <a:rPr lang="en-US" sz="3200" dirty="0">
                <a:solidFill>
                  <a:schemeClr val="accent5">
                    <a:lumMod val="50000"/>
                  </a:schemeClr>
                </a:solidFill>
              </a:rPr>
              <a:t>an increase in brain activity and IQ, at least in mice?</a:t>
            </a:r>
            <a:br>
              <a:rPr lang="en-US" sz="3200" dirty="0">
                <a:solidFill>
                  <a:schemeClr val="accent5">
                    <a:lumMod val="50000"/>
                  </a:schemeClr>
                </a:solidFill>
              </a:rPr>
            </a:br>
            <a:endParaRPr lang="en-US" sz="3200" dirty="0">
              <a:solidFill>
                <a:schemeClr val="accent5">
                  <a:lumMod val="50000"/>
                </a:schemeClr>
              </a:solidFill>
            </a:endParaRPr>
          </a:p>
        </p:txBody>
      </p:sp>
      <p:sp>
        <p:nvSpPr>
          <p:cNvPr id="3" name="TPAnswers"/>
          <p:cNvSpPr>
            <a:spLocks noGrp="1"/>
          </p:cNvSpPr>
          <p:nvPr>
            <p:ph sz="quarter" idx="4294967295"/>
            <p:custDataLst>
              <p:tags r:id="rId2"/>
            </p:custDataLst>
          </p:nvPr>
        </p:nvSpPr>
        <p:spPr>
          <a:xfrm>
            <a:off x="21291" y="3730052"/>
            <a:ext cx="5153025" cy="3127948"/>
          </a:xfrm>
        </p:spPr>
        <p:txBody>
          <a:bodyPr>
            <a:noAutofit/>
          </a:bodyPr>
          <a:lstStyle/>
          <a:p>
            <a:pPr marL="514350" lvl="1" indent="-514350">
              <a:spcBef>
                <a:spcPct val="20000"/>
              </a:spcBef>
              <a:buClr>
                <a:schemeClr val="accent2"/>
              </a:buClr>
              <a:buSzPct val="60000"/>
              <a:buFont typeface="Wingdings 2"/>
              <a:buAutoNum type="arabicPeriod"/>
            </a:pPr>
            <a:r>
              <a:rPr lang="en-US" sz="3000" dirty="0"/>
              <a:t>Yes	</a:t>
            </a:r>
          </a:p>
          <a:p>
            <a:pPr marL="514350" lvl="1" indent="-514350">
              <a:spcBef>
                <a:spcPct val="20000"/>
              </a:spcBef>
              <a:buClr>
                <a:schemeClr val="accent2"/>
              </a:buClr>
              <a:buSzPct val="60000"/>
              <a:buFont typeface="Wingdings 2"/>
              <a:buAutoNum type="arabicPeriod"/>
            </a:pPr>
            <a:r>
              <a:rPr lang="en-US" sz="3000" dirty="0"/>
              <a:t>No</a:t>
            </a:r>
          </a:p>
        </p:txBody>
      </p:sp>
    </p:spTree>
    <p:custDataLst>
      <p:tags r:id="rId1"/>
    </p:custDataLst>
    <p:extLst>
      <p:ext uri="{BB962C8B-B14F-4D97-AF65-F5344CB8AC3E}">
        <p14:creationId xmlns:p14="http://schemas.microsoft.com/office/powerpoint/2010/main" val="225637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Randomized Experiments</a:t>
            </a:r>
          </a:p>
        </p:txBody>
      </p:sp>
      <p:sp>
        <p:nvSpPr>
          <p:cNvPr id="2" name="Content Placeholder 1"/>
          <p:cNvSpPr>
            <a:spLocks noGrp="1"/>
          </p:cNvSpPr>
          <p:nvPr>
            <p:ph idx="1"/>
          </p:nvPr>
        </p:nvSpPr>
        <p:spPr>
          <a:xfrm>
            <a:off x="152400" y="1371600"/>
            <a:ext cx="8763000" cy="4419600"/>
          </a:xfrm>
        </p:spPr>
        <p:txBody>
          <a:bodyPr>
            <a:normAutofit/>
          </a:bodyPr>
          <a:lstStyle/>
          <a:p>
            <a:pPr>
              <a:spcBef>
                <a:spcPts val="0"/>
              </a:spcBef>
              <a:buNone/>
            </a:pPr>
            <a:endParaRPr lang="en-US" sz="1600" dirty="0">
              <a:solidFill>
                <a:schemeClr val="tx2"/>
              </a:solidFill>
            </a:endParaRPr>
          </a:p>
          <a:p>
            <a:pPr>
              <a:spcBef>
                <a:spcPts val="0"/>
              </a:spcBef>
            </a:pPr>
            <a:r>
              <a:rPr lang="en-US" sz="2800" dirty="0"/>
              <a:t>If a randomized experiment yields a significant association between the two variables, we can establish causation from the explanatory to the response variable</a:t>
            </a:r>
          </a:p>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
        <p:nvSpPr>
          <p:cNvPr id="5" name="Rounded Rectangle 4"/>
          <p:cNvSpPr/>
          <p:nvPr/>
        </p:nvSpPr>
        <p:spPr>
          <a:xfrm>
            <a:off x="152400" y="1676400"/>
            <a:ext cx="8763000" cy="1905000"/>
          </a:xfrm>
          <a:prstGeom prst="roundRect">
            <a:avLst/>
          </a:prstGeom>
          <a:no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Callout 5"/>
          <p:cNvSpPr/>
          <p:nvPr/>
        </p:nvSpPr>
        <p:spPr>
          <a:xfrm>
            <a:off x="228600" y="3733800"/>
            <a:ext cx="8610600" cy="1676400"/>
          </a:xfrm>
          <a:prstGeom prst="upArrowCallout">
            <a:avLst/>
          </a:prstGeom>
          <a:solidFill>
            <a:schemeClr val="accent4">
              <a:lumMod val="40000"/>
              <a:lumOff val="60000"/>
            </a:schemeClr>
          </a:solidFill>
          <a:ln w="635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Randomized experiments are very powerful!  They allow you to infer causality.</a:t>
            </a:r>
          </a:p>
        </p:txBody>
      </p:sp>
    </p:spTree>
    <p:custDataLst>
      <p:tags r:id="rId1"/>
    </p:custDataLst>
    <p:extLst>
      <p:ext uri="{BB962C8B-B14F-4D97-AF65-F5344CB8AC3E}">
        <p14:creationId xmlns:p14="http://schemas.microsoft.com/office/powerpoint/2010/main" val="234935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2000" fill="hold"/>
                                        <p:tgtEl>
                                          <p:spTgt spid="5"/>
                                        </p:tgtEl>
                                        <p:attrNameLst>
                                          <p:attrName>ppt_w</p:attrName>
                                        </p:attrNameLst>
                                      </p:cBhvr>
                                      <p:tavLst>
                                        <p:tav tm="0">
                                          <p:val>
                                            <p:fltVal val="0"/>
                                          </p:val>
                                        </p:tav>
                                        <p:tav tm="100000">
                                          <p:val>
                                            <p:strVal val="#ppt_w"/>
                                          </p:val>
                                        </p:tav>
                                      </p:tavLst>
                                    </p:anim>
                                    <p:anim calcmode="lin" valueType="num">
                                      <p:cBhvr>
                                        <p:cTn id="12" dur="2000" fill="hold"/>
                                        <p:tgtEl>
                                          <p:spTgt spid="5"/>
                                        </p:tgtEl>
                                        <p:attrNameLst>
                                          <p:attrName>ppt_h</p:attrName>
                                        </p:attrNameLst>
                                      </p:cBhvr>
                                      <p:tavLst>
                                        <p:tav tm="0">
                                          <p:val>
                                            <p:fltVal val="0"/>
                                          </p:val>
                                        </p:tav>
                                        <p:tav tm="100000">
                                          <p:val>
                                            <p:strVal val="#ppt_h"/>
                                          </p:val>
                                        </p:tav>
                                      </p:tavLst>
                                    </p:anim>
                                    <p:animEffect transition="in" filter="fade">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ppt_w</p:attrName>
                                        </p:attrNameLst>
                                      </p:cBhvr>
                                      <p:tavLst>
                                        <p:tav tm="0">
                                          <p:val>
                                            <p:fltVal val="0"/>
                                          </p:val>
                                        </p:tav>
                                        <p:tav tm="100000">
                                          <p:val>
                                            <p:strVal val="#ppt_w"/>
                                          </p:val>
                                        </p:tav>
                                      </p:tavLst>
                                    </p:anim>
                                    <p:anim calcmode="lin" valueType="num">
                                      <p:cBhvr>
                                        <p:cTn id="19" dur="1000" fill="hold"/>
                                        <p:tgtEl>
                                          <p:spTgt spid="6"/>
                                        </p:tgtEl>
                                        <p:attrNameLst>
                                          <p:attrName>ppt_h</p:attrName>
                                        </p:attrNameLst>
                                      </p:cBhvr>
                                      <p:tavLst>
                                        <p:tav tm="0">
                                          <p:val>
                                            <p:fltVal val="0"/>
                                          </p:val>
                                        </p:tav>
                                        <p:tav tm="100000">
                                          <p:val>
                                            <p:strVal val="#ppt_h"/>
                                          </p:val>
                                        </p:tav>
                                      </p:tavLst>
                                    </p:anim>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nchor="ctr">
            <a:normAutofit/>
          </a:bodyPr>
          <a:lstStyle/>
          <a:p>
            <a:r>
              <a:rPr lang="en-US" b="1" dirty="0"/>
              <a:t>How to Randomize?</a:t>
            </a:r>
          </a:p>
        </p:txBody>
      </p:sp>
      <p:sp>
        <p:nvSpPr>
          <p:cNvPr id="2" name="Content Placeholder 1"/>
          <p:cNvSpPr>
            <a:spLocks noGrp="1"/>
          </p:cNvSpPr>
          <p:nvPr>
            <p:ph idx="1"/>
          </p:nvPr>
        </p:nvSpPr>
        <p:spPr>
          <a:xfrm>
            <a:off x="228600" y="1524000"/>
            <a:ext cx="8686800" cy="4724400"/>
          </a:xfrm>
        </p:spPr>
        <p:txBody>
          <a:bodyPr>
            <a:normAutofit/>
          </a:bodyPr>
          <a:lstStyle/>
          <a:p>
            <a:pPr>
              <a:spcBef>
                <a:spcPts val="0"/>
              </a:spcBef>
            </a:pPr>
            <a:r>
              <a:rPr lang="en-US" sz="3200" dirty="0"/>
              <a:t>Option 1:  As with random sampling, we can put all the names/numbers into a hat, and randomly pull out names to go into the different groups</a:t>
            </a:r>
          </a:p>
          <a:p>
            <a:pPr>
              <a:spcBef>
                <a:spcPts val="0"/>
              </a:spcBef>
            </a:pPr>
            <a:r>
              <a:rPr lang="en-US" sz="3200" dirty="0"/>
              <a:t>Option 2: Put names/numbers on cards, shuffle, and deal out the cards into as many piles as there are treatments</a:t>
            </a:r>
          </a:p>
          <a:p>
            <a:pPr>
              <a:spcBef>
                <a:spcPts val="0"/>
              </a:spcBef>
            </a:pPr>
            <a:r>
              <a:rPr lang="en-US" sz="3200" dirty="0"/>
              <a:t>Option 3: Use technology</a:t>
            </a:r>
            <a:endParaRPr lang="en-US" sz="3200" b="1" i="1" dirty="0"/>
          </a:p>
          <a:p>
            <a:pPr>
              <a:spcBef>
                <a:spcPts val="0"/>
              </a:spcBef>
            </a:pPr>
            <a:endParaRPr lang="en-US" sz="3200" b="1" i="1" dirty="0">
              <a:solidFill>
                <a:schemeClr val="tx2"/>
              </a:solidFill>
            </a:endParaRP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p:txBody>
      </p:sp>
    </p:spTree>
    <p:custDataLst>
      <p:tags r:id="rId1"/>
    </p:custDataLst>
    <p:extLst>
      <p:ext uri="{BB962C8B-B14F-4D97-AF65-F5344CB8AC3E}">
        <p14:creationId xmlns:p14="http://schemas.microsoft.com/office/powerpoint/2010/main" val="345186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76200"/>
            <a:ext cx="9144000" cy="3276600"/>
          </a:xfrm>
        </p:spPr>
        <p:txBody>
          <a:bodyPr>
            <a:noAutofit/>
          </a:bodyPr>
          <a:lstStyle/>
          <a:p>
            <a:pPr marL="0" indent="0">
              <a:spcBef>
                <a:spcPts val="0"/>
              </a:spcBef>
            </a:pPr>
            <a:r>
              <a:rPr lang="en-US" sz="3200" dirty="0">
                <a:solidFill>
                  <a:schemeClr val="accent5">
                    <a:lumMod val="50000"/>
                  </a:schemeClr>
                </a:solidFill>
              </a:rPr>
              <a:t>Researchers conducted a study on the effectiveness of a knee surgery to cure arthritis.  It was randomly determined whether people got the knee surgery.  Everyone who underwent the surgery reported feeling less pain.  </a:t>
            </a:r>
            <a:br>
              <a:rPr lang="en-US" sz="3200" dirty="0">
                <a:solidFill>
                  <a:schemeClr val="accent5">
                    <a:lumMod val="50000"/>
                  </a:schemeClr>
                </a:solidFill>
              </a:rPr>
            </a:br>
            <a:r>
              <a:rPr lang="en-US" sz="3200" dirty="0">
                <a:solidFill>
                  <a:schemeClr val="accent5">
                    <a:lumMod val="50000"/>
                  </a:schemeClr>
                </a:solidFill>
              </a:rPr>
              <a:t>Is this evidence that the surgery causes a decrease in pain?</a:t>
            </a:r>
          </a:p>
        </p:txBody>
      </p:sp>
      <p:sp>
        <p:nvSpPr>
          <p:cNvPr id="2" name="TPAnswers"/>
          <p:cNvSpPr>
            <a:spLocks noGrp="1"/>
          </p:cNvSpPr>
          <p:nvPr>
            <p:ph idx="4294967295"/>
            <p:custDataLst>
              <p:tags r:id="rId2"/>
            </p:custDataLst>
          </p:nvPr>
        </p:nvSpPr>
        <p:spPr>
          <a:xfrm>
            <a:off x="0" y="3581400"/>
            <a:ext cx="3200400" cy="3276600"/>
          </a:xfrm>
        </p:spPr>
        <p:txBody>
          <a:bodyPr>
            <a:noAutofit/>
          </a:bodyPr>
          <a:lstStyle/>
          <a:p>
            <a:pPr marL="742950" indent="-742950">
              <a:spcBef>
                <a:spcPct val="20000"/>
              </a:spcBef>
              <a:buFont typeface="+mj-lt"/>
              <a:buAutoNum type="arabicPeriod"/>
            </a:pPr>
            <a:r>
              <a:rPr lang="en-US" sz="3200" dirty="0"/>
              <a:t>Yes</a:t>
            </a:r>
          </a:p>
          <a:p>
            <a:pPr marL="742950" indent="-742950">
              <a:spcBef>
                <a:spcPct val="20000"/>
              </a:spcBef>
              <a:buFont typeface="+mj-lt"/>
              <a:buAutoNum type="arabicPeriod"/>
            </a:pPr>
            <a:r>
              <a:rPr lang="en-US" sz="3200" dirty="0"/>
              <a:t>No</a:t>
            </a:r>
            <a:endParaRPr lang="en-US" sz="3200" dirty="0">
              <a:solidFill>
                <a:schemeClr val="tx2"/>
              </a:solidFill>
            </a:endParaRPr>
          </a:p>
        </p:txBody>
      </p:sp>
    </p:spTree>
    <p:custDataLst>
      <p:tags r:id="rId1"/>
    </p:custDataLst>
    <p:extLst>
      <p:ext uri="{BB962C8B-B14F-4D97-AF65-F5344CB8AC3E}">
        <p14:creationId xmlns:p14="http://schemas.microsoft.com/office/powerpoint/2010/main" val="1164519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Control Group</a:t>
            </a:r>
          </a:p>
        </p:txBody>
      </p:sp>
      <p:sp>
        <p:nvSpPr>
          <p:cNvPr id="2" name="Content Placeholder 1"/>
          <p:cNvSpPr>
            <a:spLocks noGrp="1"/>
          </p:cNvSpPr>
          <p:nvPr>
            <p:ph idx="1"/>
          </p:nvPr>
        </p:nvSpPr>
        <p:spPr>
          <a:xfrm>
            <a:off x="15240" y="1447800"/>
            <a:ext cx="9128760" cy="5410200"/>
          </a:xfrm>
        </p:spPr>
        <p:txBody>
          <a:bodyPr>
            <a:normAutofit/>
          </a:bodyPr>
          <a:lstStyle/>
          <a:p>
            <a:pPr marL="0" indent="0">
              <a:spcBef>
                <a:spcPts val="0"/>
              </a:spcBef>
            </a:pPr>
            <a:r>
              <a:rPr lang="en-US" sz="3200" dirty="0"/>
              <a:t> When determining whether a treatment is effective, it is important to have a comparison group, known as the </a:t>
            </a:r>
            <a:r>
              <a:rPr lang="en-US" sz="3200" b="1" i="1" dirty="0">
                <a:solidFill>
                  <a:schemeClr val="accent5">
                    <a:lumMod val="50000"/>
                  </a:schemeClr>
                </a:solidFill>
              </a:rPr>
              <a:t>control group</a:t>
            </a:r>
            <a:endParaRPr lang="en-US" sz="3200" dirty="0">
              <a:solidFill>
                <a:schemeClr val="accent5">
                  <a:lumMod val="50000"/>
                </a:schemeClr>
              </a:solidFill>
            </a:endParaRPr>
          </a:p>
          <a:p>
            <a:pPr marL="0" indent="0">
              <a:spcBef>
                <a:spcPts val="0"/>
              </a:spcBef>
            </a:pPr>
            <a:r>
              <a:rPr lang="en-US" sz="3200" dirty="0"/>
              <a:t> It isn’t enough to know that everyone in one group improved, we need to know whether they improved more than they would have improved without the surgery</a:t>
            </a:r>
          </a:p>
          <a:p>
            <a:pPr marL="0" indent="0">
              <a:spcBef>
                <a:spcPts val="0"/>
              </a:spcBef>
            </a:pPr>
            <a:r>
              <a:rPr lang="en-US" sz="3200" dirty="0"/>
              <a:t> All randomized experiments need either a control group, or two different treatments to compare</a:t>
            </a:r>
          </a:p>
          <a:p>
            <a:pPr marL="0" indent="0">
              <a:spcBef>
                <a:spcPts val="0"/>
              </a:spcBef>
              <a:buNone/>
            </a:pPr>
            <a:endParaRPr lang="en-US" sz="3200" dirty="0">
              <a:solidFill>
                <a:schemeClr val="tx2"/>
              </a:solidFill>
            </a:endParaRP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p:txBody>
      </p:sp>
    </p:spTree>
    <p:custDataLst>
      <p:tags r:id="rId1"/>
    </p:custDataLst>
    <p:extLst>
      <p:ext uri="{BB962C8B-B14F-4D97-AF65-F5344CB8AC3E}">
        <p14:creationId xmlns:p14="http://schemas.microsoft.com/office/powerpoint/2010/main" val="197554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Knee Surgery for Arthritis</a:t>
            </a:r>
          </a:p>
        </p:txBody>
      </p:sp>
      <p:sp>
        <p:nvSpPr>
          <p:cNvPr id="2" name="Content Placeholder 1"/>
          <p:cNvSpPr>
            <a:spLocks noGrp="1"/>
          </p:cNvSpPr>
          <p:nvPr>
            <p:ph idx="1"/>
          </p:nvPr>
        </p:nvSpPr>
        <p:spPr>
          <a:xfrm>
            <a:off x="0" y="1447800"/>
            <a:ext cx="9144000" cy="5410200"/>
          </a:xfrm>
        </p:spPr>
        <p:txBody>
          <a:bodyPr>
            <a:normAutofit/>
          </a:bodyPr>
          <a:lstStyle/>
          <a:p>
            <a:pPr marL="0" indent="0">
              <a:spcBef>
                <a:spcPts val="0"/>
              </a:spcBef>
            </a:pPr>
            <a:r>
              <a:rPr lang="en-US" sz="3200" dirty="0">
                <a:solidFill>
                  <a:schemeClr val="tx2"/>
                </a:solidFill>
              </a:rPr>
              <a:t> </a:t>
            </a:r>
            <a:r>
              <a:rPr lang="en-US" sz="3200" dirty="0"/>
              <a:t>In the knee surgery study, those in the control group received a fake knee surgery.  They were put under and cut open, but the doctor did not actually perform the surgery.  All of these patients also reported less pain!  </a:t>
            </a:r>
          </a:p>
          <a:p>
            <a:pPr marL="0" indent="0">
              <a:spcBef>
                <a:spcPts val="0"/>
              </a:spcBef>
            </a:pPr>
            <a:r>
              <a:rPr lang="en-US" sz="3200" dirty="0"/>
              <a:t> In fact, the improvement was indistinguishable between those receiving the real surgery and those receiving the fake surgery!</a:t>
            </a:r>
          </a:p>
          <a:p>
            <a:pPr marL="0" indent="0">
              <a:spcBef>
                <a:spcPts val="0"/>
              </a:spcBef>
              <a:buNone/>
            </a:pPr>
            <a:endParaRPr lang="en-US" sz="3200" dirty="0">
              <a:solidFill>
                <a:schemeClr val="tx2"/>
              </a:solidFill>
            </a:endParaRP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p:txBody>
      </p:sp>
      <p:sp>
        <p:nvSpPr>
          <p:cNvPr id="5" name="TextBox 4"/>
          <p:cNvSpPr txBox="1"/>
          <p:nvPr/>
        </p:nvSpPr>
        <p:spPr>
          <a:xfrm>
            <a:off x="152400" y="6248400"/>
            <a:ext cx="8839200" cy="400110"/>
          </a:xfrm>
          <a:prstGeom prst="rect">
            <a:avLst/>
          </a:prstGeom>
          <a:noFill/>
        </p:spPr>
        <p:txBody>
          <a:bodyPr wrap="square" rtlCol="0">
            <a:spAutoFit/>
          </a:bodyPr>
          <a:lstStyle/>
          <a:p>
            <a:r>
              <a:rPr lang="en-US" sz="2000" dirty="0"/>
              <a:t>Source: “</a:t>
            </a:r>
            <a:r>
              <a:rPr lang="en-US" sz="2000" dirty="0">
                <a:hlinkClick r:id="rId3"/>
              </a:rPr>
              <a:t>The Placebo Prescription</a:t>
            </a:r>
            <a:r>
              <a:rPr lang="en-US" sz="2000" dirty="0"/>
              <a:t>,” NY Times Magazine, 1/9/00.</a:t>
            </a:r>
          </a:p>
        </p:txBody>
      </p:sp>
    </p:spTree>
    <p:custDataLst>
      <p:tags r:id="rId1"/>
    </p:custDataLst>
    <p:extLst>
      <p:ext uri="{BB962C8B-B14F-4D97-AF65-F5344CB8AC3E}">
        <p14:creationId xmlns:p14="http://schemas.microsoft.com/office/powerpoint/2010/main" val="187650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838200"/>
          </a:xfrm>
        </p:spPr>
        <p:txBody>
          <a:bodyPr anchor="ctr">
            <a:normAutofit/>
          </a:bodyPr>
          <a:lstStyle/>
          <a:p>
            <a:r>
              <a:rPr lang="en-US" b="1" dirty="0"/>
              <a:t>Placebo Effect</a:t>
            </a:r>
          </a:p>
        </p:txBody>
      </p:sp>
      <p:sp>
        <p:nvSpPr>
          <p:cNvPr id="2" name="Content Placeholder 1"/>
          <p:cNvSpPr>
            <a:spLocks noGrp="1"/>
          </p:cNvSpPr>
          <p:nvPr>
            <p:ph idx="1"/>
          </p:nvPr>
        </p:nvSpPr>
        <p:spPr>
          <a:xfrm>
            <a:off x="0" y="1524000"/>
            <a:ext cx="9144000" cy="5334000"/>
          </a:xfrm>
        </p:spPr>
        <p:txBody>
          <a:bodyPr>
            <a:normAutofit fontScale="92500" lnSpcReduction="10000"/>
          </a:bodyPr>
          <a:lstStyle/>
          <a:p>
            <a:pPr marL="0" indent="0">
              <a:spcBef>
                <a:spcPts val="0"/>
              </a:spcBef>
              <a:spcAft>
                <a:spcPts val="1800"/>
              </a:spcAft>
            </a:pPr>
            <a:r>
              <a:rPr lang="en-US" dirty="0">
                <a:solidFill>
                  <a:schemeClr val="tx2"/>
                </a:solidFill>
              </a:rPr>
              <a:t> </a:t>
            </a:r>
            <a:r>
              <a:rPr lang="en-US" dirty="0"/>
              <a:t>Often, people will experience the effect they think they should be experiencing, even if they aren’t actually receiving the treatment </a:t>
            </a:r>
          </a:p>
          <a:p>
            <a:pPr marL="0" indent="0">
              <a:spcBef>
                <a:spcPts val="0"/>
              </a:spcBef>
              <a:spcAft>
                <a:spcPts val="1800"/>
              </a:spcAft>
              <a:buNone/>
            </a:pPr>
            <a:r>
              <a:rPr lang="en-US" dirty="0"/>
              <a:t>This is known as the </a:t>
            </a:r>
            <a:r>
              <a:rPr lang="en-US" b="1" i="1" dirty="0">
                <a:solidFill>
                  <a:schemeClr val="accent5">
                    <a:lumMod val="50000"/>
                  </a:schemeClr>
                </a:solidFill>
              </a:rPr>
              <a:t>placebo effect</a:t>
            </a:r>
          </a:p>
          <a:p>
            <a:pPr marL="0" indent="0">
              <a:spcBef>
                <a:spcPts val="0"/>
              </a:spcBef>
              <a:spcAft>
                <a:spcPts val="1800"/>
              </a:spcAft>
            </a:pPr>
            <a:r>
              <a:rPr lang="en-US" dirty="0"/>
              <a:t> One study estimated that 75% of the effectiveness of anti-depressant medication is due to the placebo effect </a:t>
            </a:r>
          </a:p>
          <a:p>
            <a:pPr marL="0" indent="0">
              <a:spcBef>
                <a:spcPts val="0"/>
              </a:spcBef>
              <a:spcAft>
                <a:spcPts val="1800"/>
              </a:spcAft>
            </a:pPr>
            <a:r>
              <a:rPr lang="en-US" dirty="0"/>
              <a:t>  For more information on the placebo effect (it’s pretty amazing!) read </a:t>
            </a:r>
            <a:r>
              <a:rPr lang="en-US" dirty="0">
                <a:hlinkClick r:id="rId3"/>
              </a:rPr>
              <a:t>The Placebo Prescription</a:t>
            </a:r>
            <a:endParaRPr lang="en-US" dirty="0"/>
          </a:p>
          <a:p>
            <a:pPr marL="0" indent="0">
              <a:spcBef>
                <a:spcPts val="0"/>
              </a:spcBef>
              <a:spcAft>
                <a:spcPts val="1800"/>
              </a:spcAft>
            </a:pPr>
            <a:endParaRPr lang="en-US" dirty="0">
              <a:solidFill>
                <a:schemeClr val="tx2"/>
              </a:solidFill>
            </a:endParaRPr>
          </a:p>
          <a:p>
            <a:pPr marL="0" indent="0">
              <a:spcBef>
                <a:spcPts val="0"/>
              </a:spcBef>
              <a:buNone/>
            </a:pPr>
            <a:endParaRPr lang="en-US" b="1" i="1" dirty="0">
              <a:solidFill>
                <a:schemeClr val="tx2"/>
              </a:solidFill>
            </a:endParaRPr>
          </a:p>
          <a:p>
            <a:pPr marL="0" indent="0">
              <a:spcBef>
                <a:spcPts val="0"/>
              </a:spcBef>
              <a:buNone/>
            </a:pPr>
            <a:endParaRPr lang="en-US" dirty="0">
              <a:solidFill>
                <a:schemeClr val="tx2"/>
              </a:solidFill>
            </a:endParaRPr>
          </a:p>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a:p>
            <a:pPr>
              <a:spcBef>
                <a:spcPts val="0"/>
              </a:spcBef>
            </a:pPr>
            <a:endParaRPr lang="en-US" dirty="0">
              <a:solidFill>
                <a:schemeClr val="tx2"/>
              </a:solidFill>
            </a:endParaRPr>
          </a:p>
          <a:p>
            <a:pPr>
              <a:spcBef>
                <a:spcPts val="0"/>
              </a:spcBef>
              <a:buNone/>
            </a:pPr>
            <a:endParaRPr lang="en-US" dirty="0">
              <a:solidFill>
                <a:schemeClr val="tx2"/>
              </a:solidFill>
            </a:endParaRPr>
          </a:p>
          <a:p>
            <a:pPr>
              <a:spcBef>
                <a:spcPts val="0"/>
              </a:spcBef>
              <a:buNone/>
            </a:pPr>
            <a:endParaRPr lang="en-US" dirty="0">
              <a:solidFill>
                <a:schemeClr val="tx2"/>
              </a:solidFill>
            </a:endParaRPr>
          </a:p>
        </p:txBody>
      </p:sp>
    </p:spTree>
    <p:custDataLst>
      <p:tags r:id="rId1"/>
    </p:custDataLst>
    <p:extLst>
      <p:ext uri="{BB962C8B-B14F-4D97-AF65-F5344CB8AC3E}">
        <p14:creationId xmlns:p14="http://schemas.microsoft.com/office/powerpoint/2010/main" val="284257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153400" cy="990600"/>
          </a:xfrm>
        </p:spPr>
        <p:txBody>
          <a:bodyPr>
            <a:normAutofit fontScale="90000"/>
          </a:bodyPr>
          <a:lstStyle/>
          <a:p>
            <a:r>
              <a:rPr lang="en-US" dirty="0"/>
              <a:t>Types of Randomized Experiments</a:t>
            </a:r>
          </a:p>
        </p:txBody>
      </p:sp>
      <p:sp>
        <p:nvSpPr>
          <p:cNvPr id="3" name="Content Placeholder 2"/>
          <p:cNvSpPr>
            <a:spLocks noGrp="1"/>
          </p:cNvSpPr>
          <p:nvPr>
            <p:ph idx="1"/>
          </p:nvPr>
        </p:nvSpPr>
        <p:spPr>
          <a:xfrm>
            <a:off x="0" y="1524000"/>
            <a:ext cx="9144000" cy="5334000"/>
          </a:xfrm>
        </p:spPr>
        <p:txBody>
          <a:bodyPr>
            <a:noAutofit/>
          </a:bodyPr>
          <a:lstStyle/>
          <a:p>
            <a:r>
              <a:rPr lang="en-US" sz="3100" dirty="0"/>
              <a:t>Randomizing cases into different treatment groups is called a </a:t>
            </a:r>
            <a:r>
              <a:rPr lang="en-US" sz="3100" b="1" i="1" dirty="0">
                <a:solidFill>
                  <a:schemeClr val="accent2"/>
                </a:solidFill>
              </a:rPr>
              <a:t>randomized comparative experiment</a:t>
            </a:r>
          </a:p>
          <a:p>
            <a:pPr lvl="1"/>
            <a:r>
              <a:rPr lang="en-US" sz="2800" dirty="0"/>
              <a:t>“Knee Surgery” Example</a:t>
            </a:r>
            <a:endParaRPr lang="en-US" sz="2800" dirty="0">
              <a:solidFill>
                <a:schemeClr val="tx2"/>
              </a:solidFill>
            </a:endParaRPr>
          </a:p>
          <a:p>
            <a:r>
              <a:rPr lang="en-US" sz="3100" dirty="0"/>
              <a:t>We can also give each treatment to each case, and just randomize the </a:t>
            </a:r>
            <a:r>
              <a:rPr lang="en-US" sz="3100" i="1" dirty="0"/>
              <a:t>order</a:t>
            </a:r>
            <a:r>
              <a:rPr lang="en-US" sz="3100" dirty="0"/>
              <a:t> in which treatments are received: </a:t>
            </a:r>
            <a:r>
              <a:rPr lang="en-US" sz="3100" b="1" i="1" dirty="0">
                <a:solidFill>
                  <a:schemeClr val="accent2"/>
                </a:solidFill>
              </a:rPr>
              <a:t>matched pairs experiment</a:t>
            </a:r>
          </a:p>
          <a:p>
            <a:pPr lvl="1"/>
            <a:r>
              <a:rPr lang="en-US" sz="2800" dirty="0"/>
              <a:t>We could adjust the “Exercise and the Brain” example to be a matched pairs experiment, by giving each mouse access to an exercise wheel </a:t>
            </a:r>
            <a:r>
              <a:rPr lang="en-US" sz="2800" u="sng" dirty="0"/>
              <a:t>and</a:t>
            </a:r>
            <a:r>
              <a:rPr lang="en-US" sz="2800" dirty="0"/>
              <a:t> kept sedentary (with </a:t>
            </a:r>
            <a:r>
              <a:rPr lang="en-US" sz="2800" i="1" u="sng" dirty="0"/>
              <a:t>randomized order</a:t>
            </a:r>
            <a:r>
              <a:rPr lang="en-US" sz="2800" dirty="0"/>
              <a:t>) prior to testing rodent IQ.</a:t>
            </a:r>
            <a:endParaRPr lang="en-US" sz="2800" i="1" dirty="0">
              <a:solidFill>
                <a:schemeClr val="tx2"/>
              </a:solidFill>
            </a:endParaRPr>
          </a:p>
          <a:p>
            <a:r>
              <a:rPr lang="en-US" sz="3100" dirty="0"/>
              <a:t>Either are valid randomized experiments!</a:t>
            </a:r>
          </a:p>
        </p:txBody>
      </p:sp>
    </p:spTree>
    <p:extLst>
      <p:ext uri="{BB962C8B-B14F-4D97-AF65-F5344CB8AC3E}">
        <p14:creationId xmlns:p14="http://schemas.microsoft.com/office/powerpoint/2010/main" val="82597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5844" y="0"/>
            <a:ext cx="9159844" cy="3429000"/>
          </a:xfrm>
        </p:spPr>
        <p:txBody>
          <a:bodyPr>
            <a:noAutofit/>
          </a:bodyPr>
          <a:lstStyle/>
          <a:p>
            <a:r>
              <a:rPr lang="en-US" sz="3200" dirty="0"/>
              <a:t>To see if people read faster on paper or a kindle, a study was done in which 16 people read two sets of instructions of similar length, one on a kindle and one on paper.  The order in which they read the instructions was randomized.  (Reading was faster on paper.)    This is a: </a:t>
            </a:r>
            <a:br>
              <a:rPr lang="en-US" sz="3200" dirty="0"/>
            </a:br>
            <a:endParaRPr lang="en-US" sz="3200" dirty="0"/>
          </a:p>
        </p:txBody>
      </p:sp>
      <p:sp>
        <p:nvSpPr>
          <p:cNvPr id="3" name="TPAnswers"/>
          <p:cNvSpPr>
            <a:spLocks noGrp="1"/>
          </p:cNvSpPr>
          <p:nvPr>
            <p:ph sz="quarter" idx="4294967295"/>
            <p:custDataLst>
              <p:tags r:id="rId2"/>
            </p:custDataLst>
          </p:nvPr>
        </p:nvSpPr>
        <p:spPr>
          <a:xfrm>
            <a:off x="-15844" y="3124200"/>
            <a:ext cx="9159844" cy="3733800"/>
          </a:xfrm>
        </p:spPr>
        <p:txBody>
          <a:bodyPr>
            <a:normAutofit/>
          </a:bodyPr>
          <a:lstStyle/>
          <a:p>
            <a:pPr marL="514350" indent="-514350">
              <a:spcBef>
                <a:spcPct val="20000"/>
              </a:spcBef>
              <a:buFont typeface="Wingdings"/>
              <a:buAutoNum type="alphaUcPeriod"/>
            </a:pPr>
            <a:r>
              <a:rPr lang="en-US" sz="3200" dirty="0"/>
              <a:t> Observational study</a:t>
            </a:r>
          </a:p>
          <a:p>
            <a:pPr marL="514350" indent="-514350">
              <a:spcBef>
                <a:spcPct val="20000"/>
              </a:spcBef>
              <a:buFont typeface="Wingdings"/>
              <a:buAutoNum type="alphaUcPeriod"/>
            </a:pPr>
            <a:r>
              <a:rPr lang="en-US" sz="3200" dirty="0"/>
              <a:t> Randomized comparative experiment</a:t>
            </a:r>
          </a:p>
          <a:p>
            <a:pPr marL="514350" indent="-514350">
              <a:spcBef>
                <a:spcPct val="20000"/>
              </a:spcBef>
              <a:buFont typeface="Wingdings"/>
              <a:buAutoNum type="alphaUcPeriod"/>
            </a:pPr>
            <a:r>
              <a:rPr lang="en-US" sz="3200" dirty="0"/>
              <a:t> Matched pairs experiment</a:t>
            </a:r>
          </a:p>
          <a:p>
            <a:pPr marL="514350" indent="-514350">
              <a:spcBef>
                <a:spcPct val="20000"/>
              </a:spcBef>
              <a:buFont typeface="Wingdings"/>
              <a:buAutoNum type="alphaUcPeriod"/>
            </a:pPr>
            <a:r>
              <a:rPr lang="en-US" sz="3200" dirty="0"/>
              <a:t> Concatenated experiment</a:t>
            </a:r>
          </a:p>
        </p:txBody>
      </p:sp>
    </p:spTree>
    <p:custDataLst>
      <p:tags r:id="rId1"/>
    </p:custDataLst>
    <p:extLst>
      <p:ext uri="{BB962C8B-B14F-4D97-AF65-F5344CB8AC3E}">
        <p14:creationId xmlns:p14="http://schemas.microsoft.com/office/powerpoint/2010/main" val="3655799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Why not always randomize?</a:t>
            </a:r>
          </a:p>
        </p:txBody>
      </p:sp>
      <p:sp>
        <p:nvSpPr>
          <p:cNvPr id="2" name="Content Placeholder 1"/>
          <p:cNvSpPr>
            <a:spLocks noGrp="1"/>
          </p:cNvSpPr>
          <p:nvPr>
            <p:ph idx="1"/>
          </p:nvPr>
        </p:nvSpPr>
        <p:spPr>
          <a:xfrm>
            <a:off x="76200" y="1524000"/>
            <a:ext cx="9067800" cy="5334000"/>
          </a:xfrm>
        </p:spPr>
        <p:txBody>
          <a:bodyPr>
            <a:normAutofit/>
          </a:bodyPr>
          <a:lstStyle/>
          <a:p>
            <a:pPr>
              <a:spcBef>
                <a:spcPts val="0"/>
              </a:spcBef>
              <a:spcAft>
                <a:spcPts val="1800"/>
              </a:spcAft>
            </a:pPr>
            <a:r>
              <a:rPr lang="en-US" sz="3200" dirty="0"/>
              <a:t>Randomized experiments are ideal, but sometimes not ethical or possible</a:t>
            </a:r>
          </a:p>
          <a:p>
            <a:pPr>
              <a:spcBef>
                <a:spcPts val="0"/>
              </a:spcBef>
              <a:spcAft>
                <a:spcPts val="1800"/>
              </a:spcAft>
            </a:pPr>
            <a:r>
              <a:rPr lang="en-US" sz="3200" dirty="0"/>
              <a:t>Example: When designing a study to determine whether air pollution leads to adverse health consequences, it would not be appropriate to require some people to live in areas with more polluted air.</a:t>
            </a:r>
          </a:p>
          <a:p>
            <a:pPr>
              <a:spcBef>
                <a:spcPts val="0"/>
              </a:spcBef>
              <a:spcAft>
                <a:spcPts val="1800"/>
              </a:spcAft>
            </a:pPr>
            <a:r>
              <a:rPr lang="en-US" sz="3200" dirty="0"/>
              <a:t>Often, you have to do the best you can with data from observational studies</a:t>
            </a: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p:txBody>
      </p:sp>
    </p:spTree>
    <p:custDataLst>
      <p:tags r:id="rId1"/>
    </p:custDataLst>
    <p:extLst>
      <p:ext uri="{BB962C8B-B14F-4D97-AF65-F5344CB8AC3E}">
        <p14:creationId xmlns:p14="http://schemas.microsoft.com/office/powerpoint/2010/main" val="71716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1839950"/>
            <a:ext cx="3860181" cy="1077218"/>
          </a:xfrm>
          <a:prstGeom prst="rect">
            <a:avLst/>
          </a:prstGeom>
          <a:solidFill>
            <a:schemeClr val="accent1">
              <a:lumMod val="20000"/>
              <a:lumOff val="80000"/>
            </a:schemeClr>
          </a:solidFill>
          <a:effectLst>
            <a:glow rad="127000">
              <a:srgbClr val="C00000"/>
            </a:glow>
          </a:effectLst>
        </p:spPr>
        <p:txBody>
          <a:bodyPr wrap="square" rtlCol="0">
            <a:spAutoFit/>
          </a:bodyPr>
          <a:lstStyle/>
          <a:p>
            <a:pPr algn="ctr"/>
            <a:r>
              <a:rPr lang="en-US" sz="3200" dirty="0">
                <a:solidFill>
                  <a:schemeClr val="tx1"/>
                </a:solidFill>
              </a:rPr>
              <a:t>Was the sample randomly selected?</a:t>
            </a:r>
          </a:p>
        </p:txBody>
      </p:sp>
      <p:cxnSp>
        <p:nvCxnSpPr>
          <p:cNvPr id="7" name="Straight Arrow Connector 6"/>
          <p:cNvCxnSpPr>
            <a:stCxn id="5" idx="2"/>
            <a:endCxn id="8" idx="0"/>
          </p:cNvCxnSpPr>
          <p:nvPr/>
        </p:nvCxnSpPr>
        <p:spPr bwMode="auto">
          <a:xfrm rot="5400000">
            <a:off x="921324" y="3102603"/>
            <a:ext cx="1575202" cy="1204332"/>
          </a:xfrm>
          <a:prstGeom prst="straightConnector1">
            <a:avLst/>
          </a:prstGeom>
          <a:solidFill>
            <a:schemeClr val="tx1"/>
          </a:solidFill>
          <a:ln w="28575" cap="flat" cmpd="sng" algn="ctr">
            <a:solidFill>
              <a:srgbClr val="C00000"/>
            </a:solidFill>
            <a:prstDash val="solid"/>
            <a:round/>
            <a:headEnd type="none" w="med" len="med"/>
            <a:tailEnd type="arrow"/>
          </a:ln>
          <a:effectLst/>
        </p:spPr>
      </p:cxnSp>
      <p:sp>
        <p:nvSpPr>
          <p:cNvPr id="8" name="TextBox 7"/>
          <p:cNvSpPr txBox="1"/>
          <p:nvPr/>
        </p:nvSpPr>
        <p:spPr>
          <a:xfrm>
            <a:off x="50180" y="4492370"/>
            <a:ext cx="2113157" cy="1200329"/>
          </a:xfrm>
          <a:prstGeom prst="rect">
            <a:avLst/>
          </a:prstGeom>
          <a:solidFill>
            <a:srgbClr val="CCFFCC"/>
          </a:solidFill>
          <a:ln>
            <a:solidFill>
              <a:schemeClr val="tx1"/>
            </a:solidFill>
          </a:ln>
        </p:spPr>
        <p:txBody>
          <a:bodyPr wrap="square" rtlCol="0">
            <a:spAutoFit/>
          </a:bodyPr>
          <a:lstStyle/>
          <a:p>
            <a:pPr algn="ctr"/>
            <a:r>
              <a:rPr lang="en-US" sz="2400" dirty="0">
                <a:solidFill>
                  <a:schemeClr val="tx1"/>
                </a:solidFill>
              </a:rPr>
              <a:t>Possible to generalize to the population</a:t>
            </a:r>
          </a:p>
        </p:txBody>
      </p:sp>
      <p:sp>
        <p:nvSpPr>
          <p:cNvPr id="9" name="TextBox 8"/>
          <p:cNvSpPr txBox="1"/>
          <p:nvPr/>
        </p:nvSpPr>
        <p:spPr>
          <a:xfrm>
            <a:off x="838200" y="3576935"/>
            <a:ext cx="1115122" cy="461665"/>
          </a:xfrm>
          <a:prstGeom prst="rect">
            <a:avLst/>
          </a:prstGeom>
          <a:noFill/>
        </p:spPr>
        <p:txBody>
          <a:bodyPr wrap="square" rtlCol="0">
            <a:spAutoFit/>
          </a:bodyPr>
          <a:lstStyle/>
          <a:p>
            <a:r>
              <a:rPr lang="en-US" sz="2400" dirty="0">
                <a:solidFill>
                  <a:schemeClr val="tx1"/>
                </a:solidFill>
              </a:rPr>
              <a:t>Yes</a:t>
            </a:r>
          </a:p>
        </p:txBody>
      </p:sp>
      <p:cxnSp>
        <p:nvCxnSpPr>
          <p:cNvPr id="10" name="Straight Arrow Connector 9"/>
          <p:cNvCxnSpPr>
            <a:stCxn id="5" idx="2"/>
            <a:endCxn id="11" idx="0"/>
          </p:cNvCxnSpPr>
          <p:nvPr/>
        </p:nvCxnSpPr>
        <p:spPr bwMode="auto">
          <a:xfrm rot="16200000" flipH="1">
            <a:off x="1992772" y="3235487"/>
            <a:ext cx="1593784" cy="957146"/>
          </a:xfrm>
          <a:prstGeom prst="straightConnector1">
            <a:avLst/>
          </a:prstGeom>
          <a:solidFill>
            <a:schemeClr val="tx1"/>
          </a:solidFill>
          <a:ln w="28575" cap="flat" cmpd="sng" algn="ctr">
            <a:solidFill>
              <a:srgbClr val="C00000"/>
            </a:solidFill>
            <a:prstDash val="solid"/>
            <a:round/>
            <a:headEnd type="none" w="med" len="med"/>
            <a:tailEnd type="arrow"/>
          </a:ln>
          <a:effectLst/>
        </p:spPr>
      </p:cxnSp>
      <p:sp>
        <p:nvSpPr>
          <p:cNvPr id="11" name="TextBox 10"/>
          <p:cNvSpPr txBox="1"/>
          <p:nvPr/>
        </p:nvSpPr>
        <p:spPr>
          <a:xfrm>
            <a:off x="2286000" y="4510952"/>
            <a:ext cx="1964474" cy="1603630"/>
          </a:xfrm>
          <a:prstGeom prst="rect">
            <a:avLst/>
          </a:prstGeom>
          <a:solidFill>
            <a:srgbClr val="FFCCFF"/>
          </a:solidFill>
          <a:ln>
            <a:solidFill>
              <a:schemeClr val="tx1"/>
            </a:solidFill>
          </a:ln>
        </p:spPr>
        <p:txBody>
          <a:bodyPr wrap="square" rtlCol="0">
            <a:spAutoFit/>
          </a:bodyPr>
          <a:lstStyle/>
          <a:p>
            <a:pPr algn="ctr"/>
            <a:r>
              <a:rPr lang="en-US" sz="2400" dirty="0">
                <a:solidFill>
                  <a:schemeClr val="tx1"/>
                </a:solidFill>
              </a:rPr>
              <a:t>Should not generalize to the population</a:t>
            </a:r>
          </a:p>
        </p:txBody>
      </p:sp>
      <p:sp>
        <p:nvSpPr>
          <p:cNvPr id="12" name="TextBox 11"/>
          <p:cNvSpPr txBox="1"/>
          <p:nvPr/>
        </p:nvSpPr>
        <p:spPr>
          <a:xfrm>
            <a:off x="2971800" y="3581400"/>
            <a:ext cx="1115122" cy="461665"/>
          </a:xfrm>
          <a:prstGeom prst="rect">
            <a:avLst/>
          </a:prstGeom>
          <a:noFill/>
        </p:spPr>
        <p:txBody>
          <a:bodyPr wrap="square" rtlCol="0">
            <a:spAutoFit/>
          </a:bodyPr>
          <a:lstStyle/>
          <a:p>
            <a:r>
              <a:rPr lang="en-US" sz="2400" dirty="0">
                <a:solidFill>
                  <a:schemeClr val="tx1"/>
                </a:solidFill>
              </a:rPr>
              <a:t>No</a:t>
            </a:r>
          </a:p>
        </p:txBody>
      </p:sp>
      <p:sp>
        <p:nvSpPr>
          <p:cNvPr id="14" name="TextBox 13"/>
          <p:cNvSpPr txBox="1"/>
          <p:nvPr/>
        </p:nvSpPr>
        <p:spPr>
          <a:xfrm>
            <a:off x="4876800" y="1676400"/>
            <a:ext cx="3809999" cy="1569660"/>
          </a:xfrm>
          <a:prstGeom prst="rect">
            <a:avLst/>
          </a:prstGeom>
          <a:solidFill>
            <a:schemeClr val="accent1">
              <a:lumMod val="20000"/>
              <a:lumOff val="80000"/>
            </a:schemeClr>
          </a:solidFill>
          <a:effectLst>
            <a:glow rad="127000">
              <a:srgbClr val="C00000"/>
            </a:glow>
          </a:effectLst>
        </p:spPr>
        <p:txBody>
          <a:bodyPr wrap="square" rtlCol="0">
            <a:spAutoFit/>
          </a:bodyPr>
          <a:lstStyle/>
          <a:p>
            <a:pPr algn="ctr"/>
            <a:r>
              <a:rPr lang="en-US" sz="3200" dirty="0">
                <a:solidFill>
                  <a:schemeClr val="tx1"/>
                </a:solidFill>
              </a:rPr>
              <a:t>Was the explanatory variable randomly assigned?</a:t>
            </a:r>
          </a:p>
        </p:txBody>
      </p:sp>
      <p:cxnSp>
        <p:nvCxnSpPr>
          <p:cNvPr id="15" name="Straight Arrow Connector 14"/>
          <p:cNvCxnSpPr>
            <a:stCxn id="14" idx="2"/>
            <a:endCxn id="16" idx="0"/>
          </p:cNvCxnSpPr>
          <p:nvPr/>
        </p:nvCxnSpPr>
        <p:spPr bwMode="auto">
          <a:xfrm rot="5400000">
            <a:off x="5524421" y="3257291"/>
            <a:ext cx="1268611" cy="1246148"/>
          </a:xfrm>
          <a:prstGeom prst="straightConnector1">
            <a:avLst/>
          </a:prstGeom>
          <a:solidFill>
            <a:schemeClr val="tx1"/>
          </a:solidFill>
          <a:ln w="28575" cap="flat" cmpd="sng" algn="ctr">
            <a:solidFill>
              <a:srgbClr val="C00000"/>
            </a:solidFill>
            <a:prstDash val="solid"/>
            <a:round/>
            <a:headEnd type="none" w="med" len="med"/>
            <a:tailEnd type="arrow"/>
          </a:ln>
          <a:effectLst/>
        </p:spPr>
      </p:cxnSp>
      <p:sp>
        <p:nvSpPr>
          <p:cNvPr id="16" name="TextBox 15"/>
          <p:cNvSpPr txBox="1"/>
          <p:nvPr/>
        </p:nvSpPr>
        <p:spPr>
          <a:xfrm>
            <a:off x="4419600" y="4514671"/>
            <a:ext cx="2232103" cy="1569660"/>
          </a:xfrm>
          <a:prstGeom prst="rect">
            <a:avLst/>
          </a:prstGeom>
          <a:solidFill>
            <a:srgbClr val="CCFFCC"/>
          </a:solidFill>
          <a:ln>
            <a:solidFill>
              <a:schemeClr val="tx1"/>
            </a:solidFill>
          </a:ln>
        </p:spPr>
        <p:txBody>
          <a:bodyPr wrap="square" rtlCol="0">
            <a:spAutoFit/>
          </a:bodyPr>
          <a:lstStyle/>
          <a:p>
            <a:pPr algn="ctr"/>
            <a:r>
              <a:rPr lang="en-US" sz="2400" dirty="0">
                <a:solidFill>
                  <a:schemeClr val="tx1"/>
                </a:solidFill>
              </a:rPr>
              <a:t>Possible to make conclusions about causality</a:t>
            </a:r>
          </a:p>
        </p:txBody>
      </p:sp>
      <p:sp>
        <p:nvSpPr>
          <p:cNvPr id="17" name="TextBox 16"/>
          <p:cNvSpPr txBox="1"/>
          <p:nvPr/>
        </p:nvSpPr>
        <p:spPr>
          <a:xfrm>
            <a:off x="5389756" y="3653135"/>
            <a:ext cx="1115122" cy="461665"/>
          </a:xfrm>
          <a:prstGeom prst="rect">
            <a:avLst/>
          </a:prstGeom>
          <a:noFill/>
        </p:spPr>
        <p:txBody>
          <a:bodyPr wrap="square" rtlCol="0">
            <a:spAutoFit/>
          </a:bodyPr>
          <a:lstStyle/>
          <a:p>
            <a:r>
              <a:rPr lang="en-US" sz="2400" dirty="0">
                <a:solidFill>
                  <a:schemeClr val="tx1"/>
                </a:solidFill>
              </a:rPr>
              <a:t>Yes</a:t>
            </a:r>
          </a:p>
        </p:txBody>
      </p:sp>
      <p:cxnSp>
        <p:nvCxnSpPr>
          <p:cNvPr id="18" name="Straight Arrow Connector 17"/>
          <p:cNvCxnSpPr>
            <a:stCxn id="14" idx="2"/>
            <a:endCxn id="19" idx="0"/>
          </p:cNvCxnSpPr>
          <p:nvPr/>
        </p:nvCxnSpPr>
        <p:spPr bwMode="auto">
          <a:xfrm rot="16200000" flipH="1">
            <a:off x="6715278" y="3312581"/>
            <a:ext cx="1264893" cy="1131849"/>
          </a:xfrm>
          <a:prstGeom prst="straightConnector1">
            <a:avLst/>
          </a:prstGeom>
          <a:solidFill>
            <a:schemeClr val="tx1"/>
          </a:solidFill>
          <a:ln w="28575" cap="flat" cmpd="sng" algn="ctr">
            <a:solidFill>
              <a:srgbClr val="C00000"/>
            </a:solidFill>
            <a:prstDash val="solid"/>
            <a:round/>
            <a:headEnd type="none" w="med" len="med"/>
            <a:tailEnd type="arrow"/>
          </a:ln>
          <a:effectLst/>
        </p:spPr>
      </p:cxnSp>
      <p:sp>
        <p:nvSpPr>
          <p:cNvPr id="19" name="TextBox 18"/>
          <p:cNvSpPr txBox="1"/>
          <p:nvPr/>
        </p:nvSpPr>
        <p:spPr>
          <a:xfrm>
            <a:off x="6759497" y="4510953"/>
            <a:ext cx="2308303" cy="1200329"/>
          </a:xfrm>
          <a:prstGeom prst="rect">
            <a:avLst/>
          </a:prstGeom>
          <a:solidFill>
            <a:srgbClr val="FFCCFF"/>
          </a:solidFill>
          <a:ln>
            <a:solidFill>
              <a:schemeClr val="tx1"/>
            </a:solidFill>
          </a:ln>
        </p:spPr>
        <p:txBody>
          <a:bodyPr wrap="square" rtlCol="0">
            <a:spAutoFit/>
          </a:bodyPr>
          <a:lstStyle/>
          <a:p>
            <a:pPr algn="ctr"/>
            <a:r>
              <a:rPr lang="en-US" sz="2400" dirty="0">
                <a:solidFill>
                  <a:schemeClr val="tx1"/>
                </a:solidFill>
              </a:rPr>
              <a:t>Can not make conclusions about causality</a:t>
            </a:r>
          </a:p>
        </p:txBody>
      </p:sp>
      <p:sp>
        <p:nvSpPr>
          <p:cNvPr id="20" name="TextBox 19"/>
          <p:cNvSpPr txBox="1"/>
          <p:nvPr/>
        </p:nvSpPr>
        <p:spPr>
          <a:xfrm>
            <a:off x="7467600" y="3653135"/>
            <a:ext cx="1115122" cy="461665"/>
          </a:xfrm>
          <a:prstGeom prst="rect">
            <a:avLst/>
          </a:prstGeom>
          <a:noFill/>
        </p:spPr>
        <p:txBody>
          <a:bodyPr wrap="square" rtlCol="0">
            <a:spAutoFit/>
          </a:bodyPr>
          <a:lstStyle/>
          <a:p>
            <a:r>
              <a:rPr lang="en-US" sz="2400" dirty="0">
                <a:solidFill>
                  <a:schemeClr val="tx1"/>
                </a:solidFill>
              </a:rPr>
              <a:t>No</a:t>
            </a:r>
          </a:p>
        </p:txBody>
      </p:sp>
      <p:sp>
        <p:nvSpPr>
          <p:cNvPr id="43" name="Title 2"/>
          <p:cNvSpPr txBox="1">
            <a:spLocks/>
          </p:cNvSpPr>
          <p:nvPr/>
        </p:nvSpPr>
        <p:spPr>
          <a:xfrm>
            <a:off x="457200" y="1524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uLnTx/>
                <a:uFillTx/>
                <a:latin typeface="+mj-lt"/>
                <a:ea typeface="+mj-ea"/>
                <a:cs typeface="+mj-cs"/>
              </a:rPr>
              <a:t>Randomization in Data Collection</a:t>
            </a:r>
          </a:p>
        </p:txBody>
      </p:sp>
    </p:spTree>
    <p:custDataLst>
      <p:tags r:id="rId1"/>
    </p:custDataLst>
    <p:extLst>
      <p:ext uri="{BB962C8B-B14F-4D97-AF65-F5344CB8AC3E}">
        <p14:creationId xmlns:p14="http://schemas.microsoft.com/office/powerpoint/2010/main" val="169663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500"/>
                                        <p:tgtEl>
                                          <p:spTgt spid="15"/>
                                        </p:tgtEl>
                                      </p:cBhvr>
                                    </p:animEffect>
                                  </p:childTnLst>
                                </p:cTn>
                              </p:par>
                            </p:childTnLst>
                          </p:cTn>
                        </p:par>
                        <p:par>
                          <p:cTn id="46" fill="hold">
                            <p:stCondLst>
                              <p:cond delay="500"/>
                            </p:stCondLst>
                            <p:childTnLst>
                              <p:par>
                                <p:cTn id="47" presetID="1"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childTnLst>
                          </p:cTn>
                        </p:par>
                        <p:par>
                          <p:cTn id="58" fill="hold">
                            <p:stCondLst>
                              <p:cond delay="500"/>
                            </p:stCondLst>
                            <p:childTnLst>
                              <p:par>
                                <p:cTn id="59" presetID="1"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P spid="11" grpId="0" animBg="1"/>
      <p:bldP spid="12" grpId="0"/>
      <p:bldP spid="14" grpId="0" animBg="1"/>
      <p:bldP spid="16" grpId="0" animBg="1"/>
      <p:bldP spid="17" grpId="0"/>
      <p:bldP spid="19" grpId="0" animBg="1"/>
      <p:bldP spid="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Randomization</a:t>
            </a:r>
          </a:p>
        </p:txBody>
      </p:sp>
      <p:sp>
        <p:nvSpPr>
          <p:cNvPr id="2" name="Content Placeholder 1"/>
          <p:cNvSpPr>
            <a:spLocks noGrp="1"/>
          </p:cNvSpPr>
          <p:nvPr>
            <p:ph idx="1"/>
          </p:nvPr>
        </p:nvSpPr>
        <p:spPr>
          <a:xfrm>
            <a:off x="0" y="1524000"/>
            <a:ext cx="9144000" cy="5181600"/>
          </a:xfrm>
        </p:spPr>
        <p:txBody>
          <a:bodyPr>
            <a:normAutofit/>
          </a:bodyPr>
          <a:lstStyle/>
          <a:p>
            <a:pPr>
              <a:spcBef>
                <a:spcPts val="0"/>
              </a:spcBef>
            </a:pPr>
            <a:r>
              <a:rPr lang="en-US" sz="3200" dirty="0"/>
              <a:t>Doing a randomized experiment on a random sample is ideal, but rarely achievable</a:t>
            </a:r>
          </a:p>
          <a:p>
            <a:pPr>
              <a:spcBef>
                <a:spcPts val="0"/>
              </a:spcBef>
            </a:pPr>
            <a:r>
              <a:rPr lang="en-US" sz="3200" dirty="0"/>
              <a:t>If the focus of the study is using a sample to estimate a statistic for the entire population, you need a random sample, but do not need a randomized experiment (example: election polling)</a:t>
            </a:r>
          </a:p>
          <a:p>
            <a:pPr>
              <a:spcBef>
                <a:spcPts val="0"/>
              </a:spcBef>
            </a:pPr>
            <a:r>
              <a:rPr lang="en-US" sz="3200" dirty="0"/>
              <a:t>If the focus of the study is establishing causality from one variable to another, you need a randomized experiment and can settle for a non-random sample (example: drug testing)</a:t>
            </a:r>
          </a:p>
          <a:p>
            <a:pPr>
              <a:spcBef>
                <a:spcPts val="0"/>
              </a:spcBef>
            </a:pPr>
            <a:endParaRPr lang="en-US" sz="3200" dirty="0">
              <a:solidFill>
                <a:schemeClr val="tx2"/>
              </a:solidFill>
            </a:endParaRPr>
          </a:p>
          <a:p>
            <a:pPr>
              <a:spcBef>
                <a:spcPts val="0"/>
              </a:spcBef>
              <a:buNone/>
            </a:pPr>
            <a:endParaRPr lang="en-US" sz="3200" dirty="0">
              <a:solidFill>
                <a:schemeClr val="tx2"/>
              </a:solidFill>
            </a:endParaRPr>
          </a:p>
          <a:p>
            <a:pPr>
              <a:spcBef>
                <a:spcPts val="0"/>
              </a:spcBef>
              <a:buNone/>
            </a:pPr>
            <a:endParaRPr lang="en-US" sz="3200" dirty="0">
              <a:solidFill>
                <a:schemeClr val="tx2"/>
              </a:solidFill>
            </a:endParaRPr>
          </a:p>
        </p:txBody>
      </p:sp>
    </p:spTree>
    <p:custDataLst>
      <p:tags r:id="rId1"/>
    </p:custDataLst>
    <p:extLst>
      <p:ext uri="{BB962C8B-B14F-4D97-AF65-F5344CB8AC3E}">
        <p14:creationId xmlns:p14="http://schemas.microsoft.com/office/powerpoint/2010/main" val="29541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chor="ctr">
            <a:normAutofit/>
          </a:bodyPr>
          <a:lstStyle/>
          <a:p>
            <a:r>
              <a:rPr lang="en-US" b="1" dirty="0"/>
              <a:t>Summary</a:t>
            </a:r>
          </a:p>
        </p:txBody>
      </p:sp>
      <p:sp>
        <p:nvSpPr>
          <p:cNvPr id="2" name="Content Placeholder 1"/>
          <p:cNvSpPr>
            <a:spLocks noGrp="1"/>
          </p:cNvSpPr>
          <p:nvPr>
            <p:ph idx="1"/>
          </p:nvPr>
        </p:nvSpPr>
        <p:spPr>
          <a:xfrm>
            <a:off x="0" y="1524000"/>
            <a:ext cx="9144000" cy="5334000"/>
          </a:xfrm>
        </p:spPr>
        <p:txBody>
          <a:bodyPr>
            <a:normAutofit fontScale="85000" lnSpcReduction="20000"/>
          </a:bodyPr>
          <a:lstStyle/>
          <a:p>
            <a:pPr>
              <a:spcBef>
                <a:spcPts val="0"/>
              </a:spcBef>
              <a:spcAft>
                <a:spcPts val="1200"/>
              </a:spcAft>
            </a:pPr>
            <a:r>
              <a:rPr lang="en-US" sz="3800" dirty="0"/>
              <a:t>Association does not imply causation!</a:t>
            </a:r>
          </a:p>
          <a:p>
            <a:pPr>
              <a:spcBef>
                <a:spcPts val="0"/>
              </a:spcBef>
              <a:spcAft>
                <a:spcPts val="1200"/>
              </a:spcAft>
            </a:pPr>
            <a:r>
              <a:rPr lang="en-US" sz="3800" dirty="0"/>
              <a:t>In observational studies, confounding variables almost always exist, so causation cannot be established</a:t>
            </a:r>
          </a:p>
          <a:p>
            <a:pPr>
              <a:spcBef>
                <a:spcPts val="0"/>
              </a:spcBef>
              <a:spcAft>
                <a:spcPts val="1200"/>
              </a:spcAft>
            </a:pPr>
            <a:r>
              <a:rPr lang="en-US" sz="3800" dirty="0"/>
              <a:t>Randomized experiments involve randomly determining the level of the explanatory variable</a:t>
            </a:r>
          </a:p>
          <a:p>
            <a:pPr>
              <a:spcBef>
                <a:spcPts val="0"/>
              </a:spcBef>
              <a:spcAft>
                <a:spcPts val="1200"/>
              </a:spcAft>
            </a:pPr>
            <a:r>
              <a:rPr lang="en-US" sz="3800" dirty="0"/>
              <a:t>Randomized experiments prevent confounding variables, so causality can be inferred</a:t>
            </a:r>
          </a:p>
          <a:p>
            <a:pPr>
              <a:spcBef>
                <a:spcPts val="0"/>
              </a:spcBef>
              <a:spcAft>
                <a:spcPts val="1200"/>
              </a:spcAft>
            </a:pPr>
            <a:r>
              <a:rPr lang="en-US" sz="3800" dirty="0"/>
              <a:t>A control or comparison group is necessary</a:t>
            </a:r>
          </a:p>
          <a:p>
            <a:pPr>
              <a:spcBef>
                <a:spcPts val="0"/>
              </a:spcBef>
              <a:spcAft>
                <a:spcPts val="1200"/>
              </a:spcAft>
            </a:pPr>
            <a:r>
              <a:rPr lang="en-US" sz="3800" dirty="0"/>
              <a:t>The placebo effect exists, so a placebo and blinding should be used</a:t>
            </a:r>
            <a:endParaRPr lang="en-US" dirty="0">
              <a:solidFill>
                <a:schemeClr val="tx2"/>
              </a:solidFill>
            </a:endParaRPr>
          </a:p>
        </p:txBody>
      </p:sp>
    </p:spTree>
    <p:custDataLst>
      <p:tags r:id="rId1"/>
    </p:custDataLst>
    <p:extLst>
      <p:ext uri="{BB962C8B-B14F-4D97-AF65-F5344CB8AC3E}">
        <p14:creationId xmlns:p14="http://schemas.microsoft.com/office/powerpoint/2010/main" val="171310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INCLUDESESSION" val="True"/>
  <p:tag name="EXPANDSHOWBAR" val="True"/>
  <p:tag name="TASKPANEKEY" val="23ffc45e-90c9-4c80-a3a1-8e37e090b389"/>
  <p:tag name="WASPOLLED" val="487E8520A6154FA987E14142427A59A0"/>
  <p:tag name="TPVERSION" val="5"/>
  <p:tag name="TPFULLVERSION" val="5.4.1.2"/>
  <p:tag name="PPTVERSION" val="14"/>
  <p:tag name="TPOS" val="2"/>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SLIDEGUID" val="EA256952B6644C6392312E4CEBC9DC44"/>
  <p:tag name="SLIDEID" val="EA256952B6644C6392312E4CEBC9DC44"/>
  <p:tag name="SLIDEORDER" val="1"/>
  <p:tag name="SLIDETYPE" val="Q"/>
  <p:tag name="DEMOGRAPHIC" val="False"/>
  <p:tag name="SPEEDSCORING" val="False"/>
  <p:tag name="CORRECTPOINTVALUE" val="100"/>
  <p:tag name="INCORRECTPOINTVALUE" val="0"/>
  <p:tag name="ZEROBASED" val="False"/>
  <p:tag name="QUESTIONALIAS" val="To estimate the proportion of LCCC students who believe that LCCC should be a smoke-free campus, you compute the proportion that say yes after responding to an email sent to all students asking “Do you think LCCC should be a smoke-free  campus?”  The data collected is"/>
  <p:tag name="VALUEFORMAT" val="0%"/>
  <p:tag name="TOTALRESPONSES" val="0"/>
  <p:tag name="ANSWERSALIAS" val=" Not biased|smicln| Biased because of wording bias|smicln| Biased because asked over email instead of in person|smicln| Biased because responses may be inaccurate|smicln| Biased because volunteer samples are almost always biased"/>
  <p:tag name="DELIMITERS" val="3.1"/>
  <p:tag name="VALUES" val="Incorrect|smicln|Incorrect|smicln|Incorrect|smicln|Incorrect|smicln|Correct"/>
  <p:tag name="RESPONSESGATHERED" val="False"/>
  <p:tag name="ANONYMOUSTEMP" val="False"/>
  <p:tag name="TYPE" val="MultiChoiceSlide"/>
  <p:tag name="TPQUESTIONXML" val="﻿&lt;?xml version=&quot;1.0&quot; encoding=&quot;utf-8&quot;?&gt;&#10;&lt;questionlist&gt;&#10;    &lt;properties&gt;&#10;        &lt;guid&gt;897BE37E9D1F4D14A2C2B967861D57C5&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47C8427D9E2249E5A45869211CE87B0B&lt;/guid&gt;&#10;            &lt;repollguid&gt;B56BC367E8CA454492DA1355DAC23F04&lt;/repollguid&gt;&#10;            &lt;sourceid&gt;0D98ED4A57BE4784932FE2CB65777C52&lt;/sourceid&gt;&#10;            &lt;questiontext&gt;To estimate the proportion of LCCC students who believe that LCCC should be a smoke-free campus, you compute the proportion that say yes after responding to an email sent to all students asking “Do you think LCCC should be a smoke-free  campus?”  The data collected is&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4E9195B413CE4E8591B4469D2960D620&lt;/guid&gt;&#10;                    &lt;answertext&gt; Not biased &lt;/answertext&gt;&#10;                    &lt;valuetype&gt;-1&lt;/valuetype&gt;&#10;                &lt;/answer&gt;&#10;                &lt;answer&gt;&#10;                    &lt;guid&gt;40283350FD61493289A4CC0B579660EE&lt;/guid&gt;&#10;                    &lt;answertext&gt; Biased because of wording bias &lt;/answertext&gt;&#10;                    &lt;valuetype&gt;-1&lt;/valuetype&gt;&#10;                &lt;/answer&gt;&#10;                &lt;answer&gt;&#10;                    &lt;guid&gt;5DE3AA40BEB34B6BA3D8E4F8FB681942&lt;/guid&gt;&#10;                    &lt;answertext&gt; Biased because asked over email instead of in person &lt;/answertext&gt;&#10;                    &lt;valuetype&gt;-1&lt;/valuetype&gt;&#10;                &lt;/answer&gt;&#10;                &lt;answer&gt;&#10;                    &lt;guid&gt;E3F2434424924D1EAEAAB3F0EC6249D3&lt;/guid&gt;&#10;                    &lt;answertext&gt; Biased because responses may be inaccurate &lt;/answertext&gt;&#10;                    &lt;valuetype&gt;-1&lt;/valuetype&gt;&#10;                &lt;/answer&gt;&#10;                &lt;answer&gt;&#10;                    &lt;guid&gt;456C914B892A464996ADB8C510019E92&lt;/guid&gt;&#10;                    &lt;answertext&gt; Biased because volunteer samples are almost always biased&lt;/answertext&gt;&#10;                    &lt;valuetype&gt;1&lt;/valuetype&gt;&#10;                &lt;/answer&gt;&#10;            &lt;/answers&gt;&#10;        &lt;/multichoice&gt;&#10;    &lt;/questions&gt;&#10;&lt;/questionlist&gt;"/>
  <p:tag name="LIVECHARTING" val="False"/>
  <p:tag name="AUTOOPENPOLL" val="True"/>
  <p:tag name="AUTOFORMATCHART" val="True"/>
  <p:tag name="HASRESULTS" val="False"/>
</p:tagLst>
</file>

<file path=ppt/tags/tag4.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200"/>
  <p:tag name="FONTSIZE" val="28"/>
  <p:tag name="BULLETTYPE" val="ppBulletArabicPeriod"/>
  <p:tag name="ANSWERTEXT" val=" Not biased&#10; Biased because of wording bias&#10; Biased because asked over email instead of in person&#10; Biased because responses may be inaccurate&#10; Biased because volunteer samples are almost always biased"/>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DELIMITERS" val="3.1"/>
  <p:tag name="SLIDEGUID" val="D7CF0774E5404EC9BBB5C61F09112413"/>
  <p:tag name="SLIDEID" val="D7CF0774E5404EC9BBB5C61F09112413"/>
  <p:tag name="SLIDEORDER" val="1"/>
  <p:tag name="SLIDETYPE" val="Q"/>
  <p:tag name="DEMOGRAPHIC" val="False"/>
  <p:tag name="SPEEDSCORING" val="False"/>
  <p:tag name="CORRECTPOINTVALUE" val="100"/>
  <p:tag name="INCORRECTPOINTVALUE" val="0"/>
  <p:tag name="ZEROBASED" val="False"/>
  <p:tag name="VALUEFORMAT" val="0%"/>
  <p:tag name="QUESTIONALIAS" val="“Education seems to be an elixir that can bring us a healthy body and mind throughout adulthood and even a longer life,” says Margie E. Lachman, a psychologist at Brandeis University who specializes in aging. For those in midlife and beyond, a college degree appears to slow the brain’s aging process by up to a decade, adding a new twist to the cost-benefit analysis of higher education — for young students as well as those thinking about returning to school.”    Which of the following is true?"/>
  <p:tag name="ANSWERSALIAS" val="Explanatory Variable = brain aging; Response Variable = elixir|smicln|Explanatory Variable = brain aging; Response Variable = college degree|smicln|Explanatory Variable = college degree; Response Variable = brain aging"/>
  <p:tag name="VALUES" val="No Value|smicln|No Value|smicln|No Value"/>
  <p:tag name="RESPONSESGATHERED" val="False"/>
  <p:tag name="ANONYMOUSTEMP" val="False"/>
  <p:tag name="TPQUESTIONXML" val="﻿&lt;?xml version=&quot;1.0&quot; encoding=&quot;utf-8&quot;?&gt;&#10;&lt;questionlist&gt;&#10;    &lt;properties&gt;&#10;        &lt;guid&gt;E965AB0122F44942A9D6EA690FA40886&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A1BDFAD3D4B4C93A52960A0DB677870&lt;/guid&gt;&#10;            &lt;repollguid&gt;7D88D2833E994657BE7B25CDCB9F79B6&lt;/repollguid&gt;&#10;            &lt;sourceid&gt;42221DD51E4C4D4BB28FC3345E8C9BDA&lt;/sourceid&gt;&#10;            &lt;questiontext&gt;“Education seems to be an elixir that can bring us a healthy body and mind throughout adulthood and even a longer life,” says Margie E. Lachman, a psychologist at Brandeis University who specializes in aging. “For those in midlife and beyond, a college degree appears to slow the brain’s aging process by up to a decade, adding a new twist to the cost-benefit analysis of higher education — for young students as well as those thinking about returning to school.”    Which of the following is tru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FD5444101D784B569F0F063FCEE11019&lt;/guid&gt;&#10;                    &lt;answertext&gt;Explanatory Variable = brain aging; Response Variable = elixir &lt;/answertext&gt;&#10;                    &lt;valuetype&gt;0&lt;/valuetype&gt;&#10;                &lt;/answer&gt;&#10;                &lt;answer&gt;&#10;                    &lt;guid&gt;F5515FCF879D456E9921FDB421AE97D7&lt;/guid&gt;&#10;                    &lt;answertext&gt;Explanatory Variable = brain aging; Response Variable = college degree &lt;/answertext&gt;&#10;                    &lt;valuetype&gt;0&lt;/valuetype&gt;&#10;                &lt;/answer&gt;&#10;                &lt;answer&gt;&#10;                    &lt;guid&gt;94B10E00230F40C38673E6DDF9555DA5&lt;/guid&gt;&#10;                    &lt;answertext&gt;Explanatory Variable = college degree; Response Variable = brain aging&lt;/answertext&gt;&#10;                    &lt;valuetype&gt;0&lt;/valuetype&gt;&#10;                &lt;/answer&gt;&#10;            &lt;/answers&gt;&#10;        &lt;/multichoice&gt;&#10;    &lt;/questions&gt;&#10;&lt;/questionlist&gt;"/>
  <p:tag name="TYPE" val="MultiChoiceSlide"/>
  <p:tag name="LIVECHARTING" val="False"/>
  <p:tag name="AUTOOPENPOLL" val="True"/>
  <p:tag name="AUTOFORMATCHART" val="True"/>
  <p:tag name="HASRESULTS" val="False"/>
</p:tagLst>
</file>

<file path=ppt/tags/tag10.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204"/>
  <p:tag name="FONTSIZE" val="28"/>
  <p:tag name="BULLETTYPE" val="ppBulletArabicPeriod"/>
  <p:tag name="ANSWERTEXT" val="Explanatory Variable = brain aging; Response Variable = elixir&#10;Explanatory Variable = brain aging; Response Variable = college degree&#10;Explanatory Variable = college degree; Response Variable = brain aging"/>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SLIDEGUID" val="346F60648B6344238FF777F707776319"/>
  <p:tag name="SLIDEID" val="346F60648B6344238FF777F707776319"/>
  <p:tag name="SLIDEORDER" val="1"/>
  <p:tag name="SLIDETYPE" val="Q"/>
  <p:tag name="DEMOGRAPHIC" val="False"/>
  <p:tag name="SPEEDSCORING" val="False"/>
  <p:tag name="CORRECTPOINTVALUE" val="100"/>
  <p:tag name="INCORRECTPOINTVALUE" val="0"/>
  <p:tag name="ZEROBASED" val="False"/>
  <p:tag name="VALUEFORMAT" val="0%"/>
  <p:tag name="TOTALRESPONSES" val="0"/>
  <p:tag name="ANSWERSALIAS" val="Yes|smicln|No"/>
  <p:tag name="DELIMITERS" val="3.1"/>
  <p:tag name="QUESTIONALIAS" val="Based on this passage, should we conclude that obtaining a college degree causes a slowdown in the brain’s aging process?"/>
  <p:tag name="VALUES" val="Incorrect|smicln|Correct"/>
  <p:tag name="RESPONSESGATHERED" val="False"/>
  <p:tag name="ANONYMOUSTEMP" val="False"/>
  <p:tag name="TYPE" val="MultiChoiceSlide"/>
  <p:tag name="TPQUESTIONXML" val="﻿&lt;?xml version=&quot;1.0&quot; encoding=&quot;utf-8&quot;?&gt;&#10;&lt;questionlist&gt;&#10;    &lt;properties&gt;&#10;        &lt;guid&gt;722DE65A52944C9DB6F5A6CCF6237D94&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06FD8C8EBCA74A3EBA05ABCA54F6D1F4&lt;/guid&gt;&#10;            &lt;repollguid&gt;F35CBBCD733F4E27851A8AD473FF160D&lt;/repollguid&gt;&#10;            &lt;sourceid&gt;B99DA0D4B91A405CBD25F0567ECE461E&lt;/sourceid&gt;&#10;            &lt;questiontext&gt;Based on this passage, should we conclude that obtaining a college degree causes a slowdown in the brain’s aging process?&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9505FDBDF740411D83017FA2DEA39BF8&lt;/guid&gt;&#10;                    &lt;answertext&gt;Yes &lt;/answertext&gt;&#10;                    &lt;valuetype&gt;-1&lt;/valuetype&gt;&#10;                &lt;/answer&gt;&#10;                &lt;answer&gt;&#10;                    &lt;guid&gt;0848BD0E2DA8455F9AF98016AE1E143A&lt;/guid&gt;&#10;                    &lt;answertext&gt;No&lt;/answertext&gt;&#10;                    &lt;valuetype&gt;1&lt;/valuetype&gt;&#10;                &lt;/answer&gt;&#10;            &lt;/answers&gt;&#10;        &lt;/multichoice&gt;&#10;    &lt;/questions&gt;&#10;&lt;/questionlist&gt;"/>
  <p:tag name="LIVECHARTING" val="False"/>
  <p:tag name="AUTOOPENPOLL" val="True"/>
  <p:tag name="AUTOFORMATCHART" val="True"/>
  <p:tag name="HASRESULTS" val="False"/>
</p:tagLst>
</file>

<file path=ppt/tags/tag12.xml><?xml version="1.0" encoding="utf-8"?>
<p:tagLst xmlns:a="http://schemas.openxmlformats.org/drawingml/2006/main" xmlns:r="http://schemas.openxmlformats.org/officeDocument/2006/relationships" xmlns:p="http://schemas.openxmlformats.org/presentationml/2006/main">
  <p:tag name="OLDNUMANSWERS" val="2"/>
  <p:tag name="ANSWERBULLETS" val="3"/>
  <p:tag name="TEXTLENGTH" val="6"/>
  <p:tag name="FONTSIZE" val="32"/>
  <p:tag name="BULLETTYPE" val="ppBulletArabicPeriod"/>
  <p:tag name="ANSWERTEXT" val="Yes&#10;No"/>
</p:tagLst>
</file>

<file path=ppt/tags/tag1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19.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0.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DELIMITERS" val="3.1"/>
  <p:tag name="SLIDEGUID" val="E32D8150BF704D03972CCA3CB331A434"/>
  <p:tag name="SLIDEID" val="E32D8150BF704D03972CCA3CB331A434"/>
  <p:tag name="SLIDEORDER" val="1"/>
  <p:tag name="SLIDETYPE" val="Q"/>
  <p:tag name="DEMOGRAPHIC" val="False"/>
  <p:tag name="SPEEDSCORING" val="False"/>
  <p:tag name="CORRECTPOINTVALUE" val="100"/>
  <p:tag name="INCORRECTPOINTVALUE" val="0"/>
  <p:tag name="ZEROBASED" val="False"/>
  <p:tag name="VALUEFORMAT" val="0%"/>
  <p:tag name="ANSWERSALIAS" val="Experiment|smicln|Observational Study"/>
  <p:tag name="QUESTIONALIAS" val="To examine whether playing music in a store increases the amount customers spend, we randomly assign some stores to play music and some to stay silent and compare the average amount spent by customers. Does this describe an experiment or an observational study?"/>
  <p:tag name="VALUES" val="No Value|smicln|No Value"/>
  <p:tag name="RESPONSESGATHERED" val="False"/>
  <p:tag name="ANONYMOUSTEMP" val="False"/>
  <p:tag name="TPQUESTIONXML" val="﻿&lt;?xml version=&quot;1.0&quot; encoding=&quot;utf-8&quot;?&gt;&#10;&lt;questionlist&gt;&#10;    &lt;properties&gt;&#10;        &lt;guid&gt;608458A6E87E4D83A6456603045E6602&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6777EA985DB4457A99E72A7770C52AB&lt;/guid&gt;&#10;            &lt;repollguid&gt;DC1FBF84BAF44C428AA72C7436418A08&lt;/repollguid&gt;&#10;            &lt;sourceid&gt;6B6776BEF53C421ABBFC40FDFFD745AE&lt;/sourceid&gt;&#10;            &lt;questiontext&gt;To examine whether playing music in a store increases the amount customers spend, we randomly assign some stores to play music and some to stay silent and compare the average amount spent by customers. Does this describe an experiment or an observational study?&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E1866CD03D6444208C1E78DC7A96BD5E&lt;/guid&gt;&#10;                    &lt;answertext&gt;Experiment &lt;/answertext&gt;&#10;                    &lt;valuetype&gt;0&lt;/valuetype&gt;&#10;                &lt;/answer&gt;&#10;                &lt;answer&gt;&#10;                    &lt;guid&gt;5ADE098575E54C4D8E6DD352FB9AD353&lt;/guid&gt;&#10;                    &lt;answertext&gt;Observational Study&lt;/answertext&gt;&#10;                    &lt;valuetype&gt;0&lt;/valuetype&gt;&#10;                &lt;/answer&gt;&#10;            &lt;/answers&gt;&#10;        &lt;/multichoice&gt;&#10;    &lt;/questions&gt;&#10;&lt;/questionlist&gt;"/>
  <p:tag name="TYPE" val="MultiChoiceSlide"/>
  <p:tag name="LIVECHARTING" val="False"/>
  <p:tag name="AUTOOPENPOLL" val="True"/>
  <p:tag name="AUTOFORMATCHART" val="True"/>
  <p:tag name="HASRESULTS" val="False"/>
</p:tagLst>
</file>

<file path=ppt/tags/tag25.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30"/>
  <p:tag name="FONTSIZE" val="32"/>
  <p:tag name="BULLETTYPE" val="ppBulletArabicPeriod"/>
  <p:tag name="ANSWERTEXT" val="Experiment&#10;Observational Study"/>
</p:tagLst>
</file>

<file path=ppt/tags/tag26.xml><?xml version="1.0" encoding="utf-8"?>
<p:tagLst xmlns:a="http://schemas.openxmlformats.org/drawingml/2006/main" xmlns:r="http://schemas.openxmlformats.org/officeDocument/2006/relationships" xmlns:p="http://schemas.openxmlformats.org/presentationml/2006/main">
  <p:tag name="DELIMITERS" val="3.1"/>
  <p:tag name="SLIDEID" val="E32D8150BF704D03972CCA3CB331A434"/>
  <p:tag name="SLIDETYPE" val="Q"/>
  <p:tag name="DEMOGRAPHIC" val="False"/>
  <p:tag name="SPEEDSCORING" val="False"/>
  <p:tag name="CORRECTPOINTVALUE" val="100"/>
  <p:tag name="INCORRECTPOINTVALUE" val="0"/>
  <p:tag name="ZEROBASED" val="False"/>
  <p:tag name="VALUEFORMAT" val="0%"/>
  <p:tag name="ANSWERSALIAS" val="Experiment|smicln|Observational Study"/>
  <p:tag name="SLIDEORDER" val="2"/>
  <p:tag name="SLIDEGUID" val="F59188F0BFE44072A63592DD622D1DEA"/>
  <p:tag name="QUESTIONALIAS" val="To examine whether farm-grown salmon contain more omega-3 oils if water is more acidic, we collect samples of salmon and water from multiple fish farms to see if the two variables are related."/>
  <p:tag name="VALUES" val="No Value|smicln|No Value"/>
  <p:tag name="RESPONSESGATHERED" val="False"/>
  <p:tag name="ANONYMOUSTEMP" val="False"/>
  <p:tag name="TPQUESTIONXML" val="﻿&lt;?xml version=&quot;1.0&quot; encoding=&quot;utf-8&quot;?&gt;&#10;&lt;questionlist&gt;&#10;    &lt;properties&gt;&#10;        &lt;guid&gt;BBF65F0DA97644E394B53BD154EE9127&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84E17C13CDB9426E910C3B0564C85AE4&lt;/guid&gt;&#10;            &lt;repollguid&gt;48A0331477C6410FBE94E5746199273B&lt;/repollguid&gt;&#10;            &lt;sourceid&gt;570BAEBDE7CE4E0BB8E66B39548EB1CF&lt;/sourceid&gt;&#10;            &lt;questiontext&gt;To examine whether farm-grown salmon contain more omega-3 oils if water is more acidic, we collect samples of salmon and water from multiple fish farms to see if the two variables are related.&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4FD2B2F7E1104E998700C30886E63E56&lt;/guid&gt;&#10;                    &lt;answertext&gt;Experiment &lt;/answertext&gt;&#10;                    &lt;valuetype&gt;0&lt;/valuetype&gt;&#10;                &lt;/answer&gt;&#10;                &lt;answer&gt;&#10;                    &lt;guid&gt;151B9B4B813A4E35ABA88F63A5C75218&lt;/guid&gt;&#10;                    &lt;answertext&gt;Observational Study&lt;/answertext&gt;&#10;                    &lt;valuetype&gt;0&lt;/valuetype&gt;&#10;                &lt;/answer&gt;&#10;            &lt;/answers&gt;&#10;        &lt;/multichoice&gt;&#10;    &lt;/questions&gt;&#10;&lt;/questionlist&gt;"/>
  <p:tag name="TYPE" val="MultiChoiceSlide"/>
  <p:tag name="LIVECHARTING" val="False"/>
  <p:tag name="AUTOOPENPOLL" val="True"/>
  <p:tag name="AUTOFORMATCHART" val="True"/>
  <p:tag name="HASRESULTS" val="False"/>
</p:tagLst>
</file>

<file path=ppt/tags/tag27.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30"/>
  <p:tag name="FONTSIZE" val="32"/>
  <p:tag name="BULLETTYPE" val="ppBulletArabicPeriod"/>
  <p:tag name="ANSWERTEXT" val="Experiment&#10;Observational Study"/>
</p:tagLst>
</file>

<file path=ppt/tags/tag28.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Lst>
</file>

<file path=ppt/tags/tag3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4.xml><?xml version="1.0" encoding="utf-8"?>
<p:tagLst xmlns:a="http://schemas.openxmlformats.org/drawingml/2006/main" xmlns:r="http://schemas.openxmlformats.org/officeDocument/2006/relationships" xmlns:p="http://schemas.openxmlformats.org/presentationml/2006/main">
  <p:tag name="DELIMITERS" val="3.1"/>
  <p:tag name="SLIDEGUID" val="C499F405AA19430E9219D22548B4662A"/>
  <p:tag name="SLIDEID" val="C499F405AA19430E9219D22548B4662A"/>
  <p:tag name="SLIDEORDER" val="1"/>
  <p:tag name="SLIDETYPE" val="Q"/>
  <p:tag name="DEMOGRAPHIC" val="False"/>
  <p:tag name="SPEEDSCORING" val="False"/>
  <p:tag name="CORRECTPOINTVALUE" val="100"/>
  <p:tag name="INCORRECTPOINTVALUE" val="0"/>
  <p:tag name="ZEROBASED" val="False"/>
  <p:tag name="VALUEFORMAT" val="0%"/>
  <p:tag name="TOTALRESPONSES" val="0"/>
  <p:tag name="QUESTIONALIAS" val="“The brains of mice and rats that were allowed to run on wheels pulsed with vigorous, newly born neurons, and those animals then breezed through mazes and other tests of rodent IQ” compared to the sedentary mice Is this evidence that exercise causes an increase in brain activity and IQ, at least in mice? "/>
  <p:tag name="ANSWERSALIAS" val="Yes |smicln|No"/>
  <p:tag name="VALUES" val="Correct|smicln|Incorrect"/>
  <p:tag name="RESPONSESGATHERED" val="False"/>
  <p:tag name="ANONYMOUSTEMP" val="False"/>
  <p:tag name="TYPE" val="MultiChoiceSlide"/>
  <p:tag name="TPQUESTIONXML" val="﻿&lt;?xml version=&quot;1.0&quot; encoding=&quot;utf-8&quot;?&gt;&#10;&lt;questionlist&gt;&#10;    &lt;properties&gt;&#10;        &lt;guid&gt;C08BEE9F256A443C875C112AFBBBDC78&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20BD0559E5E4719868D48BF68E896B9&lt;/guid&gt;&#10;            &lt;repollguid&gt;F44620DA541A4A169C16ACACB70C7B56&lt;/repollguid&gt;&#10;            &lt;sourceid&gt;8F58EFD99DFF439492C7A80F0895CBB4&lt;/sourceid&gt;&#10;            &lt;questiontext&gt;“The brains of mice and rats that were allowed to run on wheels pulsed with vigorous, newly born neurons, and those animals then breezed through mazes and other tests of rodent IQ” compared to the sedentary miceIs this evidence that exercise causes an increase in brain activity and IQ, at least in mic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FA7A2B54A2864EE4AF03E6347C94B566&lt;/guid&gt;&#10;                    &lt;answertext&gt;Yes  &lt;/answertext&gt;&#10;                    &lt;valuetype&gt;1&lt;/valuetype&gt;&#10;                &lt;/answer&gt;&#10;                &lt;answer&gt;&#10;                    &lt;guid&gt;F893E3C8CB40464AB3592A79951ACB62&lt;/guid&gt;&#10;                    &lt;answertext&gt;No&lt;/answertext&gt;&#10;                    &lt;valuetype&gt;-1&lt;/valuetype&gt;&#10;                &lt;/answer&gt;&#10;            &lt;/answers&gt;&#10;        &lt;/multichoice&gt;&#10;    &lt;/questions&gt;&#10;&lt;/questionlist&gt;"/>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7"/>
  <p:tag name="FONTSIZE" val="30"/>
  <p:tag name="BULLETTYPE" val="ppBulletArabicPeriod"/>
  <p:tag name="ANSWERTEXT" val="Yes &#10;No"/>
</p:tagLst>
</file>

<file path=ppt/tags/tag36.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38.xml><?xml version="1.0" encoding="utf-8"?>
<p:tagLst xmlns:a="http://schemas.openxmlformats.org/drawingml/2006/main" xmlns:r="http://schemas.openxmlformats.org/officeDocument/2006/relationships" xmlns:p="http://schemas.openxmlformats.org/presentationml/2006/main">
  <p:tag name="DELIMITERS" val="3.1"/>
  <p:tag name="NOPREFERENCE" val="False"/>
  <p:tag name="SLIDEGUID" val="4D4547C1FAE746D69DB762F0F87FFA4B"/>
  <p:tag name="SLIDEID" val="4D4547C1FAE746D69DB762F0F87FFA4B"/>
  <p:tag name="SLIDEORDER" val="1"/>
  <p:tag name="SLIDETYPE" val="Q"/>
  <p:tag name="DEMOGRAPHIC" val="False"/>
  <p:tag name="SPEEDSCORING" val="False"/>
  <p:tag name="CORRECTPOINTVALUE" val="100"/>
  <p:tag name="INCORRECTPOINTVALUE" val="0"/>
  <p:tag name="ZEROBASED" val="False"/>
  <p:tag name="VALUEFORMAT" val="0%"/>
  <p:tag name="TOTALRESPONSES" val="0"/>
  <p:tag name="ANSWERSALIAS" val="Yes|smicln|No"/>
  <p:tag name="QUESTIONALIAS" val="Researchers conducted a study on the effectiveness of a knee surgery to cure arthritis.  It was randomly determined whether people got the knee surgery.  Everyone who underwent the surgery reported feeling less pain.   Is this evidence that the surgery causes a decrease in pain?"/>
  <p:tag name="VALUES" val="Incorrect|smicln|Correct"/>
  <p:tag name="RESPONSESGATHERED" val="False"/>
  <p:tag name="ANONYMOUSTEMP" val="False"/>
  <p:tag name="TYPE" val="MultiChoiceSlide"/>
  <p:tag name="TPQUESTIONXML" val="﻿&lt;?xml version=&quot;1.0&quot; encoding=&quot;utf-8&quot;?&gt;&#10;&lt;questionlist&gt;&#10;    &lt;properties&gt;&#10;        &lt;guid&gt;F1846A49137B47CBAEF75A60E4444801&lt;/guid&gt;&#10;        &lt;description /&gt;&#10;        &lt;date&gt;5/18/2017 2:44:1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78F03DF592F44A5AA9769454BF1521F&lt;/guid&gt;&#10;            &lt;repollguid&gt;BF58FAC4A9A2400ABFD8A39FF490A3E3&lt;/repollguid&gt;&#10;            &lt;sourceid&gt;BEE9314E89E848D3A4FC09AB73E56544&lt;/sourceid&gt;&#10;            &lt;questiontext&gt;Researchers conducted a study on the effectiveness of a knee surgery to cure arthritis.  It was randomly determined whether people got the knee surgery.  Everyone who underwent the surgery reported feeling less pain.  Is this evidence that the surgery causes a decrease in pain?&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80DF4B09D56446718242E5EBBE25D0F7&lt;/guid&gt;&#10;                    &lt;answertext&gt;Yes &lt;/answertext&gt;&#10;                    &lt;valuetype&gt;-1&lt;/valuetype&gt;&#10;                &lt;/answer&gt;&#10;                &lt;answer&gt;&#10;                    &lt;guid&gt;7008EF95384D4824B6177185CCC32958&lt;/guid&gt;&#10;                    &lt;answertext&gt;No&lt;/answertext&gt;&#10;                    &lt;valuetype&gt;1&lt;/valuetype&gt;&#10;                &lt;/answer&gt;&#10;            &lt;/answers&gt;&#10;        &lt;/multichoice&gt;&#10;    &lt;/questions&gt;&#10;&lt;/questionlist&gt;"/>
  <p:tag name="LIVECHARTING" val="False"/>
  <p:tag name="AUTOOPENPOLL" val="True"/>
  <p:tag name="AUTOFORMATCHART" val="True"/>
  <p:tag name="HASRESULTS" val="False"/>
</p:tagLst>
</file>

<file path=ppt/tags/tag39.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40.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1.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489E9589D8374EDFBA3010A8340F2CF6&lt;/guid&gt;&#10;        &lt;description /&gt;&#10;        &lt;date&gt;5/18/2017 2:44:4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8B50A9D038248DBA99D9CF57DE66413&lt;/guid&gt;&#10;            &lt;repollguid&gt;07B48A0B3DA24D6588773D5EBAD20259&lt;/repollguid&gt;&#10;            &lt;sourceid&gt;0F7607C6027F4110A89DD23F0D6A41E2&lt;/sourceid&gt;&#10;            &lt;questiontext&gt;To see if people read faster on paper or a kindle, a study was done in which 16 people read two sets of instructions of similar length, one on a kindle and one on paper.  The order in which they read the instructions was randomized.  (Reading was faster on paper.)    This is a: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DE8EF08DF0B741EBB3138DC969B7D61C&lt;/guid&gt;&#10;                    &lt;answertext&gt; Observational study&lt;/answertext&gt;&#10;                    &lt;valuetype&gt;0&lt;/valuetype&gt;&#10;                &lt;/answer&gt;&#10;                &lt;answer&gt;&#10;                    &lt;guid&gt;09051270A60D44E99CB87B16F0469371&lt;/guid&gt;&#10;                    &lt;answertext&gt; Randomized comparative experiment&lt;/answertext&gt;&#10;                    &lt;valuetype&gt;0&lt;/valuetype&gt;&#10;                &lt;/answer&gt;&#10;                &lt;answer&gt;&#10;                    &lt;guid&gt;5BB06C092D954F2E92068A46F489DCD0&lt;/guid&gt;&#10;                    &lt;answertext&gt; Matched pairs experiment&lt;/answertext&gt;&#10;                    &lt;valuetype&gt;0&lt;/valuetype&gt;&#10;                &lt;/answer&gt;&#10;                &lt;answer&gt;&#10;                    &lt;guid&gt;FC139D4BB070484B935B3F925BDEB6F5&lt;/guid&gt;&#10;                    &lt;answertext&gt; Concatenated experiment&lt;/answertext&gt;&#10;                    &lt;valuetype&gt;0&lt;/valuetype&gt;&#10;                &lt;/answer&gt;&#10;            &lt;/answers&gt;&#10;        &lt;/multichoice&gt;&#10;    &lt;/questions&gt;&#10;&lt;/questionlist&gt;"/>
  <p:tag name="HASRESULTS" val="False"/>
  <p:tag name="LIVECHARTING" val="False"/>
  <p:tag name="AUTOOPENPOLL" val="True"/>
  <p:tag name="AUTOFORMATCHART" val="True"/>
</p:tagLst>
</file>

<file path=ppt/tags/tag44.xml><?xml version="1.0" encoding="utf-8"?>
<p:tagLst xmlns:a="http://schemas.openxmlformats.org/drawingml/2006/main" xmlns:r="http://schemas.openxmlformats.org/officeDocument/2006/relationships" xmlns:p="http://schemas.openxmlformats.org/presentationml/2006/main">
  <p:tag name="ZEROBASED" val="False"/>
</p:tagLst>
</file>

<file path=ppt/tags/tag45.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7.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48.xml><?xml version="1.0" encoding="utf-8"?>
<p:tagLst xmlns:a="http://schemas.openxmlformats.org/drawingml/2006/main" xmlns:r="http://schemas.openxmlformats.org/officeDocument/2006/relationships" xmlns:p="http://schemas.openxmlformats.org/presentationml/2006/main">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1139</TotalTime>
  <Words>1833</Words>
  <Application>Microsoft Office PowerPoint</Application>
  <PresentationFormat>On-screen Show (4:3)</PresentationFormat>
  <Paragraphs>202</Paragraphs>
  <Slides>40</Slides>
  <Notes>1</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Median</vt:lpstr>
      <vt:lpstr>PowerPoint Presentation</vt:lpstr>
      <vt:lpstr>To estimate the proportion of LCCC students who believe that LCCC should be a smoke-free campus, you compute the proportion that say yes after responding to an email sent to all students asking “Do you think LCCC should be a smoke-free  campus?”  The data collected is</vt:lpstr>
      <vt:lpstr>Main Ideas in This Section</vt:lpstr>
      <vt:lpstr>Explanatory and Response</vt:lpstr>
      <vt:lpstr>Association and Causation</vt:lpstr>
      <vt:lpstr>College Education and Aging</vt:lpstr>
      <vt:lpstr>“Education seems to be an elixir that can bring us a healthy body and mind throughout adulthood and even a longer life,” says Margie E. Lachman, a psychologist at Brandeis University who specializes in aging. “For those in midlife and beyond, a college degree appears to slow the brain’s aging process by up to a decade, adding a new twist to the cost-benefit analysis of higher education — for young students as well as those thinking about returning to school.”    Which of the following is true?</vt:lpstr>
      <vt:lpstr>Based on this passage, should we conclude that obtaining a college degree causes a slowdown in the brain’s aging process?</vt:lpstr>
      <vt:lpstr>Explanatory, Response, Causation</vt:lpstr>
      <vt:lpstr>PowerPoint Presentation</vt:lpstr>
      <vt:lpstr>Association and Causation</vt:lpstr>
      <vt:lpstr>TVs and Life Expectancy</vt:lpstr>
      <vt:lpstr>PowerPoint Presentation</vt:lpstr>
      <vt:lpstr>PowerPoint Presentation</vt:lpstr>
      <vt:lpstr>PowerPoint Presentation</vt:lpstr>
      <vt:lpstr>PowerPoint Presentation</vt:lpstr>
      <vt:lpstr>It’s a Common Mistake!</vt:lpstr>
      <vt:lpstr>Confounding Variable</vt:lpstr>
      <vt:lpstr>Experiment vs Observational Study</vt:lpstr>
      <vt:lpstr>To examine whether playing music in a store increases the amount customers spend, we randomly assign some stores to play music and some to stay silent and compare the average amount spent by customers. Does this describe an experiment or an observational study?</vt:lpstr>
      <vt:lpstr>To examine whether farm-grown salmon contain more omega-3 oils if water is more acidic, we collect samples of salmon and water from multiple fish farms to see if the two variables are related.</vt:lpstr>
      <vt:lpstr>Observational Studies</vt:lpstr>
      <vt:lpstr>Randomization</vt:lpstr>
      <vt:lpstr>Randomized Experiment</vt:lpstr>
      <vt:lpstr>Randomized Experiment</vt:lpstr>
      <vt:lpstr>Randomized Experiments</vt:lpstr>
      <vt:lpstr>Exercise and the Brain</vt:lpstr>
      <vt:lpstr>“The brains of mice and rats that were allowed to run on wheels pulsed with vigorous, newly born neurons, and those animals then breezed through mazes and other tests of rodent IQ” compared to the sedentary mice Is this evidence that exercise causes an increase in brain activity and IQ, at least in mice? </vt:lpstr>
      <vt:lpstr>Randomized Experiments</vt:lpstr>
      <vt:lpstr>How to Randomize?</vt:lpstr>
      <vt:lpstr>Researchers conducted a study on the effectiveness of a knee surgery to cure arthritis.  It was randomly determined whether people got the knee surgery.  Everyone who underwent the surgery reported feeling less pain.   Is this evidence that the surgery causes a decrease in pain?</vt:lpstr>
      <vt:lpstr>Control Group</vt:lpstr>
      <vt:lpstr>Knee Surgery for Arthritis</vt:lpstr>
      <vt:lpstr>Placebo Effect</vt:lpstr>
      <vt:lpstr>Types of Randomized Experiments</vt:lpstr>
      <vt:lpstr>To see if people read faster on paper or a kindle, a study was done in which 16 people read two sets of instructions of similar length, one on a kindle and one on paper.  The order in which they read the instructions was randomized.  (Reading was faster on paper.)    This is a:  </vt:lpstr>
      <vt:lpstr>Why not always randomize?</vt:lpstr>
      <vt:lpstr>PowerPoint Presentation</vt:lpstr>
      <vt:lpstr>Randomization</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Leed</dc:creator>
  <cp:lastModifiedBy>Nadezhda Berezyuk</cp:lastModifiedBy>
  <cp:revision>50</cp:revision>
  <cp:lastPrinted>2015-06-02T17:23:04Z</cp:lastPrinted>
  <dcterms:created xsi:type="dcterms:W3CDTF">2012-11-08T16:52:38Z</dcterms:created>
  <dcterms:modified xsi:type="dcterms:W3CDTF">2019-09-18T10:40:46Z</dcterms:modified>
</cp:coreProperties>
</file>