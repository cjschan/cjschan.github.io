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tags/tag31.xml" ContentType="application/vnd.openxmlformats-officedocument.presentationml.tags+xml"/>
  <Override PartName="/ppt/notesSlides/notesSlide8.xml" ContentType="application/vnd.openxmlformats-officedocument.presentationml.notesSlide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0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329" r:id="rId2"/>
    <p:sldId id="330" r:id="rId3"/>
    <p:sldId id="331" r:id="rId4"/>
    <p:sldId id="332" r:id="rId5"/>
    <p:sldId id="320" r:id="rId6"/>
    <p:sldId id="321" r:id="rId7"/>
    <p:sldId id="322" r:id="rId8"/>
    <p:sldId id="265" r:id="rId9"/>
    <p:sldId id="266" r:id="rId10"/>
    <p:sldId id="267" r:id="rId11"/>
    <p:sldId id="269" r:id="rId12"/>
    <p:sldId id="270" r:id="rId13"/>
    <p:sldId id="268" r:id="rId14"/>
    <p:sldId id="271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72" r:id="rId24"/>
    <p:sldId id="273" r:id="rId25"/>
    <p:sldId id="282" r:id="rId26"/>
    <p:sldId id="283" r:id="rId27"/>
    <p:sldId id="284" r:id="rId28"/>
    <p:sldId id="326" r:id="rId29"/>
    <p:sldId id="327" r:id="rId30"/>
    <p:sldId id="286" r:id="rId31"/>
    <p:sldId id="323" r:id="rId32"/>
    <p:sldId id="288" r:id="rId33"/>
    <p:sldId id="296" r:id="rId34"/>
    <p:sldId id="297" r:id="rId35"/>
    <p:sldId id="289" r:id="rId36"/>
    <p:sldId id="290" r:id="rId37"/>
    <p:sldId id="298" r:id="rId38"/>
    <p:sldId id="299" r:id="rId39"/>
    <p:sldId id="300" r:id="rId40"/>
    <p:sldId id="328" r:id="rId41"/>
  </p:sldIdLst>
  <p:sldSz cx="9144000" cy="6858000" type="screen4x3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71" autoAdjust="0"/>
  </p:normalViewPr>
  <p:slideViewPr>
    <p:cSldViewPr>
      <p:cViewPr varScale="1">
        <p:scale>
          <a:sx n="104" d="100"/>
          <a:sy n="104" d="100"/>
        </p:scale>
        <p:origin x="60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67-430E-834B-9A29BA2E8B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67-430E-834B-9A29BA2E8B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67-430E-834B-9A29BA2E8B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7372672"/>
        <c:axId val="187374208"/>
        <c:axId val="136513280"/>
      </c:bar3DChart>
      <c:catAx>
        <c:axId val="1873726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87374208"/>
        <c:crosses val="autoZero"/>
        <c:auto val="1"/>
        <c:lblAlgn val="ctr"/>
        <c:lblOffset val="100"/>
        <c:noMultiLvlLbl val="0"/>
      </c:catAx>
      <c:valAx>
        <c:axId val="187374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7372672"/>
        <c:crosses val="autoZero"/>
        <c:crossBetween val="between"/>
      </c:valAx>
      <c:serAx>
        <c:axId val="136513280"/>
        <c:scaling>
          <c:orientation val="minMax"/>
        </c:scaling>
        <c:delete val="0"/>
        <c:axPos val="b"/>
        <c:majorTickMark val="out"/>
        <c:minorTickMark val="none"/>
        <c:tickLblPos val="nextTo"/>
        <c:crossAx val="187374208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D711A-825E-4F52-BDE5-5D5ACB49E179}" type="datetimeFigureOut">
              <a:rPr lang="en-US" smtClean="0"/>
              <a:t>6/24/2017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67881-F407-42D1-896E-DBCDBF10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3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6/24/2017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79261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1960211132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710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6/24/2017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notesSlide" Target="../notesSlides/notesSlid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notesSlide" Target="../notesSlides/notesSlid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Relationship Id="rId5" Type="http://schemas.openxmlformats.org/officeDocument/2006/relationships/hyperlink" Target="http://lock5stat.com/statkey/bootstrap_1_cat/bootstrap_1_cat.html" TargetMode="Externa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16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hyperlink" Target="http://www.lock5stat.com/statkey/bootstrap_1_cat/bootstrap_1_cat.html" TargetMode="Externa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pewresearch.org/pubs/1780/poll-global-warming-scientists-energy-policies-offshore-drilling-tea-party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4" Type="http://schemas.openxmlformats.org/officeDocument/2006/relationships/hyperlink" Target="http://www.lock5stat.com/statkey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ck5stat.com/statkey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Relationship Id="rId4" Type="http://schemas.openxmlformats.org/officeDocument/2006/relationships/hyperlink" Target="http://pewresearch.org/pubs/1780/poll-global-warming-scientists-energy-policies-offshore-drilling-tea-party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3.3:</a:t>
            </a:r>
          </a:p>
          <a:p>
            <a:pPr>
              <a:spcBef>
                <a:spcPct val="20000"/>
              </a:spcBef>
              <a:defRPr/>
            </a:pPr>
            <a:r>
              <a:rPr lang="en-US" sz="4000" b="1" dirty="0">
                <a:solidFill>
                  <a:srgbClr val="EBDDC3"/>
                </a:solidFill>
              </a:rPr>
              <a:t>Constructing Bootstrap 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429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9525"/>
            <a:ext cx="9144000" cy="2209800"/>
          </a:xfrm>
        </p:spPr>
        <p:txBody>
          <a:bodyPr>
            <a:normAutofit/>
          </a:bodyPr>
          <a:lstStyle/>
          <a:p>
            <a:r>
              <a:rPr lang="en-US" sz="4000" b="1" dirty="0"/>
              <a:t>The probability that the population mean is in a particular 95% confidence interval is 0.95.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514600"/>
            <a:ext cx="3810000" cy="18669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Correct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Incorrect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619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9524"/>
            <a:ext cx="9144000" cy="303847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If we take many random samples from the population and use each one separately to compute the 95% confidence interval, in the long run about 95% of these intervals will capture the population parameter.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057525"/>
            <a:ext cx="3810000" cy="18669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Correct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Incorrect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924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9525"/>
            <a:ext cx="9144000" cy="2047875"/>
          </a:xfrm>
        </p:spPr>
        <p:txBody>
          <a:bodyPr>
            <a:normAutofit/>
          </a:bodyPr>
          <a:lstStyle/>
          <a:p>
            <a:r>
              <a:rPr lang="en-US" sz="4000" b="1" dirty="0"/>
              <a:t>We are 95% sure that the population parameter is contained in the 95% confidence interval.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2209800"/>
            <a:ext cx="3810000" cy="18669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Correct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Incorrect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86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Brief Review</a:t>
            </a:r>
          </a:p>
        </p:txBody>
      </p:sp>
      <p:sp>
        <p:nvSpPr>
          <p:cNvPr id="11" name="Cloud"/>
          <p:cNvSpPr>
            <a:spLocks noChangeAspect="1" noEditPoints="1" noChangeArrowheads="1"/>
          </p:cNvSpPr>
          <p:nvPr/>
        </p:nvSpPr>
        <p:spPr bwMode="auto">
          <a:xfrm>
            <a:off x="380999" y="1017104"/>
            <a:ext cx="2590801" cy="1735806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38200" y="1474304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tx1"/>
                </a:solidFill>
              </a:rPr>
              <a:t>Population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219268" y="1532397"/>
            <a:ext cx="1083469" cy="440406"/>
            <a:chOff x="3984" y="3120"/>
            <a:chExt cx="1302" cy="804"/>
          </a:xfrm>
        </p:grpSpPr>
        <p:sp>
          <p:nvSpPr>
            <p:cNvPr id="14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4038" y="3120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3" name="Right Arrow 2"/>
          <p:cNvSpPr/>
          <p:nvPr/>
        </p:nvSpPr>
        <p:spPr>
          <a:xfrm>
            <a:off x="2667000" y="1474304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7"/>
          <p:cNvGrpSpPr>
            <a:grpSpLocks/>
          </p:cNvGrpSpPr>
          <p:nvPr/>
        </p:nvGrpSpPr>
        <p:grpSpPr bwMode="auto">
          <a:xfrm>
            <a:off x="4267200" y="2253098"/>
            <a:ext cx="1083469" cy="440406"/>
            <a:chOff x="3984" y="3120"/>
            <a:chExt cx="1302" cy="804"/>
          </a:xfrm>
        </p:grpSpPr>
        <p:sp>
          <p:nvSpPr>
            <p:cNvPr id="20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4038" y="3120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23" name="Right Arrow 22"/>
          <p:cNvSpPr/>
          <p:nvPr/>
        </p:nvSpPr>
        <p:spPr>
          <a:xfrm rot="2400000">
            <a:off x="2609772" y="2481560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 rot="1200000">
            <a:off x="2815219" y="2019732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17"/>
          <p:cNvGrpSpPr>
            <a:grpSpLocks/>
          </p:cNvGrpSpPr>
          <p:nvPr/>
        </p:nvGrpSpPr>
        <p:grpSpPr bwMode="auto">
          <a:xfrm>
            <a:off x="3886200" y="2938898"/>
            <a:ext cx="1083469" cy="440406"/>
            <a:chOff x="3984" y="3120"/>
            <a:chExt cx="1302" cy="804"/>
          </a:xfrm>
        </p:grpSpPr>
        <p:sp>
          <p:nvSpPr>
            <p:cNvPr id="26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4038" y="3120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28" name="Right Arrow 27"/>
          <p:cNvSpPr/>
          <p:nvPr/>
        </p:nvSpPr>
        <p:spPr>
          <a:xfrm rot="3000000">
            <a:off x="2151372" y="2825816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17"/>
          <p:cNvGrpSpPr>
            <a:grpSpLocks/>
          </p:cNvGrpSpPr>
          <p:nvPr/>
        </p:nvGrpSpPr>
        <p:grpSpPr bwMode="auto">
          <a:xfrm>
            <a:off x="3031331" y="3531704"/>
            <a:ext cx="1083469" cy="445336"/>
            <a:chOff x="3984" y="3111"/>
            <a:chExt cx="1302" cy="813"/>
          </a:xfrm>
        </p:grpSpPr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4038" y="3111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32" name="Right Arrow 31"/>
          <p:cNvSpPr/>
          <p:nvPr/>
        </p:nvSpPr>
        <p:spPr>
          <a:xfrm rot="4200000">
            <a:off x="1629862" y="2920415"/>
            <a:ext cx="1142586" cy="247209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1828800" y="3593264"/>
            <a:ext cx="1083469" cy="445336"/>
            <a:chOff x="3984" y="3111"/>
            <a:chExt cx="1302" cy="813"/>
          </a:xfrm>
        </p:grpSpPr>
        <p:sp>
          <p:nvSpPr>
            <p:cNvPr id="34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Text Box 7"/>
            <p:cNvSpPr txBox="1">
              <a:spLocks noChangeArrowheads="1"/>
            </p:cNvSpPr>
            <p:nvPr/>
          </p:nvSpPr>
          <p:spPr bwMode="auto">
            <a:xfrm>
              <a:off x="4038" y="3111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36" name="Right Arrow 35"/>
          <p:cNvSpPr/>
          <p:nvPr/>
        </p:nvSpPr>
        <p:spPr>
          <a:xfrm rot="5400000">
            <a:off x="-1116" y="2768588"/>
            <a:ext cx="12954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7"/>
          <p:cNvGrpSpPr>
            <a:grpSpLocks/>
          </p:cNvGrpSpPr>
          <p:nvPr/>
        </p:nvGrpSpPr>
        <p:grpSpPr bwMode="auto">
          <a:xfrm>
            <a:off x="76200" y="3579022"/>
            <a:ext cx="1083469" cy="459578"/>
            <a:chOff x="3984" y="3085"/>
            <a:chExt cx="1302" cy="839"/>
          </a:xfrm>
        </p:grpSpPr>
        <p:sp>
          <p:nvSpPr>
            <p:cNvPr id="38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4038" y="3085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066800" y="2998304"/>
            <a:ext cx="1038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. . 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87" y="4685912"/>
            <a:ext cx="19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1"/>
                </a:solidFill>
              </a:rPr>
              <a:t>Calculate statistic for each sample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315" y="4685912"/>
            <a:ext cx="3601210" cy="211447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2234458" y="4705697"/>
            <a:ext cx="3031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Sampling Distribution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5029200" y="5267364"/>
            <a:ext cx="1143000" cy="0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0300" y="5064204"/>
            <a:ext cx="2705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Standard Error (SE): </a:t>
            </a:r>
            <a:r>
              <a:rPr lang="en-US" sz="2400" dirty="0"/>
              <a:t>standard deviation of sampling distribution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flipH="1" flipV="1">
            <a:off x="7337597" y="4313592"/>
            <a:ext cx="8720" cy="853770"/>
          </a:xfrm>
          <a:prstGeom prst="straightConnector1">
            <a:avLst/>
          </a:prstGeom>
          <a:ln w="25400">
            <a:solidFill>
              <a:srgbClr val="F715D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16898" y="3500754"/>
            <a:ext cx="3150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715DC"/>
                </a:solidFill>
              </a:rPr>
              <a:t>Margin of Error (ME):</a:t>
            </a:r>
          </a:p>
          <a:p>
            <a:r>
              <a:rPr lang="en-US" sz="2400" dirty="0"/>
              <a:t>(95% CI: ME = 2×SE)</a:t>
            </a:r>
          </a:p>
        </p:txBody>
      </p:sp>
      <p:sp>
        <p:nvSpPr>
          <p:cNvPr id="2055" name="Rectangle 2054"/>
          <p:cNvSpPr/>
          <p:nvPr/>
        </p:nvSpPr>
        <p:spPr>
          <a:xfrm>
            <a:off x="5118990" y="693938"/>
            <a:ext cx="404259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Confidence </a:t>
            </a:r>
            <a:r>
              <a:rPr lang="en-US" sz="36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Interval:</a:t>
            </a:r>
            <a:endParaRPr lang="en-US" sz="3600" b="1" cap="none" spc="0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117610" y="1240009"/>
            <a:ext cx="2998502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i="1" dirty="0"/>
              <a:t>statistic </a:t>
            </a:r>
            <a:r>
              <a:rPr lang="en-US" sz="3200" dirty="0"/>
              <a:t>±</a:t>
            </a:r>
            <a:r>
              <a:rPr lang="en-US" sz="3200" i="1" dirty="0"/>
              <a:t> ME</a:t>
            </a:r>
          </a:p>
        </p:txBody>
      </p:sp>
      <p:sp>
        <p:nvSpPr>
          <p:cNvPr id="2066" name="Bent-Up Arrow 2065"/>
          <p:cNvSpPr/>
          <p:nvPr/>
        </p:nvSpPr>
        <p:spPr>
          <a:xfrm>
            <a:off x="5350669" y="1667895"/>
            <a:ext cx="1656723" cy="313778"/>
          </a:xfrm>
          <a:prstGeom prst="bentUpArrow">
            <a:avLst/>
          </a:prstGeom>
          <a:solidFill>
            <a:srgbClr val="FFC000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09288" y="4105318"/>
            <a:ext cx="1196044" cy="6594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0" name="Down Arrow 2079"/>
          <p:cNvSpPr/>
          <p:nvPr/>
        </p:nvSpPr>
        <p:spPr>
          <a:xfrm rot="900000" flipV="1">
            <a:off x="7726063" y="1722843"/>
            <a:ext cx="193623" cy="1831494"/>
          </a:xfrm>
          <a:prstGeom prst="downArrow">
            <a:avLst/>
          </a:prstGeom>
          <a:solidFill>
            <a:srgbClr val="F715DC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685129" y="1997539"/>
            <a:ext cx="166227" cy="26211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3679366" y="4105318"/>
            <a:ext cx="35378" cy="466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956994" y="2562284"/>
            <a:ext cx="144411" cy="20093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4491967" y="3313631"/>
            <a:ext cx="73102" cy="12691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395057" y="4178879"/>
            <a:ext cx="195743" cy="4039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9937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6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100"/>
                            </p:stCondLst>
                            <p:childTnLst>
                              <p:par>
                                <p:cTn id="8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6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1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6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1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6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1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1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6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utoUpdateAnimBg="0"/>
      <p:bldP spid="3" grpId="0" animBg="1"/>
      <p:bldP spid="23" grpId="0" animBg="1"/>
      <p:bldP spid="24" grpId="0" animBg="1"/>
      <p:bldP spid="28" grpId="0" animBg="1"/>
      <p:bldP spid="32" grpId="0" animBg="1"/>
      <p:bldP spid="36" grpId="0" animBg="1"/>
      <p:bldP spid="4" grpId="0"/>
      <p:bldP spid="9" grpId="0"/>
      <p:bldP spid="43" grpId="0"/>
      <p:bldP spid="53" grpId="0"/>
      <p:bldP spid="58" grpId="0"/>
      <p:bldP spid="2055" grpId="0"/>
      <p:bldP spid="74" grpId="0"/>
      <p:bldP spid="2066" grpId="0" animBg="1"/>
      <p:bldP spid="20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Brief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24000"/>
            <a:ext cx="9144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>
                <a:solidFill>
                  <a:schemeClr val="tx2"/>
                </a:solidFill>
              </a:rPr>
              <a:t> </a:t>
            </a: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</a:rPr>
              <a:t>To create a plausible range of values for a parameter:</a:t>
            </a:r>
          </a:p>
          <a:p>
            <a:pPr marL="914400" lvl="1" indent="-457200">
              <a:buClr>
                <a:schemeClr val="accent2"/>
              </a:buClr>
              <a:buSzPct val="70000"/>
              <a:buFont typeface="Courier New" pitchFamily="49" charset="0"/>
              <a:buChar char="o"/>
              <a:defRPr/>
            </a:pP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</a:rPr>
              <a:t> Take many random samples from the population, and compute the sample statistic for each sample</a:t>
            </a:r>
          </a:p>
          <a:p>
            <a:pPr marL="914400" lvl="1" indent="-457200">
              <a:buClr>
                <a:schemeClr val="accent2"/>
              </a:buClr>
              <a:buSzPct val="70000"/>
              <a:buFont typeface="Courier New" pitchFamily="49" charset="0"/>
              <a:buChar char="o"/>
              <a:defRPr/>
            </a:pP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</a:rPr>
              <a:t> Compute the standard error as the standard deviation of all these statistics</a:t>
            </a:r>
          </a:p>
          <a:p>
            <a:pPr marL="914400" lvl="1" indent="-457200">
              <a:buClr>
                <a:schemeClr val="accent2"/>
              </a:buClr>
              <a:buSzPct val="70000"/>
              <a:buFont typeface="Courier New" pitchFamily="49" charset="0"/>
              <a:buChar char="o"/>
              <a:defRPr/>
            </a:pP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</a:rPr>
              <a:t> Use statistic </a:t>
            </a: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 2SE</a:t>
            </a:r>
            <a:endParaRPr lang="en-US" sz="3200" kern="0" dirty="0">
              <a:solidFill>
                <a:schemeClr val="accent6">
                  <a:lumMod val="50000"/>
                </a:schemeClr>
              </a:solidFill>
            </a:endParaRPr>
          </a:p>
          <a:p>
            <a:pPr marL="914400" lvl="1" indent="-457200">
              <a:buClr>
                <a:schemeClr val="accent1"/>
              </a:buClr>
              <a:buFont typeface="Arial" pitchFamily="34" charset="0"/>
              <a:buChar char="•"/>
              <a:defRPr/>
            </a:pPr>
            <a:endParaRPr lang="en-US" sz="3200" kern="0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lvl="0" indent="-571500">
              <a:spcBef>
                <a:spcPts val="2400"/>
              </a:spcBef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</a:rPr>
              <a:t> One small problem…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816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76200" y="76200"/>
            <a:ext cx="8991600" cy="914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Brief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372" y="1828800"/>
            <a:ext cx="86868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2400"/>
              </a:spcBef>
              <a:defRPr/>
            </a:pPr>
            <a:r>
              <a:rPr lang="en-US" sz="3200" kern="0" dirty="0"/>
              <a:t>… WE ONLY HAVE ONE SAMPLE!!!!</a:t>
            </a:r>
          </a:p>
          <a:p>
            <a:pPr lvl="0">
              <a:spcBef>
                <a:spcPts val="2400"/>
              </a:spcBef>
              <a:defRPr/>
            </a:pPr>
            <a:endParaRPr lang="en-US" sz="3200" kern="0" dirty="0"/>
          </a:p>
          <a:p>
            <a:pPr lvl="0">
              <a:spcBef>
                <a:spcPts val="2400"/>
              </a:spcBef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/>
              <a:t> How do we know how much sample statistics vary, if we only have one sample?!?</a:t>
            </a:r>
          </a:p>
          <a:p>
            <a:pPr lvl="0">
              <a:spcBef>
                <a:spcPts val="2400"/>
              </a:spcBef>
              <a:defRPr/>
            </a:pPr>
            <a:r>
              <a:rPr lang="en-US" sz="3200" kern="0" dirty="0">
                <a:solidFill>
                  <a:schemeClr val="tx2"/>
                </a:solidFill>
              </a:rPr>
              <a:t>			</a:t>
            </a:r>
            <a:r>
              <a:rPr lang="en-US" sz="3200" b="1" i="1" kern="0" dirty="0"/>
              <a:t>	… to be continued</a:t>
            </a:r>
          </a:p>
          <a:p>
            <a:pPr lvl="0">
              <a:spcBef>
                <a:spcPts val="2400"/>
              </a:spcBef>
              <a:defRPr/>
            </a:pPr>
            <a:endParaRPr lang="en-US" sz="3600" kern="0" dirty="0">
              <a:solidFill>
                <a:schemeClr val="tx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28800" y="4648200"/>
            <a:ext cx="5486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/>
              <a:t>BOOTSTRAP!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6001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5"/>
          <p:cNvGrpSpPr/>
          <p:nvPr/>
        </p:nvGrpSpPr>
        <p:grpSpPr>
          <a:xfrm>
            <a:off x="1477175" y="1622011"/>
            <a:ext cx="6602673" cy="4228561"/>
            <a:chOff x="1436427" y="1856663"/>
            <a:chExt cx="6716973" cy="4432111"/>
          </a:xfrm>
        </p:grpSpPr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2209800" y="2692988"/>
            <a:ext cx="5328882" cy="6598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Sample: 52/100 orange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39410" y="6002440"/>
            <a:ext cx="7239000" cy="76944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What might the “true” p be?</a:t>
            </a:r>
          </a:p>
        </p:txBody>
      </p:sp>
      <p:sp>
        <p:nvSpPr>
          <p:cNvPr id="109" name="Title 2"/>
          <p:cNvSpPr txBox="1">
            <a:spLocks/>
          </p:cNvSpPr>
          <p:nvPr/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One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Reese’s Pieces Sample</a:t>
            </a:r>
          </a:p>
        </p:txBody>
      </p:sp>
      <p:graphicFrame>
        <p:nvGraphicFramePr>
          <p:cNvPr id="111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127462"/>
              </p:ext>
            </p:extLst>
          </p:nvPr>
        </p:nvGraphicFramePr>
        <p:xfrm>
          <a:off x="3886200" y="3657600"/>
          <a:ext cx="1890314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4" imgW="558720" imgH="203040" progId="Equation.DSMT4">
                  <p:embed/>
                </p:oleObj>
              </mc:Choice>
              <mc:Fallback>
                <p:oleObj name="Equation" r:id="rId4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657600"/>
                        <a:ext cx="1890314" cy="687387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93754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00"/>
            <a:ext cx="9144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We can </a:t>
            </a:r>
            <a:r>
              <a:rPr lang="en-US" sz="3200" i="1" dirty="0">
                <a:solidFill>
                  <a:schemeClr val="accent5">
                    <a:lumMod val="50000"/>
                  </a:schemeClr>
                </a:solidFill>
              </a:rPr>
              <a:t>estimate</a:t>
            </a: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the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variability of a statistic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using only the data in the original sample, by imagining that  the “population” is many, many copies of the original sample</a:t>
            </a:r>
          </a:p>
          <a:p>
            <a:pPr marL="457200" indent="-457200">
              <a:buClr>
                <a:schemeClr val="accent1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This technique, called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bootstrapping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allows us to approximate a sampling distribution and estimate a standard error using just the information in one sample!</a:t>
            </a:r>
          </a:p>
          <a:p>
            <a:pPr>
              <a:buClr>
                <a:schemeClr val="accent1"/>
              </a:buClr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“Population”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023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b="1" dirty="0"/>
              <a:t>Reese’s Pieces “Population”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28600" y="838200"/>
            <a:ext cx="8610600" cy="556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05"/>
          <p:cNvGrpSpPr/>
          <p:nvPr/>
        </p:nvGrpSpPr>
        <p:grpSpPr>
          <a:xfrm>
            <a:off x="1284027" y="1451779"/>
            <a:ext cx="6716973" cy="4432111"/>
            <a:chOff x="1436427" y="1856663"/>
            <a:chExt cx="6716973" cy="4432111"/>
          </a:xfrm>
        </p:grpSpPr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28" name="Group 106"/>
          <p:cNvGrpSpPr>
            <a:grpSpLocks noChangeAspect="1"/>
          </p:cNvGrpSpPr>
          <p:nvPr/>
        </p:nvGrpSpPr>
        <p:grpSpPr>
          <a:xfrm>
            <a:off x="316399" y="913943"/>
            <a:ext cx="1679244" cy="1108028"/>
            <a:chOff x="1436427" y="1856663"/>
            <a:chExt cx="6716973" cy="4432111"/>
          </a:xfrm>
        </p:grpSpPr>
        <p:sp>
          <p:nvSpPr>
            <p:cNvPr id="108" name="Oval 107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207"/>
          <p:cNvGrpSpPr>
            <a:grpSpLocks noChangeAspect="1"/>
          </p:cNvGrpSpPr>
          <p:nvPr/>
        </p:nvGrpSpPr>
        <p:grpSpPr>
          <a:xfrm>
            <a:off x="2091803" y="887927"/>
            <a:ext cx="1679244" cy="1108028"/>
            <a:chOff x="1436427" y="1856663"/>
            <a:chExt cx="6716973" cy="4432111"/>
          </a:xfrm>
        </p:grpSpPr>
        <p:sp>
          <p:nvSpPr>
            <p:cNvPr id="209" name="Oval 208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Oval 249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Oval 250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Oval 252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Oval 255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Oval 256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Oval 258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Oval 259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Oval 260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Oval 261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Oval 262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Oval 264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Oval 265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Oval 266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Oval 267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Oval 268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Oval 271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Oval 273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Oval 274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Oval 278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Oval 279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Oval 281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Oval 287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288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292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611"/>
          <p:cNvGrpSpPr>
            <a:grpSpLocks noChangeAspect="1"/>
          </p:cNvGrpSpPr>
          <p:nvPr/>
        </p:nvGrpSpPr>
        <p:grpSpPr>
          <a:xfrm>
            <a:off x="3828197" y="903563"/>
            <a:ext cx="1679244" cy="1108028"/>
            <a:chOff x="1436427" y="1856663"/>
            <a:chExt cx="6716973" cy="4432111"/>
          </a:xfrm>
        </p:grpSpPr>
        <p:sp>
          <p:nvSpPr>
            <p:cNvPr id="613" name="Oval 612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Oval 613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Oval 614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Oval 615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Oval 616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Oval 617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Oval 618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Oval 619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Oval 620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Oval 621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Oval 622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Oval 623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Oval 624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Oval 625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Oval 626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Oval 627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Oval 628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0" name="Oval 629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1" name="Oval 630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Oval 631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Oval 632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Oval 633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Oval 634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6" name="Oval 635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7" name="Oval 636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8" name="Oval 637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9" name="Oval 638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0" name="Oval 639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1" name="Oval 640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2" name="Oval 641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Oval 642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4" name="Oval 643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5" name="Oval 644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6" name="Oval 645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7" name="Oval 646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Oval 647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Oval 648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Oval 649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Oval 650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Oval 651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3" name="Oval 652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Oval 653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Oval 654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Oval 655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Oval 656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8" name="Oval 657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Oval 658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0" name="Oval 659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1" name="Oval 660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2" name="Oval 661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3" name="Oval 662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Oval 663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Oval 664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6" name="Oval 665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7" name="Oval 666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8" name="Oval 667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9" name="Oval 668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0" name="Oval 669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1" name="Oval 670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2" name="Oval 671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3" name="Oval 672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4" name="Oval 673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5" name="Oval 674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6" name="Oval 675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7" name="Oval 676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8" name="Oval 677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9" name="Oval 678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0" name="Oval 679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1" name="Oval 680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2" name="Oval 681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3" name="Oval 682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4" name="Oval 683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5" name="Oval 684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6" name="Oval 685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7" name="Oval 686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Oval 687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Oval 688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Oval 689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Oval 690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Oval 691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Oval 692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Oval 693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Oval 694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6" name="Oval 695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7" name="Oval 696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8" name="Oval 697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9" name="Oval 698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0" name="Oval 699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1" name="Oval 700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2" name="Oval 701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3" name="Oval 702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4" name="Oval 703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5" name="Oval 704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6" name="Oval 705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7" name="Oval 706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Oval 707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9" name="Oval 708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0" name="Oval 709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1" name="Oval 710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2" name="Oval 711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29" name="Group 712"/>
          <p:cNvGrpSpPr>
            <a:grpSpLocks noChangeAspect="1"/>
          </p:cNvGrpSpPr>
          <p:nvPr/>
        </p:nvGrpSpPr>
        <p:grpSpPr>
          <a:xfrm>
            <a:off x="5516538" y="917070"/>
            <a:ext cx="1679244" cy="1108028"/>
            <a:chOff x="1436427" y="1856663"/>
            <a:chExt cx="6716973" cy="4432111"/>
          </a:xfrm>
        </p:grpSpPr>
        <p:sp>
          <p:nvSpPr>
            <p:cNvPr id="714" name="Oval 713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5" name="Oval 714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6" name="Oval 715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" name="Oval 716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" name="Oval 717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" name="Oval 718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0" name="Oval 719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" name="Oval 720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" name="Oval 721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3" name="Oval 722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" name="Oval 723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5" name="Oval 724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6" name="Oval 725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7" name="Oval 726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8" name="Oval 727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9" name="Oval 728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" name="Oval 729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" name="Oval 730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" name="Oval 731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3" name="Oval 732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4" name="Oval 733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5" name="Oval 734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6" name="Oval 735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7" name="Oval 736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8" name="Oval 737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9" name="Oval 738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0" name="Oval 739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1" name="Oval 740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2" name="Oval 741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3" name="Oval 742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4" name="Oval 743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5" name="Oval 744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6" name="Oval 745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7" name="Oval 746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8" name="Oval 747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9" name="Oval 748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0" name="Oval 749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1" name="Oval 750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2" name="Oval 751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3" name="Oval 752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4" name="Oval 753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5" name="Oval 754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6" name="Oval 755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7" name="Oval 756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8" name="Oval 757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9" name="Oval 758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0" name="Oval 759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1" name="Oval 760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2" name="Oval 761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3" name="Oval 762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4" name="Oval 763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5" name="Oval 764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6" name="Oval 765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7" name="Oval 766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8" name="Oval 767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9" name="Oval 768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0" name="Oval 769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1" name="Oval 770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2" name="Oval 771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3" name="Oval 772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4" name="Oval 773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5" name="Oval 774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6" name="Oval 775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7" name="Oval 776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8" name="Oval 777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9" name="Oval 778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0" name="Oval 779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1" name="Oval 780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2" name="Oval 781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3" name="Oval 782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Oval 783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Oval 784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Oval 785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Oval 786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Oval 787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Oval 788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Oval 789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Oval 790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Oval 791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Oval 792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Oval 793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Oval 794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Oval 795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7" name="Oval 796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Oval 797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Oval 798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Oval 799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Oval 800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Oval 801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Oval 802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Oval 803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Oval 804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Oval 805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Oval 806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Oval 807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Oval 808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Oval 809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Oval 810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Oval 811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Oval 812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8" name="Group 813"/>
          <p:cNvGrpSpPr>
            <a:grpSpLocks noChangeAspect="1"/>
          </p:cNvGrpSpPr>
          <p:nvPr/>
        </p:nvGrpSpPr>
        <p:grpSpPr>
          <a:xfrm>
            <a:off x="7147446" y="917181"/>
            <a:ext cx="1679244" cy="1108028"/>
            <a:chOff x="1436427" y="1856663"/>
            <a:chExt cx="6716973" cy="4432111"/>
          </a:xfrm>
        </p:grpSpPr>
        <p:sp>
          <p:nvSpPr>
            <p:cNvPr id="815" name="Oval 814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Oval 815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Oval 816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Oval 817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Oval 818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Oval 819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Oval 820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Oval 821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Oval 822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Oval 823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Oval 824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Oval 825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Oval 826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Oval 827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Oval 828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Oval 829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Oval 830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Oval 831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Oval 832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Oval 833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Oval 834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Oval 835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Oval 836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Oval 837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Oval 838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Oval 839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Oval 840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Oval 841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Oval 842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4" name="Oval 843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Oval 844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Oval 845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Oval 846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8" name="Oval 847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Oval 848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Oval 849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Oval 850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Oval 851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Oval 852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Oval 853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Oval 854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Oval 855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Oval 856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Oval 857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Oval 858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Oval 859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Oval 860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Oval 861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Oval 862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Oval 863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Oval 864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Oval 865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Oval 866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Oval 867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Oval 868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Oval 869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Oval 870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Oval 871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Oval 872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Oval 873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Oval 874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Oval 875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Oval 876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Oval 877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Oval 878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Oval 879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Oval 880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2" name="Oval 881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3" name="Oval 882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Oval 883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5" name="Oval 884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6" name="Oval 885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7" name="Oval 886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8" name="Oval 887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9" name="Oval 888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0" name="Oval 889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Oval 890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2" name="Oval 891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3" name="Oval 892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4" name="Oval 893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5" name="Oval 894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6" name="Oval 895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7" name="Oval 896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8" name="Oval 897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9" name="Oval 898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0" name="Oval 899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1" name="Oval 900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2" name="Oval 901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3" name="Oval 902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4" name="Oval 903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5" name="Oval 904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6" name="Oval 905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7" name="Oval 906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8" name="Oval 907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9" name="Oval 908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0" name="Oval 909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1" name="Oval 910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2" name="Oval 911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3" name="Oval 912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4" name="Oval 913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30" name="Group 914"/>
          <p:cNvGrpSpPr>
            <a:grpSpLocks noChangeAspect="1"/>
          </p:cNvGrpSpPr>
          <p:nvPr/>
        </p:nvGrpSpPr>
        <p:grpSpPr>
          <a:xfrm>
            <a:off x="249724" y="1941192"/>
            <a:ext cx="1679244" cy="1108028"/>
            <a:chOff x="1436427" y="1856663"/>
            <a:chExt cx="6716973" cy="4432111"/>
          </a:xfrm>
        </p:grpSpPr>
        <p:sp>
          <p:nvSpPr>
            <p:cNvPr id="916" name="Oval 915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7" name="Oval 916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8" name="Oval 917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9" name="Oval 918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Oval 919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" name="Oval 920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Oval 921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" name="Oval 922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" name="Oval 923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" name="Oval 924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" name="Oval 925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" name="Oval 926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" name="Oval 927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9" name="Oval 928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0" name="Oval 929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1" name="Oval 930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2" name="Oval 931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3" name="Oval 932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4" name="Oval 933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5" name="Oval 934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6" name="Oval 935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7" name="Oval 936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8" name="Oval 937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9" name="Oval 938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0" name="Oval 939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1" name="Oval 940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2" name="Oval 941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3" name="Oval 942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4" name="Oval 943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5" name="Oval 944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6" name="Oval 945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7" name="Oval 946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8" name="Oval 947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9" name="Oval 948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0" name="Oval 949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1" name="Oval 950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2" name="Oval 951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3" name="Oval 952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4" name="Oval 953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5" name="Oval 954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6" name="Oval 955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7" name="Oval 956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8" name="Oval 957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9" name="Oval 958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0" name="Oval 959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1" name="Oval 960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2" name="Oval 961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3" name="Oval 962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4" name="Oval 963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5" name="Oval 964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6" name="Oval 965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7" name="Oval 966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8" name="Oval 967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9" name="Oval 968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0" name="Oval 969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1" name="Oval 970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2" name="Oval 971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3" name="Oval 972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4" name="Oval 973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5" name="Oval 974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6" name="Oval 975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7" name="Oval 976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8" name="Oval 977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9" name="Oval 978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0" name="Oval 979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1" name="Oval 980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2" name="Oval 981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3" name="Oval 982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4" name="Oval 983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5" name="Oval 984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6" name="Oval 985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7" name="Oval 986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8" name="Oval 987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9" name="Oval 988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0" name="Oval 989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1" name="Oval 990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2" name="Oval 991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3" name="Oval 992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4" name="Oval 993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5" name="Oval 994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6" name="Oval 995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7" name="Oval 996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8" name="Oval 997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9" name="Oval 998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0" name="Oval 999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1" name="Oval 1000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2" name="Oval 1001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3" name="Oval 1002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4" name="Oval 1003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5" name="Oval 1004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6" name="Oval 1005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7" name="Oval 1006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8" name="Oval 1007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9" name="Oval 1008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0" name="Oval 1009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1" name="Oval 1010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2" name="Oval 1011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Oval 1012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Oval 1013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5" name="Oval 1014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9" name="Group 1015"/>
          <p:cNvGrpSpPr>
            <a:grpSpLocks noChangeAspect="1"/>
          </p:cNvGrpSpPr>
          <p:nvPr/>
        </p:nvGrpSpPr>
        <p:grpSpPr>
          <a:xfrm>
            <a:off x="1981200" y="1981200"/>
            <a:ext cx="1679244" cy="1108028"/>
            <a:chOff x="1436427" y="1856663"/>
            <a:chExt cx="6716973" cy="4432111"/>
          </a:xfrm>
        </p:grpSpPr>
        <p:sp>
          <p:nvSpPr>
            <p:cNvPr id="1017" name="Oval 1016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8" name="Oval 1017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Oval 1018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Oval 1019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1" name="Oval 1020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2" name="Oval 1021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3" name="Oval 1022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Oval 1023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Oval 1024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Oval 1025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Oval 1026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Oval 1027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Oval 1028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Oval 1029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Oval 1030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Oval 1031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Oval 1032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Oval 1033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Oval 1034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Oval 1045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Oval 1049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Oval 1050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Oval 1051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Oval 1052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Oval 1053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Oval 1054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Oval 1062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Oval 1063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Oval 1064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Oval 1065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Oval 1066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Oval 1067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Oval 1068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Oval 1069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Oval 1070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Oval 1071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Oval 1072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Oval 1073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Oval 1074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Oval 1075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Oval 1076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Oval 1077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9" name="Oval 1078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Oval 1079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Oval 1080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2" name="Oval 1081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3" name="Oval 1082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4" name="Oval 1083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Oval 1084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6" name="Oval 1085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Oval 1086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8" name="Oval 1087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9" name="Oval 1088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0" name="Oval 1089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1" name="Oval 1090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2" name="Oval 1091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3" name="Oval 1092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4" name="Oval 1093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5" name="Oval 1094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6" name="Oval 1095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7" name="Oval 1096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8" name="Oval 1097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9" name="Oval 1098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0" name="Oval 1099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1" name="Oval 1100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2" name="Oval 1101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3" name="Oval 1102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4" name="Oval 1103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5" name="Oval 1104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6" name="Oval 1105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7" name="Oval 1106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8" name="Oval 1107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9" name="Oval 1108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0" name="Oval 1109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1" name="Oval 1110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2" name="Oval 1111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Oval 1112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Oval 1113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Oval 1114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6" name="Oval 1115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0" name="Group 2025"/>
          <p:cNvGrpSpPr>
            <a:grpSpLocks noChangeAspect="1"/>
          </p:cNvGrpSpPr>
          <p:nvPr/>
        </p:nvGrpSpPr>
        <p:grpSpPr>
          <a:xfrm>
            <a:off x="3694278" y="1981200"/>
            <a:ext cx="1679244" cy="1108028"/>
            <a:chOff x="1436427" y="1856663"/>
            <a:chExt cx="6716973" cy="4432111"/>
          </a:xfrm>
        </p:grpSpPr>
        <p:sp>
          <p:nvSpPr>
            <p:cNvPr id="2027" name="Oval 2026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8" name="Oval 2027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9" name="Oval 2028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0" name="Oval 2029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1" name="Oval 2030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2" name="Oval 2031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3" name="Oval 2032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4" name="Oval 2033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5" name="Oval 2034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6" name="Oval 2035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7" name="Oval 2036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8" name="Oval 2037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9" name="Oval 2038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0" name="Oval 2039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1" name="Oval 2040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2" name="Oval 2041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3" name="Oval 2042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4" name="Oval 2043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5" name="Oval 2044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6" name="Oval 2045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7" name="Oval 2046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8" name="Oval 2047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9" name="Oval 2048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0" name="Oval 2049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1" name="Oval 2050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2" name="Oval 2051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3" name="Oval 2052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4" name="Oval 2053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5" name="Oval 2054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6" name="Oval 2055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7" name="Oval 2056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8" name="Oval 2057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Oval 2058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0" name="Oval 2059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Oval 2060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Oval 2061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Oval 2062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Oval 2063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Oval 2064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Oval 2065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Oval 2066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8" name="Oval 2067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Oval 2068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0" name="Oval 2069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1" name="Oval 2070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2" name="Oval 2071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3" name="Oval 2072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4" name="Oval 2073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Oval 2074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6" name="Oval 2075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7" name="Oval 2076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8" name="Oval 2077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9" name="Oval 2078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0" name="Oval 2079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1" name="Oval 2080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2" name="Oval 2081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3" name="Oval 2082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4" name="Oval 2083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5" name="Oval 2084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6" name="Oval 2085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7" name="Oval 2086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8" name="Oval 2087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9" name="Oval 2088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0" name="Oval 2089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1" name="Oval 2090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2" name="Oval 2091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3" name="Oval 2092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4" name="Oval 2093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5" name="Oval 2094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6" name="Oval 2095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7" name="Oval 2096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8" name="Oval 2097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9" name="Oval 2098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0" name="Oval 2099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1" name="Oval 2100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2" name="Oval 2101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3" name="Oval 2102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4" name="Oval 2103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5" name="Oval 2104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6" name="Oval 2105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7" name="Oval 2106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8" name="Oval 2107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9" name="Oval 2108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0" name="Oval 2109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1" name="Oval 2110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2" name="Oval 2111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3" name="Oval 2112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4" name="Oval 2113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5" name="Oval 2114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6" name="Oval 2115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7" name="Oval 2116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8" name="Oval 2117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9" name="Oval 2118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0" name="Oval 2119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1" name="Oval 2120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Oval 2121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3" name="Oval 2122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4" name="Oval 2123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5" name="Oval 2124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6" name="Oval 2125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1" name="Group 2126"/>
          <p:cNvGrpSpPr>
            <a:grpSpLocks noChangeAspect="1"/>
          </p:cNvGrpSpPr>
          <p:nvPr/>
        </p:nvGrpSpPr>
        <p:grpSpPr>
          <a:xfrm>
            <a:off x="5483556" y="1939972"/>
            <a:ext cx="1679244" cy="1108028"/>
            <a:chOff x="1436427" y="1856663"/>
            <a:chExt cx="6716973" cy="4432111"/>
          </a:xfrm>
        </p:grpSpPr>
        <p:sp>
          <p:nvSpPr>
            <p:cNvPr id="2128" name="Oval 2127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9" name="Oval 2128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0" name="Oval 2129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1" name="Oval 2130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2" name="Oval 2131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3" name="Oval 2132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4" name="Oval 2133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5" name="Oval 2134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6" name="Oval 2135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7" name="Oval 2136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8" name="Oval 2137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9" name="Oval 2138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0" name="Oval 2139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1" name="Oval 2140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2" name="Oval 2141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3" name="Oval 2142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4" name="Oval 2143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5" name="Oval 2144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6" name="Oval 2145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7" name="Oval 2146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8" name="Oval 2147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9" name="Oval 2148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0" name="Oval 2149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1" name="Oval 2150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" name="Oval 2151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3" name="Oval 2152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4" name="Oval 2153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5" name="Oval 2154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6" name="Oval 2155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7" name="Oval 2156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8" name="Oval 2157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9" name="Oval 2158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0" name="Oval 2159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1" name="Oval 2160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2" name="Oval 2161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3" name="Oval 2162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4" name="Oval 2163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5" name="Oval 2164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6" name="Oval 2165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7" name="Oval 2166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8" name="Oval 2167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9" name="Oval 2168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0" name="Oval 2169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1" name="Oval 2170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2" name="Oval 2171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3" name="Oval 2172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4" name="Oval 2173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5" name="Oval 2174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6" name="Oval 2175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7" name="Oval 2176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8" name="Oval 2177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9" name="Oval 2178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0" name="Oval 2179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1" name="Oval 2180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2" name="Oval 2181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3" name="Oval 2182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4" name="Oval 2183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5" name="Oval 2184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6" name="Oval 2185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7" name="Oval 2186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8" name="Oval 2187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9" name="Oval 2188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0" name="Oval 2189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1" name="Oval 2190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2" name="Oval 2191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3" name="Oval 2192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4" name="Oval 2193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5" name="Oval 2194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6" name="Oval 2195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7" name="Oval 2196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8" name="Oval 2197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9" name="Oval 2198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0" name="Oval 2199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1" name="Oval 2200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2" name="Oval 2201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3" name="Oval 2202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4" name="Oval 2203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5" name="Oval 2204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6" name="Oval 2205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7" name="Oval 2206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8" name="Oval 2207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9" name="Oval 2208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0" name="Oval 2209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1" name="Oval 2210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2" name="Oval 2211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3" name="Oval 2212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4" name="Oval 2213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5" name="Oval 2214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6" name="Oval 2215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7" name="Oval 2216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8" name="Oval 2217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9" name="Oval 2218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0" name="Oval 2219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1" name="Oval 2220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2" name="Oval 2221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3" name="Oval 2222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4" name="Oval 2223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5" name="Oval 2224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6" name="Oval 2225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7" name="Oval 2226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2" name="Group 2227"/>
          <p:cNvGrpSpPr>
            <a:grpSpLocks noChangeAspect="1"/>
          </p:cNvGrpSpPr>
          <p:nvPr/>
        </p:nvGrpSpPr>
        <p:grpSpPr>
          <a:xfrm>
            <a:off x="7083756" y="1939972"/>
            <a:ext cx="1679244" cy="1108028"/>
            <a:chOff x="1436427" y="1856663"/>
            <a:chExt cx="6716973" cy="4432111"/>
          </a:xfrm>
        </p:grpSpPr>
        <p:sp>
          <p:nvSpPr>
            <p:cNvPr id="2229" name="Oval 2228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0" name="Oval 2229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1" name="Oval 2230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2" name="Oval 2231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3" name="Oval 2232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4" name="Oval 2233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5" name="Oval 2234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6" name="Oval 2235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7" name="Oval 2236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8" name="Oval 2237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9" name="Oval 2238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0" name="Oval 2239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1" name="Oval 2240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2" name="Oval 2241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3" name="Oval 2242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4" name="Oval 2243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5" name="Oval 2244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6" name="Oval 2245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7" name="Oval 2246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8" name="Oval 2247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9" name="Oval 2248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0" name="Oval 2249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1" name="Oval 2250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2" name="Oval 2251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3" name="Oval 2252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4" name="Oval 2253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5" name="Oval 2254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6" name="Oval 2255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7" name="Oval 2256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8" name="Oval 2257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9" name="Oval 2258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0" name="Oval 2259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1" name="Oval 2260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2" name="Oval 2261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3" name="Oval 2262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4" name="Oval 2263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5" name="Oval 2264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6" name="Oval 2265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7" name="Oval 2266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8" name="Oval 2267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9" name="Oval 2268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0" name="Oval 2269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1" name="Oval 2270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2" name="Oval 2271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3" name="Oval 2272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4" name="Oval 2273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5" name="Oval 2274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6" name="Oval 2275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7" name="Oval 2276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8" name="Oval 2277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9" name="Oval 2278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0" name="Oval 2279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1" name="Oval 2280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2" name="Oval 2281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3" name="Oval 2282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4" name="Oval 2283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5" name="Oval 2284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6" name="Oval 2285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7" name="Oval 2286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8" name="Oval 2287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9" name="Oval 2288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0" name="Oval 2289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1" name="Oval 2290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2" name="Oval 2291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3" name="Oval 2292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4" name="Oval 2293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5" name="Oval 2294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6" name="Oval 2295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7" name="Oval 2296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8" name="Oval 2297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9" name="Oval 2298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0" name="Oval 2299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1" name="Oval 2300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2" name="Oval 2301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3" name="Oval 2302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4" name="Oval 2303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5" name="Oval 2304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6" name="Oval 2305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7" name="Oval 2306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8" name="Oval 2307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9" name="Oval 2308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0" name="Oval 2309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1" name="Oval 2310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2" name="Oval 2311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3" name="Oval 2312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4" name="Oval 2313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5" name="Oval 2314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6" name="Oval 2315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7" name="Oval 2316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8" name="Oval 2317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9" name="Oval 2318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0" name="Oval 2319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1" name="Oval 2320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2" name="Oval 2321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3" name="Oval 2322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4" name="Oval 2323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5" name="Oval 2324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6" name="Oval 2325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7" name="Oval 2326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8" name="Oval 2327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3" name="Group 2328"/>
          <p:cNvGrpSpPr>
            <a:grpSpLocks noChangeAspect="1"/>
          </p:cNvGrpSpPr>
          <p:nvPr/>
        </p:nvGrpSpPr>
        <p:grpSpPr>
          <a:xfrm>
            <a:off x="304800" y="3006772"/>
            <a:ext cx="1679244" cy="1108028"/>
            <a:chOff x="1436427" y="1856663"/>
            <a:chExt cx="6716973" cy="4432111"/>
          </a:xfrm>
        </p:grpSpPr>
        <p:sp>
          <p:nvSpPr>
            <p:cNvPr id="2330" name="Oval 2329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1" name="Oval 2330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2" name="Oval 2331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3" name="Oval 2332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4" name="Oval 2333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5" name="Oval 2334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6" name="Oval 2335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7" name="Oval 2336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8" name="Oval 2337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9" name="Oval 2338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0" name="Oval 2339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1" name="Oval 2340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2" name="Oval 2341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3" name="Oval 2342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4" name="Oval 2343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5" name="Oval 2344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6" name="Oval 2345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7" name="Oval 2346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8" name="Oval 2347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9" name="Oval 2348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0" name="Oval 2349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1" name="Oval 2350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2" name="Oval 2351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3" name="Oval 2352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4" name="Oval 2353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5" name="Oval 2354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6" name="Oval 2355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" name="Oval 2356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8" name="Oval 2357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9" name="Oval 2358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0" name="Oval 2359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1" name="Oval 2360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2" name="Oval 2361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3" name="Oval 2362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4" name="Oval 2363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5" name="Oval 2364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6" name="Oval 2365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7" name="Oval 2366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8" name="Oval 2367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9" name="Oval 2368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0" name="Oval 2369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1" name="Oval 2370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2" name="Oval 2371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3" name="Oval 2372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4" name="Oval 2373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5" name="Oval 2374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6" name="Oval 2375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7" name="Oval 2376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8" name="Oval 2377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9" name="Oval 2378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0" name="Oval 2379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1" name="Oval 2380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2" name="Oval 2381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3" name="Oval 2382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4" name="Oval 2383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5" name="Oval 2384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6" name="Oval 2385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7" name="Oval 2386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8" name="Oval 2387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9" name="Oval 2388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0" name="Oval 2389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1" name="Oval 2390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2" name="Oval 2391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3" name="Oval 2392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4" name="Oval 2393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5" name="Oval 2394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6" name="Oval 2395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7" name="Oval 2396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8" name="Oval 2397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9" name="Oval 2398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0" name="Oval 2399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1" name="Oval 2400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2" name="Oval 2401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3" name="Oval 2402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4" name="Oval 2403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5" name="Oval 2404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6" name="Oval 2405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7" name="Oval 2406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8" name="Oval 2407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9" name="Oval 2408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0" name="Oval 2409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1" name="Oval 2410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2" name="Oval 2411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3" name="Oval 2412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4" name="Oval 2413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5" name="Oval 2414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6" name="Oval 2415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7" name="Oval 2416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8" name="Oval 2417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9" name="Oval 2418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0" name="Oval 2419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1" name="Oval 2420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2" name="Oval 2421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3" name="Oval 2422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4" name="Oval 2423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5" name="Oval 2424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6" name="Oval 2425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7" name="Oval 2426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8" name="Oval 2427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9" name="Oval 2428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4" name="Group 2429"/>
          <p:cNvGrpSpPr>
            <a:grpSpLocks noChangeAspect="1"/>
          </p:cNvGrpSpPr>
          <p:nvPr/>
        </p:nvGrpSpPr>
        <p:grpSpPr>
          <a:xfrm>
            <a:off x="1981200" y="3048000"/>
            <a:ext cx="1679244" cy="1108028"/>
            <a:chOff x="1436427" y="1856663"/>
            <a:chExt cx="6716973" cy="4432111"/>
          </a:xfrm>
        </p:grpSpPr>
        <p:sp>
          <p:nvSpPr>
            <p:cNvPr id="2431" name="Oval 2430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2" name="Oval 2431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3" name="Oval 2432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4" name="Oval 2433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5" name="Oval 2434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6" name="Oval 2435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7" name="Oval 2436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8" name="Oval 2437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9" name="Oval 2438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0" name="Oval 2439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1" name="Oval 2440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2" name="Oval 2441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3" name="Oval 2442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4" name="Oval 2443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5" name="Oval 2444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6" name="Oval 2445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7" name="Oval 2446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8" name="Oval 2447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9" name="Oval 2448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0" name="Oval 2449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1" name="Oval 2450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2" name="Oval 2451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3" name="Oval 2452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4" name="Oval 2453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5" name="Oval 2454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6" name="Oval 2455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7" name="Oval 2456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8" name="Oval 2457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9" name="Oval 2458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0" name="Oval 2459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1" name="Oval 2460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2" name="Oval 2461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3" name="Oval 2462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4" name="Oval 2463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5" name="Oval 2464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6" name="Oval 2465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7" name="Oval 2466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8" name="Oval 2467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9" name="Oval 2468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0" name="Oval 2469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1" name="Oval 2470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2" name="Oval 2471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3" name="Oval 2472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4" name="Oval 2473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5" name="Oval 2474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6" name="Oval 2475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7" name="Oval 2476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8" name="Oval 2477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9" name="Oval 2478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0" name="Oval 2479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1" name="Oval 2480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2" name="Oval 2481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3" name="Oval 2482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4" name="Oval 2483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5" name="Oval 2484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6" name="Oval 2485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7" name="Oval 2486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8" name="Oval 2487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9" name="Oval 2488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0" name="Oval 2489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1" name="Oval 2490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2" name="Oval 2491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3" name="Oval 2492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4" name="Oval 2493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5" name="Oval 2494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6" name="Oval 2495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7" name="Oval 2496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8" name="Oval 2497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9" name="Oval 2498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0" name="Oval 2499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1" name="Oval 2500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2" name="Oval 2501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3" name="Oval 2502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4" name="Oval 2503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5" name="Oval 2504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6" name="Oval 2505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7" name="Oval 2506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8" name="Oval 2507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9" name="Oval 2508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0" name="Oval 2509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1" name="Oval 2510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2" name="Oval 2511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3" name="Oval 2512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4" name="Oval 2513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5" name="Oval 2514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6" name="Oval 2515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7" name="Oval 2516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8" name="Oval 2517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9" name="Oval 2518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0" name="Oval 2519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1" name="Oval 2520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2" name="Oval 2521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3" name="Oval 2522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4" name="Oval 2523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5" name="Oval 2524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6" name="Oval 2525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7" name="Oval 2526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8" name="Oval 2527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9" name="Oval 2528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0" name="Oval 2529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5" name="Group 2530"/>
          <p:cNvGrpSpPr>
            <a:grpSpLocks noChangeAspect="1"/>
          </p:cNvGrpSpPr>
          <p:nvPr/>
        </p:nvGrpSpPr>
        <p:grpSpPr>
          <a:xfrm>
            <a:off x="3657600" y="3082972"/>
            <a:ext cx="1679244" cy="1108028"/>
            <a:chOff x="1436427" y="1856663"/>
            <a:chExt cx="6716973" cy="4432111"/>
          </a:xfrm>
        </p:grpSpPr>
        <p:sp>
          <p:nvSpPr>
            <p:cNvPr id="2532" name="Oval 2531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3" name="Oval 2532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4" name="Oval 2533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5" name="Oval 2534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6" name="Oval 2535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7" name="Oval 2536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8" name="Oval 2537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9" name="Oval 2538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0" name="Oval 2539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1" name="Oval 2540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2" name="Oval 2541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3" name="Oval 2542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4" name="Oval 2543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5" name="Oval 2544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6" name="Oval 2545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7" name="Oval 2546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8" name="Oval 2547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9" name="Oval 2548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0" name="Oval 2549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1" name="Oval 2550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2" name="Oval 2551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3" name="Oval 2552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4" name="Oval 2553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5" name="Oval 2554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6" name="Oval 2555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7" name="Oval 2556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8" name="Oval 2557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9" name="Oval 2558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0" name="Oval 2559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1" name="Oval 2560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2" name="Oval 2561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3" name="Oval 2562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4" name="Oval 2563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5" name="Oval 2564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6" name="Oval 2565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7" name="Oval 2566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8" name="Oval 2567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9" name="Oval 2568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0" name="Oval 2569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1" name="Oval 2570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2" name="Oval 2571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3" name="Oval 2572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4" name="Oval 2573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5" name="Oval 2574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6" name="Oval 2575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7" name="Oval 2576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8" name="Oval 2577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9" name="Oval 2578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0" name="Oval 2579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1" name="Oval 2580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2" name="Oval 2581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3" name="Oval 2582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4" name="Oval 2583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5" name="Oval 2584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6" name="Oval 2585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7" name="Oval 2586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8" name="Oval 2587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9" name="Oval 2588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0" name="Oval 2589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1" name="Oval 2590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2" name="Oval 2591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3" name="Oval 2592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4" name="Oval 2593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5" name="Oval 2594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6" name="Oval 2595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7" name="Oval 2596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8" name="Oval 2597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9" name="Oval 2598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0" name="Oval 2599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1" name="Oval 2600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2" name="Oval 2601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3" name="Oval 2602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4" name="Oval 2603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5" name="Oval 2604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6" name="Oval 2605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7" name="Oval 2606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8" name="Oval 2607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9" name="Oval 2608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0" name="Oval 2609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1" name="Oval 2610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2" name="Oval 2611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3" name="Oval 2612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4" name="Oval 2613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5" name="Oval 2614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6" name="Oval 2615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7" name="Oval 2616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8" name="Oval 2617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9" name="Oval 2618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0" name="Oval 2619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1" name="Oval 2620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2" name="Oval 2621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3" name="Oval 2622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4" name="Oval 2623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5" name="Oval 2624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6" name="Oval 2625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7" name="Oval 2626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8" name="Oval 2627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9" name="Oval 2628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0" name="Oval 2629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1" name="Oval 2630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6" name="Group 2631"/>
          <p:cNvGrpSpPr>
            <a:grpSpLocks noChangeAspect="1"/>
          </p:cNvGrpSpPr>
          <p:nvPr/>
        </p:nvGrpSpPr>
        <p:grpSpPr>
          <a:xfrm>
            <a:off x="5331156" y="3082972"/>
            <a:ext cx="1679244" cy="1108028"/>
            <a:chOff x="1436427" y="1856663"/>
            <a:chExt cx="6716973" cy="4432111"/>
          </a:xfrm>
        </p:grpSpPr>
        <p:sp>
          <p:nvSpPr>
            <p:cNvPr id="2633" name="Oval 2632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4" name="Oval 2633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5" name="Oval 2634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6" name="Oval 2635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7" name="Oval 2636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8" name="Oval 2637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9" name="Oval 2638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0" name="Oval 2639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1" name="Oval 2640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2" name="Oval 2641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3" name="Oval 2642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4" name="Oval 2643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5" name="Oval 2644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6" name="Oval 2645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7" name="Oval 2646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8" name="Oval 2647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9" name="Oval 2648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0" name="Oval 2649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1" name="Oval 2650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2" name="Oval 2651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3" name="Oval 2652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4" name="Oval 2653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5" name="Oval 2654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6" name="Oval 2655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7" name="Oval 2656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8" name="Oval 2657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9" name="Oval 2658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0" name="Oval 2659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1" name="Oval 2660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2" name="Oval 2661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3" name="Oval 2662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4" name="Oval 2663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5" name="Oval 2664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6" name="Oval 2665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7" name="Oval 2666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8" name="Oval 2667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9" name="Oval 2668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0" name="Oval 2669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1" name="Oval 2670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2" name="Oval 2671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3" name="Oval 2672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4" name="Oval 2673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5" name="Oval 2674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6" name="Oval 2675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7" name="Oval 2676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8" name="Oval 2677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9" name="Oval 2678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0" name="Oval 2679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1" name="Oval 2680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2" name="Oval 2681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3" name="Oval 2682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4" name="Oval 2683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5" name="Oval 2684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6" name="Oval 2685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7" name="Oval 2686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8" name="Oval 2687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9" name="Oval 2688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0" name="Oval 2689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1" name="Oval 2690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2" name="Oval 2691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3" name="Oval 2692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4" name="Oval 2693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5" name="Oval 2694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6" name="Oval 2695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7" name="Oval 2696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8" name="Oval 2697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9" name="Oval 2698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0" name="Oval 2699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1" name="Oval 2700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2" name="Oval 2701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3" name="Oval 2702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4" name="Oval 2703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5" name="Oval 2704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6" name="Oval 2705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7" name="Oval 2706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8" name="Oval 2707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9" name="Oval 2708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0" name="Oval 2709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1" name="Oval 2710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2" name="Oval 2711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3" name="Oval 2712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4" name="Oval 2713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5" name="Oval 2714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6" name="Oval 2715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7" name="Oval 2716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8" name="Oval 2717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9" name="Oval 2718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0" name="Oval 2719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1" name="Oval 2720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2" name="Oval 2721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3" name="Oval 2722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4" name="Oval 2723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5" name="Oval 2724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6" name="Oval 2725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7" name="Oval 2726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8" name="Oval 2727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9" name="Oval 2728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0" name="Oval 2729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1" name="Oval 2730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2" name="Oval 2731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7" name="Group 2732"/>
          <p:cNvGrpSpPr>
            <a:grpSpLocks noChangeAspect="1"/>
          </p:cNvGrpSpPr>
          <p:nvPr/>
        </p:nvGrpSpPr>
        <p:grpSpPr>
          <a:xfrm>
            <a:off x="7007556" y="3082972"/>
            <a:ext cx="1679244" cy="1108028"/>
            <a:chOff x="1436427" y="1856663"/>
            <a:chExt cx="6716973" cy="4432111"/>
          </a:xfrm>
        </p:grpSpPr>
        <p:sp>
          <p:nvSpPr>
            <p:cNvPr id="2734" name="Oval 2733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5" name="Oval 2734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6" name="Oval 2735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7" name="Oval 2736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8" name="Oval 2737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9" name="Oval 2738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0" name="Oval 2739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1" name="Oval 2740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2" name="Oval 2741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3" name="Oval 2742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4" name="Oval 2743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5" name="Oval 2744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6" name="Oval 2745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7" name="Oval 2746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8" name="Oval 2747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9" name="Oval 2748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0" name="Oval 2749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1" name="Oval 2750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2" name="Oval 2751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3" name="Oval 2752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4" name="Oval 2753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5" name="Oval 2754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6" name="Oval 2755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7" name="Oval 2756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8" name="Oval 2757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9" name="Oval 2758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0" name="Oval 2759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1" name="Oval 2760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2" name="Oval 2761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3" name="Oval 2762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4" name="Oval 2763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5" name="Oval 2764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6" name="Oval 2765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7" name="Oval 2766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8" name="Oval 2767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9" name="Oval 2768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0" name="Oval 2769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1" name="Oval 2770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2" name="Oval 2771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3" name="Oval 2772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4" name="Oval 2773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5" name="Oval 2774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6" name="Oval 2775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7" name="Oval 2776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8" name="Oval 2777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9" name="Oval 2778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0" name="Oval 2779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1" name="Oval 2780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2" name="Oval 2781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3" name="Oval 2782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4" name="Oval 2783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5" name="Oval 2784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6" name="Oval 2785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7" name="Oval 2786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8" name="Oval 2787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9" name="Oval 2788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0" name="Oval 2789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1" name="Oval 2790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2" name="Oval 2791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3" name="Oval 2792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4" name="Oval 2793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5" name="Oval 2794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6" name="Oval 2795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7" name="Oval 2796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8" name="Oval 2797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9" name="Oval 2798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0" name="Oval 2799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1" name="Oval 2800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2" name="Oval 2801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3" name="Oval 2802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4" name="Oval 2803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5" name="Oval 2804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6" name="Oval 2805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7" name="Oval 2806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8" name="Oval 2807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9" name="Oval 2808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0" name="Oval 2809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1" name="Oval 2810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2" name="Oval 2811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3" name="Oval 2812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4" name="Oval 2813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5" name="Oval 2814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6" name="Oval 2815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7" name="Oval 2816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8" name="Oval 2817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9" name="Oval 2818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0" name="Oval 2819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1" name="Oval 2820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2" name="Oval 2821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3" name="Oval 2822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4" name="Oval 2823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5" name="Oval 2824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6" name="Oval 2825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7" name="Oval 2826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8" name="Oval 2827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9" name="Oval 2828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0" name="Oval 2829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1" name="Oval 2830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2" name="Oval 2831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3" name="Oval 2832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2833"/>
          <p:cNvGrpSpPr>
            <a:grpSpLocks noChangeAspect="1"/>
          </p:cNvGrpSpPr>
          <p:nvPr/>
        </p:nvGrpSpPr>
        <p:grpSpPr>
          <a:xfrm>
            <a:off x="381000" y="4149772"/>
            <a:ext cx="1679244" cy="1108028"/>
            <a:chOff x="1436427" y="1856663"/>
            <a:chExt cx="6716973" cy="4432111"/>
          </a:xfrm>
        </p:grpSpPr>
        <p:sp>
          <p:nvSpPr>
            <p:cNvPr id="2835" name="Oval 2834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6" name="Oval 2835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7" name="Oval 2836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8" name="Oval 2837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9" name="Oval 2838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0" name="Oval 2839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1" name="Oval 2840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2" name="Oval 2841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3" name="Oval 2842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4" name="Oval 2843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5" name="Oval 2844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6" name="Oval 2845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7" name="Oval 2846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8" name="Oval 2847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9" name="Oval 2848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0" name="Oval 2849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1" name="Oval 2850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2" name="Oval 2851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3" name="Oval 2852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4" name="Oval 2853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5" name="Oval 2854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6" name="Oval 2855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7" name="Oval 2856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8" name="Oval 2857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9" name="Oval 2858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0" name="Oval 2859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1" name="Oval 2860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2" name="Oval 2861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3" name="Oval 2862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4" name="Oval 2863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5" name="Oval 2864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6" name="Oval 2865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7" name="Oval 2866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" name="Oval 2867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" name="Oval 2868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0" name="Oval 2869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1" name="Oval 2870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2" name="Oval 2871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3" name="Oval 2872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4" name="Oval 2873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5" name="Oval 2874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6" name="Oval 2875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7" name="Oval 2876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8" name="Oval 2877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9" name="Oval 2878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0" name="Oval 2879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1" name="Oval 2880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2" name="Oval 2881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3" name="Oval 2882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4" name="Oval 2883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5" name="Oval 2884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6" name="Oval 2885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7" name="Oval 2886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8" name="Oval 2887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9" name="Oval 2888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0" name="Oval 2889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1" name="Oval 2890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2" name="Oval 2891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3" name="Oval 2892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4" name="Oval 2893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5" name="Oval 2894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6" name="Oval 2895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7" name="Oval 2896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8" name="Oval 2897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9" name="Oval 2898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0" name="Oval 2899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1" name="Oval 2900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2" name="Oval 2901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3" name="Oval 2902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4" name="Oval 2903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5" name="Oval 2904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6" name="Oval 2905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7" name="Oval 2906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8" name="Oval 2907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9" name="Oval 2908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0" name="Oval 2909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1" name="Oval 2910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2" name="Oval 2911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3" name="Oval 2912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4" name="Oval 2913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5" name="Oval 2914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6" name="Oval 2915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7" name="Oval 2916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8" name="Oval 2917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9" name="Oval 2918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0" name="Oval 2919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1" name="Oval 2920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2" name="Oval 2921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3" name="Oval 2922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4" name="Oval 2923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5" name="Oval 2924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6" name="Oval 2925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7" name="Oval 2926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8" name="Oval 2927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9" name="Oval 2928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0" name="Oval 2929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1" name="Oval 2930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2" name="Oval 2931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3" name="Oval 2932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4" name="Oval 2933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9" name="Group 2934"/>
          <p:cNvGrpSpPr>
            <a:grpSpLocks noChangeAspect="1"/>
          </p:cNvGrpSpPr>
          <p:nvPr/>
        </p:nvGrpSpPr>
        <p:grpSpPr>
          <a:xfrm>
            <a:off x="2133600" y="4149772"/>
            <a:ext cx="1679244" cy="1108028"/>
            <a:chOff x="1436427" y="1856663"/>
            <a:chExt cx="6716973" cy="4432111"/>
          </a:xfrm>
        </p:grpSpPr>
        <p:sp>
          <p:nvSpPr>
            <p:cNvPr id="2936" name="Oval 2935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7" name="Oval 2936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8" name="Oval 2937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9" name="Oval 2938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0" name="Oval 2939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1" name="Oval 2940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2" name="Oval 2941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3" name="Oval 2942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4" name="Oval 2943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5" name="Oval 2944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6" name="Oval 2945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7" name="Oval 2946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8" name="Oval 2947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9" name="Oval 2948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0" name="Oval 2949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1" name="Oval 2950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2" name="Oval 2951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3" name="Oval 2952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4" name="Oval 2953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5" name="Oval 2954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6" name="Oval 2955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7" name="Oval 2956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8" name="Oval 2957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9" name="Oval 2958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0" name="Oval 2959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1" name="Oval 2960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2" name="Oval 2961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3" name="Oval 2962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4" name="Oval 2963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5" name="Oval 2964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6" name="Oval 2965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7" name="Oval 2966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8" name="Oval 2967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9" name="Oval 2968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0" name="Oval 2969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1" name="Oval 2970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2" name="Oval 2971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3" name="Oval 2972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4" name="Oval 2973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5" name="Oval 2974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6" name="Oval 2975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7" name="Oval 2976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8" name="Oval 2977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9" name="Oval 2978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0" name="Oval 2979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1" name="Oval 2980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2" name="Oval 2981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3" name="Oval 2982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4" name="Oval 2983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5" name="Oval 2984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6" name="Oval 2985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7" name="Oval 2986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8" name="Oval 2987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9" name="Oval 2988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0" name="Oval 2989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1" name="Oval 2990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2" name="Oval 2991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3" name="Oval 2992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4" name="Oval 2993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5" name="Oval 2994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6" name="Oval 2995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7" name="Oval 2996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8" name="Oval 2997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9" name="Oval 2998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0" name="Oval 2999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1" name="Oval 3000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2" name="Oval 3001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3" name="Oval 3002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4" name="Oval 3003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5" name="Oval 3004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6" name="Oval 3005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7" name="Oval 3006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8" name="Oval 3007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9" name="Oval 3008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0" name="Oval 3009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1" name="Oval 3010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2" name="Oval 3011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3" name="Oval 3012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4" name="Oval 3013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5" name="Oval 3014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6" name="Oval 3015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7" name="Oval 3016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8" name="Oval 3017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9" name="Oval 3018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0" name="Oval 3019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1" name="Oval 3020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2" name="Oval 3021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3" name="Oval 3022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4" name="Oval 3023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5" name="Oval 3024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6" name="Oval 3025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7" name="Oval 3026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8" name="Oval 3027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9" name="Oval 3028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0" name="Oval 3029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1" name="Oval 3030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2" name="Oval 3031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3" name="Oval 3032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4" name="Oval 3033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5" name="Oval 3034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31" name="Group 3035"/>
          <p:cNvGrpSpPr>
            <a:grpSpLocks noChangeAspect="1"/>
          </p:cNvGrpSpPr>
          <p:nvPr/>
        </p:nvGrpSpPr>
        <p:grpSpPr>
          <a:xfrm>
            <a:off x="3810000" y="4191000"/>
            <a:ext cx="1679244" cy="1108028"/>
            <a:chOff x="1436427" y="1856663"/>
            <a:chExt cx="6716973" cy="4432111"/>
          </a:xfrm>
        </p:grpSpPr>
        <p:sp>
          <p:nvSpPr>
            <p:cNvPr id="3037" name="Oval 3036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8" name="Oval 3037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9" name="Oval 3038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0" name="Oval 3039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1" name="Oval 3040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2" name="Oval 3041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3" name="Oval 3042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4" name="Oval 3043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5" name="Oval 3044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6" name="Oval 3045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7" name="Oval 3046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8" name="Oval 3047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9" name="Oval 3048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0" name="Oval 3049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1" name="Oval 3050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2" name="Oval 3051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3" name="Oval 3052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4" name="Oval 3053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5" name="Oval 3054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6" name="Oval 3055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7" name="Oval 3056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8" name="Oval 3057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9" name="Oval 3058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0" name="Oval 3059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1" name="Oval 3060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2" name="Oval 3061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3" name="Oval 3062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4" name="Oval 3063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5" name="Oval 3064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6" name="Oval 3065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7" name="Oval 3066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8" name="Oval 3067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9" name="Oval 3068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0" name="Oval 3069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1" name="Oval 3070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2" name="Oval 3071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3" name="Oval 3072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4" name="Oval 3073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5" name="Oval 3074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6" name="Oval 3075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7" name="Oval 3076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8" name="Oval 3077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9" name="Oval 3078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0" name="Oval 3079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1" name="Oval 3080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2" name="Oval 3081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Oval 3082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4" name="Oval 3083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Oval 3084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Oval 3085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7" name="Oval 3086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8" name="Oval 3087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9" name="Oval 3088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0" name="Oval 3089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1" name="Oval 3090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2" name="Oval 3091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3" name="Oval 3092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4" name="Oval 3093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5" name="Oval 3094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6" name="Oval 3095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7" name="Oval 3096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8" name="Oval 3097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9" name="Oval 3098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0" name="Oval 3099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1" name="Oval 3100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2" name="Oval 3101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3" name="Oval 3102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4" name="Oval 3103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5" name="Oval 3104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6" name="Oval 3105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7" name="Oval 3106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8" name="Oval 3107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9" name="Oval 3108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0" name="Oval 3109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1" name="Oval 3110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2" name="Oval 3111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3" name="Oval 3112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4" name="Oval 3113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5" name="Oval 3114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6" name="Oval 3115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7" name="Oval 3116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8" name="Oval 3117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9" name="Oval 3118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0" name="Oval 3119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1" name="Oval 3120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2" name="Oval 3121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3" name="Oval 3122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4" name="Oval 3123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5" name="Oval 3124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6" name="Oval 3125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7" name="Oval 3126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8" name="Oval 3127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9" name="Oval 3128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0" name="Oval 3129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1" name="Oval 3130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2" name="Oval 3131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3" name="Oval 3132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4" name="Oval 3133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5" name="Oval 3134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6" name="Oval 3135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2" name="Group 3136"/>
          <p:cNvGrpSpPr>
            <a:grpSpLocks noChangeAspect="1"/>
          </p:cNvGrpSpPr>
          <p:nvPr/>
        </p:nvGrpSpPr>
        <p:grpSpPr>
          <a:xfrm>
            <a:off x="5486400" y="4149772"/>
            <a:ext cx="1679244" cy="1108028"/>
            <a:chOff x="1436427" y="1856663"/>
            <a:chExt cx="6716973" cy="4432111"/>
          </a:xfrm>
        </p:grpSpPr>
        <p:sp>
          <p:nvSpPr>
            <p:cNvPr id="3138" name="Oval 3137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9" name="Oval 3138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0" name="Oval 3139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1" name="Oval 3140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2" name="Oval 3141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3" name="Oval 3142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4" name="Oval 3143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5" name="Oval 3144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6" name="Oval 3145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7" name="Oval 3146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8" name="Oval 3147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9" name="Oval 3148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0" name="Oval 3149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1" name="Oval 3150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2" name="Oval 3151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3" name="Oval 3152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4" name="Oval 3153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5" name="Oval 3154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6" name="Oval 3155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7" name="Oval 3156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8" name="Oval 3157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9" name="Oval 3158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0" name="Oval 3159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1" name="Oval 3160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2" name="Oval 3161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3" name="Oval 3162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4" name="Oval 3163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5" name="Oval 3164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6" name="Oval 3165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7" name="Oval 3166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8" name="Oval 3167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9" name="Oval 3168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0" name="Oval 3169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1" name="Oval 3170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2" name="Oval 3171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3" name="Oval 3172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4" name="Oval 3173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5" name="Oval 3174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6" name="Oval 3175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7" name="Oval 3176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8" name="Oval 3177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9" name="Oval 3178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0" name="Oval 3179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1" name="Oval 3180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2" name="Oval 3181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3" name="Oval 3182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4" name="Oval 3183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5" name="Oval 3184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6" name="Oval 3185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7" name="Oval 3186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8" name="Oval 3187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9" name="Oval 3188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0" name="Oval 3189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1" name="Oval 3190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2" name="Oval 3191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3" name="Oval 3192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4" name="Oval 3193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5" name="Oval 3194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6" name="Oval 3195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7" name="Oval 3196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8" name="Oval 3197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9" name="Oval 3198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0" name="Oval 3199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1" name="Oval 3200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2" name="Oval 3201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3" name="Oval 3202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4" name="Oval 3203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5" name="Oval 3204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6" name="Oval 3205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7" name="Oval 3206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8" name="Oval 3207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9" name="Oval 3208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0" name="Oval 3209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1" name="Oval 3210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2" name="Oval 3211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3" name="Oval 3212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4" name="Oval 3213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5" name="Oval 3214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6" name="Oval 3215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7" name="Oval 3216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8" name="Oval 3217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9" name="Oval 3218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0" name="Oval 3219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1" name="Oval 3220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2" name="Oval 3221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3" name="Oval 3222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4" name="Oval 3223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5" name="Oval 3224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6" name="Oval 3225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7" name="Oval 3226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8" name="Oval 3227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9" name="Oval 3228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0" name="Oval 3229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1" name="Oval 3230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2" name="Oval 3231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3" name="Oval 3232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4" name="Oval 3233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5" name="Oval 3234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6" name="Oval 3235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7" name="Oval 3236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33" name="Group 3237"/>
          <p:cNvGrpSpPr>
            <a:grpSpLocks noChangeAspect="1"/>
          </p:cNvGrpSpPr>
          <p:nvPr/>
        </p:nvGrpSpPr>
        <p:grpSpPr>
          <a:xfrm>
            <a:off x="7083756" y="4191000"/>
            <a:ext cx="1679244" cy="1108028"/>
            <a:chOff x="1436427" y="1856663"/>
            <a:chExt cx="6716973" cy="4432111"/>
          </a:xfrm>
        </p:grpSpPr>
        <p:sp>
          <p:nvSpPr>
            <p:cNvPr id="3239" name="Oval 3238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0" name="Oval 3239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1" name="Oval 3240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2" name="Oval 3241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3" name="Oval 3242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4" name="Oval 3243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5" name="Oval 3244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6" name="Oval 3245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7" name="Oval 3246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8" name="Oval 3247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9" name="Oval 3248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0" name="Oval 3249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1" name="Oval 3250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2" name="Oval 3251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3" name="Oval 3252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4" name="Oval 3253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5" name="Oval 3254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6" name="Oval 3255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7" name="Oval 3256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8" name="Oval 3257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9" name="Oval 3258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0" name="Oval 3259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1" name="Oval 3260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2" name="Oval 3261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3" name="Oval 3262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4" name="Oval 3263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5" name="Oval 3264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6" name="Oval 3265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7" name="Oval 3266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8" name="Oval 3267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9" name="Oval 3268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0" name="Oval 3269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1" name="Oval 3270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2" name="Oval 3271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3" name="Oval 3272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4" name="Oval 3273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5" name="Oval 3274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6" name="Oval 3275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7" name="Oval 3276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8" name="Oval 3277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9" name="Oval 3278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0" name="Oval 3279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1" name="Oval 3280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2" name="Oval 3281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3" name="Oval 3282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4" name="Oval 3283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5" name="Oval 3284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6" name="Oval 3285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7" name="Oval 3286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8" name="Oval 3287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9" name="Oval 3288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0" name="Oval 3289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1" name="Oval 3290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2" name="Oval 3291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3" name="Oval 3292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4" name="Oval 3293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5" name="Oval 3294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6" name="Oval 3295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7" name="Oval 3296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8" name="Oval 3297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9" name="Oval 3298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0" name="Oval 3299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1" name="Oval 3300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2" name="Oval 3301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3" name="Oval 3302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4" name="Oval 3303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5" name="Oval 3304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6" name="Oval 3305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7" name="Oval 3306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8" name="Oval 3307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9" name="Oval 3308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0" name="Oval 3309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1" name="Oval 3310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2" name="Oval 3311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3" name="Oval 3312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4" name="Oval 3313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5" name="Oval 3314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6" name="Oval 3315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7" name="Oval 3316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8" name="Oval 3317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9" name="Oval 3318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0" name="Oval 3319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1" name="Oval 3320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2" name="Oval 3321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3" name="Oval 3322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4" name="Oval 3323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5" name="Oval 3324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6" name="Oval 3325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7" name="Oval 3326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8" name="Oval 3327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9" name="Oval 3328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0" name="Oval 3329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1" name="Oval 3330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2" name="Oval 3331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3" name="Oval 3332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4" name="Oval 3333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5" name="Oval 3334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6" name="Oval 3335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7" name="Oval 3336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8" name="Oval 3337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8" name="Group 3338"/>
          <p:cNvGrpSpPr>
            <a:grpSpLocks noChangeAspect="1"/>
          </p:cNvGrpSpPr>
          <p:nvPr/>
        </p:nvGrpSpPr>
        <p:grpSpPr>
          <a:xfrm>
            <a:off x="228600" y="5216572"/>
            <a:ext cx="1679244" cy="1108028"/>
            <a:chOff x="1436427" y="1856663"/>
            <a:chExt cx="6716973" cy="4432111"/>
          </a:xfrm>
        </p:grpSpPr>
        <p:sp>
          <p:nvSpPr>
            <p:cNvPr id="3340" name="Oval 3339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1" name="Oval 3340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2" name="Oval 3341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3" name="Oval 3342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4" name="Oval 3343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5" name="Oval 3344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6" name="Oval 3345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7" name="Oval 3346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8" name="Oval 3347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9" name="Oval 3348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0" name="Oval 3349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1" name="Oval 3350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2" name="Oval 3351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3" name="Oval 3352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4" name="Oval 3353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5" name="Oval 3354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6" name="Oval 3355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7" name="Oval 3356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8" name="Oval 3357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9" name="Oval 3358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0" name="Oval 3359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1" name="Oval 3360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2" name="Oval 3361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3" name="Oval 3362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4" name="Oval 3363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5" name="Oval 3364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6" name="Oval 3365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7" name="Oval 3366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8" name="Oval 3367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9" name="Oval 3368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0" name="Oval 3369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1" name="Oval 3370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2" name="Oval 3371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3" name="Oval 3372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4" name="Oval 3373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5" name="Oval 3374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6" name="Oval 3375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7" name="Oval 3376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8" name="Oval 3377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9" name="Oval 3378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0" name="Oval 3379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1" name="Oval 3380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2" name="Oval 3381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3" name="Oval 3382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4" name="Oval 3383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5" name="Oval 3384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6" name="Oval 3385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7" name="Oval 3386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8" name="Oval 3387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9" name="Oval 3388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0" name="Oval 3389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1" name="Oval 3390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2" name="Oval 3391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3" name="Oval 3392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4" name="Oval 3393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5" name="Oval 3394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6" name="Oval 3395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7" name="Oval 3396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8" name="Oval 3397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9" name="Oval 3398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0" name="Oval 3399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1" name="Oval 3400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2" name="Oval 3401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3" name="Oval 3402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4" name="Oval 3403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5" name="Oval 3404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6" name="Oval 3405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7" name="Oval 3406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8" name="Oval 3407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9" name="Oval 3408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0" name="Oval 3409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1" name="Oval 3410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2" name="Oval 3411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3" name="Oval 3412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4" name="Oval 3413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5" name="Oval 3414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6" name="Oval 3415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7" name="Oval 3416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8" name="Oval 3417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9" name="Oval 3418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0" name="Oval 3419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1" name="Oval 3420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2" name="Oval 3421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3" name="Oval 3422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4" name="Oval 3423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5" name="Oval 3424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6" name="Oval 3425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7" name="Oval 3426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8" name="Oval 3427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9" name="Oval 3428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0" name="Oval 3429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1" name="Oval 3430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2" name="Oval 3431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3" name="Oval 3432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4" name="Oval 3433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5" name="Oval 3434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6" name="Oval 3435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7" name="Oval 3436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8" name="Oval 3437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9" name="Oval 3438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9" name="Group 3439"/>
          <p:cNvGrpSpPr>
            <a:grpSpLocks noChangeAspect="1"/>
          </p:cNvGrpSpPr>
          <p:nvPr/>
        </p:nvGrpSpPr>
        <p:grpSpPr>
          <a:xfrm>
            <a:off x="1981200" y="5216572"/>
            <a:ext cx="1679244" cy="1108028"/>
            <a:chOff x="1436427" y="1856663"/>
            <a:chExt cx="6716973" cy="4432111"/>
          </a:xfrm>
        </p:grpSpPr>
        <p:sp>
          <p:nvSpPr>
            <p:cNvPr id="3441" name="Oval 3440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2" name="Oval 3441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3" name="Oval 3442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4" name="Oval 3443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5" name="Oval 3444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6" name="Oval 3445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7" name="Oval 3446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8" name="Oval 3447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9" name="Oval 3448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0" name="Oval 3449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1" name="Oval 3450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2" name="Oval 3451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3" name="Oval 3452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4" name="Oval 3453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5" name="Oval 3454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6" name="Oval 3455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7" name="Oval 3456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8" name="Oval 3457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9" name="Oval 3458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0" name="Oval 3459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1" name="Oval 3460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2" name="Oval 3461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3" name="Oval 3462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4" name="Oval 3463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5" name="Oval 3464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6" name="Oval 3465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7" name="Oval 3466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8" name="Oval 3467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9" name="Oval 3468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0" name="Oval 3469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1" name="Oval 3470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2" name="Oval 3471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3" name="Oval 3472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4" name="Oval 3473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5" name="Oval 3474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6" name="Oval 3475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7" name="Oval 3476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8" name="Oval 3477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9" name="Oval 3478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0" name="Oval 3479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1" name="Oval 3480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2" name="Oval 3481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3" name="Oval 3482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4" name="Oval 3483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5" name="Oval 3484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6" name="Oval 3485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7" name="Oval 3486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8" name="Oval 3487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9" name="Oval 3488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0" name="Oval 3489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1" name="Oval 3490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2" name="Oval 3491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3" name="Oval 3492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4" name="Oval 3493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5" name="Oval 3494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6" name="Oval 3495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7" name="Oval 3496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8" name="Oval 3497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9" name="Oval 3498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0" name="Oval 3499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1" name="Oval 3500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2" name="Oval 3501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3" name="Oval 3502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4" name="Oval 3503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5" name="Oval 3504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6" name="Oval 3505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7" name="Oval 3506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8" name="Oval 3507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9" name="Oval 3508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0" name="Oval 3509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1" name="Oval 3510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2" name="Oval 3511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3" name="Oval 3512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4" name="Oval 3513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5" name="Oval 3514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6" name="Oval 3515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7" name="Oval 3516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8" name="Oval 3517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9" name="Oval 3518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0" name="Oval 3519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1" name="Oval 3520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2" name="Oval 3521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3" name="Oval 3522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4" name="Oval 3523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5" name="Oval 3524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6" name="Oval 3525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7" name="Oval 3526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8" name="Oval 3527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9" name="Oval 3528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0" name="Oval 3529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1" name="Oval 3530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2" name="Oval 3531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3" name="Oval 3532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4" name="Oval 3533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5" name="Oval 3534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6" name="Oval 3535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7" name="Oval 3536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8" name="Oval 3537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9" name="Oval 3538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0" name="Oval 3539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0" name="Group 3540"/>
          <p:cNvGrpSpPr>
            <a:grpSpLocks noChangeAspect="1"/>
          </p:cNvGrpSpPr>
          <p:nvPr/>
        </p:nvGrpSpPr>
        <p:grpSpPr>
          <a:xfrm>
            <a:off x="3807156" y="5216572"/>
            <a:ext cx="1679244" cy="1108028"/>
            <a:chOff x="1436427" y="1856663"/>
            <a:chExt cx="6716973" cy="4432111"/>
          </a:xfrm>
        </p:grpSpPr>
        <p:sp>
          <p:nvSpPr>
            <p:cNvPr id="3542" name="Oval 3541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3" name="Oval 3542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4" name="Oval 3543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5" name="Oval 3544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6" name="Oval 3545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7" name="Oval 3546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8" name="Oval 3547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9" name="Oval 3548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0" name="Oval 3549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1" name="Oval 3550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2" name="Oval 3551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3" name="Oval 3552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4" name="Oval 3553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5" name="Oval 3554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6" name="Oval 3555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7" name="Oval 3556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8" name="Oval 3557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9" name="Oval 3558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0" name="Oval 3559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1" name="Oval 3560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2" name="Oval 3561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3" name="Oval 3562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4" name="Oval 3563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5" name="Oval 3564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6" name="Oval 3565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7" name="Oval 3566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8" name="Oval 3567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9" name="Oval 3568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0" name="Oval 3569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1" name="Oval 3570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2" name="Oval 3571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3" name="Oval 3572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4" name="Oval 3573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5" name="Oval 3574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6" name="Oval 3575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7" name="Oval 3576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8" name="Oval 3577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9" name="Oval 3578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0" name="Oval 3579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1" name="Oval 3580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2" name="Oval 3581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3" name="Oval 3582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4" name="Oval 3583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5" name="Oval 3584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6" name="Oval 3585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7" name="Oval 3586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8" name="Oval 3587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9" name="Oval 3588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0" name="Oval 3589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1" name="Oval 3590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2" name="Oval 3591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3" name="Oval 3592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4" name="Oval 3593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5" name="Oval 3594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6" name="Oval 3595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7" name="Oval 3596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8" name="Oval 3597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9" name="Oval 3598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0" name="Oval 3599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1" name="Oval 3600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2" name="Oval 3601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3" name="Oval 3602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4" name="Oval 3603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5" name="Oval 3604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6" name="Oval 3605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7" name="Oval 3606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8" name="Oval 3607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9" name="Oval 3608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0" name="Oval 3609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1" name="Oval 3610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2" name="Oval 3611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3" name="Oval 3612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4" name="Oval 3613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5" name="Oval 3614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6" name="Oval 3615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7" name="Oval 3616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8" name="Oval 3617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9" name="Oval 3618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0" name="Oval 3619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1" name="Oval 3620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2" name="Oval 3621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3" name="Oval 3622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4" name="Oval 3623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5" name="Oval 3624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6" name="Oval 3625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7" name="Oval 3626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8" name="Oval 3627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9" name="Oval 3628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0" name="Oval 3629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1" name="Oval 3630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2" name="Oval 3631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3" name="Oval 3632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4" name="Oval 3633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5" name="Oval 3634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6" name="Oval 3635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7" name="Oval 3636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8" name="Oval 3637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9" name="Oval 3638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0" name="Oval 3639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1" name="Oval 3640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1" name="Group 3641"/>
          <p:cNvGrpSpPr>
            <a:grpSpLocks noChangeAspect="1"/>
          </p:cNvGrpSpPr>
          <p:nvPr/>
        </p:nvGrpSpPr>
        <p:grpSpPr>
          <a:xfrm>
            <a:off x="5407356" y="5216572"/>
            <a:ext cx="1679244" cy="1108028"/>
            <a:chOff x="1436427" y="1856663"/>
            <a:chExt cx="6716973" cy="4432111"/>
          </a:xfrm>
        </p:grpSpPr>
        <p:sp>
          <p:nvSpPr>
            <p:cNvPr id="3643" name="Oval 3642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4" name="Oval 3643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5" name="Oval 3644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6" name="Oval 3645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7" name="Oval 3646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8" name="Oval 3647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9" name="Oval 3648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0" name="Oval 3649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1" name="Oval 3650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2" name="Oval 3651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3" name="Oval 3652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4" name="Oval 3653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5" name="Oval 3654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6" name="Oval 3655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7" name="Oval 3656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8" name="Oval 3657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9" name="Oval 3658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0" name="Oval 3659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1" name="Oval 3660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2" name="Oval 3661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3" name="Oval 3662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4" name="Oval 3663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5" name="Oval 3664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6" name="Oval 3665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7" name="Oval 3666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8" name="Oval 3667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9" name="Oval 3668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0" name="Oval 3669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1" name="Oval 3670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2" name="Oval 3671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3" name="Oval 3672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4" name="Oval 3673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5" name="Oval 3674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6" name="Oval 3675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7" name="Oval 3676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8" name="Oval 3677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9" name="Oval 3678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0" name="Oval 3679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1" name="Oval 3680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2" name="Oval 3681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3" name="Oval 3682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4" name="Oval 3683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5" name="Oval 3684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6" name="Oval 3685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7" name="Oval 3686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8" name="Oval 3687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9" name="Oval 3688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0" name="Oval 3689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1" name="Oval 3690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2" name="Oval 3691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3" name="Oval 3692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4" name="Oval 3693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5" name="Oval 3694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6" name="Oval 3695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7" name="Oval 3696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8" name="Oval 3697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9" name="Oval 3698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0" name="Oval 3699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1" name="Oval 3700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2" name="Oval 3701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3" name="Oval 3702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4" name="Oval 3703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5" name="Oval 3704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6" name="Oval 3705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7" name="Oval 3706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8" name="Oval 3707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9" name="Oval 3708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0" name="Oval 3709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1" name="Oval 3710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2" name="Oval 3711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3" name="Oval 3712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4" name="Oval 3713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5" name="Oval 3714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6" name="Oval 3715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7" name="Oval 3716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8" name="Oval 3717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9" name="Oval 3718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0" name="Oval 3719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1" name="Oval 3720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2" name="Oval 3721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3" name="Oval 3722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4" name="Oval 3723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5" name="Oval 3724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6" name="Oval 3725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7" name="Oval 3726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8" name="Oval 3727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9" name="Oval 3728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0" name="Oval 3729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1" name="Oval 3730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2" name="Oval 3731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3" name="Oval 3732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4" name="Oval 3733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5" name="Oval 3734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6" name="Oval 3735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7" name="Oval 3736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8" name="Oval 3737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9" name="Oval 3738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0" name="Oval 3739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1" name="Oval 3740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2" name="Oval 3741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2" name="Group 3742"/>
          <p:cNvGrpSpPr>
            <a:grpSpLocks noChangeAspect="1"/>
          </p:cNvGrpSpPr>
          <p:nvPr/>
        </p:nvGrpSpPr>
        <p:grpSpPr>
          <a:xfrm>
            <a:off x="7083756" y="5216572"/>
            <a:ext cx="1679244" cy="1108028"/>
            <a:chOff x="1436427" y="1856663"/>
            <a:chExt cx="6716973" cy="4432111"/>
          </a:xfrm>
        </p:grpSpPr>
        <p:sp>
          <p:nvSpPr>
            <p:cNvPr id="3744" name="Oval 3743"/>
            <p:cNvSpPr>
              <a:spLocks noChangeAspect="1"/>
            </p:cNvSpPr>
            <p:nvPr/>
          </p:nvSpPr>
          <p:spPr>
            <a:xfrm>
              <a:off x="1436427" y="18566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5" name="Oval 3744"/>
            <p:cNvSpPr>
              <a:spLocks noChangeAspect="1"/>
            </p:cNvSpPr>
            <p:nvPr/>
          </p:nvSpPr>
          <p:spPr>
            <a:xfrm>
              <a:off x="6248400" y="19709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6" name="Oval 3745"/>
            <p:cNvSpPr>
              <a:spLocks noChangeAspect="1"/>
            </p:cNvSpPr>
            <p:nvPr/>
          </p:nvSpPr>
          <p:spPr>
            <a:xfrm>
              <a:off x="7658100" y="244351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7" name="Oval 3746"/>
            <p:cNvSpPr>
              <a:spLocks noChangeAspect="1"/>
            </p:cNvSpPr>
            <p:nvPr/>
          </p:nvSpPr>
          <p:spPr>
            <a:xfrm>
              <a:off x="4457700" y="20312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8" name="Oval 3747"/>
            <p:cNvSpPr>
              <a:spLocks noChangeAspect="1"/>
            </p:cNvSpPr>
            <p:nvPr/>
          </p:nvSpPr>
          <p:spPr>
            <a:xfrm>
              <a:off x="5769591" y="1916941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9" name="Oval 3748"/>
            <p:cNvSpPr>
              <a:spLocks noChangeAspect="1"/>
            </p:cNvSpPr>
            <p:nvPr/>
          </p:nvSpPr>
          <p:spPr>
            <a:xfrm>
              <a:off x="5057064" y="19937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0" name="Oval 3749"/>
            <p:cNvSpPr>
              <a:spLocks noChangeAspect="1"/>
            </p:cNvSpPr>
            <p:nvPr/>
          </p:nvSpPr>
          <p:spPr>
            <a:xfrm>
              <a:off x="3807725" y="185666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1" name="Oval 3750"/>
            <p:cNvSpPr>
              <a:spLocks noChangeAspect="1"/>
            </p:cNvSpPr>
            <p:nvPr/>
          </p:nvSpPr>
          <p:spPr>
            <a:xfrm>
              <a:off x="3244755" y="191694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2" name="Oval 3751"/>
            <p:cNvSpPr>
              <a:spLocks noChangeAspect="1"/>
            </p:cNvSpPr>
            <p:nvPr/>
          </p:nvSpPr>
          <p:spPr>
            <a:xfrm>
              <a:off x="2819400" y="1993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3" name="Oval 3752"/>
            <p:cNvSpPr>
              <a:spLocks noChangeAspect="1"/>
            </p:cNvSpPr>
            <p:nvPr/>
          </p:nvSpPr>
          <p:spPr>
            <a:xfrm>
              <a:off x="2209800" y="20136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4" name="Oval 3753"/>
            <p:cNvSpPr>
              <a:spLocks noChangeAspect="1"/>
            </p:cNvSpPr>
            <p:nvPr/>
          </p:nvSpPr>
          <p:spPr>
            <a:xfrm>
              <a:off x="1666164" y="26033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5" name="Oval 3754"/>
            <p:cNvSpPr>
              <a:spLocks noChangeAspect="1"/>
            </p:cNvSpPr>
            <p:nvPr/>
          </p:nvSpPr>
          <p:spPr>
            <a:xfrm>
              <a:off x="6750524" y="239802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6" name="Oval 3755"/>
            <p:cNvSpPr>
              <a:spLocks noChangeAspect="1"/>
            </p:cNvSpPr>
            <p:nvPr/>
          </p:nvSpPr>
          <p:spPr>
            <a:xfrm>
              <a:off x="7300984" y="18794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7" name="Oval 3756"/>
            <p:cNvSpPr>
              <a:spLocks noChangeAspect="1"/>
            </p:cNvSpPr>
            <p:nvPr/>
          </p:nvSpPr>
          <p:spPr>
            <a:xfrm>
              <a:off x="4950725" y="248047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8" name="Oval 3757"/>
            <p:cNvSpPr>
              <a:spLocks noChangeAspect="1"/>
            </p:cNvSpPr>
            <p:nvPr/>
          </p:nvSpPr>
          <p:spPr>
            <a:xfrm>
              <a:off x="6003309" y="26044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9" name="Oval 3758"/>
            <p:cNvSpPr>
              <a:spLocks noChangeAspect="1"/>
            </p:cNvSpPr>
            <p:nvPr/>
          </p:nvSpPr>
          <p:spPr>
            <a:xfrm>
              <a:off x="5528480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0" name="Oval 3759"/>
            <p:cNvSpPr>
              <a:spLocks noChangeAspect="1"/>
            </p:cNvSpPr>
            <p:nvPr/>
          </p:nvSpPr>
          <p:spPr>
            <a:xfrm>
              <a:off x="4263219" y="23747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1" name="Oval 3760"/>
            <p:cNvSpPr>
              <a:spLocks noChangeAspect="1"/>
            </p:cNvSpPr>
            <p:nvPr/>
          </p:nvSpPr>
          <p:spPr>
            <a:xfrm>
              <a:off x="3761664" y="2429868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2" name="Oval 3761"/>
            <p:cNvSpPr>
              <a:spLocks noChangeAspect="1"/>
            </p:cNvSpPr>
            <p:nvPr/>
          </p:nvSpPr>
          <p:spPr>
            <a:xfrm>
              <a:off x="3200400" y="241849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3" name="Oval 3762"/>
            <p:cNvSpPr>
              <a:spLocks noChangeAspect="1"/>
            </p:cNvSpPr>
            <p:nvPr/>
          </p:nvSpPr>
          <p:spPr>
            <a:xfrm>
              <a:off x="2379260" y="269031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4" name="Oval 3763"/>
            <p:cNvSpPr>
              <a:spLocks noChangeAspect="1"/>
            </p:cNvSpPr>
            <p:nvPr/>
          </p:nvSpPr>
          <p:spPr>
            <a:xfrm>
              <a:off x="1940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5" name="Oval 3764"/>
            <p:cNvSpPr>
              <a:spLocks noChangeAspect="1"/>
            </p:cNvSpPr>
            <p:nvPr/>
          </p:nvSpPr>
          <p:spPr>
            <a:xfrm>
              <a:off x="5889009" y="55045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6" name="Oval 3765"/>
            <p:cNvSpPr>
              <a:spLocks noChangeAspect="1"/>
            </p:cNvSpPr>
            <p:nvPr/>
          </p:nvSpPr>
          <p:spPr>
            <a:xfrm>
              <a:off x="6804546" y="510596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7" name="Oval 3766"/>
            <p:cNvSpPr>
              <a:spLocks noChangeAspect="1"/>
            </p:cNvSpPr>
            <p:nvPr/>
          </p:nvSpPr>
          <p:spPr>
            <a:xfrm>
              <a:off x="4722125" y="5199228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8" name="Oval 3767"/>
            <p:cNvSpPr>
              <a:spLocks noChangeAspect="1"/>
            </p:cNvSpPr>
            <p:nvPr/>
          </p:nvSpPr>
          <p:spPr>
            <a:xfrm>
              <a:off x="5522225" y="50673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9" name="Oval 3768"/>
            <p:cNvSpPr>
              <a:spLocks noChangeAspect="1"/>
            </p:cNvSpPr>
            <p:nvPr/>
          </p:nvSpPr>
          <p:spPr>
            <a:xfrm>
              <a:off x="5217425" y="53902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0" name="Oval 3769"/>
            <p:cNvSpPr>
              <a:spLocks noChangeAspect="1"/>
            </p:cNvSpPr>
            <p:nvPr/>
          </p:nvSpPr>
          <p:spPr>
            <a:xfrm>
              <a:off x="42268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1" name="Oval 3770"/>
            <p:cNvSpPr>
              <a:spLocks noChangeAspect="1"/>
            </p:cNvSpPr>
            <p:nvPr/>
          </p:nvSpPr>
          <p:spPr>
            <a:xfrm>
              <a:off x="3693425" y="518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2" name="Oval 3771"/>
            <p:cNvSpPr>
              <a:spLocks noChangeAspect="1"/>
            </p:cNvSpPr>
            <p:nvPr/>
          </p:nvSpPr>
          <p:spPr>
            <a:xfrm>
              <a:off x="3083825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3" name="Oval 3772"/>
            <p:cNvSpPr>
              <a:spLocks noChangeAspect="1"/>
            </p:cNvSpPr>
            <p:nvPr/>
          </p:nvSpPr>
          <p:spPr>
            <a:xfrm>
              <a:off x="2474225" y="51816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4" name="Oval 3773"/>
            <p:cNvSpPr>
              <a:spLocks noChangeAspect="1"/>
            </p:cNvSpPr>
            <p:nvPr/>
          </p:nvSpPr>
          <p:spPr>
            <a:xfrm>
              <a:off x="1485900" y="34756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5" name="Oval 3774"/>
            <p:cNvSpPr>
              <a:spLocks noChangeAspect="1"/>
            </p:cNvSpPr>
            <p:nvPr/>
          </p:nvSpPr>
          <p:spPr>
            <a:xfrm>
              <a:off x="5434084" y="38185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6" name="Oval 3775"/>
            <p:cNvSpPr>
              <a:spLocks noChangeAspect="1"/>
            </p:cNvSpPr>
            <p:nvPr/>
          </p:nvSpPr>
          <p:spPr>
            <a:xfrm>
              <a:off x="6019800" y="351145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7" name="Oval 3776"/>
            <p:cNvSpPr>
              <a:spLocks noChangeAspect="1"/>
            </p:cNvSpPr>
            <p:nvPr/>
          </p:nvSpPr>
          <p:spPr>
            <a:xfrm>
              <a:off x="4267200" y="351316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8" name="Oval 3777"/>
            <p:cNvSpPr>
              <a:spLocks noChangeAspect="1"/>
            </p:cNvSpPr>
            <p:nvPr/>
          </p:nvSpPr>
          <p:spPr>
            <a:xfrm>
              <a:off x="5067300" y="33812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9" name="Oval 3778"/>
            <p:cNvSpPr>
              <a:spLocks noChangeAspect="1"/>
            </p:cNvSpPr>
            <p:nvPr/>
          </p:nvSpPr>
          <p:spPr>
            <a:xfrm>
              <a:off x="4762500" y="37042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0" name="Oval 3779"/>
            <p:cNvSpPr>
              <a:spLocks noChangeAspect="1"/>
            </p:cNvSpPr>
            <p:nvPr/>
          </p:nvSpPr>
          <p:spPr>
            <a:xfrm>
              <a:off x="37719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1" name="Oval 3780"/>
            <p:cNvSpPr>
              <a:spLocks noChangeAspect="1"/>
            </p:cNvSpPr>
            <p:nvPr/>
          </p:nvSpPr>
          <p:spPr>
            <a:xfrm>
              <a:off x="2719885" y="32800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2" name="Oval 3781"/>
            <p:cNvSpPr>
              <a:spLocks noChangeAspect="1"/>
            </p:cNvSpPr>
            <p:nvPr/>
          </p:nvSpPr>
          <p:spPr>
            <a:xfrm>
              <a:off x="2474225" y="379293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3" name="Oval 3782"/>
            <p:cNvSpPr>
              <a:spLocks noChangeAspect="1"/>
            </p:cNvSpPr>
            <p:nvPr/>
          </p:nvSpPr>
          <p:spPr>
            <a:xfrm>
              <a:off x="2019300" y="349553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4" name="Oval 3783"/>
            <p:cNvSpPr>
              <a:spLocks noChangeAspect="1"/>
            </p:cNvSpPr>
            <p:nvPr/>
          </p:nvSpPr>
          <p:spPr>
            <a:xfrm>
              <a:off x="3238500" y="29274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5" name="Oval 3784"/>
            <p:cNvSpPr>
              <a:spLocks noChangeAspect="1"/>
            </p:cNvSpPr>
            <p:nvPr/>
          </p:nvSpPr>
          <p:spPr>
            <a:xfrm>
              <a:off x="7186684" y="327034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6" name="Oval 3785"/>
            <p:cNvSpPr>
              <a:spLocks noChangeAspect="1"/>
            </p:cNvSpPr>
            <p:nvPr/>
          </p:nvSpPr>
          <p:spPr>
            <a:xfrm>
              <a:off x="7772400" y="296326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7" name="Oval 3786"/>
            <p:cNvSpPr>
              <a:spLocks noChangeAspect="1"/>
            </p:cNvSpPr>
            <p:nvPr/>
          </p:nvSpPr>
          <p:spPr>
            <a:xfrm>
              <a:off x="6019800" y="296497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8" name="Oval 3787"/>
            <p:cNvSpPr>
              <a:spLocks noChangeAspect="1"/>
            </p:cNvSpPr>
            <p:nvPr/>
          </p:nvSpPr>
          <p:spPr>
            <a:xfrm>
              <a:off x="6819900" y="28330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9" name="Oval 3788"/>
            <p:cNvSpPr>
              <a:spLocks noChangeAspect="1"/>
            </p:cNvSpPr>
            <p:nvPr/>
          </p:nvSpPr>
          <p:spPr>
            <a:xfrm>
              <a:off x="6515100" y="31560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0" name="Oval 3789"/>
            <p:cNvSpPr>
              <a:spLocks noChangeAspect="1"/>
            </p:cNvSpPr>
            <p:nvPr/>
          </p:nvSpPr>
          <p:spPr>
            <a:xfrm>
              <a:off x="55245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1" name="Oval 3790"/>
            <p:cNvSpPr>
              <a:spLocks noChangeAspect="1"/>
            </p:cNvSpPr>
            <p:nvPr/>
          </p:nvSpPr>
          <p:spPr>
            <a:xfrm>
              <a:off x="4991100" y="29473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2" name="Oval 3791"/>
            <p:cNvSpPr>
              <a:spLocks noChangeAspect="1"/>
            </p:cNvSpPr>
            <p:nvPr/>
          </p:nvSpPr>
          <p:spPr>
            <a:xfrm>
              <a:off x="4381500" y="292744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3" name="Oval 3792"/>
            <p:cNvSpPr>
              <a:spLocks noChangeAspect="1"/>
            </p:cNvSpPr>
            <p:nvPr/>
          </p:nvSpPr>
          <p:spPr>
            <a:xfrm>
              <a:off x="3771900" y="29473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4" name="Oval 3793"/>
            <p:cNvSpPr>
              <a:spLocks noChangeAspect="1"/>
            </p:cNvSpPr>
            <p:nvPr/>
          </p:nvSpPr>
          <p:spPr>
            <a:xfrm>
              <a:off x="1894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5" name="Oval 3794"/>
            <p:cNvSpPr>
              <a:spLocks noChangeAspect="1"/>
            </p:cNvSpPr>
            <p:nvPr/>
          </p:nvSpPr>
          <p:spPr>
            <a:xfrm>
              <a:off x="5842948" y="46663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6" name="Oval 3795"/>
            <p:cNvSpPr>
              <a:spLocks noChangeAspect="1"/>
            </p:cNvSpPr>
            <p:nvPr/>
          </p:nvSpPr>
          <p:spPr>
            <a:xfrm>
              <a:off x="6428664" y="43593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7" name="Oval 3796"/>
            <p:cNvSpPr>
              <a:spLocks noChangeAspect="1"/>
            </p:cNvSpPr>
            <p:nvPr/>
          </p:nvSpPr>
          <p:spPr>
            <a:xfrm>
              <a:off x="1986318" y="306164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8" name="Oval 3797"/>
            <p:cNvSpPr>
              <a:spLocks noChangeAspect="1"/>
            </p:cNvSpPr>
            <p:nvPr/>
          </p:nvSpPr>
          <p:spPr>
            <a:xfrm>
              <a:off x="5476164" y="42291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9" name="Oval 3798"/>
            <p:cNvSpPr>
              <a:spLocks noChangeAspect="1"/>
            </p:cNvSpPr>
            <p:nvPr/>
          </p:nvSpPr>
          <p:spPr>
            <a:xfrm>
              <a:off x="5171364" y="45520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0" name="Oval 3799"/>
            <p:cNvSpPr>
              <a:spLocks noChangeAspect="1"/>
            </p:cNvSpPr>
            <p:nvPr/>
          </p:nvSpPr>
          <p:spPr>
            <a:xfrm>
              <a:off x="4180764" y="434340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1" name="Oval 3800"/>
            <p:cNvSpPr>
              <a:spLocks noChangeAspect="1"/>
            </p:cNvSpPr>
            <p:nvPr/>
          </p:nvSpPr>
          <p:spPr>
            <a:xfrm>
              <a:off x="36473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2" name="Oval 3801"/>
            <p:cNvSpPr>
              <a:spLocks noChangeAspect="1"/>
            </p:cNvSpPr>
            <p:nvPr/>
          </p:nvSpPr>
          <p:spPr>
            <a:xfrm>
              <a:off x="3037764" y="432349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3" name="Oval 3802"/>
            <p:cNvSpPr>
              <a:spLocks noChangeAspect="1"/>
            </p:cNvSpPr>
            <p:nvPr/>
          </p:nvSpPr>
          <p:spPr>
            <a:xfrm>
              <a:off x="2428164" y="43434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4" name="Oval 3803"/>
            <p:cNvSpPr>
              <a:spLocks noChangeAspect="1"/>
            </p:cNvSpPr>
            <p:nvPr/>
          </p:nvSpPr>
          <p:spPr>
            <a:xfrm>
              <a:off x="2287137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5" name="Oval 3804"/>
            <p:cNvSpPr>
              <a:spLocks noChangeAspect="1"/>
            </p:cNvSpPr>
            <p:nvPr/>
          </p:nvSpPr>
          <p:spPr>
            <a:xfrm>
              <a:off x="7514230" y="601126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6" name="Oval 3805"/>
            <p:cNvSpPr>
              <a:spLocks noChangeAspect="1"/>
            </p:cNvSpPr>
            <p:nvPr/>
          </p:nvSpPr>
          <p:spPr>
            <a:xfrm>
              <a:off x="7924800" y="51616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7" name="Oval 3806"/>
            <p:cNvSpPr>
              <a:spLocks noChangeAspect="1"/>
            </p:cNvSpPr>
            <p:nvPr/>
          </p:nvSpPr>
          <p:spPr>
            <a:xfrm>
              <a:off x="6286500" y="5869105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8" name="Oval 3807"/>
            <p:cNvSpPr>
              <a:spLocks noChangeAspect="1"/>
            </p:cNvSpPr>
            <p:nvPr/>
          </p:nvSpPr>
          <p:spPr>
            <a:xfrm>
              <a:off x="7200900" y="51378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9" name="Oval 3808"/>
            <p:cNvSpPr>
              <a:spLocks noChangeAspect="1"/>
            </p:cNvSpPr>
            <p:nvPr/>
          </p:nvSpPr>
          <p:spPr>
            <a:xfrm>
              <a:off x="6781800" y="60601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0" name="Oval 3809"/>
            <p:cNvSpPr>
              <a:spLocks noChangeAspect="1"/>
            </p:cNvSpPr>
            <p:nvPr/>
          </p:nvSpPr>
          <p:spPr>
            <a:xfrm>
              <a:off x="5791200" y="585147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1" name="Oval 3810"/>
            <p:cNvSpPr>
              <a:spLocks noChangeAspect="1"/>
            </p:cNvSpPr>
            <p:nvPr/>
          </p:nvSpPr>
          <p:spPr>
            <a:xfrm>
              <a:off x="5257800" y="585147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2" name="Oval 3811"/>
            <p:cNvSpPr>
              <a:spLocks noChangeAspect="1"/>
            </p:cNvSpPr>
            <p:nvPr/>
          </p:nvSpPr>
          <p:spPr>
            <a:xfrm>
              <a:off x="4648200" y="583157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3" name="Oval 3812"/>
            <p:cNvSpPr>
              <a:spLocks noChangeAspect="1"/>
            </p:cNvSpPr>
            <p:nvPr/>
          </p:nvSpPr>
          <p:spPr>
            <a:xfrm>
              <a:off x="3575713" y="5945874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4" name="Oval 3813"/>
            <p:cNvSpPr>
              <a:spLocks noChangeAspect="1"/>
            </p:cNvSpPr>
            <p:nvPr/>
          </p:nvSpPr>
          <p:spPr>
            <a:xfrm>
              <a:off x="3547849" y="379976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5" name="Oval 3814"/>
            <p:cNvSpPr>
              <a:spLocks noChangeAspect="1"/>
            </p:cNvSpPr>
            <p:nvPr/>
          </p:nvSpPr>
          <p:spPr>
            <a:xfrm>
              <a:off x="7742830" y="434738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6" name="Oval 3815"/>
            <p:cNvSpPr>
              <a:spLocks noChangeAspect="1"/>
            </p:cNvSpPr>
            <p:nvPr/>
          </p:nvSpPr>
          <p:spPr>
            <a:xfrm>
              <a:off x="7772400" y="349553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7" name="Oval 3816"/>
            <p:cNvSpPr>
              <a:spLocks noChangeAspect="1"/>
            </p:cNvSpPr>
            <p:nvPr/>
          </p:nvSpPr>
          <p:spPr>
            <a:xfrm>
              <a:off x="6575946" y="4042011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8" name="Oval 3817"/>
            <p:cNvSpPr>
              <a:spLocks noChangeAspect="1"/>
            </p:cNvSpPr>
            <p:nvPr/>
          </p:nvSpPr>
          <p:spPr>
            <a:xfrm>
              <a:off x="7376046" y="39100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9" name="Oval 3818"/>
            <p:cNvSpPr>
              <a:spLocks noChangeAspect="1"/>
            </p:cNvSpPr>
            <p:nvPr/>
          </p:nvSpPr>
          <p:spPr>
            <a:xfrm>
              <a:off x="7071246" y="42330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0" name="Oval 3819"/>
            <p:cNvSpPr>
              <a:spLocks noChangeAspect="1"/>
            </p:cNvSpPr>
            <p:nvPr/>
          </p:nvSpPr>
          <p:spPr>
            <a:xfrm>
              <a:off x="6080646" y="4024383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1" name="Oval 3820"/>
            <p:cNvSpPr>
              <a:spLocks noChangeAspect="1"/>
            </p:cNvSpPr>
            <p:nvPr/>
          </p:nvSpPr>
          <p:spPr>
            <a:xfrm>
              <a:off x="6690246" y="3740054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2" name="Oval 3821"/>
            <p:cNvSpPr>
              <a:spLocks noChangeAspect="1"/>
            </p:cNvSpPr>
            <p:nvPr/>
          </p:nvSpPr>
          <p:spPr>
            <a:xfrm>
              <a:off x="4937646" y="400448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3" name="Oval 3822"/>
            <p:cNvSpPr>
              <a:spLocks noChangeAspect="1"/>
            </p:cNvSpPr>
            <p:nvPr/>
          </p:nvSpPr>
          <p:spPr>
            <a:xfrm>
              <a:off x="4328046" y="4024383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4" name="Oval 3823"/>
            <p:cNvSpPr>
              <a:spLocks noChangeAspect="1"/>
            </p:cNvSpPr>
            <p:nvPr/>
          </p:nvSpPr>
          <p:spPr>
            <a:xfrm>
              <a:off x="1550727" y="404712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5" name="Oval 3824"/>
            <p:cNvSpPr>
              <a:spLocks noChangeAspect="1"/>
            </p:cNvSpPr>
            <p:nvPr/>
          </p:nvSpPr>
          <p:spPr>
            <a:xfrm>
              <a:off x="5129284" y="50331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6" name="Oval 3825"/>
            <p:cNvSpPr>
              <a:spLocks noChangeAspect="1"/>
            </p:cNvSpPr>
            <p:nvPr/>
          </p:nvSpPr>
          <p:spPr>
            <a:xfrm>
              <a:off x="6743700" y="472781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7" name="Oval 3826"/>
            <p:cNvSpPr>
              <a:spLocks noChangeAspect="1"/>
            </p:cNvSpPr>
            <p:nvPr/>
          </p:nvSpPr>
          <p:spPr>
            <a:xfrm>
              <a:off x="3962400" y="4727810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8" name="Oval 3827"/>
            <p:cNvSpPr>
              <a:spLocks noChangeAspect="1"/>
            </p:cNvSpPr>
            <p:nvPr/>
          </p:nvSpPr>
          <p:spPr>
            <a:xfrm>
              <a:off x="4762500" y="45958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9" name="Oval 3828"/>
            <p:cNvSpPr>
              <a:spLocks noChangeAspect="1"/>
            </p:cNvSpPr>
            <p:nvPr/>
          </p:nvSpPr>
          <p:spPr>
            <a:xfrm>
              <a:off x="4457700" y="491887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0" name="Oval 3829"/>
            <p:cNvSpPr>
              <a:spLocks noChangeAspect="1"/>
            </p:cNvSpPr>
            <p:nvPr/>
          </p:nvSpPr>
          <p:spPr>
            <a:xfrm>
              <a:off x="34671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1" name="Oval 3830"/>
            <p:cNvSpPr>
              <a:spLocks noChangeAspect="1"/>
            </p:cNvSpPr>
            <p:nvPr/>
          </p:nvSpPr>
          <p:spPr>
            <a:xfrm>
              <a:off x="2933700" y="471018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2" name="Oval 3831"/>
            <p:cNvSpPr>
              <a:spLocks noChangeAspect="1"/>
            </p:cNvSpPr>
            <p:nvPr/>
          </p:nvSpPr>
          <p:spPr>
            <a:xfrm>
              <a:off x="2324100" y="469027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3" name="Oval 3832"/>
            <p:cNvSpPr>
              <a:spLocks noChangeAspect="1"/>
            </p:cNvSpPr>
            <p:nvPr/>
          </p:nvSpPr>
          <p:spPr>
            <a:xfrm>
              <a:off x="1714500" y="471018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4" name="Oval 3833"/>
            <p:cNvSpPr>
              <a:spLocks noChangeAspect="1"/>
            </p:cNvSpPr>
            <p:nvPr/>
          </p:nvSpPr>
          <p:spPr>
            <a:xfrm>
              <a:off x="1576885" y="5529616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5" name="Oval 3834"/>
            <p:cNvSpPr>
              <a:spLocks noChangeAspect="1"/>
            </p:cNvSpPr>
            <p:nvPr/>
          </p:nvSpPr>
          <p:spPr>
            <a:xfrm>
              <a:off x="5525069" y="561889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6" name="Oval 3835"/>
            <p:cNvSpPr>
              <a:spLocks noChangeAspect="1"/>
            </p:cNvSpPr>
            <p:nvPr/>
          </p:nvSpPr>
          <p:spPr>
            <a:xfrm>
              <a:off x="7147446" y="5543262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7" name="Oval 3836"/>
            <p:cNvSpPr>
              <a:spLocks noChangeAspect="1"/>
            </p:cNvSpPr>
            <p:nvPr/>
          </p:nvSpPr>
          <p:spPr>
            <a:xfrm>
              <a:off x="4358185" y="5567147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8" name="Oval 3837"/>
            <p:cNvSpPr>
              <a:spLocks noChangeAspect="1"/>
            </p:cNvSpPr>
            <p:nvPr/>
          </p:nvSpPr>
          <p:spPr>
            <a:xfrm>
              <a:off x="2933700" y="382592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9" name="Oval 3838"/>
            <p:cNvSpPr>
              <a:spLocks noChangeAspect="1"/>
            </p:cNvSpPr>
            <p:nvPr/>
          </p:nvSpPr>
          <p:spPr>
            <a:xfrm>
              <a:off x="4853485" y="5593305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0" name="Oval 3839"/>
            <p:cNvSpPr>
              <a:spLocks noChangeAspect="1"/>
            </p:cNvSpPr>
            <p:nvPr/>
          </p:nvSpPr>
          <p:spPr>
            <a:xfrm>
              <a:off x="3862885" y="5549519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1" name="Oval 3840"/>
            <p:cNvSpPr>
              <a:spLocks noChangeAspect="1"/>
            </p:cNvSpPr>
            <p:nvPr/>
          </p:nvSpPr>
          <p:spPr>
            <a:xfrm>
              <a:off x="33294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2" name="Oval 3841"/>
            <p:cNvSpPr>
              <a:spLocks noChangeAspect="1"/>
            </p:cNvSpPr>
            <p:nvPr/>
          </p:nvSpPr>
          <p:spPr>
            <a:xfrm>
              <a:off x="2719885" y="5529616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3" name="Oval 3842"/>
            <p:cNvSpPr>
              <a:spLocks noChangeAspect="1"/>
            </p:cNvSpPr>
            <p:nvPr/>
          </p:nvSpPr>
          <p:spPr>
            <a:xfrm>
              <a:off x="2110285" y="5549519"/>
              <a:ext cx="228600" cy="228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981200" y="274320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Sample repeatedly from this “population”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576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78261E-6 C -0.00208 -0.01063 -0.00486 -0.02081 -0.00642 -0.03122 C -0.00712 -0.037 -0.00712 -0.0444 -0.00972 -0.05018 C -0.01319 -0.05781 -0.0125 -0.05319 -0.01771 -0.06059 C -0.02257 -0.06729 -0.02396 -0.07469 -0.03038 -0.07932 C -0.03281 -0.08695 -0.03663 -0.08649 -0.04306 -0.09135 C -0.04757 -0.09944 -0.05174 -0.10245 -0.05764 -0.10869 C -0.06024 -0.1147 -0.06111 -0.12002 -0.06563 -0.12442 C -0.06719 -0.1302 -0.06944 -0.13367 -0.07344 -0.13806 C -0.07552 -0.14454 -0.0776 -0.14639 -0.08299 -0.15032 C -0.08802 -0.15818 -0.0934 -0.1642 -0.10208 -0.16743 C -0.10608 -0.17923 -0.10035 -0.16512 -0.11007 -0.17599 C -0.12135 -0.18871 -0.10035 -0.179 -0.12465 -0.1864 C -0.12604 -0.18755 -0.1276 -0.18871 -0.12917 -0.18963 C -0.13125 -0.19125 -0.13368 -0.19195 -0.13576 -0.19333 C -0.14115 -0.19703 -0.14479 -0.20189 -0.15 -0.20536 C -0.15642 -0.21947 -0.14809 -0.20629 -0.16285 -0.21392 C -0.16545 -0.21554 -0.16667 -0.21877 -0.1691 -0.22086 C -0.17101 -0.22247 -0.17344 -0.22317 -0.17552 -0.22432 C -0.17743 -0.22826 -0.17743 -0.23334 -0.18021 -0.23658 C -0.18698 -0.24375 -0.19861 -0.24838 -0.20747 -0.25023 C -0.20799 -0.25254 -0.20764 -0.25531 -0.20903 -0.25716 C -0.21007 -0.25855 -0.21233 -0.25786 -0.21389 -0.25878 C -0.2151 -0.25948 -0.21545 -0.26179 -0.21701 -0.26248 C -0.22135 -0.26457 -0.22674 -0.2641 -0.23142 -0.26572 C -0.23455 -0.26688 -0.24097 -0.26919 -0.24097 -0.26896 C -0.24896 -0.27775 -0.25451 -0.27335 -0.26337 -0.28122 C -0.26806 -0.28515 -0.2724 -0.28977 -0.27604 -0.29509 C -0.27726 -0.29717 -0.27743 -0.30041 -0.27934 -0.30203 C -0.2809 -0.30342 -0.28351 -0.30319 -0.28559 -0.30365 C -0.28767 -0.31313 -0.28941 -0.31128 -0.29514 -0.31753 C -0.29792 -0.32053 -0.29879 -0.32469 -0.30156 -0.3277 C -0.31337 -0.34065 -0.33142 -0.34574 -0.34774 -0.34852 C -0.35538 -0.35129 -0.36198 -0.35245 -0.37014 -0.3536 C -0.37292 -0.35568 -0.375 -0.35915 -0.37813 -0.36077 C -0.38004 -0.3617 -0.38247 -0.3617 -0.38455 -0.36239 C -0.38611 -0.36285 -0.38924 -0.36401 -0.38924 -0.36401 " pathEditMode="relative" rAng="0" ptsTypes="ffffffffffffffffffffffffffffffffffff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62" y="-182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75138" y="1828800"/>
            <a:ext cx="3429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33400" y="381000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Suppose we have a random sample of 6 people: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94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438400"/>
            <a:ext cx="1447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52400" y="43434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Original Sample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3041" y="228600"/>
            <a:ext cx="6362700" cy="5264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349254" y="5640280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simulated “population” to sample from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508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00"/>
            <a:ext cx="91440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To simulate a sampling distribution, we can just take repeated random samples from this “population” made up of many copies of the sample</a:t>
            </a:r>
          </a:p>
          <a:p>
            <a:pPr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In practice, rather than actually making many copies of the sample and sampling from that…</a:t>
            </a:r>
          </a:p>
          <a:p>
            <a:pPr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… we can obtain equivalent results by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sampling </a:t>
            </a:r>
            <a:r>
              <a:rPr lang="en-US" sz="3200" b="1" i="1" dirty="0">
                <a:solidFill>
                  <a:schemeClr val="accent5">
                    <a:lumMod val="50000"/>
                  </a:schemeClr>
                </a:solidFill>
              </a:rPr>
              <a:t>with replacement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from the sample we have. (Thus, each unit can be selected more than once.)</a:t>
            </a:r>
          </a:p>
          <a:p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76200" y="152400"/>
            <a:ext cx="89916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Sampling with Replacement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2209800"/>
            <a:ext cx="2514600" cy="301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33400" y="381000"/>
            <a:ext cx="8001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Bootstrap Sample</a:t>
            </a:r>
            <a:r>
              <a:rPr lang="en-US" sz="4000" dirty="0"/>
              <a:t>:  </a:t>
            </a:r>
            <a:r>
              <a:rPr lang="en-US" sz="3200" dirty="0"/>
              <a:t>Sample with replacement from the original sample, using the same sample size.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4102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Original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5410200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Bootstrap  Sample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895600" y="3581400"/>
            <a:ext cx="1371600" cy="158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19600" y="2514600"/>
            <a:ext cx="742950" cy="1266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57800" y="2514599"/>
            <a:ext cx="838200" cy="1238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2514600"/>
            <a:ext cx="742950" cy="1266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91000" y="3886200"/>
            <a:ext cx="106577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77000" y="3886200"/>
            <a:ext cx="752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34000" y="3886200"/>
            <a:ext cx="106577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954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Bootstrap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8382000" cy="16002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bootstrap sample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is a random sample taken with replacement from the original sample, that is of the same size as the original sample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3962400"/>
            <a:ext cx="8382000" cy="1162878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bootstrap statistic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/>
              <a:t>is the statistic computed on a bootstrap sample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5486400"/>
            <a:ext cx="8382000" cy="10668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bootstrap distribution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is the distribution of many bootstrap statistics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904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52400" y="2590800"/>
            <a:ext cx="1828800" cy="1295400"/>
          </a:xfrm>
          <a:prstGeom prst="roundRect">
            <a:avLst/>
          </a:prstGeom>
          <a:solidFill>
            <a:srgbClr val="FFE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Original 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2200" y="381000"/>
            <a:ext cx="1828800" cy="1295400"/>
          </a:xfrm>
          <a:prstGeom prst="roundRect">
            <a:avLst/>
          </a:prstGeom>
          <a:solidFill>
            <a:srgbClr val="FFE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BootstrapSample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/>
          <p:cNvCxnSpPr>
            <a:stCxn id="7" idx="3"/>
            <a:endCxn id="8" idx="1"/>
          </p:cNvCxnSpPr>
          <p:nvPr/>
        </p:nvCxnSpPr>
        <p:spPr>
          <a:xfrm flipV="1">
            <a:off x="1981200" y="1028700"/>
            <a:ext cx="381000" cy="2209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62200" y="1828800"/>
            <a:ext cx="1828800" cy="1295400"/>
          </a:xfrm>
          <a:prstGeom prst="roundRect">
            <a:avLst/>
          </a:prstGeom>
          <a:solidFill>
            <a:srgbClr val="FFE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BootstrapSample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2" name="Straight Arrow Connector 11"/>
          <p:cNvCxnSpPr>
            <a:stCxn id="7" idx="3"/>
            <a:endCxn id="11" idx="1"/>
          </p:cNvCxnSpPr>
          <p:nvPr/>
        </p:nvCxnSpPr>
        <p:spPr>
          <a:xfrm flipV="1">
            <a:off x="1981200" y="2476500"/>
            <a:ext cx="381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38400" y="5029200"/>
            <a:ext cx="1828800" cy="1295400"/>
          </a:xfrm>
          <a:prstGeom prst="roundRect">
            <a:avLst/>
          </a:prstGeom>
          <a:solidFill>
            <a:srgbClr val="FFE4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BootstrapSample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6" name="Straight Arrow Connector 15"/>
          <p:cNvCxnSpPr>
            <a:stCxn id="7" idx="3"/>
            <a:endCxn id="15" idx="1"/>
          </p:cNvCxnSpPr>
          <p:nvPr/>
        </p:nvCxnSpPr>
        <p:spPr>
          <a:xfrm>
            <a:off x="1981200" y="3238500"/>
            <a:ext cx="457200" cy="2438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3339405"/>
            <a:ext cx="114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9600" y="6096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Bootstrap Statistic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20" y="42672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Sample Statistic</a:t>
            </a:r>
          </a:p>
        </p:txBody>
      </p:sp>
      <p:cxnSp>
        <p:nvCxnSpPr>
          <p:cNvPr id="23" name="Straight Arrow Connector 22"/>
          <p:cNvCxnSpPr>
            <a:stCxn id="7" idx="2"/>
            <a:endCxn id="21" idx="0"/>
          </p:cNvCxnSpPr>
          <p:nvPr/>
        </p:nvCxnSpPr>
        <p:spPr>
          <a:xfrm>
            <a:off x="1066800" y="3886200"/>
            <a:ext cx="762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3"/>
            <a:endCxn id="20" idx="1"/>
          </p:cNvCxnSpPr>
          <p:nvPr/>
        </p:nvCxnSpPr>
        <p:spPr>
          <a:xfrm>
            <a:off x="4191000" y="1028700"/>
            <a:ext cx="2286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419600" y="19812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Bootstrap Statistic</a:t>
            </a:r>
          </a:p>
        </p:txBody>
      </p:sp>
      <p:cxnSp>
        <p:nvCxnSpPr>
          <p:cNvPr id="28" name="Straight Arrow Connector 27"/>
          <p:cNvCxnSpPr>
            <a:stCxn id="11" idx="3"/>
            <a:endCxn id="27" idx="1"/>
          </p:cNvCxnSpPr>
          <p:nvPr/>
        </p:nvCxnSpPr>
        <p:spPr>
          <a:xfrm flipV="1">
            <a:off x="4191000" y="2438400"/>
            <a:ext cx="2286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72000" y="52578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Bootstrap Statistic</a:t>
            </a:r>
          </a:p>
        </p:txBody>
      </p:sp>
      <p:cxnSp>
        <p:nvCxnSpPr>
          <p:cNvPr id="30" name="Straight Arrow Connector 29"/>
          <p:cNvCxnSpPr>
            <a:stCxn id="15" idx="3"/>
            <a:endCxn id="29" idx="1"/>
          </p:cNvCxnSpPr>
          <p:nvPr/>
        </p:nvCxnSpPr>
        <p:spPr>
          <a:xfrm>
            <a:off x="4267200" y="5676900"/>
            <a:ext cx="304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05400" y="3276600"/>
            <a:ext cx="114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.</a:t>
            </a:r>
          </a:p>
        </p:txBody>
      </p:sp>
      <p:sp>
        <p:nvSpPr>
          <p:cNvPr id="32" name="Oval 31"/>
          <p:cNvSpPr/>
          <p:nvPr/>
        </p:nvSpPr>
        <p:spPr>
          <a:xfrm>
            <a:off x="6477000" y="2743200"/>
            <a:ext cx="2590800" cy="1295400"/>
          </a:xfrm>
          <a:prstGeom prst="ellipse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700" dirty="0">
                <a:solidFill>
                  <a:schemeClr val="tx1">
                    <a:lumMod val="75000"/>
                  </a:schemeClr>
                </a:solidFill>
              </a:rPr>
              <a:t>Bootstrap Distribution</a:t>
            </a:r>
          </a:p>
        </p:txBody>
      </p:sp>
      <p:cxnSp>
        <p:nvCxnSpPr>
          <p:cNvPr id="41" name="Straight Arrow Connector 40"/>
          <p:cNvCxnSpPr>
            <a:stCxn id="20" idx="3"/>
            <a:endCxn id="32" idx="2"/>
          </p:cNvCxnSpPr>
          <p:nvPr/>
        </p:nvCxnSpPr>
        <p:spPr>
          <a:xfrm>
            <a:off x="6172200" y="1066800"/>
            <a:ext cx="304800" cy="2324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32" idx="2"/>
          </p:cNvCxnSpPr>
          <p:nvPr/>
        </p:nvCxnSpPr>
        <p:spPr>
          <a:xfrm>
            <a:off x="6172200" y="2438400"/>
            <a:ext cx="304800" cy="952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9" idx="3"/>
            <a:endCxn id="32" idx="2"/>
          </p:cNvCxnSpPr>
          <p:nvPr/>
        </p:nvCxnSpPr>
        <p:spPr>
          <a:xfrm flipV="1">
            <a:off x="6324600" y="3390900"/>
            <a:ext cx="152400" cy="2324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6486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  <p:bldP spid="19" grpId="0"/>
      <p:bldP spid="20" grpId="0" animBg="1"/>
      <p:bldP spid="21" grpId="0" animBg="1"/>
      <p:bldP spid="27" grpId="0" animBg="1"/>
      <p:bldP spid="29" grpId="0" animBg="1"/>
      <p:bldP spid="31" grpId="0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/>
          <p:cNvSpPr txBox="1">
            <a:spLocks/>
          </p:cNvSpPr>
          <p:nvPr/>
        </p:nvSpPr>
        <p:spPr>
          <a:xfrm>
            <a:off x="0" y="3886200"/>
            <a:ext cx="5257800" cy="2976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 marR="0" lvl="0" indent="-5715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kern="0" dirty="0">
              <a:solidFill>
                <a:srgbClr val="000000"/>
              </a:solidFill>
            </a:endParaRPr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25940" y="0"/>
            <a:ext cx="9118060" cy="388620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dirty="0"/>
              <a:t>Your original sample has data values </a:t>
            </a:r>
            <a:br>
              <a:rPr lang="en-US" dirty="0"/>
            </a:br>
            <a:r>
              <a:rPr lang="en-US" dirty="0"/>
              <a:t>18, 19, 19, 20, 21</a:t>
            </a:r>
            <a:br>
              <a:rPr lang="en-US" dirty="0"/>
            </a:br>
            <a:r>
              <a:rPr lang="en-US" dirty="0"/>
              <a:t>Is the following a possible bootstrap sample?</a:t>
            </a:r>
            <a:br>
              <a:rPr lang="en-US" dirty="0"/>
            </a:br>
            <a:r>
              <a:rPr lang="en-US" dirty="0"/>
              <a:t>18, 19, 20, 21, 22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-37289" y="4114800"/>
            <a:ext cx="4419600" cy="2743200"/>
          </a:xfrm>
        </p:spPr>
        <p:txBody>
          <a:bodyPr>
            <a:noAutofit/>
          </a:bodyPr>
          <a:lstStyle/>
          <a:p>
            <a:pPr marL="914400" lvl="0" indent="-571500">
              <a:spcBef>
                <a:spcPct val="20000"/>
              </a:spcBef>
              <a:buClrTx/>
              <a:buSzTx/>
              <a:buFont typeface="+mj-lt"/>
              <a:buAutoNum type="alphaLcPeriod"/>
              <a:defRPr/>
            </a:pPr>
            <a:r>
              <a:rPr lang="en-US" sz="3000" kern="0" dirty="0">
                <a:solidFill>
                  <a:srgbClr val="000000"/>
                </a:solidFill>
              </a:rPr>
              <a:t>Yes</a:t>
            </a:r>
          </a:p>
          <a:p>
            <a:pPr marL="914400" lvl="0" indent="-571500">
              <a:spcBef>
                <a:spcPct val="20000"/>
              </a:spcBef>
              <a:buClrTx/>
              <a:buSzTx/>
              <a:buFont typeface="+mj-lt"/>
              <a:buAutoNum type="alphaLcPeriod"/>
              <a:defRPr/>
            </a:pPr>
            <a:r>
              <a:rPr lang="en-US" sz="3000" kern="0" dirty="0">
                <a:solidFill>
                  <a:srgbClr val="000000"/>
                </a:solidFill>
              </a:rPr>
              <a:t>No</a:t>
            </a:r>
            <a:endParaRPr lang="en-US" sz="3000" i="1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59068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3581400"/>
          </a:xfrm>
        </p:spPr>
        <p:txBody>
          <a:bodyPr>
            <a:normAutofit/>
          </a:bodyPr>
          <a:lstStyle/>
          <a:p>
            <a:r>
              <a:rPr lang="en-US" dirty="0"/>
              <a:t>Your original sample has data values   18, 19, 19, 20, 21  </a:t>
            </a:r>
            <a:br>
              <a:rPr lang="en-US" dirty="0"/>
            </a:br>
            <a:r>
              <a:rPr lang="en-US" dirty="0"/>
              <a:t>Is the following a possible bootstrap sample?  </a:t>
            </a:r>
            <a:br>
              <a:rPr lang="en-US" dirty="0"/>
            </a:br>
            <a:r>
              <a:rPr lang="en-US" dirty="0"/>
              <a:t>18, 19, 20, 21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-25940" y="4022599"/>
            <a:ext cx="3124200" cy="1600200"/>
          </a:xfrm>
        </p:spPr>
        <p:txBody>
          <a:bodyPr>
            <a:noAutofit/>
          </a:bodyPr>
          <a:lstStyle/>
          <a:p>
            <a:pPr marL="914400" lvl="0" indent="-571500">
              <a:spcBef>
                <a:spcPct val="20000"/>
              </a:spcBef>
              <a:buClrTx/>
              <a:buSzTx/>
              <a:buFont typeface="+mj-lt"/>
              <a:buAutoNum type="alphaLcPeriod"/>
              <a:defRPr/>
            </a:pPr>
            <a:r>
              <a:rPr lang="en-US" sz="3200" kern="0" dirty="0">
                <a:solidFill>
                  <a:srgbClr val="000000"/>
                </a:solidFill>
              </a:rPr>
              <a:t>Yes</a:t>
            </a:r>
          </a:p>
          <a:p>
            <a:pPr marL="914400" lvl="0" indent="-571500">
              <a:spcBef>
                <a:spcPct val="20000"/>
              </a:spcBef>
              <a:buClrTx/>
              <a:buSzTx/>
              <a:buFont typeface="+mj-lt"/>
              <a:buAutoNum type="alphaLcPeriod"/>
              <a:defRPr/>
            </a:pPr>
            <a:r>
              <a:rPr lang="en-US" sz="3200" kern="0" dirty="0">
                <a:solidFill>
                  <a:srgbClr val="000000"/>
                </a:solidFill>
              </a:rPr>
              <a:t>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22231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4591"/>
            <a:ext cx="9144000" cy="4024010"/>
          </a:xfrm>
        </p:spPr>
        <p:txBody>
          <a:bodyPr>
            <a:normAutofit/>
          </a:bodyPr>
          <a:lstStyle/>
          <a:p>
            <a:pPr lvl="0" indent="-514350">
              <a:spcBef>
                <a:spcPts val="0"/>
              </a:spcBef>
              <a:defRPr/>
            </a:pPr>
            <a:r>
              <a:rPr lang="en-US" dirty="0"/>
              <a:t>Your original sample has data values </a:t>
            </a:r>
            <a:br>
              <a:rPr lang="en-US" dirty="0"/>
            </a:br>
            <a:r>
              <a:rPr lang="en-US" dirty="0"/>
              <a:t>18, 19, 19, 20, 21</a:t>
            </a:r>
            <a:br>
              <a:rPr lang="en-US" dirty="0"/>
            </a:br>
            <a:r>
              <a:rPr lang="en-US" dirty="0"/>
              <a:t>Is the following a possible bootstrap sample?</a:t>
            </a:r>
            <a:br>
              <a:rPr lang="en-US" dirty="0"/>
            </a:br>
            <a:r>
              <a:rPr lang="en-US" dirty="0"/>
              <a:t>18, 18, 19, 20, 21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4343400"/>
            <a:ext cx="4249738" cy="2514600"/>
          </a:xfrm>
        </p:spPr>
        <p:txBody>
          <a:bodyPr>
            <a:noAutofit/>
          </a:bodyPr>
          <a:lstStyle/>
          <a:p>
            <a:pPr marL="914400" lvl="0" indent="-571500">
              <a:spcBef>
                <a:spcPct val="20000"/>
              </a:spcBef>
              <a:buClrTx/>
              <a:buSzTx/>
              <a:buFont typeface="+mj-lt"/>
              <a:buAutoNum type="alphaLcPeriod"/>
              <a:defRPr/>
            </a:pPr>
            <a:r>
              <a:rPr lang="en-US" sz="2800" kern="0" dirty="0">
                <a:solidFill>
                  <a:srgbClr val="000000"/>
                </a:solidFill>
              </a:rPr>
              <a:t>Yes</a:t>
            </a:r>
          </a:p>
          <a:p>
            <a:pPr marL="914400" lvl="0" indent="-571500">
              <a:spcBef>
                <a:spcPct val="20000"/>
              </a:spcBef>
              <a:buClrTx/>
              <a:buSzTx/>
              <a:buFont typeface="+mj-lt"/>
              <a:buAutoNum type="alphaLcPeriod"/>
              <a:defRPr/>
            </a:pPr>
            <a:r>
              <a:rPr lang="en-US" sz="2800" kern="0" dirty="0">
                <a:solidFill>
                  <a:srgbClr val="000000"/>
                </a:solidFill>
              </a:rPr>
              <a:t>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747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3048000"/>
          </a:xfrm>
        </p:spPr>
        <p:txBody>
          <a:bodyPr>
            <a:normAutofit/>
          </a:bodyPr>
          <a:lstStyle/>
          <a:p>
            <a:r>
              <a:rPr lang="en-US" sz="3600" dirty="0"/>
              <a:t>You have a sample of size </a:t>
            </a:r>
            <a:r>
              <a:rPr lang="en-US" sz="3600" i="1" dirty="0"/>
              <a:t>n</a:t>
            </a:r>
            <a:r>
              <a:rPr lang="en-US" sz="3600" dirty="0"/>
              <a:t> = 50.  You sample with replacement 1000 times to get 1000 bootstrap samples.</a:t>
            </a:r>
            <a:br>
              <a:rPr lang="en-US" sz="3600" dirty="0"/>
            </a:br>
            <a:r>
              <a:rPr lang="en-US" sz="3600" dirty="0"/>
              <a:t>What is the sample size of each bootstrap sample?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-32426" y="3709482"/>
            <a:ext cx="5334000" cy="3148518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2800" dirty="0"/>
              <a:t> 50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2800" dirty="0"/>
              <a:t> 1000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781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3505200"/>
          </a:xfrm>
        </p:spPr>
        <p:txBody>
          <a:bodyPr>
            <a:normAutofit/>
          </a:bodyPr>
          <a:lstStyle/>
          <a:p>
            <a:r>
              <a:rPr lang="en-US" sz="3600" dirty="0"/>
              <a:t>You have a sample of size </a:t>
            </a:r>
            <a:r>
              <a:rPr lang="en-US" sz="3600" i="1" dirty="0"/>
              <a:t>n</a:t>
            </a:r>
            <a:r>
              <a:rPr lang="en-US" sz="3600" dirty="0"/>
              <a:t> = 50.  You sample with replacement 1000 times to get 1000 bootstrap samples.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How many bootstrap statistics will you have?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808379"/>
            <a:ext cx="5632315" cy="3048000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2800" dirty="0"/>
              <a:t>50</a:t>
            </a:r>
          </a:p>
          <a:p>
            <a:pPr marL="514350" indent="-514350">
              <a:spcBef>
                <a:spcPct val="20000"/>
              </a:spcBef>
              <a:buFont typeface="Wingdings"/>
              <a:buAutoNum type="arabicPeriod"/>
            </a:pPr>
            <a:r>
              <a:rPr lang="en-US" sz="2800" dirty="0"/>
              <a:t> 1000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5820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8447" y="3583527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“</a:t>
            </a:r>
            <a:r>
              <a:rPr lang="en-US" sz="3200" i="1" dirty="0">
                <a:solidFill>
                  <a:schemeClr val="accent1"/>
                </a:solidFill>
              </a:rPr>
              <a:t>Pull yourself up by your bootstraps”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76200" y="152400"/>
            <a:ext cx="89916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Why “bootstrap”?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91000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Lift yourself in the air simply by pulling up on your own boots</a:t>
            </a:r>
          </a:p>
          <a:p>
            <a:pPr>
              <a:buClr>
                <a:schemeClr val="accent1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Metaphor for accomplishing an “impossible” task without any outside help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38883"/>
            <a:ext cx="1905000" cy="2241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23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22698" y="1600200"/>
            <a:ext cx="9166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How would you take a bootstrap sample from your sample of Reese’s Pieces?</a:t>
            </a:r>
          </a:p>
          <a:p>
            <a:pPr>
              <a:buFont typeface="Arial" pitchFamily="34" charset="0"/>
              <a:buChar char="•"/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76200" y="152400"/>
            <a:ext cx="89916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Reese’s Pieces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2320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b="1" dirty="0"/>
              <a:t>Reese’s Pieces “Population”</a:t>
            </a:r>
          </a:p>
        </p:txBody>
      </p:sp>
      <p:grpSp>
        <p:nvGrpSpPr>
          <p:cNvPr id="3" name="Group 2833"/>
          <p:cNvGrpSpPr/>
          <p:nvPr/>
        </p:nvGrpSpPr>
        <p:grpSpPr>
          <a:xfrm>
            <a:off x="304800" y="990600"/>
            <a:ext cx="8598090" cy="5436673"/>
            <a:chOff x="381000" y="990600"/>
            <a:chExt cx="8598090" cy="5436673"/>
          </a:xfrm>
        </p:grpSpPr>
        <p:grpSp>
          <p:nvGrpSpPr>
            <p:cNvPr id="4" name="Group 3439"/>
            <p:cNvGrpSpPr>
              <a:grpSpLocks noChangeAspect="1"/>
            </p:cNvGrpSpPr>
            <p:nvPr/>
          </p:nvGrpSpPr>
          <p:grpSpPr>
            <a:xfrm>
              <a:off x="2133600" y="5319245"/>
              <a:ext cx="1679244" cy="1108028"/>
              <a:chOff x="1436427" y="1856663"/>
              <a:chExt cx="6716973" cy="4432111"/>
            </a:xfrm>
          </p:grpSpPr>
          <p:sp>
            <p:nvSpPr>
              <p:cNvPr id="3441" name="Oval 3440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2" name="Oval 3441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3" name="Oval 3442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4" name="Oval 3443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5" name="Oval 3444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6" name="Oval 3445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7" name="Oval 3446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8" name="Oval 3447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9" name="Oval 3448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0" name="Oval 3449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1" name="Oval 3450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2" name="Oval 3451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3" name="Oval 3452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4" name="Oval 3453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5" name="Oval 3454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6" name="Oval 3455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7" name="Oval 3456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8" name="Oval 3457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9" name="Oval 3458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0" name="Oval 3459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1" name="Oval 3460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2" name="Oval 3461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3" name="Oval 3462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4" name="Oval 3463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5" name="Oval 3464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6" name="Oval 3465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7" name="Oval 3466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8" name="Oval 3467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9" name="Oval 3468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0" name="Oval 3469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1" name="Oval 3470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2" name="Oval 3471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3" name="Oval 3472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4" name="Oval 3473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5" name="Oval 3474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6" name="Oval 3475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7" name="Oval 3476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8" name="Oval 3477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9" name="Oval 3478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0" name="Oval 3479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1" name="Oval 3480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2" name="Oval 3481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3" name="Oval 3482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4" name="Oval 3483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5" name="Oval 3484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6" name="Oval 3485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7" name="Oval 3486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8" name="Oval 3487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9" name="Oval 3488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0" name="Oval 3489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1" name="Oval 3490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2" name="Oval 3491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3" name="Oval 3492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4" name="Oval 3493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5" name="Oval 3494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6" name="Oval 3495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7" name="Oval 3496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8" name="Oval 3497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9" name="Oval 3498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0" name="Oval 3499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1" name="Oval 3500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2" name="Oval 3501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3" name="Oval 3502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4" name="Oval 3503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5" name="Oval 3504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6" name="Oval 3505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7" name="Oval 3506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8" name="Oval 3507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9" name="Oval 3508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0" name="Oval 3509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1" name="Oval 3510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2" name="Oval 3511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3" name="Oval 3512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4" name="Oval 3513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5" name="Oval 3514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6" name="Oval 3515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7" name="Oval 3516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8" name="Oval 3517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9" name="Oval 3518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0" name="Oval 3519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1" name="Oval 3520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2" name="Oval 3521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3" name="Oval 3522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4" name="Oval 3523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5" name="Oval 3524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6" name="Oval 3525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7" name="Oval 3526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8" name="Oval 3527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9" name="Oval 3528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0" name="Oval 3529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1" name="Oval 3530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2" name="Oval 3531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3" name="Oval 3532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4" name="Oval 3533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5" name="Oval 3534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6" name="Oval 3535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7" name="Oval 3536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8" name="Oval 3537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9" name="Oval 3538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0" name="Oval 3539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106"/>
            <p:cNvGrpSpPr>
              <a:grpSpLocks noChangeAspect="1"/>
            </p:cNvGrpSpPr>
            <p:nvPr/>
          </p:nvGrpSpPr>
          <p:grpSpPr>
            <a:xfrm>
              <a:off x="468799" y="1016616"/>
              <a:ext cx="1679244" cy="1108028"/>
              <a:chOff x="1436427" y="1856663"/>
              <a:chExt cx="6716973" cy="4432111"/>
            </a:xfrm>
          </p:grpSpPr>
          <p:sp>
            <p:nvSpPr>
              <p:cNvPr id="108" name="Oval 107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Oval 194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Oval 201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Oval 206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207"/>
            <p:cNvGrpSpPr>
              <a:grpSpLocks noChangeAspect="1"/>
            </p:cNvGrpSpPr>
            <p:nvPr/>
          </p:nvGrpSpPr>
          <p:grpSpPr>
            <a:xfrm>
              <a:off x="2244203" y="990600"/>
              <a:ext cx="1679244" cy="1108028"/>
              <a:chOff x="1436427" y="1856663"/>
              <a:chExt cx="6716973" cy="4432111"/>
            </a:xfrm>
          </p:grpSpPr>
          <p:sp>
            <p:nvSpPr>
              <p:cNvPr id="209" name="Oval 208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Oval 232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Oval 233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Oval 234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Oval 235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Oval 237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Oval 247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Oval 248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Oval 250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Oval 251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Oval 252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Oval 253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Oval 254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Oval 255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Oval 256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Oval 257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Oval 258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Oval 260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Oval 262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Oval 263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Oval 264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Oval 266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Oval 268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Oval 270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Oval 271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Oval 272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Oval 273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Oval 274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Oval 275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Oval 276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Oval 277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Oval 278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Oval 279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Oval 280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Oval 282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Oval 283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Oval 284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Oval 285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Oval 286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Oval 287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Oval 288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Oval 289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Oval 290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Oval 291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" name="Oval 292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Oval 293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Oval 294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Oval 295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Oval 296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Oval 297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Oval 298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Oval 299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Oval 300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Oval 301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Oval 302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Oval 303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Oval 304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Oval 305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Oval 307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11"/>
            <p:cNvGrpSpPr>
              <a:grpSpLocks noChangeAspect="1"/>
            </p:cNvGrpSpPr>
            <p:nvPr/>
          </p:nvGrpSpPr>
          <p:grpSpPr>
            <a:xfrm>
              <a:off x="3980597" y="1006236"/>
              <a:ext cx="1679244" cy="1108028"/>
              <a:chOff x="1436427" y="1856663"/>
              <a:chExt cx="6716973" cy="4432111"/>
            </a:xfrm>
          </p:grpSpPr>
          <p:sp>
            <p:nvSpPr>
              <p:cNvPr id="613" name="Oval 612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Oval 613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Oval 614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" name="Oval 615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7" name="Oval 616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8" name="Oval 617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" name="Oval 618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Oval 619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Oval 620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Oval 621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Oval 622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Oval 623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Oval 624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Oval 625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Oval 626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Oval 627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Oval 628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Oval 629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1" name="Oval 630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2" name="Oval 631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Oval 632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Oval 633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Oval 634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Oval 635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Oval 636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Oval 637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9" name="Oval 638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0" name="Oval 639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1" name="Oval 640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2" name="Oval 641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Oval 642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Oval 643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Oval 644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Oval 645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Oval 646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Oval 647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9" name="Oval 648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0" name="Oval 649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1" name="Oval 650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2" name="Oval 651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Oval 652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Oval 653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Oval 654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6" name="Oval 655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Oval 656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Oval 657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Oval 658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Oval 659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Oval 660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2" name="Oval 661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Oval 662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Oval 663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5" name="Oval 664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6" name="Oval 665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7" name="Oval 666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8" name="Oval 667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9" name="Oval 668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Oval 669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Oval 670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Oval 671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Oval 672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4" name="Oval 673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Oval 674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Oval 675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Oval 676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Oval 677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Oval 678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Oval 679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Oval 680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2" name="Oval 681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3" name="Oval 682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4" name="Oval 683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5" name="Oval 684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6" name="Oval 685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7" name="Oval 686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8" name="Oval 687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9" name="Oval 688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0" name="Oval 689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1" name="Oval 690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2" name="Oval 691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3" name="Oval 692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Oval 693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5" name="Oval 694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6" name="Oval 695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7" name="Oval 696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8" name="Oval 697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9" name="Oval 698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0" name="Oval 699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1" name="Oval 700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2" name="Oval 701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3" name="Oval 702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4" name="Oval 703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5" name="Oval 704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6" name="Oval 705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7" name="Oval 706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8" name="Oval 707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9" name="Oval 708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0" name="Oval 709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1" name="Oval 710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2" name="Oval 711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12"/>
            <p:cNvGrpSpPr>
              <a:grpSpLocks noChangeAspect="1"/>
            </p:cNvGrpSpPr>
            <p:nvPr/>
          </p:nvGrpSpPr>
          <p:grpSpPr>
            <a:xfrm>
              <a:off x="5668938" y="1019743"/>
              <a:ext cx="1679244" cy="1108028"/>
              <a:chOff x="1436427" y="1856663"/>
              <a:chExt cx="6716973" cy="4432111"/>
            </a:xfrm>
          </p:grpSpPr>
          <p:sp>
            <p:nvSpPr>
              <p:cNvPr id="714" name="Oval 713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5" name="Oval 714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6" name="Oval 715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7" name="Oval 716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8" name="Oval 717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9" name="Oval 718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Oval 719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Oval 720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2" name="Oval 721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3" name="Oval 722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4" name="Oval 723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5" name="Oval 724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6" name="Oval 725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7" name="Oval 726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8" name="Oval 727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9" name="Oval 728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0" name="Oval 729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1" name="Oval 730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2" name="Oval 731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3" name="Oval 732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4" name="Oval 733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5" name="Oval 734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6" name="Oval 735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7" name="Oval 736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8" name="Oval 737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9" name="Oval 738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0" name="Oval 739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1" name="Oval 740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2" name="Oval 741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3" name="Oval 742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4" name="Oval 743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5" name="Oval 744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Oval 745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Oval 746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Oval 747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Oval 748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0" name="Oval 749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1" name="Oval 750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2" name="Oval 751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3" name="Oval 752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4" name="Oval 753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5" name="Oval 754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6" name="Oval 755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7" name="Oval 756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8" name="Oval 757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9" name="Oval 758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0" name="Oval 759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1" name="Oval 760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2" name="Oval 761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3" name="Oval 762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4" name="Oval 763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5" name="Oval 764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6" name="Oval 765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7" name="Oval 766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8" name="Oval 767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9" name="Oval 768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0" name="Oval 769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1" name="Oval 770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2" name="Oval 771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3" name="Oval 772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4" name="Oval 773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5" name="Oval 774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6" name="Oval 775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7" name="Oval 776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8" name="Oval 777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9" name="Oval 778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0" name="Oval 779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1" name="Oval 780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2" name="Oval 781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3" name="Oval 782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4" name="Oval 783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5" name="Oval 784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6" name="Oval 785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7" name="Oval 786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8" name="Oval 787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9" name="Oval 788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0" name="Oval 789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1" name="Oval 790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2" name="Oval 791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3" name="Oval 792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4" name="Oval 793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5" name="Oval 794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6" name="Oval 795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7" name="Oval 796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8" name="Oval 797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9" name="Oval 798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0" name="Oval 799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1" name="Oval 800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2" name="Oval 801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3" name="Oval 802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4" name="Oval 803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5" name="Oval 804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6" name="Oval 805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7" name="Oval 806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8" name="Oval 807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9" name="Oval 808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0" name="Oval 809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1" name="Oval 810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2" name="Oval 811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3" name="Oval 812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13"/>
            <p:cNvGrpSpPr>
              <a:grpSpLocks noChangeAspect="1"/>
            </p:cNvGrpSpPr>
            <p:nvPr/>
          </p:nvGrpSpPr>
          <p:grpSpPr>
            <a:xfrm>
              <a:off x="7299846" y="1019854"/>
              <a:ext cx="1679244" cy="1108028"/>
              <a:chOff x="1436427" y="1856663"/>
              <a:chExt cx="6716973" cy="4432111"/>
            </a:xfrm>
          </p:grpSpPr>
          <p:sp>
            <p:nvSpPr>
              <p:cNvPr id="815" name="Oval 814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6" name="Oval 815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7" name="Oval 816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8" name="Oval 817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9" name="Oval 818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0" name="Oval 819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1" name="Oval 820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2" name="Oval 821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3" name="Oval 822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4" name="Oval 823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5" name="Oval 824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6" name="Oval 825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7" name="Oval 826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8" name="Oval 827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9" name="Oval 828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0" name="Oval 829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1" name="Oval 830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2" name="Oval 831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3" name="Oval 832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4" name="Oval 833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5" name="Oval 834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6" name="Oval 835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7" name="Oval 836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8" name="Oval 837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9" name="Oval 838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0" name="Oval 839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1" name="Oval 840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2" name="Oval 841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3" name="Oval 842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4" name="Oval 843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5" name="Oval 844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6" name="Oval 845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7" name="Oval 846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8" name="Oval 847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9" name="Oval 848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0" name="Oval 849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1" name="Oval 850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2" name="Oval 851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3" name="Oval 852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4" name="Oval 853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5" name="Oval 854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6" name="Oval 855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7" name="Oval 856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8" name="Oval 857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9" name="Oval 858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0" name="Oval 859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1" name="Oval 860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2" name="Oval 861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3" name="Oval 862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4" name="Oval 863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5" name="Oval 864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6" name="Oval 865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7" name="Oval 866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8" name="Oval 867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9" name="Oval 868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0" name="Oval 869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1" name="Oval 870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2" name="Oval 871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3" name="Oval 872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4" name="Oval 873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5" name="Oval 874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6" name="Oval 875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7" name="Oval 876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8" name="Oval 877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9" name="Oval 878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0" name="Oval 879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1" name="Oval 880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2" name="Oval 881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3" name="Oval 882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4" name="Oval 883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5" name="Oval 884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6" name="Oval 885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7" name="Oval 886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8" name="Oval 887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9" name="Oval 888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0" name="Oval 889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1" name="Oval 890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2" name="Oval 891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3" name="Oval 892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4" name="Oval 893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5" name="Oval 894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6" name="Oval 895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7" name="Oval 896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8" name="Oval 897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9" name="Oval 898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0" name="Oval 899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1" name="Oval 900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2" name="Oval 901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3" name="Oval 902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4" name="Oval 903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5" name="Oval 904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6" name="Oval 905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7" name="Oval 906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8" name="Oval 907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9" name="Oval 908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0" name="Oval 909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1" name="Oval 910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2" name="Oval 911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3" name="Oval 912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4" name="Oval 913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14"/>
            <p:cNvGrpSpPr>
              <a:grpSpLocks noChangeAspect="1"/>
            </p:cNvGrpSpPr>
            <p:nvPr/>
          </p:nvGrpSpPr>
          <p:grpSpPr>
            <a:xfrm>
              <a:off x="402124" y="2043865"/>
              <a:ext cx="1679244" cy="1108028"/>
              <a:chOff x="1436427" y="1856663"/>
              <a:chExt cx="6716973" cy="4432111"/>
            </a:xfrm>
          </p:grpSpPr>
          <p:sp>
            <p:nvSpPr>
              <p:cNvPr id="916" name="Oval 915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7" name="Oval 916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8" name="Oval 917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9" name="Oval 918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0" name="Oval 919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1" name="Oval 920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2" name="Oval 921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3" name="Oval 922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4" name="Oval 923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5" name="Oval 924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6" name="Oval 925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7" name="Oval 926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8" name="Oval 927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9" name="Oval 928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0" name="Oval 929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1" name="Oval 930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2" name="Oval 931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3" name="Oval 932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4" name="Oval 933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5" name="Oval 934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6" name="Oval 935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7" name="Oval 936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8" name="Oval 937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9" name="Oval 938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0" name="Oval 939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1" name="Oval 940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2" name="Oval 941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3" name="Oval 942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4" name="Oval 943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5" name="Oval 944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6" name="Oval 945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7" name="Oval 946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8" name="Oval 947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9" name="Oval 948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0" name="Oval 949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1" name="Oval 950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2" name="Oval 951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3" name="Oval 952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4" name="Oval 953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5" name="Oval 954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6" name="Oval 955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7" name="Oval 956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8" name="Oval 957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9" name="Oval 958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0" name="Oval 959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1" name="Oval 960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2" name="Oval 961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3" name="Oval 962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4" name="Oval 963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5" name="Oval 964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6" name="Oval 965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7" name="Oval 966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8" name="Oval 967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9" name="Oval 968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0" name="Oval 969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1" name="Oval 970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2" name="Oval 971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3" name="Oval 972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4" name="Oval 973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5" name="Oval 974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6" name="Oval 975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7" name="Oval 976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8" name="Oval 977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9" name="Oval 978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0" name="Oval 979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1" name="Oval 980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2" name="Oval 981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3" name="Oval 982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4" name="Oval 983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5" name="Oval 984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6" name="Oval 985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7" name="Oval 986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8" name="Oval 987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9" name="Oval 988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0" name="Oval 989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1" name="Oval 990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2" name="Oval 991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3" name="Oval 992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4" name="Oval 993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5" name="Oval 994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6" name="Oval 995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7" name="Oval 996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8" name="Oval 997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9" name="Oval 998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0" name="Oval 999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1" name="Oval 1000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2" name="Oval 1001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3" name="Oval 1002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4" name="Oval 1003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5" name="Oval 1004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6" name="Oval 1005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7" name="Oval 1006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8" name="Oval 1007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9" name="Oval 1008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0" name="Oval 1009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1" name="Oval 1010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2" name="Oval 1011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3" name="Oval 1012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4" name="Oval 1013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5" name="Oval 1014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15"/>
            <p:cNvGrpSpPr>
              <a:grpSpLocks noChangeAspect="1"/>
            </p:cNvGrpSpPr>
            <p:nvPr/>
          </p:nvGrpSpPr>
          <p:grpSpPr>
            <a:xfrm>
              <a:off x="2133600" y="2083873"/>
              <a:ext cx="1679244" cy="1108028"/>
              <a:chOff x="1436427" y="1856663"/>
              <a:chExt cx="6716973" cy="4432111"/>
            </a:xfrm>
          </p:grpSpPr>
          <p:sp>
            <p:nvSpPr>
              <p:cNvPr id="1017" name="Oval 1016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8" name="Oval 1017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9" name="Oval 1018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0" name="Oval 1019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1" name="Oval 1020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2" name="Oval 1021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3" name="Oval 1022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4" name="Oval 1023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5" name="Oval 1024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6" name="Oval 1025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7" name="Oval 1026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8" name="Oval 1027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9" name="Oval 1028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0" name="Oval 1029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1" name="Oval 1030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2" name="Oval 1031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3" name="Oval 1032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4" name="Oval 1033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Oval 1034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6" name="Oval 1035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7" name="Oval 1036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8" name="Oval 1037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9" name="Oval 1038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0" name="Oval 1039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Oval 1040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2" name="Oval 1041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Oval 1042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4" name="Oval 1043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5" name="Oval 1044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6" name="Oval 1045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7" name="Oval 1046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" name="Oval 1047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9" name="Oval 1048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0" name="Oval 1049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1" name="Oval 1050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2" name="Oval 1051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3" name="Oval 1052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4" name="Oval 1053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5" name="Oval 1054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6" name="Oval 1055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7" name="Oval 1056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8" name="Oval 1057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9" name="Oval 1058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Oval 1059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1" name="Oval 1060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2" name="Oval 1061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3" name="Oval 1062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4" name="Oval 1063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5" name="Oval 1064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6" name="Oval 1065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7" name="Oval 1066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8" name="Oval 1067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Oval 1068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0" name="Oval 1069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1" name="Oval 1070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2" name="Oval 1071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3" name="Oval 1072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4" name="Oval 1073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5" name="Oval 1074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6" name="Oval 1075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7" name="Oval 1076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8" name="Oval 1077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9" name="Oval 1078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0" name="Oval 1079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1" name="Oval 1080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2" name="Oval 1081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3" name="Oval 1082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4" name="Oval 1083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5" name="Oval 1084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6" name="Oval 1085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7" name="Oval 1086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8" name="Oval 1087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9" name="Oval 1088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0" name="Oval 1089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1" name="Oval 1090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2" name="Oval 1091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3" name="Oval 1092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4" name="Oval 1093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5" name="Oval 1094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6" name="Oval 1095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7" name="Oval 1096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8" name="Oval 1097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9" name="Oval 1098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0" name="Oval 1099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1" name="Oval 1100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2" name="Oval 1101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3" name="Oval 1102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4" name="Oval 1103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5" name="Oval 1104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6" name="Oval 1105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7" name="Oval 1106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8" name="Oval 1107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9" name="Oval 1108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0" name="Oval 1109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1" name="Oval 1110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2" name="Oval 1111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3" name="Oval 1112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4" name="Oval 1113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5" name="Oval 1114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6" name="Oval 1115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2025"/>
            <p:cNvGrpSpPr>
              <a:grpSpLocks noChangeAspect="1"/>
            </p:cNvGrpSpPr>
            <p:nvPr/>
          </p:nvGrpSpPr>
          <p:grpSpPr>
            <a:xfrm>
              <a:off x="3846678" y="2083873"/>
              <a:ext cx="1679244" cy="1108028"/>
              <a:chOff x="1436427" y="1856663"/>
              <a:chExt cx="6716973" cy="4432111"/>
            </a:xfrm>
          </p:grpSpPr>
          <p:sp>
            <p:nvSpPr>
              <p:cNvPr id="2027" name="Oval 2026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8" name="Oval 2027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9" name="Oval 2028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0" name="Oval 2029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1" name="Oval 2030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2" name="Oval 2031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3" name="Oval 2032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4" name="Oval 2033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5" name="Oval 2034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6" name="Oval 2035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7" name="Oval 2036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8" name="Oval 2037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9" name="Oval 2038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0" name="Oval 2039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1" name="Oval 2040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2" name="Oval 2041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3" name="Oval 2042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4" name="Oval 2043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5" name="Oval 2044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6" name="Oval 2045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7" name="Oval 2046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8" name="Oval 2047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9" name="Oval 2048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0" name="Oval 2049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1" name="Oval 2050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2" name="Oval 2051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3" name="Oval 2052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4" name="Oval 2053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5" name="Oval 2054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6" name="Oval 2055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7" name="Oval 2056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8" name="Oval 2057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9" name="Oval 2058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0" name="Oval 2059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1" name="Oval 2060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2" name="Oval 2061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3" name="Oval 2062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4" name="Oval 2063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5" name="Oval 2064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6" name="Oval 2065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7" name="Oval 2066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8" name="Oval 2067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9" name="Oval 2068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0" name="Oval 2069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1" name="Oval 2070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2" name="Oval 2071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3" name="Oval 2072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4" name="Oval 2073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5" name="Oval 2074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6" name="Oval 2075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7" name="Oval 2076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8" name="Oval 2077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9" name="Oval 2078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0" name="Oval 2079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1" name="Oval 2080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2" name="Oval 2081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3" name="Oval 2082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4" name="Oval 2083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5" name="Oval 2084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6" name="Oval 2085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7" name="Oval 2086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8" name="Oval 2087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9" name="Oval 2088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0" name="Oval 2089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1" name="Oval 2090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2" name="Oval 2091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3" name="Oval 2092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4" name="Oval 2093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5" name="Oval 2094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6" name="Oval 2095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7" name="Oval 2096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8" name="Oval 2097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9" name="Oval 2098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0" name="Oval 2099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1" name="Oval 2100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2" name="Oval 2101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3" name="Oval 2102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4" name="Oval 2103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5" name="Oval 2104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6" name="Oval 2105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7" name="Oval 2106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8" name="Oval 2107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9" name="Oval 2108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0" name="Oval 2109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1" name="Oval 2110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2" name="Oval 2111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3" name="Oval 2112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4" name="Oval 2113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5" name="Oval 2114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6" name="Oval 2115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7" name="Oval 2116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8" name="Oval 2117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9" name="Oval 2118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0" name="Oval 2119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1" name="Oval 2120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2" name="Oval 2121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3" name="Oval 2122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4" name="Oval 2123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5" name="Oval 2124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6" name="Oval 2125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2126"/>
            <p:cNvGrpSpPr>
              <a:grpSpLocks noChangeAspect="1"/>
            </p:cNvGrpSpPr>
            <p:nvPr/>
          </p:nvGrpSpPr>
          <p:grpSpPr>
            <a:xfrm>
              <a:off x="5635956" y="2042645"/>
              <a:ext cx="1679244" cy="1108028"/>
              <a:chOff x="1436427" y="1856663"/>
              <a:chExt cx="6716973" cy="4432111"/>
            </a:xfrm>
          </p:grpSpPr>
          <p:sp>
            <p:nvSpPr>
              <p:cNvPr id="2128" name="Oval 2127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9" name="Oval 2128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0" name="Oval 2129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1" name="Oval 2130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2" name="Oval 2131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3" name="Oval 2132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4" name="Oval 2133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5" name="Oval 2134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6" name="Oval 2135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7" name="Oval 2136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8" name="Oval 2137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9" name="Oval 2138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0" name="Oval 2139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1" name="Oval 2140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2" name="Oval 2141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3" name="Oval 2142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4" name="Oval 2143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5" name="Oval 2144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6" name="Oval 2145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7" name="Oval 2146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8" name="Oval 2147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9" name="Oval 2148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0" name="Oval 2149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1" name="Oval 2150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2" name="Oval 2151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3" name="Oval 2152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4" name="Oval 2153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5" name="Oval 2154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6" name="Oval 2155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7" name="Oval 2156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8" name="Oval 2157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9" name="Oval 2158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0" name="Oval 2159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1" name="Oval 2160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2" name="Oval 2161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3" name="Oval 2162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4" name="Oval 2163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5" name="Oval 2164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6" name="Oval 2165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7" name="Oval 2166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8" name="Oval 2167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9" name="Oval 2168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0" name="Oval 2169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1" name="Oval 2170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2" name="Oval 2171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3" name="Oval 2172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4" name="Oval 2173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5" name="Oval 2174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6" name="Oval 2175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7" name="Oval 2176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8" name="Oval 2177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9" name="Oval 2178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0" name="Oval 2179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1" name="Oval 2180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2" name="Oval 2181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3" name="Oval 2182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4" name="Oval 2183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5" name="Oval 2184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6" name="Oval 2185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7" name="Oval 2186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8" name="Oval 2187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9" name="Oval 2188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0" name="Oval 2189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1" name="Oval 2190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2" name="Oval 2191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3" name="Oval 2192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4" name="Oval 2193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5" name="Oval 2194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6" name="Oval 2195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7" name="Oval 2196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8" name="Oval 2197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9" name="Oval 2198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0" name="Oval 2199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1" name="Oval 2200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2" name="Oval 2201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3" name="Oval 2202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4" name="Oval 2203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5" name="Oval 2204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6" name="Oval 2205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7" name="Oval 2206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8" name="Oval 2207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9" name="Oval 2208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0" name="Oval 2209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1" name="Oval 2210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2" name="Oval 2211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3" name="Oval 2212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4" name="Oval 2213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5" name="Oval 2214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6" name="Oval 2215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7" name="Oval 2216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8" name="Oval 2217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9" name="Oval 2218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0" name="Oval 2219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1" name="Oval 2220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2" name="Oval 2221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3" name="Oval 2222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4" name="Oval 2223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5" name="Oval 2224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6" name="Oval 2225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7" name="Oval 2226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2227"/>
            <p:cNvGrpSpPr>
              <a:grpSpLocks noChangeAspect="1"/>
            </p:cNvGrpSpPr>
            <p:nvPr/>
          </p:nvGrpSpPr>
          <p:grpSpPr>
            <a:xfrm>
              <a:off x="7236156" y="2042645"/>
              <a:ext cx="1679244" cy="1108028"/>
              <a:chOff x="1436427" y="1856663"/>
              <a:chExt cx="6716973" cy="4432111"/>
            </a:xfrm>
          </p:grpSpPr>
          <p:sp>
            <p:nvSpPr>
              <p:cNvPr id="2229" name="Oval 2228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0" name="Oval 2229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1" name="Oval 2230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2" name="Oval 2231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3" name="Oval 2232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4" name="Oval 2233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5" name="Oval 2234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6" name="Oval 2235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7" name="Oval 2236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8" name="Oval 2237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9" name="Oval 2238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0" name="Oval 2239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1" name="Oval 2240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2" name="Oval 2241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3" name="Oval 2242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4" name="Oval 2243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5" name="Oval 2244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6" name="Oval 2245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7" name="Oval 2246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8" name="Oval 2247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9" name="Oval 2248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0" name="Oval 2249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1" name="Oval 2250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2" name="Oval 2251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3" name="Oval 2252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4" name="Oval 2253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5" name="Oval 2254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6" name="Oval 2255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7" name="Oval 2256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8" name="Oval 2257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9" name="Oval 2258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0" name="Oval 2259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1" name="Oval 2260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2" name="Oval 2261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3" name="Oval 2262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4" name="Oval 2263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5" name="Oval 2264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6" name="Oval 2265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7" name="Oval 2266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8" name="Oval 2267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9" name="Oval 2268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0" name="Oval 2269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1" name="Oval 2270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2" name="Oval 2271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3" name="Oval 2272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4" name="Oval 2273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5" name="Oval 2274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6" name="Oval 2275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7" name="Oval 2276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8" name="Oval 2277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9" name="Oval 2278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0" name="Oval 2279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1" name="Oval 2280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2" name="Oval 2281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3" name="Oval 2282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4" name="Oval 2283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5" name="Oval 2284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6" name="Oval 2285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7" name="Oval 2286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8" name="Oval 2287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9" name="Oval 2288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0" name="Oval 2289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1" name="Oval 2290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2" name="Oval 2291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3" name="Oval 2292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4" name="Oval 2293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5" name="Oval 2294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6" name="Oval 2295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7" name="Oval 2296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8" name="Oval 2297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9" name="Oval 2298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0" name="Oval 2299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1" name="Oval 2300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2" name="Oval 2301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3" name="Oval 2302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4" name="Oval 2303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5" name="Oval 2304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6" name="Oval 2305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7" name="Oval 2306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8" name="Oval 2307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9" name="Oval 2308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0" name="Oval 2309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1" name="Oval 2310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2" name="Oval 2311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3" name="Oval 2312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4" name="Oval 2313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5" name="Oval 2314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6" name="Oval 2315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7" name="Oval 2316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8" name="Oval 2317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9" name="Oval 2318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0" name="Oval 2319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1" name="Oval 2320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2" name="Oval 2321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3" name="Oval 2322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4" name="Oval 2323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5" name="Oval 2324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6" name="Oval 2325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7" name="Oval 2326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8" name="Oval 2327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2328"/>
            <p:cNvGrpSpPr>
              <a:grpSpLocks noChangeAspect="1"/>
            </p:cNvGrpSpPr>
            <p:nvPr/>
          </p:nvGrpSpPr>
          <p:grpSpPr>
            <a:xfrm>
              <a:off x="457200" y="3109445"/>
              <a:ext cx="1679244" cy="1108028"/>
              <a:chOff x="1436427" y="1856663"/>
              <a:chExt cx="6716973" cy="4432111"/>
            </a:xfrm>
          </p:grpSpPr>
          <p:sp>
            <p:nvSpPr>
              <p:cNvPr id="2330" name="Oval 2329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1" name="Oval 2330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2" name="Oval 2331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3" name="Oval 2332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4" name="Oval 2333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5" name="Oval 2334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6" name="Oval 2335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7" name="Oval 2336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8" name="Oval 2337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9" name="Oval 2338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0" name="Oval 2339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1" name="Oval 2340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2" name="Oval 2341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3" name="Oval 2342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4" name="Oval 2343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5" name="Oval 2344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6" name="Oval 2345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7" name="Oval 2346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8" name="Oval 2347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9" name="Oval 2348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0" name="Oval 2349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1" name="Oval 2350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2" name="Oval 2351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3" name="Oval 2352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4" name="Oval 2353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5" name="Oval 2354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6" name="Oval 2355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7" name="Oval 2356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8" name="Oval 2357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9" name="Oval 2358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0" name="Oval 2359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1" name="Oval 2360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2" name="Oval 2361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3" name="Oval 2362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4" name="Oval 2363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5" name="Oval 2364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6" name="Oval 2365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7" name="Oval 2366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8" name="Oval 2367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9" name="Oval 2368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0" name="Oval 2369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1" name="Oval 2370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2" name="Oval 2371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3" name="Oval 2372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4" name="Oval 2373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5" name="Oval 2374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6" name="Oval 2375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7" name="Oval 2376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8" name="Oval 2377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9" name="Oval 2378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0" name="Oval 2379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1" name="Oval 2380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2" name="Oval 2381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3" name="Oval 2382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4" name="Oval 2383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5" name="Oval 2384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6" name="Oval 2385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7" name="Oval 2386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8" name="Oval 2387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9" name="Oval 2388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0" name="Oval 2389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1" name="Oval 2390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2" name="Oval 2391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3" name="Oval 2392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4" name="Oval 2393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5" name="Oval 2394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6" name="Oval 2395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7" name="Oval 2396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8" name="Oval 2397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9" name="Oval 2398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0" name="Oval 2399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1" name="Oval 2400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2" name="Oval 2401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3" name="Oval 2402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4" name="Oval 2403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5" name="Oval 2404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6" name="Oval 2405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7" name="Oval 2406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8" name="Oval 2407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9" name="Oval 2408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0" name="Oval 2409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1" name="Oval 2410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2" name="Oval 2411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3" name="Oval 2412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4" name="Oval 2413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5" name="Oval 2414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6" name="Oval 2415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7" name="Oval 2416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8" name="Oval 2417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9" name="Oval 2418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0" name="Oval 2419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1" name="Oval 2420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2" name="Oval 2421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3" name="Oval 2422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4" name="Oval 2423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5" name="Oval 2424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6" name="Oval 2425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7" name="Oval 2426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8" name="Oval 2427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9" name="Oval 2428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2429"/>
            <p:cNvGrpSpPr>
              <a:grpSpLocks noChangeAspect="1"/>
            </p:cNvGrpSpPr>
            <p:nvPr/>
          </p:nvGrpSpPr>
          <p:grpSpPr>
            <a:xfrm>
              <a:off x="2133600" y="3150673"/>
              <a:ext cx="1679244" cy="1108028"/>
              <a:chOff x="1436427" y="1856663"/>
              <a:chExt cx="6716973" cy="4432111"/>
            </a:xfrm>
          </p:grpSpPr>
          <p:sp>
            <p:nvSpPr>
              <p:cNvPr id="2431" name="Oval 2430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2" name="Oval 2431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3" name="Oval 2432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4" name="Oval 2433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5" name="Oval 2434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6" name="Oval 2435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7" name="Oval 2436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8" name="Oval 2437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9" name="Oval 2438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0" name="Oval 2439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1" name="Oval 2440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2" name="Oval 2441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3" name="Oval 2442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4" name="Oval 2443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5" name="Oval 2444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6" name="Oval 2445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7" name="Oval 2446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8" name="Oval 2447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9" name="Oval 2448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0" name="Oval 2449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1" name="Oval 2450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2" name="Oval 2451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3" name="Oval 2452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4" name="Oval 2453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5" name="Oval 2454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6" name="Oval 2455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7" name="Oval 2456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8" name="Oval 2457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9" name="Oval 2458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0" name="Oval 2459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1" name="Oval 2460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2" name="Oval 2461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3" name="Oval 2462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4" name="Oval 2463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5" name="Oval 2464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6" name="Oval 2465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7" name="Oval 2466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8" name="Oval 2467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9" name="Oval 2468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0" name="Oval 2469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1" name="Oval 2470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2" name="Oval 2471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3" name="Oval 2472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4" name="Oval 2473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5" name="Oval 2474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6" name="Oval 2475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7" name="Oval 2476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8" name="Oval 2477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9" name="Oval 2478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0" name="Oval 2479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1" name="Oval 2480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2" name="Oval 2481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3" name="Oval 2482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4" name="Oval 2483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5" name="Oval 2484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6" name="Oval 2485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7" name="Oval 2486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8" name="Oval 2487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9" name="Oval 2488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0" name="Oval 2489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1" name="Oval 2490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2" name="Oval 2491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3" name="Oval 2492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4" name="Oval 2493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5" name="Oval 2494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6" name="Oval 2495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7" name="Oval 2496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8" name="Oval 2497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9" name="Oval 2498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0" name="Oval 2499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1" name="Oval 2500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2" name="Oval 2501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3" name="Oval 2502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4" name="Oval 2503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5" name="Oval 2504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6" name="Oval 2505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7" name="Oval 2506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8" name="Oval 2507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9" name="Oval 2508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0" name="Oval 2509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1" name="Oval 2510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2" name="Oval 2511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3" name="Oval 2512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4" name="Oval 2513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5" name="Oval 2514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6" name="Oval 2515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7" name="Oval 2516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8" name="Oval 2517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9" name="Oval 2518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0" name="Oval 2519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1" name="Oval 2520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2" name="Oval 2521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3" name="Oval 2522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4" name="Oval 2523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5" name="Oval 2524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6" name="Oval 2525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7" name="Oval 2526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8" name="Oval 2527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9" name="Oval 2528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0" name="Oval 2529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2530"/>
            <p:cNvGrpSpPr>
              <a:grpSpLocks noChangeAspect="1"/>
            </p:cNvGrpSpPr>
            <p:nvPr/>
          </p:nvGrpSpPr>
          <p:grpSpPr>
            <a:xfrm>
              <a:off x="3810000" y="3185645"/>
              <a:ext cx="1679244" cy="1108028"/>
              <a:chOff x="1436427" y="1856663"/>
              <a:chExt cx="6716973" cy="4432111"/>
            </a:xfrm>
          </p:grpSpPr>
          <p:sp>
            <p:nvSpPr>
              <p:cNvPr id="2532" name="Oval 2531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3" name="Oval 2532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4" name="Oval 2533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5" name="Oval 2534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6" name="Oval 2535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7" name="Oval 2536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8" name="Oval 2537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9" name="Oval 2538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0" name="Oval 2539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1" name="Oval 2540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2" name="Oval 2541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3" name="Oval 2542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4" name="Oval 2543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5" name="Oval 2544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6" name="Oval 2545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7" name="Oval 2546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8" name="Oval 2547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9" name="Oval 2548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0" name="Oval 2549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1" name="Oval 2550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2" name="Oval 2551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3" name="Oval 2552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4" name="Oval 2553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5" name="Oval 2554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6" name="Oval 2555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7" name="Oval 2556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8" name="Oval 2557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9" name="Oval 2558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0" name="Oval 2559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1" name="Oval 2560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2" name="Oval 2561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3" name="Oval 2562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4" name="Oval 2563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5" name="Oval 2564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6" name="Oval 2565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7" name="Oval 2566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8" name="Oval 2567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9" name="Oval 2568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0" name="Oval 2569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1" name="Oval 2570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2" name="Oval 2571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3" name="Oval 2572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4" name="Oval 2573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5" name="Oval 2574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6" name="Oval 2575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7" name="Oval 2576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8" name="Oval 2577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9" name="Oval 2578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0" name="Oval 2579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1" name="Oval 2580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2" name="Oval 2581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3" name="Oval 2582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4" name="Oval 2583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5" name="Oval 2584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6" name="Oval 2585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7" name="Oval 2586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8" name="Oval 2587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9" name="Oval 2588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0" name="Oval 2589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1" name="Oval 2590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2" name="Oval 2591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3" name="Oval 2592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4" name="Oval 2593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5" name="Oval 2594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6" name="Oval 2595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7" name="Oval 2596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8" name="Oval 2597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9" name="Oval 2598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0" name="Oval 2599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1" name="Oval 2600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2" name="Oval 2601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3" name="Oval 2602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4" name="Oval 2603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5" name="Oval 2604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6" name="Oval 2605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7" name="Oval 2606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8" name="Oval 2607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9" name="Oval 2608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0" name="Oval 2609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1" name="Oval 2610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2" name="Oval 2611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3" name="Oval 2612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4" name="Oval 2613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5" name="Oval 2614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6" name="Oval 2615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7" name="Oval 2616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8" name="Oval 2617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9" name="Oval 2618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0" name="Oval 2619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1" name="Oval 2620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2" name="Oval 2621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3" name="Oval 2622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4" name="Oval 2623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5" name="Oval 2624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6" name="Oval 2625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7" name="Oval 2626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8" name="Oval 2627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9" name="Oval 2628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0" name="Oval 2629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1" name="Oval 2630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2631"/>
            <p:cNvGrpSpPr>
              <a:grpSpLocks noChangeAspect="1"/>
            </p:cNvGrpSpPr>
            <p:nvPr/>
          </p:nvGrpSpPr>
          <p:grpSpPr>
            <a:xfrm>
              <a:off x="5483556" y="3185645"/>
              <a:ext cx="1679244" cy="1108028"/>
              <a:chOff x="1436427" y="1856663"/>
              <a:chExt cx="6716973" cy="4432111"/>
            </a:xfrm>
          </p:grpSpPr>
          <p:sp>
            <p:nvSpPr>
              <p:cNvPr id="2633" name="Oval 2632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4" name="Oval 2633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5" name="Oval 2634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6" name="Oval 2635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7" name="Oval 2636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8" name="Oval 2637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9" name="Oval 2638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0" name="Oval 2639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1" name="Oval 2640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2" name="Oval 2641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3" name="Oval 2642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4" name="Oval 2643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5" name="Oval 2644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6" name="Oval 2645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7" name="Oval 2646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8" name="Oval 2647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9" name="Oval 2648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0" name="Oval 2649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1" name="Oval 2650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2" name="Oval 2651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3" name="Oval 2652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4" name="Oval 2653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5" name="Oval 2654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6" name="Oval 2655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7" name="Oval 2656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8" name="Oval 2657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9" name="Oval 2658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0" name="Oval 2659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1" name="Oval 2660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2" name="Oval 2661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3" name="Oval 2662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4" name="Oval 2663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5" name="Oval 2664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6" name="Oval 2665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7" name="Oval 2666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8" name="Oval 2667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9" name="Oval 2668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0" name="Oval 2669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1" name="Oval 2670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2" name="Oval 2671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3" name="Oval 2672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4" name="Oval 2673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5" name="Oval 2674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6" name="Oval 2675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7" name="Oval 2676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8" name="Oval 2677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9" name="Oval 2678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0" name="Oval 2679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1" name="Oval 2680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2" name="Oval 2681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3" name="Oval 2682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4" name="Oval 2683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5" name="Oval 2684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6" name="Oval 2685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7" name="Oval 2686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8" name="Oval 2687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9" name="Oval 2688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0" name="Oval 2689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1" name="Oval 2690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2" name="Oval 2691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3" name="Oval 2692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4" name="Oval 2693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5" name="Oval 2694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6" name="Oval 2695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7" name="Oval 2696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8" name="Oval 2697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9" name="Oval 2698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0" name="Oval 2699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1" name="Oval 2700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2" name="Oval 2701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3" name="Oval 2702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4" name="Oval 2703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5" name="Oval 2704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6" name="Oval 2705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7" name="Oval 2706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8" name="Oval 2707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9" name="Oval 2708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0" name="Oval 2709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1" name="Oval 2710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2" name="Oval 2711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3" name="Oval 2712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4" name="Oval 2713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5" name="Oval 2714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6" name="Oval 2715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7" name="Oval 2716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8" name="Oval 2717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9" name="Oval 2718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0" name="Oval 2719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1" name="Oval 2720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2" name="Oval 2721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3" name="Oval 2722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4" name="Oval 2723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5" name="Oval 2724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6" name="Oval 2725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7" name="Oval 2726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8" name="Oval 2727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9" name="Oval 2728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0" name="Oval 2729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1" name="Oval 2730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2" name="Oval 2731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2732"/>
            <p:cNvGrpSpPr>
              <a:grpSpLocks noChangeAspect="1"/>
            </p:cNvGrpSpPr>
            <p:nvPr/>
          </p:nvGrpSpPr>
          <p:grpSpPr>
            <a:xfrm>
              <a:off x="7159956" y="3185645"/>
              <a:ext cx="1679244" cy="1108028"/>
              <a:chOff x="1436427" y="1856663"/>
              <a:chExt cx="6716973" cy="4432111"/>
            </a:xfrm>
          </p:grpSpPr>
          <p:sp>
            <p:nvSpPr>
              <p:cNvPr id="2734" name="Oval 2733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5" name="Oval 2734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6" name="Oval 2735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7" name="Oval 2736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8" name="Oval 2737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9" name="Oval 2738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0" name="Oval 2739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1" name="Oval 2740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2" name="Oval 2741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3" name="Oval 2742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4" name="Oval 2743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5" name="Oval 2744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6" name="Oval 2745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7" name="Oval 2746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8" name="Oval 2747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9" name="Oval 2748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0" name="Oval 2749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1" name="Oval 2750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2" name="Oval 2751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3" name="Oval 2752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4" name="Oval 2753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5" name="Oval 2754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6" name="Oval 2755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7" name="Oval 2756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8" name="Oval 2757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9" name="Oval 2758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0" name="Oval 2759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1" name="Oval 2760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2" name="Oval 2761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3" name="Oval 2762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4" name="Oval 2763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5" name="Oval 2764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6" name="Oval 2765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7" name="Oval 2766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8" name="Oval 2767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9" name="Oval 2768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0" name="Oval 2769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1" name="Oval 2770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2" name="Oval 2771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3" name="Oval 2772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4" name="Oval 2773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5" name="Oval 2774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6" name="Oval 2775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7" name="Oval 2776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8" name="Oval 2777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9" name="Oval 2778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0" name="Oval 2779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1" name="Oval 2780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2" name="Oval 2781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3" name="Oval 2782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4" name="Oval 2783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5" name="Oval 2784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6" name="Oval 2785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7" name="Oval 2786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8" name="Oval 2787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9" name="Oval 2788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0" name="Oval 2789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1" name="Oval 2790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2" name="Oval 2791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3" name="Oval 2792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4" name="Oval 2793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5" name="Oval 2794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6" name="Oval 2795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7" name="Oval 2796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8" name="Oval 2797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9" name="Oval 2798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0" name="Oval 2799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1" name="Oval 2800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2" name="Oval 2801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3" name="Oval 2802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4" name="Oval 2803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5" name="Oval 2804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6" name="Oval 2805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7" name="Oval 2806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8" name="Oval 2807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9" name="Oval 2808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0" name="Oval 2809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1" name="Oval 2810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2" name="Oval 2811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3" name="Oval 2812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4" name="Oval 2813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5" name="Oval 2814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6" name="Oval 2815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7" name="Oval 2816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8" name="Oval 2817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9" name="Oval 2818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0" name="Oval 2819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1" name="Oval 2820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2" name="Oval 2821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3" name="Oval 2822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4" name="Oval 2823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5" name="Oval 2824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6" name="Oval 2825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7" name="Oval 2826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8" name="Oval 2827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9" name="Oval 2828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0" name="Oval 2829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1" name="Oval 2830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2" name="Oval 2831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3" name="Oval 2832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2833"/>
            <p:cNvGrpSpPr>
              <a:grpSpLocks noChangeAspect="1"/>
            </p:cNvGrpSpPr>
            <p:nvPr/>
          </p:nvGrpSpPr>
          <p:grpSpPr>
            <a:xfrm>
              <a:off x="533400" y="4252445"/>
              <a:ext cx="1679244" cy="1108028"/>
              <a:chOff x="1436427" y="1856663"/>
              <a:chExt cx="6716973" cy="4432111"/>
            </a:xfrm>
          </p:grpSpPr>
          <p:sp>
            <p:nvSpPr>
              <p:cNvPr id="2835" name="Oval 2834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6" name="Oval 2835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7" name="Oval 2836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8" name="Oval 2837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9" name="Oval 2838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0" name="Oval 2839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1" name="Oval 2840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2" name="Oval 2841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3" name="Oval 2842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4" name="Oval 2843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5" name="Oval 2844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6" name="Oval 2845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7" name="Oval 2846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8" name="Oval 2847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9" name="Oval 2848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0" name="Oval 2849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1" name="Oval 2850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2" name="Oval 2851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3" name="Oval 2852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4" name="Oval 2853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5" name="Oval 2854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6" name="Oval 2855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7" name="Oval 2856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8" name="Oval 2857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9" name="Oval 2858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0" name="Oval 2859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1" name="Oval 2860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2" name="Oval 2861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3" name="Oval 2862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4" name="Oval 2863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5" name="Oval 2864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6" name="Oval 2865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7" name="Oval 2866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8" name="Oval 2867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9" name="Oval 2868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0" name="Oval 2869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1" name="Oval 2870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2" name="Oval 2871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3" name="Oval 2872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4" name="Oval 2873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5" name="Oval 2874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6" name="Oval 2875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7" name="Oval 2876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8" name="Oval 2877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9" name="Oval 2878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0" name="Oval 2879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1" name="Oval 2880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2" name="Oval 2881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3" name="Oval 2882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4" name="Oval 2883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5" name="Oval 2884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6" name="Oval 2885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7" name="Oval 2886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8" name="Oval 2887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9" name="Oval 2888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0" name="Oval 2889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1" name="Oval 2890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2" name="Oval 2891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3" name="Oval 2892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4" name="Oval 2893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5" name="Oval 2894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6" name="Oval 2895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7" name="Oval 2896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8" name="Oval 2897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9" name="Oval 2898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0" name="Oval 2899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1" name="Oval 2900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2" name="Oval 2901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3" name="Oval 2902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4" name="Oval 2903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5" name="Oval 2904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6" name="Oval 2905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7" name="Oval 2906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8" name="Oval 2907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9" name="Oval 2908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0" name="Oval 2909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1" name="Oval 2910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2" name="Oval 2911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3" name="Oval 2912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4" name="Oval 2913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5" name="Oval 2914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6" name="Oval 2915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7" name="Oval 2916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8" name="Oval 2917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9" name="Oval 2918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0" name="Oval 2919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1" name="Oval 2920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2" name="Oval 2921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3" name="Oval 2922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4" name="Oval 2923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5" name="Oval 2924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6" name="Oval 2925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7" name="Oval 2926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8" name="Oval 2927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9" name="Oval 2928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0" name="Oval 2929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1" name="Oval 2930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2" name="Oval 2931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3" name="Oval 2932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4" name="Oval 2933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934"/>
            <p:cNvGrpSpPr>
              <a:grpSpLocks noChangeAspect="1"/>
            </p:cNvGrpSpPr>
            <p:nvPr/>
          </p:nvGrpSpPr>
          <p:grpSpPr>
            <a:xfrm>
              <a:off x="2286000" y="4252445"/>
              <a:ext cx="1679244" cy="1108028"/>
              <a:chOff x="1436427" y="1856663"/>
              <a:chExt cx="6716973" cy="4432111"/>
            </a:xfrm>
          </p:grpSpPr>
          <p:sp>
            <p:nvSpPr>
              <p:cNvPr id="2936" name="Oval 2935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7" name="Oval 2936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8" name="Oval 2937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9" name="Oval 2938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0" name="Oval 2939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1" name="Oval 2940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2" name="Oval 2941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3" name="Oval 2942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4" name="Oval 2943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5" name="Oval 2944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6" name="Oval 2945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7" name="Oval 2946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8" name="Oval 2947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9" name="Oval 2948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0" name="Oval 2949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1" name="Oval 2950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2" name="Oval 2951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3" name="Oval 2952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4" name="Oval 2953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5" name="Oval 2954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6" name="Oval 2955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7" name="Oval 2956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8" name="Oval 2957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9" name="Oval 2958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0" name="Oval 2959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1" name="Oval 2960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2" name="Oval 2961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3" name="Oval 2962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4" name="Oval 2963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5" name="Oval 2964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6" name="Oval 2965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7" name="Oval 2966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8" name="Oval 2967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9" name="Oval 2968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0" name="Oval 2969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1" name="Oval 2970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2" name="Oval 2971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3" name="Oval 2972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4" name="Oval 2973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5" name="Oval 2974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6" name="Oval 2975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7" name="Oval 2976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8" name="Oval 2977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9" name="Oval 2978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0" name="Oval 2979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1" name="Oval 2980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2" name="Oval 2981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3" name="Oval 2982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4" name="Oval 2983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5" name="Oval 2984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6" name="Oval 2985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7" name="Oval 2986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8" name="Oval 2987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9" name="Oval 2988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0" name="Oval 2989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1" name="Oval 2990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2" name="Oval 2991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3" name="Oval 2992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4" name="Oval 2993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5" name="Oval 2994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6" name="Oval 2995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7" name="Oval 2996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8" name="Oval 2997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9" name="Oval 2998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0" name="Oval 2999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1" name="Oval 3000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2" name="Oval 3001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3" name="Oval 3002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4" name="Oval 3003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5" name="Oval 3004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6" name="Oval 3005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7" name="Oval 3006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8" name="Oval 3007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9" name="Oval 3008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0" name="Oval 3009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1" name="Oval 3010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2" name="Oval 3011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3" name="Oval 3012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4" name="Oval 3013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5" name="Oval 3014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6" name="Oval 3015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7" name="Oval 3016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8" name="Oval 3017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9" name="Oval 3018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0" name="Oval 3019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1" name="Oval 3020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2" name="Oval 3021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3" name="Oval 3022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4" name="Oval 3023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5" name="Oval 3024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6" name="Oval 3025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7" name="Oval 3026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8" name="Oval 3027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9" name="Oval 3028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0" name="Oval 3029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1" name="Oval 3030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2" name="Oval 3031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3" name="Oval 3032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4" name="Oval 3033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5" name="Oval 3034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3035"/>
            <p:cNvGrpSpPr>
              <a:grpSpLocks noChangeAspect="1"/>
            </p:cNvGrpSpPr>
            <p:nvPr/>
          </p:nvGrpSpPr>
          <p:grpSpPr>
            <a:xfrm>
              <a:off x="3962400" y="4293673"/>
              <a:ext cx="1679244" cy="1108028"/>
              <a:chOff x="1436427" y="1856663"/>
              <a:chExt cx="6716973" cy="4432111"/>
            </a:xfrm>
          </p:grpSpPr>
          <p:sp>
            <p:nvSpPr>
              <p:cNvPr id="3037" name="Oval 3036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8" name="Oval 3037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9" name="Oval 3038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0" name="Oval 3039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1" name="Oval 3040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2" name="Oval 3041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3" name="Oval 3042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4" name="Oval 3043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5" name="Oval 3044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6" name="Oval 3045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7" name="Oval 3046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8" name="Oval 3047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9" name="Oval 3048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0" name="Oval 3049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1" name="Oval 3050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2" name="Oval 3051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3" name="Oval 3052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4" name="Oval 3053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5" name="Oval 3054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6" name="Oval 3055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7" name="Oval 3056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8" name="Oval 3057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9" name="Oval 3058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0" name="Oval 3059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1" name="Oval 3060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2" name="Oval 3061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3" name="Oval 3062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4" name="Oval 3063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5" name="Oval 3064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6" name="Oval 3065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7" name="Oval 3066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8" name="Oval 3067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9" name="Oval 3068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0" name="Oval 3069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1" name="Oval 3070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2" name="Oval 3071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3" name="Oval 3072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4" name="Oval 3073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5" name="Oval 3074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6" name="Oval 3075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7" name="Oval 3076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8" name="Oval 3077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9" name="Oval 3078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0" name="Oval 3079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1" name="Oval 3080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2" name="Oval 3081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3" name="Oval 3082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4" name="Oval 3083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5" name="Oval 3084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6" name="Oval 3085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7" name="Oval 3086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8" name="Oval 3087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9" name="Oval 3088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0" name="Oval 3089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1" name="Oval 3090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2" name="Oval 3091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3" name="Oval 3092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4" name="Oval 3093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5" name="Oval 3094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6" name="Oval 3095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7" name="Oval 3096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8" name="Oval 3097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9" name="Oval 3098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0" name="Oval 3099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1" name="Oval 3100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2" name="Oval 3101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3" name="Oval 3102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4" name="Oval 3103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5" name="Oval 3104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6" name="Oval 3105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7" name="Oval 3106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8" name="Oval 3107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9" name="Oval 3108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0" name="Oval 3109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1" name="Oval 3110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2" name="Oval 3111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3" name="Oval 3112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4" name="Oval 3113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5" name="Oval 3114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6" name="Oval 3115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7" name="Oval 3116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8" name="Oval 3117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9" name="Oval 3118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0" name="Oval 3119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1" name="Oval 3120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2" name="Oval 3121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3" name="Oval 3122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4" name="Oval 3123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5" name="Oval 3124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6" name="Oval 3125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7" name="Oval 3126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8" name="Oval 3127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9" name="Oval 3128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0" name="Oval 3129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1" name="Oval 3130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2" name="Oval 3131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3" name="Oval 3132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4" name="Oval 3133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5" name="Oval 3134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6" name="Oval 3135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3136"/>
            <p:cNvGrpSpPr>
              <a:grpSpLocks noChangeAspect="1"/>
            </p:cNvGrpSpPr>
            <p:nvPr/>
          </p:nvGrpSpPr>
          <p:grpSpPr>
            <a:xfrm>
              <a:off x="5638800" y="4252445"/>
              <a:ext cx="1679244" cy="1108028"/>
              <a:chOff x="1436427" y="1856663"/>
              <a:chExt cx="6716973" cy="4432111"/>
            </a:xfrm>
          </p:grpSpPr>
          <p:sp>
            <p:nvSpPr>
              <p:cNvPr id="3138" name="Oval 3137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9" name="Oval 3138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0" name="Oval 3139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1" name="Oval 3140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2" name="Oval 3141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3" name="Oval 3142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4" name="Oval 3143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5" name="Oval 3144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6" name="Oval 3145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7" name="Oval 3146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8" name="Oval 3147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9" name="Oval 3148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0" name="Oval 3149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1" name="Oval 3150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2" name="Oval 3151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3" name="Oval 3152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4" name="Oval 3153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5" name="Oval 3154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6" name="Oval 3155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7" name="Oval 3156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8" name="Oval 3157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9" name="Oval 3158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0" name="Oval 3159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1" name="Oval 3160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2" name="Oval 3161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3" name="Oval 3162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4" name="Oval 3163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5" name="Oval 3164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6" name="Oval 3165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7" name="Oval 3166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8" name="Oval 3167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9" name="Oval 3168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0" name="Oval 3169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1" name="Oval 3170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2" name="Oval 3171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3" name="Oval 3172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4" name="Oval 3173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5" name="Oval 3174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6" name="Oval 3175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7" name="Oval 3176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8" name="Oval 3177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9" name="Oval 3178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0" name="Oval 3179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1" name="Oval 3180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2" name="Oval 3181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3" name="Oval 3182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4" name="Oval 3183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5" name="Oval 3184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6" name="Oval 3185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7" name="Oval 3186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8" name="Oval 3187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9" name="Oval 3188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0" name="Oval 3189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1" name="Oval 3190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2" name="Oval 3191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3" name="Oval 3192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4" name="Oval 3193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5" name="Oval 3194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6" name="Oval 3195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7" name="Oval 3196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8" name="Oval 3197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9" name="Oval 3198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0" name="Oval 3199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1" name="Oval 3200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2" name="Oval 3201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3" name="Oval 3202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4" name="Oval 3203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5" name="Oval 3204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6" name="Oval 3205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7" name="Oval 3206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8" name="Oval 3207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9" name="Oval 3208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0" name="Oval 3209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1" name="Oval 3210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2" name="Oval 3211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3" name="Oval 3212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4" name="Oval 3213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5" name="Oval 3214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6" name="Oval 3215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7" name="Oval 3216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8" name="Oval 3217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9" name="Oval 3218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0" name="Oval 3219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1" name="Oval 3220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2" name="Oval 3221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3" name="Oval 3222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4" name="Oval 3223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5" name="Oval 3224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6" name="Oval 3225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7" name="Oval 3226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8" name="Oval 3227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9" name="Oval 3228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0" name="Oval 3229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1" name="Oval 3230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2" name="Oval 3231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3" name="Oval 3232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4" name="Oval 3233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5" name="Oval 3234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6" name="Oval 3235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7" name="Oval 3236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3237"/>
            <p:cNvGrpSpPr>
              <a:grpSpLocks noChangeAspect="1"/>
            </p:cNvGrpSpPr>
            <p:nvPr/>
          </p:nvGrpSpPr>
          <p:grpSpPr>
            <a:xfrm>
              <a:off x="7236156" y="4293673"/>
              <a:ext cx="1679244" cy="1108028"/>
              <a:chOff x="1436427" y="1856663"/>
              <a:chExt cx="6716973" cy="4432111"/>
            </a:xfrm>
          </p:grpSpPr>
          <p:sp>
            <p:nvSpPr>
              <p:cNvPr id="3239" name="Oval 3238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0" name="Oval 3239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1" name="Oval 3240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2" name="Oval 3241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3" name="Oval 3242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4" name="Oval 3243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5" name="Oval 3244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6" name="Oval 3245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7" name="Oval 3246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8" name="Oval 3247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9" name="Oval 3248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0" name="Oval 3249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1" name="Oval 3250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2" name="Oval 3251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3" name="Oval 3252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4" name="Oval 3253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5" name="Oval 3254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6" name="Oval 3255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7" name="Oval 3256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8" name="Oval 3257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9" name="Oval 3258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0" name="Oval 3259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1" name="Oval 3260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2" name="Oval 3261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3" name="Oval 3262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4" name="Oval 3263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5" name="Oval 3264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6" name="Oval 3265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7" name="Oval 3266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8" name="Oval 3267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9" name="Oval 3268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0" name="Oval 3269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1" name="Oval 3270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2" name="Oval 3271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3" name="Oval 3272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4" name="Oval 3273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5" name="Oval 3274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6" name="Oval 3275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7" name="Oval 3276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8" name="Oval 3277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9" name="Oval 3278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0" name="Oval 3279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1" name="Oval 3280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2" name="Oval 3281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3" name="Oval 3282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4" name="Oval 3283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5" name="Oval 3284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6" name="Oval 3285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7" name="Oval 3286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8" name="Oval 3287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9" name="Oval 3288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0" name="Oval 3289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1" name="Oval 3290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2" name="Oval 3291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3" name="Oval 3292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4" name="Oval 3293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5" name="Oval 3294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6" name="Oval 3295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7" name="Oval 3296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8" name="Oval 3297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9" name="Oval 3298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0" name="Oval 3299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1" name="Oval 3300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2" name="Oval 3301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3" name="Oval 3302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4" name="Oval 3303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5" name="Oval 3304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6" name="Oval 3305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7" name="Oval 3306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8" name="Oval 3307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9" name="Oval 3308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0" name="Oval 3309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1" name="Oval 3310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2" name="Oval 3311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3" name="Oval 3312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4" name="Oval 3313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5" name="Oval 3314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6" name="Oval 3315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7" name="Oval 3316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8" name="Oval 3317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9" name="Oval 3318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0" name="Oval 3319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1" name="Oval 3320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2" name="Oval 3321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3" name="Oval 3322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4" name="Oval 3323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5" name="Oval 3324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6" name="Oval 3325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7" name="Oval 3326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8" name="Oval 3327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9" name="Oval 3328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0" name="Oval 3329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1" name="Oval 3330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2" name="Oval 3331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3" name="Oval 3332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4" name="Oval 3333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5" name="Oval 3334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6" name="Oval 3335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7" name="Oval 3336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8" name="Oval 3337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3338"/>
            <p:cNvGrpSpPr>
              <a:grpSpLocks noChangeAspect="1"/>
            </p:cNvGrpSpPr>
            <p:nvPr/>
          </p:nvGrpSpPr>
          <p:grpSpPr>
            <a:xfrm>
              <a:off x="381000" y="5319245"/>
              <a:ext cx="1679244" cy="1108028"/>
              <a:chOff x="1436427" y="1856663"/>
              <a:chExt cx="6716973" cy="4432111"/>
            </a:xfrm>
          </p:grpSpPr>
          <p:sp>
            <p:nvSpPr>
              <p:cNvPr id="3340" name="Oval 3339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1" name="Oval 3340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2" name="Oval 3341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3" name="Oval 3342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4" name="Oval 3343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5" name="Oval 3344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6" name="Oval 3345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7" name="Oval 3346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8" name="Oval 3347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9" name="Oval 3348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0" name="Oval 3349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1" name="Oval 3350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2" name="Oval 3351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3" name="Oval 3352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4" name="Oval 3353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5" name="Oval 3354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6" name="Oval 3355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7" name="Oval 3356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8" name="Oval 3357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9" name="Oval 3358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0" name="Oval 3359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1" name="Oval 3360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2" name="Oval 3361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3" name="Oval 3362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4" name="Oval 3363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5" name="Oval 3364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6" name="Oval 3365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7" name="Oval 3366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8" name="Oval 3367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9" name="Oval 3368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0" name="Oval 3369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1" name="Oval 3370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2" name="Oval 3371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3" name="Oval 3372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4" name="Oval 3373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5" name="Oval 3374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6" name="Oval 3375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7" name="Oval 3376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8" name="Oval 3377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9" name="Oval 3378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0" name="Oval 3379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1" name="Oval 3380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2" name="Oval 3381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3" name="Oval 3382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4" name="Oval 3383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5" name="Oval 3384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6" name="Oval 3385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7" name="Oval 3386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8" name="Oval 3387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9" name="Oval 3388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0" name="Oval 3389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1" name="Oval 3390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2" name="Oval 3391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3" name="Oval 3392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4" name="Oval 3393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5" name="Oval 3394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6" name="Oval 3395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7" name="Oval 3396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8" name="Oval 3397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9" name="Oval 3398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0" name="Oval 3399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1" name="Oval 3400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2" name="Oval 3401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3" name="Oval 3402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4" name="Oval 3403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5" name="Oval 3404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6" name="Oval 3405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7" name="Oval 3406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8" name="Oval 3407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9" name="Oval 3408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0" name="Oval 3409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1" name="Oval 3410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2" name="Oval 3411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3" name="Oval 3412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4" name="Oval 3413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5" name="Oval 3414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6" name="Oval 3415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7" name="Oval 3416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8" name="Oval 3417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9" name="Oval 3418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0" name="Oval 3419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1" name="Oval 3420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2" name="Oval 3421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3" name="Oval 3422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4" name="Oval 3423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5" name="Oval 3424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6" name="Oval 3425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7" name="Oval 3426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8" name="Oval 3427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9" name="Oval 3428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0" name="Oval 3429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1" name="Oval 3430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2" name="Oval 3431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3" name="Oval 3432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4" name="Oval 3433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5" name="Oval 3434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6" name="Oval 3435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7" name="Oval 3436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8" name="Oval 3437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9" name="Oval 3438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3540"/>
            <p:cNvGrpSpPr>
              <a:grpSpLocks noChangeAspect="1"/>
            </p:cNvGrpSpPr>
            <p:nvPr/>
          </p:nvGrpSpPr>
          <p:grpSpPr>
            <a:xfrm>
              <a:off x="3959556" y="5319245"/>
              <a:ext cx="1679244" cy="1108028"/>
              <a:chOff x="1436427" y="1856663"/>
              <a:chExt cx="6716973" cy="4432111"/>
            </a:xfrm>
          </p:grpSpPr>
          <p:sp>
            <p:nvSpPr>
              <p:cNvPr id="3542" name="Oval 3541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3" name="Oval 3542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4" name="Oval 3543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5" name="Oval 3544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6" name="Oval 3545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7" name="Oval 3546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8" name="Oval 3547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9" name="Oval 3548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0" name="Oval 3549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1" name="Oval 3550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2" name="Oval 3551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3" name="Oval 3552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4" name="Oval 3553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5" name="Oval 3554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6" name="Oval 3555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7" name="Oval 3556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8" name="Oval 3557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9" name="Oval 3558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0" name="Oval 3559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1" name="Oval 3560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2" name="Oval 3561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3" name="Oval 3562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4" name="Oval 3563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5" name="Oval 3564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6" name="Oval 3565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7" name="Oval 3566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8" name="Oval 3567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9" name="Oval 3568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0" name="Oval 3569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1" name="Oval 3570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2" name="Oval 3571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3" name="Oval 3572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4" name="Oval 3573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5" name="Oval 3574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6" name="Oval 3575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7" name="Oval 3576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8" name="Oval 3577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9" name="Oval 3578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0" name="Oval 3579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1" name="Oval 3580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2" name="Oval 3581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3" name="Oval 3582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4" name="Oval 3583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5" name="Oval 3584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6" name="Oval 3585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7" name="Oval 3586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8" name="Oval 3587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9" name="Oval 3588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0" name="Oval 3589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1" name="Oval 3590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2" name="Oval 3591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3" name="Oval 3592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4" name="Oval 3593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5" name="Oval 3594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6" name="Oval 3595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7" name="Oval 3596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8" name="Oval 3597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9" name="Oval 3598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0" name="Oval 3599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1" name="Oval 3600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2" name="Oval 3601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3" name="Oval 3602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4" name="Oval 3603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5" name="Oval 3604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6" name="Oval 3605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7" name="Oval 3606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8" name="Oval 3607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9" name="Oval 3608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0" name="Oval 3609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1" name="Oval 3610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2" name="Oval 3611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3" name="Oval 3612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4" name="Oval 3613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5" name="Oval 3614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6" name="Oval 3615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7" name="Oval 3616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8" name="Oval 3617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9" name="Oval 3618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0" name="Oval 3619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1" name="Oval 3620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2" name="Oval 3621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3" name="Oval 3622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4" name="Oval 3623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5" name="Oval 3624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6" name="Oval 3625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7" name="Oval 3626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8" name="Oval 3627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9" name="Oval 3628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0" name="Oval 3629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1" name="Oval 3630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2" name="Oval 3631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3" name="Oval 3632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4" name="Oval 3633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5" name="Oval 3634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6" name="Oval 3635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7" name="Oval 3636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8" name="Oval 3637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9" name="Oval 3638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0" name="Oval 3639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1" name="Oval 3640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3641"/>
            <p:cNvGrpSpPr>
              <a:grpSpLocks noChangeAspect="1"/>
            </p:cNvGrpSpPr>
            <p:nvPr/>
          </p:nvGrpSpPr>
          <p:grpSpPr>
            <a:xfrm>
              <a:off x="5559756" y="5319245"/>
              <a:ext cx="1679244" cy="1108028"/>
              <a:chOff x="1436427" y="1856663"/>
              <a:chExt cx="6716973" cy="4432111"/>
            </a:xfrm>
          </p:grpSpPr>
          <p:sp>
            <p:nvSpPr>
              <p:cNvPr id="3643" name="Oval 3642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4" name="Oval 3643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5" name="Oval 3644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6" name="Oval 3645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7" name="Oval 3646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8" name="Oval 3647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9" name="Oval 3648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0" name="Oval 3649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1" name="Oval 3650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2" name="Oval 3651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3" name="Oval 3652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4" name="Oval 3653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5" name="Oval 3654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6" name="Oval 3655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7" name="Oval 3656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8" name="Oval 3657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9" name="Oval 3658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0" name="Oval 3659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1" name="Oval 3660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2" name="Oval 3661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3" name="Oval 3662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4" name="Oval 3663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5" name="Oval 3664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6" name="Oval 3665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7" name="Oval 3666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8" name="Oval 3667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9" name="Oval 3668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0" name="Oval 3669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1" name="Oval 3670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2" name="Oval 3671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3" name="Oval 3672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4" name="Oval 3673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5" name="Oval 3674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6" name="Oval 3675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7" name="Oval 3676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8" name="Oval 3677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9" name="Oval 3678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0" name="Oval 3679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1" name="Oval 3680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2" name="Oval 3681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3" name="Oval 3682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4" name="Oval 3683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5" name="Oval 3684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6" name="Oval 3685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7" name="Oval 3686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8" name="Oval 3687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9" name="Oval 3688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0" name="Oval 3689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1" name="Oval 3690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2" name="Oval 3691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3" name="Oval 3692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4" name="Oval 3693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5" name="Oval 3694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6" name="Oval 3695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7" name="Oval 3696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8" name="Oval 3697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9" name="Oval 3698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0" name="Oval 3699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1" name="Oval 3700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2" name="Oval 3701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3" name="Oval 3702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4" name="Oval 3703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5" name="Oval 3704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6" name="Oval 3705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7" name="Oval 3706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8" name="Oval 3707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9" name="Oval 3708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0" name="Oval 3709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1" name="Oval 3710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2" name="Oval 3711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3" name="Oval 3712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4" name="Oval 3713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5" name="Oval 3714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6" name="Oval 3715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7" name="Oval 3716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8" name="Oval 3717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9" name="Oval 3718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0" name="Oval 3719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1" name="Oval 3720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2" name="Oval 3721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3" name="Oval 3722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4" name="Oval 3723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5" name="Oval 3724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6" name="Oval 3725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7" name="Oval 3726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8" name="Oval 3727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9" name="Oval 3728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0" name="Oval 3729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1" name="Oval 3730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2" name="Oval 3731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3" name="Oval 3732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4" name="Oval 3733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5" name="Oval 3734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6" name="Oval 3735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7" name="Oval 3736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8" name="Oval 3737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9" name="Oval 3738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0" name="Oval 3739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1" name="Oval 3740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2" name="Oval 3741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3742"/>
            <p:cNvGrpSpPr>
              <a:grpSpLocks noChangeAspect="1"/>
            </p:cNvGrpSpPr>
            <p:nvPr/>
          </p:nvGrpSpPr>
          <p:grpSpPr>
            <a:xfrm>
              <a:off x="7236156" y="5319245"/>
              <a:ext cx="1679244" cy="1108028"/>
              <a:chOff x="1436427" y="1856663"/>
              <a:chExt cx="6716973" cy="4432111"/>
            </a:xfrm>
          </p:grpSpPr>
          <p:sp>
            <p:nvSpPr>
              <p:cNvPr id="3744" name="Oval 3743"/>
              <p:cNvSpPr>
                <a:spLocks noChangeAspect="1"/>
              </p:cNvSpPr>
              <p:nvPr/>
            </p:nvSpPr>
            <p:spPr>
              <a:xfrm>
                <a:off x="1436427" y="18566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5" name="Oval 3744"/>
              <p:cNvSpPr>
                <a:spLocks noChangeAspect="1"/>
              </p:cNvSpPr>
              <p:nvPr/>
            </p:nvSpPr>
            <p:spPr>
              <a:xfrm>
                <a:off x="6248400" y="19709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6" name="Oval 3745"/>
              <p:cNvSpPr>
                <a:spLocks noChangeAspect="1"/>
              </p:cNvSpPr>
              <p:nvPr/>
            </p:nvSpPr>
            <p:spPr>
              <a:xfrm>
                <a:off x="7658100" y="244351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7" name="Oval 3746"/>
              <p:cNvSpPr>
                <a:spLocks noChangeAspect="1"/>
              </p:cNvSpPr>
              <p:nvPr/>
            </p:nvSpPr>
            <p:spPr>
              <a:xfrm>
                <a:off x="4457700" y="20312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8" name="Oval 3747"/>
              <p:cNvSpPr>
                <a:spLocks noChangeAspect="1"/>
              </p:cNvSpPr>
              <p:nvPr/>
            </p:nvSpPr>
            <p:spPr>
              <a:xfrm>
                <a:off x="5769591" y="1916941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9" name="Oval 3748"/>
              <p:cNvSpPr>
                <a:spLocks noChangeAspect="1"/>
              </p:cNvSpPr>
              <p:nvPr/>
            </p:nvSpPr>
            <p:spPr>
              <a:xfrm>
                <a:off x="5057064" y="19937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0" name="Oval 3749"/>
              <p:cNvSpPr>
                <a:spLocks noChangeAspect="1"/>
              </p:cNvSpPr>
              <p:nvPr/>
            </p:nvSpPr>
            <p:spPr>
              <a:xfrm>
                <a:off x="3807725" y="185666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1" name="Oval 3750"/>
              <p:cNvSpPr>
                <a:spLocks noChangeAspect="1"/>
              </p:cNvSpPr>
              <p:nvPr/>
            </p:nvSpPr>
            <p:spPr>
              <a:xfrm>
                <a:off x="3244755" y="191694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2" name="Oval 3751"/>
              <p:cNvSpPr>
                <a:spLocks noChangeAspect="1"/>
              </p:cNvSpPr>
              <p:nvPr/>
            </p:nvSpPr>
            <p:spPr>
              <a:xfrm>
                <a:off x="2819400" y="1993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3" name="Oval 3752"/>
              <p:cNvSpPr>
                <a:spLocks noChangeAspect="1"/>
              </p:cNvSpPr>
              <p:nvPr/>
            </p:nvSpPr>
            <p:spPr>
              <a:xfrm>
                <a:off x="2209800" y="20136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4" name="Oval 3753"/>
              <p:cNvSpPr>
                <a:spLocks noChangeAspect="1"/>
              </p:cNvSpPr>
              <p:nvPr/>
            </p:nvSpPr>
            <p:spPr>
              <a:xfrm>
                <a:off x="1666164" y="26033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5" name="Oval 3754"/>
              <p:cNvSpPr>
                <a:spLocks noChangeAspect="1"/>
              </p:cNvSpPr>
              <p:nvPr/>
            </p:nvSpPr>
            <p:spPr>
              <a:xfrm>
                <a:off x="6750524" y="239802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6" name="Oval 3755"/>
              <p:cNvSpPr>
                <a:spLocks noChangeAspect="1"/>
              </p:cNvSpPr>
              <p:nvPr/>
            </p:nvSpPr>
            <p:spPr>
              <a:xfrm>
                <a:off x="7300984" y="18794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7" name="Oval 3756"/>
              <p:cNvSpPr>
                <a:spLocks noChangeAspect="1"/>
              </p:cNvSpPr>
              <p:nvPr/>
            </p:nvSpPr>
            <p:spPr>
              <a:xfrm>
                <a:off x="4950725" y="248047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8" name="Oval 3757"/>
              <p:cNvSpPr>
                <a:spLocks noChangeAspect="1"/>
              </p:cNvSpPr>
              <p:nvPr/>
            </p:nvSpPr>
            <p:spPr>
              <a:xfrm>
                <a:off x="6003309" y="26044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9" name="Oval 3758"/>
              <p:cNvSpPr>
                <a:spLocks noChangeAspect="1"/>
              </p:cNvSpPr>
              <p:nvPr/>
            </p:nvSpPr>
            <p:spPr>
              <a:xfrm>
                <a:off x="5528480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0" name="Oval 3759"/>
              <p:cNvSpPr>
                <a:spLocks noChangeAspect="1"/>
              </p:cNvSpPr>
              <p:nvPr/>
            </p:nvSpPr>
            <p:spPr>
              <a:xfrm>
                <a:off x="4263219" y="23747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1" name="Oval 3760"/>
              <p:cNvSpPr>
                <a:spLocks noChangeAspect="1"/>
              </p:cNvSpPr>
              <p:nvPr/>
            </p:nvSpPr>
            <p:spPr>
              <a:xfrm>
                <a:off x="3761664" y="2429868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2" name="Oval 3761"/>
              <p:cNvSpPr>
                <a:spLocks noChangeAspect="1"/>
              </p:cNvSpPr>
              <p:nvPr/>
            </p:nvSpPr>
            <p:spPr>
              <a:xfrm>
                <a:off x="3200400" y="241849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3" name="Oval 3762"/>
              <p:cNvSpPr>
                <a:spLocks noChangeAspect="1"/>
              </p:cNvSpPr>
              <p:nvPr/>
            </p:nvSpPr>
            <p:spPr>
              <a:xfrm>
                <a:off x="2379260" y="269031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4" name="Oval 3763"/>
              <p:cNvSpPr>
                <a:spLocks noChangeAspect="1"/>
              </p:cNvSpPr>
              <p:nvPr/>
            </p:nvSpPr>
            <p:spPr>
              <a:xfrm>
                <a:off x="1940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5" name="Oval 3764"/>
              <p:cNvSpPr>
                <a:spLocks noChangeAspect="1"/>
              </p:cNvSpPr>
              <p:nvPr/>
            </p:nvSpPr>
            <p:spPr>
              <a:xfrm>
                <a:off x="5889009" y="55045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6" name="Oval 3765"/>
              <p:cNvSpPr>
                <a:spLocks noChangeAspect="1"/>
              </p:cNvSpPr>
              <p:nvPr/>
            </p:nvSpPr>
            <p:spPr>
              <a:xfrm>
                <a:off x="6804546" y="510596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7" name="Oval 3766"/>
              <p:cNvSpPr>
                <a:spLocks noChangeAspect="1"/>
              </p:cNvSpPr>
              <p:nvPr/>
            </p:nvSpPr>
            <p:spPr>
              <a:xfrm>
                <a:off x="4722125" y="5199228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8" name="Oval 3767"/>
              <p:cNvSpPr>
                <a:spLocks noChangeAspect="1"/>
              </p:cNvSpPr>
              <p:nvPr/>
            </p:nvSpPr>
            <p:spPr>
              <a:xfrm>
                <a:off x="5522225" y="50673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9" name="Oval 3768"/>
              <p:cNvSpPr>
                <a:spLocks noChangeAspect="1"/>
              </p:cNvSpPr>
              <p:nvPr/>
            </p:nvSpPr>
            <p:spPr>
              <a:xfrm>
                <a:off x="5217425" y="53902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0" name="Oval 3769"/>
              <p:cNvSpPr>
                <a:spLocks noChangeAspect="1"/>
              </p:cNvSpPr>
              <p:nvPr/>
            </p:nvSpPr>
            <p:spPr>
              <a:xfrm>
                <a:off x="42268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1" name="Oval 3770"/>
              <p:cNvSpPr>
                <a:spLocks noChangeAspect="1"/>
              </p:cNvSpPr>
              <p:nvPr/>
            </p:nvSpPr>
            <p:spPr>
              <a:xfrm>
                <a:off x="3693425" y="51816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2" name="Oval 3771"/>
              <p:cNvSpPr>
                <a:spLocks noChangeAspect="1"/>
              </p:cNvSpPr>
              <p:nvPr/>
            </p:nvSpPr>
            <p:spPr>
              <a:xfrm>
                <a:off x="3083825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3" name="Oval 3772"/>
              <p:cNvSpPr>
                <a:spLocks noChangeAspect="1"/>
              </p:cNvSpPr>
              <p:nvPr/>
            </p:nvSpPr>
            <p:spPr>
              <a:xfrm>
                <a:off x="2474225" y="51816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4" name="Oval 3773"/>
              <p:cNvSpPr>
                <a:spLocks noChangeAspect="1"/>
              </p:cNvSpPr>
              <p:nvPr/>
            </p:nvSpPr>
            <p:spPr>
              <a:xfrm>
                <a:off x="1485900" y="34756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5" name="Oval 3774"/>
              <p:cNvSpPr>
                <a:spLocks noChangeAspect="1"/>
              </p:cNvSpPr>
              <p:nvPr/>
            </p:nvSpPr>
            <p:spPr>
              <a:xfrm>
                <a:off x="5434084" y="38185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6" name="Oval 3775"/>
              <p:cNvSpPr>
                <a:spLocks noChangeAspect="1"/>
              </p:cNvSpPr>
              <p:nvPr/>
            </p:nvSpPr>
            <p:spPr>
              <a:xfrm>
                <a:off x="6019800" y="351145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7" name="Oval 3776"/>
              <p:cNvSpPr>
                <a:spLocks noChangeAspect="1"/>
              </p:cNvSpPr>
              <p:nvPr/>
            </p:nvSpPr>
            <p:spPr>
              <a:xfrm>
                <a:off x="4267200" y="351316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8" name="Oval 3777"/>
              <p:cNvSpPr>
                <a:spLocks noChangeAspect="1"/>
              </p:cNvSpPr>
              <p:nvPr/>
            </p:nvSpPr>
            <p:spPr>
              <a:xfrm>
                <a:off x="5067300" y="33812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9" name="Oval 3778"/>
              <p:cNvSpPr>
                <a:spLocks noChangeAspect="1"/>
              </p:cNvSpPr>
              <p:nvPr/>
            </p:nvSpPr>
            <p:spPr>
              <a:xfrm>
                <a:off x="4762500" y="37042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0" name="Oval 3779"/>
              <p:cNvSpPr>
                <a:spLocks noChangeAspect="1"/>
              </p:cNvSpPr>
              <p:nvPr/>
            </p:nvSpPr>
            <p:spPr>
              <a:xfrm>
                <a:off x="37719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1" name="Oval 3780"/>
              <p:cNvSpPr>
                <a:spLocks noChangeAspect="1"/>
              </p:cNvSpPr>
              <p:nvPr/>
            </p:nvSpPr>
            <p:spPr>
              <a:xfrm>
                <a:off x="2719885" y="32800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2" name="Oval 3781"/>
              <p:cNvSpPr>
                <a:spLocks noChangeAspect="1"/>
              </p:cNvSpPr>
              <p:nvPr/>
            </p:nvSpPr>
            <p:spPr>
              <a:xfrm>
                <a:off x="2474225" y="379293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3" name="Oval 3782"/>
              <p:cNvSpPr>
                <a:spLocks noChangeAspect="1"/>
              </p:cNvSpPr>
              <p:nvPr/>
            </p:nvSpPr>
            <p:spPr>
              <a:xfrm>
                <a:off x="2019300" y="349553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4" name="Oval 3783"/>
              <p:cNvSpPr>
                <a:spLocks noChangeAspect="1"/>
              </p:cNvSpPr>
              <p:nvPr/>
            </p:nvSpPr>
            <p:spPr>
              <a:xfrm>
                <a:off x="3238500" y="29274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5" name="Oval 3784"/>
              <p:cNvSpPr>
                <a:spLocks noChangeAspect="1"/>
              </p:cNvSpPr>
              <p:nvPr/>
            </p:nvSpPr>
            <p:spPr>
              <a:xfrm>
                <a:off x="7186684" y="327034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6" name="Oval 3785"/>
              <p:cNvSpPr>
                <a:spLocks noChangeAspect="1"/>
              </p:cNvSpPr>
              <p:nvPr/>
            </p:nvSpPr>
            <p:spPr>
              <a:xfrm>
                <a:off x="7772400" y="296326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7" name="Oval 3786"/>
              <p:cNvSpPr>
                <a:spLocks noChangeAspect="1"/>
              </p:cNvSpPr>
              <p:nvPr/>
            </p:nvSpPr>
            <p:spPr>
              <a:xfrm>
                <a:off x="6019800" y="296497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8" name="Oval 3787"/>
              <p:cNvSpPr>
                <a:spLocks noChangeAspect="1"/>
              </p:cNvSpPr>
              <p:nvPr/>
            </p:nvSpPr>
            <p:spPr>
              <a:xfrm>
                <a:off x="6819900" y="28330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9" name="Oval 3788"/>
              <p:cNvSpPr>
                <a:spLocks noChangeAspect="1"/>
              </p:cNvSpPr>
              <p:nvPr/>
            </p:nvSpPr>
            <p:spPr>
              <a:xfrm>
                <a:off x="6515100" y="31560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0" name="Oval 3789"/>
              <p:cNvSpPr>
                <a:spLocks noChangeAspect="1"/>
              </p:cNvSpPr>
              <p:nvPr/>
            </p:nvSpPr>
            <p:spPr>
              <a:xfrm>
                <a:off x="55245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1" name="Oval 3790"/>
              <p:cNvSpPr>
                <a:spLocks noChangeAspect="1"/>
              </p:cNvSpPr>
              <p:nvPr/>
            </p:nvSpPr>
            <p:spPr>
              <a:xfrm>
                <a:off x="4991100" y="29473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2" name="Oval 3791"/>
              <p:cNvSpPr>
                <a:spLocks noChangeAspect="1"/>
              </p:cNvSpPr>
              <p:nvPr/>
            </p:nvSpPr>
            <p:spPr>
              <a:xfrm>
                <a:off x="4381500" y="292744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3" name="Oval 3792"/>
              <p:cNvSpPr>
                <a:spLocks noChangeAspect="1"/>
              </p:cNvSpPr>
              <p:nvPr/>
            </p:nvSpPr>
            <p:spPr>
              <a:xfrm>
                <a:off x="3771900" y="29473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4" name="Oval 3793"/>
              <p:cNvSpPr>
                <a:spLocks noChangeAspect="1"/>
              </p:cNvSpPr>
              <p:nvPr/>
            </p:nvSpPr>
            <p:spPr>
              <a:xfrm>
                <a:off x="1894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5" name="Oval 3794"/>
              <p:cNvSpPr>
                <a:spLocks noChangeAspect="1"/>
              </p:cNvSpPr>
              <p:nvPr/>
            </p:nvSpPr>
            <p:spPr>
              <a:xfrm>
                <a:off x="5842948" y="46663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6" name="Oval 3795"/>
              <p:cNvSpPr>
                <a:spLocks noChangeAspect="1"/>
              </p:cNvSpPr>
              <p:nvPr/>
            </p:nvSpPr>
            <p:spPr>
              <a:xfrm>
                <a:off x="6428664" y="43593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7" name="Oval 3796"/>
              <p:cNvSpPr>
                <a:spLocks noChangeAspect="1"/>
              </p:cNvSpPr>
              <p:nvPr/>
            </p:nvSpPr>
            <p:spPr>
              <a:xfrm>
                <a:off x="1986318" y="306164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8" name="Oval 3797"/>
              <p:cNvSpPr>
                <a:spLocks noChangeAspect="1"/>
              </p:cNvSpPr>
              <p:nvPr/>
            </p:nvSpPr>
            <p:spPr>
              <a:xfrm>
                <a:off x="5476164" y="42291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9" name="Oval 3798"/>
              <p:cNvSpPr>
                <a:spLocks noChangeAspect="1"/>
              </p:cNvSpPr>
              <p:nvPr/>
            </p:nvSpPr>
            <p:spPr>
              <a:xfrm>
                <a:off x="5171364" y="45520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0" name="Oval 3799"/>
              <p:cNvSpPr>
                <a:spLocks noChangeAspect="1"/>
              </p:cNvSpPr>
              <p:nvPr/>
            </p:nvSpPr>
            <p:spPr>
              <a:xfrm>
                <a:off x="4180764" y="434340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1" name="Oval 3800"/>
              <p:cNvSpPr>
                <a:spLocks noChangeAspect="1"/>
              </p:cNvSpPr>
              <p:nvPr/>
            </p:nvSpPr>
            <p:spPr>
              <a:xfrm>
                <a:off x="36473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2" name="Oval 3801"/>
              <p:cNvSpPr>
                <a:spLocks noChangeAspect="1"/>
              </p:cNvSpPr>
              <p:nvPr/>
            </p:nvSpPr>
            <p:spPr>
              <a:xfrm>
                <a:off x="3037764" y="432349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3" name="Oval 3802"/>
              <p:cNvSpPr>
                <a:spLocks noChangeAspect="1"/>
              </p:cNvSpPr>
              <p:nvPr/>
            </p:nvSpPr>
            <p:spPr>
              <a:xfrm>
                <a:off x="2428164" y="434340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4" name="Oval 3803"/>
              <p:cNvSpPr>
                <a:spLocks noChangeAspect="1"/>
              </p:cNvSpPr>
              <p:nvPr/>
            </p:nvSpPr>
            <p:spPr>
              <a:xfrm>
                <a:off x="2287137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5" name="Oval 3804"/>
              <p:cNvSpPr>
                <a:spLocks noChangeAspect="1"/>
              </p:cNvSpPr>
              <p:nvPr/>
            </p:nvSpPr>
            <p:spPr>
              <a:xfrm>
                <a:off x="7514230" y="601126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6" name="Oval 3805"/>
              <p:cNvSpPr>
                <a:spLocks noChangeAspect="1"/>
              </p:cNvSpPr>
              <p:nvPr/>
            </p:nvSpPr>
            <p:spPr>
              <a:xfrm>
                <a:off x="7924800" y="51616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7" name="Oval 3806"/>
              <p:cNvSpPr>
                <a:spLocks noChangeAspect="1"/>
              </p:cNvSpPr>
              <p:nvPr/>
            </p:nvSpPr>
            <p:spPr>
              <a:xfrm>
                <a:off x="6286500" y="5869105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8" name="Oval 3807"/>
              <p:cNvSpPr>
                <a:spLocks noChangeAspect="1"/>
              </p:cNvSpPr>
              <p:nvPr/>
            </p:nvSpPr>
            <p:spPr>
              <a:xfrm>
                <a:off x="7200900" y="51378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9" name="Oval 3808"/>
              <p:cNvSpPr>
                <a:spLocks noChangeAspect="1"/>
              </p:cNvSpPr>
              <p:nvPr/>
            </p:nvSpPr>
            <p:spPr>
              <a:xfrm>
                <a:off x="6781800" y="60601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0" name="Oval 3809"/>
              <p:cNvSpPr>
                <a:spLocks noChangeAspect="1"/>
              </p:cNvSpPr>
              <p:nvPr/>
            </p:nvSpPr>
            <p:spPr>
              <a:xfrm>
                <a:off x="5791200" y="585147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1" name="Oval 3810"/>
              <p:cNvSpPr>
                <a:spLocks noChangeAspect="1"/>
              </p:cNvSpPr>
              <p:nvPr/>
            </p:nvSpPr>
            <p:spPr>
              <a:xfrm>
                <a:off x="5257800" y="585147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2" name="Oval 3811"/>
              <p:cNvSpPr>
                <a:spLocks noChangeAspect="1"/>
              </p:cNvSpPr>
              <p:nvPr/>
            </p:nvSpPr>
            <p:spPr>
              <a:xfrm>
                <a:off x="4648200" y="583157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3" name="Oval 3812"/>
              <p:cNvSpPr>
                <a:spLocks noChangeAspect="1"/>
              </p:cNvSpPr>
              <p:nvPr/>
            </p:nvSpPr>
            <p:spPr>
              <a:xfrm>
                <a:off x="3575713" y="594587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4" name="Oval 3813"/>
              <p:cNvSpPr>
                <a:spLocks noChangeAspect="1"/>
              </p:cNvSpPr>
              <p:nvPr/>
            </p:nvSpPr>
            <p:spPr>
              <a:xfrm>
                <a:off x="3547849" y="379976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5" name="Oval 3814"/>
              <p:cNvSpPr>
                <a:spLocks noChangeAspect="1"/>
              </p:cNvSpPr>
              <p:nvPr/>
            </p:nvSpPr>
            <p:spPr>
              <a:xfrm>
                <a:off x="7742830" y="434738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6" name="Oval 3815"/>
              <p:cNvSpPr>
                <a:spLocks noChangeAspect="1"/>
              </p:cNvSpPr>
              <p:nvPr/>
            </p:nvSpPr>
            <p:spPr>
              <a:xfrm>
                <a:off x="7772400" y="349553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7" name="Oval 3816"/>
              <p:cNvSpPr>
                <a:spLocks noChangeAspect="1"/>
              </p:cNvSpPr>
              <p:nvPr/>
            </p:nvSpPr>
            <p:spPr>
              <a:xfrm>
                <a:off x="6575946" y="4042011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8" name="Oval 3817"/>
              <p:cNvSpPr>
                <a:spLocks noChangeAspect="1"/>
              </p:cNvSpPr>
              <p:nvPr/>
            </p:nvSpPr>
            <p:spPr>
              <a:xfrm>
                <a:off x="7376046" y="39100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9" name="Oval 3818"/>
              <p:cNvSpPr>
                <a:spLocks noChangeAspect="1"/>
              </p:cNvSpPr>
              <p:nvPr/>
            </p:nvSpPr>
            <p:spPr>
              <a:xfrm>
                <a:off x="7071246" y="42330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0" name="Oval 3819"/>
              <p:cNvSpPr>
                <a:spLocks noChangeAspect="1"/>
              </p:cNvSpPr>
              <p:nvPr/>
            </p:nvSpPr>
            <p:spPr>
              <a:xfrm>
                <a:off x="6080646" y="4024383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1" name="Oval 3820"/>
              <p:cNvSpPr>
                <a:spLocks noChangeAspect="1"/>
              </p:cNvSpPr>
              <p:nvPr/>
            </p:nvSpPr>
            <p:spPr>
              <a:xfrm>
                <a:off x="6690246" y="3740054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2" name="Oval 3821"/>
              <p:cNvSpPr>
                <a:spLocks noChangeAspect="1"/>
              </p:cNvSpPr>
              <p:nvPr/>
            </p:nvSpPr>
            <p:spPr>
              <a:xfrm>
                <a:off x="4937646" y="400448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3" name="Oval 3822"/>
              <p:cNvSpPr>
                <a:spLocks noChangeAspect="1"/>
              </p:cNvSpPr>
              <p:nvPr/>
            </p:nvSpPr>
            <p:spPr>
              <a:xfrm>
                <a:off x="4328046" y="4024383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4" name="Oval 3823"/>
              <p:cNvSpPr>
                <a:spLocks noChangeAspect="1"/>
              </p:cNvSpPr>
              <p:nvPr/>
            </p:nvSpPr>
            <p:spPr>
              <a:xfrm>
                <a:off x="1550727" y="404712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5" name="Oval 3824"/>
              <p:cNvSpPr>
                <a:spLocks noChangeAspect="1"/>
              </p:cNvSpPr>
              <p:nvPr/>
            </p:nvSpPr>
            <p:spPr>
              <a:xfrm>
                <a:off x="5129284" y="50331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6" name="Oval 3825"/>
              <p:cNvSpPr>
                <a:spLocks noChangeAspect="1"/>
              </p:cNvSpPr>
              <p:nvPr/>
            </p:nvSpPr>
            <p:spPr>
              <a:xfrm>
                <a:off x="6743700" y="4727810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7" name="Oval 3826"/>
              <p:cNvSpPr>
                <a:spLocks noChangeAspect="1"/>
              </p:cNvSpPr>
              <p:nvPr/>
            </p:nvSpPr>
            <p:spPr>
              <a:xfrm>
                <a:off x="3962400" y="4727810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8" name="Oval 3827"/>
              <p:cNvSpPr>
                <a:spLocks noChangeAspect="1"/>
              </p:cNvSpPr>
              <p:nvPr/>
            </p:nvSpPr>
            <p:spPr>
              <a:xfrm>
                <a:off x="4762500" y="45958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9" name="Oval 3828"/>
              <p:cNvSpPr>
                <a:spLocks noChangeAspect="1"/>
              </p:cNvSpPr>
              <p:nvPr/>
            </p:nvSpPr>
            <p:spPr>
              <a:xfrm>
                <a:off x="4457700" y="491887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0" name="Oval 3829"/>
              <p:cNvSpPr>
                <a:spLocks noChangeAspect="1"/>
              </p:cNvSpPr>
              <p:nvPr/>
            </p:nvSpPr>
            <p:spPr>
              <a:xfrm>
                <a:off x="34671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1" name="Oval 3830"/>
              <p:cNvSpPr>
                <a:spLocks noChangeAspect="1"/>
              </p:cNvSpPr>
              <p:nvPr/>
            </p:nvSpPr>
            <p:spPr>
              <a:xfrm>
                <a:off x="2933700" y="471018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2" name="Oval 3831"/>
              <p:cNvSpPr>
                <a:spLocks noChangeAspect="1"/>
              </p:cNvSpPr>
              <p:nvPr/>
            </p:nvSpPr>
            <p:spPr>
              <a:xfrm>
                <a:off x="2324100" y="469027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3" name="Oval 3832"/>
              <p:cNvSpPr>
                <a:spLocks noChangeAspect="1"/>
              </p:cNvSpPr>
              <p:nvPr/>
            </p:nvSpPr>
            <p:spPr>
              <a:xfrm>
                <a:off x="1714500" y="471018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4" name="Oval 3833"/>
              <p:cNvSpPr>
                <a:spLocks noChangeAspect="1"/>
              </p:cNvSpPr>
              <p:nvPr/>
            </p:nvSpPr>
            <p:spPr>
              <a:xfrm>
                <a:off x="1576885" y="5529616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5" name="Oval 3834"/>
              <p:cNvSpPr>
                <a:spLocks noChangeAspect="1"/>
              </p:cNvSpPr>
              <p:nvPr/>
            </p:nvSpPr>
            <p:spPr>
              <a:xfrm>
                <a:off x="5525069" y="5618897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6" name="Oval 3835"/>
              <p:cNvSpPr>
                <a:spLocks noChangeAspect="1"/>
              </p:cNvSpPr>
              <p:nvPr/>
            </p:nvSpPr>
            <p:spPr>
              <a:xfrm>
                <a:off x="7147446" y="5543262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7" name="Oval 3836"/>
              <p:cNvSpPr>
                <a:spLocks noChangeAspect="1"/>
              </p:cNvSpPr>
              <p:nvPr/>
            </p:nvSpPr>
            <p:spPr>
              <a:xfrm>
                <a:off x="4358185" y="5567147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8" name="Oval 3837"/>
              <p:cNvSpPr>
                <a:spLocks noChangeAspect="1"/>
              </p:cNvSpPr>
              <p:nvPr/>
            </p:nvSpPr>
            <p:spPr>
              <a:xfrm>
                <a:off x="2933700" y="3825922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9" name="Oval 3838"/>
              <p:cNvSpPr>
                <a:spLocks noChangeAspect="1"/>
              </p:cNvSpPr>
              <p:nvPr/>
            </p:nvSpPr>
            <p:spPr>
              <a:xfrm>
                <a:off x="4853485" y="5593305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0" name="Oval 3839"/>
              <p:cNvSpPr>
                <a:spLocks noChangeAspect="1"/>
              </p:cNvSpPr>
              <p:nvPr/>
            </p:nvSpPr>
            <p:spPr>
              <a:xfrm>
                <a:off x="3862885" y="5549519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1" name="Oval 3840"/>
              <p:cNvSpPr>
                <a:spLocks noChangeAspect="1"/>
              </p:cNvSpPr>
              <p:nvPr/>
            </p:nvSpPr>
            <p:spPr>
              <a:xfrm>
                <a:off x="33294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2" name="Oval 3841"/>
              <p:cNvSpPr>
                <a:spLocks noChangeAspect="1"/>
              </p:cNvSpPr>
              <p:nvPr/>
            </p:nvSpPr>
            <p:spPr>
              <a:xfrm>
                <a:off x="2719885" y="5529616"/>
                <a:ext cx="228600" cy="2286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3" name="Oval 3842"/>
              <p:cNvSpPr>
                <a:spLocks noChangeAspect="1"/>
              </p:cNvSpPr>
              <p:nvPr/>
            </p:nvSpPr>
            <p:spPr>
              <a:xfrm>
                <a:off x="2110285" y="5549519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935" name="Rectangle 2934"/>
          <p:cNvSpPr/>
          <p:nvPr/>
        </p:nvSpPr>
        <p:spPr>
          <a:xfrm>
            <a:off x="304800" y="990600"/>
            <a:ext cx="18288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271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4" y="1408331"/>
            <a:ext cx="900214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2"/>
          <p:cNvSpPr txBox="1">
            <a:spLocks/>
          </p:cNvSpPr>
          <p:nvPr/>
        </p:nvSpPr>
        <p:spPr>
          <a:xfrm>
            <a:off x="76200" y="152400"/>
            <a:ext cx="89916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StatKey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762000"/>
            <a:ext cx="579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hlinkClick r:id="rId5"/>
              </a:rPr>
              <a:t>http://lock5stat.com/statkey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724400" y="3200400"/>
            <a:ext cx="1371600" cy="3672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0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5486400"/>
            <a:ext cx="9144000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 anchor="ctr"/>
          <a:lstStyle/>
          <a:p>
            <a:r>
              <a:rPr lang="en-US" b="1" dirty="0"/>
              <a:t>Sampling Distribution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3962400" y="1600200"/>
            <a:ext cx="3048000" cy="1371600"/>
          </a:xfrm>
          <a:prstGeom prst="cloud">
            <a:avLst/>
          </a:prstGeom>
          <a:solidFill>
            <a:srgbClr val="33CC3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648200" y="190500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Population</a:t>
            </a:r>
          </a:p>
        </p:txBody>
      </p:sp>
      <p:cxnSp>
        <p:nvCxnSpPr>
          <p:cNvPr id="9" name="Straight Connector 8"/>
          <p:cNvCxnSpPr>
            <a:stCxn id="6" idx="1"/>
          </p:cNvCxnSpPr>
          <p:nvPr/>
        </p:nvCxnSpPr>
        <p:spPr>
          <a:xfrm>
            <a:off x="5486400" y="2970340"/>
            <a:ext cx="0" cy="251606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95900" y="5410200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µ</a:t>
            </a:r>
          </a:p>
        </p:txBody>
      </p:sp>
      <p:sp>
        <p:nvSpPr>
          <p:cNvPr id="16" name="Oval 15"/>
          <p:cNvSpPr/>
          <p:nvPr/>
        </p:nvSpPr>
        <p:spPr>
          <a:xfrm>
            <a:off x="9448800" y="680140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456722" y="5989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369959" y="6324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9609122" y="6142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761522" y="6294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913922" y="6446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0066322" y="6599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0218722" y="6751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0371122" y="6904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0523522" y="7056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0675922" y="7208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0828322" y="7361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980722" y="7513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1133122" y="7666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1285522" y="7818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634396" y="5624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1437922" y="7970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1590322" y="8123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1742722" y="8275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1895122" y="8428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2047522" y="8580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2199922" y="8732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786796" y="5777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939196" y="5929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0091596" y="6082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0243996" y="6234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0396396" y="6386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0548796" y="6539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701196" y="6691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0853596" y="6844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1005996" y="6996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1158396" y="7148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1310796" y="7301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1463196" y="7453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1615596" y="7606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1767996" y="7758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1920396" y="7910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2072796" y="8063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2225196" y="8215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2377596" y="8368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2529996" y="8520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80657" y="2281473"/>
            <a:ext cx="4038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BUT, in practice we don’t see the “tree” or all of the “seeds” – we only have ONE seed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47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583 -0.59681 L -0.34583 -0.2081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504 -0.47861 L -0.50504 -0.0899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382 -0.52741 L -0.40382 -0.1387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50081 L -0.55503 -0.1121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67 -0.52302 L -0.4967 -0.1344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837 -0.54523 L -0.53837 -0.15661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836 -0.56743 L -0.38836 -0.17881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58964 L -0.5967 -0.20102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004 -0.61185 L -0.48004 -0.22323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500"/>
                            </p:stCondLst>
                            <p:childTnLst>
                              <p:par>
                                <p:cTn id="5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65625 L -0.5967 -0.26764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68957 L -0.55503 -0.30095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4 -0.70067 L -0.55504 -0.3120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336 -0.72287 L -0.61336 -0.33426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73398 L -0.5467 -0.3453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76729 L -0.63004 -0.37868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948 -0.4254 L -0.54948 -0.03678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0"/>
                            </p:stCondLst>
                            <p:childTnLst>
                              <p:par>
                                <p:cTn id="7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8836 -0.76729 L -0.83836 -0.38977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500"/>
                            </p:stCondLst>
                            <p:childTnLst>
                              <p:par>
                                <p:cTn id="7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8117 L -0.4967 -0.40088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00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67 -0.83391 L -0.6467 -0.4453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17 -0.86722 L -0.7217 -0.4786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0"/>
                            </p:stCondLst>
                            <p:childTnLst>
                              <p:par>
                                <p:cTn id="8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503 -0.87832 L -0.8717 -0.4675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500"/>
                            </p:stCondLst>
                            <p:childTnLst>
                              <p:par>
                                <p:cTn id="8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92274 L -0.58837 -0.50081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210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000"/>
                            </p:stCondLst>
                            <p:childTnLst>
                              <p:par>
                                <p:cTn id="9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448 -0.45871 L -0.37448 -0.07009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3500"/>
                            </p:stCondLst>
                            <p:childTnLst>
                              <p:par>
                                <p:cTn id="9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782 -0.49202 L -0.35782 -0.0812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4000"/>
                            </p:stCondLst>
                            <p:childTnLst>
                              <p:par>
                                <p:cTn id="9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114 -0.49202 L -0.63281 -0.1145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4500"/>
                            </p:stCondLst>
                            <p:childTnLst>
                              <p:par>
                                <p:cTn id="10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0781 -0.52533 L -0.60781 -0.13671 " pathEditMode="relative" rAng="0" ptsTypes="AA">
                                      <p:cBhvr>
                                        <p:cTn id="1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0"/>
                            </p:stCondLst>
                            <p:childTnLst>
                              <p:par>
                                <p:cTn id="10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448 -0.58085 L -0.57448 -0.19223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500"/>
                            </p:stCondLst>
                            <p:childTnLst>
                              <p:par>
                                <p:cTn id="10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781 -0.60305 L -0.50781 -0.21443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115 -0.58085 L -0.69115 -0.19223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6500"/>
                            </p:stCondLst>
                            <p:childTnLst>
                              <p:par>
                                <p:cTn id="1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62526 L -0.64948 -0.23665 " pathEditMode="relative" rAng="0" ptsTypes="AA">
                                      <p:cBhvr>
                                        <p:cTn id="1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7000"/>
                            </p:stCondLst>
                            <p:childTnLst>
                              <p:par>
                                <p:cTn id="1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281 -0.68077 L -0.58281 -0.29216 " pathEditMode="relative" rAng="0" ptsTypes="AA">
                                      <p:cBhvr>
                                        <p:cTn id="1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7500"/>
                            </p:stCondLst>
                            <p:childTnLst>
                              <p:par>
                                <p:cTn id="1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615 -0.70298 L -0.61615 -0.31437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72519 L -0.64948 -0.33658 " pathEditMode="relative" rAng="0" ptsTypes="AA">
                                      <p:cBhvr>
                                        <p:cTn id="1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8500"/>
                            </p:stCondLst>
                            <p:childTnLst>
                              <p:par>
                                <p:cTn id="1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948 -0.71458 L -0.90781 -0.3037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9000"/>
                            </p:stCondLst>
                            <p:childTnLst>
                              <p:par>
                                <p:cTn id="1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781 -0.79181 L -0.46615 -0.32547 " pathEditMode="relative" rAng="0" ptsTypes="AA">
                                      <p:cBhvr>
                                        <p:cTn id="1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233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3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782 -0.7585 L -0.90782 -0.34768 " pathEditMode="relative" rAng="0" ptsTypes="AA">
                                      <p:cBhvr>
                                        <p:cTn id="1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0"/>
                            </p:stCondLst>
                            <p:childTnLst>
                              <p:par>
                                <p:cTn id="1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114 -0.7807 L -0.64114 -0.39209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500"/>
                            </p:stCondLst>
                            <p:childTnLst>
                              <p:par>
                                <p:cTn id="13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81 -0.84733 L -0.89115 -0.40319 " pathEditMode="relative" rAng="0" ptsTypes="AA">
                                      <p:cBhvr>
                                        <p:cTn id="1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222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115 -0.84733 L -0.79115 -0.45871 " pathEditMode="relative" rAng="0" ptsTypes="AA">
                                      <p:cBhvr>
                                        <p:cTn id="1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1500"/>
                            </p:stCondLst>
                            <p:childTnLst>
                              <p:par>
                                <p:cTn id="14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7448 -0.84732 L -0.67448 -0.45871 " pathEditMode="relative" rAng="0" ptsTypes="AA">
                                      <p:cBhvr>
                                        <p:cTn id="1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2000"/>
                            </p:stCondLst>
                            <p:childTnLst>
                              <p:par>
                                <p:cTn id="14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6615 -0.88064 L -0.86615 -0.49202 " pathEditMode="relative" rAng="0" ptsTypes="AA">
                                      <p:cBhvr>
                                        <p:cTn id="1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 anchor="ctr"/>
          <a:lstStyle/>
          <a:p>
            <a:r>
              <a:rPr lang="en-US" b="1" dirty="0"/>
              <a:t>Bootstrap Distribution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2819400" y="1600200"/>
            <a:ext cx="3048000" cy="1371600"/>
          </a:xfrm>
          <a:prstGeom prst="cloud">
            <a:avLst/>
          </a:prstGeom>
          <a:solidFill>
            <a:srgbClr val="33CC3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429000" y="1808946"/>
            <a:ext cx="2628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Bootstrap</a:t>
            </a:r>
          </a:p>
          <a:p>
            <a:r>
              <a:rPr lang="en-US" sz="2800" dirty="0"/>
              <a:t>“Population”</a:t>
            </a:r>
          </a:p>
        </p:txBody>
      </p:sp>
      <p:cxnSp>
        <p:nvCxnSpPr>
          <p:cNvPr id="9" name="Straight Connector 8"/>
          <p:cNvCxnSpPr>
            <a:stCxn id="6" idx="1"/>
          </p:cNvCxnSpPr>
          <p:nvPr/>
        </p:nvCxnSpPr>
        <p:spPr>
          <a:xfrm>
            <a:off x="4343400" y="2970340"/>
            <a:ext cx="0" cy="251606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384641" y="680140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392563" y="5989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305800" y="6324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544963" y="6142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697363" y="6294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849763" y="6446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9002163" y="6599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9154563" y="6751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306963" y="6904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459363" y="7056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611763" y="7208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764163" y="7361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916563" y="7513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068963" y="7666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221363" y="7818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70237" y="5624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0373763" y="7970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526163" y="8123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0678563" y="8275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0830963" y="8428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983363" y="8580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1135763" y="8732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722637" y="5777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875037" y="5929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027437" y="6082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179837" y="6234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332237" y="6386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9484637" y="6539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637037" y="6691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9789437" y="6844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9941837" y="6996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0094237" y="7148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246637" y="7301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399037" y="7453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0551437" y="7606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703837" y="7758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0856237" y="7910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1008637" y="8063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1161037" y="8215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1313437" y="8368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1465837" y="8520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537041" y="695380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1788" y="5494394"/>
            <a:ext cx="9144000" cy="89255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1600200"/>
            <a:ext cx="2514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can we do with just one seed?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634" y="3568391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Grow a NEW tree!</a:t>
            </a:r>
          </a:p>
        </p:txBody>
      </p:sp>
      <p:sp>
        <p:nvSpPr>
          <p:cNvPr id="61" name="Oval 60"/>
          <p:cNvSpPr/>
          <p:nvPr/>
        </p:nvSpPr>
        <p:spPr>
          <a:xfrm>
            <a:off x="4305300" y="53721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038600" y="5421175"/>
                <a:ext cx="533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dirty="0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421175"/>
                <a:ext cx="533400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90615" y="1921787"/>
                <a:ext cx="2525163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Estimate the distribution and variability (SE)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3000" dirty="0"/>
                  <a:t>’s from the bootstraps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615" y="1921787"/>
                <a:ext cx="2525163" cy="2400657"/>
              </a:xfrm>
              <a:prstGeom prst="rect">
                <a:avLst/>
              </a:prstGeom>
              <a:blipFill rotWithShape="1">
                <a:blip r:embed="rId4"/>
                <a:stretch>
                  <a:fillRect l="-5542" t="-3046" r="-8675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4560212" y="5723087"/>
            <a:ext cx="1485900" cy="1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 flipV="1">
            <a:off x="2676525" y="5713562"/>
            <a:ext cx="1371600" cy="12414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95900" y="5410200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438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583 -0.59681 L -0.34583 -0.2081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504 -0.47861 L -0.50504 -0.08999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382 -0.52741 L -0.40382 -0.13879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50081 L -0.55503 -0.11219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67 -0.52302 L -0.4967 -0.1344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837 -0.54523 L -0.53837 -0.15661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836 -0.56743 L -0.38836 -0.17881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58964 L -0.5967 -0.20102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004 -0.61185 L -0.48004 -0.22323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65625 L -0.5967 -0.26764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68957 L -0.55503 -0.3009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4 -0.70067 L -0.55504 -0.3120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336 -0.72287 L -0.61336 -0.33426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73398 L -0.5467 -0.3453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76729 L -0.63004 -0.37868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000"/>
                            </p:stCondLst>
                            <p:childTnLst>
                              <p:par>
                                <p:cTn id="8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948 -0.4254 L -0.54948 -0.03678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8836 -0.76729 L -0.83836 -0.38977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00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8117 L -0.4967 -0.40088 " pathEditMode="relative" rAng="0" ptsTypes="AA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500"/>
                            </p:stCondLst>
                            <p:childTnLst>
                              <p:par>
                                <p:cTn id="8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67 -0.83391 L -0.6467 -0.4453 " pathEditMode="relative" rAng="0" ptsTypes="AA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0"/>
                            </p:stCondLst>
                            <p:childTnLst>
                              <p:par>
                                <p:cTn id="9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17 -0.86722 L -0.7217 -0.4786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503 -0.87832 L -0.8717 -0.4675 " pathEditMode="relative" rAng="0" ptsTypes="AA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0"/>
                            </p:stCondLst>
                            <p:childTnLst>
                              <p:par>
                                <p:cTn id="9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92274 L -0.58837 -0.50081 " pathEditMode="relative" rAng="0" ptsTypes="AA">
                                      <p:cBhvr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210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448 -0.45871 L -0.37448 -0.07009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782 -0.49202 L -0.35782 -0.0812 " pathEditMode="relative" rAng="0" ptsTypes="AA">
                                      <p:cBhvr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114 -0.49202 L -0.63281 -0.1145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0781 -0.52533 L -0.60781 -0.13671 " pathEditMode="relative" rAng="0" ptsTypes="AA">
                                      <p:cBhvr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448 -0.58085 L -0.57448 -0.19223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781 -0.60305 L -0.50781 -0.21443 " pathEditMode="relative" rAng="0" ptsTypes="AA">
                                      <p:cBhvr>
                                        <p:cTn id="1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115 -0.58085 L -0.69115 -0.19223 " pathEditMode="relative" rAng="0" ptsTypes="AA">
                                      <p:cBhvr>
                                        <p:cTn id="1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62526 L -0.64948 -0.23665 " pathEditMode="relative" rAng="0" ptsTypes="AA">
                                      <p:cBhvr>
                                        <p:cTn id="1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281 -0.68077 L -0.58281 -0.29216 " pathEditMode="relative" rAng="0" ptsTypes="AA">
                                      <p:cBhvr>
                                        <p:cTn id="1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615 -0.70298 L -0.61615 -0.31437 " pathEditMode="relative" rAng="0" ptsTypes="AA">
                                      <p:cBhvr>
                                        <p:cTn id="1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72519 L -0.64948 -0.33658 " pathEditMode="relative" rAng="0" ptsTypes="AA">
                                      <p:cBhvr>
                                        <p:cTn id="1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982 -0.71458 L -0.90816 -0.3037 " pathEditMode="relative" rAng="0" ptsTypes="AA">
                                      <p:cBhvr>
                                        <p:cTn id="1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781 -0.79181 L -0.46615 -0.32547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233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782 -0.7585 L -0.90782 -0.34768 " pathEditMode="relative" rAng="0" ptsTypes="AA">
                                      <p:cBhvr>
                                        <p:cTn id="1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8500"/>
                            </p:stCondLst>
                            <p:childTnLst>
                              <p:par>
                                <p:cTn id="1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114 -0.7807 L -0.64114 -0.39209 " pathEditMode="relative" rAng="0" ptsTypes="AA">
                                      <p:cBhvr>
                                        <p:cTn id="1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81 -0.84733 L -0.89115 -0.40319 " pathEditMode="relative" rAng="0" ptsTypes="AA">
                                      <p:cBhvr>
                                        <p:cTn id="14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222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9500"/>
                            </p:stCondLst>
                            <p:childTnLst>
                              <p:par>
                                <p:cTn id="14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115 -0.84733 L -0.79115 -0.45871 " pathEditMode="relative" rAng="0" ptsTypes="AA">
                                      <p:cBhvr>
                                        <p:cTn id="1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7448 -0.84732 L -0.67448 -0.45871 " pathEditMode="relative" rAng="0" ptsTypes="AA">
                                      <p:cBhvr>
                                        <p:cTn id="1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500"/>
                            </p:stCondLst>
                            <p:childTnLst>
                              <p:par>
                                <p:cTn id="15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6615 -0.88064 L -0.86615 -0.49202 " pathEditMode="relative" rAng="0" ptsTypes="AA">
                                      <p:cBhvr>
                                        <p:cTn id="15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618 -0.61944 L -0.34618 -0.23078 " pathEditMode="relative" rAng="0" ptsTypes="AA">
                                      <p:cBhvr>
                                        <p:cTn id="1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3" grpId="0"/>
      <p:bldP spid="60" grpId="0"/>
      <p:bldP spid="8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609600" y="1828800"/>
            <a:ext cx="8077200" cy="3810000"/>
          </a:xfrm>
          <a:prstGeom prst="rect">
            <a:avLst/>
          </a:prstGeom>
          <a:solidFill>
            <a:srgbClr val="FFFF99"/>
          </a:solidFill>
          <a:ln w="63500" cmpd="tri">
            <a:noFill/>
          </a:ln>
          <a:effectLst>
            <a:glow rad="228600">
              <a:schemeClr val="accent4">
                <a:lumMod val="75000"/>
                <a:alpha val="60000"/>
              </a:schemeClr>
            </a:glow>
          </a:effectLst>
        </p:spPr>
        <p:txBody>
          <a:bodyPr vert="horz" lIns="91440" tIns="45720" rIns="91440" bIns="45720" rtlCol="0">
            <a:normAutofit lnSpcReduction="10000"/>
          </a:bodyPr>
          <a:lstStyle/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4400" dirty="0"/>
              <a:t>Bootstrap statistics are to the original sample statistic </a:t>
            </a: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1900" dirty="0"/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4400" dirty="0"/>
              <a:t>as </a:t>
            </a: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000" dirty="0"/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4400" dirty="0"/>
              <a:t>the original sample statistic is to the population parameter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Golden Rule of Bootstrapping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54658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6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743200"/>
            <a:ext cx="5486400" cy="28194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UcPeriod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population parameter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sample statistic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bootstrap statistic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bootstrap parameter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0" y="152400"/>
            <a:ext cx="9144000" cy="2590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Aft>
                <a:spcPts val="1800"/>
              </a:spcAft>
              <a:buClr>
                <a:schemeClr val="accent1"/>
              </a:buClr>
              <a:defRPr/>
            </a:pP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sampling distribution </a:t>
            </a: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is centered around the population parameter</a:t>
            </a:r>
          </a:p>
          <a:p>
            <a:pPr lvl="0">
              <a:buClr>
                <a:schemeClr val="accent1"/>
              </a:buClr>
              <a:defRPr/>
            </a:pP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3600" b="1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bootstrap distribution </a:t>
            </a: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is centered around the ____________.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84864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Standard Error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0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indent="-342900"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The variability of the bootstrap statistics is similar to the variability of the sample statistics </a:t>
            </a:r>
          </a:p>
          <a:p>
            <a:pPr lvl="0" indent="-342900">
              <a:buClr>
                <a:schemeClr val="accent1"/>
              </a:buClr>
              <a:buFont typeface="Arial" pitchFamily="34" charset="0"/>
              <a:buChar char="•"/>
              <a:defRPr/>
            </a:pP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Thus, the standard error of a sample statistic can be estimated using the standard deviation of the bootstrap distribution!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57735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/>
          <p:cNvSpPr txBox="1">
            <a:spLocks/>
          </p:cNvSpPr>
          <p:nvPr/>
        </p:nvSpPr>
        <p:spPr>
          <a:xfrm>
            <a:off x="0" y="0"/>
            <a:ext cx="9116112" cy="979004"/>
          </a:xfrm>
          <a:prstGeom prst="rect">
            <a:avLst/>
          </a:prstGeom>
        </p:spPr>
        <p:txBody>
          <a:bodyPr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Using Bootstrapping to Obtain a C.I.</a:t>
            </a:r>
          </a:p>
        </p:txBody>
      </p:sp>
      <p:sp>
        <p:nvSpPr>
          <p:cNvPr id="11" name="Cloud"/>
          <p:cNvSpPr>
            <a:spLocks noChangeAspect="1" noEditPoints="1" noChangeArrowheads="1"/>
          </p:cNvSpPr>
          <p:nvPr/>
        </p:nvSpPr>
        <p:spPr bwMode="auto">
          <a:xfrm>
            <a:off x="380999" y="1017104"/>
            <a:ext cx="2590801" cy="1735806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38200" y="1474304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Sample</a:t>
            </a:r>
          </a:p>
        </p:txBody>
      </p:sp>
      <p:grpSp>
        <p:nvGrpSpPr>
          <p:cNvPr id="13" name="Group 17"/>
          <p:cNvGrpSpPr>
            <a:grpSpLocks/>
          </p:cNvGrpSpPr>
          <p:nvPr/>
        </p:nvGrpSpPr>
        <p:grpSpPr bwMode="auto">
          <a:xfrm>
            <a:off x="3298815" y="979004"/>
            <a:ext cx="1887903" cy="906003"/>
            <a:chOff x="3984" y="3120"/>
            <a:chExt cx="1490" cy="804"/>
          </a:xfrm>
        </p:grpSpPr>
        <p:sp>
          <p:nvSpPr>
            <p:cNvPr id="20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4226" y="3173"/>
              <a:ext cx="1248" cy="6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FF0000"/>
                  </a:solidFill>
                </a:rPr>
                <a:t>Bootstrap </a:t>
              </a:r>
            </a:p>
            <a:p>
              <a:pPr>
                <a:spcBef>
                  <a:spcPct val="50000"/>
                </a:spcBef>
              </a:pPr>
              <a:r>
                <a:rPr lang="en-US" b="1" dirty="0"/>
                <a:t>Sample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3" name="Right Arrow 22"/>
          <p:cNvSpPr/>
          <p:nvPr/>
        </p:nvSpPr>
        <p:spPr>
          <a:xfrm rot="2400000">
            <a:off x="2609772" y="2481560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 rot="20525458" flipV="1">
            <a:off x="2924756" y="1575758"/>
            <a:ext cx="480099" cy="232685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17"/>
          <p:cNvGrpSpPr>
            <a:grpSpLocks/>
          </p:cNvGrpSpPr>
          <p:nvPr/>
        </p:nvGrpSpPr>
        <p:grpSpPr bwMode="auto">
          <a:xfrm>
            <a:off x="3886200" y="2312504"/>
            <a:ext cx="1468595" cy="1066800"/>
            <a:chOff x="3984" y="3120"/>
            <a:chExt cx="1386" cy="804"/>
          </a:xfrm>
        </p:grpSpPr>
        <p:sp>
          <p:nvSpPr>
            <p:cNvPr id="26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4122" y="3226"/>
              <a:ext cx="1248" cy="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FF0000"/>
                  </a:solidFill>
                </a:rPr>
                <a:t>Bootstrap</a:t>
              </a:r>
            </a:p>
            <a:p>
              <a:pPr>
                <a:spcBef>
                  <a:spcPct val="50000"/>
                </a:spcBef>
              </a:pPr>
              <a:r>
                <a:rPr lang="en-US" b="1" dirty="0"/>
                <a:t>Sample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Right Arrow 27"/>
          <p:cNvSpPr/>
          <p:nvPr/>
        </p:nvSpPr>
        <p:spPr>
          <a:xfrm rot="3000000">
            <a:off x="2243249" y="2684407"/>
            <a:ext cx="1306654" cy="293644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17"/>
          <p:cNvGrpSpPr>
            <a:grpSpLocks/>
          </p:cNvGrpSpPr>
          <p:nvPr/>
        </p:nvGrpSpPr>
        <p:grpSpPr bwMode="auto">
          <a:xfrm>
            <a:off x="2704946" y="3317300"/>
            <a:ext cx="2056343" cy="822347"/>
            <a:chOff x="3984" y="3120"/>
            <a:chExt cx="1434" cy="804"/>
          </a:xfrm>
        </p:grpSpPr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4170" y="3132"/>
              <a:ext cx="1248" cy="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FF0000"/>
                  </a:solidFill>
                </a:rPr>
                <a:t>Bootstrap</a:t>
              </a:r>
            </a:p>
            <a:p>
              <a:pPr>
                <a:spcBef>
                  <a:spcPct val="50000"/>
                </a:spcBef>
              </a:pPr>
              <a:r>
                <a:rPr lang="en-US" b="1" dirty="0"/>
                <a:t>Sample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ight Arrow 31"/>
          <p:cNvSpPr/>
          <p:nvPr/>
        </p:nvSpPr>
        <p:spPr>
          <a:xfrm rot="4200000">
            <a:off x="1497061" y="2661364"/>
            <a:ext cx="804190" cy="313016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1295399" y="3249246"/>
            <a:ext cx="1741928" cy="1064348"/>
            <a:chOff x="3984" y="3120"/>
            <a:chExt cx="1353" cy="804"/>
          </a:xfrm>
        </p:grpSpPr>
        <p:sp>
          <p:nvSpPr>
            <p:cNvPr id="34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Text Box 7"/>
            <p:cNvSpPr txBox="1">
              <a:spLocks noChangeArrowheads="1"/>
            </p:cNvSpPr>
            <p:nvPr/>
          </p:nvSpPr>
          <p:spPr bwMode="auto">
            <a:xfrm>
              <a:off x="4089" y="3229"/>
              <a:ext cx="1248" cy="5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FF0000"/>
                  </a:solidFill>
                </a:rPr>
                <a:t>Bootstrap</a:t>
              </a:r>
            </a:p>
            <a:p>
              <a:pPr>
                <a:spcBef>
                  <a:spcPct val="50000"/>
                </a:spcBef>
              </a:pPr>
              <a:r>
                <a:rPr lang="en-US" b="1" dirty="0"/>
                <a:t>Sample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Right Arrow 35"/>
          <p:cNvSpPr/>
          <p:nvPr/>
        </p:nvSpPr>
        <p:spPr>
          <a:xfrm rot="5400000">
            <a:off x="-1116" y="2768588"/>
            <a:ext cx="12954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7"/>
          <p:cNvGrpSpPr>
            <a:grpSpLocks/>
          </p:cNvGrpSpPr>
          <p:nvPr/>
        </p:nvGrpSpPr>
        <p:grpSpPr bwMode="auto">
          <a:xfrm>
            <a:off x="76200" y="3627471"/>
            <a:ext cx="1219199" cy="1113003"/>
            <a:chOff x="3984" y="3120"/>
            <a:chExt cx="1302" cy="804"/>
          </a:xfrm>
        </p:grpSpPr>
        <p:sp>
          <p:nvSpPr>
            <p:cNvPr id="38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4038" y="3231"/>
              <a:ext cx="1248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rgbClr val="FF0000"/>
                  </a:solidFill>
                </a:rPr>
                <a:t>Bootstrap</a:t>
              </a:r>
            </a:p>
            <a:p>
              <a:pPr>
                <a:spcBef>
                  <a:spcPct val="50000"/>
                </a:spcBef>
              </a:pPr>
              <a:r>
                <a:rPr lang="en-US" b="1" dirty="0"/>
                <a:t>Sample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851079" y="2858316"/>
            <a:ext cx="1038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. . 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87" y="4685912"/>
            <a:ext cx="19223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1"/>
                </a:solidFill>
              </a:rPr>
              <a:t>Calculate statistic for each </a:t>
            </a:r>
            <a:r>
              <a:rPr lang="en-US" sz="2800" i="1" dirty="0">
                <a:solidFill>
                  <a:srgbClr val="FF0000"/>
                </a:solidFill>
              </a:rPr>
              <a:t>bootstrap</a:t>
            </a:r>
            <a:r>
              <a:rPr lang="en-US" sz="2800" i="1" dirty="0">
                <a:solidFill>
                  <a:schemeClr val="accent1"/>
                </a:solidFill>
              </a:rPr>
              <a:t> sample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315" y="4685912"/>
            <a:ext cx="3601210" cy="211447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2234458" y="4705697"/>
            <a:ext cx="3031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Bootstrap</a:t>
            </a:r>
            <a:r>
              <a:rPr lang="en-US" sz="2400" b="1" dirty="0">
                <a:solidFill>
                  <a:schemeClr val="tx2"/>
                </a:solidFill>
              </a:rPr>
              <a:t> Distribution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5029200" y="5267364"/>
            <a:ext cx="1143000" cy="0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0300" y="5064204"/>
            <a:ext cx="2705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Standard Error (SE): </a:t>
            </a:r>
            <a:r>
              <a:rPr lang="en-US" sz="2400" dirty="0"/>
              <a:t>standard deviation of the </a:t>
            </a:r>
            <a:r>
              <a:rPr lang="en-US" sz="2400" dirty="0">
                <a:solidFill>
                  <a:srgbClr val="FF0000"/>
                </a:solidFill>
              </a:rPr>
              <a:t>bootstrap</a:t>
            </a:r>
            <a:r>
              <a:rPr lang="en-US" sz="2400" dirty="0"/>
              <a:t> distribution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flipH="1" flipV="1">
            <a:off x="7337597" y="4313592"/>
            <a:ext cx="8720" cy="853770"/>
          </a:xfrm>
          <a:prstGeom prst="straightConnector1">
            <a:avLst/>
          </a:prstGeom>
          <a:ln w="25400">
            <a:solidFill>
              <a:srgbClr val="F715D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16898" y="3500754"/>
            <a:ext cx="3150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715DC"/>
                </a:solidFill>
              </a:rPr>
              <a:t>Margin of Error (ME):</a:t>
            </a:r>
          </a:p>
          <a:p>
            <a:r>
              <a:rPr lang="en-US" sz="2400" dirty="0"/>
              <a:t>(95% CI: ME = 2×SE)</a:t>
            </a:r>
          </a:p>
        </p:txBody>
      </p:sp>
      <p:sp>
        <p:nvSpPr>
          <p:cNvPr id="2055" name="Rectangle 2054"/>
          <p:cNvSpPr/>
          <p:nvPr/>
        </p:nvSpPr>
        <p:spPr>
          <a:xfrm>
            <a:off x="5118990" y="693938"/>
            <a:ext cx="404259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Confidence </a:t>
            </a:r>
            <a:r>
              <a:rPr lang="en-US" sz="36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Interval:</a:t>
            </a:r>
            <a:endParaRPr lang="en-US" sz="3600" b="1" cap="none" spc="0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117610" y="1240009"/>
            <a:ext cx="2998502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i="1" dirty="0"/>
              <a:t>statistic </a:t>
            </a:r>
            <a:r>
              <a:rPr lang="en-US" sz="3200" dirty="0"/>
              <a:t>±</a:t>
            </a:r>
            <a:r>
              <a:rPr lang="en-US" sz="3200" i="1" dirty="0"/>
              <a:t> ME</a:t>
            </a:r>
          </a:p>
        </p:txBody>
      </p:sp>
      <p:sp>
        <p:nvSpPr>
          <p:cNvPr id="2066" name="Bent-Up Arrow 2065"/>
          <p:cNvSpPr/>
          <p:nvPr/>
        </p:nvSpPr>
        <p:spPr>
          <a:xfrm>
            <a:off x="2704943" y="1667894"/>
            <a:ext cx="4302449" cy="467254"/>
          </a:xfrm>
          <a:prstGeom prst="bentUpArrow">
            <a:avLst/>
          </a:prstGeom>
          <a:solidFill>
            <a:srgbClr val="92D050"/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09288" y="4105318"/>
            <a:ext cx="1196044" cy="6594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0" name="Down Arrow 2079"/>
          <p:cNvSpPr/>
          <p:nvPr/>
        </p:nvSpPr>
        <p:spPr>
          <a:xfrm rot="900000" flipV="1">
            <a:off x="7726063" y="1722843"/>
            <a:ext cx="193623" cy="1831494"/>
          </a:xfrm>
          <a:prstGeom prst="downArrow">
            <a:avLst/>
          </a:prstGeom>
          <a:solidFill>
            <a:srgbClr val="F715DC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685130" y="1532396"/>
            <a:ext cx="83112" cy="30862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3679366" y="4105318"/>
            <a:ext cx="35378" cy="466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4565069" y="3313631"/>
            <a:ext cx="0" cy="12524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395057" y="4178879"/>
            <a:ext cx="195743" cy="4039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4070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6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00"/>
                            </p:stCondLst>
                            <p:childTnLst>
                              <p:par>
                                <p:cTn id="6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6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1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6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1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6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5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0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utoUpdateAnimBg="0"/>
      <p:bldP spid="23" grpId="0" animBg="1"/>
      <p:bldP spid="24" grpId="0" animBg="1"/>
      <p:bldP spid="28" grpId="0" animBg="1"/>
      <p:bldP spid="32" grpId="0" animBg="1"/>
      <p:bldP spid="36" grpId="0" animBg="1"/>
      <p:bldP spid="4" grpId="0"/>
      <p:bldP spid="9" grpId="0"/>
      <p:bldP spid="43" grpId="0"/>
      <p:bldP spid="53" grpId="0"/>
      <p:bldP spid="58" grpId="0"/>
      <p:bldP spid="2055" grpId="0"/>
      <p:bldP spid="74" grpId="0"/>
      <p:bldP spid="2066" grpId="0" animBg="1"/>
      <p:bldP spid="208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8" y="1551562"/>
            <a:ext cx="9125592" cy="5280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-18407" y="4864"/>
            <a:ext cx="9144000" cy="1366736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Based on 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hlinkClick r:id="rId6"/>
              </a:rPr>
              <a:t>this</a:t>
            </a:r>
            <a:r>
              <a:rPr lang="en-US" sz="3600" u="sng" dirty="0">
                <a:solidFill>
                  <a:schemeClr val="accent6">
                    <a:lumMod val="50000"/>
                  </a:schemeClr>
                </a:solidFill>
                <a:hlinkClick r:id="rId6"/>
              </a:rPr>
              <a:t>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bootstrap distribution, give a 95% confidence interval for the true proportion of Reese’s Pieces that are orange.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5913844" y="4495800"/>
            <a:ext cx="3211749" cy="2388139"/>
          </a:xfrm>
        </p:spPr>
        <p:txBody>
          <a:bodyPr>
            <a:noAutofit/>
          </a:bodyPr>
          <a:lstStyle/>
          <a:p>
            <a:pPr marL="731520" indent="-514350">
              <a:spcBef>
                <a:spcPct val="20000"/>
              </a:spcBef>
              <a:buFont typeface="+mj-lt"/>
              <a:buAutoNum type="alphaLcPeriod"/>
            </a:pPr>
            <a:r>
              <a:rPr lang="en-US" sz="2800" dirty="0"/>
              <a:t>(0.47, 0.55)</a:t>
            </a:r>
          </a:p>
          <a:p>
            <a:pPr marL="731520" indent="-514350">
              <a:spcBef>
                <a:spcPct val="20000"/>
              </a:spcBef>
              <a:buFont typeface="+mj-lt"/>
              <a:buAutoNum type="alphaLcPeriod"/>
            </a:pPr>
            <a:r>
              <a:rPr lang="en-US" sz="2800" dirty="0"/>
              <a:t>(0.44, 0.52)</a:t>
            </a:r>
          </a:p>
          <a:p>
            <a:pPr marL="731520" indent="-514350">
              <a:spcBef>
                <a:spcPct val="20000"/>
              </a:spcBef>
              <a:buFont typeface="+mj-lt"/>
              <a:buAutoNum type="alphaLcPeriod"/>
            </a:pPr>
            <a:r>
              <a:rPr lang="en-US" sz="2800" dirty="0"/>
              <a:t>(0.40, 0.56)</a:t>
            </a:r>
          </a:p>
          <a:p>
            <a:pPr marL="731520" indent="-514350">
              <a:spcBef>
                <a:spcPct val="20000"/>
              </a:spcBef>
              <a:buFont typeface="+mj-lt"/>
              <a:buAutoNum type="alphaLcPeriod"/>
            </a:pPr>
            <a:r>
              <a:rPr lang="en-US" sz="2800" dirty="0"/>
              <a:t>(0.43, 0.59)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8495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152400" y="1219200"/>
            <a:ext cx="89916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What percentage of Americans believe in global warming?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A survey on 2,251 randomly selected individuals conducted in October 2010 found that 1328 answered “Yes” to the question</a:t>
            </a: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i="1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“Is there solid evidence of global warming?”</a:t>
            </a: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Global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Warming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57150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Source: “Wide Partisan Divide Over Global Warming”, Pew Research Center, 10/27/10. </a:t>
            </a:r>
            <a:r>
              <a:rPr lang="en-US" sz="2400" dirty="0">
                <a:hlinkClick r:id="rId3"/>
              </a:rPr>
              <a:t>http://pewresearch.org/pubs/1780/poll-global-warming-scientists-energy-policies-offshore-drilling-tea-party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628900" y="5253335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www.lock5stat.com/statkey</a:t>
            </a:r>
            <a:r>
              <a:rPr lang="en-US" sz="24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988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Global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Warming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43" y="971550"/>
            <a:ext cx="8302557" cy="58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7833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about Other Parameters?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0" y="1524000"/>
                <a:ext cx="8991600" cy="44935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Estimate the standard error and/or a confidence interval for...</a:t>
                </a:r>
              </a:p>
              <a:p>
                <a:pPr marL="457200" indent="-4572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mean (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µ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457200" indent="-4572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difference in means (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µ</m:t>
                    </m:r>
                    <m:r>
                      <a:rPr lang="en-US" sz="3200" i="1" baseline="-2500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1</m:t>
                    </m:r>
                    <m:r>
                      <a:rPr lang="en-US" sz="32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−µ</m:t>
                    </m:r>
                    <m:r>
                      <a:rPr lang="en-US" sz="3200" i="1" baseline="-2500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US" sz="32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457200" indent="-4572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difference in proportions (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sz="3200" i="1" baseline="-250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1</m:t>
                    </m:r>
                    <m:r>
                      <a:rPr lang="en-US" sz="32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−</m:t>
                    </m:r>
                    <m:r>
                      <a:rPr lang="en-US" sz="3200" b="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sz="3200" i="1" baseline="-250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US" sz="3200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457200" indent="-4572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standard deviation (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𝜎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457200" indent="-4572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correlation (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𝜌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457200" indent="-457200">
                  <a:spcBef>
                    <a:spcPts val="600"/>
                  </a:spcBef>
                  <a:buFont typeface="Arial" pitchFamily="34" charset="0"/>
                  <a:buChar char="•"/>
                </a:pPr>
                <a:r>
                  <a:rPr lang="en-US" sz="3200" dirty="0">
                    <a:solidFill>
                      <a:schemeClr val="accent6">
                        <a:lumMod val="50000"/>
                      </a:schemeClr>
                    </a:solidFill>
                  </a:rPr>
                  <a:t>...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000"/>
                <a:ext cx="8991600" cy="4493538"/>
              </a:xfrm>
              <a:prstGeom prst="rect">
                <a:avLst/>
              </a:prstGeom>
              <a:blipFill rotWithShape="1">
                <a:blip r:embed="rId3"/>
                <a:stretch>
                  <a:fillRect l="-1695" t="-1628" b="-3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71800" y="5232708"/>
            <a:ext cx="6019800" cy="156966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Generate samples with replacement</a:t>
            </a:r>
          </a:p>
          <a:p>
            <a:r>
              <a:rPr lang="en-US" sz="3200" dirty="0"/>
              <a:t>Calculate sample statistic</a:t>
            </a:r>
          </a:p>
          <a:p>
            <a:r>
              <a:rPr lang="en-US" sz="3200" dirty="0"/>
              <a:t>Repeat...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41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0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We can use bootstrapping to assess the uncertainty surrounding ANY sample statistic!</a:t>
            </a:r>
          </a:p>
          <a:p>
            <a:pPr marL="571500" indent="-571500">
              <a:buClr>
                <a:schemeClr val="accent1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57150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If we have sample data, we can use bootstrapping to create a 95% confidence interval for any parameter!</a:t>
            </a:r>
          </a:p>
          <a:p>
            <a:pPr marL="571500" indent="-571500">
              <a:buClr>
                <a:schemeClr val="accent1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algn="r">
              <a:buClr>
                <a:schemeClr val="accent1"/>
              </a:buClr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(well, almost…)</a:t>
            </a:r>
          </a:p>
          <a:p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Magic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Bootstrapping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812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0" y="853402"/>
            <a:ext cx="9144000" cy="60045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000" b="1" dirty="0">
                <a:solidFill>
                  <a:schemeClr val="accent5">
                    <a:lumMod val="50000"/>
                  </a:schemeClr>
                </a:solidFill>
              </a:rPr>
              <a:t>Does belief in global warming differ by political party?</a:t>
            </a:r>
          </a:p>
          <a:p>
            <a:pPr lvl="0" indent="-342900" algn="ctr">
              <a:defRPr/>
            </a:pPr>
            <a:endParaRPr lang="en-US" sz="3000" i="1" dirty="0"/>
          </a:p>
          <a:p>
            <a:pPr lvl="0" indent="-342900" algn="ctr">
              <a:defRPr/>
            </a:pPr>
            <a:r>
              <a:rPr lang="en-US" sz="3000" i="1" dirty="0"/>
              <a:t>“Is there solid evidence of global warming?”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000" dirty="0"/>
              <a:t>The sample proportion answering “yes” was 79% among Democrats and 38% among Republicans.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000" dirty="0"/>
              <a:t>(exact numbers for each party not given, but assume </a:t>
            </a:r>
            <a:r>
              <a:rPr lang="en-US" sz="3000" i="1" dirty="0"/>
              <a:t>n=</a:t>
            </a:r>
            <a:r>
              <a:rPr lang="en-US" sz="3000" dirty="0"/>
              <a:t>1000 for each group)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000" i="1" dirty="0"/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000" dirty="0"/>
              <a:t>Give a 95% CI for the difference in proportions.</a:t>
            </a: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000" i="1" dirty="0">
              <a:solidFill>
                <a:schemeClr val="tx2"/>
              </a:solidFill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Global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Warming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2700" y="5198212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3"/>
              </a:rPr>
              <a:t>www.lock5stat.com/statkey</a:t>
            </a:r>
            <a:r>
              <a:rPr lang="en-US" sz="2800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7150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Source: “Wide Partisan Divide Over Global Warming”, Pew Research Center, 10/27/10. </a:t>
            </a:r>
            <a:r>
              <a:rPr lang="en-US" sz="2400" dirty="0">
                <a:hlinkClick r:id="rId4"/>
              </a:rPr>
              <a:t>http://pewresearch.org/pubs/1780/poll-global-warming-scientists-energy-policies-offshore-drilling-tea-party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46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6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14400"/>
            <a:ext cx="8534400" cy="5100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Global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Warming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18954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-29184" y="19454"/>
            <a:ext cx="9173183" cy="2495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lvl="0" indent="-342900">
              <a:defRPr/>
            </a:pPr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Based on the data just analyzed, can you conclude with 95% certainty that the proportion of people believing in global warming differs by political party?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381000" y="1143000"/>
            <a:ext cx="84582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-29184" y="2396247"/>
            <a:ext cx="8153400" cy="4495800"/>
          </a:xfrm>
        </p:spPr>
        <p:txBody>
          <a:bodyPr>
            <a:noAutofit/>
          </a:bodyPr>
          <a:lstStyle/>
          <a:p>
            <a:pPr marL="491490" indent="-514350">
              <a:spcBef>
                <a:spcPct val="20000"/>
              </a:spcBef>
              <a:buClrTx/>
              <a:buSzTx/>
              <a:buFont typeface="+mj-lt"/>
              <a:buAutoNum type="arabicPeriod"/>
              <a:defRPr/>
            </a:pPr>
            <a:r>
              <a:rPr lang="en-US" sz="2800" dirty="0"/>
              <a:t> Yes</a:t>
            </a:r>
          </a:p>
          <a:p>
            <a:pPr marL="491490" indent="-514350">
              <a:spcBef>
                <a:spcPct val="20000"/>
              </a:spcBef>
              <a:buClrTx/>
              <a:buSzTx/>
              <a:buFont typeface="+mj-lt"/>
              <a:buAutoNum type="arabicPeriod"/>
              <a:defRPr/>
            </a:pPr>
            <a:r>
              <a:rPr lang="en-US" sz="2800" dirty="0"/>
              <a:t> No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5285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/>
          <a:lstStyle/>
          <a:p>
            <a:r>
              <a:rPr lang="en-US" b="1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0" y="1524000"/>
                <a:ext cx="9144000" cy="5334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3000" dirty="0"/>
                  <a:t>To generate a bootstrap distribution, we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sz="3000" dirty="0"/>
                  <a:t>Generate </a:t>
                </a:r>
                <a:r>
                  <a:rPr lang="en-US" sz="3000" b="1" i="1" dirty="0">
                    <a:solidFill>
                      <a:schemeClr val="accent1">
                        <a:lumMod val="75000"/>
                      </a:schemeClr>
                    </a:solidFill>
                  </a:rPr>
                  <a:t>bootstrap samples </a:t>
                </a:r>
                <a:r>
                  <a:rPr lang="en-US" sz="3000" dirty="0"/>
                  <a:t>by sampling with replacement from the original sample, using the same sample size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sz="3000" dirty="0"/>
                  <a:t>Compute the statistic of interest, called a </a:t>
                </a:r>
                <a:r>
                  <a:rPr lang="en-US" sz="3000" b="1" i="1" dirty="0">
                    <a:solidFill>
                      <a:schemeClr val="accent5">
                        <a:lumMod val="75000"/>
                      </a:schemeClr>
                    </a:solidFill>
                  </a:rPr>
                  <a:t>bootstrap statistic</a:t>
                </a:r>
                <a:r>
                  <a:rPr lang="en-US" sz="3000" dirty="0"/>
                  <a:t>, for each of the bootstrap samples</a:t>
                </a:r>
              </a:p>
              <a:p>
                <a:pPr lvl="1"/>
                <a:r>
                  <a:rPr lang="en-US" sz="3000" dirty="0"/>
                  <a:t>Collect the statistics for many bootstrap samples to form a </a:t>
                </a:r>
                <a:r>
                  <a:rPr lang="en-US" sz="3000" b="1" i="1" dirty="0">
                    <a:solidFill>
                      <a:srgbClr val="00B050"/>
                    </a:solidFill>
                  </a:rPr>
                  <a:t>bootstrap distribution</a:t>
                </a:r>
              </a:p>
              <a:p>
                <a:r>
                  <a:rPr lang="en-US" sz="3000" dirty="0"/>
                  <a:t>If the bootstrap distribution is symmetric and bell-shaped, a 95% CI can be estimated by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/>
                      </a:rPr>
                      <m:t>𝑠𝑡𝑎𝑡𝑖𝑠𝑡𝑖𝑐</m:t>
                    </m:r>
                    <m:r>
                      <a:rPr lang="en-US" sz="3000" i="1">
                        <a:latin typeface="Cambria Math"/>
                        <a:ea typeface="Cambria Math"/>
                      </a:rPr>
                      <m:t>±2∙</m:t>
                    </m:r>
                    <m:r>
                      <a:rPr lang="en-US" sz="3000" i="1">
                        <a:latin typeface="Cambria Math"/>
                        <a:ea typeface="Cambria Math"/>
                      </a:rPr>
                      <m:t>𝑆𝐸</m:t>
                    </m:r>
                  </m:oMath>
                </a14:m>
                <a:r>
                  <a:rPr lang="en-US" sz="3000" dirty="0"/>
                  <a:t>, where SE can be estimated as the standard deviation of a bootstrap distribution</a:t>
                </a:r>
              </a:p>
              <a:p>
                <a:endParaRPr lang="en-US" dirty="0"/>
              </a:p>
              <a:p>
                <a:endParaRPr lang="en-US" dirty="0">
                  <a:solidFill>
                    <a:schemeClr val="tx2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800"/>
                  </a:spcAft>
                </a:pPr>
                <a:endParaRPr lang="en-US" dirty="0"/>
              </a:p>
              <a:p>
                <a:pPr>
                  <a:spcBef>
                    <a:spcPts val="0"/>
                  </a:spcBef>
                  <a:buNone/>
                </a:pPr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524000"/>
                <a:ext cx="9144000" cy="5334000"/>
              </a:xfrm>
              <a:blipFill rotWithShape="1">
                <a:blip r:embed="rId3"/>
                <a:stretch>
                  <a:fillRect l="-267" t="-1943" r="-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5868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ASKPANEKEY" val="89f19f08-3e8e-4221-8677-dd5b1580215f"/>
  <p:tag name="EXPANDSHOWBAR" val="True"/>
  <p:tag name="TPPRESENTATIONGUID" val="a0ff8e39-d2f3-4c8b-a0b2-e660b03733dd"/>
  <p:tag name="WASPOLLED" val="7BABB46E9B6349A78BF435803BA700A4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B2092F8EC40540FABC8872C1B6F7A262&lt;/guid&gt;&#10;        &lt;description /&gt;&#10;        &lt;date&gt;6/23/2017 11:29:28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64D87FCFA2F49899232E92144E7AA25&lt;/guid&gt;&#10;            &lt;repollguid&gt;128D747C53B345DE8377CA81906A8E0E&lt;/repollguid&gt;&#10;            &lt;sourceid&gt;32C4028E5C4B482984338473A3996AA3&lt;/sourceid&gt;&#10;            &lt;questiontext&gt;The probability that the population mean is in a particular 95% confidence interval is 0.95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CFE028580C0484B9FF9B6D8AFB18957&lt;/guid&gt;&#10;                    &lt;answertext&gt;Correct&lt;/answertext&gt;&#10;                    &lt;valuetype&gt;0&lt;/valuetype&gt;&#10;                &lt;/answer&gt;&#10;                &lt;answer&gt;&#10;                    &lt;guid&gt;07A2FD2C7A2D45CA86565A9AC15013C0&lt;/guid&gt;&#10;                    &lt;answertext&gt;Incorrec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B2092F8EC40540FABC8872C1B6F7A262&lt;/guid&gt;&#10;        &lt;description /&gt;&#10;        &lt;date&gt;6/23/2017 11:29:28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962CD226F9494F96AD71C3DF9D5BDA90&lt;/guid&gt;&#10;            &lt;repollguid&gt;128D747C53B345DE8377CA81906A8E0E&lt;/repollguid&gt;&#10;            &lt;sourceid&gt;32C4028E5C4B482984338473A3996AA3&lt;/sourceid&gt;&#10;            &lt;questiontext&gt;If we take many random samples from the population and use each one separately to compute the 95% confidence interval, in the long run about 95% of these intervals will capture the population parameter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CFE028580C0484B9FF9B6D8AFB18957&lt;/guid&gt;&#10;                    &lt;answertext&gt;Correct&lt;/answertext&gt;&#10;                    &lt;valuetype&gt;0&lt;/valuetype&gt;&#10;                &lt;/answer&gt;&#10;                &lt;answer&gt;&#10;                    &lt;guid&gt;07A2FD2C7A2D45CA86565A9AC15013C0&lt;/guid&gt;&#10;                    &lt;answertext&gt;Incorrec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B2092F8EC40540FABC8872C1B6F7A262&lt;/guid&gt;&#10;        &lt;description /&gt;&#10;        &lt;date&gt;6/23/2017 11:29:28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52569051794049D48F01BDA6A3DEFFFC&lt;/guid&gt;&#10;            &lt;repollguid&gt;128D747C53B345DE8377CA81906A8E0E&lt;/repollguid&gt;&#10;            &lt;sourceid&gt;32C4028E5C4B482984338473A3996AA3&lt;/sourceid&gt;&#10;            &lt;questiontext&gt;We are 95% sure that the population parameter is contained in the 95% confidence interval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CFE028580C0484B9FF9B6D8AFB18957&lt;/guid&gt;&#10;                    &lt;answertext&gt;Correct&lt;/answertext&gt;&#10;                    &lt;valuetype&gt;0&lt;/valuetype&gt;&#10;                &lt;/answer&gt;&#10;                &lt;answer&gt;&#10;                    &lt;guid&gt;07A2FD2C7A2D45CA86565A9AC15013C0&lt;/guid&gt;&#10;                    &lt;answertext&gt;Incorrec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C5AD078820204059BD0B857A39DBE959"/>
  <p:tag name="SLIDEID" val="C5AD078820204059BD0B857A39DBE959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Yes|smicln|No"/>
  <p:tag name="QUESTIONALIAS" val="Your original sample has data values   18, 19, 19, 20, 21  Is the following a possible bootstrap sample?  18, 19, 20, 21, 22"/>
  <p:tag name="VALUES" val="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5E18FE68E0074B85937EF03C9F46BC6F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7DA507EFCF84EA6930F164C140EC861&lt;/guid&gt;&#10;            &lt;repollguid&gt;BBEC1E1F06BE404F9D8480540B4FF04A&lt;/repollguid&gt;&#10;            &lt;sourceid&gt;42BDCC71F9E04AFCB5AA98E1013AC22B&lt;/sourceid&gt;&#10;            &lt;questiontext&gt;Your original sample has data values 18, 19, 19, 20, 21Is the following a possible bootstrap sample?18, 19, 20, 21, 22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BB877D38BFC54DCE9825DB0F62D772E9&lt;/guid&gt;&#10;                    &lt;answertext&gt;Yes &lt;/answertext&gt;&#10;                    &lt;valuetype&gt;0&lt;/valuetype&gt;&#10;                &lt;/answer&gt;&#10;                &lt;answer&gt;&#10;                    &lt;guid&gt;C2C1CBD234FB494F98375564F8E4DDFA&lt;/guid&gt;&#10;                    &lt;answertext&gt;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2"/>
  <p:tag name="TEXTLENGTH" val="6"/>
  <p:tag name="FONTSIZE" val="30"/>
  <p:tag name="BULLETTYPE" val="ppBulletAlphaLCParenRight"/>
  <p:tag name="ANSWERTEXT" val="Yes&#10;No"/>
  <p:tag name="ZEROBASED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70B9ED4E403C4BDCACD036E242E9E8FF"/>
  <p:tag name="SLIDEID" val="70B9ED4E403C4BDCACD036E242E9E8FF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Yes|smicln|No"/>
  <p:tag name="QUESTIONALIAS" val="Your original sample has data values   18, 19, 19, 20, 21   Is the following a possible bootstrap sample?   18, 19, 20, 21"/>
  <p:tag name="VALUES" val="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11132D8A0A804DBCA3F1E8C09364FFE0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9E5A3CD4BCB1442F9CE5455679E4F26E&lt;/guid&gt;&#10;            &lt;repollguid&gt;68A01FC17C7348B69E20978DA2E9C83E&lt;/repollguid&gt;&#10;            &lt;sourceid&gt;FF5D6F70848A412DB82228BB6558C1B8&lt;/sourceid&gt;&#10;            &lt;questiontext&gt;Your original sample has data values   18, 19, 19, 20, 21  Is the following a possible bootstrap sample?  18, 19, 20, 21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F895734B570C4E4EBFA6350CC25FB83C&lt;/guid&gt;&#10;                    &lt;answertext&gt;Yes &lt;/answertext&gt;&#10;                    &lt;valuetype&gt;0&lt;/valuetype&gt;&#10;                &lt;/answer&gt;&#10;                &lt;answer&gt;&#10;                    &lt;guid&gt;F5D9577D1AF146A49988054E62632AC8&lt;/guid&gt;&#10;                    &lt;answertext&gt;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2"/>
  <p:tag name="TEXTLENGTH" val="6"/>
  <p:tag name="FONTSIZE" val="32"/>
  <p:tag name="BULLETTYPE" val="ppBulletAlphaLCParenRight"/>
  <p:tag name="ANSWERTEXT" val="Yes&#10;No"/>
  <p:tag name="ZEROBASED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70381EE080C84EE98BC2C35342224E92"/>
  <p:tag name="SLIDEID" val="70381EE080C84EE98BC2C35342224E92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Yes|smicln|No"/>
  <p:tag name="QUESTIONALIAS" val="Your original sample has data values  18, 19, 19, 20, 21 Is the following a possible bootstrap sample? 18, 18, 19, 20, 21"/>
  <p:tag name="VALUES" val="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75B1BE4E16D44481BB4108BDAF86CB56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6339EB46DD049A6810C45772D57FD2B&lt;/guid&gt;&#10;            &lt;repollguid&gt;E936713FC1FC46E294661C6D5DCBEC3E&lt;/repollguid&gt;&#10;            &lt;sourceid&gt;8E4E81D3514245EC8E9DC0FC522441DE&lt;/sourceid&gt;&#10;            &lt;questiontext&gt;Your original sample has data values 18, 19, 19, 20, 21Is the following a possible bootstrap sample?18, 18, 19, 20, 21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B00BEBB7F8B2489BA70F9D4D37E9740E&lt;/guid&gt;&#10;                    &lt;answertext&gt;Yes &lt;/answertext&gt;&#10;                    &lt;valuetype&gt;0&lt;/valuetype&gt;&#10;                &lt;/answer&gt;&#10;                &lt;answer&gt;&#10;                    &lt;guid&gt;4FD750E33C8E44E3BDC0BE8CA4D2E597&lt;/guid&gt;&#10;                    &lt;answertext&gt;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2"/>
  <p:tag name="TEXTLENGTH" val="6"/>
  <p:tag name="FONTSIZE" val="28"/>
  <p:tag name="BULLETTYPE" val="ppBulletAlphaLCParenRight"/>
  <p:tag name="ANSWERTEXT" val="Yes&#10;No"/>
  <p:tag name="ZEROBASED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B2DD8BBEF9894C0FA537EB69048AC063"/>
  <p:tag name="SLIDEID" val="B2DD8BBEF9894C0FA537EB69048AC063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You have a sample of size n = 50.  You sample with replacement 1000 times to get 1000 bootstrap samples. What is the sample size of each bootstrap sample?"/>
  <p:tag name="ANSWERSALIAS" val=" 50|smicln| 1000"/>
  <p:tag name="DELIMITERS" val="3.1"/>
  <p:tag name="VALUES" val="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3779E16F257347519024C23728404A30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E854CD7BAFE438BA936B4A690CC7161&lt;/guid&gt;&#10;            &lt;repollguid&gt;8AAB34DE16C841E09A7F0427DFAAC2C9&lt;/repollguid&gt;&#10;            &lt;sourceid&gt;0B87F6BBC1ED4897B3483EC052EE737E&lt;/sourceid&gt;&#10;            &lt;questiontext&gt;You have a sample of size n = 50.  You sample with replacement 1000 times to get 1000 bootstrap samples.What is the sample size of each bootstrap sample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E7959F2A42AD4D108755E10740BF943B&lt;/guid&gt;&#10;                    &lt;answertext&gt; 50 &lt;/answertext&gt;&#10;                    &lt;valuetype&gt;0&lt;/valuetype&gt;&#10;                &lt;/answer&gt;&#10;                &lt;answer&gt;&#10;                    &lt;guid&gt;90EAC5F38D8A4DFE99227ADCFEF59DFC&lt;/guid&gt;&#10;                    &lt;answertext&gt; 100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8"/>
  <p:tag name="OLDNUMANSWERS" val="2"/>
  <p:tag name="TEXTLENGTH" val="9"/>
  <p:tag name="FONTSIZE" val="28"/>
  <p:tag name="BULLETTYPE" val="ppBulletAlphaLCParenBoth"/>
  <p:tag name="ANSWERTEXT" val=" 50&#10; 1000"/>
  <p:tag name="ZEROBASED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69B8AC0B8D804287B9F5DD0F368258C1"/>
  <p:tag name="SLIDEID" val="69B8AC0B8D804287B9F5DD0F368258C1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You have a sample of size n = 50.  You sample with replacement 1000 times to get 1000 bootstrap samples.  How many bootstrap statistics will you have?"/>
  <p:tag name="ANSWERSALIAS" val="50|smicln| 1000"/>
  <p:tag name="DELIMITERS" val="3.1"/>
  <p:tag name="VALUES" val="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5F6BC48BD47C4E4C88DA5464F33D0788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950FFAF10A4401FBEC94768161DC559&lt;/guid&gt;&#10;            &lt;repollguid&gt;F703696ECBA64B26B8BEDA6CB96C5C78&lt;/repollguid&gt;&#10;            &lt;sourceid&gt;8EDC3855A52D4F0191D1BF47598F47B7&lt;/sourceid&gt;&#10;            &lt;questiontext&gt;You have a sample of size n = 50.  You sample with replacement 1000 times to get 1000 bootstrap samples.How many bootstrap statistics will you have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71EC5F0B91E74352BB9647A26E6322CF&lt;/guid&gt;&#10;                    &lt;answertext&gt;50 &lt;/answertext&gt;&#10;                    &lt;valuetype&gt;0&lt;/valuetype&gt;&#10;                &lt;/answer&gt;&#10;                &lt;answer&gt;&#10;                    &lt;guid&gt;499E6BA4ADD94FB893BDEBF8D01BAFDC&lt;/guid&gt;&#10;                    &lt;answertext&gt; 100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8"/>
  <p:tag name="OLDNUMANSWERS" val="2"/>
  <p:tag name="TEXTLENGTH" val="8"/>
  <p:tag name="FONTSIZE" val="28"/>
  <p:tag name="BULLETTYPE" val="ppBulletAlphaLCParenBoth"/>
  <p:tag name="ANSWERTEXT" val="50&#10; 1000"/>
  <p:tag name="ZEROBASED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A1BA01DC04B64729A797446A37710F62&lt;/guid&gt;&#10;        &lt;description /&gt;&#10;        &lt;date&gt;6/20/2017 5:38:27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85551900F4649F4821EC5E3E9A03CD6&lt;/guid&gt;&#10;            &lt;repollguid&gt;2FCE0E8D83D546BBA83365DDD9E1E2BB&lt;/repollguid&gt;&#10;            &lt;sourceid&gt;A30EDB48A4664145B10037D3F22B403A&lt;/sourceid&gt;&#10;            &lt;questiontext&gt;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2481D9BF4144795AF8D8486DF6A9111&lt;/guid&gt;&#10;                    &lt;answertext&gt;population parameter&lt;/answertext&gt;&#10;                    &lt;valuetype&gt;0&lt;/valuetype&gt;&#10;                &lt;/answer&gt;&#10;                &lt;answer&gt;&#10;                    &lt;guid&gt;6485D32A0550436E92B71407FA604BA2&lt;/guid&gt;&#10;                    &lt;answertext&gt;sample statistic&lt;/answertext&gt;&#10;                    &lt;valuetype&gt;0&lt;/valuetype&gt;&#10;                &lt;/answer&gt;&#10;                &lt;answer&gt;&#10;                    &lt;guid&gt;1A14CC8146F44666B95F37B30257B541&lt;/guid&gt;&#10;                    &lt;answertext&gt;bootstrap statistic&lt;/answertext&gt;&#10;                    &lt;valuetype&gt;0&lt;/valuetype&gt;&#10;                &lt;/answer&gt;&#10;                &lt;answer&gt;&#10;                    &lt;guid&gt;AE65CF93956F42FC89F05AEA5357A402&lt;/guid&gt;&#10;                    &lt;answertext&gt;bootstrap parameter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DEF9F7BEA19748A4B77864F9904F9175"/>
  <p:tag name="SLIDEID" val="DEF9F7BEA19748A4B77864F9904F9175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Based on this bootstrap distribution, give a 95% confidence interval for the true proportion of Reese’s Pieces that are orange."/>
  <p:tag name="DELIMITERS" val="3.1"/>
  <p:tag name="ANSWERSALIAS" val="(0.47, 0.55)|smicln|(0.44, 0.52)|smicln|(0.40, 0.56)|smicln|(0.43, 0.59)"/>
  <p:tag name="VALUES" val="No Value|smicln|No Value|smicln|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07498A13D36A4A1691C90BC1ED6D6695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37C2F19FCAA4489A94C48E6673FC5B7&lt;/guid&gt;&#10;            &lt;repollguid&gt;CC950FB7A7994AA59DAB6624A766AC7D&lt;/repollguid&gt;&#10;            &lt;sourceid&gt;FD40A93563B849B1AAB88AC399022F07&lt;/sourceid&gt;&#10;            &lt;questiontext&gt;Based on this bootstrap distribution, give a 95% confidence interval for the true proportion of Reese’s Pieces that are orange.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3&lt;/bulletstyle&gt;&#10;            &lt;answers&gt;&#10;                &lt;answer&gt;&#10;                    &lt;guid&gt;B51820CC7D034724B32D6FF5AE07506B&lt;/guid&gt;&#10;                    &lt;answertext&gt;(0.47, 0.55) &lt;/answertext&gt;&#10;                    &lt;valuetype&gt;0&lt;/valuetype&gt;&#10;                &lt;/answer&gt;&#10;                &lt;answer&gt;&#10;                    &lt;guid&gt;49D5A1111297437DB03671ED2CBB2278&lt;/guid&gt;&#10;                    &lt;answertext&gt;(0.44, 0.52) &lt;/answertext&gt;&#10;                    &lt;valuetype&gt;0&lt;/valuetype&gt;&#10;                &lt;/answer&gt;&#10;                &lt;answer&gt;&#10;                    &lt;guid&gt;87759AD7E7F44F2CACC027B84148FC90&lt;/guid&gt;&#10;                    &lt;answertext&gt;(0.40, 0.56) &lt;/answertext&gt;&#10;                    &lt;valuetype&gt;0&lt;/valuetype&gt;&#10;                &lt;/answer&gt;&#10;                &lt;answer&gt;&#10;                    &lt;guid&gt;4165AB924C4B418AB4B4B6580D97FF82&lt;/guid&gt;&#10;                    &lt;answertext&gt;(0.43, 0.59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9"/>
  <p:tag name="OLDNUMANSWERS" val="4"/>
  <p:tag name="TEXTLENGTH" val="51"/>
  <p:tag name="FONTSIZE" val="28"/>
  <p:tag name="BULLETTYPE" val="ppBulletAlphaLCParenRight"/>
  <p:tag name="ANSWERTEXT" val="(0.47, 0.55)&#10;(0.44, 0.52)&#10;(0.40, 0.56)&#10;(0.43, 0.59)"/>
  <p:tag name="ZEROBASED" val="Fals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CA98509587EF40688F7854A405A3D33E"/>
  <p:tag name="SLIDEID" val="CA98509587EF40688F7854A405A3D33E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 "/>
  <p:tag name="VALUEFORMAT" val="0%"/>
  <p:tag name="ANSWERSALIAS" val=" Yes|smicln| No"/>
  <p:tag name="VALUES" val="No Value|smicln|No Value"/>
  <p:tag name="TOTALRESPONSES" val="0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ED2D334650544999A929F186441A65CA&lt;/guid&gt;&#10;        &lt;description /&gt;&#10;        &lt;date&gt;6/20/2017 5:37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2F0BF5735304507BCF20C7C9F566C20&lt;/guid&gt;&#10;            &lt;repollguid&gt;8C92E03210834E6CAB884F448FFF5DE4&lt;/repollguid&gt;&#10;            &lt;sourceid&gt;931C46DCA28B45EDA224225D8D848DF7&lt;/sourceid&gt;&#10;            &lt;questiontext&gt; 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B16C4657141244999D747CD8D25B5912&lt;/guid&gt;&#10;                    &lt;answertext&gt; Yes &lt;/answertext&gt;&#10;                    &lt;valuetype&gt;0&lt;/valuetype&gt;&#10;                &lt;/answer&gt;&#10;                &lt;answer&gt;&#10;                    &lt;guid&gt;194C46337972476B821E2F2DE52F245F&lt;/guid&gt;&#10;                    &lt;answertext&gt; 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8"/>
  <p:tag name="FONTSIZE" val="28"/>
  <p:tag name="BULLETTYPE" val="ppBulletArabicPeriod"/>
  <p:tag name="ANSWERTEXT" val=" Yes&#10; No"/>
  <p:tag name="ZEROBASED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2700</TotalTime>
  <Words>1369</Words>
  <Application>Microsoft Office PowerPoint</Application>
  <PresentationFormat>On-screen Show (4:3)</PresentationFormat>
  <Paragraphs>232</Paragraphs>
  <Slides>40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Cambria Math</vt:lpstr>
      <vt:lpstr>Courier New</vt:lpstr>
      <vt:lpstr>Symbol</vt:lpstr>
      <vt:lpstr>Tw Cen MT</vt:lpstr>
      <vt:lpstr>Wingdings</vt:lpstr>
      <vt:lpstr>Wingdings 2</vt:lpstr>
      <vt:lpstr>Median</vt:lpstr>
      <vt:lpstr>Equation</vt:lpstr>
      <vt:lpstr>PowerPoint Presentation</vt:lpstr>
      <vt:lpstr>The probability that the population mean is in a particular 95% confidence interval is 0.95.</vt:lpstr>
      <vt:lpstr>If we take many random samples from the population and use each one separately to compute the 95% confidence interval, in the long run about 95% of these intervals will capture the population parameter.</vt:lpstr>
      <vt:lpstr>We are 95% sure that the population parameter is contained in the 95% confidence interval.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Reese’s Pieces “Population”</vt:lpstr>
      <vt:lpstr>PowerPoint Presentation</vt:lpstr>
      <vt:lpstr>PowerPoint Presentation</vt:lpstr>
      <vt:lpstr>PowerPoint Presentation</vt:lpstr>
      <vt:lpstr>PowerPoint Presentation</vt:lpstr>
      <vt:lpstr>Bootstrap Definitions</vt:lpstr>
      <vt:lpstr>PowerPoint Presentation</vt:lpstr>
      <vt:lpstr>Your original sample has data values  18, 19, 19, 20, 21 Is the following a possible bootstrap sample? 18, 19, 20, 21, 22</vt:lpstr>
      <vt:lpstr>Your original sample has data values   18, 19, 19, 20, 21   Is the following a possible bootstrap sample?   18, 19, 20, 21</vt:lpstr>
      <vt:lpstr>Your original sample has data values  18, 19, 19, 20, 21 Is the following a possible bootstrap sample? 18, 18, 19, 20, 21</vt:lpstr>
      <vt:lpstr>You have a sample of size n = 50.  You sample with replacement 1000 times to get 1000 bootstrap samples. What is the sample size of each bootstrap sample?</vt:lpstr>
      <vt:lpstr>You have a sample of size n = 50.  You sample with replacement 1000 times to get 1000 bootstrap samples.  How many bootstrap statistics will you have?</vt:lpstr>
      <vt:lpstr>PowerPoint Presentation</vt:lpstr>
      <vt:lpstr>PowerPoint Presentation</vt:lpstr>
      <vt:lpstr>Reese’s Pieces “Population”</vt:lpstr>
      <vt:lpstr>PowerPoint Presentation</vt:lpstr>
      <vt:lpstr>Sampling Distribution</vt:lpstr>
      <vt:lpstr>Bootstrap Distribution</vt:lpstr>
      <vt:lpstr> </vt:lpstr>
      <vt:lpstr> </vt:lpstr>
      <vt:lpstr> </vt:lpstr>
      <vt:lpstr>PowerPoint Presentation</vt:lpstr>
      <vt:lpstr>Based on this bootstrap distribution, give a 95% confidence interval for the true proportion of Reese’s Pieces that are orange.</vt:lpstr>
      <vt:lpstr> </vt:lpstr>
      <vt:lpstr> </vt:lpstr>
      <vt:lpstr>What about Other Parameters?</vt:lpstr>
      <vt:lpstr>PowerPoint Presentation</vt:lpstr>
      <vt:lpstr> </vt:lpstr>
      <vt:lpstr> </vt:lpstr>
      <vt:lpstr>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Kati Dobeck</cp:lastModifiedBy>
  <cp:revision>50</cp:revision>
  <dcterms:created xsi:type="dcterms:W3CDTF">2012-12-28T19:14:45Z</dcterms:created>
  <dcterms:modified xsi:type="dcterms:W3CDTF">2017-06-24T18:32:23Z</dcterms:modified>
</cp:coreProperties>
</file>