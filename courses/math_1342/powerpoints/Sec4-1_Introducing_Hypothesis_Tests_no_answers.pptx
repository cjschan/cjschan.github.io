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91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88" r:id="rId10"/>
    <p:sldId id="267" r:id="rId11"/>
    <p:sldId id="268" r:id="rId12"/>
    <p:sldId id="271" r:id="rId13"/>
    <p:sldId id="272" r:id="rId14"/>
    <p:sldId id="273" r:id="rId15"/>
    <p:sldId id="274" r:id="rId16"/>
    <p:sldId id="275" r:id="rId17"/>
    <p:sldId id="277" r:id="rId18"/>
    <p:sldId id="286" r:id="rId19"/>
    <p:sldId id="292" r:id="rId20"/>
    <p:sldId id="293" r:id="rId21"/>
    <p:sldId id="285" r:id="rId22"/>
  </p:sldIdLst>
  <p:sldSz cx="9144000" cy="6858000" type="screen4x3"/>
  <p:notesSz cx="9296400" cy="70104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5A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-888" y="-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-1692" y="-96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4940800"/>
        <c:axId val="204942336"/>
        <c:axId val="170822272"/>
      </c:bar3DChart>
      <c:catAx>
        <c:axId val="204940800"/>
        <c:scaling>
          <c:orientation val="minMax"/>
        </c:scaling>
        <c:delete val="0"/>
        <c:axPos val="b"/>
        <c:majorTickMark val="out"/>
        <c:minorTickMark val="none"/>
        <c:tickLblPos val="nextTo"/>
        <c:crossAx val="204942336"/>
        <c:crosses val="autoZero"/>
        <c:auto val="1"/>
        <c:lblAlgn val="ctr"/>
        <c:lblOffset val="100"/>
        <c:noMultiLvlLbl val="0"/>
      </c:catAx>
      <c:valAx>
        <c:axId val="2049423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4940800"/>
        <c:crosses val="autoZero"/>
        <c:crossBetween val="between"/>
      </c:valAx>
      <c:serAx>
        <c:axId val="170822272"/>
        <c:scaling>
          <c:orientation val="minMax"/>
        </c:scaling>
        <c:delete val="0"/>
        <c:axPos val="b"/>
        <c:majorTickMark val="out"/>
        <c:minorTickMark val="none"/>
        <c:tickLblPos val="nextTo"/>
        <c:crossAx val="204942336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0F005E6-EF8F-4CF6-972E-238105563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63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F3D3A6A-16CA-4E75-BD9C-7888F895731A}" type="datetimeFigureOut">
              <a:rPr lang="en-US" smtClean="0"/>
              <a:t>7/21/2017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B3FCB53-A220-4F5E-8859-7E5EF3C24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77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7/21/2017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-15240" y="1524000"/>
            <a:ext cx="9159240" cy="5334000"/>
          </a:xfrm>
        </p:spPr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7/21/2017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7/21/2017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7/21/2017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kumimoji="0"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7/21/2017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7/21/2017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784" y="152400"/>
            <a:ext cx="7595616" cy="7620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4" name="Picture 2" descr="http://t3.gstatic.com/images?q=tbn:ANd9GcTYmiLh9B_aVjviHh1xZIewSwIAVBJM6GGUwjQGMknDgt1O3VWWMFpakkXX"/>
          <p:cNvPicPr>
            <a:picLocks noChangeAspect="1" noChangeArrowheads="1"/>
          </p:cNvPicPr>
          <p:nvPr userDrawn="1"/>
        </p:nvPicPr>
        <p:blipFill>
          <a:blip r:embed="rId2" cstate="print"/>
          <a:srcRect t="17160" b="8480"/>
          <a:stretch>
            <a:fillRect/>
          </a:stretch>
        </p:blipFill>
        <p:spPr bwMode="auto">
          <a:xfrm>
            <a:off x="173736" y="173736"/>
            <a:ext cx="1066800" cy="990600"/>
          </a:xfrm>
          <a:prstGeom prst="rect">
            <a:avLst/>
          </a:prstGeom>
          <a:noFill/>
        </p:spPr>
      </p:pic>
      <p:sp>
        <p:nvSpPr>
          <p:cNvPr id="9" name="Text Placeholder 12"/>
          <p:cNvSpPr>
            <a:spLocks noGrp="1"/>
          </p:cNvSpPr>
          <p:nvPr>
            <p:ph idx="1"/>
          </p:nvPr>
        </p:nvSpPr>
        <p:spPr>
          <a:xfrm>
            <a:off x="301752" y="1371600"/>
            <a:ext cx="85344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1800"/>
              </a:spcAft>
              <a:defRPr sz="2800"/>
            </a:lvl2pPr>
            <a:lvl3pPr>
              <a:spcBef>
                <a:spcPts val="0"/>
              </a:spcBef>
              <a:spcAft>
                <a:spcPts val="1800"/>
              </a:spcAft>
              <a:defRPr sz="2400"/>
            </a:lvl3pPr>
            <a:lvl4pPr>
              <a:spcBef>
                <a:spcPts val="0"/>
              </a:spcBef>
              <a:spcAft>
                <a:spcPts val="1800"/>
              </a:spcAft>
              <a:defRPr sz="2000"/>
            </a:lvl4pPr>
            <a:lvl5pPr>
              <a:spcBef>
                <a:spcPts val="0"/>
              </a:spcBef>
              <a:spcAft>
                <a:spcPts val="1800"/>
              </a:spcAft>
              <a:defRPr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idx="13"/>
          </p:nvPr>
        </p:nvSpPr>
        <p:spPr>
          <a:xfrm>
            <a:off x="177280" y="3886200"/>
            <a:ext cx="8534400" cy="216103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914400" indent="0"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idx="14"/>
          </p:nvPr>
        </p:nvSpPr>
        <p:spPr>
          <a:xfrm>
            <a:off x="5181600" y="4114800"/>
            <a:ext cx="3733800" cy="2057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1pPr>
            <a:lvl2pPr marL="274320" indent="0">
              <a:buNone/>
              <a:defRPr sz="2800">
                <a:solidFill>
                  <a:schemeClr val="accent1"/>
                </a:solidFill>
                <a:latin typeface="Segoe Print" pitchFamily="2" charset="0"/>
              </a:defRPr>
            </a:lvl2pPr>
            <a:lvl3pPr marL="59436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3pPr>
            <a:lvl4pPr marL="868680" indent="0">
              <a:buNone/>
              <a:defRPr sz="2000">
                <a:solidFill>
                  <a:schemeClr val="accent1"/>
                </a:solidFill>
                <a:latin typeface="Segoe Print" pitchFamily="2" charset="0"/>
              </a:defRPr>
            </a:lvl4pPr>
            <a:lvl5pPr marL="1143000" indent="0">
              <a:buNone/>
              <a:defRPr>
                <a:solidFill>
                  <a:schemeClr val="accent1"/>
                </a:solidFill>
                <a:latin typeface="Segoe Print" pitchFamily="2" charset="0"/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5430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12"/>
          <p:cNvSpPr>
            <a:spLocks noGrp="1"/>
          </p:cNvSpPr>
          <p:nvPr>
            <p:ph idx="1"/>
          </p:nvPr>
        </p:nvSpPr>
        <p:spPr>
          <a:xfrm>
            <a:off x="1257300" y="1676400"/>
            <a:ext cx="6629400" cy="1759458"/>
          </a:xfrm>
          <a:prstGeom prst="rect">
            <a:avLst/>
          </a:prstGeom>
          <a:ln w="76200" cmpd="thickThin">
            <a:solidFill>
              <a:schemeClr val="accent1"/>
            </a:solidFill>
          </a:ln>
        </p:spPr>
        <p:txBody>
          <a:bodyPr vert="horz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idx="10"/>
          </p:nvPr>
        </p:nvSpPr>
        <p:spPr>
          <a:xfrm>
            <a:off x="304800" y="3962400"/>
            <a:ext cx="8534400" cy="1219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85788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aphicFrame>
        <p:nvGraphicFramePr>
          <p:cNvPr id="3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3233746133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00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176" y="1554480"/>
            <a:ext cx="9141823" cy="5303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Zener_cards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tags" Target="../tags/tag10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2102427" y="1981200"/>
            <a:ext cx="70104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>
                <a:solidFill>
                  <a:srgbClr val="EBDDC3"/>
                </a:solidFill>
              </a:rPr>
              <a:t>Section </a:t>
            </a:r>
            <a:r>
              <a:rPr lang="en-US" sz="3200" dirty="0" smtClean="0">
                <a:solidFill>
                  <a:srgbClr val="EBDDC3"/>
                </a:solidFill>
              </a:rPr>
              <a:t>4.1:</a:t>
            </a:r>
            <a:endParaRPr lang="en-US" sz="3200" dirty="0">
              <a:solidFill>
                <a:srgbClr val="EBDDC3"/>
              </a:solidFill>
            </a:endParaRPr>
          </a:p>
          <a:p>
            <a:pPr>
              <a:spcBef>
                <a:spcPct val="20000"/>
              </a:spcBef>
              <a:defRPr/>
            </a:pPr>
            <a:r>
              <a:rPr lang="en-US" sz="4000" b="1" dirty="0" smtClean="0">
                <a:solidFill>
                  <a:srgbClr val="EBDDC3"/>
                </a:solidFill>
              </a:rPr>
              <a:t>Introducing Hypothesis Tests</a:t>
            </a:r>
            <a:endParaRPr lang="en-US" sz="4000" b="1" dirty="0">
              <a:solidFill>
                <a:srgbClr val="EBDDC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62086" y="4137434"/>
            <a:ext cx="65264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BDDC3"/>
                </a:solidFill>
              </a:rPr>
              <a:t>To accompany</a:t>
            </a:r>
          </a:p>
          <a:p>
            <a:r>
              <a:rPr lang="en-US" sz="3200" b="1" i="1" u="sng" dirty="0">
                <a:solidFill>
                  <a:srgbClr val="EBDDC3"/>
                </a:solidFill>
              </a:rPr>
              <a:t>Statistics: Unlocking the Power of Data</a:t>
            </a:r>
            <a:r>
              <a:rPr lang="en-US" sz="3200" b="1" dirty="0">
                <a:solidFill>
                  <a:srgbClr val="EBDDC3"/>
                </a:solidFill>
              </a:rPr>
              <a:t> </a:t>
            </a:r>
          </a:p>
          <a:p>
            <a:r>
              <a:rPr lang="en-US" sz="2800" dirty="0">
                <a:solidFill>
                  <a:srgbClr val="EBDDC3"/>
                </a:solidFill>
              </a:rPr>
              <a:t>by Lock, Lock, Lock, Lock, and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6159819"/>
            <a:ext cx="64908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Video by: Professor Kathryn Dobeck</a:t>
            </a:r>
          </a:p>
        </p:txBody>
      </p:sp>
      <p:pic>
        <p:nvPicPr>
          <p:cNvPr id="5" name="Picture 4" descr="WILEY_LOGO_2012.eps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6286513"/>
            <a:ext cx="1143000" cy="239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149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90600" y="228600"/>
            <a:ext cx="8153400" cy="990600"/>
          </a:xfrm>
        </p:spPr>
        <p:txBody>
          <a:bodyPr/>
          <a:lstStyle/>
          <a:p>
            <a:r>
              <a:rPr lang="en-US" dirty="0" smtClean="0"/>
              <a:t>Extrasensory Perception</a:t>
            </a:r>
            <a:endParaRPr lang="en-US" dirty="0"/>
          </a:p>
        </p:txBody>
      </p:sp>
      <p:pic>
        <p:nvPicPr>
          <p:cNvPr id="3" name="Picture 2" descr="http://woofighters.org/wp-content/uploads/2010/04/grap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599"/>
            <a:ext cx="9144000" cy="5834471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551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Extrasensory Perception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08" y="1524000"/>
            <a:ext cx="9114692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One way to test for ESP is with </a:t>
            </a:r>
            <a:r>
              <a:rPr lang="en-US" dirty="0" err="1" smtClean="0">
                <a:hlinkClick r:id="rId3"/>
              </a:rPr>
              <a:t>Zener</a:t>
            </a:r>
            <a:r>
              <a:rPr lang="en-US" dirty="0" smtClean="0">
                <a:hlinkClick r:id="rId3"/>
              </a:rPr>
              <a:t> cards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Subjects draw a card at random and telepathically communicate this to someone who then guesses the symbol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 descr="http://markmauvais.yolasite.com/resources/Rhine%20Institute%20ESP%20testin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2057400"/>
            <a:ext cx="4034556" cy="2933699"/>
          </a:xfrm>
          <a:prstGeom prst="rect">
            <a:avLst/>
          </a:prstGeom>
          <a:noFill/>
        </p:spPr>
      </p:pic>
      <p:pic>
        <p:nvPicPr>
          <p:cNvPr id="1026" name="Picture 2" descr="http://upload.wikimedia.org/wikipedia/commons/thumb/e/e0/Cartas_Zener.svg/300px-Cartas_Zener.sv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89" y="2286000"/>
            <a:ext cx="4216889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874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82880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/>
              <a:t>There are five </a:t>
            </a:r>
            <a:r>
              <a:rPr lang="en-US" sz="3600" dirty="0" err="1" smtClean="0"/>
              <a:t>Zener</a:t>
            </a:r>
            <a:r>
              <a:rPr lang="en-US" sz="3600" dirty="0" smtClean="0"/>
              <a:t> cards with five different symbols. If there is no such thing as ESP, what proportion of guesses should be correct?</a:t>
            </a:r>
            <a:endParaRPr lang="en-US" sz="3600" dirty="0"/>
          </a:p>
        </p:txBody>
      </p:sp>
      <p:sp>
        <p:nvSpPr>
          <p:cNvPr id="6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1752600"/>
            <a:ext cx="4206875" cy="2667000"/>
          </a:xfrm>
        </p:spPr>
        <p:txBody>
          <a:bodyPr>
            <a:noAutofit/>
          </a:bodyPr>
          <a:lstStyle/>
          <a:p>
            <a:pPr marL="1943100" indent="-514350">
              <a:spcBef>
                <a:spcPct val="20000"/>
              </a:spcBef>
              <a:buClr>
                <a:srgbClr val="0000BF"/>
              </a:buClr>
              <a:buFont typeface="+mj-lt"/>
              <a:buAutoNum type="arabicPeriod"/>
            </a:pPr>
            <a:r>
              <a:rPr lang="en-US" i="1" dirty="0">
                <a:solidFill>
                  <a:prstClr val="black"/>
                </a:solidFill>
              </a:rPr>
              <a:t>p </a:t>
            </a:r>
            <a:r>
              <a:rPr lang="en-US" dirty="0">
                <a:solidFill>
                  <a:prstClr val="black"/>
                </a:solidFill>
              </a:rPr>
              <a:t>= 0</a:t>
            </a:r>
          </a:p>
          <a:p>
            <a:pPr marL="1943100" indent="-514350">
              <a:spcBef>
                <a:spcPct val="20000"/>
              </a:spcBef>
              <a:buClr>
                <a:srgbClr val="0000BF"/>
              </a:buClr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i="1" dirty="0">
                <a:solidFill>
                  <a:prstClr val="black"/>
                </a:solidFill>
              </a:rPr>
              <a:t>p </a:t>
            </a:r>
            <a:r>
              <a:rPr lang="en-US" dirty="0">
                <a:solidFill>
                  <a:prstClr val="black"/>
                </a:solidFill>
              </a:rPr>
              <a:t>= 1/4</a:t>
            </a:r>
          </a:p>
          <a:p>
            <a:pPr marL="1943100" indent="-514350">
              <a:spcBef>
                <a:spcPct val="20000"/>
              </a:spcBef>
              <a:buClr>
                <a:srgbClr val="0000BF"/>
              </a:buClr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i="1" dirty="0">
                <a:solidFill>
                  <a:prstClr val="black"/>
                </a:solidFill>
              </a:rPr>
              <a:t>p </a:t>
            </a:r>
            <a:r>
              <a:rPr lang="en-US" dirty="0">
                <a:solidFill>
                  <a:prstClr val="black"/>
                </a:solidFill>
              </a:rPr>
              <a:t>= 1/5</a:t>
            </a:r>
          </a:p>
          <a:p>
            <a:pPr marL="1943100" indent="-514350">
              <a:spcBef>
                <a:spcPct val="20000"/>
              </a:spcBef>
              <a:buClr>
                <a:srgbClr val="0000BF"/>
              </a:buClr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i="1" dirty="0">
                <a:solidFill>
                  <a:prstClr val="black"/>
                </a:solidFill>
              </a:rPr>
              <a:t>p </a:t>
            </a:r>
            <a:r>
              <a:rPr lang="en-US" dirty="0">
                <a:solidFill>
                  <a:prstClr val="black"/>
                </a:solidFill>
              </a:rPr>
              <a:t>= </a:t>
            </a:r>
            <a:r>
              <a:rPr lang="en-US" dirty="0" smtClean="0">
                <a:solidFill>
                  <a:prstClr val="black"/>
                </a:solidFill>
              </a:rPr>
              <a:t>1/2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519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Extrasensory Perception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sz="3500" dirty="0" smtClean="0"/>
              <a:t>As we’ve learned, statistics vary from sample to sample</a:t>
            </a:r>
          </a:p>
          <a:p>
            <a:r>
              <a:rPr lang="en-US" sz="3500" dirty="0" smtClean="0"/>
              <a:t>Even if the population proportion is 1/5, not every sample proportion will be exactly 1/5  </a:t>
            </a:r>
          </a:p>
          <a:p>
            <a:r>
              <a:rPr lang="en-US" sz="3500" b="1" i="1" dirty="0" smtClean="0"/>
              <a:t>How do we determine when a sample proportion is far enough above 1/5 to provide evidence of ESP?</a:t>
            </a:r>
          </a:p>
          <a:p>
            <a:pPr marL="274320" lvl="1" indent="0">
              <a:buNone/>
            </a:pPr>
            <a:endParaRPr lang="en-US" sz="3100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482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6400"/>
            <a:ext cx="7543800" cy="144780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b="1" i="1" dirty="0" smtClean="0">
                <a:solidFill>
                  <a:schemeClr val="accent5">
                    <a:lumMod val="50000"/>
                  </a:schemeClr>
                </a:solidFill>
              </a:rPr>
              <a:t>statistical test</a:t>
            </a:r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smtClean="0"/>
              <a:t>uses data from a sample to assess a claim about a population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0" y="3505200"/>
            <a:ext cx="9144000" cy="3352800"/>
          </a:xfrm>
        </p:spPr>
        <p:txBody>
          <a:bodyPr>
            <a:normAutofit/>
          </a:bodyPr>
          <a:lstStyle/>
          <a:p>
            <a:r>
              <a:rPr lang="en-US" dirty="0" smtClean="0"/>
              <a:t>In the ESP experiment, we want to use sample data to determine whether the population proportion of correct guesses is really higher than 1/5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855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PQuestion"/>
              <p:cNvSpPr>
                <a:spLocks noGrp="1"/>
              </p:cNvSpPr>
              <p:nvPr>
                <p:ph type="title" idx="4294967295"/>
              </p:nvPr>
            </p:nvSpPr>
            <p:spPr>
              <a:xfrm>
                <a:off x="4763" y="0"/>
                <a:ext cx="9139237" cy="32004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/>
                  <a:t> denote the sample proportion of correct guesses in an ESP experiment</a:t>
                </a:r>
                <a:br>
                  <a:rPr lang="en-US" dirty="0"/>
                </a:br>
                <a:r>
                  <a:rPr lang="en-US" dirty="0"/>
                  <a:t>Which of these sample statistics would give the strongest evidence for ESP?</a:t>
                </a:r>
              </a:p>
            </p:txBody>
          </p:sp>
        </mc:Choice>
        <mc:Fallback xmlns="">
          <p:sp>
            <p:nvSpPr>
              <p:cNvPr id="2" name="TPQuestion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4763" y="0"/>
                <a:ext cx="9139237" cy="3200400"/>
              </a:xfrm>
              <a:blipFill rotWithShape="1">
                <a:blip r:embed="rId6"/>
                <a:stretch>
                  <a:fillRect l="-2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PAnswers"/>
              <p:cNvSpPr>
                <a:spLocks noGrp="1"/>
              </p:cNvSpPr>
              <p:nvPr>
                <p:ph idx="4294967295"/>
                <p:custDataLst>
                  <p:tags r:id="rId2"/>
                </p:custDataLst>
              </p:nvPr>
            </p:nvSpPr>
            <p:spPr>
              <a:xfrm>
                <a:off x="0" y="2819400"/>
                <a:ext cx="4256088" cy="3543300"/>
              </a:xfrm>
            </p:spPr>
            <p:txBody>
              <a:bodyPr>
                <a:noAutofit/>
              </a:bodyPr>
              <a:lstStyle/>
              <a:p>
                <a:pPr marL="1657350" indent="-742950">
                  <a:spcBef>
                    <a:spcPct val="20000"/>
                  </a:spcBef>
                  <a:buClr>
                    <a:srgbClr val="0000BF"/>
                  </a:buClr>
                  <a:buFont typeface="+mj-lt"/>
                  <a:buAutoNum type="arabicPeriod"/>
                </a:pPr>
                <a:r>
                  <a:rPr lang="en-US" sz="3600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sz="3600" i="1">
                        <a:solidFill>
                          <a:prstClr val="black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n-US" sz="3600" dirty="0">
                  <a:solidFill>
                    <a:prstClr val="black"/>
                  </a:solidFill>
                </a:endParaRPr>
              </a:p>
              <a:p>
                <a:pPr marL="1657350" indent="-742950">
                  <a:spcBef>
                    <a:spcPct val="20000"/>
                  </a:spcBef>
                  <a:buClr>
                    <a:srgbClr val="0000BF"/>
                  </a:buClr>
                  <a:buFont typeface="+mj-lt"/>
                  <a:buAutoNum type="arabicPeriod"/>
                </a:pPr>
                <a:r>
                  <a:rPr lang="en-US" sz="36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sz="3600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en-US" sz="3600">
                        <a:solidFill>
                          <a:prstClr val="black"/>
                        </a:solidFill>
                        <a:latin typeface="Cambria Math"/>
                      </a:rPr>
                      <m:t>1/5</m:t>
                    </m:r>
                  </m:oMath>
                </a14:m>
                <a:endParaRPr lang="en-US" sz="3600" dirty="0">
                  <a:solidFill>
                    <a:prstClr val="black"/>
                  </a:solidFill>
                </a:endParaRPr>
              </a:p>
              <a:p>
                <a:pPr marL="1657350" indent="-742950">
                  <a:spcBef>
                    <a:spcPct val="20000"/>
                  </a:spcBef>
                  <a:buClr>
                    <a:srgbClr val="0000BF"/>
                  </a:buClr>
                  <a:buFont typeface="+mj-lt"/>
                  <a:buAutoNum type="arabicPeriod"/>
                </a:pPr>
                <a:r>
                  <a:rPr lang="en-US" sz="36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sz="3600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sz="3600" dirty="0">
                    <a:solidFill>
                      <a:prstClr val="black"/>
                    </a:solidFill>
                  </a:rPr>
                  <a:t> 1/2</a:t>
                </a:r>
              </a:p>
              <a:p>
                <a:pPr marL="1657350" indent="-742950">
                  <a:spcBef>
                    <a:spcPct val="20000"/>
                  </a:spcBef>
                  <a:buClr>
                    <a:srgbClr val="0000BF"/>
                  </a:buClr>
                  <a:buFont typeface="+mj-lt"/>
                  <a:buAutoNum type="arabicPeriod"/>
                </a:pPr>
                <a:r>
                  <a:rPr lang="en-US" sz="36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sz="3600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sz="3600" dirty="0">
                    <a:solidFill>
                      <a:prstClr val="black"/>
                    </a:solidFill>
                  </a:rPr>
                  <a:t> </a:t>
                </a:r>
                <a:r>
                  <a:rPr lang="en-US" sz="3600" dirty="0" smtClean="0">
                    <a:solidFill>
                      <a:prstClr val="black"/>
                    </a:solidFill>
                  </a:rPr>
                  <a:t>3/4</a:t>
                </a:r>
                <a:r>
                  <a:rPr lang="en-US" sz="3500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TPAnswers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  <p:custDataLst>
                  <p:tags r:id="rId7"/>
                </p:custDataLst>
              </p:nvPr>
            </p:nvSpPr>
            <p:spPr>
              <a:xfrm>
                <a:off x="0" y="2819400"/>
                <a:ext cx="4256088" cy="3543300"/>
              </a:xfr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302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5443" y="0"/>
            <a:ext cx="8839200" cy="3810000"/>
          </a:xfrm>
        </p:spPr>
        <p:txBody>
          <a:bodyPr>
            <a:normAutofit/>
          </a:bodyPr>
          <a:lstStyle/>
          <a:p>
            <a:r>
              <a:rPr lang="en-US" sz="3200" dirty="0"/>
              <a:t>Let’s create our own sample proportion! </a:t>
            </a:r>
            <a:br>
              <a:rPr lang="en-US" sz="3200" dirty="0"/>
            </a:br>
            <a:r>
              <a:rPr lang="en-US" sz="3200" dirty="0"/>
              <a:t>Randomly choose a </a:t>
            </a:r>
            <a:r>
              <a:rPr lang="en-US" sz="3200" dirty="0" err="1"/>
              <a:t>Zener</a:t>
            </a:r>
            <a:r>
              <a:rPr lang="en-US" sz="3200" dirty="0"/>
              <a:t> card and write it down (don’t show anyone!)</a:t>
            </a:r>
            <a:br>
              <a:rPr lang="en-US" sz="3200" dirty="0"/>
            </a:br>
            <a:r>
              <a:rPr lang="en-US" sz="3200" dirty="0"/>
              <a:t>Find a partner, telepathically communicate your card (no auditory or visual clues!), and have them guess your card.  Switch roles.</a:t>
            </a:r>
            <a:br>
              <a:rPr lang="en-US" sz="3200" dirty="0"/>
            </a:br>
            <a:r>
              <a:rPr lang="en-US" sz="3200" dirty="0"/>
              <a:t>Did you guess correctly?</a:t>
            </a:r>
          </a:p>
        </p:txBody>
      </p:sp>
      <p:sp>
        <p:nvSpPr>
          <p:cNvPr id="3" name="TPAnswers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0" y="4648200"/>
            <a:ext cx="3271838" cy="2209800"/>
          </a:xfrm>
        </p:spPr>
        <p:txBody>
          <a:bodyPr>
            <a:noAutofit/>
          </a:bodyPr>
          <a:lstStyle/>
          <a:p>
            <a:pPr marL="1428750" indent="-514350">
              <a:spcBef>
                <a:spcPct val="20000"/>
              </a:spcBef>
              <a:buClr>
                <a:srgbClr val="0000BF"/>
              </a:buClr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Yes</a:t>
            </a:r>
          </a:p>
          <a:p>
            <a:pPr marL="1428750" indent="-514350">
              <a:spcBef>
                <a:spcPct val="20000"/>
              </a:spcBef>
              <a:buClr>
                <a:srgbClr val="0000BF"/>
              </a:buClr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smtClean="0">
                <a:solidFill>
                  <a:prstClr val="black"/>
                </a:solidFill>
              </a:rPr>
              <a:t>No</a:t>
            </a:r>
            <a:endParaRPr lang="en-US" dirty="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361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686" y="178092"/>
            <a:ext cx="6096000" cy="6679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192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5442" y="152400"/>
            <a:ext cx="9138557" cy="20574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sample proportion for our </a:t>
            </a:r>
            <a:r>
              <a:rPr lang="en-US" dirty="0" smtClean="0"/>
              <a:t>class provides:</a:t>
            </a:r>
            <a:endParaRPr lang="en-US" dirty="0"/>
          </a:p>
        </p:txBody>
      </p:sp>
      <p:sp>
        <p:nvSpPr>
          <p:cNvPr id="3" name="TPAnswers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0" y="2133600"/>
            <a:ext cx="7086600" cy="1828800"/>
          </a:xfrm>
        </p:spPr>
        <p:txBody>
          <a:bodyPr>
            <a:noAutofit/>
          </a:bodyPr>
          <a:lstStyle/>
          <a:p>
            <a:pPr marL="1428750" indent="-514350">
              <a:spcBef>
                <a:spcPct val="20000"/>
              </a:spcBef>
              <a:buClr>
                <a:srgbClr val="0000BF"/>
              </a:buClr>
              <a:buFont typeface="+mj-lt"/>
              <a:buAutoNum type="alphaLcPeriod"/>
            </a:pPr>
            <a:r>
              <a:rPr lang="en-US" dirty="0" smtClean="0">
                <a:solidFill>
                  <a:prstClr val="black"/>
                </a:solidFill>
              </a:rPr>
              <a:t> Substantial evidence </a:t>
            </a:r>
            <a:r>
              <a:rPr lang="en-US" dirty="0">
                <a:solidFill>
                  <a:prstClr val="black"/>
                </a:solidFill>
              </a:rPr>
              <a:t>for ESP</a:t>
            </a:r>
          </a:p>
          <a:p>
            <a:pPr marL="1428750" indent="-514350">
              <a:spcBef>
                <a:spcPct val="20000"/>
              </a:spcBef>
              <a:buClr>
                <a:srgbClr val="0000BF"/>
              </a:buClr>
              <a:buFont typeface="+mj-lt"/>
              <a:buAutoNum type="alphaLcPeriod"/>
            </a:pP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smtClean="0">
                <a:solidFill>
                  <a:prstClr val="black"/>
                </a:solidFill>
              </a:rPr>
              <a:t>Little to no evidence </a:t>
            </a:r>
            <a:r>
              <a:rPr lang="en-US" dirty="0">
                <a:solidFill>
                  <a:prstClr val="black"/>
                </a:solidFill>
              </a:rPr>
              <a:t>for </a:t>
            </a:r>
            <a:r>
              <a:rPr lang="en-US" dirty="0" smtClean="0">
                <a:solidFill>
                  <a:prstClr val="black"/>
                </a:solidFill>
              </a:rPr>
              <a:t>ESP</a:t>
            </a:r>
            <a:endParaRPr lang="en-US" dirty="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309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Hypotheses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819400"/>
            <a:ext cx="7696200" cy="21336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i="1" dirty="0" smtClean="0">
                <a:solidFill>
                  <a:schemeClr val="tx2"/>
                </a:solidFill>
              </a:rPr>
              <a:t>Null Hypothesis (H</a:t>
            </a:r>
            <a:r>
              <a:rPr lang="en-US" b="1" i="1" baseline="-25000" dirty="0" smtClean="0">
                <a:solidFill>
                  <a:schemeClr val="tx2"/>
                </a:solidFill>
              </a:rPr>
              <a:t>0</a:t>
            </a:r>
            <a:r>
              <a:rPr lang="en-US" b="1" i="1" dirty="0" smtClean="0">
                <a:solidFill>
                  <a:schemeClr val="tx2"/>
                </a:solidFill>
              </a:rPr>
              <a:t>): </a:t>
            </a:r>
            <a:r>
              <a:rPr lang="en-US" dirty="0" smtClean="0"/>
              <a:t>Claim that there is no effect or difference.</a:t>
            </a:r>
          </a:p>
          <a:p>
            <a:pPr algn="l"/>
            <a:r>
              <a:rPr lang="en-US" b="1" i="1" dirty="0" smtClean="0">
                <a:solidFill>
                  <a:schemeClr val="tx2"/>
                </a:solidFill>
              </a:rPr>
              <a:t>Alternative </a:t>
            </a:r>
            <a:r>
              <a:rPr lang="en-US" b="1" i="1" dirty="0">
                <a:solidFill>
                  <a:schemeClr val="tx2"/>
                </a:solidFill>
              </a:rPr>
              <a:t>Hypothesis (</a:t>
            </a:r>
            <a:r>
              <a:rPr lang="en-US" b="1" i="1" dirty="0" smtClean="0">
                <a:solidFill>
                  <a:schemeClr val="tx2"/>
                </a:solidFill>
              </a:rPr>
              <a:t>H</a:t>
            </a:r>
            <a:r>
              <a:rPr lang="en-US" b="1" i="1" baseline="-25000" dirty="0" smtClean="0">
                <a:solidFill>
                  <a:schemeClr val="tx2"/>
                </a:solidFill>
              </a:rPr>
              <a:t>a</a:t>
            </a:r>
            <a:r>
              <a:rPr lang="en-US" b="1" i="1" dirty="0" smtClean="0">
                <a:solidFill>
                  <a:schemeClr val="tx2"/>
                </a:solidFill>
              </a:rPr>
              <a:t>): </a:t>
            </a:r>
            <a:r>
              <a:rPr lang="en-US" dirty="0"/>
              <a:t>Claim </a:t>
            </a:r>
            <a:r>
              <a:rPr lang="en-US" dirty="0" smtClean="0"/>
              <a:t>for which we seek evidence.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0" y="1524000"/>
            <a:ext cx="9144000" cy="1219200"/>
          </a:xfrm>
        </p:spPr>
        <p:txBody>
          <a:bodyPr>
            <a:normAutofit/>
          </a:bodyPr>
          <a:lstStyle/>
          <a:p>
            <a:r>
              <a:rPr lang="en-US" dirty="0" smtClean="0"/>
              <a:t>Statistical tests are framed formally in terms of two competing hypotheses: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71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ESP Hypotheses</a:t>
            </a:r>
            <a:endParaRPr lang="en-US" dirty="0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0" y="1820841"/>
            <a:ext cx="647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sz="3200" dirty="0">
                <a:solidFill>
                  <a:srgbClr val="000000"/>
                </a:solidFill>
              </a:rPr>
              <a:t>For </a:t>
            </a:r>
            <a:r>
              <a:rPr lang="en-US" sz="3200" dirty="0" smtClean="0">
                <a:solidFill>
                  <a:srgbClr val="000000"/>
                </a:solidFill>
              </a:rPr>
              <a:t>the ESP experiment:</a:t>
            </a:r>
          </a:p>
          <a:p>
            <a:pPr eaLnBrk="0" fontAlgn="base" hangingPunct="0">
              <a:spcAft>
                <a:spcPct val="0"/>
              </a:spcAft>
            </a:pPr>
            <a:r>
              <a:rPr lang="en-US" sz="3200" dirty="0" smtClean="0">
                <a:solidFill>
                  <a:srgbClr val="000000"/>
                </a:solidFill>
              </a:rPr>
              <a:t>	H</a:t>
            </a:r>
            <a:r>
              <a:rPr lang="en-US" sz="3200" baseline="-25000" dirty="0" smtClean="0">
                <a:solidFill>
                  <a:srgbClr val="000000"/>
                </a:solidFill>
              </a:rPr>
              <a:t>o</a:t>
            </a:r>
            <a:r>
              <a:rPr lang="en-US" sz="3200" dirty="0">
                <a:solidFill>
                  <a:srgbClr val="000000"/>
                </a:solidFill>
              </a:rPr>
              <a:t>: </a:t>
            </a:r>
            <a:r>
              <a:rPr lang="en-US" sz="3200" i="1" dirty="0" smtClean="0">
                <a:solidFill>
                  <a:srgbClr val="000000"/>
                </a:solidFill>
                <a:sym typeface="Symbol" pitchFamily="18" charset="2"/>
              </a:rPr>
              <a:t>p</a:t>
            </a:r>
            <a:r>
              <a:rPr lang="en-US" sz="3200" dirty="0" smtClean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sz="3200" dirty="0">
                <a:solidFill>
                  <a:srgbClr val="000000"/>
                </a:solidFill>
                <a:sym typeface="Symbol" pitchFamily="18" charset="2"/>
              </a:rPr>
              <a:t>= </a:t>
            </a:r>
            <a:r>
              <a:rPr lang="en-US" sz="3200" dirty="0" smtClean="0">
                <a:solidFill>
                  <a:srgbClr val="000000"/>
                </a:solidFill>
                <a:sym typeface="Symbol" pitchFamily="18" charset="2"/>
              </a:rPr>
              <a:t>1/5</a:t>
            </a:r>
            <a:endParaRPr lang="en-US" sz="3200" dirty="0">
              <a:solidFill>
                <a:srgbClr val="000000"/>
              </a:solidFill>
              <a:sym typeface="Symbol" pitchFamily="18" charset="2"/>
            </a:endParaRPr>
          </a:p>
          <a:p>
            <a:pPr eaLnBrk="0" fontAlgn="base" hangingPunct="0">
              <a:spcAft>
                <a:spcPct val="20000"/>
              </a:spcAft>
            </a:pPr>
            <a:r>
              <a:rPr lang="en-US" sz="3200" dirty="0" smtClean="0">
                <a:solidFill>
                  <a:srgbClr val="000000"/>
                </a:solidFill>
                <a:sym typeface="Symbol" pitchFamily="18" charset="2"/>
              </a:rPr>
              <a:t>	H</a:t>
            </a:r>
            <a:r>
              <a:rPr lang="en-US" sz="3200" baseline="-25000" dirty="0" smtClean="0">
                <a:solidFill>
                  <a:srgbClr val="000000"/>
                </a:solidFill>
                <a:sym typeface="Symbol" pitchFamily="18" charset="2"/>
              </a:rPr>
              <a:t>a</a:t>
            </a:r>
            <a:r>
              <a:rPr lang="en-US" sz="3200" dirty="0">
                <a:solidFill>
                  <a:srgbClr val="000000"/>
                </a:solidFill>
                <a:sym typeface="Symbol" pitchFamily="18" charset="2"/>
              </a:rPr>
              <a:t>: </a:t>
            </a:r>
            <a:r>
              <a:rPr lang="en-US" sz="3200" i="1" dirty="0" smtClean="0">
                <a:solidFill>
                  <a:srgbClr val="000000"/>
                </a:solidFill>
                <a:sym typeface="Symbol" pitchFamily="18" charset="2"/>
              </a:rPr>
              <a:t>p</a:t>
            </a:r>
            <a:r>
              <a:rPr lang="en-US" sz="3200" dirty="0" smtClean="0">
                <a:solidFill>
                  <a:srgbClr val="000000"/>
                </a:solidFill>
                <a:sym typeface="Symbol" pitchFamily="18" charset="2"/>
              </a:rPr>
              <a:t> &gt; 1/5</a:t>
            </a:r>
            <a:endParaRPr lang="en-US" sz="3200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8944" y="2344061"/>
            <a:ext cx="440396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000000"/>
                </a:solidFill>
              </a:rPr>
              <a:t>No effect or no difference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28944" y="3128891"/>
            <a:ext cx="440396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000000"/>
                </a:solidFill>
              </a:rPr>
              <a:t>Claim we seek “evidence” for</a:t>
            </a:r>
            <a:endParaRPr lang="en-US" sz="2800" dirty="0">
              <a:solidFill>
                <a:srgbClr val="000000"/>
              </a:solidFill>
            </a:endParaRPr>
          </a:p>
        </p:txBody>
      </p:sp>
      <p:cxnSp>
        <p:nvCxnSpPr>
          <p:cNvPr id="14" name="Straight Arrow Connector 13"/>
          <p:cNvCxnSpPr>
            <a:stCxn id="11" idx="1"/>
          </p:cNvCxnSpPr>
          <p:nvPr/>
        </p:nvCxnSpPr>
        <p:spPr bwMode="auto">
          <a:xfrm flipH="1">
            <a:off x="3124201" y="2605671"/>
            <a:ext cx="1204743" cy="0"/>
          </a:xfrm>
          <a:prstGeom prst="straightConnector1">
            <a:avLst/>
          </a:prstGeom>
          <a:solidFill>
            <a:schemeClr val="tx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>
            <a:stCxn id="12" idx="1"/>
          </p:cNvCxnSpPr>
          <p:nvPr/>
        </p:nvCxnSpPr>
        <p:spPr bwMode="auto">
          <a:xfrm flipH="1" flipV="1">
            <a:off x="3124202" y="3023693"/>
            <a:ext cx="1204742" cy="366808"/>
          </a:xfrm>
          <a:prstGeom prst="straightConnector1">
            <a:avLst/>
          </a:prstGeom>
          <a:solidFill>
            <a:schemeClr val="tx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Content Placeholder 2"/>
          <p:cNvSpPr txBox="1">
            <a:spLocks/>
          </p:cNvSpPr>
          <p:nvPr/>
        </p:nvSpPr>
        <p:spPr>
          <a:xfrm>
            <a:off x="0" y="3896751"/>
            <a:ext cx="9144000" cy="2971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buSzPct val="85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2"/>
              </a:buClr>
              <a:buSzPct val="70000"/>
              <a:buFont typeface="Wingdings"/>
              <a:buChar char="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3"/>
              </a:buClr>
              <a:buSzPct val="75000"/>
              <a:buFont typeface="Wingdings 2"/>
              <a:buChar char="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Helpful hints: </a:t>
            </a:r>
          </a:p>
          <a:p>
            <a:pPr lvl="1">
              <a:spcAft>
                <a:spcPts val="0"/>
              </a:spcAft>
              <a:buFont typeface="Arial" pitchFamily="34" charset="0"/>
              <a:buChar char="•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H</a:t>
            </a:r>
            <a:r>
              <a:rPr lang="en-US" sz="3200" baseline="-25000" dirty="0" smtClean="0">
                <a:solidFill>
                  <a:prstClr val="black"/>
                </a:solidFill>
                <a:cs typeface="Times New Roman" pitchFamily="18" charset="0"/>
              </a:rPr>
              <a:t>0</a:t>
            </a: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usually includes =</a:t>
            </a:r>
          </a:p>
          <a:p>
            <a:pPr lvl="1">
              <a:buFont typeface="Arial" pitchFamily="34" charset="0"/>
              <a:buChar char="•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H</a:t>
            </a:r>
            <a:r>
              <a:rPr lang="en-US" sz="3200" baseline="-25000" dirty="0" smtClean="0">
                <a:solidFill>
                  <a:prstClr val="black"/>
                </a:solidFill>
                <a:cs typeface="Times New Roman" pitchFamily="18" charset="0"/>
              </a:rPr>
              <a:t>a</a:t>
            </a: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usually includes &gt;, &lt;, or ≠ </a:t>
            </a:r>
          </a:p>
          <a:p>
            <a:pPr lvl="1">
              <a:buFont typeface="Arial" pitchFamily="34" charset="0"/>
              <a:buChar char="•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The inequality in H</a:t>
            </a:r>
            <a:r>
              <a:rPr lang="en-US" sz="3200" baseline="-25000" dirty="0" smtClean="0">
                <a:solidFill>
                  <a:prstClr val="black"/>
                </a:solidFill>
                <a:cs typeface="Times New Roman" pitchFamily="18" charset="0"/>
              </a:rPr>
              <a:t>a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 depends on the question</a:t>
            </a:r>
            <a:endParaRPr lang="en-US" sz="32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583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animBg="1"/>
      <p:bldP spid="12" grpId="0" animBg="1"/>
      <p:bldP spid="8" grpId="0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304800"/>
            <a:ext cx="6022848" cy="7589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Sleep versus Caffeine</a:t>
            </a:r>
            <a:endParaRPr lang="en-US" dirty="0"/>
          </a:p>
        </p:txBody>
      </p:sp>
      <p:pic>
        <p:nvPicPr>
          <p:cNvPr id="4" name="Picture 6" descr="http://healthyjmu.files.wordpress.com/2011/02/sleep-deprive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53986"/>
            <a:ext cx="1919580" cy="111482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-3517" y="5822522"/>
            <a:ext cx="91475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solidFill>
                  <a:prstClr val="black"/>
                </a:solidFill>
                <a:cs typeface="Times New Roman" pitchFamily="18" charset="0"/>
              </a:rPr>
              <a:t>Mednick</a:t>
            </a:r>
            <a:r>
              <a:rPr lang="en-US" sz="2000" dirty="0" smtClean="0">
                <a:solidFill>
                  <a:prstClr val="black"/>
                </a:solidFill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prstClr val="black"/>
                </a:solidFill>
                <a:cs typeface="Times New Roman" pitchFamily="18" charset="0"/>
              </a:rPr>
              <a:t>Cai</a:t>
            </a:r>
            <a:r>
              <a:rPr lang="en-US" sz="2000" dirty="0" smtClean="0">
                <a:solidFill>
                  <a:prstClr val="black"/>
                </a:solidFill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prstClr val="black"/>
                </a:solidFill>
                <a:cs typeface="Times New Roman" pitchFamily="18" charset="0"/>
              </a:rPr>
              <a:t>Kanady</a:t>
            </a:r>
            <a:r>
              <a:rPr lang="en-US" sz="2000" dirty="0" smtClean="0">
                <a:solidFill>
                  <a:prstClr val="black"/>
                </a:solidFill>
                <a:cs typeface="Times New Roman" pitchFamily="18" charset="0"/>
              </a:rPr>
              <a:t>, and Drummond (2008). “Comparing the benefits of caffeine, naps and placebo on verbal, motor and perceptual memory,” </a:t>
            </a:r>
            <a:r>
              <a:rPr lang="en-US" sz="2000" i="1" dirty="0" smtClean="0">
                <a:solidFill>
                  <a:prstClr val="black"/>
                </a:solidFill>
                <a:cs typeface="Times New Roman" pitchFamily="18" charset="0"/>
              </a:rPr>
              <a:t>Behavioral Brain Research, </a:t>
            </a:r>
            <a:r>
              <a:rPr lang="en-US" sz="2000" dirty="0" smtClean="0">
                <a:solidFill>
                  <a:prstClr val="black"/>
                </a:solidFill>
                <a:cs typeface="Times New Roman" pitchFamily="18" charset="0"/>
              </a:rPr>
              <a:t>193, 79-86. </a:t>
            </a:r>
            <a:endParaRPr lang="en-US" sz="20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6200" y="1678744"/>
            <a:ext cx="9067800" cy="414377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buSzPct val="85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2"/>
              </a:buClr>
              <a:buSzPct val="70000"/>
              <a:buFont typeface="Wingdings"/>
              <a:buChar char="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3"/>
              </a:buClr>
              <a:buSzPct val="75000"/>
              <a:buFont typeface="Wingdings 2"/>
              <a:buChar char="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Students </a:t>
            </a:r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were given words to memorize, then randomly assigned to take either a 90 min nap, or a caffeine pill.  2 ½ hours later, they were tested on their recall ability. </a:t>
            </a:r>
            <a:endParaRPr lang="en-US" dirty="0" smtClean="0">
              <a:solidFill>
                <a:prstClr val="black"/>
              </a:solidFill>
              <a:cs typeface="Times New Roman" pitchFamily="18" charset="0"/>
            </a:endParaRPr>
          </a:p>
          <a:p>
            <a:pPr>
              <a:spcAft>
                <a:spcPts val="0"/>
              </a:spcAft>
              <a:buFont typeface="Arial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Explanatory variable: sleep or caffeine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Response variable: number of words recalled</a:t>
            </a:r>
          </a:p>
          <a:p>
            <a:pPr>
              <a:spcAft>
                <a:spcPts val="0"/>
              </a:spcAft>
              <a:buFont typeface="Arial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Is sleep or caffeine better for memory?</a:t>
            </a:r>
          </a:p>
          <a:p>
            <a:pPr marL="274320" lvl="1" indent="0">
              <a:buFont typeface="Wingdings"/>
              <a:buNone/>
            </a:pPr>
            <a:endParaRPr lang="en-US" sz="31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524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Answers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0" y="1823357"/>
            <a:ext cx="5715000" cy="4114800"/>
          </a:xfrm>
        </p:spPr>
        <p:txBody>
          <a:bodyPr>
            <a:noAutofit/>
          </a:bodyPr>
          <a:lstStyle/>
          <a:p>
            <a:pPr marL="1371600" indent="-1371600">
              <a:spcBef>
                <a:spcPct val="20000"/>
              </a:spcBef>
              <a:buFont typeface="+mj-lt"/>
              <a:buAutoNum type="arabicPeriod"/>
            </a:pPr>
            <a:r>
              <a:rPr lang="en-US" dirty="0" smtClean="0"/>
              <a:t> Proportion</a:t>
            </a:r>
            <a:endParaRPr lang="en-US" dirty="0"/>
          </a:p>
          <a:p>
            <a:pPr marL="1371600" indent="-137160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 Difference in proportions</a:t>
            </a:r>
          </a:p>
          <a:p>
            <a:pPr marL="1371600" indent="-137160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 Mean</a:t>
            </a:r>
          </a:p>
          <a:p>
            <a:pPr marL="1371600" indent="-137160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 Difference in means</a:t>
            </a:r>
          </a:p>
          <a:p>
            <a:pPr marL="1371600" indent="-137160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Correlation</a:t>
            </a:r>
            <a:endParaRPr lang="en-US" dirty="0"/>
          </a:p>
        </p:txBody>
      </p:sp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10886" y="228600"/>
            <a:ext cx="9133114" cy="1600200"/>
          </a:xfrm>
        </p:spPr>
        <p:txBody>
          <a:bodyPr>
            <a:normAutofit/>
          </a:bodyPr>
          <a:lstStyle/>
          <a:p>
            <a:r>
              <a:rPr lang="en-US" dirty="0"/>
              <a:t>What is the parameter of interest in the sleep versus caffeine experiment?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837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2590800"/>
          </a:xfrm>
        </p:spPr>
        <p:txBody>
          <a:bodyPr>
            <a:normAutofit/>
          </a:bodyPr>
          <a:lstStyle/>
          <a:p>
            <a:pPr marL="457200" indent="-457200"/>
            <a:r>
              <a:rPr lang="en-US" sz="3200" dirty="0"/>
              <a:t>Let </a:t>
            </a:r>
            <a:r>
              <a:rPr lang="en-US" sz="3200" dirty="0">
                <a:sym typeface="Symbol"/>
              </a:rPr>
              <a:t></a:t>
            </a:r>
            <a:r>
              <a:rPr lang="en-US" sz="3200" baseline="-25000" dirty="0">
                <a:sym typeface="Symbol"/>
              </a:rPr>
              <a:t>s</a:t>
            </a:r>
            <a:r>
              <a:rPr lang="en-US" sz="3200" dirty="0">
                <a:sym typeface="Symbol"/>
              </a:rPr>
              <a:t> and </a:t>
            </a:r>
            <a:r>
              <a:rPr lang="en-US" sz="3200" baseline="-25000" dirty="0">
                <a:sym typeface="Symbol"/>
              </a:rPr>
              <a:t>c  </a:t>
            </a:r>
            <a:r>
              <a:rPr lang="en-US" sz="3200" dirty="0">
                <a:sym typeface="Symbol"/>
              </a:rPr>
              <a:t>be the mean number of words recalled after sleeping and after caffeine.</a:t>
            </a:r>
            <a:br>
              <a:rPr lang="en-US" sz="3200" dirty="0">
                <a:sym typeface="Symbol"/>
              </a:rPr>
            </a:br>
            <a:r>
              <a:rPr lang="en-US" sz="3200" dirty="0">
                <a:sym typeface="Symbol"/>
              </a:rPr>
              <a:t>Is there a difference in average word recall between sleep and caffeine?</a:t>
            </a:r>
            <a:br>
              <a:rPr lang="en-US" sz="3200" dirty="0">
                <a:sym typeface="Symbol"/>
              </a:rPr>
            </a:br>
            <a:r>
              <a:rPr lang="en-US" sz="3200" dirty="0">
                <a:sym typeface="Symbol"/>
              </a:rPr>
              <a:t>What are the null and alternative hypotheses?</a:t>
            </a:r>
            <a:endParaRPr lang="en-US" sz="3200" dirty="0"/>
          </a:p>
        </p:txBody>
      </p:sp>
      <p:sp>
        <p:nvSpPr>
          <p:cNvPr id="3" name="TPAnswers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27214" y="2438400"/>
            <a:ext cx="5105400" cy="2971800"/>
          </a:xfrm>
        </p:spPr>
        <p:txBody>
          <a:bodyPr>
            <a:noAutofit/>
          </a:bodyPr>
          <a:lstStyle/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3000" dirty="0"/>
              <a:t> H</a:t>
            </a:r>
            <a:r>
              <a:rPr lang="en-US" sz="3000" baseline="-25000" dirty="0"/>
              <a:t>0</a:t>
            </a:r>
            <a:r>
              <a:rPr lang="en-US" sz="3000" dirty="0"/>
              <a:t>: </a:t>
            </a:r>
            <a:r>
              <a:rPr lang="en-US" sz="3000" dirty="0">
                <a:sym typeface="Symbol"/>
              </a:rPr>
              <a:t></a:t>
            </a:r>
            <a:r>
              <a:rPr lang="en-US" sz="3000" baseline="-25000" dirty="0">
                <a:sym typeface="Symbol"/>
              </a:rPr>
              <a:t>s</a:t>
            </a:r>
            <a:r>
              <a:rPr lang="en-US" sz="3000" dirty="0">
                <a:sym typeface="Symbol"/>
              </a:rPr>
              <a:t> ≠ </a:t>
            </a:r>
            <a:r>
              <a:rPr lang="en-US" sz="3000" baseline="-25000" dirty="0">
                <a:sym typeface="Symbol"/>
              </a:rPr>
              <a:t>c</a:t>
            </a:r>
            <a:r>
              <a:rPr lang="en-US" sz="3000" dirty="0">
                <a:sym typeface="Symbol"/>
              </a:rPr>
              <a:t>, </a:t>
            </a:r>
            <a:r>
              <a:rPr lang="en-US" sz="3000" dirty="0"/>
              <a:t>H</a:t>
            </a:r>
            <a:r>
              <a:rPr lang="en-US" sz="3000" baseline="-25000" dirty="0"/>
              <a:t>a</a:t>
            </a:r>
            <a:r>
              <a:rPr lang="en-US" sz="3000" dirty="0"/>
              <a:t>: </a:t>
            </a:r>
            <a:r>
              <a:rPr lang="en-US" sz="3000" dirty="0">
                <a:sym typeface="Symbol"/>
              </a:rPr>
              <a:t></a:t>
            </a:r>
            <a:r>
              <a:rPr lang="en-US" sz="3000" baseline="-25000" dirty="0">
                <a:sym typeface="Symbol"/>
              </a:rPr>
              <a:t>s</a:t>
            </a:r>
            <a:r>
              <a:rPr lang="en-US" sz="3000" dirty="0">
                <a:sym typeface="Symbol"/>
              </a:rPr>
              <a:t> = </a:t>
            </a:r>
            <a:r>
              <a:rPr lang="en-US" sz="3000" baseline="-25000" dirty="0">
                <a:sym typeface="Symbol"/>
              </a:rPr>
              <a:t>c</a:t>
            </a:r>
            <a:r>
              <a:rPr lang="en-US" sz="3000" dirty="0">
                <a:sym typeface="Symbol"/>
              </a:rPr>
              <a:t> 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3000" dirty="0">
                <a:sym typeface="Symbol"/>
              </a:rPr>
              <a:t> </a:t>
            </a:r>
            <a:r>
              <a:rPr lang="en-US" sz="3000" dirty="0"/>
              <a:t>H</a:t>
            </a:r>
            <a:r>
              <a:rPr lang="en-US" sz="3000" baseline="-25000" dirty="0"/>
              <a:t>0</a:t>
            </a:r>
            <a:r>
              <a:rPr lang="en-US" sz="3000" dirty="0"/>
              <a:t>: </a:t>
            </a:r>
            <a:r>
              <a:rPr lang="en-US" sz="3000" dirty="0">
                <a:sym typeface="Symbol"/>
              </a:rPr>
              <a:t></a:t>
            </a:r>
            <a:r>
              <a:rPr lang="en-US" sz="3000" baseline="-25000" dirty="0">
                <a:sym typeface="Symbol"/>
              </a:rPr>
              <a:t>s</a:t>
            </a:r>
            <a:r>
              <a:rPr lang="en-US" sz="3000" dirty="0">
                <a:sym typeface="Symbol"/>
              </a:rPr>
              <a:t> = </a:t>
            </a:r>
            <a:r>
              <a:rPr lang="en-US" sz="3000" baseline="-25000" dirty="0">
                <a:sym typeface="Symbol"/>
              </a:rPr>
              <a:t>c</a:t>
            </a:r>
            <a:r>
              <a:rPr lang="en-US" sz="3000" dirty="0">
                <a:sym typeface="Symbol"/>
              </a:rPr>
              <a:t>, </a:t>
            </a:r>
            <a:r>
              <a:rPr lang="en-US" sz="3000" dirty="0"/>
              <a:t>H</a:t>
            </a:r>
            <a:r>
              <a:rPr lang="en-US" sz="3000" baseline="-25000" dirty="0"/>
              <a:t>a</a:t>
            </a:r>
            <a:r>
              <a:rPr lang="en-US" sz="3000" dirty="0"/>
              <a:t>: </a:t>
            </a:r>
            <a:r>
              <a:rPr lang="en-US" sz="3000" dirty="0">
                <a:sym typeface="Symbol"/>
              </a:rPr>
              <a:t></a:t>
            </a:r>
            <a:r>
              <a:rPr lang="en-US" sz="3000" baseline="-25000" dirty="0">
                <a:sym typeface="Symbol"/>
              </a:rPr>
              <a:t>s</a:t>
            </a:r>
            <a:r>
              <a:rPr lang="en-US" sz="3000" dirty="0">
                <a:sym typeface="Symbol"/>
              </a:rPr>
              <a:t> ≠ </a:t>
            </a:r>
            <a:r>
              <a:rPr lang="en-US" sz="3000" baseline="-25000" dirty="0">
                <a:sym typeface="Symbol"/>
              </a:rPr>
              <a:t>c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3000" baseline="-25000" dirty="0">
                <a:sym typeface="Symbol"/>
              </a:rPr>
              <a:t> </a:t>
            </a:r>
            <a:r>
              <a:rPr lang="en-US" sz="3000" dirty="0"/>
              <a:t>H</a:t>
            </a:r>
            <a:r>
              <a:rPr lang="en-US" sz="3000" baseline="-25000" dirty="0"/>
              <a:t>0</a:t>
            </a:r>
            <a:r>
              <a:rPr lang="en-US" sz="3000" dirty="0"/>
              <a:t>: </a:t>
            </a:r>
            <a:r>
              <a:rPr lang="en-US" sz="3000" dirty="0">
                <a:sym typeface="Symbol"/>
              </a:rPr>
              <a:t></a:t>
            </a:r>
            <a:r>
              <a:rPr lang="en-US" sz="3000" baseline="-25000" dirty="0">
                <a:sym typeface="Symbol"/>
              </a:rPr>
              <a:t>s</a:t>
            </a:r>
            <a:r>
              <a:rPr lang="en-US" sz="3000" dirty="0">
                <a:sym typeface="Symbol"/>
              </a:rPr>
              <a:t> ≠ </a:t>
            </a:r>
            <a:r>
              <a:rPr lang="en-US" sz="3000" baseline="-25000" dirty="0">
                <a:sym typeface="Symbol"/>
              </a:rPr>
              <a:t>c</a:t>
            </a:r>
            <a:r>
              <a:rPr lang="en-US" sz="3000" dirty="0">
                <a:sym typeface="Symbol"/>
              </a:rPr>
              <a:t>, </a:t>
            </a:r>
            <a:r>
              <a:rPr lang="en-US" sz="3000" dirty="0"/>
              <a:t>H</a:t>
            </a:r>
            <a:r>
              <a:rPr lang="en-US" sz="3000" baseline="-25000" dirty="0"/>
              <a:t>a</a:t>
            </a:r>
            <a:r>
              <a:rPr lang="en-US" sz="3000" dirty="0"/>
              <a:t>: </a:t>
            </a:r>
            <a:r>
              <a:rPr lang="en-US" sz="3000" dirty="0">
                <a:sym typeface="Symbol"/>
              </a:rPr>
              <a:t></a:t>
            </a:r>
            <a:r>
              <a:rPr lang="en-US" sz="3000" baseline="-25000" dirty="0">
                <a:sym typeface="Symbol"/>
              </a:rPr>
              <a:t>s</a:t>
            </a:r>
            <a:r>
              <a:rPr lang="en-US" sz="3000" dirty="0">
                <a:sym typeface="Symbol"/>
              </a:rPr>
              <a:t> &gt; </a:t>
            </a:r>
            <a:r>
              <a:rPr lang="en-US" sz="3000" baseline="-25000" dirty="0">
                <a:sym typeface="Symbol"/>
              </a:rPr>
              <a:t>c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3000" baseline="-25000" dirty="0">
                <a:sym typeface="Symbol"/>
              </a:rPr>
              <a:t> </a:t>
            </a:r>
            <a:r>
              <a:rPr lang="en-US" sz="3000" dirty="0"/>
              <a:t>H</a:t>
            </a:r>
            <a:r>
              <a:rPr lang="en-US" sz="3000" baseline="-25000" dirty="0"/>
              <a:t>0</a:t>
            </a:r>
            <a:r>
              <a:rPr lang="en-US" sz="3000" dirty="0"/>
              <a:t>: </a:t>
            </a:r>
            <a:r>
              <a:rPr lang="en-US" sz="3000" dirty="0">
                <a:sym typeface="Symbol"/>
              </a:rPr>
              <a:t></a:t>
            </a:r>
            <a:r>
              <a:rPr lang="en-US" sz="3000" baseline="-25000" dirty="0">
                <a:sym typeface="Symbol"/>
              </a:rPr>
              <a:t>s</a:t>
            </a:r>
            <a:r>
              <a:rPr lang="en-US" sz="3000" dirty="0">
                <a:sym typeface="Symbol"/>
              </a:rPr>
              <a:t> = </a:t>
            </a:r>
            <a:r>
              <a:rPr lang="en-US" sz="3000" baseline="-25000" dirty="0">
                <a:sym typeface="Symbol"/>
              </a:rPr>
              <a:t>c</a:t>
            </a:r>
            <a:r>
              <a:rPr lang="en-US" sz="3000" dirty="0">
                <a:sym typeface="Symbol"/>
              </a:rPr>
              <a:t>, </a:t>
            </a:r>
            <a:r>
              <a:rPr lang="en-US" sz="3000" dirty="0"/>
              <a:t>H</a:t>
            </a:r>
            <a:r>
              <a:rPr lang="en-US" sz="3000" baseline="-25000" dirty="0"/>
              <a:t>a</a:t>
            </a:r>
            <a:r>
              <a:rPr lang="en-US" sz="3000" dirty="0"/>
              <a:t>: </a:t>
            </a:r>
            <a:r>
              <a:rPr lang="en-US" sz="3000" dirty="0">
                <a:sym typeface="Symbol"/>
              </a:rPr>
              <a:t></a:t>
            </a:r>
            <a:r>
              <a:rPr lang="en-US" sz="3000" baseline="-25000" dirty="0">
                <a:sym typeface="Symbol"/>
              </a:rPr>
              <a:t>s</a:t>
            </a:r>
            <a:r>
              <a:rPr lang="en-US" sz="3000" dirty="0">
                <a:sym typeface="Symbol"/>
              </a:rPr>
              <a:t> &gt; </a:t>
            </a:r>
            <a:r>
              <a:rPr lang="en-US" sz="3000" baseline="-25000" dirty="0">
                <a:sym typeface="Symbol"/>
              </a:rPr>
              <a:t>c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3000" baseline="-25000" dirty="0">
                <a:sym typeface="Symbol"/>
              </a:rPr>
              <a:t> </a:t>
            </a:r>
            <a:r>
              <a:rPr lang="en-US" sz="3000" dirty="0"/>
              <a:t>H</a:t>
            </a:r>
            <a:r>
              <a:rPr lang="en-US" sz="3000" baseline="-25000" dirty="0"/>
              <a:t>0</a:t>
            </a:r>
            <a:r>
              <a:rPr lang="en-US" sz="3000" dirty="0"/>
              <a:t>: </a:t>
            </a:r>
            <a:r>
              <a:rPr lang="en-US" sz="3000" dirty="0">
                <a:sym typeface="Symbol"/>
              </a:rPr>
              <a:t></a:t>
            </a:r>
            <a:r>
              <a:rPr lang="en-US" sz="3000" baseline="-25000" dirty="0">
                <a:sym typeface="Symbol"/>
              </a:rPr>
              <a:t>s</a:t>
            </a:r>
            <a:r>
              <a:rPr lang="en-US" sz="3000" dirty="0">
                <a:sym typeface="Symbol"/>
              </a:rPr>
              <a:t> = </a:t>
            </a:r>
            <a:r>
              <a:rPr lang="en-US" sz="3000" baseline="-25000" dirty="0">
                <a:sym typeface="Symbol"/>
              </a:rPr>
              <a:t>c</a:t>
            </a:r>
            <a:r>
              <a:rPr lang="en-US" sz="3000" dirty="0">
                <a:sym typeface="Symbol"/>
              </a:rPr>
              <a:t>, </a:t>
            </a:r>
            <a:r>
              <a:rPr lang="en-US" sz="3000" dirty="0"/>
              <a:t>H</a:t>
            </a:r>
            <a:r>
              <a:rPr lang="en-US" sz="3000" baseline="-25000" dirty="0"/>
              <a:t>a</a:t>
            </a:r>
            <a:r>
              <a:rPr lang="en-US" sz="3000" dirty="0"/>
              <a:t>: </a:t>
            </a:r>
            <a:r>
              <a:rPr lang="en-US" sz="3000" dirty="0">
                <a:sym typeface="Symbol"/>
              </a:rPr>
              <a:t></a:t>
            </a:r>
            <a:r>
              <a:rPr lang="en-US" sz="3000" baseline="-25000" dirty="0">
                <a:sym typeface="Symbol"/>
              </a:rPr>
              <a:t>s</a:t>
            </a:r>
            <a:r>
              <a:rPr lang="en-US" sz="3000" dirty="0">
                <a:sym typeface="Symbol"/>
              </a:rPr>
              <a:t> &lt; </a:t>
            </a:r>
            <a:r>
              <a:rPr lang="en-US" sz="3000" baseline="-25000" dirty="0">
                <a:sym typeface="Symbol"/>
              </a:rPr>
              <a:t>c</a:t>
            </a:r>
            <a:endParaRPr lang="en-US" sz="3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641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Difference in Hypotheses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38419"/>
            <a:ext cx="8613648" cy="1828800"/>
          </a:xfrm>
        </p:spPr>
        <p:txBody>
          <a:bodyPr/>
          <a:lstStyle/>
          <a:p>
            <a:r>
              <a:rPr lang="en-US" dirty="0" smtClean="0"/>
              <a:t>Note: the following two sets of hypotheses are equivalent, and can be used interchangeably: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378" y="2667000"/>
            <a:ext cx="3276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</a:t>
            </a:r>
            <a:r>
              <a:rPr lang="en-US" sz="4000" baseline="-25000" dirty="0"/>
              <a:t>0</a:t>
            </a:r>
            <a:r>
              <a:rPr lang="en-US" sz="4000" dirty="0"/>
              <a:t>: </a:t>
            </a:r>
            <a:r>
              <a:rPr lang="en-US" sz="4000" dirty="0" smtClean="0">
                <a:sym typeface="Symbol"/>
              </a:rPr>
              <a:t></a:t>
            </a:r>
            <a:r>
              <a:rPr lang="en-US" sz="4000" baseline="-25000" dirty="0" smtClean="0">
                <a:sym typeface="Symbol"/>
              </a:rPr>
              <a:t>1</a:t>
            </a:r>
            <a:r>
              <a:rPr lang="en-US" sz="4000" dirty="0" smtClean="0">
                <a:sym typeface="Symbol"/>
              </a:rPr>
              <a:t> </a:t>
            </a:r>
            <a:r>
              <a:rPr lang="en-US" sz="4000" dirty="0">
                <a:sym typeface="Symbol"/>
              </a:rPr>
              <a:t>= </a:t>
            </a:r>
            <a:r>
              <a:rPr lang="en-US" sz="4000" dirty="0" smtClean="0">
                <a:sym typeface="Symbol"/>
              </a:rPr>
              <a:t></a:t>
            </a:r>
            <a:r>
              <a:rPr lang="en-US" sz="4000" baseline="-25000" dirty="0">
                <a:sym typeface="Symbol"/>
              </a:rPr>
              <a:t>2</a:t>
            </a:r>
            <a:endParaRPr lang="en-US" sz="4000" dirty="0">
              <a:sym typeface="Symbol"/>
            </a:endParaRPr>
          </a:p>
          <a:p>
            <a:r>
              <a:rPr lang="en-US" sz="4000" dirty="0" smtClean="0"/>
              <a:t>H</a:t>
            </a:r>
            <a:r>
              <a:rPr lang="en-US" sz="4000" baseline="-25000" dirty="0" smtClean="0"/>
              <a:t>a</a:t>
            </a:r>
            <a:r>
              <a:rPr lang="en-US" sz="4000" dirty="0"/>
              <a:t>: </a:t>
            </a:r>
            <a:r>
              <a:rPr lang="en-US" sz="4000" dirty="0" smtClean="0">
                <a:sym typeface="Symbol"/>
              </a:rPr>
              <a:t></a:t>
            </a:r>
            <a:r>
              <a:rPr lang="en-US" sz="4000" baseline="-25000" dirty="0" smtClean="0">
                <a:sym typeface="Symbol"/>
              </a:rPr>
              <a:t>1</a:t>
            </a:r>
            <a:r>
              <a:rPr lang="en-US" sz="4000" dirty="0" smtClean="0">
                <a:sym typeface="Symbol"/>
              </a:rPr>
              <a:t> </a:t>
            </a:r>
            <a:r>
              <a:rPr lang="en-US" sz="4000" dirty="0">
                <a:sym typeface="Symbol"/>
              </a:rPr>
              <a:t>≠ </a:t>
            </a:r>
            <a:r>
              <a:rPr lang="en-US" sz="4000" dirty="0" smtClean="0">
                <a:sym typeface="Symbol"/>
              </a:rPr>
              <a:t></a:t>
            </a:r>
            <a:r>
              <a:rPr lang="en-US" sz="4000" baseline="-25000" dirty="0" smtClean="0">
                <a:sym typeface="Symbol"/>
              </a:rPr>
              <a:t>2</a:t>
            </a:r>
            <a:endParaRPr lang="en-US" sz="4000" baseline="-25000" dirty="0">
              <a:sym typeface="Symbol"/>
            </a:endParaRP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39733" y="2743200"/>
            <a:ext cx="3276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</a:t>
            </a:r>
            <a:r>
              <a:rPr lang="en-US" sz="4000" baseline="-25000" dirty="0"/>
              <a:t>0</a:t>
            </a:r>
            <a:r>
              <a:rPr lang="en-US" sz="4000" dirty="0"/>
              <a:t>: </a:t>
            </a:r>
            <a:r>
              <a:rPr lang="en-US" sz="4000" dirty="0" smtClean="0">
                <a:sym typeface="Symbol"/>
              </a:rPr>
              <a:t></a:t>
            </a:r>
            <a:r>
              <a:rPr lang="en-US" sz="4000" baseline="-25000" dirty="0" smtClean="0">
                <a:sym typeface="Symbol"/>
              </a:rPr>
              <a:t>1</a:t>
            </a:r>
            <a:r>
              <a:rPr lang="en-US" sz="4000" dirty="0" smtClean="0">
                <a:sym typeface="Symbol"/>
              </a:rPr>
              <a:t> – </a:t>
            </a:r>
            <a:r>
              <a:rPr lang="en-US" sz="4000" baseline="-25000" dirty="0" smtClean="0">
                <a:sym typeface="Symbol"/>
              </a:rPr>
              <a:t>2 </a:t>
            </a:r>
            <a:r>
              <a:rPr lang="en-US" sz="4000" dirty="0" smtClean="0">
                <a:sym typeface="Symbol"/>
              </a:rPr>
              <a:t>= 0</a:t>
            </a:r>
            <a:endParaRPr lang="en-US" sz="4000" dirty="0">
              <a:sym typeface="Symbol"/>
            </a:endParaRPr>
          </a:p>
          <a:p>
            <a:r>
              <a:rPr lang="en-US" sz="4000" dirty="0" smtClean="0"/>
              <a:t>H</a:t>
            </a:r>
            <a:r>
              <a:rPr lang="en-US" sz="4000" baseline="-25000" dirty="0" smtClean="0"/>
              <a:t>a</a:t>
            </a:r>
            <a:r>
              <a:rPr lang="en-US" sz="4000" dirty="0"/>
              <a:t>: </a:t>
            </a:r>
            <a:r>
              <a:rPr lang="en-US" sz="4000" dirty="0" smtClean="0">
                <a:sym typeface="Symbol"/>
              </a:rPr>
              <a:t></a:t>
            </a:r>
            <a:r>
              <a:rPr lang="en-US" sz="4000" baseline="-25000" dirty="0" smtClean="0">
                <a:sym typeface="Symbol"/>
              </a:rPr>
              <a:t>1</a:t>
            </a:r>
            <a:r>
              <a:rPr lang="en-US" sz="4000" dirty="0">
                <a:sym typeface="Symbol"/>
              </a:rPr>
              <a:t> </a:t>
            </a:r>
            <a:r>
              <a:rPr lang="en-US" sz="4000" dirty="0" smtClean="0">
                <a:sym typeface="Symbol"/>
              </a:rPr>
              <a:t>– </a:t>
            </a:r>
            <a:r>
              <a:rPr lang="en-US" sz="4000" baseline="-25000" dirty="0" smtClean="0">
                <a:sym typeface="Symbol"/>
              </a:rPr>
              <a:t>2 </a:t>
            </a:r>
            <a:r>
              <a:rPr lang="en-US" sz="4000" dirty="0" smtClean="0">
                <a:sym typeface="Symbol"/>
              </a:rPr>
              <a:t>≠ 0</a:t>
            </a:r>
            <a:endParaRPr lang="en-US" sz="4000" baseline="-25000" dirty="0">
              <a:sym typeface="Symbol"/>
            </a:endParaRP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136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Hypotheses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1074"/>
            <a:ext cx="9144000" cy="5396926"/>
          </a:xfrm>
        </p:spPr>
        <p:txBody>
          <a:bodyPr/>
          <a:lstStyle/>
          <a:p>
            <a:r>
              <a:rPr lang="en-US" dirty="0" smtClean="0"/>
              <a:t>Take a minute to write down the hypotheses for each of the following situations: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Does the proportion of people who support gun control differ between males and females?</a:t>
            </a:r>
          </a:p>
          <a:p>
            <a:pPr lvl="1"/>
            <a:endParaRPr lang="en-US" dirty="0" smtClean="0">
              <a:solidFill>
                <a:schemeClr val="tx1"/>
              </a:solidFill>
            </a:endParaRPr>
          </a:p>
          <a:p>
            <a:pPr lvl="1"/>
            <a:endParaRPr lang="en-US" dirty="0" smtClean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10" name="Picture 2" descr="http://www.school-clipart.com/school_clipart_images/pencil_touching_lead_to_paper_0515-1007-2718-0955_SM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228600"/>
            <a:ext cx="838200" cy="8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08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Hypotheses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1074"/>
            <a:ext cx="9144000" cy="5396926"/>
          </a:xfrm>
        </p:spPr>
        <p:txBody>
          <a:bodyPr/>
          <a:lstStyle/>
          <a:p>
            <a:r>
              <a:rPr lang="en-US" dirty="0" smtClean="0"/>
              <a:t>Take a minute to write down the hypotheses for each of the following situations: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Is the average hours of sleep per night for college students less than 7?  </a:t>
            </a:r>
          </a:p>
          <a:p>
            <a:pPr marL="274320" lvl="1" indent="0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10" name="Picture 2" descr="http://www.school-clipart.com/school_clipart_images/pencil_touching_lead_to_paper_0515-1007-2718-0955_SM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228600"/>
            <a:ext cx="838200" cy="8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854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Evidence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7696200" cy="3657600"/>
          </a:xfrm>
        </p:spPr>
        <p:txBody>
          <a:bodyPr>
            <a:normAutofit/>
          </a:bodyPr>
          <a:lstStyle/>
          <a:p>
            <a:r>
              <a:rPr lang="en-US" sz="3600" dirty="0"/>
              <a:t>The goal of </a:t>
            </a:r>
            <a:r>
              <a:rPr lang="en-US" sz="3600" dirty="0" smtClean="0"/>
              <a:t>a hypothesis </a:t>
            </a:r>
            <a:r>
              <a:rPr lang="en-US" sz="3600" dirty="0"/>
              <a:t>test is to determine whether the sample data provide enough evidence to refute the null hypothesis in favor of the alternative hypothesis. </a:t>
            </a:r>
          </a:p>
        </p:txBody>
      </p:sp>
    </p:spTree>
    <p:extLst>
      <p:ext uri="{BB962C8B-B14F-4D97-AF65-F5344CB8AC3E}">
        <p14:creationId xmlns:p14="http://schemas.microsoft.com/office/powerpoint/2010/main" val="43765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Attractions!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do we measure strength of evidence against H</a:t>
            </a:r>
            <a:r>
              <a:rPr lang="en-US" baseline="-25000" dirty="0" smtClean="0"/>
              <a:t>0</a:t>
            </a:r>
            <a:r>
              <a:rPr lang="en-US" dirty="0" smtClean="0"/>
              <a:t> and in favor of H</a:t>
            </a:r>
            <a:r>
              <a:rPr lang="en-US" baseline="-25000" dirty="0" smtClean="0"/>
              <a:t>a</a:t>
            </a:r>
            <a:r>
              <a:rPr lang="en-US" dirty="0" smtClean="0"/>
              <a:t>?</a:t>
            </a:r>
          </a:p>
          <a:p>
            <a:pPr lvl="1"/>
            <a:r>
              <a:rPr lang="en-US" sz="3200" dirty="0" smtClean="0"/>
              <a:t>Next video!</a:t>
            </a:r>
          </a:p>
          <a:p>
            <a:r>
              <a:rPr lang="en-US" dirty="0" smtClean="0"/>
              <a:t>How do we know whether we have enough evidence to reject H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in favor of H</a:t>
            </a:r>
            <a:r>
              <a:rPr lang="en-US" baseline="-25000" dirty="0"/>
              <a:t>a</a:t>
            </a:r>
            <a:r>
              <a:rPr lang="en-US" dirty="0" smtClean="0"/>
              <a:t>?</a:t>
            </a:r>
          </a:p>
          <a:p>
            <a:pPr lvl="1"/>
            <a:r>
              <a:rPr lang="en-US" sz="3200" dirty="0" smtClean="0"/>
              <a:t>The following video!</a:t>
            </a:r>
            <a:endParaRPr lang="en-US" sz="3200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8274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Statistical tests use data from a sample to assess a claim about a population</a:t>
            </a:r>
          </a:p>
          <a:p>
            <a:r>
              <a:rPr lang="en-US" dirty="0" smtClean="0"/>
              <a:t>Statistical tests are usually formalized with competing hypotheses:</a:t>
            </a:r>
          </a:p>
          <a:p>
            <a:pPr marL="457200" lvl="1">
              <a:spcAft>
                <a:spcPts val="0"/>
              </a:spcAft>
            </a:pPr>
            <a:r>
              <a:rPr lang="en-US" dirty="0" smtClean="0">
                <a:solidFill>
                  <a:schemeClr val="tx1"/>
                </a:solidFill>
              </a:rPr>
              <a:t>Null hypothesis (H</a:t>
            </a:r>
            <a:r>
              <a:rPr lang="en-US" baseline="-25000" dirty="0" smtClean="0">
                <a:solidFill>
                  <a:schemeClr val="tx1"/>
                </a:solidFill>
              </a:rPr>
              <a:t>0</a:t>
            </a:r>
            <a:r>
              <a:rPr lang="en-US" dirty="0" smtClean="0">
                <a:solidFill>
                  <a:schemeClr val="tx1"/>
                </a:solidFill>
              </a:rPr>
              <a:t>): </a:t>
            </a:r>
            <a:r>
              <a:rPr lang="en-US" i="1" dirty="0" smtClean="0">
                <a:solidFill>
                  <a:schemeClr val="tx1"/>
                </a:solidFill>
              </a:rPr>
              <a:t>no effect or no difference</a:t>
            </a:r>
          </a:p>
          <a:p>
            <a:pPr marL="457200" lvl="1"/>
            <a:r>
              <a:rPr lang="en-US" dirty="0" smtClean="0">
                <a:solidFill>
                  <a:schemeClr val="tx1"/>
                </a:solidFill>
              </a:rPr>
              <a:t>Alternative hypothesis (H</a:t>
            </a:r>
            <a:r>
              <a:rPr lang="en-US" baseline="-25000" dirty="0" smtClean="0">
                <a:solidFill>
                  <a:schemeClr val="tx1"/>
                </a:solidFill>
              </a:rPr>
              <a:t>a</a:t>
            </a:r>
            <a:r>
              <a:rPr lang="en-US" dirty="0" smtClean="0">
                <a:solidFill>
                  <a:schemeClr val="tx1"/>
                </a:solidFill>
              </a:rPr>
              <a:t>): </a:t>
            </a:r>
            <a:r>
              <a:rPr lang="en-US" i="1" dirty="0" smtClean="0">
                <a:solidFill>
                  <a:schemeClr val="tx1"/>
                </a:solidFill>
              </a:rPr>
              <a:t>what we seek evidence for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86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POLLINGCYCLE" val="2"/>
  <p:tag name="INCLUDENONRESPONDERS" val="False"/>
  <p:tag name="CORRECTPOINTVALUE" val="100"/>
  <p:tag name="ZEROBASED" val="False"/>
  <p:tag name="FIBDISPLAYRESULTS" val="True"/>
  <p:tag name="PRRESPONSE1" val="10"/>
  <p:tag name="PRRESPONSE5" val="6"/>
  <p:tag name="PRRESPONSE9" val="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0"/>
  <p:tag name="RACEANIMATIONSPEED" val="3"/>
  <p:tag name="NUMRESPONSES" val="1"/>
  <p:tag name="CUSTOMCELLBACKCOLOR4" val="-8355712"/>
  <p:tag name="PRRESPONSE7" val="4"/>
  <p:tag name="FIBINCLUDEOTHER" val="True"/>
  <p:tag name="DELIMITERS" val="3.1"/>
  <p:tag name="EXPANDSHOWBAR" val="True"/>
  <p:tag name="TASKPANEKEY" val="66db836c-da1f-4f26-846d-d21ba4ad15d6"/>
  <p:tag name="TPPRESENTATIONGUID" val="c014ac3f-0ece-4811-bc84-e481a0e2a4ea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MOGRAPHIC" val="False"/>
  <p:tag name="SPEEDSCORING" val="False"/>
  <p:tag name="CORRECTPOINTVALUE" val="100"/>
  <p:tag name="INCORRECTPOINTVALUE" val="0"/>
  <p:tag name="ZEROBASED" val="False"/>
  <p:tag name="VALUEFORMAT" val="0%"/>
  <p:tag name="SLIDEGUID" val="706BA9CCE13B4224A2ABAAA82CFC0FAA"/>
  <p:tag name="SLIDEID" val="706BA9CCE13B4224A2ABAAA82CFC0FAA"/>
  <p:tag name="SLIDEORDER" val="1"/>
  <p:tag name="SLIDETYPE" val="Q"/>
  <p:tag name="QUESTIONALIAS" val="There are five Zener cards with five different symbols. If there is no such thing as ESP, what proportion of guesses should be correct?"/>
  <p:tag name="ANSWERSALIAS" val="p = 0|smicln| p = 1/4|smicln| p = 1/5|smicln| p = 1/2"/>
  <p:tag name="DELIMITERS" val="3.1"/>
  <p:tag name="TOTALRESPONSES" val="18"/>
  <p:tag name="RESPONSECOUNT" val="18"/>
  <p:tag name="SLICED" val="False"/>
  <p:tag name="RESPONSES" val="2;3;3;3;3;1;1;3;3;3;3;3;3;3;3;1;1;3;"/>
  <p:tag name="CHARTSTRINGSTD" val="4 1 13 0"/>
  <p:tag name="CHARTSTRINGREV" val="0 13 1 4"/>
  <p:tag name="CHARTSTRINGSTDPER" val="0.222222222222222 0.0555555555555556 0.722222222222222 0"/>
  <p:tag name="CHARTSTRINGREVPER" val="0 0.722222222222222 0.0555555555555556 0.222222222222222"/>
  <p:tag name="VALUES" val="No Value|smicln|No Value|smicln|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6210172783104AB785E7DDB8380BCAFE&lt;/guid&gt;&#10;        &lt;description /&gt;&#10;        &lt;date&gt;7/20/2017 2:42:47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DFDCD98725B4B0D96C9D6E8A4AEFF43&lt;/guid&gt;&#10;            &lt;repollguid&gt;F7A0F04F0B5C49AB819F7929E13866C6&lt;/repollguid&gt;&#10;            &lt;sourceid&gt;5E9C2EFC1FDE43B398301ED33A5B3710&lt;/sourceid&gt;&#10;            &lt;questiontext&gt;There are five Zener cards with five different symbols. If there is no such thing as ESP, what proportion of guesses should be correct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AFBC15A9AD0C488BB1ED66DF51F44062&lt;/guid&gt;&#10;                    &lt;answertext&gt;p = 0&lt;/answertext&gt;&#10;                    &lt;valuetype&gt;0&lt;/valuetype&gt;&#10;                &lt;/answer&gt;&#10;                &lt;answer&gt;&#10;                    &lt;guid&gt;E3811BD5AD3A431CB26B6F74C3AC65E8&lt;/guid&gt;&#10;                    &lt;answertext&gt; p = 1/4&lt;/answertext&gt;&#10;                    &lt;valuetype&gt;0&lt;/valuetype&gt;&#10;                &lt;/answer&gt;&#10;                &lt;answer&gt;&#10;                    &lt;guid&gt;ECCB624538154D668F7D07191DECA9FD&lt;/guid&gt;&#10;                    &lt;answertext&gt; p = 1/5&lt;/answertext&gt;&#10;                    &lt;valuetype&gt;0&lt;/valuetype&gt;&#10;                &lt;/answer&gt;&#10;                &lt;answer&gt;&#10;                    &lt;guid&gt;43BA93DB67F94003AF45D11B797F62E5&lt;/guid&gt;&#10;                    &lt;answertext&gt; p = 1/2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  <p:tag name="AUTOOPENPOLL" val="True"/>
  <p:tag name="AUTOFORMATCHART" val="True"/>
  <p:tag name="LIVECHARTING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TEXTLENGTH" val="32"/>
  <p:tag name="FONTSIZE" val="32"/>
  <p:tag name="BULLETTYPE" val="ppBulletArabicPeriod"/>
  <p:tag name="ANSWERTEXT" val="p = 0&#10; p = 1/4&#10; p = 1/5&#10; p = 1/2"/>
  <p:tag name="OLDNUMANSWERS" val="4"/>
  <p:tag name="ZEROBASED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SLIDEGUID" val="797C4CD76FD34B29B8EEEE2BF96AA8F1"/>
  <p:tag name="SLIDEID" val="797C4CD76FD34B29B8EEEE2BF96AA8F1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DELIMITERS" val="3.1"/>
  <p:tag name="ANSWERSALIAS" val="  𝑝 =0|smicln|  𝑝 =1/5|smicln|  𝑝 = 1/2|smicln|  𝑝 = 3/4 "/>
  <p:tag name="QUESTIONALIAS" val="Let  𝑝  denote the sample proportion of correct guesses in an ESP experiment Which of these sample statistics would give the strongest evidence for ESP?"/>
  <p:tag name="TOTALRESPONSES" val="18"/>
  <p:tag name="RESPONSECOUNT" val="18"/>
  <p:tag name="SLICED" val="False"/>
  <p:tag name="RESPONSES" val="4;4;4;4;4;2;4;4;4;1;4;4;4;4;2;4;4;4;"/>
  <p:tag name="CHARTSTRINGSTD" val="1 2 0 15"/>
  <p:tag name="CHARTSTRINGREV" val="15 0 2 1"/>
  <p:tag name="CHARTSTRINGSTDPER" val="0.0555555555555556 0.111111111111111 0 0.833333333333333"/>
  <p:tag name="CHARTSTRINGREVPER" val="0.833333333333333 0 0.111111111111111 0.0555555555555556"/>
  <p:tag name="VALUES" val="No Value|smicln|No Value|smicln|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8F570EC68C654F2D9108F2088EBD1CA1&lt;/guid&gt;&#10;        &lt;description /&gt;&#10;        &lt;date&gt;7/20/2017 2:42:47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A6882BB903EC4D36B3D3A8F60AC46002&lt;/guid&gt;&#10;            &lt;repollguid&gt;08EFF192774F44678895A5C168FF08B0&lt;/repollguid&gt;&#10;            &lt;sourceid&gt;08D5615BBE984AA7A32A7B456584B6C6&lt;/sourceid&gt;&#10;            &lt;questiontext&gt;Let  $$  denote the sample proportion of correct guesses in an ESP experimentWhich of these sample statistics would give the strongest evidence for ESP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1DE38B29A5664BA9B20C10F4AA74B41C&lt;/guid&gt;&#10;                    &lt;answertext&gt;  $$ =0 &lt;/answertext&gt;&#10;                    &lt;valuetype&gt;0&lt;/valuetype&gt;&#10;                &lt;/answer&gt;&#10;                &lt;answer&gt;&#10;                    &lt;guid&gt;E67D05FC337647C59D27374DF73D38BB&lt;/guid&gt;&#10;                    &lt;answertext&gt;  $$ =1/5 &lt;/answertext&gt;&#10;                    &lt;valuetype&gt;0&lt;/valuetype&gt;&#10;                &lt;/answer&gt;&#10;                &lt;answer&gt;&#10;                    &lt;guid&gt;EFE9FEBEAE0A4139A471D05B7F256DBA&lt;/guid&gt;&#10;                    &lt;answertext&gt;  $$ = 1/2 &lt;/answertext&gt;&#10;                    &lt;valuetype&gt;0&lt;/valuetype&gt;&#10;                &lt;/answer&gt;&#10;                &lt;answer&gt;&#10;                    &lt;guid&gt;11E1507EA3084F288926D67A5D927192&lt;/guid&gt;&#10;                    &lt;answertext&gt;  $$ = 3/4 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TEXTLENGTH" val="40"/>
  <p:tag name="FONTSIZE" val="36"/>
  <p:tag name="BULLETTYPE" val="ppBulletArabicPeriod"/>
  <p:tag name="ANSWERTEXT" val="  𝑝 =0&#10;  𝑝 =1/5&#10;  𝑝 = 1/2&#10;  𝑝 = 3/4 "/>
  <p:tag name="OLDNUMANSWERS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SLIDEGUID" val="CE35286EA51A4AD98C85BA1B2636A1FD"/>
  <p:tag name="SLIDEID" val="CE35286EA51A4AD98C85BA1B2636A1FD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QUESTIONALIAS" val="Let’s create our own sample proportion!  Randomly choose a Zener card and write it down (don’t show anyone!) Find a partner, telepathically communicate your card (no auditory or visual clues!), and have them guess your card.  Switch roles. Did you guess correctly?"/>
  <p:tag name="ANSWERSALIAS" val="Yes|smicln| No"/>
  <p:tag name="DELIMITERS" val="3.1"/>
  <p:tag name="TOTALRESPONSES" val="18"/>
  <p:tag name="RESPONSECOUNT" val="18"/>
  <p:tag name="SLICED" val="False"/>
  <p:tag name="RESPONSES" val="2;2;2;2;2;1;2;2;2;2;2;2;2;2;2;2;1;2;"/>
  <p:tag name="CHARTSTRINGSTD" val="2 16"/>
  <p:tag name="CHARTSTRINGREV" val="16 2"/>
  <p:tag name="CHARTSTRINGSTDPER" val="0.111111111111111 0.888888888888889"/>
  <p:tag name="CHARTSTRINGREVPER" val="0.888888888888889 0.111111111111111"/>
  <p:tag name="VALUES" val="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CA2F4CE8C83A45C7BE51A54A0B67F60A&lt;/guid&gt;&#10;        &lt;description /&gt;&#10;        &lt;date&gt;7/20/2017 2:42:47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8A23DB602C4C4555B32EC8436AF53B46&lt;/guid&gt;&#10;            &lt;repollguid&gt;2D2EBA0B5562415584C7187027BC2B94&lt;/repollguid&gt;&#10;            &lt;sourceid&gt;EA21B08EA29042F5AE14FAC4F9EF0A99&lt;/sourceid&gt;&#10;            &lt;questiontext&gt;Let’s create our own sample proportion! Randomly choose a Zener card and write it down (don’t show anyone!)Find a partner, telepathically communicate your card (no auditory or visual clues!), and have them guess your card.  Switch roles.Did you guess correctly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09D8FCD9878A4275B9B6C9224DE21D9D&lt;/guid&gt;&#10;                    &lt;answertext&gt;Yes &lt;/answertext&gt;&#10;                    &lt;valuetype&gt;0&lt;/valuetype&gt;&#10;                &lt;/answer&gt;&#10;                &lt;answer&gt;&#10;                    &lt;guid&gt;826D46D081694DF3974C39DC41AED3E9&lt;/guid&gt;&#10;                    &lt;answertext&gt; No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2"/>
  <p:tag name="TEXTLENGTH" val="7"/>
  <p:tag name="FONTSIZE" val="32"/>
  <p:tag name="BULLETTYPE" val="ppBulletArabicPeriod"/>
  <p:tag name="ANSWERTEXT" val="Yes&#10; No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SLIDEGUID" val="562C70D8964F4C3EA9045EB5FCCBB5FE"/>
  <p:tag name="SLIDEID" val="562C70D8964F4C3EA9045EB5FCCBB5FE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DELIMITERS" val="3.1"/>
  <p:tag name="TOTALRESPONSES" val="18"/>
  <p:tag name="RESPONSECOUNT" val="18"/>
  <p:tag name="SLICED" val="False"/>
  <p:tag name="RESPONSES" val="3;3;2;2;2;3;2;2;2;2;2;2;2;2;2;3;2;2;"/>
  <p:tag name="CHARTSTRINGSTD" val="0 14 4 0"/>
  <p:tag name="CHARTSTRINGREV" val="0 4 14 0"/>
  <p:tag name="CHARTSTRINGSTDPER" val="0 0.777777777777778 0.222222222222222 0"/>
  <p:tag name="CHARTSTRINGREVPER" val="0 0.222222222222222 0.777777777777778 0"/>
  <p:tag name="QUESTIONALIAS" val="The sample proportion for our class provides:"/>
  <p:tag name="ANSWERSALIAS" val=" Substantial evidence for ESP|smicln| Little to no evidence for ESP"/>
  <p:tag name="VALUES" val="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454BD34C278E44B8879958D269EEFDCD&lt;/guid&gt;&#10;        &lt;description /&gt;&#10;        &lt;date&gt;7/20/2017 2:42:47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F3AB4D640CC441B936D0ACE1E7F6406&lt;/guid&gt;&#10;            &lt;repollguid&gt;87940CB4290748279554A279A06354BB&lt;/repollguid&gt;&#10;            &lt;sourceid&gt;46F9AE01348B42EFA8DDE4DB6EEEF425&lt;/sourceid&gt;&#10;            &lt;questiontext&gt;The sample proportion for our class provides: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3&lt;/bulletstyle&gt;&#10;            &lt;answers&gt;&#10;                &lt;answer&gt;&#10;                    &lt;guid&gt;2AE45170767544DD836DD174A06FCADE&lt;/guid&gt;&#10;                    &lt;answertext&gt; Substantial evidence for ESP&lt;/answertext&gt;&#10;                    &lt;valuetype&gt;0&lt;/valuetype&gt;&#10;                &lt;/answer&gt;&#10;                &lt;answer&gt;&#10;                    &lt;guid&gt;84FFFFE98CE34CF4AA393625835EB2F4&lt;/guid&gt;&#10;                    &lt;answertext&gt; Little to no evidence for ESP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9"/>
  <p:tag name="OLDNUMANSWERS" val="2"/>
  <p:tag name="TEXTLENGTH" val="60"/>
  <p:tag name="FONTSIZE" val="32"/>
  <p:tag name="BULLETTYPE" val="ppBulletAlphaLCParenRight"/>
  <p:tag name="ANSWERTEXT" val=" Substantial evidence for ESP&#10; Little to no evidence for ESP"/>
  <p:tag name="ZEROBASED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SLIDEGUID" val="3F07CC2FDF234F93BAC4BBD1771B4C33"/>
  <p:tag name="SLIDEID" val="3F07CC2FDF234F93BAC4BBD1771B4C33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QUESTIONALIAS" val="What is the parameter of interest in the sleep versus caffeine experiment?"/>
  <p:tag name="VALUEFORMAT" val="0%"/>
  <p:tag name="ANSWERSALIAS" val=" Proportion|smicln| Difference in proportions|smicln| Mean|smicln| Difference in means|smicln| Correlation"/>
  <p:tag name="DELIMITERS" val="3.1"/>
  <p:tag name="TOTALRESPONSES" val="19"/>
  <p:tag name="RESPONSECOUNT" val="19"/>
  <p:tag name="SLICED" val="False"/>
  <p:tag name="RESPONSES" val="1;5;5;3;2;2;1;2;2;5;2;2;2;2;2;2;2;2;2;"/>
  <p:tag name="CHARTSTRINGSTD" val="2 13 1 0 3"/>
  <p:tag name="CHARTSTRINGREV" val="3 0 1 13 2"/>
  <p:tag name="CHARTSTRINGSTDPER" val="0.105263157894737 0.684210526315789 0.0526315789473684 0 0.157894736842105"/>
  <p:tag name="CHARTSTRINGREVPER" val="0.157894736842105 0 0.0526315789473684 0.684210526315789 0.105263157894737"/>
  <p:tag name="VALUES" val="No Value|smicln|No Value|smicln|No Value|smicln|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2038F65C480C45DD81C698D08591E7B3&lt;/guid&gt;&#10;        &lt;description /&gt;&#10;        &lt;date&gt;7/20/2017 2:42:47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D8C353D294744D5181DBCD12872A78DC&lt;/guid&gt;&#10;            &lt;repollguid&gt;BF48C1B1ED0048F1AC8B73A82080EFE7&lt;/repollguid&gt;&#10;            &lt;sourceid&gt;9623A9118BFE40C9B37066B0413B8FB5&lt;/sourceid&gt;&#10;            &lt;questiontext&gt;What is the parameter of interest in the sleep versus caffeine experiment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4A5E9D7B49CF408F9BCCFA797FFD06CA&lt;/guid&gt;&#10;                    &lt;answertext&gt; Proportion&lt;/answertext&gt;&#10;                    &lt;valuetype&gt;0&lt;/valuetype&gt;&#10;                &lt;/answer&gt;&#10;                &lt;answer&gt;&#10;                    &lt;guid&gt;BA490520EF224181A0E7A4A437D1B0C7&lt;/guid&gt;&#10;                    &lt;answertext&gt; Difference in proportions&lt;/answertext&gt;&#10;                    &lt;valuetype&gt;0&lt;/valuetype&gt;&#10;                &lt;/answer&gt;&#10;                &lt;answer&gt;&#10;                    &lt;guid&gt;AA5B4523D2D9460681564EE619DA2B09&lt;/guid&gt;&#10;                    &lt;answertext&gt; Mean&lt;/answertext&gt;&#10;                    &lt;valuetype&gt;0&lt;/valuetype&gt;&#10;                &lt;/answer&gt;&#10;                &lt;answer&gt;&#10;                    &lt;guid&gt;A4602B8FB8BD4EFEB86F116C032DA137&lt;/guid&gt;&#10;                    &lt;answertext&gt; Difference in means&lt;/answertext&gt;&#10;                    &lt;valuetype&gt;0&lt;/valuetype&gt;&#10;                &lt;/answer&gt;&#10;                &lt;answer&gt;&#10;                    &lt;guid&gt;52004643F91A4A76BCE3E29620CF3C4E&lt;/guid&gt;&#10;                    &lt;answertext&gt; Correlation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5"/>
  <p:tag name="TEXTLENGTH" val="78"/>
  <p:tag name="FONTSIZE" val="32"/>
  <p:tag name="BULLETTYPE" val="ppBulletArabicPeriod"/>
  <p:tag name="ANSWERTEXT" val=" Proportion&#10; Difference in proportions&#10; Mean&#10; Difference in means&#10; Correlation"/>
  <p:tag name="ZEROBASED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SLIDEGUID" val="BDF6047209634F389C9AE0C7557A22FB"/>
  <p:tag name="SLIDEID" val="BDF6047209634F389C9AE0C7557A22FB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QUESTIONALIAS" val="Let s and c  be the mean number of words recalled after sleeping and after caffeine. Is there a difference in average word recall between sleep and caffeine? What are the null and alternative hypotheses?"/>
  <p:tag name="ANSWERSALIAS" val=" H0: s ≠ c, Ha: s = c |smicln| H0: s = c, Ha: s ≠ c|smicln| H0: s ≠ c, Ha: s &gt; c|smicln| H0: s = c, Ha: s &gt; c|smicln| H0: s = c, Ha: s &lt; c"/>
  <p:tag name="DELIMITERS" val="3.1"/>
  <p:tag name="TOTALRESPONSES" val="18"/>
  <p:tag name="RESPONSECOUNT" val="18"/>
  <p:tag name="SLICED" val="False"/>
  <p:tag name="RESPONSES" val="3;4;1;2;4;4;2;4;2;4;4;1;2;3;2;3;3;-;5;"/>
  <p:tag name="CHARTSTRINGSTD" val="2 5 4 6 1"/>
  <p:tag name="CHARTSTRINGREV" val="1 6 4 5 2"/>
  <p:tag name="CHARTSTRINGSTDPER" val="0.111111111111111 0.277777777777778 0.222222222222222 0.333333333333333 0.0555555555555556"/>
  <p:tag name="CHARTSTRINGREVPER" val="0.0555555555555556 0.333333333333333 0.222222222222222 0.277777777777778 0.111111111111111"/>
  <p:tag name="VALUES" val="No Value|smicln|No Value|smicln|No Value|smicln|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E9C03F8D76B3487181C61E3957A9E0E4&lt;/guid&gt;&#10;        &lt;description /&gt;&#10;        &lt;date&gt;7/20/2017 2:42:47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0CFD25AB0BED485497837CF492FD5048&lt;/guid&gt;&#10;            &lt;repollguid&gt;13135B0074CF42AA97D28AFC5DA16D9C&lt;/repollguid&gt;&#10;            &lt;sourceid&gt;ECA17E76C7644E558E8CA9CB2B45D40B&lt;/sourceid&gt;&#10;            &lt;questiontext&gt;Let s and c  be the mean number of words recalled after sleeping and after caffeine.Is there a difference in average word recall between sleep and caffeine?What are the null and alternative hypotheses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9D2552CFDFFC42A0B3810083176E12D7&lt;/guid&gt;&#10;                    &lt;answertext&gt; H0: s ≠ c, Ha: s = c &lt;/answertext&gt;&#10;                    &lt;valuetype&gt;0&lt;/valuetype&gt;&#10;                &lt;/answer&gt;&#10;                &lt;answer&gt;&#10;                    &lt;guid&gt;14037790064548579341FC6F9E9AD1C6&lt;/guid&gt;&#10;                    &lt;answertext&gt; H0: s = c, Ha: s ≠ c&lt;/answertext&gt;&#10;                    &lt;valuetype&gt;0&lt;/valuetype&gt;&#10;                &lt;/answer&gt;&#10;                &lt;answer&gt;&#10;                    &lt;guid&gt;3BA22CFB6C6B440283476FE86B7B8522&lt;/guid&gt;&#10;                    &lt;answertext&gt; H0: s ≠ c, Ha: s &amp;gt; c&lt;/answertext&gt;&#10;                    &lt;valuetype&gt;0&lt;/valuetype&gt;&#10;                &lt;/answer&gt;&#10;                &lt;answer&gt;&#10;                    &lt;guid&gt;F893EAE7728C4D0D9AE860EC2CD61D0A&lt;/guid&gt;&#10;                    &lt;answertext&gt; H0: s = c, Ha: s &amp;gt; c&lt;/answertext&gt;&#10;                    &lt;valuetype&gt;0&lt;/valuetype&gt;&#10;                &lt;/answer&gt;&#10;                &lt;answer&gt;&#10;                    &lt;guid&gt;D984AA5F94A0457497EBEAAA72ED7AAA&lt;/guid&gt;&#10;                    &lt;answertext&gt; H0: s = c, Ha: s &amp;lt; c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TEXTLENGTH" val="130"/>
  <p:tag name="FONTSIZE" val="30"/>
  <p:tag name="BULLETTYPE" val="ppBulletArabicPeriod"/>
  <p:tag name="ANSWERTEXT" val=" H0: s ≠ c, Ha: s = c &#10; H0: s = c, Ha: s ≠ c&#10; H0: s ≠ c, Ha: s &gt; c&#10; H0: s = c, Ha: s &gt; c&#10; H0: s = c, Ha: s &lt; c"/>
  <p:tag name="OLDNUMANSWERS" val="5"/>
  <p:tag name="ZEROBASED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1679</TotalTime>
  <Words>793</Words>
  <Application>Microsoft Office PowerPoint</Application>
  <PresentationFormat>On-screen Show (4:3)</PresentationFormat>
  <Paragraphs>107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Median</vt:lpstr>
      <vt:lpstr>PowerPoint Presentation</vt:lpstr>
      <vt:lpstr>Extrasensory Perception</vt:lpstr>
      <vt:lpstr>Extrasensory Perception</vt:lpstr>
      <vt:lpstr>There are five Zener cards with five different symbols. If there is no such thing as ESP, what proportion of guesses should be correct?</vt:lpstr>
      <vt:lpstr>Extrasensory Perception</vt:lpstr>
      <vt:lpstr>Statistical Test</vt:lpstr>
      <vt:lpstr>Let p ̂ denote the sample proportion of correct guesses in an ESP experiment Which of these sample statistics would give the strongest evidence for ESP?</vt:lpstr>
      <vt:lpstr>Let’s create our own sample proportion!  Randomly choose a Zener card and write it down (don’t show anyone!) Find a partner, telepathically communicate your card (no auditory or visual clues!), and have them guess your card.  Switch roles. Did you guess correctly?</vt:lpstr>
      <vt:lpstr>PowerPoint Presentation</vt:lpstr>
      <vt:lpstr>The sample proportion for our class provides:</vt:lpstr>
      <vt:lpstr>Statistical Hypotheses</vt:lpstr>
      <vt:lpstr>ESP Hypotheses</vt:lpstr>
      <vt:lpstr>Sleep versus Caffeine</vt:lpstr>
      <vt:lpstr>What is the parameter of interest in the sleep versus caffeine experiment?</vt:lpstr>
      <vt:lpstr>Let s and c  be the mean number of words recalled after sleeping and after caffeine. Is there a difference in average word recall between sleep and caffeine? What are the null and alternative hypotheses?</vt:lpstr>
      <vt:lpstr>Difference in Hypotheses</vt:lpstr>
      <vt:lpstr>Hypotheses</vt:lpstr>
      <vt:lpstr>Hypotheses</vt:lpstr>
      <vt:lpstr>Evidence</vt:lpstr>
      <vt:lpstr>Coming Attractions!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Leed</dc:creator>
  <cp:lastModifiedBy>Kathryn Dobeck</cp:lastModifiedBy>
  <cp:revision>43</cp:revision>
  <cp:lastPrinted>2015-06-29T21:20:38Z</cp:lastPrinted>
  <dcterms:created xsi:type="dcterms:W3CDTF">2013-01-06T19:30:49Z</dcterms:created>
  <dcterms:modified xsi:type="dcterms:W3CDTF">2017-07-21T15:33:04Z</dcterms:modified>
</cp:coreProperties>
</file>