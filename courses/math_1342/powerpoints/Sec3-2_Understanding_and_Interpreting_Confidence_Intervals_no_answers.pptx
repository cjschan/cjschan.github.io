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305" r:id="rId2"/>
    <p:sldId id="306" r:id="rId3"/>
    <p:sldId id="276" r:id="rId4"/>
    <p:sldId id="277" r:id="rId5"/>
    <p:sldId id="307" r:id="rId6"/>
    <p:sldId id="280" r:id="rId7"/>
    <p:sldId id="281" r:id="rId8"/>
    <p:sldId id="278" r:id="rId9"/>
    <p:sldId id="279" r:id="rId10"/>
    <p:sldId id="283" r:id="rId11"/>
    <p:sldId id="284" r:id="rId12"/>
    <p:sldId id="287" r:id="rId13"/>
    <p:sldId id="288" r:id="rId14"/>
    <p:sldId id="289" r:id="rId15"/>
    <p:sldId id="308" r:id="rId16"/>
    <p:sldId id="309" r:id="rId17"/>
    <p:sldId id="310" r:id="rId18"/>
    <p:sldId id="311" r:id="rId19"/>
    <p:sldId id="312" r:id="rId20"/>
    <p:sldId id="299" r:id="rId21"/>
    <p:sldId id="296" r:id="rId22"/>
    <p:sldId id="297" r:id="rId23"/>
  </p:sldIdLst>
  <p:sldSz cx="9144000" cy="6858000" type="screen4x3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-678" y="-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5565440"/>
        <c:axId val="66359296"/>
        <c:axId val="93306368"/>
      </c:bar3DChart>
      <c:catAx>
        <c:axId val="65565440"/>
        <c:scaling>
          <c:orientation val="minMax"/>
        </c:scaling>
        <c:delete val="0"/>
        <c:axPos val="b"/>
        <c:majorTickMark val="out"/>
        <c:minorTickMark val="none"/>
        <c:tickLblPos val="nextTo"/>
        <c:crossAx val="66359296"/>
        <c:crosses val="autoZero"/>
        <c:auto val="1"/>
        <c:lblAlgn val="ctr"/>
        <c:lblOffset val="100"/>
        <c:noMultiLvlLbl val="0"/>
      </c:catAx>
      <c:valAx>
        <c:axId val="663592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5565440"/>
        <c:crosses val="autoZero"/>
        <c:crossBetween val="between"/>
      </c:valAx>
      <c:serAx>
        <c:axId val="93306368"/>
        <c:scaling>
          <c:orientation val="minMax"/>
        </c:scaling>
        <c:delete val="0"/>
        <c:axPos val="b"/>
        <c:majorTickMark val="out"/>
        <c:minorTickMark val="none"/>
        <c:tickLblPos val="nextTo"/>
        <c:crossAx val="66359296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F0FF1-C918-4600-8207-61DCDB11BF51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421F4-B958-4501-B074-EDE359BA9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0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question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42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through each of these with your students.  For explanations, see page 187.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74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9/18/2019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kumimoji="0"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9/18/2019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/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85010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784" y="152400"/>
            <a:ext cx="7290816" cy="762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4" name="Picture 2" descr="http://t3.gstatic.com/images?q=tbn:ANd9GcTYmiLh9B_aVjviHh1xZIewSwIAVBJM6GGUwjQGMknDgt1O3VWWMFpakkXX"/>
          <p:cNvPicPr>
            <a:picLocks noChangeAspect="1" noChangeArrowheads="1"/>
          </p:cNvPicPr>
          <p:nvPr userDrawn="1"/>
        </p:nvPicPr>
        <p:blipFill>
          <a:blip r:embed="rId2" cstate="print"/>
          <a:srcRect t="17160" b="8480"/>
          <a:stretch>
            <a:fillRect/>
          </a:stretch>
        </p:blipFill>
        <p:spPr bwMode="auto">
          <a:xfrm>
            <a:off x="173736" y="173736"/>
            <a:ext cx="1066800" cy="990600"/>
          </a:xfrm>
          <a:prstGeom prst="rect">
            <a:avLst/>
          </a:prstGeom>
          <a:noFill/>
        </p:spPr>
      </p:pic>
      <p:sp>
        <p:nvSpPr>
          <p:cNvPr id="9" name="Text Placeholder 12"/>
          <p:cNvSpPr>
            <a:spLocks noGrp="1"/>
          </p:cNvSpPr>
          <p:nvPr>
            <p:ph idx="1"/>
          </p:nvPr>
        </p:nvSpPr>
        <p:spPr>
          <a:xfrm>
            <a:off x="301752" y="1371600"/>
            <a:ext cx="85344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1800"/>
              </a:spcAft>
              <a:defRPr sz="2800"/>
            </a:lvl2pPr>
            <a:lvl3pPr>
              <a:spcBef>
                <a:spcPts val="0"/>
              </a:spcBef>
              <a:spcAft>
                <a:spcPts val="1800"/>
              </a:spcAft>
              <a:defRPr sz="2400"/>
            </a:lvl3pPr>
            <a:lvl4pPr>
              <a:spcBef>
                <a:spcPts val="0"/>
              </a:spcBef>
              <a:spcAft>
                <a:spcPts val="1800"/>
              </a:spcAft>
              <a:defRPr sz="2000"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idx="13"/>
          </p:nvPr>
        </p:nvSpPr>
        <p:spPr>
          <a:xfrm>
            <a:off x="1143000" y="3886200"/>
            <a:ext cx="7568680" cy="216103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idx="14"/>
          </p:nvPr>
        </p:nvSpPr>
        <p:spPr>
          <a:xfrm>
            <a:off x="5181600" y="4114800"/>
            <a:ext cx="3733800" cy="2057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1pPr>
            <a:lvl2pPr marL="274320" indent="0">
              <a:buNone/>
              <a:defRPr sz="2800">
                <a:solidFill>
                  <a:schemeClr val="accent1"/>
                </a:solidFill>
                <a:latin typeface="Segoe Print" pitchFamily="2" charset="0"/>
              </a:defRPr>
            </a:lvl2pPr>
            <a:lvl3pPr marL="59436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3pPr>
            <a:lvl4pPr marL="868680" indent="0">
              <a:buNone/>
              <a:defRPr sz="2000">
                <a:solidFill>
                  <a:schemeClr val="accent1"/>
                </a:solidFill>
                <a:latin typeface="Segoe Print" pitchFamily="2" charset="0"/>
              </a:defRPr>
            </a:lvl4pPr>
            <a:lvl5pPr marL="1143000" indent="0">
              <a:buNone/>
              <a:defRPr>
                <a:solidFill>
                  <a:schemeClr val="accent1"/>
                </a:solidFill>
                <a:latin typeface="Segoe Print" pitchFamily="2" charset="0"/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5646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aphicFrame>
        <p:nvGraphicFramePr>
          <p:cNvPr id="3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2685223280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097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3948" y="1554480"/>
            <a:ext cx="9120051" cy="5303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32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32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32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pewinternet.org/Reports/2011/Cell-Phone-Texting-2011/Main-Report/How-Americans-Use-Text-Messaging.aspx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hyperlink" Target="http://www.realclearpolitics.com/epolls/2012/president/us/general_election_romney_vs_obama-1171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k5stat.com/statkey/index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hyperlink" Target="http://www.people-press.org/2012/01/23/public-priorities-deficit-rising-terrorism-slippin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notesSlide" Target="../notesSlides/notesSl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notesSlide" Target="../notesSlides/notesSlid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notesSlide" Target="../notesSlides/notes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209799" y="1995055"/>
            <a:ext cx="6871855" cy="1905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4000" b="1" dirty="0" smtClean="0">
                <a:solidFill>
                  <a:schemeClr val="tx2"/>
                </a:solidFill>
              </a:rPr>
              <a:t>Section 3.2: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4000" b="1" dirty="0" smtClean="0">
                <a:solidFill>
                  <a:schemeClr val="tx2"/>
                </a:solidFill>
              </a:rPr>
              <a:t>Understanding and Interpreting Confidence Intervals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334491" y="6248400"/>
            <a:ext cx="6809508" cy="609600"/>
          </a:xfrm>
        </p:spPr>
        <p:txBody>
          <a:bodyPr/>
          <a:lstStyle/>
          <a:p>
            <a:pPr lvl="0"/>
            <a:r>
              <a:rPr lang="en-US" sz="2700" b="1" u="sng" dirty="0" smtClean="0"/>
              <a:t>Statistics: Unlocking </a:t>
            </a:r>
            <a:r>
              <a:rPr lang="en-US" sz="2700" b="1" u="sng" dirty="0"/>
              <a:t>the Power of </a:t>
            </a:r>
            <a:r>
              <a:rPr lang="en-US" sz="2700" b="1" u="sng" dirty="0" smtClean="0"/>
              <a:t>Data</a:t>
            </a:r>
            <a:r>
              <a:rPr lang="en-US" sz="2700" b="1" dirty="0"/>
              <a:t>,</a:t>
            </a:r>
            <a:r>
              <a:rPr lang="en-US" sz="2700" b="1" dirty="0" smtClean="0"/>
              <a:t> Lock</a:t>
            </a:r>
            <a:r>
              <a:rPr lang="en-US" sz="2700" b="1" baseline="30000" dirty="0" smtClean="0"/>
              <a:t>5</a:t>
            </a:r>
            <a:endParaRPr lang="en-US" sz="2700" b="1" u="sng" dirty="0"/>
          </a:p>
          <a:p>
            <a:endParaRPr lang="en-US" sz="2700" dirty="0"/>
          </a:p>
        </p:txBody>
      </p:sp>
      <p:sp>
        <p:nvSpPr>
          <p:cNvPr id="3" name="TextBox 2"/>
          <p:cNvSpPr txBox="1"/>
          <p:nvPr/>
        </p:nvSpPr>
        <p:spPr>
          <a:xfrm>
            <a:off x="2514600" y="4267200"/>
            <a:ext cx="5534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Professor Kathryn </a:t>
            </a:r>
            <a:r>
              <a:rPr lang="en-US" sz="280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Dobeck</a:t>
            </a:r>
            <a:endParaRPr lang="en-US" sz="2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989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1113"/>
            <a:ext cx="9144000" cy="2046287"/>
          </a:xfrm>
        </p:spPr>
        <p:txBody>
          <a:bodyPr>
            <a:normAutofit/>
          </a:bodyPr>
          <a:lstStyle/>
          <a:p>
            <a:r>
              <a:rPr lang="en-US" sz="4000" dirty="0"/>
              <a:t>The higher the standard error of a statistic, </a:t>
            </a:r>
            <a:r>
              <a:rPr lang="en-US" sz="4000" dirty="0" smtClean="0"/>
              <a:t>the _______ the </a:t>
            </a:r>
            <a:r>
              <a:rPr lang="en-US" sz="4000" dirty="0"/>
              <a:t>uncertainty surrounding the statistic.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209800"/>
            <a:ext cx="2895600" cy="160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mtClean="0"/>
              <a:t>higher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lower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723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Interval Estimate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interval estimate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/>
              <a:t>gives a range of plausible values for a population parameter.  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137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Margin of Error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7620000" cy="2971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One common form for an interval estimate is</a:t>
            </a:r>
          </a:p>
          <a:p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statistic ± margin of error</a:t>
            </a:r>
          </a:p>
          <a:p>
            <a:r>
              <a:rPr lang="en-US" dirty="0"/>
              <a:t>w</a:t>
            </a:r>
            <a:r>
              <a:rPr lang="en-US" dirty="0" smtClean="0"/>
              <a:t>here the </a:t>
            </a:r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margin of erro</a:t>
            </a:r>
            <a:r>
              <a:rPr lang="en-US" b="1" i="1" dirty="0" smtClean="0">
                <a:solidFill>
                  <a:schemeClr val="tx2"/>
                </a:solidFill>
              </a:rPr>
              <a:t>r </a:t>
            </a:r>
            <a:r>
              <a:rPr lang="en-US" dirty="0" smtClean="0"/>
              <a:t>reflects the precision of the sample statistic as a point estimate for the parameter.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133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524000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A 2011 random sample of n = 755 US cell phone users aged 18+ found that the average number of text messages sent or received per day is 41.5 messages, with a margin of error of 12.2. </a:t>
            </a:r>
          </a:p>
          <a:p>
            <a:pPr>
              <a:spcBef>
                <a:spcPts val="2400"/>
              </a:spcBef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kern="0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 Give an </a:t>
            </a:r>
            <a:r>
              <a:rPr lang="en-US" sz="3200" i="1" kern="0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interval estimate</a:t>
            </a:r>
            <a:r>
              <a:rPr lang="en-US" sz="3200" kern="0" dirty="0">
                <a:solidFill>
                  <a:schemeClr val="accent6">
                    <a:lumMod val="50000"/>
                  </a:schemeClr>
                </a:solidFill>
                <a:sym typeface="Symbol"/>
              </a:rPr>
              <a:t> for the average number of text messages sent or received per day for US adult cell phone users.</a:t>
            </a:r>
            <a:endParaRPr lang="en-US" sz="3200" kern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13211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Smith, A. “Americans and Text Messaging,” Pew Research Center, </a:t>
            </a:r>
            <a:r>
              <a:rPr lang="en-US" sz="1400" dirty="0">
                <a:hlinkClick r:id="rId2"/>
              </a:rPr>
              <a:t>http://www.pewinternet.org/Reports/2011/Cell-Phone-Texting-2011/Main-Report/How-Americans-Use-Text-Messaging.aspx</a:t>
            </a:r>
            <a:r>
              <a:rPr lang="en-US" sz="1400" dirty="0"/>
              <a:t> , accessed 9/19/11.</a:t>
            </a:r>
          </a:p>
        </p:txBody>
      </p:sp>
      <p:pic>
        <p:nvPicPr>
          <p:cNvPr id="4098" name="Picture 2" descr="http://blog.hubspot.com/Portals/249/images/sm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096" y="89608"/>
            <a:ext cx="1646583" cy="109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52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" y="1042805"/>
            <a:ext cx="9138138" cy="4407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991600" cy="1295400"/>
          </a:xfrm>
        </p:spPr>
        <p:txBody>
          <a:bodyPr anchor="ctr">
            <a:normAutofit/>
          </a:bodyPr>
          <a:lstStyle/>
          <a:p>
            <a:r>
              <a:rPr lang="en-US" b="1" dirty="0" smtClean="0"/>
              <a:t>Election Polling</a:t>
            </a:r>
            <a:endParaRPr lang="en-US" b="1" dirty="0"/>
          </a:p>
        </p:txBody>
      </p:sp>
      <p:sp>
        <p:nvSpPr>
          <p:cNvPr id="10" name="Content Placeholder 2"/>
          <p:cNvSpPr>
            <a:spLocks noGrp="1"/>
          </p:cNvSpPr>
          <p:nvPr>
            <p:ph idx="4294967295"/>
          </p:nvPr>
        </p:nvSpPr>
        <p:spPr>
          <a:xfrm>
            <a:off x="0" y="5410200"/>
            <a:ext cx="9144000" cy="1447800"/>
          </a:xfrm>
        </p:spPr>
        <p:txBody>
          <a:bodyPr/>
          <a:lstStyle/>
          <a:p>
            <a:r>
              <a:rPr lang="en-US" dirty="0" smtClean="0"/>
              <a:t>Why is the margin of error smaller for the Gallup poll than the CNN poll?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800600" y="1143001"/>
            <a:ext cx="609600" cy="4307068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0" y="640080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linkClick r:id="rId4"/>
              </a:rPr>
              <a:t>http://www.realclearpolitics.com/epolls/2012/president/us/general_election_romney_vs_obama-1171.html</a:t>
            </a: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377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5800" y="56642"/>
            <a:ext cx="8153400" cy="990600"/>
          </a:xfrm>
        </p:spPr>
        <p:txBody>
          <a:bodyPr/>
          <a:lstStyle/>
          <a:p>
            <a:r>
              <a:rPr lang="en-US" dirty="0" smtClean="0"/>
              <a:t>Interval Estimate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-13855" y="914400"/>
            <a:ext cx="9144000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Using the Gallup poll, find an interval estimate for the proportion of voters who plan to vote for Obama.</a:t>
            </a:r>
            <a:endParaRPr lang="en-US" dirty="0"/>
          </a:p>
        </p:txBody>
      </p:sp>
      <p:pic>
        <p:nvPicPr>
          <p:cNvPr id="5" name="Picture 2" descr="http://www.school-clipart.com/school_clipart_images/pencil_touching_lead_to_paper_0515-1007-2718-0955_SMU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28600"/>
            <a:ext cx="838200" cy="8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1" y="1905000"/>
            <a:ext cx="9005722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36341" y="4696691"/>
            <a:ext cx="6477000" cy="381000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222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46" y="150674"/>
            <a:ext cx="8153400" cy="990600"/>
          </a:xfrm>
        </p:spPr>
        <p:txBody>
          <a:bodyPr/>
          <a:lstStyle/>
          <a:p>
            <a:r>
              <a:rPr lang="en-US" dirty="0" smtClean="0"/>
              <a:t>Margin of Error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052" y="1524000"/>
            <a:ext cx="9134947" cy="5334000"/>
          </a:xfrm>
        </p:spPr>
        <p:txBody>
          <a:bodyPr/>
          <a:lstStyle/>
          <a:p>
            <a:r>
              <a:rPr lang="en-US" dirty="0"/>
              <a:t>How do we determine the margin of error???</a:t>
            </a:r>
          </a:p>
          <a:p>
            <a:r>
              <a:rPr lang="en-US" dirty="0"/>
              <a:t>We can use the spread of the sampling distribution </a:t>
            </a:r>
            <a:r>
              <a:rPr lang="en-US" kern="0" dirty="0"/>
              <a:t>(the standard error) </a:t>
            </a:r>
            <a:r>
              <a:rPr lang="en-US" dirty="0" smtClean="0"/>
              <a:t>to </a:t>
            </a:r>
            <a:r>
              <a:rPr lang="en-US" dirty="0"/>
              <a:t>determine the margin of error for a statistic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969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76200" y="228600"/>
            <a:ext cx="8991600" cy="1371600"/>
          </a:xfrm>
        </p:spPr>
        <p:txBody>
          <a:bodyPr>
            <a:noAutofit/>
          </a:bodyPr>
          <a:lstStyle/>
          <a:p>
            <a:r>
              <a:rPr lang="en-US" sz="3600" dirty="0"/>
              <a:t>The higher the standard deviation of the sampling distribution, the </a:t>
            </a:r>
            <a:r>
              <a:rPr lang="en-US" sz="3600" dirty="0" smtClean="0"/>
              <a:t>_______ </a:t>
            </a:r>
            <a:r>
              <a:rPr lang="en-US" sz="3600" dirty="0"/>
              <a:t>the margin of error</a:t>
            </a:r>
            <a:r>
              <a:rPr lang="en-US" sz="3600" dirty="0" smtClean="0"/>
              <a:t>.</a:t>
            </a:r>
            <a:endParaRPr lang="en-US" sz="3600" dirty="0"/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152400" y="2019300"/>
            <a:ext cx="3200400" cy="2400300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+mj-lt"/>
              <a:buAutoNum type="alphaUcPeriod"/>
            </a:pPr>
            <a:r>
              <a:rPr lang="en-US" dirty="0" smtClean="0"/>
              <a:t> higher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UcPeriod"/>
            </a:pPr>
            <a:r>
              <a:rPr lang="en-US" dirty="0"/>
              <a:t> </a:t>
            </a:r>
            <a:r>
              <a:rPr lang="en-US" dirty="0" smtClean="0"/>
              <a:t>lower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561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Confidence Interval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7848600" cy="2369058"/>
          </a:xfrm>
        </p:spPr>
        <p:txBody>
          <a:bodyPr>
            <a:noAutofit/>
          </a:bodyPr>
          <a:lstStyle/>
          <a:p>
            <a:r>
              <a:rPr lang="en-US" dirty="0" smtClean="0"/>
              <a:t>A </a:t>
            </a:r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confidence interval</a:t>
            </a:r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 smtClean="0"/>
              <a:t>for a parameter is an interval computed from sample data by a method that will capture the parameter for a specified proportion of all samples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0" y="4191000"/>
            <a:ext cx="9144000" cy="2667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success rate (proportion of all samples whose intervals contain the parameter) is known as the </a:t>
            </a:r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confidence level</a:t>
            </a:r>
          </a:p>
          <a:p>
            <a:r>
              <a:rPr lang="en-US" dirty="0" smtClean="0"/>
              <a:t>A 95% confidence interval will contain the true parameter for 95% of all samples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568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Confidence Intervals: Hollywood Movies (Comedies)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3998" y="1524000"/>
            <a:ext cx="5901397" cy="5334000"/>
          </a:xfrm>
        </p:spPr>
        <p:txBody>
          <a:bodyPr/>
          <a:lstStyle/>
          <a:p>
            <a:r>
              <a:rPr lang="en-US" sz="2400" dirty="0" smtClean="0">
                <a:hlinkClick r:id="rId3"/>
              </a:rPr>
              <a:t>http://lock5stat.com/statkey/index.html</a:t>
            </a:r>
            <a:endParaRPr lang="en-US" sz="2400" dirty="0" smtClean="0"/>
          </a:p>
          <a:p>
            <a:r>
              <a:rPr lang="en-US" dirty="0" smtClean="0"/>
              <a:t> The parameter is fixed</a:t>
            </a:r>
          </a:p>
          <a:p>
            <a:r>
              <a:rPr lang="en-US" dirty="0" smtClean="0"/>
              <a:t>The statistic is random </a:t>
            </a:r>
          </a:p>
          <a:p>
            <a:pPr marL="0" indent="0">
              <a:buNone/>
            </a:pPr>
            <a:r>
              <a:rPr lang="en-US" dirty="0" smtClean="0"/>
              <a:t>(It depends on the sample)</a:t>
            </a:r>
          </a:p>
          <a:p>
            <a:r>
              <a:rPr lang="en-US" dirty="0" smtClean="0"/>
              <a:t>The interval is random </a:t>
            </a:r>
          </a:p>
          <a:p>
            <a:pPr marL="0" indent="0">
              <a:buNone/>
            </a:pPr>
            <a:r>
              <a:rPr lang="en-US" dirty="0" smtClean="0"/>
              <a:t>(It depends on the statistic)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061" y="1981200"/>
            <a:ext cx="3998974" cy="48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035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95% Confidence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7696200" cy="2743200"/>
          </a:xfrm>
        </p:spPr>
        <p:txBody>
          <a:bodyPr>
            <a:normAutofit/>
          </a:bodyPr>
          <a:lstStyle/>
          <a:p>
            <a:r>
              <a:rPr lang="en-US" dirty="0" smtClean="0"/>
              <a:t>If the sampling distribution is relatively symmetric and bell-shaped, a 95% confidence interval can be estimated using</a:t>
            </a:r>
          </a:p>
          <a:p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statistic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 ± </a:t>
            </a:r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2 × SE</a:t>
            </a:r>
            <a:endParaRPr lang="en-US" b="1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67200" y="4572000"/>
            <a:ext cx="1981200" cy="40011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Margin of Error</a:t>
            </a:r>
            <a:r>
              <a:rPr lang="en-US" sz="2000" b="1" dirty="0" smtClean="0"/>
              <a:t>!</a:t>
            </a:r>
            <a:endParaRPr lang="en-US" sz="2000" b="1" dirty="0"/>
          </a:p>
        </p:txBody>
      </p:sp>
      <p:sp>
        <p:nvSpPr>
          <p:cNvPr id="5" name="Left Brace 4"/>
          <p:cNvSpPr/>
          <p:nvPr/>
        </p:nvSpPr>
        <p:spPr>
          <a:xfrm rot="16200000">
            <a:off x="5130799" y="3835400"/>
            <a:ext cx="254001" cy="1219200"/>
          </a:xfrm>
          <a:prstGeom prst="leftBrace">
            <a:avLst>
              <a:gd name="adj1" fmla="val 33581"/>
              <a:gd name="adj2" fmla="val 50000"/>
            </a:avLst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0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This means that for a 95% confidence interval, we obtain the margin of error by calculating 2 * SE!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Segoe Print" panose="020006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310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3505200"/>
          </a:xfrm>
        </p:spPr>
        <p:txBody>
          <a:bodyPr anchor="ctr">
            <a:noAutofit/>
          </a:bodyPr>
          <a:lstStyle/>
          <a:p>
            <a:pPr lvl="0" indent="-342900">
              <a:spcBef>
                <a:spcPts val="1800"/>
              </a:spcBef>
              <a:defRPr/>
            </a:pPr>
            <a:r>
              <a:rPr lang="en-US" sz="3200" dirty="0"/>
              <a:t>A survey of 1,502 Americans in January 2012 found that 86% consider the economy a “top priority” for the president and congress. The standard error for this statistic is 0.01. </a:t>
            </a:r>
            <a:br>
              <a:rPr lang="en-US" sz="3200" dirty="0"/>
            </a:br>
            <a:r>
              <a:rPr lang="en-US" sz="3200" dirty="0"/>
              <a:t>What is the 95% confidence interval for the true proportion of all Americans that considered the economy a “top priority” at that time?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508" y="6488668"/>
            <a:ext cx="882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4"/>
              </a:rPr>
              <a:t>http://www.people-press.org/2012/01/23/public-priorities-deficit-rising-terrorism-slipping/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9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867150"/>
            <a:ext cx="3233738" cy="17526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720090" indent="-742950"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85000"/>
              <a:buFont typeface="+mj-lt"/>
              <a:buAutoNum type="arabicPeriod"/>
              <a:defRPr/>
            </a:pPr>
            <a:r>
              <a:rPr lang="en-US" sz="3600" dirty="0" smtClean="0"/>
              <a:t>(0.85</a:t>
            </a:r>
            <a:r>
              <a:rPr lang="en-US" sz="3600" dirty="0"/>
              <a:t>, 0.87)</a:t>
            </a:r>
          </a:p>
          <a:p>
            <a:pPr marL="720090" indent="-742950"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85000"/>
              <a:buFont typeface="+mj-lt"/>
              <a:buAutoNum type="arabicPeriod"/>
              <a:defRPr/>
            </a:pPr>
            <a:r>
              <a:rPr lang="en-US" sz="3600" dirty="0" smtClean="0"/>
              <a:t>(0.84</a:t>
            </a:r>
            <a:r>
              <a:rPr lang="en-US" sz="3600" dirty="0"/>
              <a:t>, 0.88)</a:t>
            </a:r>
          </a:p>
          <a:p>
            <a:pPr marL="720090" indent="-742950"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85000"/>
              <a:buFont typeface="+mj-lt"/>
              <a:buAutoNum type="arabicPeriod"/>
              <a:defRPr/>
            </a:pPr>
            <a:r>
              <a:rPr lang="en-US" sz="3600" dirty="0" smtClean="0"/>
              <a:t>(0.82</a:t>
            </a:r>
            <a:r>
              <a:rPr lang="en-US" sz="3600" dirty="0"/>
              <a:t>, 0.90</a:t>
            </a:r>
            <a:r>
              <a:rPr lang="en-US" sz="3600" dirty="0" smtClean="0"/>
              <a:t>)</a:t>
            </a:r>
            <a:endParaRPr lang="en-US" sz="3600" dirty="0" smtClean="0">
              <a:solidFill>
                <a:schemeClr val="accent1"/>
              </a:solidFill>
              <a:latin typeface="Segoe Print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75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Interpreting a Confidence Interval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6" y="1524000"/>
            <a:ext cx="6163994" cy="5334000"/>
          </a:xfrm>
        </p:spPr>
        <p:txBody>
          <a:bodyPr>
            <a:normAutofit/>
          </a:bodyPr>
          <a:lstStyle/>
          <a:p>
            <a:r>
              <a:rPr lang="en-US" dirty="0"/>
              <a:t>95% of all samples yield intervals that contain the true parameter, so we say we are “95% sure” or “95% confident” that one interval contains the truth. </a:t>
            </a:r>
            <a:endParaRPr lang="en-US" dirty="0" smtClean="0"/>
          </a:p>
          <a:p>
            <a:r>
              <a:rPr lang="en-US" i="1" dirty="0" smtClean="0"/>
              <a:t>“We are 95% confident that the true proportion of all Americans that considered the economy a ‘top priority’ in January 2012 is between 0.84 and 0.88”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462520"/>
            <a:ext cx="2711672" cy="538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949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990600" y="228600"/>
            <a:ext cx="8153400" cy="9906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1600200"/>
            <a:ext cx="5638800" cy="3352800"/>
          </a:xfrm>
        </p:spPr>
        <p:txBody>
          <a:bodyPr>
            <a:normAutofit/>
          </a:bodyPr>
          <a:lstStyle/>
          <a:p>
            <a:pPr marL="411480" indent="-514350">
              <a:buClr>
                <a:schemeClr val="accent2">
                  <a:lumMod val="75000"/>
                </a:schemeClr>
              </a:buClr>
              <a:buSzPct val="85000"/>
              <a:buFont typeface="+mj-lt"/>
              <a:buAutoNum type="alphaUcPeriod"/>
              <a:defRPr/>
            </a:pPr>
            <a:r>
              <a:rPr lang="en-US" sz="3000" dirty="0" smtClean="0"/>
              <a:t>“we are 95% sure the interval contains the parameter” </a:t>
            </a:r>
            <a:endParaRPr lang="en-US" sz="3000" dirty="0"/>
          </a:p>
          <a:p>
            <a:pPr marL="411480" indent="-514350">
              <a:buClr>
                <a:schemeClr val="accent2">
                  <a:lumMod val="75000"/>
                </a:schemeClr>
              </a:buClr>
              <a:buSzPct val="85000"/>
              <a:buFont typeface="+mj-lt"/>
              <a:buAutoNum type="alphaUcPeriod"/>
              <a:defRPr/>
            </a:pPr>
            <a:r>
              <a:rPr lang="en-US" sz="3000" dirty="0"/>
              <a:t> “there is a 95% chance the interval contains the parameter”</a:t>
            </a:r>
          </a:p>
          <a:p>
            <a:pPr marL="411480" indent="-514350">
              <a:buClr>
                <a:schemeClr val="accent2">
                  <a:lumMod val="75000"/>
                </a:schemeClr>
              </a:buClr>
              <a:buSzPct val="85000"/>
              <a:buFont typeface="+mj-lt"/>
              <a:buAutoNum type="alphaUcPeriod"/>
              <a:defRPr/>
            </a:pPr>
            <a:r>
              <a:rPr lang="en-US" sz="3000" dirty="0"/>
              <a:t> Both </a:t>
            </a:r>
            <a:r>
              <a:rPr lang="en-US" sz="3000" dirty="0" smtClean="0"/>
              <a:t>A </a:t>
            </a:r>
            <a:r>
              <a:rPr lang="en-US" sz="3000" dirty="0"/>
              <a:t>and B</a:t>
            </a:r>
          </a:p>
          <a:p>
            <a:pPr marL="411480" indent="-514350">
              <a:buClr>
                <a:schemeClr val="accent2">
                  <a:lumMod val="75000"/>
                </a:schemeClr>
              </a:buClr>
              <a:buSzPct val="85000"/>
              <a:buFont typeface="+mj-lt"/>
              <a:buAutoNum type="alphaUcPeriod"/>
              <a:defRPr/>
            </a:pPr>
            <a:r>
              <a:rPr lang="en-US" sz="3000" dirty="0"/>
              <a:t> Neither </a:t>
            </a:r>
            <a:r>
              <a:rPr lang="en-US" sz="3000" dirty="0" smtClean="0"/>
              <a:t>A nor B</a:t>
            </a:r>
            <a:endParaRPr lang="en-US" sz="3000" dirty="0"/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9808" y="76200"/>
            <a:ext cx="9134192" cy="1752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indent="-342900">
              <a:defRPr/>
            </a:pPr>
            <a:r>
              <a:rPr lang="en-US" sz="3600" b="1" dirty="0">
                <a:solidFill>
                  <a:schemeClr val="tx2"/>
                </a:solidFill>
                <a:latin typeface="+mj-lt"/>
              </a:rPr>
              <a:t>Which of the following is an appropriate interpretation for a 95% confidence interval: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28107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://eecoy.com/sites/default/files/cautionary_warning_--_caution_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0020"/>
            <a:ext cx="868017" cy="761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   Common Misinterpretations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Misinterpretation 1:</a:t>
            </a:r>
            <a:r>
              <a:rPr lang="en-US" dirty="0"/>
              <a:t> “A 95% confidence interval contains 95% of the data in the population”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Misinterpretation 2:</a:t>
            </a:r>
            <a:r>
              <a:rPr lang="en-US" dirty="0"/>
              <a:t> “I am 95% sure that the mean of a sample will fall within a 95% confidence interval for the mean”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Misinterpretation 3:</a:t>
            </a:r>
            <a:r>
              <a:rPr lang="en-US" dirty="0"/>
              <a:t> “The probability that the population parameter is in this particular 95% confidence interval is 0.95”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7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7463"/>
            <a:ext cx="9144000" cy="2801937"/>
          </a:xfrm>
        </p:spPr>
        <p:txBody>
          <a:bodyPr>
            <a:noAutofit/>
          </a:bodyPr>
          <a:lstStyle/>
          <a:p>
            <a:r>
              <a:rPr lang="en-US" sz="3600" dirty="0"/>
              <a:t>A 98% confidence interval for mean pulse rate is 65 to 71.  The interpretation “I am 98% sure that all students will have pulse rates between 65 and 71.” is 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590800"/>
            <a:ext cx="4495800" cy="4267200"/>
          </a:xfrm>
        </p:spPr>
        <p:txBody>
          <a:bodyPr/>
          <a:lstStyle/>
          <a:p>
            <a:pPr marL="514350" indent="-514350">
              <a:buFont typeface="Wingdings"/>
              <a:buAutoNum type="alphaUcPeriod"/>
            </a:pPr>
            <a:r>
              <a:rPr lang="en-US" dirty="0" smtClean="0"/>
              <a:t>Correct</a:t>
            </a:r>
            <a:endParaRPr lang="en-US" dirty="0"/>
          </a:p>
          <a:p>
            <a:pPr marL="514350" indent="-514350">
              <a:buFont typeface="Wingdings"/>
              <a:buAutoNum type="alphaUcPeriod"/>
            </a:pPr>
            <a:r>
              <a:rPr lang="en-US" dirty="0" smtClean="0"/>
              <a:t>Incorrect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048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26406" y="381000"/>
            <a:ext cx="9144000" cy="2590800"/>
          </a:xfrm>
        </p:spPr>
        <p:txBody>
          <a:bodyPr>
            <a:noAutofit/>
          </a:bodyPr>
          <a:lstStyle/>
          <a:p>
            <a:r>
              <a:rPr lang="en-US" sz="3600" dirty="0"/>
              <a:t>A 98% confidence interval for mean pulse rate is 65 to 71.  The interpretation “I am 98% sure that the mean pulse rate for this sample of students will fall between 65 and 71” is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628900"/>
            <a:ext cx="4038600" cy="2362200"/>
          </a:xfrm>
        </p:spPr>
        <p:txBody>
          <a:bodyPr/>
          <a:lstStyle/>
          <a:p>
            <a:pPr marL="514350" indent="-514350">
              <a:buFont typeface="Wingdings"/>
              <a:buAutoNum type="alphaUcPeriod"/>
            </a:pPr>
            <a:r>
              <a:rPr lang="en-US" dirty="0" smtClean="0"/>
              <a:t>Correct</a:t>
            </a:r>
            <a:endParaRPr lang="en-US" dirty="0"/>
          </a:p>
          <a:p>
            <a:pPr marL="514350" indent="-514350">
              <a:buFont typeface="Wingdings"/>
              <a:buAutoNum type="alphaUcPeriod"/>
            </a:pPr>
            <a:r>
              <a:rPr lang="en-US" dirty="0" smtClean="0"/>
              <a:t>Incorrect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121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5588" cy="2590800"/>
          </a:xfrm>
        </p:spPr>
        <p:txBody>
          <a:bodyPr>
            <a:noAutofit/>
          </a:bodyPr>
          <a:lstStyle/>
          <a:p>
            <a:r>
              <a:rPr lang="en-US" sz="3600" dirty="0"/>
              <a:t>A 98% confidence interval for mean pulse rate is 65 to 71.  The interpretation “I am 98% sure that the mean pulse rate for the population of all students will fall between 65 and 71” is 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743200"/>
            <a:ext cx="5257800" cy="1676400"/>
          </a:xfrm>
        </p:spPr>
        <p:txBody>
          <a:bodyPr/>
          <a:lstStyle/>
          <a:p>
            <a:pPr marL="514350" indent="-514350">
              <a:buFont typeface="Wingdings"/>
              <a:buAutoNum type="alphaUcPeriod"/>
            </a:pPr>
            <a:r>
              <a:rPr lang="en-US" dirty="0" smtClean="0"/>
              <a:t>Correct</a:t>
            </a:r>
            <a:endParaRPr lang="en-US" dirty="0"/>
          </a:p>
          <a:p>
            <a:pPr marL="514350" indent="-514350">
              <a:buFont typeface="Wingdings"/>
              <a:buAutoNum type="alphaUcPeriod"/>
            </a:pPr>
            <a:r>
              <a:rPr lang="en-US" dirty="0" smtClean="0"/>
              <a:t>Incorrect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43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Brief Review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loud"/>
          <p:cNvSpPr>
            <a:spLocks noChangeAspect="1" noEditPoints="1" noChangeArrowheads="1"/>
          </p:cNvSpPr>
          <p:nvPr/>
        </p:nvSpPr>
        <p:spPr bwMode="auto">
          <a:xfrm>
            <a:off x="380999" y="1017104"/>
            <a:ext cx="2590801" cy="1735806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838200" y="1474304"/>
            <a:ext cx="175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tx1"/>
                </a:solidFill>
              </a:rPr>
              <a:t>Population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4219268" y="1532397"/>
            <a:ext cx="1083469" cy="440406"/>
            <a:chOff x="3984" y="3120"/>
            <a:chExt cx="1302" cy="804"/>
          </a:xfrm>
        </p:grpSpPr>
        <p:sp>
          <p:nvSpPr>
            <p:cNvPr id="14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4038" y="3120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3" name="Right Arrow 2"/>
          <p:cNvSpPr/>
          <p:nvPr/>
        </p:nvSpPr>
        <p:spPr>
          <a:xfrm>
            <a:off x="2667000" y="1474304"/>
            <a:ext cx="14478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7"/>
          <p:cNvGrpSpPr>
            <a:grpSpLocks/>
          </p:cNvGrpSpPr>
          <p:nvPr/>
        </p:nvGrpSpPr>
        <p:grpSpPr bwMode="auto">
          <a:xfrm>
            <a:off x="4267200" y="2253098"/>
            <a:ext cx="1083469" cy="440406"/>
            <a:chOff x="3984" y="3120"/>
            <a:chExt cx="1302" cy="804"/>
          </a:xfrm>
        </p:grpSpPr>
        <p:sp>
          <p:nvSpPr>
            <p:cNvPr id="20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Text Box 7"/>
            <p:cNvSpPr txBox="1">
              <a:spLocks noChangeArrowheads="1"/>
            </p:cNvSpPr>
            <p:nvPr/>
          </p:nvSpPr>
          <p:spPr bwMode="auto">
            <a:xfrm>
              <a:off x="4038" y="3120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23" name="Right Arrow 22"/>
          <p:cNvSpPr/>
          <p:nvPr/>
        </p:nvSpPr>
        <p:spPr>
          <a:xfrm rot="2400000">
            <a:off x="2609772" y="2481560"/>
            <a:ext cx="14478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 rot="1200000">
            <a:off x="2815219" y="2019732"/>
            <a:ext cx="14478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17"/>
          <p:cNvGrpSpPr>
            <a:grpSpLocks/>
          </p:cNvGrpSpPr>
          <p:nvPr/>
        </p:nvGrpSpPr>
        <p:grpSpPr bwMode="auto">
          <a:xfrm>
            <a:off x="3886200" y="2938898"/>
            <a:ext cx="1083469" cy="440406"/>
            <a:chOff x="3984" y="3120"/>
            <a:chExt cx="1302" cy="804"/>
          </a:xfrm>
        </p:grpSpPr>
        <p:sp>
          <p:nvSpPr>
            <p:cNvPr id="26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Text Box 7"/>
            <p:cNvSpPr txBox="1">
              <a:spLocks noChangeArrowheads="1"/>
            </p:cNvSpPr>
            <p:nvPr/>
          </p:nvSpPr>
          <p:spPr bwMode="auto">
            <a:xfrm>
              <a:off x="4038" y="3120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28" name="Right Arrow 27"/>
          <p:cNvSpPr/>
          <p:nvPr/>
        </p:nvSpPr>
        <p:spPr>
          <a:xfrm rot="3000000">
            <a:off x="2151372" y="2825816"/>
            <a:ext cx="14478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17"/>
          <p:cNvGrpSpPr>
            <a:grpSpLocks/>
          </p:cNvGrpSpPr>
          <p:nvPr/>
        </p:nvGrpSpPr>
        <p:grpSpPr bwMode="auto">
          <a:xfrm>
            <a:off x="3031331" y="3531704"/>
            <a:ext cx="1083469" cy="445336"/>
            <a:chOff x="3984" y="3111"/>
            <a:chExt cx="1302" cy="813"/>
          </a:xfrm>
        </p:grpSpPr>
        <p:sp>
          <p:nvSpPr>
            <p:cNvPr id="30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Text Box 7"/>
            <p:cNvSpPr txBox="1">
              <a:spLocks noChangeArrowheads="1"/>
            </p:cNvSpPr>
            <p:nvPr/>
          </p:nvSpPr>
          <p:spPr bwMode="auto">
            <a:xfrm>
              <a:off x="4038" y="3111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32" name="Right Arrow 31"/>
          <p:cNvSpPr/>
          <p:nvPr/>
        </p:nvSpPr>
        <p:spPr>
          <a:xfrm rot="4200000">
            <a:off x="1629862" y="2920415"/>
            <a:ext cx="1142586" cy="247209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17"/>
          <p:cNvGrpSpPr>
            <a:grpSpLocks/>
          </p:cNvGrpSpPr>
          <p:nvPr/>
        </p:nvGrpSpPr>
        <p:grpSpPr bwMode="auto">
          <a:xfrm>
            <a:off x="1828800" y="3593264"/>
            <a:ext cx="1083469" cy="445336"/>
            <a:chOff x="3984" y="3111"/>
            <a:chExt cx="1302" cy="813"/>
          </a:xfrm>
        </p:grpSpPr>
        <p:sp>
          <p:nvSpPr>
            <p:cNvPr id="34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Text Box 7"/>
            <p:cNvSpPr txBox="1">
              <a:spLocks noChangeArrowheads="1"/>
            </p:cNvSpPr>
            <p:nvPr/>
          </p:nvSpPr>
          <p:spPr bwMode="auto">
            <a:xfrm>
              <a:off x="4038" y="3111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36" name="Right Arrow 35"/>
          <p:cNvSpPr/>
          <p:nvPr/>
        </p:nvSpPr>
        <p:spPr>
          <a:xfrm rot="5400000">
            <a:off x="-1116" y="2768588"/>
            <a:ext cx="1295400" cy="230832"/>
          </a:xfrm>
          <a:prstGeom prst="rightArrow">
            <a:avLst/>
          </a:prstGeom>
          <a:solidFill>
            <a:schemeClr val="accent4"/>
          </a:solidFill>
          <a:ln>
            <a:prstDash val="solid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17"/>
          <p:cNvGrpSpPr>
            <a:grpSpLocks/>
          </p:cNvGrpSpPr>
          <p:nvPr/>
        </p:nvGrpSpPr>
        <p:grpSpPr bwMode="auto">
          <a:xfrm>
            <a:off x="76200" y="3579022"/>
            <a:ext cx="1083469" cy="459578"/>
            <a:chOff x="3984" y="3085"/>
            <a:chExt cx="1302" cy="839"/>
          </a:xfrm>
        </p:grpSpPr>
        <p:sp>
          <p:nvSpPr>
            <p:cNvPr id="38" name="Cloud"/>
            <p:cNvSpPr>
              <a:spLocks noChangeAspect="1" noEditPoints="1" noChangeArrowheads="1"/>
            </p:cNvSpPr>
            <p:nvPr/>
          </p:nvSpPr>
          <p:spPr bwMode="auto">
            <a:xfrm>
              <a:off x="3984" y="3120"/>
              <a:ext cx="1200" cy="8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Text Box 7"/>
            <p:cNvSpPr txBox="1">
              <a:spLocks noChangeArrowheads="1"/>
            </p:cNvSpPr>
            <p:nvPr/>
          </p:nvSpPr>
          <p:spPr bwMode="auto">
            <a:xfrm>
              <a:off x="4038" y="3085"/>
              <a:ext cx="1248" cy="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schemeClr val="tx1"/>
                  </a:solidFill>
                </a:rPr>
                <a:t>Sample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066800" y="2998304"/>
            <a:ext cx="1038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 . . .  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38487" y="4685912"/>
            <a:ext cx="19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accent1"/>
                </a:solidFill>
              </a:rPr>
              <a:t>Calculate </a:t>
            </a:r>
            <a:r>
              <a:rPr lang="en-US" sz="2800" i="1" dirty="0" smtClean="0">
                <a:solidFill>
                  <a:schemeClr val="accent1"/>
                </a:solidFill>
              </a:rPr>
              <a:t>statistic </a:t>
            </a:r>
            <a:r>
              <a:rPr lang="en-US" sz="2800" i="1" dirty="0">
                <a:solidFill>
                  <a:schemeClr val="accent1"/>
                </a:solidFill>
              </a:rPr>
              <a:t>for each </a:t>
            </a:r>
            <a:r>
              <a:rPr lang="en-US" sz="2800" i="1" dirty="0" smtClean="0">
                <a:solidFill>
                  <a:schemeClr val="accent1"/>
                </a:solidFill>
              </a:rPr>
              <a:t>sample</a:t>
            </a:r>
            <a:endParaRPr lang="en-US" sz="2800" i="1" dirty="0">
              <a:solidFill>
                <a:schemeClr val="accent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315" y="4685912"/>
            <a:ext cx="3601210" cy="2114472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2234458" y="4705697"/>
            <a:ext cx="3031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Sampling Distribution</a:t>
            </a:r>
            <a:endParaRPr lang="en-US" sz="2400" b="1" dirty="0">
              <a:solidFill>
                <a:schemeClr val="tx2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5029200" y="5267364"/>
            <a:ext cx="1143000" cy="0"/>
          </a:xfrm>
          <a:prstGeom prst="straightConnector1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10300" y="5064204"/>
            <a:ext cx="2705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Standard Error (SE): </a:t>
            </a:r>
            <a:r>
              <a:rPr lang="en-US" sz="2400" dirty="0" smtClean="0"/>
              <a:t>standard deviation of sampling distribution</a:t>
            </a:r>
            <a:endParaRPr lang="en-US" sz="2400" dirty="0"/>
          </a:p>
        </p:txBody>
      </p:sp>
      <p:cxnSp>
        <p:nvCxnSpPr>
          <p:cNvPr id="57" name="Straight Arrow Connector 56"/>
          <p:cNvCxnSpPr/>
          <p:nvPr/>
        </p:nvCxnSpPr>
        <p:spPr>
          <a:xfrm flipH="1" flipV="1">
            <a:off x="7337597" y="4313592"/>
            <a:ext cx="8720" cy="853770"/>
          </a:xfrm>
          <a:prstGeom prst="straightConnector1">
            <a:avLst/>
          </a:prstGeom>
          <a:ln w="25400">
            <a:solidFill>
              <a:srgbClr val="F715D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916898" y="3500754"/>
            <a:ext cx="3150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715DC"/>
                </a:solidFill>
              </a:rPr>
              <a:t>Margin of Error (ME):</a:t>
            </a:r>
          </a:p>
          <a:p>
            <a:r>
              <a:rPr lang="en-US" sz="2400" dirty="0" smtClean="0"/>
              <a:t>(95% CI: ME = 2×SE)</a:t>
            </a:r>
            <a:endParaRPr lang="en-US" sz="2400" dirty="0"/>
          </a:p>
        </p:txBody>
      </p:sp>
      <p:sp>
        <p:nvSpPr>
          <p:cNvPr id="2055" name="Rectangle 2054"/>
          <p:cNvSpPr/>
          <p:nvPr/>
        </p:nvSpPr>
        <p:spPr>
          <a:xfrm>
            <a:off x="5118990" y="693938"/>
            <a:ext cx="404259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 smtClean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Confidence </a:t>
            </a:r>
            <a:r>
              <a:rPr lang="en-US" sz="3600" b="1" dirty="0" smtClean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Interval:</a:t>
            </a:r>
            <a:endParaRPr lang="en-US" sz="3600" b="1" cap="none" spc="0" dirty="0">
              <a:ln w="11430"/>
              <a:solidFill>
                <a:srgbClr val="00B05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117610" y="1240009"/>
            <a:ext cx="2998502" cy="5847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3200" i="1" dirty="0" smtClean="0"/>
              <a:t>statistic </a:t>
            </a:r>
            <a:r>
              <a:rPr lang="en-US" sz="3200" dirty="0" smtClean="0"/>
              <a:t>±</a:t>
            </a:r>
            <a:r>
              <a:rPr lang="en-US" sz="3200" i="1" dirty="0" smtClean="0"/>
              <a:t> ME</a:t>
            </a:r>
          </a:p>
        </p:txBody>
      </p:sp>
      <p:sp>
        <p:nvSpPr>
          <p:cNvPr id="2066" name="Bent-Up Arrow 2065"/>
          <p:cNvSpPr/>
          <p:nvPr/>
        </p:nvSpPr>
        <p:spPr>
          <a:xfrm>
            <a:off x="5350669" y="1667895"/>
            <a:ext cx="1656723" cy="313778"/>
          </a:xfrm>
          <a:prstGeom prst="bentUpArrow">
            <a:avLst/>
          </a:prstGeom>
          <a:solidFill>
            <a:srgbClr val="FFC000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909288" y="4105318"/>
            <a:ext cx="1196044" cy="6594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0" name="Down Arrow 2079"/>
          <p:cNvSpPr/>
          <p:nvPr/>
        </p:nvSpPr>
        <p:spPr>
          <a:xfrm rot="900000" flipV="1">
            <a:off x="7726063" y="1722843"/>
            <a:ext cx="193623" cy="1831494"/>
          </a:xfrm>
          <a:prstGeom prst="downArrow">
            <a:avLst/>
          </a:prstGeom>
          <a:solidFill>
            <a:srgbClr val="F715DC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4685129" y="1997539"/>
            <a:ext cx="166227" cy="26211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3679366" y="4105318"/>
            <a:ext cx="35378" cy="4663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956994" y="2562284"/>
            <a:ext cx="144411" cy="20093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4491967" y="3313631"/>
            <a:ext cx="73102" cy="12691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395057" y="4178879"/>
            <a:ext cx="195743" cy="4039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9141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6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100"/>
                            </p:stCondLst>
                            <p:childTnLst>
                              <p:par>
                                <p:cTn id="81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6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1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6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1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76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1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1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1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00" autoRev="1" fill="remove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6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1000" autoRev="1" fill="remove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utoUpdateAnimBg="0"/>
      <p:bldP spid="3" grpId="0" animBg="1"/>
      <p:bldP spid="23" grpId="0" animBg="1"/>
      <p:bldP spid="24" grpId="0" animBg="1"/>
      <p:bldP spid="28" grpId="0" animBg="1"/>
      <p:bldP spid="32" grpId="0" animBg="1"/>
      <p:bldP spid="36" grpId="0" animBg="1"/>
      <p:bldP spid="4" grpId="0"/>
      <p:bldP spid="9" grpId="0"/>
      <p:bldP spid="43" grpId="0"/>
      <p:bldP spid="53" grpId="0"/>
      <p:bldP spid="58" grpId="0"/>
      <p:bldP spid="2055" grpId="0"/>
      <p:bldP spid="74" grpId="0"/>
      <p:bldP spid="2066" grpId="0" animBg="1"/>
      <p:bldP spid="208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Summary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524000"/>
            <a:ext cx="9144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kern="0" dirty="0" smtClean="0">
                <a:solidFill>
                  <a:schemeClr val="tx2"/>
                </a:solidFill>
              </a:rPr>
              <a:t> </a:t>
            </a:r>
            <a:r>
              <a:rPr lang="en-US" sz="3200" kern="0" dirty="0" smtClean="0">
                <a:solidFill>
                  <a:schemeClr val="accent6">
                    <a:lumMod val="50000"/>
                  </a:schemeClr>
                </a:solidFill>
              </a:rPr>
              <a:t>To create a plausible range of values for a parameter:</a:t>
            </a:r>
          </a:p>
          <a:p>
            <a:pPr marL="914400" lvl="1" indent="-457200">
              <a:buClr>
                <a:schemeClr val="accent2"/>
              </a:buClr>
              <a:buSzPct val="70000"/>
              <a:buFont typeface="Courier New" pitchFamily="49" charset="0"/>
              <a:buChar char="o"/>
              <a:defRPr/>
            </a:pPr>
            <a:r>
              <a:rPr lang="en-US" sz="3200" kern="0" dirty="0" smtClean="0">
                <a:solidFill>
                  <a:schemeClr val="accent6">
                    <a:lumMod val="50000"/>
                  </a:schemeClr>
                </a:solidFill>
              </a:rPr>
              <a:t> Take many random samples of the same size from the population, and compute the sample statistic for each sample</a:t>
            </a:r>
          </a:p>
          <a:p>
            <a:pPr marL="914400" lvl="1" indent="-457200">
              <a:buClr>
                <a:schemeClr val="accent2"/>
              </a:buClr>
              <a:buSzPct val="70000"/>
              <a:buFont typeface="Courier New" pitchFamily="49" charset="0"/>
              <a:buChar char="o"/>
              <a:defRPr/>
            </a:pPr>
            <a:r>
              <a:rPr lang="en-US" sz="3200" kern="0" dirty="0" smtClean="0">
                <a:solidFill>
                  <a:schemeClr val="accent6">
                    <a:lumMod val="50000"/>
                  </a:schemeClr>
                </a:solidFill>
              </a:rPr>
              <a:t> Compute the standard error as the standard deviation of all these statistics</a:t>
            </a:r>
          </a:p>
          <a:p>
            <a:pPr marL="914400" lvl="1" indent="-457200">
              <a:buClr>
                <a:schemeClr val="accent2"/>
              </a:buClr>
              <a:buSzPct val="70000"/>
              <a:buFont typeface="Courier New" pitchFamily="49" charset="0"/>
              <a:buChar char="o"/>
              <a:defRPr/>
            </a:pPr>
            <a:r>
              <a:rPr lang="en-US" sz="3200" kern="0" dirty="0" smtClean="0">
                <a:solidFill>
                  <a:schemeClr val="accent6">
                    <a:lumMod val="50000"/>
                  </a:schemeClr>
                </a:solidFill>
              </a:rPr>
              <a:t> Use statistic </a:t>
            </a:r>
            <a:r>
              <a:rPr lang="en-US" sz="3200" kern="0" dirty="0" smtClean="0">
                <a:solidFill>
                  <a:schemeClr val="accent6">
                    <a:lumMod val="50000"/>
                  </a:schemeClr>
                </a:solidFill>
                <a:sym typeface="Symbol"/>
              </a:rPr>
              <a:t> 2SE</a:t>
            </a:r>
            <a:endParaRPr lang="en-US" sz="3200" kern="0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914400" lvl="1" indent="-457200">
              <a:buClr>
                <a:schemeClr val="accent1"/>
              </a:buClr>
              <a:buFont typeface="Arial" pitchFamily="34" charset="0"/>
              <a:buChar char="•"/>
              <a:defRPr/>
            </a:pPr>
            <a:endParaRPr lang="en-US" sz="3200" kern="0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571500" lvl="0" indent="-571500">
              <a:spcBef>
                <a:spcPts val="2400"/>
              </a:spcBef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kern="0" dirty="0" smtClean="0">
                <a:solidFill>
                  <a:schemeClr val="accent6">
                    <a:lumMod val="50000"/>
                  </a:schemeClr>
                </a:solidFill>
              </a:rPr>
              <a:t> One small problem…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55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76200" y="76200"/>
            <a:ext cx="8991600" cy="9144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Reality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372" y="1828800"/>
            <a:ext cx="86868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2400"/>
              </a:spcBef>
              <a:defRPr/>
            </a:pPr>
            <a:r>
              <a:rPr lang="en-US" sz="3200" kern="0" dirty="0" smtClean="0"/>
              <a:t>… WE ONLY HAVE ONE SAMPLE!!!!</a:t>
            </a:r>
          </a:p>
          <a:p>
            <a:pPr lvl="0">
              <a:spcBef>
                <a:spcPts val="2400"/>
              </a:spcBef>
              <a:defRPr/>
            </a:pPr>
            <a:endParaRPr lang="en-US" sz="3200" kern="0" dirty="0" smtClean="0"/>
          </a:p>
          <a:p>
            <a:pPr lvl="0">
              <a:spcBef>
                <a:spcPts val="2400"/>
              </a:spcBef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kern="0" dirty="0" smtClean="0"/>
              <a:t> How do we know how much sample statistics vary, if we only have one sample?!?</a:t>
            </a:r>
          </a:p>
          <a:p>
            <a:pPr lvl="0">
              <a:spcBef>
                <a:spcPts val="2400"/>
              </a:spcBef>
              <a:defRPr/>
            </a:pPr>
            <a:r>
              <a:rPr lang="en-US" sz="3200" kern="0" dirty="0" smtClean="0">
                <a:solidFill>
                  <a:schemeClr val="tx2"/>
                </a:solidFill>
              </a:rPr>
              <a:t>			</a:t>
            </a:r>
            <a:r>
              <a:rPr lang="en-US" sz="3200" b="1" i="1" kern="0" dirty="0" smtClean="0"/>
              <a:t>	… to be continued</a:t>
            </a:r>
          </a:p>
          <a:p>
            <a:pPr lvl="0">
              <a:spcBef>
                <a:spcPts val="2400"/>
              </a:spcBef>
              <a:defRPr/>
            </a:pPr>
            <a:endParaRPr lang="en-US" sz="3600" kern="0" dirty="0" smtClean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01938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00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0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ASKPANEKEY" val="68155a82-bf78-4561-a694-ba6a997017df"/>
  <p:tag name="EXPANDSHOWBAR" val="False"/>
  <p:tag name="TPPRESENTATIONGUID" val="ba1bb89a-dd78-4feb-b3c8-712a66d844b9"/>
  <p:tag name="WASPOLLED" val="2FC32D3BB0B442B383ACCBC7DAAABF52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6EBF268DED54431C84DF9FEFF842F094&lt;/guid&gt;&#10;        &lt;description /&gt;&#10;        &lt;date&gt;6/20/2017 9:37:22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8662ACD998E04683AB0BD62724890632&lt;/guid&gt;&#10;            &lt;repollguid&gt;EF1D149D3A114889B5FB5EC3BCC1C336&lt;/repollguid&gt;&#10;            &lt;sourceid&gt;71BEC893881942B78BC66D6966359F54&lt;/sourceid&gt;&#10;            &lt;questiontext&gt;The higher the standard error of a statistic, the _______ the uncertainty surrounding the statistic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06CB609C057E49E1BB0476EA517EE5F1&lt;/guid&gt;&#10;                    &lt;answertext&gt;higher &lt;/answertext&gt;&#10;                    &lt;valuetype&gt;0&lt;/valuetype&gt;&#10;                &lt;/answer&gt;&#10;                &lt;answer&gt;&#10;                    &lt;guid&gt;D16B5592CDCD44F89E34F27CD3686EBD&lt;/guid&gt;&#10;                    &lt;answertext&gt;lower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MOGRAPHIC" val="False"/>
  <p:tag name="SPEEDSCORING" val="False"/>
  <p:tag name="CORRECTPOINTVALUE" val="100"/>
  <p:tag name="INCORRECTPOINTVALUE" val="0"/>
  <p:tag name="ZEROBASED" val="False"/>
  <p:tag name="VALUEFORMAT" val="0%"/>
  <p:tag name="SLIDEGUID" val="A957E9C7DB074CE5879B90991184A0C3"/>
  <p:tag name="SLIDEID" val="A957E9C7DB074CE5879B90991184A0C3"/>
  <p:tag name="SLIDEORDER" val="1"/>
  <p:tag name="SLIDETYPE" val="Q"/>
  <p:tag name="QUESTIONALIAS" val="The higher the standard deviation of the sampling distribution, the _______ the margin of error."/>
  <p:tag name="ANSWERSALIAS" val=" higher|smicln| lower"/>
  <p:tag name="DELIMITERS" val="3.1"/>
  <p:tag name="TOTALRESPONSES" val="0"/>
  <p:tag name="VALUES" val="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528021E980844524B24A185150974798&lt;/guid&gt;&#10;        &lt;description /&gt;&#10;        &lt;date&gt;6/20/2017 9:34:06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FAED2459C93B46EE9477B5CDE68285C7&lt;/guid&gt;&#10;            &lt;repollguid&gt;FB942B14F72C4F3EACB032E25AD3294B&lt;/repollguid&gt;&#10;            &lt;sourceid&gt;FB20FEABEED242DF95DBB108B3CAB045&lt;/sourceid&gt;&#10;            &lt;questiontext&gt;The higher the standard deviation of the sampling distribution, the _______ the margin of error.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D83703FBFB5D46AA877201C053F65903&lt;/guid&gt;&#10;                    &lt;answertext&gt; higher&lt;/answertext&gt;&#10;                    &lt;valuetype&gt;0&lt;/valuetype&gt;&#10;                &lt;/answer&gt;&#10;                &lt;answer&gt;&#10;                    &lt;guid&gt;8AD5B791E2794AAFB443E8E237F17776&lt;/guid&gt;&#10;                    &lt;answertext&gt; lower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2"/>
  <p:tag name="TEXTLENGTH" val="14"/>
  <p:tag name="FONTSIZE" val="32"/>
  <p:tag name="BULLETTYPE" val="ppBulletArabicPeriod"/>
  <p:tag name="ANSWERTEXT" val=" higher&#10; lower"/>
  <p:tag name="ZEROBAS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  <p:tag name="SLIDEGUID" val="718ED112D81A49B38D12221E9DABE34A"/>
  <p:tag name="SLIDEID" val="718ED112D81A49B38D12221E9DABE34A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QUESTIONALIAS" val="A survey of 1,502 Americans in January 2012 found that 86% consider the economy a “top priority” for the president and congress. The standard error for this statistic is 0.01.  What is the 95% confidence interval for the true proportion of all Americans that considered the economy a “top priority” at that time?"/>
  <p:tag name="ANSWERSALIAS" val="(0.85, 0.87)|smicln|(0.84, 0.88)|smicln|(0.82, 0.90)"/>
  <p:tag name="TOTALRESPONSES" val="0"/>
  <p:tag name="VALUES" val="No Value|smicln|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3346E77C390A4794840459C2B14F2B48&lt;/guid&gt;&#10;        &lt;description /&gt;&#10;        &lt;date&gt;6/20/2017 9:34:06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155D523A6FA417AA81BAF1DFED4583C&lt;/guid&gt;&#10;            &lt;repollguid&gt;D2A5567E35D045E1B1FC0A10CC45C56D&lt;/repollguid&gt;&#10;            &lt;sourceid&gt;3A3E9F307D38483B9D759D851273FAB5&lt;/sourceid&gt;&#10;            &lt;questiontext&gt;A survey of 1,502 Americans in January 2012 found that 86% consider the economy a “top priority” for the president and congress. The standard error for this statistic is 0.01. What is the 95% confidence interval for the true proportion of all Americans that considered the economy a “top priority” at that time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DE8672911D9E424B87BDEEBA496BED77&lt;/guid&gt;&#10;                    &lt;answertext&gt;(0.85, 0.87)&lt;/answertext&gt;&#10;                    &lt;valuetype&gt;0&lt;/valuetype&gt;&#10;                &lt;/answer&gt;&#10;                &lt;answer&gt;&#10;                    &lt;guid&gt;7AEE01CFBCF04DEC9C9BC474D1316CC4&lt;/guid&gt;&#10;                    &lt;answertext&gt;(0.84, 0.88)&lt;/answertext&gt;&#10;                    &lt;valuetype&gt;0&lt;/valuetype&gt;&#10;                &lt;/answer&gt;&#10;                &lt;answer&gt;&#10;                    &lt;guid&gt;03475D3BDE69453DB6F382D21FBE4BE2&lt;/guid&gt;&#10;                    &lt;answertext&gt;(0.82, 0.90)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3"/>
  <p:tag name="TEXTLENGTH" val="38"/>
  <p:tag name="FONTSIZE" val="36"/>
  <p:tag name="BULLETTYPE" val="ppBulletArabicPeriod"/>
  <p:tag name="ANSWERTEXT" val="(0.85, 0.87)&#10;(0.84, 0.88)&#10;(0.82, 0.90)"/>
  <p:tag name="ZEROBASED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TYPE" val="MultiChoiceSlide"/>
  <p:tag name="TPQUESTIONXML" val="﻿&lt;?xml version=&quot;1.0&quot; encoding=&quot;utf-8&quot;?&gt;&#10;&lt;questionlist&gt;&#10;    &lt;properties&gt;&#10;        &lt;guid&gt;A7B3E22EF4FF4649B8D428A0B81629E9&lt;/guid&gt;&#10;        &lt;description /&gt;&#10;        &lt;date&gt;6/20/2017 10:02:41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DB21B90CC766452BBA9CEDADC0D53BB8&lt;/guid&gt;&#10;            &lt;repollguid&gt;DAAF99BCA77847E9A891E2E7D6430E28&lt;/repollguid&gt;&#10;            &lt;sourceid&gt;20B16946F0334321B70B4DA5A03EA4D0&lt;/sourceid&gt;&#10;            &lt;questiontext&gt;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EBD5765B1C1A4CF086C8A5CE091C2658&lt;/guid&gt;&#10;                    &lt;answertext&gt;“we are 95% sure the interval contains the parameter” &lt;/answertext&gt;&#10;                    &lt;valuetype&gt;0&lt;/valuetype&gt;&#10;                &lt;/answer&gt;&#10;                &lt;answer&gt;&#10;                    &lt;guid&gt;989C2DAC5AB048AE85E4E5998C37D417&lt;/guid&gt;&#10;                    &lt;answertext&gt; “there is a 95% chance the interval contains the parameter”&lt;/answertext&gt;&#10;                    &lt;valuetype&gt;0&lt;/valuetype&gt;&#10;                &lt;/answer&gt;&#10;                &lt;answer&gt;&#10;                    &lt;guid&gt;72AE6150B56045F2B94ABAE89313DC47&lt;/guid&gt;&#10;                    &lt;answertext&gt; Both A and B&lt;/answertext&gt;&#10;                    &lt;valuetype&gt;0&lt;/valuetype&gt;&#10;                &lt;/answer&gt;&#10;                &lt;answer&gt;&#10;                    &lt;guid&gt;935CA10A2E294C299517E7D29AE3CEDC&lt;/guid&gt;&#10;                    &lt;answertext&gt; Neither A nor B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6A567F9E97B542B1BDA4B07885F7D65B&lt;/guid&gt;&#10;        &lt;description /&gt;&#10;        &lt;date&gt;6/20/2017 10:13:29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E0C20442D20499D8B2F148654B700BA&lt;/guid&gt;&#10;            &lt;repollguid&gt;AB36322D37B14DD7B9B710E55A0B4BD0&lt;/repollguid&gt;&#10;            &lt;sourceid&gt;B179206AA90A47DC9D8C6915EFDB8ADF&lt;/sourceid&gt;&#10;            &lt;questiontext&gt;A 98% confidence interval for mean pulse rate is 65 to 71.  The interpretation “I am 98% sure that all students will have pulse rates between 65 and 71.” is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536EDF792E7D427F9FAC33F0CA01EFFC&lt;/guid&gt;&#10;                    &lt;answertext&gt;Correct&lt;/answertext&gt;&#10;                    &lt;valuetype&gt;0&lt;/valuetype&gt;&#10;                &lt;/answer&gt;&#10;                &lt;answer&gt;&#10;                    &lt;guid&gt;68E45764F311459E8A66D72F511A15B6&lt;/guid&gt;&#10;                    &lt;answertext&gt;Incorrect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AE846C17015B45F49806385096249554&lt;/guid&gt;&#10;        &lt;description /&gt;&#10;        &lt;date&gt;6/20/2017 10:16:3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18B1D88D01714C8B87CF4D315F2B1201&lt;/guid&gt;&#10;            &lt;repollguid&gt;111729FE8A444CEB859654DE8E4BEBD4&lt;/repollguid&gt;&#10;            &lt;sourceid&gt;AB6C2B11F84547FB9690426406099966&lt;/sourceid&gt;&#10;            &lt;questiontext&gt;A 98% confidence interval for mean pulse rate is 65 to 71.  The interpretation “I am 98% sure that the mean pulse rate for this sample of students will fall between 65 and 71” is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D2856AE8AFD74B42AA2F5FB6A5CDB212&lt;/guid&gt;&#10;                    &lt;answertext&gt;Correct&lt;/answertext&gt;&#10;                    &lt;valuetype&gt;0&lt;/valuetype&gt;&#10;                &lt;/answer&gt;&#10;                &lt;answer&gt;&#10;                    &lt;guid&gt;50C97647547848548B9E772AFCC1613C&lt;/guid&gt;&#10;                    &lt;answertext&gt;Incorrect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2BA69BA859B74488B5A984109C529550&lt;/guid&gt;&#10;        &lt;description /&gt;&#10;        &lt;date&gt;6/20/2017 10:20:29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6554A0E8BBE244C1A3EA8C245F9AD099&lt;/guid&gt;&#10;            &lt;repollguid&gt;E267F254A03F4EE2A544F6F631CCA7FC&lt;/repollguid&gt;&#10;            &lt;sourceid&gt;2749E57E08AA4A469DD8D6F7374321C5&lt;/sourceid&gt;&#10;            &lt;questiontext&gt;A 98% confidence interval for mean pulse rate is 65 to 71.  The interpretation “I am 98% sure that the mean pulse rate for the population of all students will fall between 65 and 71” is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884FB98FC4F45E9BD1CD5812B192881&lt;/guid&gt;&#10;                    &lt;answertext&gt;Correct&lt;/answertext&gt;&#10;                    &lt;valuetype&gt;0&lt;/valuetype&gt;&#10;                &lt;/answer&gt;&#10;                &lt;answer&gt;&#10;                    &lt;guid&gt;96CAD9396432494EBAE79DD5DA67F445&lt;/guid&gt;&#10;                    &lt;answertext&gt;Incorrect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2756</TotalTime>
  <Words>968</Words>
  <Application>Microsoft Office PowerPoint</Application>
  <PresentationFormat>On-screen Show (4:3)</PresentationFormat>
  <Paragraphs>106</Paragraphs>
  <Slides>22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Median</vt:lpstr>
      <vt:lpstr>PowerPoint Presentation</vt:lpstr>
      <vt:lpstr>The higher the standard error of a statistic, the _______ the uncertainty surrounding the statistic.</vt:lpstr>
      <vt:lpstr>Interval Estimate</vt:lpstr>
      <vt:lpstr>Margin of Error</vt:lpstr>
      <vt:lpstr>Text Messages</vt:lpstr>
      <vt:lpstr>Election Polling</vt:lpstr>
      <vt:lpstr>Interval Estimate</vt:lpstr>
      <vt:lpstr>Margin of Error</vt:lpstr>
      <vt:lpstr>The higher the standard deviation of the sampling distribution, the _______ the margin of error.</vt:lpstr>
      <vt:lpstr>Confidence Interval</vt:lpstr>
      <vt:lpstr>Confidence Intervals: Hollywood Movies (Comedies)</vt:lpstr>
      <vt:lpstr>95% Confidence Interval</vt:lpstr>
      <vt:lpstr>A survey of 1,502 Americans in January 2012 found that 86% consider the economy a “top priority” for the president and congress. The standard error for this statistic is 0.01.  What is the 95% confidence interval for the true proportion of all Americans that considered the economy a “top priority” at that time?</vt:lpstr>
      <vt:lpstr>Interpreting a Confidence Interval</vt:lpstr>
      <vt:lpstr> </vt:lpstr>
      <vt:lpstr>   Common Misinterpretations</vt:lpstr>
      <vt:lpstr>A 98% confidence interval for mean pulse rate is 65 to 71.  The interpretation “I am 98% sure that all students will have pulse rates between 65 and 71.” is </vt:lpstr>
      <vt:lpstr>A 98% confidence interval for mean pulse rate is 65 to 71.  The interpretation “I am 98% sure that the mean pulse rate for this sample of students will fall between 65 and 71” is  </vt:lpstr>
      <vt:lpstr>A 98% confidence interval for mean pulse rate is 65 to 71.  The interpretation “I am 98% sure that the mean pulse rate for the population of all students will fall between 65 and 71” is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Dobeck</dc:creator>
  <cp:lastModifiedBy>Nadezhda Berezyuk</cp:lastModifiedBy>
  <cp:revision>69</cp:revision>
  <dcterms:created xsi:type="dcterms:W3CDTF">2012-12-24T20:14:58Z</dcterms:created>
  <dcterms:modified xsi:type="dcterms:W3CDTF">2019-09-18T10:45:12Z</dcterms:modified>
</cp:coreProperties>
</file>