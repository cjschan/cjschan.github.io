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33"/>
  </p:notesMasterIdLst>
  <p:handoutMasterIdLst>
    <p:handoutMasterId r:id="rId34"/>
  </p:handoutMasterIdLst>
  <p:sldIdLst>
    <p:sldId id="550" r:id="rId2"/>
    <p:sldId id="551" r:id="rId3"/>
    <p:sldId id="552" r:id="rId4"/>
    <p:sldId id="553" r:id="rId5"/>
    <p:sldId id="554" r:id="rId6"/>
    <p:sldId id="555" r:id="rId7"/>
    <p:sldId id="556" r:id="rId8"/>
    <p:sldId id="557" r:id="rId9"/>
    <p:sldId id="558" r:id="rId10"/>
    <p:sldId id="559" r:id="rId11"/>
    <p:sldId id="560" r:id="rId12"/>
    <p:sldId id="561" r:id="rId13"/>
    <p:sldId id="579" r:id="rId14"/>
    <p:sldId id="563" r:id="rId15"/>
    <p:sldId id="564" r:id="rId16"/>
    <p:sldId id="580" r:id="rId17"/>
    <p:sldId id="581" r:id="rId18"/>
    <p:sldId id="582" r:id="rId19"/>
    <p:sldId id="569" r:id="rId20"/>
    <p:sldId id="584" r:id="rId21"/>
    <p:sldId id="570" r:id="rId22"/>
    <p:sldId id="571" r:id="rId23"/>
    <p:sldId id="585" r:id="rId24"/>
    <p:sldId id="573" r:id="rId25"/>
    <p:sldId id="586" r:id="rId26"/>
    <p:sldId id="575" r:id="rId27"/>
    <p:sldId id="519" r:id="rId28"/>
    <p:sldId id="587" r:id="rId29"/>
    <p:sldId id="588" r:id="rId30"/>
    <p:sldId id="589" r:id="rId31"/>
    <p:sldId id="578" r:id="rId32"/>
  </p:sldIdLst>
  <p:sldSz cx="9144000" cy="6858000" type="screen4x3"/>
  <p:notesSz cx="9144000" cy="6858000"/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392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-1668" y="-8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3096448"/>
        <c:axId val="183097984"/>
        <c:axId val="134219072"/>
      </c:bar3DChart>
      <c:catAx>
        <c:axId val="183096448"/>
        <c:scaling>
          <c:orientation val="minMax"/>
        </c:scaling>
        <c:delete val="0"/>
        <c:axPos val="b"/>
        <c:majorTickMark val="out"/>
        <c:minorTickMark val="none"/>
        <c:tickLblPos val="nextTo"/>
        <c:crossAx val="183097984"/>
        <c:crosses val="autoZero"/>
        <c:auto val="1"/>
        <c:lblAlgn val="ctr"/>
        <c:lblOffset val="100"/>
        <c:noMultiLvlLbl val="0"/>
      </c:catAx>
      <c:valAx>
        <c:axId val="1830979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3096448"/>
        <c:crosses val="autoZero"/>
        <c:crossBetween val="between"/>
      </c:valAx>
      <c:serAx>
        <c:axId val="134219072"/>
        <c:scaling>
          <c:orientation val="minMax"/>
        </c:scaling>
        <c:delete val="0"/>
        <c:axPos val="b"/>
        <c:majorTickMark val="out"/>
        <c:minorTickMark val="none"/>
        <c:tickLblPos val="nextTo"/>
        <c:crossAx val="183097984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BB865-94D5-44A7-8F82-4E64D6D6A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4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67C79-64E9-4335-B4EA-57E560B50D70}" type="datetimeFigureOut">
              <a:rPr lang="en-US" smtClean="0"/>
              <a:t>7/31/2017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2C3D7-1610-45B0-8C83-57ADD282B1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129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Show in </a:t>
            </a:r>
            <a:r>
              <a:rPr lang="en-US" dirty="0" err="1" smtClean="0"/>
              <a:t>StatKey</a:t>
            </a:r>
            <a:r>
              <a:rPr lang="en-US" dirty="0" smtClean="0"/>
              <a:t> or technology</a:t>
            </a:r>
            <a:r>
              <a:rPr lang="en-US" baseline="0" dirty="0" smtClean="0"/>
              <a:t> </a:t>
            </a:r>
            <a:r>
              <a:rPr lang="en-US" baseline="0" smtClean="0"/>
              <a:t>of choice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2C3D7-1610-45B0-8C83-57ADD282B1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9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2C3D7-1610-45B0-8C83-57ADD282B17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975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idx="1"/>
          </p:nvPr>
        </p:nvSpPr>
        <p:spPr>
          <a:xfrm>
            <a:off x="301752" y="1066800"/>
            <a:ext cx="8534400" cy="49530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 sz="3200"/>
            </a:lvl1pPr>
            <a:lvl2pPr>
              <a:spcBef>
                <a:spcPts val="0"/>
              </a:spcBef>
              <a:spcAft>
                <a:spcPts val="1800"/>
              </a:spcAft>
              <a:defRPr sz="2800"/>
            </a:lvl2pPr>
            <a:lvl3pPr>
              <a:spcBef>
                <a:spcPts val="0"/>
              </a:spcBef>
              <a:spcAft>
                <a:spcPts val="1800"/>
              </a:spcAft>
              <a:defRPr sz="2400"/>
            </a:lvl3pPr>
            <a:lvl4pPr>
              <a:spcBef>
                <a:spcPts val="0"/>
              </a:spcBef>
              <a:spcAft>
                <a:spcPts val="1800"/>
              </a:spcAft>
              <a:defRPr sz="2000"/>
            </a:lvl4pPr>
            <a:lvl5pPr>
              <a:spcBef>
                <a:spcPts val="0"/>
              </a:spcBef>
              <a:spcAft>
                <a:spcPts val="1800"/>
              </a:spcAft>
              <a:defRPr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90242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784" y="152400"/>
            <a:ext cx="7595616" cy="7620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4" name="Picture 2" descr="http://t3.gstatic.com/images?q=tbn:ANd9GcTYmiLh9B_aVjviHh1xZIewSwIAVBJM6GGUwjQGMknDgt1O3VWWMFpakkXX"/>
          <p:cNvPicPr>
            <a:picLocks noChangeAspect="1" noChangeArrowheads="1"/>
          </p:cNvPicPr>
          <p:nvPr userDrawn="1"/>
        </p:nvPicPr>
        <p:blipFill>
          <a:blip r:embed="rId2" cstate="print"/>
          <a:srcRect t="17160" b="8480"/>
          <a:stretch>
            <a:fillRect/>
          </a:stretch>
        </p:blipFill>
        <p:spPr bwMode="auto">
          <a:xfrm>
            <a:off x="173736" y="173736"/>
            <a:ext cx="1066800" cy="990600"/>
          </a:xfrm>
          <a:prstGeom prst="rect">
            <a:avLst/>
          </a:prstGeom>
          <a:noFill/>
        </p:spPr>
      </p:pic>
      <p:sp>
        <p:nvSpPr>
          <p:cNvPr id="9" name="Text Placeholder 12"/>
          <p:cNvSpPr>
            <a:spLocks noGrp="1"/>
          </p:cNvSpPr>
          <p:nvPr>
            <p:ph idx="1"/>
          </p:nvPr>
        </p:nvSpPr>
        <p:spPr>
          <a:xfrm>
            <a:off x="301752" y="1371600"/>
            <a:ext cx="85344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1800"/>
              </a:spcAft>
              <a:defRPr sz="2800"/>
            </a:lvl2pPr>
            <a:lvl3pPr>
              <a:spcBef>
                <a:spcPts val="0"/>
              </a:spcBef>
              <a:spcAft>
                <a:spcPts val="1800"/>
              </a:spcAft>
              <a:defRPr sz="2400"/>
            </a:lvl3pPr>
            <a:lvl4pPr>
              <a:spcBef>
                <a:spcPts val="0"/>
              </a:spcBef>
              <a:spcAft>
                <a:spcPts val="1800"/>
              </a:spcAft>
              <a:defRPr sz="2000"/>
            </a:lvl4pPr>
            <a:lvl5pPr>
              <a:spcBef>
                <a:spcPts val="0"/>
              </a:spcBef>
              <a:spcAft>
                <a:spcPts val="1800"/>
              </a:spcAft>
              <a:defRPr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idx="13"/>
          </p:nvPr>
        </p:nvSpPr>
        <p:spPr>
          <a:xfrm>
            <a:off x="177280" y="3886200"/>
            <a:ext cx="8534400" cy="216103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914400" indent="0"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idx="14"/>
          </p:nvPr>
        </p:nvSpPr>
        <p:spPr>
          <a:xfrm>
            <a:off x="5181600" y="4114800"/>
            <a:ext cx="3733800" cy="2057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1pPr>
            <a:lvl2pPr marL="274320" indent="0">
              <a:buNone/>
              <a:defRPr sz="2800">
                <a:solidFill>
                  <a:schemeClr val="accent1"/>
                </a:solidFill>
                <a:latin typeface="Segoe Print" pitchFamily="2" charset="0"/>
              </a:defRPr>
            </a:lvl2pPr>
            <a:lvl3pPr marL="59436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3pPr>
            <a:lvl4pPr marL="868680" indent="0">
              <a:buNone/>
              <a:defRPr sz="2000">
                <a:solidFill>
                  <a:schemeClr val="accent1"/>
                </a:solidFill>
                <a:latin typeface="Segoe Print" pitchFamily="2" charset="0"/>
              </a:defRPr>
            </a:lvl4pPr>
            <a:lvl5pPr marL="1143000" indent="0">
              <a:buNone/>
              <a:defRPr>
                <a:solidFill>
                  <a:schemeClr val="accent1"/>
                </a:solidFill>
                <a:latin typeface="Segoe Print" pitchFamily="2" charset="0"/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8172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7312152" cy="75895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idx="1"/>
          </p:nvPr>
        </p:nvSpPr>
        <p:spPr>
          <a:xfrm>
            <a:off x="301752" y="1066800"/>
            <a:ext cx="8534400" cy="49530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/>
            </a:lvl1pPr>
            <a:lvl2pPr>
              <a:spcBef>
                <a:spcPts val="0"/>
              </a:spcBef>
              <a:spcAft>
                <a:spcPts val="1800"/>
              </a:spcAft>
              <a:defRPr/>
            </a:lvl2pPr>
            <a:lvl3pPr>
              <a:spcBef>
                <a:spcPts val="0"/>
              </a:spcBef>
              <a:spcAft>
                <a:spcPts val="1800"/>
              </a:spcAft>
              <a:defRPr/>
            </a:lvl3pPr>
            <a:lvl4pPr>
              <a:spcBef>
                <a:spcPts val="0"/>
              </a:spcBef>
              <a:spcAft>
                <a:spcPts val="1800"/>
              </a:spcAft>
              <a:defRPr/>
            </a:lvl4pPr>
            <a:lvl5pPr>
              <a:spcBef>
                <a:spcPts val="0"/>
              </a:spcBef>
              <a:spcAft>
                <a:spcPts val="1800"/>
              </a:spcAft>
              <a:defRPr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pic>
        <p:nvPicPr>
          <p:cNvPr id="8" name="Picture 2" descr="http://www.isaac-online.org/cgi-bin/symbol.cgi/committeediscuss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650" y="228600"/>
            <a:ext cx="1117598" cy="609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42830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12"/>
          <p:cNvSpPr>
            <a:spLocks noGrp="1"/>
          </p:cNvSpPr>
          <p:nvPr>
            <p:ph idx="1"/>
          </p:nvPr>
        </p:nvSpPr>
        <p:spPr>
          <a:xfrm>
            <a:off x="1257300" y="1676400"/>
            <a:ext cx="6629400" cy="1759458"/>
          </a:xfrm>
          <a:prstGeom prst="rect">
            <a:avLst/>
          </a:prstGeom>
          <a:ln w="76200" cmpd="thickThin">
            <a:solidFill>
              <a:schemeClr val="accent1"/>
            </a:solidFill>
          </a:ln>
        </p:spPr>
        <p:txBody>
          <a:bodyPr vert="horz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idx="10"/>
          </p:nvPr>
        </p:nvSpPr>
        <p:spPr>
          <a:xfrm>
            <a:off x="304800" y="3962400"/>
            <a:ext cx="8534400" cy="1219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514067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graphicFrame>
        <p:nvGraphicFramePr>
          <p:cNvPr id="6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3567866783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2159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7/31/2017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74" r:id="rId12"/>
    <p:sldLayoutId id="2147483680" r:id="rId13"/>
    <p:sldLayoutId id="2147483683" r:id="rId14"/>
    <p:sldLayoutId id="2147483684" r:id="rId15"/>
    <p:sldLayoutId id="2147483697" r:id="rId16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hereadgroup.net/wp-content/uploads/Cator-et-al.-2013-PRSB-eprint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lock5stat.com/statkey" TargetMode="Externa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hyperlink" Target="http://www.lock5stat.com/statkey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6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hyperlink" Target="http://www.lock5stat.com/statkey" TargetMode="Externa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2102427" y="1981200"/>
            <a:ext cx="70104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>
                <a:solidFill>
                  <a:srgbClr val="EBDDC3"/>
                </a:solidFill>
              </a:rPr>
              <a:t>Section </a:t>
            </a:r>
            <a:r>
              <a:rPr lang="en-US" sz="3200" dirty="0" smtClean="0">
                <a:solidFill>
                  <a:srgbClr val="EBDDC3"/>
                </a:solidFill>
              </a:rPr>
              <a:t>5.1:</a:t>
            </a:r>
            <a:endParaRPr lang="en-US" sz="3200" dirty="0">
              <a:solidFill>
                <a:srgbClr val="EBDDC3"/>
              </a:solidFill>
            </a:endParaRPr>
          </a:p>
          <a:p>
            <a:pPr>
              <a:spcBef>
                <a:spcPct val="20000"/>
              </a:spcBef>
              <a:defRPr/>
            </a:pPr>
            <a:r>
              <a:rPr lang="en-US" sz="4000" b="1" dirty="0" smtClean="0">
                <a:solidFill>
                  <a:srgbClr val="EBDDC3"/>
                </a:solidFill>
              </a:rPr>
              <a:t>Hypothesis Tests Using Normal Distributions</a:t>
            </a:r>
            <a:endParaRPr lang="en-US" sz="4000" b="1" dirty="0">
              <a:solidFill>
                <a:srgbClr val="EBDDC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62086" y="4137434"/>
            <a:ext cx="65264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BDDC3"/>
                </a:solidFill>
              </a:rPr>
              <a:t>To accompany</a:t>
            </a:r>
          </a:p>
          <a:p>
            <a:r>
              <a:rPr lang="en-US" sz="3200" b="1" i="1" u="sng" dirty="0">
                <a:solidFill>
                  <a:srgbClr val="EBDDC3"/>
                </a:solidFill>
              </a:rPr>
              <a:t>Statistics: Unlocking the Power of Data</a:t>
            </a:r>
            <a:r>
              <a:rPr lang="en-US" sz="3200" b="1" dirty="0">
                <a:solidFill>
                  <a:srgbClr val="EBDDC3"/>
                </a:solidFill>
              </a:rPr>
              <a:t> </a:t>
            </a:r>
          </a:p>
          <a:p>
            <a:r>
              <a:rPr lang="en-US" sz="2800" dirty="0">
                <a:solidFill>
                  <a:srgbClr val="EBDDC3"/>
                </a:solidFill>
              </a:rPr>
              <a:t>by Lock, Lock, Lock, Lock, and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6159819"/>
            <a:ext cx="64908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Video by: Professor Kathryn Dobeck</a:t>
            </a:r>
          </a:p>
        </p:txBody>
      </p:sp>
      <p:pic>
        <p:nvPicPr>
          <p:cNvPr id="5" name="Picture 4" descr="WILEY_LOGO_2012.eps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6286513"/>
            <a:ext cx="1143000" cy="239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1999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A Research Question</a:t>
            </a:r>
            <a:endParaRPr lang="en-US" sz="40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381000" y="1752600"/>
            <a:ext cx="8305800" cy="1828800"/>
          </a:xfrm>
          <a:prstGeom prst="roundRect">
            <a:avLst/>
          </a:prstGeom>
          <a:solidFill>
            <a:schemeClr val="bg2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</a:rPr>
              <a:t>How do Malaria parasites impact mosquito behavior?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040" y="4114800"/>
            <a:ext cx="3229319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2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Malaria Parasites and Mosquitoes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4648200"/>
          </a:xfrm>
        </p:spPr>
        <p:txBody>
          <a:bodyPr>
            <a:normAutofit fontScale="92500" lnSpcReduction="20000"/>
          </a:bodyPr>
          <a:lstStyle/>
          <a:p>
            <a:r>
              <a:rPr lang="en-US" sz="3300" dirty="0" smtClean="0"/>
              <a:t>Mosquitos were randomized to either eat from a malaria infected mouse (exposed group) or a healthy mouse (control group)</a:t>
            </a:r>
          </a:p>
          <a:p>
            <a:pPr>
              <a:spcAft>
                <a:spcPts val="0"/>
              </a:spcAft>
            </a:pPr>
            <a:r>
              <a:rPr lang="en-US" sz="3300" dirty="0" smtClean="0"/>
              <a:t>After infection, the parasites go through two stages:</a:t>
            </a:r>
          </a:p>
          <a:p>
            <a:pPr marL="788670" lvl="1" indent="-514350">
              <a:spcAft>
                <a:spcPts val="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arenR"/>
            </a:pPr>
            <a:r>
              <a:rPr lang="en-US" sz="3300" dirty="0" smtClean="0">
                <a:solidFill>
                  <a:srgbClr val="000000"/>
                </a:solidFill>
              </a:rPr>
              <a:t>Not yet infectious (Days 1-8)</a:t>
            </a:r>
          </a:p>
          <a:p>
            <a:pPr marL="788670" lvl="1" indent="-514350">
              <a:buClr>
                <a:schemeClr val="accent2">
                  <a:lumMod val="75000"/>
                </a:schemeClr>
              </a:buClr>
              <a:buFont typeface="+mj-lt"/>
              <a:buAutoNum type="arabicParenR"/>
            </a:pPr>
            <a:r>
              <a:rPr lang="en-US" sz="3300" dirty="0" smtClean="0">
                <a:solidFill>
                  <a:srgbClr val="000000"/>
                </a:solidFill>
              </a:rPr>
              <a:t>Infectious (Days 9 – 28)</a:t>
            </a:r>
          </a:p>
          <a:p>
            <a:r>
              <a:rPr lang="en-US" sz="3300" dirty="0" smtClean="0">
                <a:solidFill>
                  <a:srgbClr val="000000"/>
                </a:solidFill>
              </a:rPr>
              <a:t>Response variable: whether the mosquito approached a human (in a cage with them)</a:t>
            </a:r>
          </a:p>
          <a:p>
            <a:r>
              <a:rPr lang="en-US" sz="3300" dirty="0" smtClean="0">
                <a:solidFill>
                  <a:srgbClr val="000000"/>
                </a:solidFill>
              </a:rPr>
              <a:t>Does this behavior differ by exposed vs control?  Does it differ by infection stage?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22599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Cator</a:t>
            </a:r>
            <a:r>
              <a:rPr lang="en-US" dirty="0"/>
              <a:t> LJ, George J, </a:t>
            </a:r>
            <a:r>
              <a:rPr lang="en-US" dirty="0" err="1"/>
              <a:t>Blanford</a:t>
            </a:r>
            <a:r>
              <a:rPr lang="en-US" dirty="0"/>
              <a:t> S, Murdock CC, Baker TC, Read AF, Thomas MB. </a:t>
            </a:r>
            <a:r>
              <a:rPr lang="en-US" dirty="0" smtClean="0"/>
              <a:t>(2013). </a:t>
            </a:r>
            <a:r>
              <a:rPr lang="en-US" dirty="0">
                <a:hlinkClick r:id="rId2"/>
              </a:rPr>
              <a:t>‘</a:t>
            </a:r>
            <a:r>
              <a:rPr lang="en-US" dirty="0" smtClean="0">
                <a:hlinkClick r:id="rId2"/>
              </a:rPr>
              <a:t>Manipulation</a:t>
            </a:r>
            <a:r>
              <a:rPr lang="en-US" dirty="0">
                <a:hlinkClick r:id="rId2"/>
              </a:rPr>
              <a:t>’ </a:t>
            </a:r>
            <a:r>
              <a:rPr lang="en-US" dirty="0" smtClean="0">
                <a:hlinkClick r:id="rId2"/>
              </a:rPr>
              <a:t>without </a:t>
            </a:r>
            <a:r>
              <a:rPr lang="en-US" dirty="0">
                <a:hlinkClick r:id="rId2"/>
              </a:rPr>
              <a:t>the </a:t>
            </a:r>
            <a:r>
              <a:rPr lang="en-US" dirty="0" smtClean="0">
                <a:hlinkClick r:id="rId2"/>
              </a:rPr>
              <a:t>parasite</a:t>
            </a:r>
            <a:r>
              <a:rPr lang="en-US" dirty="0">
                <a:hlinkClick r:id="rId2"/>
              </a:rPr>
              <a:t>: altered </a:t>
            </a:r>
            <a:r>
              <a:rPr lang="en-US" dirty="0" smtClean="0">
                <a:hlinkClick r:id="rId2"/>
              </a:rPr>
              <a:t>feeding </a:t>
            </a:r>
            <a:r>
              <a:rPr lang="en-US" dirty="0" err="1" smtClean="0">
                <a:hlinkClick r:id="rId2"/>
              </a:rPr>
              <a:t>behaviour</a:t>
            </a:r>
            <a:r>
              <a:rPr lang="en-US" dirty="0" smtClean="0">
                <a:hlinkClick r:id="rId2"/>
              </a:rPr>
              <a:t> </a:t>
            </a:r>
            <a:r>
              <a:rPr lang="en-US" dirty="0">
                <a:hlinkClick r:id="rId2"/>
              </a:rPr>
              <a:t>of </a:t>
            </a:r>
            <a:r>
              <a:rPr lang="en-US" dirty="0" smtClean="0">
                <a:hlinkClick r:id="rId2"/>
              </a:rPr>
              <a:t>mosquitoes is </a:t>
            </a:r>
            <a:r>
              <a:rPr lang="en-US" dirty="0">
                <a:hlinkClick r:id="rId2"/>
              </a:rPr>
              <a:t>not dependent on </a:t>
            </a:r>
            <a:r>
              <a:rPr lang="en-US" dirty="0" smtClean="0">
                <a:hlinkClick r:id="rId2"/>
              </a:rPr>
              <a:t>infection with malaria parasites</a:t>
            </a:r>
            <a:r>
              <a:rPr lang="en-US" dirty="0"/>
              <a:t>. </a:t>
            </a:r>
            <a:r>
              <a:rPr lang="en-US" dirty="0" err="1"/>
              <a:t>Proc</a:t>
            </a:r>
            <a:r>
              <a:rPr lang="en-US" dirty="0"/>
              <a:t> R </a:t>
            </a:r>
            <a:r>
              <a:rPr lang="en-US" dirty="0" err="1"/>
              <a:t>Soc</a:t>
            </a:r>
            <a:r>
              <a:rPr lang="en-US" dirty="0"/>
              <a:t> B 280: 20130711. </a:t>
            </a:r>
          </a:p>
        </p:txBody>
      </p:sp>
    </p:spTree>
    <p:extLst>
      <p:ext uri="{BB962C8B-B14F-4D97-AF65-F5344CB8AC3E}">
        <p14:creationId xmlns:p14="http://schemas.microsoft.com/office/powerpoint/2010/main" val="333784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Malaria Parasites and Mosquitoes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sz="3200" dirty="0"/>
              <a:t>Does infecting mosquitoes with Malaria actually impact </a:t>
            </a:r>
            <a:r>
              <a:rPr lang="en-US" sz="3200" dirty="0" smtClean="0"/>
              <a:t>the mosquitoes’ behavior to favor the parasite?</a:t>
            </a:r>
            <a:endParaRPr lang="en-US" sz="3200" dirty="0"/>
          </a:p>
          <a:p>
            <a:r>
              <a:rPr lang="en-US" sz="3200" dirty="0" smtClean="0"/>
              <a:t>Malaria parasites would benefit if:</a:t>
            </a:r>
          </a:p>
          <a:p>
            <a:pPr lvl="1"/>
            <a:r>
              <a:rPr lang="en-US" sz="3200" dirty="0" smtClean="0">
                <a:solidFill>
                  <a:schemeClr val="tx1"/>
                </a:solidFill>
              </a:rPr>
              <a:t>Mosquitos approached humans less often after being exposed, but before becoming infectious, because humans are risky </a:t>
            </a:r>
          </a:p>
          <a:p>
            <a:pPr lvl="1"/>
            <a:r>
              <a:rPr lang="en-US" sz="3200" dirty="0" smtClean="0">
                <a:solidFill>
                  <a:schemeClr val="tx1"/>
                </a:solidFill>
              </a:rPr>
              <a:t>Mosquitoes approached humans more often after becoming infectious, to pass on the infection</a:t>
            </a:r>
          </a:p>
        </p:txBody>
      </p:sp>
    </p:spTree>
    <p:extLst>
      <p:ext uri="{BB962C8B-B14F-4D97-AF65-F5344CB8AC3E}">
        <p14:creationId xmlns:p14="http://schemas.microsoft.com/office/powerpoint/2010/main" val="411109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9144000" cy="2743200"/>
          </a:xfrm>
        </p:spPr>
        <p:txBody>
          <a:bodyPr>
            <a:noAutofit/>
          </a:bodyPr>
          <a:lstStyle/>
          <a:p>
            <a:r>
              <a:rPr lang="en-US" sz="3200" b="1" dirty="0"/>
              <a:t>We’ll first look at the mosquitos 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before they become infectious</a:t>
            </a:r>
            <a:r>
              <a:rPr lang="en-US" sz="3200" b="1" dirty="0"/>
              <a:t> (days 1–8).    </a:t>
            </a:r>
            <a:br>
              <a:rPr lang="en-US" sz="3200" b="1" dirty="0"/>
            </a:br>
            <a:r>
              <a:rPr lang="en-US" sz="3200" b="1" dirty="0" smtClean="0"/>
              <a:t>	</a:t>
            </a:r>
            <a:r>
              <a:rPr lang="en-US" sz="3200" b="1" i="1" dirty="0" err="1" smtClean="0"/>
              <a:t>p</a:t>
            </a:r>
            <a:r>
              <a:rPr lang="en-US" sz="3200" b="1" baseline="-25000" dirty="0" err="1" smtClean="0"/>
              <a:t>C</a:t>
            </a:r>
            <a:r>
              <a:rPr lang="en-US" sz="3200" b="1" dirty="0"/>
              <a:t>: proportion of controls to approach human</a:t>
            </a:r>
            <a:br>
              <a:rPr lang="en-US" sz="3200" b="1" dirty="0"/>
            </a:br>
            <a:r>
              <a:rPr lang="en-US" sz="3200" b="1" dirty="0" smtClean="0"/>
              <a:t>	</a:t>
            </a:r>
            <a:r>
              <a:rPr lang="en-US" sz="3200" b="1" i="1" dirty="0" err="1" smtClean="0"/>
              <a:t>p</a:t>
            </a:r>
            <a:r>
              <a:rPr lang="en-US" sz="3200" b="1" baseline="-25000" dirty="0" err="1" smtClean="0"/>
              <a:t>E</a:t>
            </a:r>
            <a:r>
              <a:rPr lang="en-US" sz="3200" b="1" dirty="0"/>
              <a:t>: proportion of exposed to approach human</a:t>
            </a:r>
            <a:br>
              <a:rPr lang="en-US" sz="3200" b="1" dirty="0"/>
            </a:br>
            <a:r>
              <a:rPr lang="en-US" sz="3200" b="1" dirty="0"/>
              <a:t>What are the relevant hypotheses?</a:t>
            </a:r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3048000"/>
            <a:ext cx="5486400" cy="382659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 H</a:t>
            </a:r>
            <a:r>
              <a:rPr lang="en-US" baseline="-25000" dirty="0" smtClean="0"/>
              <a:t>0</a:t>
            </a:r>
            <a:r>
              <a:rPr lang="en-US" dirty="0" smtClean="0"/>
              <a:t>: </a:t>
            </a:r>
            <a:r>
              <a:rPr lang="en-US" i="1" dirty="0" err="1" smtClean="0"/>
              <a:t>p</a:t>
            </a:r>
            <a:r>
              <a:rPr lang="en-US" baseline="-25000" dirty="0" err="1"/>
              <a:t>E</a:t>
            </a:r>
            <a:r>
              <a:rPr lang="en-US" dirty="0" smtClean="0"/>
              <a:t> = </a:t>
            </a:r>
            <a:r>
              <a:rPr lang="en-US" i="1" dirty="0" err="1" smtClean="0"/>
              <a:t>p</a:t>
            </a:r>
            <a:r>
              <a:rPr lang="en-US" baseline="-25000" dirty="0" err="1"/>
              <a:t>C</a:t>
            </a:r>
            <a:r>
              <a:rPr lang="en-US" dirty="0" smtClean="0"/>
              <a:t>, H</a:t>
            </a:r>
            <a:r>
              <a:rPr lang="en-US" baseline="-25000" dirty="0"/>
              <a:t>a</a:t>
            </a:r>
            <a:r>
              <a:rPr lang="en-US" dirty="0" smtClean="0"/>
              <a:t>: </a:t>
            </a:r>
            <a:r>
              <a:rPr lang="en-US" i="1" dirty="0" err="1" smtClean="0"/>
              <a:t>p</a:t>
            </a:r>
            <a:r>
              <a:rPr lang="en-US" baseline="-25000" dirty="0" err="1"/>
              <a:t>E</a:t>
            </a:r>
            <a:r>
              <a:rPr lang="en-US" dirty="0" smtClean="0"/>
              <a:t> &lt; </a:t>
            </a:r>
            <a:r>
              <a:rPr lang="en-US" i="1" dirty="0" err="1" smtClean="0"/>
              <a:t>p</a:t>
            </a:r>
            <a:r>
              <a:rPr lang="en-US" baseline="-25000" dirty="0" err="1"/>
              <a:t>C</a:t>
            </a:r>
            <a:endParaRPr lang="en-US" baseline="-25000" dirty="0"/>
          </a:p>
          <a:p>
            <a:pPr marL="514350" indent="-514350">
              <a:buFont typeface="+mj-lt"/>
              <a:buAutoNum type="alphaUcPeriod"/>
            </a:pPr>
            <a:r>
              <a:rPr lang="en-US" baseline="-25000" dirty="0"/>
              <a:t> 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i="1" dirty="0" err="1" smtClean="0"/>
              <a:t>p</a:t>
            </a:r>
            <a:r>
              <a:rPr lang="en-US" baseline="-25000" dirty="0" err="1" smtClean="0"/>
              <a:t>E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r>
              <a:rPr lang="en-US" dirty="0"/>
              <a:t>, H</a:t>
            </a:r>
            <a:r>
              <a:rPr lang="en-US" baseline="-25000" dirty="0"/>
              <a:t>a</a:t>
            </a:r>
            <a:r>
              <a:rPr lang="en-US" dirty="0"/>
              <a:t>: </a:t>
            </a:r>
            <a:r>
              <a:rPr lang="en-US" i="1" dirty="0" err="1" smtClean="0"/>
              <a:t>p</a:t>
            </a:r>
            <a:r>
              <a:rPr lang="en-US" baseline="-25000" dirty="0" err="1" smtClean="0"/>
              <a:t>E</a:t>
            </a:r>
            <a:r>
              <a:rPr lang="en-US" dirty="0" smtClean="0"/>
              <a:t> &gt;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endParaRPr lang="en-US" baseline="-25000" dirty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 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i="1" dirty="0" err="1" smtClean="0"/>
              <a:t>p</a:t>
            </a:r>
            <a:r>
              <a:rPr lang="en-US" baseline="-25000" dirty="0" err="1" smtClean="0"/>
              <a:t>E</a:t>
            </a:r>
            <a:r>
              <a:rPr lang="en-US" dirty="0" smtClean="0"/>
              <a:t> &lt;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r>
              <a:rPr lang="en-US" dirty="0"/>
              <a:t>, H</a:t>
            </a:r>
            <a:r>
              <a:rPr lang="en-US" baseline="-25000" dirty="0"/>
              <a:t>a</a:t>
            </a:r>
            <a:r>
              <a:rPr lang="en-US" dirty="0"/>
              <a:t>: </a:t>
            </a:r>
            <a:r>
              <a:rPr lang="en-US" i="1" dirty="0" err="1" smtClean="0"/>
              <a:t>p</a:t>
            </a:r>
            <a:r>
              <a:rPr lang="en-US" baseline="-25000" dirty="0" err="1" smtClean="0"/>
              <a:t>E</a:t>
            </a:r>
            <a:r>
              <a:rPr lang="en-US" dirty="0" smtClean="0"/>
              <a:t> =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endParaRPr lang="en-US" baseline="-25000" dirty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 </a:t>
            </a:r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i="1" dirty="0" err="1" smtClean="0"/>
              <a:t>p</a:t>
            </a:r>
            <a:r>
              <a:rPr lang="en-US" baseline="-25000" dirty="0" err="1" smtClean="0"/>
              <a:t>E</a:t>
            </a:r>
            <a:r>
              <a:rPr lang="en-US" dirty="0" smtClean="0"/>
              <a:t> &gt;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r>
              <a:rPr lang="en-US" dirty="0"/>
              <a:t>, H</a:t>
            </a:r>
            <a:r>
              <a:rPr lang="en-US" baseline="-25000" dirty="0"/>
              <a:t>a</a:t>
            </a:r>
            <a:r>
              <a:rPr lang="en-US" dirty="0"/>
              <a:t>: </a:t>
            </a:r>
            <a:r>
              <a:rPr lang="en-US" i="1" dirty="0" err="1" smtClean="0"/>
              <a:t>p</a:t>
            </a:r>
            <a:r>
              <a:rPr lang="en-US" baseline="-25000" dirty="0" err="1" smtClean="0"/>
              <a:t>E</a:t>
            </a:r>
            <a:r>
              <a:rPr lang="en-US" dirty="0" smtClean="0"/>
              <a:t> = </a:t>
            </a:r>
            <a:r>
              <a:rPr lang="en-US" i="1" dirty="0" err="1" smtClean="0"/>
              <a:t>p</a:t>
            </a:r>
            <a:r>
              <a:rPr lang="en-US" baseline="-25000" dirty="0" err="1" smtClean="0"/>
              <a:t>C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331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600200"/>
            <a:ext cx="7900807" cy="5181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Data: Before Infectious</a:t>
            </a: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600200" y="2438400"/>
                <a:ext cx="6553076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𝐸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charset="0"/>
                            </a:rPr>
                            <m:t>20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charset="0"/>
                            </a:rPr>
                            <m:t>113</m:t>
                          </m:r>
                        </m:den>
                      </m:f>
                      <m:r>
                        <a:rPr lang="en-US" sz="2400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bg-BG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charset="0"/>
                            </a:rPr>
                            <m:t>36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charset="0"/>
                            </a:rPr>
                            <m:t>117</m:t>
                          </m:r>
                        </m:den>
                      </m:f>
                      <m:r>
                        <a:rPr lang="en-US" sz="2400" b="0" i="1" smtClean="0">
                          <a:latin typeface="Cambria Math" charset="0"/>
                        </a:rPr>
                        <m:t>=0.177−0.308=−0.131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2438400"/>
                <a:ext cx="6553076" cy="69384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232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Randomization Test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38" y="1524000"/>
            <a:ext cx="8817321" cy="5245748"/>
          </a:xfrm>
          <a:prstGeom prst="rect">
            <a:avLst/>
          </a:prstGeom>
        </p:spPr>
      </p:pic>
      <p:sp>
        <p:nvSpPr>
          <p:cNvPr id="7" name="Left Arrow 6"/>
          <p:cNvSpPr/>
          <p:nvPr/>
        </p:nvSpPr>
        <p:spPr>
          <a:xfrm>
            <a:off x="1828800" y="4038599"/>
            <a:ext cx="1600201" cy="687211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p-value</a:t>
            </a:r>
            <a:endParaRPr lang="en-US" sz="2000" b="1" dirty="0"/>
          </a:p>
        </p:txBody>
      </p:sp>
      <p:sp>
        <p:nvSpPr>
          <p:cNvPr id="8" name="Left Arrow 7"/>
          <p:cNvSpPr/>
          <p:nvPr/>
        </p:nvSpPr>
        <p:spPr>
          <a:xfrm>
            <a:off x="2514601" y="6096000"/>
            <a:ext cx="2133600" cy="609600"/>
          </a:xfrm>
          <a:prstGeom prst="leftArrow">
            <a:avLst>
              <a:gd name="adj1" fmla="val 58947"/>
              <a:gd name="adj2" fmla="val 3814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 smtClean="0"/>
              <a:t>observed statistic</a:t>
            </a:r>
            <a:endParaRPr 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361333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720245"/>
            <a:ext cx="4162450" cy="2528155"/>
          </a:xfrm>
          <a:prstGeom prst="rect">
            <a:avLst/>
          </a:prstGeom>
        </p:spPr>
      </p:pic>
      <p:pic>
        <p:nvPicPr>
          <p:cNvPr id="28" name="Picture 27" descr="normal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4267200"/>
            <a:ext cx="3962400" cy="1524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694" y="990600"/>
            <a:ext cx="4224506" cy="2549622"/>
          </a:xfrm>
          <a:prstGeom prst="rect">
            <a:avLst/>
          </a:prstGeom>
        </p:spPr>
      </p:pic>
      <p:pic>
        <p:nvPicPr>
          <p:cNvPr id="23" name="Picture 22" descr="normal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524000"/>
            <a:ext cx="3810000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599" y="930391"/>
            <a:ext cx="4318813" cy="257480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581400"/>
            <a:ext cx="4191000" cy="2764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1320224"/>
            <a:ext cx="18288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Mate choice and offspring fitness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0" y="16764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Difference in proportions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 idx="4294967295"/>
          </p:nvPr>
        </p:nvSpPr>
        <p:spPr>
          <a:xfrm>
            <a:off x="-9053" y="152399"/>
            <a:ext cx="9144000" cy="77799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Randomization and Bootstrap Distributions</a:t>
            </a:r>
            <a:endParaRPr lang="en-US" sz="36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800600" y="1447800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Tea </a:t>
            </a:r>
            <a:r>
              <a:rPr lang="en-US" sz="1600" i="1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and immunity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43800" y="16764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Difference in means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4038600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Mercury in fish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48000" y="4340423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Single 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mean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53000" y="4073604"/>
            <a:ext cx="16002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Sleep versus caffeine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43800" y="442978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Difference in proportions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00400" y="3048000"/>
            <a:ext cx="2667000" cy="1077218"/>
          </a:xfrm>
          <a:prstGeom prst="rect">
            <a:avLst/>
          </a:prstGeom>
          <a:solidFill>
            <a:srgbClr val="FF9999"/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What do </a:t>
            </a:r>
            <a:r>
              <a:rPr lang="en-US" sz="3200" smtClean="0">
                <a:solidFill>
                  <a:schemeClr val="tx1"/>
                </a:solidFill>
              </a:rPr>
              <a:t>you notice</a:t>
            </a:r>
            <a:r>
              <a:rPr lang="en-US" sz="3200" dirty="0" smtClean="0">
                <a:solidFill>
                  <a:schemeClr val="tx1"/>
                </a:solidFill>
              </a:rPr>
              <a:t>?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23317" y="3048000"/>
            <a:ext cx="2865501" cy="1077218"/>
          </a:xfrm>
          <a:prstGeom prst="rect">
            <a:avLst/>
          </a:prstGeom>
          <a:solidFill>
            <a:srgbClr val="FF9999"/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All </a:t>
            </a:r>
            <a:r>
              <a:rPr lang="en-US" sz="3200" smtClean="0">
                <a:solidFill>
                  <a:schemeClr val="tx1"/>
                </a:solidFill>
              </a:rPr>
              <a:t>bell-shaped distributions</a:t>
            </a:r>
            <a:r>
              <a:rPr lang="en-US" sz="3200" dirty="0" smtClean="0">
                <a:solidFill>
                  <a:schemeClr val="tx1"/>
                </a:solidFill>
              </a:rPr>
              <a:t>!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22" name="Picture 21" descr="normal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3429000" cy="1371600"/>
          </a:xfrm>
          <a:prstGeom prst="rect">
            <a:avLst/>
          </a:prstGeom>
        </p:spPr>
      </p:pic>
      <p:pic>
        <p:nvPicPr>
          <p:cNvPr id="27" name="Picture 26" descr="normal.png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419600"/>
            <a:ext cx="36576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8" grpId="0"/>
      <p:bldP spid="19" grpId="0"/>
      <p:bldP spid="20" grpId="0"/>
      <p:bldP spid="21" grpId="0"/>
      <p:bldP spid="25" grpId="0"/>
      <p:bldP spid="26" grpId="0"/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Normal Distribution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19812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The symmetric bell-shaped curve we have seen for almost all of our distribution of statistics is called a </a:t>
            </a:r>
            <a:r>
              <a:rPr lang="en-US" sz="3200" b="1" i="1" dirty="0" smtClean="0">
                <a:solidFill>
                  <a:schemeClr val="tx2"/>
                </a:solidFill>
              </a:rPr>
              <a:t>normal distribution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0766" t="27710" r="9151"/>
          <a:stretch/>
        </p:blipFill>
        <p:spPr>
          <a:xfrm>
            <a:off x="1905000" y="2895600"/>
            <a:ext cx="5611891" cy="265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7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Central Limit Theorem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378952" cy="2514600"/>
          </a:xfrm>
        </p:spPr>
        <p:txBody>
          <a:bodyPr>
            <a:noAutofit/>
          </a:bodyPr>
          <a:lstStyle/>
          <a:p>
            <a:r>
              <a:rPr lang="en-US" sz="3500" dirty="0"/>
              <a:t>For random samples with a </a:t>
            </a:r>
            <a:r>
              <a:rPr lang="en-US" sz="3500" b="1" dirty="0" smtClean="0">
                <a:solidFill>
                  <a:schemeClr val="accent2">
                    <a:lumMod val="75000"/>
                  </a:schemeClr>
                </a:solidFill>
              </a:rPr>
              <a:t>sufficiently </a:t>
            </a:r>
            <a:r>
              <a:rPr lang="en-US" sz="3500" b="1" dirty="0">
                <a:solidFill>
                  <a:schemeClr val="accent2">
                    <a:lumMod val="75000"/>
                  </a:schemeClr>
                </a:solidFill>
              </a:rPr>
              <a:t>large sample size</a:t>
            </a:r>
            <a:r>
              <a:rPr lang="en-US" sz="3500" dirty="0"/>
              <a:t>, the </a:t>
            </a:r>
            <a:r>
              <a:rPr lang="en-US" sz="3500" dirty="0" smtClean="0"/>
              <a:t>distribution </a:t>
            </a:r>
            <a:r>
              <a:rPr lang="en-US" sz="3500" dirty="0"/>
              <a:t>of many common sample statistics can be approximated with a normal distribution.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0" y="4343400"/>
            <a:ext cx="9144000" cy="2514600"/>
          </a:xfrm>
        </p:spPr>
        <p:txBody>
          <a:bodyPr>
            <a:normAutofit lnSpcReduction="10000"/>
          </a:bodyPr>
          <a:lstStyle/>
          <a:p>
            <a:pPr>
              <a:spcAft>
                <a:spcPts val="1800"/>
              </a:spcAft>
            </a:pPr>
            <a:r>
              <a:rPr lang="en-US" sz="3200" dirty="0" smtClean="0"/>
              <a:t>The 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larger</a:t>
            </a:r>
            <a:r>
              <a:rPr lang="en-US" sz="3200" dirty="0" smtClean="0"/>
              <a:t> the sample sizes, the more normal the distribution of the statistic will be</a:t>
            </a:r>
          </a:p>
          <a:p>
            <a:pPr>
              <a:spcAft>
                <a:spcPts val="1800"/>
              </a:spcAft>
            </a:pPr>
            <a:r>
              <a:rPr lang="en-US" sz="3200" dirty="0" smtClean="0"/>
              <a:t>“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Sufficiently large</a:t>
            </a:r>
            <a:r>
              <a:rPr lang="en-US" sz="3200" dirty="0" smtClean="0"/>
              <a:t>” will be made more specific in Chapter 6 </a:t>
            </a: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3293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15088" y="1524000"/>
            <a:ext cx="9128911" cy="2057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buSzPct val="85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2"/>
              </a:buClr>
              <a:buSzPct val="70000"/>
              <a:buFont typeface="Wingdings"/>
              <a:buChar char="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3"/>
              </a:buClr>
              <a:buSzPct val="75000"/>
              <a:buFont typeface="Wingdings 2"/>
              <a:buChar char="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The normal distribution is fully described by it’s mean and standard deviation:</a:t>
            </a:r>
          </a:p>
          <a:p>
            <a:pPr marL="0" indent="0" algn="ctr">
              <a:buNone/>
            </a:pPr>
            <a:r>
              <a:rPr lang="en-US" b="1" i="1" dirty="0" smtClean="0">
                <a:solidFill>
                  <a:schemeClr val="tx2"/>
                </a:solidFill>
              </a:rPr>
              <a:t>N(mean, standard deviation)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N(mean, standard deviation</a:t>
            </a:r>
            <a:r>
              <a:rPr lang="en-US" sz="4000" b="1" dirty="0" smtClean="0"/>
              <a:t>)</a:t>
            </a:r>
            <a:endParaRPr lang="en-US" sz="40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8" y="3733800"/>
            <a:ext cx="9113822" cy="266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3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6790" y="152400"/>
            <a:ext cx="9137210" cy="1524000"/>
          </a:xfrm>
        </p:spPr>
        <p:txBody>
          <a:bodyPr>
            <a:noAutofit/>
          </a:bodyPr>
          <a:lstStyle/>
          <a:p>
            <a:pPr>
              <a:spcAft>
                <a:spcPts val="1800"/>
              </a:spcAft>
            </a:pPr>
            <a:r>
              <a:rPr lang="en-US" sz="3600" b="1" dirty="0">
                <a:cs typeface="Times New Roman" pitchFamily="18" charset="0"/>
              </a:rPr>
              <a:t>If a randomization distribution is normally distributed, we can write it as</a:t>
            </a:r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362200"/>
            <a:ext cx="4724400" cy="2362200"/>
          </a:xfrm>
        </p:spPr>
        <p:txBody>
          <a:bodyPr/>
          <a:lstStyle/>
          <a:p>
            <a:pPr marL="914400" indent="-742950"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N(null value, se)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914400" indent="-742950">
              <a:buFont typeface="+mj-lt"/>
              <a:buAutoNum type="alphaU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N(statistic, se)</a:t>
            </a:r>
          </a:p>
          <a:p>
            <a:pPr marL="914400" indent="-742950">
              <a:buFont typeface="+mj-lt"/>
              <a:buAutoNum type="alphaU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N(parameter, se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)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77071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6790" y="786"/>
            <a:ext cx="9137210" cy="1219200"/>
          </a:xfrm>
        </p:spPr>
        <p:txBody>
          <a:bodyPr>
            <a:noAutofit/>
          </a:bodyPr>
          <a:lstStyle/>
          <a:p>
            <a:r>
              <a:rPr lang="en-US" sz="3200" b="1" dirty="0"/>
              <a:t>Which normal distribution should we use to approximate this?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26" y="1066800"/>
            <a:ext cx="8665374" cy="3505200"/>
          </a:xfrm>
          <a:prstGeom prst="rect">
            <a:avLst/>
          </a:prstGeom>
        </p:spPr>
      </p:pic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152400" y="4419600"/>
            <a:ext cx="3733800" cy="2209800"/>
          </a:xfrm>
        </p:spPr>
        <p:txBody>
          <a:bodyPr>
            <a:normAutofit/>
          </a:bodyPr>
          <a:lstStyle/>
          <a:p>
            <a:pPr marL="514350" indent="-514350">
              <a:spcAft>
                <a:spcPts val="0"/>
              </a:spcAft>
              <a:buFont typeface="+mj-lt"/>
              <a:buAutoNum type="alphaUcPeriod"/>
            </a:pPr>
            <a:r>
              <a:rPr lang="en-US" sz="3000" dirty="0"/>
              <a:t>N(0, -0.131)</a:t>
            </a:r>
          </a:p>
          <a:p>
            <a:pPr marL="514350" indent="-514350">
              <a:spcAft>
                <a:spcPts val="0"/>
              </a:spcAft>
              <a:buFont typeface="+mj-lt"/>
              <a:buAutoNum type="alphaUcPeriod"/>
            </a:pPr>
            <a:r>
              <a:rPr lang="en-US" sz="3000" dirty="0" smtClean="0"/>
              <a:t>N(0</a:t>
            </a:r>
            <a:r>
              <a:rPr lang="en-US" sz="3000" dirty="0"/>
              <a:t>, 0.056)</a:t>
            </a:r>
          </a:p>
          <a:p>
            <a:pPr marL="514350" indent="-514350">
              <a:spcAft>
                <a:spcPts val="0"/>
              </a:spcAft>
              <a:buFont typeface="+mj-lt"/>
              <a:buAutoNum type="alphaUcPeriod"/>
            </a:pPr>
            <a:r>
              <a:rPr lang="en-US" sz="3000" dirty="0" smtClean="0"/>
              <a:t>N</a:t>
            </a:r>
            <a:r>
              <a:rPr lang="en-US" sz="3000" dirty="0"/>
              <a:t>(-0.131, 0.056)</a:t>
            </a:r>
          </a:p>
          <a:p>
            <a:pPr marL="514350" indent="-514350">
              <a:spcAft>
                <a:spcPts val="0"/>
              </a:spcAft>
              <a:buFont typeface="+mj-lt"/>
              <a:buAutoNum type="alphaUcPeriod"/>
            </a:pPr>
            <a:r>
              <a:rPr lang="en-US" sz="3000" dirty="0" smtClean="0"/>
              <a:t>N(0.056</a:t>
            </a:r>
            <a:r>
              <a:rPr lang="en-US" sz="3000" dirty="0"/>
              <a:t>, 0)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74182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8534400" cy="75882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Normal Distribution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32186"/>
          <a:stretch/>
        </p:blipFill>
        <p:spPr>
          <a:xfrm>
            <a:off x="434777" y="838200"/>
            <a:ext cx="8175823" cy="4876800"/>
          </a:xfrm>
          <a:prstGeom prst="rect">
            <a:avLst/>
          </a:prstGeom>
        </p:spPr>
      </p:pic>
      <p:pic>
        <p:nvPicPr>
          <p:cNvPr id="5" name="Picture 4" descr="normal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752600"/>
            <a:ext cx="752795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7800" y="2133600"/>
            <a:ext cx="2895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N(0, 0.056)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14800" y="4953000"/>
            <a:ext cx="1143000" cy="4572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781800" y="1905000"/>
            <a:ext cx="1447800" cy="4572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4897" y="5780782"/>
            <a:ext cx="911834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1800"/>
              </a:spcAft>
            </a:pPr>
            <a:r>
              <a:rPr lang="en-US" sz="3200" dirty="0">
                <a:solidFill>
                  <a:prstClr val="black"/>
                </a:solidFill>
                <a:cs typeface="Arial"/>
              </a:rPr>
              <a:t>We can compare the </a:t>
            </a:r>
            <a:r>
              <a:rPr lang="en-US" sz="3200" dirty="0" smtClean="0">
                <a:solidFill>
                  <a:prstClr val="black"/>
                </a:solidFill>
                <a:cs typeface="Arial"/>
              </a:rPr>
              <a:t>original statistic to this </a:t>
            </a:r>
            <a:r>
              <a:rPr lang="en-US" sz="3200" dirty="0">
                <a:solidFill>
                  <a:prstClr val="black"/>
                </a:solidFill>
                <a:cs typeface="Arial"/>
              </a:rPr>
              <a:t>Normal </a:t>
            </a:r>
            <a:r>
              <a:rPr lang="en-US" sz="3200" dirty="0" smtClean="0">
                <a:solidFill>
                  <a:prstClr val="black"/>
                </a:solidFill>
                <a:cs typeface="Arial"/>
              </a:rPr>
              <a:t>distribution to find </a:t>
            </a:r>
            <a:r>
              <a:rPr lang="en-US" sz="3200" dirty="0">
                <a:solidFill>
                  <a:prstClr val="black"/>
                </a:solidFill>
                <a:cs typeface="Arial"/>
              </a:rPr>
              <a:t>the p-value!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293531"/>
            <a:ext cx="160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000" dirty="0" err="1" smtClean="0">
                <a:hlinkClick r:id="rId5"/>
              </a:rPr>
              <a:t>StatKey</a:t>
            </a:r>
            <a:r>
              <a:rPr lang="en-US" sz="3000" dirty="0" smtClean="0"/>
              <a:t> </a:t>
            </a: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99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53" y="1609618"/>
            <a:ext cx="9132072" cy="47693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p-value from N(null, SE)</a:t>
            </a:r>
            <a:endParaRPr lang="en-US" sz="4000" b="1" dirty="0"/>
          </a:p>
        </p:txBody>
      </p:sp>
      <p:sp>
        <p:nvSpPr>
          <p:cNvPr id="5" name="Left Arrow 4"/>
          <p:cNvSpPr/>
          <p:nvPr/>
        </p:nvSpPr>
        <p:spPr>
          <a:xfrm>
            <a:off x="1455344" y="3886200"/>
            <a:ext cx="1600201" cy="687211"/>
          </a:xfrm>
          <a:prstGeom prst="leftArrow">
            <a:avLst>
              <a:gd name="adj1" fmla="val 63174"/>
              <a:gd name="adj2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p-value</a:t>
            </a:r>
            <a:endParaRPr lang="en-US" sz="2400" b="1" dirty="0"/>
          </a:p>
        </p:txBody>
      </p:sp>
      <p:sp>
        <p:nvSpPr>
          <p:cNvPr id="6" name="Left Arrow 5"/>
          <p:cNvSpPr/>
          <p:nvPr/>
        </p:nvSpPr>
        <p:spPr>
          <a:xfrm>
            <a:off x="1988745" y="5943600"/>
            <a:ext cx="2133600" cy="609600"/>
          </a:xfrm>
          <a:prstGeom prst="leftArrow">
            <a:avLst>
              <a:gd name="adj1" fmla="val 64888"/>
              <a:gd name="adj2" fmla="val 3814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 smtClean="0"/>
              <a:t>observed statistic</a:t>
            </a:r>
            <a:endParaRPr 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411493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448" y="228600"/>
            <a:ext cx="8229600" cy="10668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Standardized Data</a:t>
            </a:r>
            <a:endParaRPr lang="en-US" sz="4000" b="1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Often, we standardize the statistics to have mean 0 and standard deviation 1</a:t>
            </a:r>
          </a:p>
          <a:p>
            <a:r>
              <a:rPr lang="en-US" sz="3200" dirty="0" smtClean="0"/>
              <a:t>How?  z-scores!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smtClean="0"/>
              <a:t>What does this become for the null distribution?</a:t>
            </a:r>
            <a:endParaRPr lang="en-US" sz="32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597578"/>
              </p:ext>
            </p:extLst>
          </p:nvPr>
        </p:nvGraphicFramePr>
        <p:xfrm>
          <a:off x="2438400" y="3657600"/>
          <a:ext cx="3657600" cy="1717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9" name="Equation" r:id="rId3" imgW="838080" imgH="393480" progId="Equation.DSMT4">
                  <p:embed/>
                </p:oleObj>
              </mc:Choice>
              <mc:Fallback>
                <p:oleObj name="Equation" r:id="rId3" imgW="838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657600"/>
                        <a:ext cx="3657600" cy="1717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own Arrow Callout 7"/>
          <p:cNvSpPr/>
          <p:nvPr/>
        </p:nvSpPr>
        <p:spPr>
          <a:xfrm>
            <a:off x="2819400" y="3276600"/>
            <a:ext cx="1676400" cy="685800"/>
          </a:xfrm>
          <a:prstGeom prst="downArrowCallou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cs typeface="Arial"/>
              </a:rPr>
              <a:t>statistic</a:t>
            </a:r>
          </a:p>
        </p:txBody>
      </p:sp>
      <p:sp>
        <p:nvSpPr>
          <p:cNvPr id="9" name="Down Arrow Callout 8"/>
          <p:cNvSpPr/>
          <p:nvPr/>
        </p:nvSpPr>
        <p:spPr>
          <a:xfrm>
            <a:off x="4724400" y="3276600"/>
            <a:ext cx="2133600" cy="685800"/>
          </a:xfrm>
          <a:prstGeom prst="downArrowCallou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cs typeface="Arial"/>
              </a:rPr>
              <a:t>null value</a:t>
            </a:r>
          </a:p>
        </p:txBody>
      </p:sp>
      <p:sp>
        <p:nvSpPr>
          <p:cNvPr id="11" name="Up Arrow Callout 10"/>
          <p:cNvSpPr/>
          <p:nvPr/>
        </p:nvSpPr>
        <p:spPr>
          <a:xfrm>
            <a:off x="4051456" y="5334000"/>
            <a:ext cx="1219200" cy="685800"/>
          </a:xfrm>
          <a:prstGeom prst="upArrowCallou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cs typeface="Arial"/>
              </a:rPr>
              <a:t>SE</a:t>
            </a:r>
            <a:endParaRPr lang="en-US" sz="3200" b="1" dirty="0">
              <a:solidFill>
                <a:schemeClr val="bg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68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Standardized Statistic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752600"/>
            <a:ext cx="7162800" cy="30480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standardized test statistic </a:t>
            </a:r>
            <a:r>
              <a:rPr lang="en-US" dirty="0" smtClean="0"/>
              <a:t>(also known as a z-statistic) is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712763"/>
              </p:ext>
            </p:extLst>
          </p:nvPr>
        </p:nvGraphicFramePr>
        <p:xfrm>
          <a:off x="2743200" y="3124200"/>
          <a:ext cx="3837390" cy="132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1" name="Equation" r:id="rId3" imgW="1143000" imgH="393700" progId="Equation.DSMT4">
                  <p:embed/>
                </p:oleObj>
              </mc:Choice>
              <mc:Fallback>
                <p:oleObj name="Equation" r:id="rId3" imgW="1143000" imgH="39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3200" y="3124200"/>
                        <a:ext cx="3837390" cy="1321563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5105400"/>
            <a:ext cx="91522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0040" indent="-320040">
              <a:spcBef>
                <a:spcPts val="700"/>
              </a:spcBef>
              <a:spcAft>
                <a:spcPts val="1800"/>
              </a:spcAft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3200" dirty="0"/>
              <a:t>Calculating the number of standard errors a statistic is from the null lets us assess extremity on a common </a:t>
            </a:r>
            <a:r>
              <a:rPr lang="en-US" sz="3200" dirty="0" smtClean="0"/>
              <a:t>scale.</a:t>
            </a:r>
            <a:endParaRPr lang="en-US" sz="3600" b="1" i="1" dirty="0" smtClean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82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Standardized Statistic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514600"/>
            <a:ext cx="9144000" cy="2362200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3200" dirty="0" smtClean="0"/>
              <a:t>Malaria and Mosquitoes:</a:t>
            </a:r>
          </a:p>
          <a:p>
            <a:pPr>
              <a:spcAft>
                <a:spcPts val="0"/>
              </a:spcAft>
            </a:pPr>
            <a:r>
              <a:rPr lang="en-US" sz="3200" dirty="0" smtClean="0"/>
              <a:t>From original data: statistic = -0.131</a:t>
            </a:r>
          </a:p>
          <a:p>
            <a:pPr>
              <a:spcAft>
                <a:spcPts val="0"/>
              </a:spcAft>
            </a:pPr>
            <a:r>
              <a:rPr lang="en-US" sz="3200" dirty="0" smtClean="0"/>
              <a:t>From null hypothesis: null value = 0</a:t>
            </a:r>
          </a:p>
          <a:p>
            <a:r>
              <a:rPr lang="en-US" sz="3200" dirty="0" smtClean="0"/>
              <a:t>From randomization distribution: SE = 0.056</a:t>
            </a:r>
            <a:endParaRPr lang="en-US" sz="32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125549"/>
              </p:ext>
            </p:extLst>
          </p:nvPr>
        </p:nvGraphicFramePr>
        <p:xfrm>
          <a:off x="1066800" y="4876800"/>
          <a:ext cx="7010399" cy="1126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6" name="Equation" r:id="rId3" imgW="2451100" imgH="393700" progId="Equation.DSMT4">
                  <p:embed/>
                </p:oleObj>
              </mc:Choice>
              <mc:Fallback>
                <p:oleObj name="Equation" r:id="rId3" imgW="2451100" imgH="39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6800" y="4876800"/>
                        <a:ext cx="7010399" cy="11260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097720"/>
              </p:ext>
            </p:extLst>
          </p:nvPr>
        </p:nvGraphicFramePr>
        <p:xfrm>
          <a:off x="2895600" y="1600200"/>
          <a:ext cx="3048000" cy="1049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7" name="Equation" r:id="rId5" imgW="1143000" imgH="393700" progId="Equation.DSMT4">
                  <p:embed/>
                </p:oleObj>
              </mc:Choice>
              <mc:Fallback>
                <p:oleObj name="Equation" r:id="rId5" imgW="1143000" imgH="39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95600" y="1600200"/>
                        <a:ext cx="3048000" cy="1049704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0" y="6096000"/>
            <a:ext cx="91440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180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Arial" pitchFamily="34" charset="0"/>
              <a:buNone/>
            </a:pPr>
            <a:r>
              <a:rPr lang="en-US" dirty="0" smtClean="0">
                <a:latin typeface="+mn-lt"/>
              </a:rPr>
              <a:t>Compare to N(0,1) to find p-value…</a:t>
            </a:r>
            <a:endParaRPr lang="en-US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53200" y="6099018"/>
            <a:ext cx="160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000" dirty="0" err="1" smtClean="0">
                <a:hlinkClick r:id="rId7"/>
              </a:rPr>
              <a:t>StatKey</a:t>
            </a:r>
            <a:r>
              <a:rPr lang="en-US" sz="3000" dirty="0" smtClean="0"/>
              <a:t> </a:t>
            </a: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22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p-value from N(0,1)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847" b="1"/>
          <a:stretch/>
        </p:blipFill>
        <p:spPr>
          <a:xfrm>
            <a:off x="12071" y="1588993"/>
            <a:ext cx="9131929" cy="4658273"/>
          </a:xfrm>
          <a:prstGeom prst="rect">
            <a:avLst/>
          </a:prstGeom>
        </p:spPr>
      </p:pic>
      <p:sp>
        <p:nvSpPr>
          <p:cNvPr id="5" name="Left Arrow 4"/>
          <p:cNvSpPr/>
          <p:nvPr/>
        </p:nvSpPr>
        <p:spPr>
          <a:xfrm>
            <a:off x="1752600" y="3744460"/>
            <a:ext cx="1600201" cy="687211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p-value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Left Arrow 5"/>
          <p:cNvSpPr/>
          <p:nvPr/>
        </p:nvSpPr>
        <p:spPr>
          <a:xfrm>
            <a:off x="2196973" y="5791200"/>
            <a:ext cx="2908427" cy="800098"/>
          </a:xfrm>
          <a:prstGeom prst="leftArrow">
            <a:avLst>
              <a:gd name="adj1" fmla="val 67858"/>
              <a:gd name="adj2" fmla="val 3814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standardized statistic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0464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p-value from N(0,1)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76400"/>
            <a:ext cx="7010400" cy="45720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If a statistic is normally distributed under H</a:t>
            </a:r>
            <a:r>
              <a:rPr lang="en-US" baseline="-25000" dirty="0" smtClean="0"/>
              <a:t>0</a:t>
            </a:r>
            <a:r>
              <a:rPr lang="en-US" dirty="0" smtClean="0"/>
              <a:t>, the p-value can be calculated as the proportion of a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standard normal distribution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N(0,1)</a:t>
            </a:r>
            <a:r>
              <a:rPr lang="en-US" dirty="0" smtClean="0"/>
              <a:t>, beyond the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standardized test statistic: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576399"/>
              </p:ext>
            </p:extLst>
          </p:nvPr>
        </p:nvGraphicFramePr>
        <p:xfrm>
          <a:off x="2590800" y="4648200"/>
          <a:ext cx="3837390" cy="132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6" name="Equation" r:id="rId3" imgW="1143000" imgH="393700" progId="Equation.DSMT4">
                  <p:embed/>
                </p:oleObj>
              </mc:Choice>
              <mc:Fallback>
                <p:oleObj name="Equation" r:id="rId3" imgW="1143000" imgH="39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0800" y="4648200"/>
                        <a:ext cx="3837390" cy="1321563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294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8312"/>
          <a:stretch/>
        </p:blipFill>
        <p:spPr>
          <a:xfrm>
            <a:off x="228600" y="381000"/>
            <a:ext cx="4419600" cy="25850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159" t="7805"/>
          <a:stretch/>
        </p:blipFill>
        <p:spPr>
          <a:xfrm>
            <a:off x="539672" y="3657600"/>
            <a:ext cx="3879928" cy="2559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80052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Randomization test: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38862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N(null, SE)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5417" t="8277" r="30867"/>
          <a:stretch/>
        </p:blipFill>
        <p:spPr>
          <a:xfrm>
            <a:off x="5257799" y="3657600"/>
            <a:ext cx="3640173" cy="2543513"/>
          </a:xfrm>
          <a:prstGeom prst="rect">
            <a:avLst/>
          </a:prstGeom>
        </p:spPr>
      </p:pic>
      <p:sp>
        <p:nvSpPr>
          <p:cNvPr id="9" name="Down Arrow 8"/>
          <p:cNvSpPr/>
          <p:nvPr/>
        </p:nvSpPr>
        <p:spPr>
          <a:xfrm>
            <a:off x="993736" y="2832226"/>
            <a:ext cx="2971800" cy="762000"/>
          </a:xfrm>
          <a:prstGeom prst="downArrow">
            <a:avLst>
              <a:gd name="adj1" fmla="val 71462"/>
              <a:gd name="adj2" fmla="val 3654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Arial"/>
                <a:cs typeface="Arial"/>
              </a:rPr>
              <a:t>Replace with a smooth curve</a:t>
            </a:r>
            <a:endParaRPr lang="en-US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505200" y="3613666"/>
            <a:ext cx="1726948" cy="914400"/>
          </a:xfrm>
          <a:prstGeom prst="rightArrow">
            <a:avLst>
              <a:gd name="adj1" fmla="val 65842"/>
              <a:gd name="adj2" fmla="val 3019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Arial"/>
                <a:cs typeface="Arial"/>
              </a:rPr>
              <a:t>Standardize</a:t>
            </a:r>
            <a:endParaRPr lang="en-US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10200" y="38862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N(0,1)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81000" y="2286000"/>
            <a:ext cx="685800" cy="304800"/>
          </a:xfrm>
          <a:prstGeom prst="ellipse">
            <a:avLst/>
          </a:prstGeom>
          <a:noFill/>
          <a:ln w="2540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33400" y="5638800"/>
            <a:ext cx="838200" cy="304800"/>
          </a:xfrm>
          <a:prstGeom prst="ellipse">
            <a:avLst/>
          </a:prstGeom>
          <a:noFill/>
          <a:ln w="2540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257800" y="5638800"/>
            <a:ext cx="762000" cy="304800"/>
          </a:xfrm>
          <a:prstGeom prst="ellipse">
            <a:avLst/>
          </a:prstGeom>
          <a:noFill/>
          <a:ln w="2540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800600" y="381000"/>
            <a:ext cx="4343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cs typeface="Arial"/>
              </a:rPr>
              <a:t>The p-value is always the proportion in the tail(s) beyond the relevant statistic!</a:t>
            </a:r>
            <a:endParaRPr lang="en-US" sz="2800" dirty="0"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24400" y="1828800"/>
            <a:ext cx="4419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  <a:cs typeface="Arial"/>
              </a:rPr>
              <a:t>We have evidence that mosquitoes exposed to malaria parasites are less likely to approach a human before they become infectious than mosquitoes not exposed to malaria parasites.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Segoe Print" panose="02000600000000000000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319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Malaria and Mosquitos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05634"/>
            <a:ext cx="9144000" cy="5352366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Does </a:t>
            </a:r>
            <a:r>
              <a:rPr lang="en-US" sz="3200" dirty="0"/>
              <a:t>infecting mosquitoes with Malaria actually impact the mosquitoes’ behavior to favor the parasite</a:t>
            </a:r>
            <a:r>
              <a:rPr lang="en-US" sz="3200" dirty="0" smtClean="0"/>
              <a:t>?</a:t>
            </a:r>
          </a:p>
          <a:p>
            <a:pPr lvl="1"/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After the parasite becomes infectious</a:t>
            </a:r>
            <a:r>
              <a:rPr lang="en-US" sz="3200" dirty="0" smtClean="0"/>
              <a:t>, do infected mosquitoes approach </a:t>
            </a:r>
            <a:r>
              <a:rPr lang="en-US" sz="3200" dirty="0"/>
              <a:t>humans </a:t>
            </a:r>
            <a:r>
              <a:rPr lang="en-US" sz="3200" b="1" i="1" dirty="0">
                <a:solidFill>
                  <a:schemeClr val="accent5">
                    <a:lumMod val="75000"/>
                  </a:schemeClr>
                </a:solidFill>
              </a:rPr>
              <a:t>more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dirty="0" smtClean="0"/>
              <a:t>often, so as to </a:t>
            </a:r>
            <a:r>
              <a:rPr lang="en-US" sz="3200" dirty="0"/>
              <a:t>pass on the </a:t>
            </a:r>
            <a:r>
              <a:rPr lang="en-US" sz="3200" dirty="0" smtClean="0"/>
              <a:t>infection?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0890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9144000" cy="2743200"/>
          </a:xfrm>
        </p:spPr>
        <p:txBody>
          <a:bodyPr>
            <a:no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3200" b="1" dirty="0">
                <a:solidFill>
                  <a:schemeClr val="tx2"/>
                </a:solidFill>
                <a:latin typeface="+mn-lt"/>
              </a:rPr>
              <a:t>For the data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after the mosquitos become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infectious 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(Days 9 – 28)</a:t>
            </a:r>
            <a:r>
              <a:rPr lang="en-US" sz="3200" b="1" dirty="0" smtClean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what are the relevant hypotheses?</a:t>
            </a:r>
            <a:br>
              <a:rPr lang="en-US" sz="3200" b="1" dirty="0">
                <a:solidFill>
                  <a:schemeClr val="tx2"/>
                </a:solidFill>
                <a:latin typeface="+mn-lt"/>
              </a:rPr>
            </a:br>
            <a:r>
              <a:rPr lang="en-US" sz="3200" b="1" dirty="0" smtClean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200" b="1" i="1" dirty="0" err="1" smtClean="0">
                <a:solidFill>
                  <a:schemeClr val="tx2"/>
                </a:solidFill>
                <a:latin typeface="+mn-lt"/>
              </a:rPr>
              <a:t>p</a:t>
            </a:r>
            <a:r>
              <a:rPr lang="en-US" sz="3200" b="1" baseline="-25000" dirty="0" err="1" smtClean="0">
                <a:solidFill>
                  <a:schemeClr val="tx2"/>
                </a:solidFill>
                <a:latin typeface="+mn-lt"/>
              </a:rPr>
              <a:t>C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: proportion of controls to approach human</a:t>
            </a:r>
            <a:br>
              <a:rPr lang="en-US" sz="3200" b="1" dirty="0">
                <a:solidFill>
                  <a:schemeClr val="tx2"/>
                </a:solidFill>
                <a:latin typeface="+mn-lt"/>
              </a:rPr>
            </a:br>
            <a:r>
              <a:rPr lang="en-US" sz="3200" b="1" dirty="0" smtClean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200" b="1" i="1" dirty="0" err="1" smtClean="0">
                <a:solidFill>
                  <a:schemeClr val="tx2"/>
                </a:solidFill>
                <a:latin typeface="+mn-lt"/>
              </a:rPr>
              <a:t>p</a:t>
            </a:r>
            <a:r>
              <a:rPr lang="en-US" sz="3200" b="1" baseline="-25000" dirty="0" err="1" smtClean="0">
                <a:solidFill>
                  <a:schemeClr val="tx2"/>
                </a:solidFill>
                <a:latin typeface="+mn-lt"/>
              </a:rPr>
              <a:t>E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: proportion of exposed to approach </a:t>
            </a:r>
            <a:r>
              <a:rPr lang="en-US" sz="3200" b="1" dirty="0" smtClean="0">
                <a:solidFill>
                  <a:schemeClr val="tx2"/>
                </a:solidFill>
                <a:latin typeface="+mn-lt"/>
              </a:rPr>
              <a:t>human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3048000"/>
            <a:ext cx="5486400" cy="382659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H</a:t>
            </a:r>
            <a:r>
              <a:rPr lang="en-US" baseline="-25000" dirty="0" smtClean="0"/>
              <a:t>0</a:t>
            </a:r>
            <a:r>
              <a:rPr lang="en-US" dirty="0"/>
              <a:t>: </a:t>
            </a:r>
            <a:r>
              <a:rPr lang="en-US" i="1" dirty="0" err="1"/>
              <a:t>p</a:t>
            </a:r>
            <a:r>
              <a:rPr lang="en-US" baseline="-25000" dirty="0" err="1"/>
              <a:t>E</a:t>
            </a:r>
            <a:r>
              <a:rPr lang="en-US" dirty="0"/>
              <a:t> =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r>
              <a:rPr lang="en-US" dirty="0"/>
              <a:t>, H</a:t>
            </a:r>
            <a:r>
              <a:rPr lang="en-US" baseline="-25000" dirty="0"/>
              <a:t>a</a:t>
            </a:r>
            <a:r>
              <a:rPr lang="en-US" dirty="0"/>
              <a:t>: </a:t>
            </a:r>
            <a:r>
              <a:rPr lang="en-US" i="1" dirty="0" err="1"/>
              <a:t>p</a:t>
            </a:r>
            <a:r>
              <a:rPr lang="en-US" baseline="-25000" dirty="0" err="1"/>
              <a:t>E</a:t>
            </a:r>
            <a:r>
              <a:rPr lang="en-US" dirty="0"/>
              <a:t> &lt;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endParaRPr lang="en-US" baseline="-25000" dirty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H</a:t>
            </a:r>
            <a:r>
              <a:rPr lang="en-US" baseline="-25000" dirty="0" smtClean="0"/>
              <a:t>0</a:t>
            </a:r>
            <a:r>
              <a:rPr lang="en-US" dirty="0"/>
              <a:t>: </a:t>
            </a:r>
            <a:r>
              <a:rPr lang="en-US" i="1" dirty="0" err="1"/>
              <a:t>p</a:t>
            </a:r>
            <a:r>
              <a:rPr lang="en-US" baseline="-25000" dirty="0" err="1"/>
              <a:t>E</a:t>
            </a:r>
            <a:r>
              <a:rPr lang="en-US" dirty="0"/>
              <a:t> =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r>
              <a:rPr lang="en-US" dirty="0"/>
              <a:t>, H</a:t>
            </a:r>
            <a:r>
              <a:rPr lang="en-US" baseline="-25000" dirty="0"/>
              <a:t>a</a:t>
            </a:r>
            <a:r>
              <a:rPr lang="en-US" dirty="0"/>
              <a:t>: </a:t>
            </a:r>
            <a:r>
              <a:rPr lang="en-US" i="1" dirty="0" err="1"/>
              <a:t>p</a:t>
            </a:r>
            <a:r>
              <a:rPr lang="en-US" baseline="-25000" dirty="0" err="1"/>
              <a:t>E</a:t>
            </a:r>
            <a:r>
              <a:rPr lang="en-US" dirty="0"/>
              <a:t> &gt;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endParaRPr lang="en-US" baseline="-25000" dirty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H</a:t>
            </a:r>
            <a:r>
              <a:rPr lang="en-US" baseline="-25000" dirty="0" smtClean="0"/>
              <a:t>0</a:t>
            </a:r>
            <a:r>
              <a:rPr lang="en-US" dirty="0"/>
              <a:t>: </a:t>
            </a:r>
            <a:r>
              <a:rPr lang="en-US" i="1" dirty="0" err="1"/>
              <a:t>p</a:t>
            </a:r>
            <a:r>
              <a:rPr lang="en-US" baseline="-25000" dirty="0" err="1"/>
              <a:t>E</a:t>
            </a:r>
            <a:r>
              <a:rPr lang="en-US" dirty="0"/>
              <a:t> &lt;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r>
              <a:rPr lang="en-US" dirty="0"/>
              <a:t>, H</a:t>
            </a:r>
            <a:r>
              <a:rPr lang="en-US" baseline="-25000" dirty="0"/>
              <a:t>a</a:t>
            </a:r>
            <a:r>
              <a:rPr lang="en-US" dirty="0"/>
              <a:t>: </a:t>
            </a:r>
            <a:r>
              <a:rPr lang="en-US" i="1" dirty="0" err="1"/>
              <a:t>p</a:t>
            </a:r>
            <a:r>
              <a:rPr lang="en-US" baseline="-25000" dirty="0" err="1"/>
              <a:t>E</a:t>
            </a:r>
            <a:r>
              <a:rPr lang="en-US" dirty="0"/>
              <a:t> =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endParaRPr lang="en-US" baseline="-25000" dirty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H</a:t>
            </a:r>
            <a:r>
              <a:rPr lang="en-US" baseline="-25000" dirty="0" smtClean="0"/>
              <a:t>0</a:t>
            </a:r>
            <a:r>
              <a:rPr lang="en-US" dirty="0"/>
              <a:t>: </a:t>
            </a:r>
            <a:r>
              <a:rPr lang="en-US" i="1" dirty="0" err="1"/>
              <a:t>p</a:t>
            </a:r>
            <a:r>
              <a:rPr lang="en-US" baseline="-25000" dirty="0" err="1"/>
              <a:t>E</a:t>
            </a:r>
            <a:r>
              <a:rPr lang="en-US" dirty="0"/>
              <a:t> &gt;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r>
              <a:rPr lang="en-US" dirty="0"/>
              <a:t>, H</a:t>
            </a:r>
            <a:r>
              <a:rPr lang="en-US" baseline="-25000" dirty="0"/>
              <a:t>a</a:t>
            </a:r>
            <a:r>
              <a:rPr lang="en-US" dirty="0"/>
              <a:t>: </a:t>
            </a:r>
            <a:r>
              <a:rPr lang="en-US" i="1" dirty="0" err="1"/>
              <a:t>p</a:t>
            </a:r>
            <a:r>
              <a:rPr lang="en-US" baseline="-25000" dirty="0" err="1"/>
              <a:t>E</a:t>
            </a:r>
            <a:r>
              <a:rPr lang="en-US" dirty="0"/>
              <a:t> = </a:t>
            </a:r>
            <a:r>
              <a:rPr lang="en-US" i="1" dirty="0" err="1"/>
              <a:t>p</a:t>
            </a:r>
            <a:r>
              <a:rPr lang="en-US" baseline="-25000" dirty="0" err="1"/>
              <a:t>C</a:t>
            </a:r>
            <a:endParaRPr lang="en-US" baseline="-25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185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25" y="2286000"/>
            <a:ext cx="4298969" cy="2819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25" y="1527048"/>
            <a:ext cx="4422648" cy="75895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</a:rPr>
              <a:t>Before Infectious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453" y="2286000"/>
            <a:ext cx="4470401" cy="28194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561453" y="1527048"/>
            <a:ext cx="4422648" cy="758952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After Infectious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362200" y="152400"/>
            <a:ext cx="4422648" cy="758952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tx2"/>
                </a:solidFill>
              </a:rPr>
              <a:t>Data</a:t>
            </a:r>
            <a:endParaRPr lang="en-US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0" y="5257800"/>
                <a:ext cx="4451178" cy="14325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𝐸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charset="0"/>
                            </a:rPr>
                            <m:t>20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charset="0"/>
                            </a:rPr>
                            <m:t>113</m:t>
                          </m:r>
                        </m:den>
                      </m:f>
                      <m:r>
                        <a:rPr lang="en-US" sz="2400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bg-BG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charset="0"/>
                            </a:rPr>
                            <m:t>36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charset="0"/>
                            </a:rPr>
                            <m:t>117</m:t>
                          </m:r>
                        </m:den>
                      </m:f>
                    </m:oMath>
                  </m:oMathPara>
                </a14:m>
                <a:endParaRPr lang="en-US" sz="2400" b="0" i="1" dirty="0" smtClean="0">
                  <a:latin typeface="Cambria Math" charset="0"/>
                </a:endParaRPr>
              </a:p>
              <a:p>
                <a:pPr algn="just"/>
                <a:r>
                  <a:rPr lang="en-US" sz="2400" b="0" dirty="0" smtClean="0"/>
                  <a:t>    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charset="0"/>
                      </a:rPr>
                      <m:t>                </m:t>
                    </m:r>
                    <m:r>
                      <a:rPr lang="en-US" sz="2400" b="0" i="1" smtClean="0">
                        <a:latin typeface="Cambria Math"/>
                      </a:rPr>
                      <m:t>  </m:t>
                    </m:r>
                    <m:r>
                      <a:rPr lang="en-US" sz="2400" b="0" i="1" smtClean="0">
                        <a:latin typeface="Cambria Math" charset="0"/>
                      </a:rPr>
                      <m:t>=0.177−0.308</m:t>
                    </m:r>
                  </m:oMath>
                </a14:m>
                <a:endParaRPr lang="en-US" sz="2400" b="0" i="1" dirty="0" smtClean="0">
                  <a:latin typeface="Cambria Math" charset="0"/>
                </a:endParaRPr>
              </a:p>
              <a:p>
                <a:pPr algn="just"/>
                <a:r>
                  <a:rPr lang="en-US" sz="2400" b="0" dirty="0" smtClean="0"/>
                  <a:t>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=−0.131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57800"/>
                <a:ext cx="4451178" cy="1432508"/>
              </a:xfrm>
              <a:prstGeom prst="rect">
                <a:avLst/>
              </a:prstGeom>
              <a:blipFill rotWithShape="1">
                <a:blip r:embed="rId4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06474" y="5205772"/>
                <a:ext cx="4437526" cy="14643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𝐸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charset="0"/>
                            </a:rPr>
                            <m:t>37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charset="0"/>
                            </a:rPr>
                            <m:t>149</m:t>
                          </m:r>
                        </m:den>
                      </m:f>
                      <m:r>
                        <a:rPr lang="en-US" sz="2400" b="0" i="1" smtClean="0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bg-BG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charset="0"/>
                            </a:rPr>
                            <m:t>14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charset="0"/>
                            </a:rPr>
                            <m:t>144</m:t>
                          </m:r>
                        </m:den>
                      </m:f>
                    </m:oMath>
                  </m:oMathPara>
                </a14:m>
                <a:endParaRPr lang="en-US" sz="2400" b="0" i="1" dirty="0" smtClean="0">
                  <a:latin typeface="Cambria Math" charset="0"/>
                </a:endParaRPr>
              </a:p>
              <a:p>
                <a:pPr algn="just"/>
                <a:r>
                  <a:rPr lang="en-US" sz="2400" b="0" dirty="0" smtClean="0"/>
                  <a:t>    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charset="0"/>
                      </a:rPr>
                      <m:t>                </m:t>
                    </m:r>
                    <m:r>
                      <a:rPr lang="en-US" sz="2400" b="0" i="1" smtClean="0">
                        <a:latin typeface="Cambria Math"/>
                      </a:rPr>
                      <m:t>  </m:t>
                    </m:r>
                    <m:r>
                      <a:rPr lang="en-US" sz="2400" b="0" i="1" smtClean="0">
                        <a:latin typeface="Cambria Math" charset="0"/>
                      </a:rPr>
                      <m:t>=0.248−0.097</m:t>
                    </m:r>
                  </m:oMath>
                </a14:m>
                <a:endParaRPr lang="en-US" sz="2400" b="0" i="1" dirty="0" smtClean="0">
                  <a:latin typeface="Cambria Math" charset="0"/>
                </a:endParaRPr>
              </a:p>
              <a:p>
                <a:pPr algn="just"/>
                <a:r>
                  <a:rPr lang="en-US" sz="2400" b="0" dirty="0" smtClean="0"/>
                  <a:t>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=0.151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474" y="5205772"/>
                <a:ext cx="4437526" cy="14643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08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9144000" cy="1066800"/>
          </a:xfrm>
        </p:spPr>
        <p:txBody>
          <a:bodyPr>
            <a:no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3200" b="1" dirty="0" smtClean="0">
                <a:solidFill>
                  <a:schemeClr val="tx2"/>
                </a:solidFill>
                <a:latin typeface="+mn-lt"/>
              </a:rPr>
              <a:t>The difference in proportions is 0.151 and the standard error is 0.05.  Is this significant?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152400" y="1371600"/>
            <a:ext cx="3352800" cy="144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Yes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 No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213" y="1105152"/>
            <a:ext cx="4867787" cy="30588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504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Malaria and Mosquitoes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It appears that mosquitoes infected by malaria parasites do, in fact, behave in ways advantageous to the parasites!</a:t>
            </a: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Exposed mosquitos are </a:t>
            </a:r>
            <a:r>
              <a:rPr lang="en-US" sz="2800" b="1" i="1" dirty="0" smtClean="0">
                <a:solidFill>
                  <a:schemeClr val="accent2">
                    <a:lumMod val="75000"/>
                  </a:schemeClr>
                </a:solidFill>
              </a:rPr>
              <a:t>less</a:t>
            </a: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/>
                </a:solidFill>
              </a:rPr>
              <a:t>likely to approach before becoming infectious (so more likely to stay alive)</a:t>
            </a: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Exposed mosquitos are </a:t>
            </a:r>
            <a:r>
              <a:rPr lang="en-US" sz="2800" b="1" i="1" dirty="0" smtClean="0">
                <a:solidFill>
                  <a:schemeClr val="accent5">
                    <a:lumMod val="75000"/>
                  </a:schemeClr>
                </a:solidFill>
              </a:rPr>
              <a:t>more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/>
                </a:solidFill>
              </a:rPr>
              <a:t>likely to approach humans after becoming infectious (so more likely to pass on disease)</a:t>
            </a:r>
          </a:p>
          <a:p>
            <a:r>
              <a:rPr lang="en-US" sz="2800" dirty="0" smtClean="0"/>
              <a:t>Toxoplasmosis parasites impact rat and human behavior, malaria parasites impact mosquito behavior… what else might parasites be impacting that we have yet to discover??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5525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533400" y="76200"/>
            <a:ext cx="8610600" cy="1219200"/>
          </a:xfrm>
          <a:prstGeom prst="rect">
            <a:avLst/>
          </a:prstGeom>
        </p:spPr>
        <p:txBody>
          <a:bodyPr anchor="ctr"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4400" b="1" dirty="0" smtClean="0">
                <a:solidFill>
                  <a:schemeClr val="tx2"/>
                </a:solidFill>
              </a:rPr>
              <a:t>Formula for p-values Using N(0,1)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Up Arrow Callout 9"/>
          <p:cNvSpPr/>
          <p:nvPr/>
        </p:nvSpPr>
        <p:spPr>
          <a:xfrm>
            <a:off x="3810000" y="4078665"/>
            <a:ext cx="2209800" cy="1560135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3496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From randomization distribution</a:t>
            </a:r>
          </a:p>
        </p:txBody>
      </p:sp>
      <p:sp>
        <p:nvSpPr>
          <p:cNvPr id="11" name="Down Arrow Callout 10"/>
          <p:cNvSpPr/>
          <p:nvPr/>
        </p:nvSpPr>
        <p:spPr>
          <a:xfrm>
            <a:off x="5715000" y="1676400"/>
            <a:ext cx="1828800" cy="1143000"/>
          </a:xfrm>
          <a:prstGeom prst="downArrowCallou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From H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graphicFrame>
        <p:nvGraphicFramePr>
          <p:cNvPr id="1976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404707"/>
              </p:ext>
            </p:extLst>
          </p:nvPr>
        </p:nvGraphicFramePr>
        <p:xfrm>
          <a:off x="1022350" y="2676585"/>
          <a:ext cx="69469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1" name="Equation" r:id="rId4" imgW="1993680" imgH="393480" progId="Equation.DSMT4">
                  <p:embed/>
                </p:oleObj>
              </mc:Choice>
              <mc:Fallback>
                <p:oleObj name="Equation" r:id="rId4" imgW="1993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2676585"/>
                        <a:ext cx="6946900" cy="1371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own Arrow Callout 8"/>
          <p:cNvSpPr/>
          <p:nvPr/>
        </p:nvSpPr>
        <p:spPr>
          <a:xfrm>
            <a:off x="2362200" y="1676400"/>
            <a:ext cx="2133600" cy="1143000"/>
          </a:xfrm>
          <a:prstGeom prst="downArrowCallou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From original data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65597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990600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First Born </a:t>
            </a:r>
            <a:r>
              <a:rPr lang="en-US" b="1" dirty="0" smtClean="0"/>
              <a:t>Children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600200"/>
                <a:ext cx="9144000" cy="525780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sz="3200" dirty="0"/>
                  <a:t>Are first born children actually smarter?</a:t>
                </a:r>
              </a:p>
              <a:p>
                <a:pPr lvl="1"/>
                <a:r>
                  <a:rPr lang="en-US" sz="3200" dirty="0"/>
                  <a:t> Explanatory variable: first born or not</a:t>
                </a:r>
              </a:p>
              <a:p>
                <a:pPr lvl="1">
                  <a:spcAft>
                    <a:spcPts val="1800"/>
                  </a:spcAft>
                </a:pPr>
                <a:r>
                  <a:rPr lang="en-US" sz="3200" dirty="0"/>
                  <a:t> Response variable: combined SAT score</a:t>
                </a:r>
                <a:endParaRPr lang="en-US" sz="2800" dirty="0"/>
              </a:p>
              <a:p>
                <a:pPr>
                  <a:spcAft>
                    <a:spcPts val="1800"/>
                  </a:spcAft>
                </a:pPr>
                <a:r>
                  <a:rPr lang="en-US" sz="3200" dirty="0"/>
                  <a:t> Based on a sample of college students,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3200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3200">
                            <a:latin typeface="Cambria Math"/>
                          </a:rPr>
                          <m:t>𝑓𝑖𝑟𝑠𝑡</m:t>
                        </m:r>
                        <m:r>
                          <a:rPr lang="en-US" sz="3200">
                            <a:latin typeface="Cambria Math"/>
                          </a:rPr>
                          <m:t> </m:t>
                        </m:r>
                        <m:r>
                          <a:rPr lang="en-US" sz="3200">
                            <a:latin typeface="Cambria Math"/>
                          </a:rPr>
                          <m:t>𝑏𝑜𝑟𝑛</m:t>
                        </m:r>
                      </m:sub>
                    </m:sSub>
                    <m:r>
                      <a:rPr lang="en-US" sz="320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3200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3200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3200">
                            <a:latin typeface="Cambria Math"/>
                          </a:rPr>
                          <m:t>𝑛𝑜𝑡</m:t>
                        </m:r>
                        <m:r>
                          <a:rPr lang="en-US" sz="3200">
                            <a:latin typeface="Cambria Math"/>
                          </a:rPr>
                          <m:t> </m:t>
                        </m:r>
                        <m:r>
                          <a:rPr lang="en-US" sz="3200">
                            <a:latin typeface="Cambria Math"/>
                          </a:rPr>
                          <m:t>𝑓𝑖𝑟𝑠𝑡</m:t>
                        </m:r>
                        <m:r>
                          <a:rPr lang="en-US" sz="3200">
                            <a:latin typeface="Cambria Math"/>
                          </a:rPr>
                          <m:t> </m:t>
                        </m:r>
                        <m:r>
                          <a:rPr lang="en-US" sz="3200">
                            <a:latin typeface="Cambria Math"/>
                          </a:rPr>
                          <m:t>𝑏𝑜𝑟𝑛</m:t>
                        </m:r>
                      </m:sub>
                    </m:sSub>
                    <m:r>
                      <a:rPr lang="en-US" sz="3200">
                        <a:latin typeface="Cambria Math"/>
                      </a:rPr>
                      <m:t>=30.26</m:t>
                    </m:r>
                  </m:oMath>
                </a14:m>
                <a:endParaRPr lang="en-US" sz="3200" dirty="0"/>
              </a:p>
              <a:p>
                <a:pPr>
                  <a:spcAft>
                    <a:spcPts val="1800"/>
                  </a:spcAft>
                </a:pPr>
                <a:r>
                  <a:rPr lang="en-US" sz="3200" dirty="0"/>
                  <a:t>  From a randomization distribution, we find SE = 37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600200"/>
                <a:ext cx="9144000" cy="5257800"/>
              </a:xfrm>
              <a:blipFill rotWithShape="1">
                <a:blip r:embed="rId3"/>
                <a:stretch>
                  <a:fillRect l="-467" t="-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524198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PQuestion"/>
              <p:cNvSpPr>
                <a:spLocks noGrp="1"/>
              </p:cNvSpPr>
              <p:nvPr>
                <p:ph type="title" idx="4294967295"/>
              </p:nvPr>
            </p:nvSpPr>
            <p:spPr>
              <a:xfrm>
                <a:off x="0" y="152400"/>
                <a:ext cx="9144000" cy="1066800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3200" b="1" i="1">
                                <a:solidFill>
                                  <a:schemeClr val="tx2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3200" b="1" i="1">
                                <a:solidFill>
                                  <a:schemeClr val="tx2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𝒇𝒊𝒓𝒔𝒕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𝒃𝒐𝒓𝒏</m:t>
                        </m:r>
                      </m:sub>
                    </m:sSub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−</m:t>
                    </m:r>
                    <m:sSub>
                      <m:sSubPr>
                        <m:ctrlP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3200" b="1" i="1">
                                <a:solidFill>
                                  <a:schemeClr val="tx2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3200" b="1" i="1">
                                <a:solidFill>
                                  <a:schemeClr val="tx2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𝒏𝒐𝒕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𝒇𝒊𝒓𝒔𝒕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𝒃𝒐𝒓𝒏</m:t>
                        </m:r>
                      </m:sub>
                    </m:sSub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𝟑𝟎</m:t>
                    </m:r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𝟐𝟔</m:t>
                    </m:r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, </m:t>
                    </m:r>
                  </m:oMath>
                </a14:m>
                <a:r>
                  <a:rPr lang="en-US" sz="3200" b="1" i="1" dirty="0">
                    <a:solidFill>
                      <a:schemeClr val="tx2"/>
                    </a:solidFill>
                    <a:latin typeface="+mn-lt"/>
                    <a:cs typeface="Times New Roman" pitchFamily="18" charset="0"/>
                  </a:rPr>
                  <a:t>SE </a:t>
                </a:r>
                <a:r>
                  <a:rPr lang="en-US" sz="3200" b="1" dirty="0">
                    <a:solidFill>
                      <a:schemeClr val="tx2"/>
                    </a:solidFill>
                    <a:latin typeface="+mn-lt"/>
                    <a:cs typeface="Times New Roman" pitchFamily="18" charset="0"/>
                  </a:rPr>
                  <a:t>= </a:t>
                </a:r>
                <a:r>
                  <a:rPr lang="en-US" sz="3200" b="1" dirty="0" smtClean="0">
                    <a:solidFill>
                      <a:schemeClr val="tx2"/>
                    </a:solidFill>
                    <a:latin typeface="+mn-lt"/>
                    <a:cs typeface="Times New Roman" pitchFamily="18" charset="0"/>
                  </a:rPr>
                  <a:t>37</a:t>
                </a:r>
                <a:r>
                  <a:rPr lang="en-US" sz="3200" b="1" dirty="0">
                    <a:solidFill>
                      <a:schemeClr val="tx2"/>
                    </a:solidFill>
                    <a:latin typeface="+mn-lt"/>
                    <a:cs typeface="Times New Roman" pitchFamily="18" charset="0"/>
                  </a:rPr>
                  <a:t/>
                </a:r>
                <a:br>
                  <a:rPr lang="en-US" sz="3200" b="1" dirty="0">
                    <a:solidFill>
                      <a:schemeClr val="tx2"/>
                    </a:solidFill>
                    <a:latin typeface="+mn-lt"/>
                    <a:cs typeface="Times New Roman" pitchFamily="18" charset="0"/>
                  </a:rPr>
                </a:br>
                <a:r>
                  <a:rPr lang="en-US" sz="3200" b="1" dirty="0">
                    <a:solidFill>
                      <a:schemeClr val="tx2"/>
                    </a:solidFill>
                    <a:latin typeface="+mn-lt"/>
                    <a:cs typeface="Times New Roman" pitchFamily="18" charset="0"/>
                  </a:rPr>
                  <a:t>What is the standardized test statistic?</a:t>
                </a:r>
              </a:p>
            </p:txBody>
          </p:sp>
        </mc:Choice>
        <mc:Fallback xmlns="">
          <p:sp>
            <p:nvSpPr>
              <p:cNvPr id="2" name="TPQuestion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0" y="152400"/>
                <a:ext cx="9144000" cy="1066800"/>
              </a:xfrm>
              <a:blipFill rotWithShape="1">
                <a:blip r:embed="rId6"/>
                <a:stretch>
                  <a:fillRect l="-1667" t="-9143" b="-21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152400" y="1371600"/>
            <a:ext cx="5867400" cy="25146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spcAft>
                <a:spcPts val="1800"/>
              </a:spcAft>
              <a:buAutoNum type="alphaUcPeriod"/>
            </a:pPr>
            <a:r>
              <a:rPr lang="en-US" sz="2800" dirty="0" smtClean="0">
                <a:solidFill>
                  <a:prstClr val="black"/>
                </a:solidFill>
                <a:cs typeface="Times New Roman" pitchFamily="18" charset="0"/>
              </a:rPr>
              <a:t>0.818</a:t>
            </a: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spcAft>
                <a:spcPts val="1800"/>
              </a:spcAft>
              <a:buAutoNum type="alphaUcPeriod"/>
            </a:pPr>
            <a:r>
              <a:rPr lang="en-US" sz="2800" dirty="0" smtClean="0">
                <a:solidFill>
                  <a:prstClr val="black"/>
                </a:solidFill>
                <a:cs typeface="Times New Roman" pitchFamily="18" charset="0"/>
              </a:rPr>
              <a:t>30.26</a:t>
            </a:r>
          </a:p>
          <a:p>
            <a:pPr marL="514350" indent="-514350">
              <a:spcAft>
                <a:spcPts val="1800"/>
              </a:spcAft>
              <a:buAutoNum type="alphaUcPeriod"/>
            </a:pPr>
            <a:r>
              <a:rPr lang="en-US" sz="2800" dirty="0" smtClean="0">
                <a:solidFill>
                  <a:prstClr val="black"/>
                </a:solidFill>
                <a:cs typeface="Times New Roman" pitchFamily="18" charset="0"/>
              </a:rPr>
              <a:t>2.784</a:t>
            </a:r>
          </a:p>
          <a:p>
            <a:pPr marL="514350" indent="-514350">
              <a:spcAft>
                <a:spcPts val="1800"/>
              </a:spcAft>
              <a:buAutoNum type="alphaUcPeriod"/>
            </a:pPr>
            <a:r>
              <a:rPr lang="en-US" sz="2800" dirty="0" smtClean="0">
                <a:solidFill>
                  <a:prstClr val="black"/>
                </a:solidFill>
                <a:cs typeface="Times New Roman" pitchFamily="18" charset="0"/>
              </a:rPr>
              <a:t>1.960</a:t>
            </a: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915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PQuestion"/>
              <p:cNvSpPr>
                <a:spLocks noGrp="1"/>
              </p:cNvSpPr>
              <p:nvPr>
                <p:ph type="title" idx="4294967295"/>
              </p:nvPr>
            </p:nvSpPr>
            <p:spPr>
              <a:xfrm>
                <a:off x="0" y="152400"/>
                <a:ext cx="9144000" cy="1600200"/>
              </a:xfrm>
            </p:spPr>
            <p:txBody>
              <a:bodyPr>
                <a:no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3200" b="1" i="1">
                                <a:solidFill>
                                  <a:schemeClr val="tx2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3200" b="1" i="1">
                                <a:solidFill>
                                  <a:schemeClr val="tx2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𝒇𝒊𝒓𝒔𝒕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𝒃𝒐𝒓𝒏</m:t>
                        </m:r>
                      </m:sub>
                    </m:sSub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−</m:t>
                    </m:r>
                    <m:sSub>
                      <m:sSubPr>
                        <m:ctrlP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3200" b="1" i="1">
                                <a:solidFill>
                                  <a:schemeClr val="tx2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3200" b="1" i="1">
                                <a:solidFill>
                                  <a:schemeClr val="tx2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𝒏𝒐𝒕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𝒇𝒊𝒓𝒔𝒕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3200" b="1" i="1">
                            <a:solidFill>
                              <a:schemeClr val="tx2"/>
                            </a:solidFill>
                            <a:latin typeface="Cambria Math"/>
                            <a:cs typeface="Times New Roman" pitchFamily="18" charset="0"/>
                          </a:rPr>
                          <m:t>𝒃𝒐𝒓𝒏</m:t>
                        </m:r>
                      </m:sub>
                    </m:sSub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𝟑𝟎</m:t>
                    </m:r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𝟐𝟔</m:t>
                    </m:r>
                    <m:r>
                      <a:rPr lang="en-US" sz="3200" b="1" i="1">
                        <a:solidFill>
                          <a:schemeClr val="tx2"/>
                        </a:solidFill>
                        <a:latin typeface="Cambria Math"/>
                        <a:cs typeface="Times New Roman" pitchFamily="18" charset="0"/>
                      </a:rPr>
                      <m:t>, </m:t>
                    </m:r>
                  </m:oMath>
                </a14:m>
                <a:r>
                  <a:rPr lang="en-US" sz="3200" b="1" i="1" dirty="0">
                    <a:solidFill>
                      <a:schemeClr val="tx2"/>
                    </a:solidFill>
                    <a:latin typeface="+mn-lt"/>
                    <a:cs typeface="Times New Roman" pitchFamily="18" charset="0"/>
                  </a:rPr>
                  <a:t>SE </a:t>
                </a:r>
                <a:r>
                  <a:rPr lang="en-US" sz="3200" b="1" dirty="0">
                    <a:solidFill>
                      <a:schemeClr val="tx2"/>
                    </a:solidFill>
                    <a:latin typeface="+mn-lt"/>
                    <a:cs typeface="Times New Roman" pitchFamily="18" charset="0"/>
                  </a:rPr>
                  <a:t>= </a:t>
                </a:r>
                <a:r>
                  <a:rPr lang="en-US" sz="3200" b="1" dirty="0" smtClean="0">
                    <a:solidFill>
                      <a:schemeClr val="tx2"/>
                    </a:solidFill>
                    <a:latin typeface="+mn-lt"/>
                    <a:cs typeface="Times New Roman" pitchFamily="18" charset="0"/>
                  </a:rPr>
                  <a:t>37</a:t>
                </a:r>
                <a:r>
                  <a:rPr lang="en-US" sz="3200" b="1" dirty="0">
                    <a:solidFill>
                      <a:schemeClr val="tx2"/>
                    </a:solidFill>
                    <a:latin typeface="+mn-lt"/>
                    <a:cs typeface="Times New Roman" pitchFamily="18" charset="0"/>
                  </a:rPr>
                  <a:t/>
                </a:r>
                <a:br>
                  <a:rPr lang="en-US" sz="3200" b="1" dirty="0">
                    <a:solidFill>
                      <a:schemeClr val="tx2"/>
                    </a:solidFill>
                    <a:latin typeface="+mn-lt"/>
                    <a:cs typeface="Times New Roman" pitchFamily="18" charset="0"/>
                  </a:rPr>
                </a:br>
                <a:r>
                  <a:rPr lang="en-US" sz="3200" b="1" dirty="0">
                    <a:cs typeface="Times New Roman" pitchFamily="18" charset="0"/>
                  </a:rPr>
                  <a:t>The standardized test statistic is 0.818.</a:t>
                </a:r>
                <a:br>
                  <a:rPr lang="en-US" sz="3200" b="1" dirty="0">
                    <a:cs typeface="Times New Roman" pitchFamily="18" charset="0"/>
                  </a:rPr>
                </a:br>
                <a:r>
                  <a:rPr lang="en-US" sz="3200" b="1" dirty="0">
                    <a:cs typeface="Times New Roman" pitchFamily="18" charset="0"/>
                  </a:rPr>
                  <a:t>The p-value is</a:t>
                </a:r>
                <a:r>
                  <a:rPr lang="en-US" sz="3200" b="1" dirty="0" smtClean="0">
                    <a:cs typeface="Times New Roman" pitchFamily="18" charset="0"/>
                  </a:rPr>
                  <a:t>:</a:t>
                </a:r>
                <a:endParaRPr lang="en-US" sz="3200" b="1" dirty="0">
                  <a:solidFill>
                    <a:schemeClr val="tx2"/>
                  </a:solidFill>
                  <a:latin typeface="+mn-lt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TPQuestion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0" y="152400"/>
                <a:ext cx="9144000" cy="1600200"/>
              </a:xfrm>
              <a:blipFill rotWithShape="1">
                <a:blip r:embed="rId6"/>
                <a:stretch>
                  <a:fillRect l="-1667" t="-4563" b="-1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76200" y="1905000"/>
            <a:ext cx="5867400" cy="25146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spcAft>
                <a:spcPts val="1800"/>
              </a:spcAft>
              <a:buAutoNum type="alphaUcPeriod"/>
            </a:pP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1.960</a:t>
            </a:r>
          </a:p>
          <a:p>
            <a:pPr marL="514350" indent="-514350">
              <a:spcAft>
                <a:spcPts val="1800"/>
              </a:spcAft>
              <a:buAutoNum type="alphaUcPeriod"/>
            </a:pP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0.001</a:t>
            </a:r>
            <a:endParaRPr lang="en-US" sz="2800" dirty="0" smtClean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spcAft>
                <a:spcPts val="1800"/>
              </a:spcAft>
              <a:buAutoNum type="alphaUcPeriod"/>
            </a:pP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0.207</a:t>
            </a:r>
            <a:endParaRPr lang="en-US" sz="2800" dirty="0" smtClean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spcAft>
                <a:spcPts val="1800"/>
              </a:spcAft>
              <a:buAutoNum type="alphaUcPeriod"/>
            </a:pP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0.157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6927" y="1189022"/>
            <a:ext cx="160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000" dirty="0" err="1" smtClean="0">
                <a:hlinkClick r:id="rId7"/>
              </a:rPr>
              <a:t>StatKey</a:t>
            </a:r>
            <a:r>
              <a:rPr lang="en-US" sz="3000" dirty="0" smtClean="0"/>
              <a:t> </a:t>
            </a: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524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381000" y="152400"/>
            <a:ext cx="82677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4400" b="1" dirty="0" smtClean="0">
                <a:solidFill>
                  <a:schemeClr val="tx2"/>
                </a:solidFill>
              </a:rPr>
              <a:t>Summary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1976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032732"/>
              </p:ext>
            </p:extLst>
          </p:nvPr>
        </p:nvGraphicFramePr>
        <p:xfrm>
          <a:off x="838200" y="2438400"/>
          <a:ext cx="69469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5" name="Equation" r:id="rId3" imgW="1993680" imgH="393480" progId="Equation.DSMT4">
                  <p:embed/>
                </p:oleObj>
              </mc:Choice>
              <mc:Fallback>
                <p:oleObj name="Equation" r:id="rId3" imgW="1993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438400"/>
                        <a:ext cx="6946900" cy="1371600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2000" y="3911024"/>
            <a:ext cx="838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From there, the p-value is the </a:t>
            </a:r>
            <a:r>
              <a:rPr lang="en-US" sz="3200" dirty="0"/>
              <a:t>proportion </a:t>
            </a:r>
            <a:r>
              <a:rPr lang="en-US" sz="3200" dirty="0" smtClean="0"/>
              <a:t>of a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standard normal distribution</a:t>
            </a:r>
            <a:r>
              <a:rPr lang="en-US" sz="3200" dirty="0" smtClean="0"/>
              <a:t>,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N(0,1)</a:t>
            </a:r>
            <a:r>
              <a:rPr lang="en-US" sz="3200" dirty="0" smtClean="0"/>
              <a:t>, that is beyond the </a:t>
            </a: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</a:rPr>
              <a:t>standardized test statistic</a:t>
            </a:r>
            <a:r>
              <a:rPr lang="en-US" sz="3200" i="1" dirty="0" smtClean="0"/>
              <a:t>, </a:t>
            </a:r>
            <a:r>
              <a:rPr lang="en-US" sz="3200" b="1" i="1" dirty="0" smtClean="0">
                <a:solidFill>
                  <a:schemeClr val="accent5">
                    <a:lumMod val="75000"/>
                  </a:schemeClr>
                </a:solidFill>
              </a:rPr>
              <a:t>z</a:t>
            </a:r>
            <a:r>
              <a:rPr lang="en-US" sz="3200" i="1" dirty="0" smtClean="0"/>
              <a:t>.</a:t>
            </a:r>
            <a:endParaRPr lang="en-US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1157169"/>
            <a:ext cx="85344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b="1" dirty="0" smtClean="0">
                <a:solidFill>
                  <a:schemeClr val="tx2"/>
                </a:solidFill>
              </a:rPr>
              <a:t>If the distribution of the statistic is normal, we can obtain the p-value by calculating:</a:t>
            </a:r>
          </a:p>
          <a:p>
            <a:endParaRPr lang="en-US" dirty="0" smtClean="0"/>
          </a:p>
          <a:p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84986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POLLINGCYCLE" val="2"/>
  <p:tag name="INCLUDENONRESPONDERS" val="False"/>
  <p:tag name="CORRECTPOINTVALUE" val="100"/>
  <p:tag name="ZEROBASED" val="False"/>
  <p:tag name="FIBDISPLAYRESULTS" val="True"/>
  <p:tag name="PRRESPONSE1" val="10"/>
  <p:tag name="PRRESPONSE5" val="6"/>
  <p:tag name="PRRESPONSE9" val="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0"/>
  <p:tag name="RACEANIMATIONSPEED" val="3"/>
  <p:tag name="NUMRESPONSES" val="1"/>
  <p:tag name="CUSTOMCELLBACKCOLOR4" val="-8355712"/>
  <p:tag name="PRRESPONSE7" val="4"/>
  <p:tag name="FIBINCLUDEOTHER" val="True"/>
  <p:tag name="DELIMITERS" val="3.1"/>
  <p:tag name="EXPANDSHOWBAR" val="True"/>
  <p:tag name="TASKPANEKEY" val="ce54f46e-e319-4b67-b080-7e04f504117e"/>
  <p:tag name="TPPRESENTATIONGUID" val="a474866c-e5c8-431d-8c5f-429235024a48"/>
  <p:tag name="WASPOLLED" val="6DBD8FD71A364A1C8FB95FA40B27C6AD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C509702CD7E24CFDAB21BE0AD9F1319D&lt;/guid&gt;&#10;        &lt;description /&gt;&#10;        &lt;date&gt;7/29/2017 12:59:3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7BA380FDADE947B0B8BCC7BE23B4AB59&lt;/guid&gt;&#10;            &lt;repollguid&gt;30F38BD42531402D85E3F64FB0B6C4B3&lt;/repollguid&gt;&#10;            &lt;sourceid&gt;5CF1E3B3B45E4707A7A4616E8908F4B1&lt;/sourceid&gt;&#10;            &lt;questiontext&gt;We’ll first look at the mosquitos before they become infectious (days 1–8).     pC: proportion of controls to approach human pE: proportion of exposed to approach humanWhat are the relevant hypotheses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07949B5390B2452F8E7046EAA3692CF3&lt;/guid&gt;&#10;                    &lt;answertext&gt; H0: pE = pC, Ha: pE &amp;lt; pC&lt;/answertext&gt;&#10;                    &lt;valuetype&gt;0&lt;/valuetype&gt;&#10;                &lt;/answer&gt;&#10;                &lt;answer&gt;&#10;                    &lt;guid&gt;F92B63CC59404C27803282DFD84A576F&lt;/guid&gt;&#10;                    &lt;answertext&gt; H0: pE = pC, Ha: pE &amp;gt; pC&lt;/answertext&gt;&#10;                    &lt;valuetype&gt;0&lt;/valuetype&gt;&#10;                &lt;/answer&gt;&#10;                &lt;answer&gt;&#10;                    &lt;guid&gt;3B4FF9BBDE3246CF883D6D7006C79C65&lt;/guid&gt;&#10;                    &lt;answertext&gt; H0: pE &amp;lt; pC, Ha: pE = pC&lt;/answertext&gt;&#10;                    &lt;valuetype&gt;0&lt;/valuetype&gt;&#10;                &lt;/answer&gt;&#10;                &lt;answer&gt;&#10;                    &lt;guid&gt;5E7F32D096914E0FB8A2EBB9D718EEB9&lt;/guid&gt;&#10;                    &lt;answertext&gt; H0: pE &amp;gt; pC, Ha: pE = pC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57921B3894B5419AA3FDE14109464430&lt;/guid&gt;&#10;        &lt;description /&gt;&#10;        &lt;date&gt;7/29/2017 1:13:5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8F092CA52D3A4737BE0EAB93D18065ED&lt;/guid&gt;&#10;            &lt;repollguid&gt;32EEE6F7AE2F478187FA3D5CCB36EB31&lt;/repollguid&gt;&#10;            &lt;sourceid&gt;02D737BC65714649B62B2A7DDBDDE44A&lt;/sourceid&gt;&#10;            &lt;questiontext&gt;If a randomization distribution is normally distributed, we can write it as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B290C8670B82466E81030C34CAE05AB6&lt;/guid&gt;&#10;                    &lt;answertext&gt;N(null value, se)&lt;/answertext&gt;&#10;                    &lt;valuetype&gt;0&lt;/valuetype&gt;&#10;                &lt;/answer&gt;&#10;                &lt;answer&gt;&#10;                    &lt;guid&gt;FF5317E6BC8A4C28BF2CD40AE5A57AE2&lt;/guid&gt;&#10;                    &lt;answertext&gt;N(statistic, se)&lt;/answertext&gt;&#10;                    &lt;valuetype&gt;0&lt;/valuetype&gt;&#10;                &lt;/answer&gt;&#10;                &lt;answer&gt;&#10;                    &lt;guid&gt;262795B225374FF8A187D6E55CC3AADA&lt;/guid&gt;&#10;                    &lt;answertext&gt;N(parameter, se)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57921B3894B5419AA3FDE14109464430&lt;/guid&gt;&#10;        &lt;description /&gt;&#10;        &lt;date&gt;7/29/2017 1:13:5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10CB41961E2B4AE9A2543714834B95A2&lt;/guid&gt;&#10;            &lt;repollguid&gt;32EEE6F7AE2F478187FA3D5CCB36EB31&lt;/repollguid&gt;&#10;            &lt;sourceid&gt;02D737BC65714649B62B2A7DDBDDE44A&lt;/sourceid&gt;&#10;            &lt;questiontext&gt;Which normal distribution should we use to approximate this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B290C8670B82466E81030C34CAE05AB6&lt;/guid&gt;&#10;                    &lt;answertext&gt;N(0, -0.131)&lt;/answertext&gt;&#10;                    &lt;valuetype&gt;0&lt;/valuetype&gt;&#10;                &lt;/answer&gt;&#10;                &lt;answer&gt;&#10;                    &lt;guid&gt;FF5317E6BC8A4C28BF2CD40AE5A57AE2&lt;/guid&gt;&#10;                    &lt;answertext&gt;N(0, 0.056)&lt;/answertext&gt;&#10;                    &lt;valuetype&gt;0&lt;/valuetype&gt;&#10;                &lt;/answer&gt;&#10;                &lt;answer&gt;&#10;                    &lt;guid&gt;262795B225374FF8A187D6E55CC3AADA&lt;/guid&gt;&#10;                    &lt;answertext&gt;N(-0.131, 0.056)&lt;/answertext&gt;&#10;                    &lt;valuetype&gt;0&lt;/valuetype&gt;&#10;                &lt;/answer&gt;&#10;                &lt;answer&gt;&#10;                    &lt;guid&gt;2CE1D833C49D42C28CC1557B1CF363BC&lt;/guid&gt;&#10;                    &lt;answertext&gt;N(0.056, 0)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C509702CD7E24CFDAB21BE0AD9F1319D&lt;/guid&gt;&#10;        &lt;description /&gt;&#10;        &lt;date&gt;7/29/2017 12:59:3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A2AB18035234618993FB366A4EA9C31&lt;/guid&gt;&#10;            &lt;repollguid&gt;30F38BD42531402D85E3F64FB0B6C4B3&lt;/repollguid&gt;&#10;            &lt;sourceid&gt;5CF1E3B3B45E4707A7A4616E8908F4B1&lt;/sourceid&gt;&#10;            &lt;questiontext&gt;For the data after the mosquitos become infectious (Days 9 – 28), what are the relevant hypotheses? pC: proportion of controls to approach human pE: proportion of exposed to approach humanWhat are the relevant hypotheses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07949B5390B2452F8E7046EAA3692CF3&lt;/guid&gt;&#10;                    &lt;answertext&gt;H0: pE = pC, Ha: pE &amp;lt; pC&lt;/answertext&gt;&#10;                    &lt;valuetype&gt;0&lt;/valuetype&gt;&#10;                &lt;/answer&gt;&#10;                &lt;answer&gt;&#10;                    &lt;guid&gt;F92B63CC59404C27803282DFD84A576F&lt;/guid&gt;&#10;                    &lt;answertext&gt;H0: pE = pC, Ha: pE &amp;gt; pC&lt;/answertext&gt;&#10;                    &lt;valuetype&gt;0&lt;/valuetype&gt;&#10;                &lt;/answer&gt;&#10;                &lt;answer&gt;&#10;                    &lt;guid&gt;3B4FF9BBDE3246CF883D6D7006C79C65&lt;/guid&gt;&#10;                    &lt;answertext&gt;H0: pE &amp;lt; pC, Ha: pE = pC&lt;/answertext&gt;&#10;                    &lt;valuetype&gt;0&lt;/valuetype&gt;&#10;                &lt;/answer&gt;&#10;                &lt;answer&gt;&#10;                    &lt;guid&gt;5E7F32D096914E0FB8A2EBB9D718EEB9&lt;/guid&gt;&#10;                    &lt;answertext&gt;H0: pE &amp;gt; pC, Ha: pE = pC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C509702CD7E24CFDAB21BE0AD9F1319D&lt;/guid&gt;&#10;        &lt;description /&gt;&#10;        &lt;date&gt;7/29/2017 12:59:3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D35DC5CA61354B6D9AC33E15D8CFA567&lt;/guid&gt;&#10;            &lt;repollguid&gt;30F38BD42531402D85E3F64FB0B6C4B3&lt;/repollguid&gt;&#10;            &lt;sourceid&gt;5CF1E3B3B45E4707A7A4616E8908F4B1&lt;/sourceid&gt;&#10;            &lt;questiontext&gt;The difference in proportions is 0.15 and the standard error is 0.05.  Is this significant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07949B5390B2452F8E7046EAA3692CF3&lt;/guid&gt;&#10;                    &lt;answertext&gt;Yes&lt;/answertext&gt;&#10;                    &lt;valuetype&gt;0&lt;/valuetype&gt;&#10;                &lt;/answer&gt;&#10;                &lt;answer&gt;&#10;                    &lt;guid&gt;F92B63CC59404C27803282DFD84A576F&lt;/guid&gt;&#10;                    &lt;answertext&gt; No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C509702CD7E24CFDAB21BE0AD9F1319D&lt;/guid&gt;&#10;        &lt;description /&gt;&#10;        &lt;date&gt;7/29/2017 12:59:3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C387F0C6F9F04B9BBAFB58F4BA9DBD32&lt;/guid&gt;&#10;            &lt;repollguid&gt;30F38BD42531402D85E3F64FB0B6C4B3&lt;/repollguid&gt;&#10;            &lt;sourceid&gt;5CF1E3B3B45E4707A7A4616E8908F4B1&lt;/sourceid&gt;&#10;            &lt;questiontext&gt;  $$  $$$$$$$$$$ $$$$$$$$ −  $$  $$$$$$ $$$$$$$$$$ $$$$$$$$ =$$$$.$$$$, SE = 37What is the standardized test statistic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07949B5390B2452F8E7046EAA3692CF3&lt;/guid&gt;&#10;                    &lt;answertext&gt;0.818&lt;/answertext&gt;&#10;                    &lt;valuetype&gt;0&lt;/valuetype&gt;&#10;                &lt;/answer&gt;&#10;                &lt;answer&gt;&#10;                    &lt;guid&gt;F92B63CC59404C27803282DFD84A576F&lt;/guid&gt;&#10;                    &lt;answertext&gt;30.26&lt;/answertext&gt;&#10;                    &lt;valuetype&gt;0&lt;/valuetype&gt;&#10;                &lt;/answer&gt;&#10;                &lt;answer&gt;&#10;                    &lt;guid&gt;B254DB7375D0479790883BE5C27E1CF6&lt;/guid&gt;&#10;                    &lt;answertext&gt;2.784&lt;/answertext&gt;&#10;                    &lt;valuetype&gt;0&lt;/valuetype&gt;&#10;                &lt;/answer&gt;&#10;                &lt;answer&gt;&#10;                    &lt;guid&gt;D9725EFDC84A4EC996EE6082E3CB9B24&lt;/guid&gt;&#10;                    &lt;answertext&gt;1.96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C509702CD7E24CFDAB21BE0AD9F1319D&lt;/guid&gt;&#10;        &lt;description /&gt;&#10;        &lt;date&gt;7/29/2017 12:59:3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59EE7588EFA144BA956637DB4D02671D&lt;/guid&gt;&#10;            &lt;repollguid&gt;30F38BD42531402D85E3F64FB0B6C4B3&lt;/repollguid&gt;&#10;            &lt;sourceid&gt;5CF1E3B3B45E4707A7A4616E8908F4B1&lt;/sourceid&gt;&#10;            &lt;questiontext&gt;  $$  $$$$$$$$$$ $$$$$$$$ −  $$  $$$$$$ $$$$$$$$$$ $$$$$$$$ =$$$$.$$$$, SE = 37The standardized test statistic is 0.818.The p-value is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07949B5390B2452F8E7046EAA3692CF3&lt;/guid&gt;&#10;                    &lt;answertext&gt;1.960&lt;/answertext&gt;&#10;                    &lt;valuetype&gt;0&lt;/valuetype&gt;&#10;                &lt;/answer&gt;&#10;                &lt;answer&gt;&#10;                    &lt;guid&gt;F92B63CC59404C27803282DFD84A576F&lt;/guid&gt;&#10;                    &lt;answertext&gt;0.001&lt;/answertext&gt;&#10;                    &lt;valuetype&gt;0&lt;/valuetype&gt;&#10;                &lt;/answer&gt;&#10;                &lt;answer&gt;&#10;                    &lt;guid&gt;B254DB7375D0479790883BE5C27E1CF6&lt;/guid&gt;&#10;                    &lt;answertext&gt;0.207&lt;/answertext&gt;&#10;                    &lt;valuetype&gt;0&lt;/valuetype&gt;&#10;                &lt;/answer&gt;&#10;                &lt;answer&gt;&#10;                    &lt;guid&gt;D9725EFDC84A4EC996EE6082E3CB9B24&lt;/guid&gt;&#10;                    &lt;answertext&gt;0.157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7727</TotalTime>
  <Words>1233</Words>
  <Application>Microsoft Office PowerPoint</Application>
  <PresentationFormat>On-screen Show (4:3)</PresentationFormat>
  <Paragraphs>155</Paragraphs>
  <Slides>31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Median</vt:lpstr>
      <vt:lpstr>Equation</vt:lpstr>
      <vt:lpstr>PowerPoint Presentation</vt:lpstr>
      <vt:lpstr>A Research Question</vt:lpstr>
      <vt:lpstr>Malaria Parasites and Mosquitoes</vt:lpstr>
      <vt:lpstr>Malaria Parasites and Mosquitoes</vt:lpstr>
      <vt:lpstr>We’ll first look at the mosquitos before they become infectious (days 1–8).      pC: proportion of controls to approach human  pE: proportion of exposed to approach human What are the relevant hypotheses?</vt:lpstr>
      <vt:lpstr>Data: Before Infectious</vt:lpstr>
      <vt:lpstr>Randomization Test</vt:lpstr>
      <vt:lpstr>Randomization and Bootstrap Distributions</vt:lpstr>
      <vt:lpstr>Normal Distribution</vt:lpstr>
      <vt:lpstr>Central Limit Theorem</vt:lpstr>
      <vt:lpstr>N(mean, standard deviation)</vt:lpstr>
      <vt:lpstr>If a randomization distribution is normally distributed, we can write it as</vt:lpstr>
      <vt:lpstr>Which normal distribution should we use to approximate this?</vt:lpstr>
      <vt:lpstr>Normal Distribution</vt:lpstr>
      <vt:lpstr>p-value from N(null, SE)</vt:lpstr>
      <vt:lpstr>Standardized Data</vt:lpstr>
      <vt:lpstr>Standardized Statistic</vt:lpstr>
      <vt:lpstr>Standardized Statistic</vt:lpstr>
      <vt:lpstr>p-value from N(0,1)</vt:lpstr>
      <vt:lpstr>p-value from N(0,1)</vt:lpstr>
      <vt:lpstr>PowerPoint Presentation</vt:lpstr>
      <vt:lpstr>Malaria and Mosquitos</vt:lpstr>
      <vt:lpstr>For the data after the mosquitos become infectious (Days 9 – 28), what are the relevant hypotheses?  pC: proportion of controls to approach human  pE: proportion of exposed to approach human</vt:lpstr>
      <vt:lpstr>Before Infectious</vt:lpstr>
      <vt:lpstr>The difference in proportions is 0.151 and the standard error is 0.05.  Is this significant?</vt:lpstr>
      <vt:lpstr>Malaria and Mosquitoes</vt:lpstr>
      <vt:lpstr>PowerPoint Presentation</vt:lpstr>
      <vt:lpstr>First Born Children</vt:lpstr>
      <vt:lpstr>x ̅_(first born)-x ̅_(not first born)=30.26, SE = 37 What is the standardized test statistic?</vt:lpstr>
      <vt:lpstr>x ̅_(first born)-x ̅_(not first born)=30.26, SE = 37 The standardized test statistic is 0.818. The p-value is: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Hypothesis Tests</dc:title>
  <dc:creator>Kari</dc:creator>
  <cp:lastModifiedBy>Kathryn Dobeck</cp:lastModifiedBy>
  <cp:revision>180</cp:revision>
  <dcterms:created xsi:type="dcterms:W3CDTF">2012-07-03T23:57:37Z</dcterms:created>
  <dcterms:modified xsi:type="dcterms:W3CDTF">2017-07-31T16:13:50Z</dcterms:modified>
</cp:coreProperties>
</file>