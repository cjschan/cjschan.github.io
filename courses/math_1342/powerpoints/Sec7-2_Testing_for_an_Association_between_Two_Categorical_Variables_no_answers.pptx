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charts/chart1.xml" ContentType="application/vnd.openxmlformats-officedocument.drawingml.char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1.xml" ContentType="application/vnd.openxmlformats-officedocument.presentationml.notesSlide+xml"/>
  <Override PartName="/ppt/tags/tag5.xml" ContentType="application/vnd.openxmlformats-officedocument.presentationml.tags+xml"/>
  <Override PartName="/ppt/notesSlides/notesSlide2.xml" ContentType="application/vnd.openxmlformats-officedocument.presentationml.notesSlide+xml"/>
  <Override PartName="/ppt/tags/tag6.xml" ContentType="application/vnd.openxmlformats-officedocument.presentationml.tags+xml"/>
  <Override PartName="/ppt/notesSlides/notesSlide3.xml" ContentType="application/vnd.openxmlformats-officedocument.presentationml.notesSlide+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notesSlides/notesSlide4.xml" ContentType="application/vnd.openxmlformats-officedocument.presentationml.notesSlide+xml"/>
  <Override PartName="/ppt/tags/tag12.xml" ContentType="application/vnd.openxmlformats-officedocument.presentationml.tags+xml"/>
  <Override PartName="/ppt/notesSlides/notesSlide5.xml" ContentType="application/vnd.openxmlformats-officedocument.presentationml.notesSlide+xml"/>
  <Override PartName="/ppt/tags/tag13.xml" ContentType="application/vnd.openxmlformats-officedocument.presentationml.tags+xml"/>
  <Override PartName="/ppt/notesSlides/notesSlide6.xml" ContentType="application/vnd.openxmlformats-officedocument.presentationml.notesSlide+xml"/>
  <Override PartName="/ppt/tags/tag14.xml" ContentType="application/vnd.openxmlformats-officedocument.presentationml.tags+xml"/>
  <Override PartName="/ppt/notesSlides/notesSlide7.xml" ContentType="application/vnd.openxmlformats-officedocument.presentationml.notesSlide+xml"/>
  <Override PartName="/ppt/tags/tag15.xml" ContentType="application/vnd.openxmlformats-officedocument.presentationml.tags+xml"/>
  <Override PartName="/ppt/notesSlides/notesSlide8.xml" ContentType="application/vnd.openxmlformats-officedocument.presentationml.notesSlide+xml"/>
  <Override PartName="/ppt/tags/tag16.xml" ContentType="application/vnd.openxmlformats-officedocument.presentationml.tags+xml"/>
  <Override PartName="/ppt/notesSlides/notesSlide9.xml" ContentType="application/vnd.openxmlformats-officedocument.presentationml.notesSlide+xml"/>
  <Override PartName="/ppt/tags/tag17.xml" ContentType="application/vnd.openxmlformats-officedocument.presentationml.tags+xml"/>
  <Override PartName="/ppt/notesSlides/notesSlide10.xml" ContentType="application/vnd.openxmlformats-officedocument.presentationml.notesSlide+xml"/>
  <Override PartName="/ppt/tags/tag18.xml" ContentType="application/vnd.openxmlformats-officedocument.presentationml.tags+xml"/>
  <Override PartName="/ppt/tags/tag19.xml" ContentType="application/vnd.openxmlformats-officedocument.presentationml.tags+xml"/>
  <Override PartName="/ppt/notesSlides/notesSlide11.xml" ContentType="application/vnd.openxmlformats-officedocument.presentationml.notesSlide+xml"/>
  <Override PartName="/ppt/tags/tag20.xml" ContentType="application/vnd.openxmlformats-officedocument.presentationml.tags+xml"/>
  <Override PartName="/ppt/tags/tag21.xml" ContentType="application/vnd.openxmlformats-officedocument.presentationml.tags+xml"/>
  <Override PartName="/ppt/notesSlides/notesSlide12.xml" ContentType="application/vnd.openxmlformats-officedocument.presentationml.notesSlide+xml"/>
  <Override PartName="/ppt/tags/tag22.xml" ContentType="application/vnd.openxmlformats-officedocument.presentationml.tags+xml"/>
  <Override PartName="/ppt/tags/tag23.xml" ContentType="application/vnd.openxmlformats-officedocument.presentationml.tags+xml"/>
  <Override PartName="/ppt/notesSlides/notesSlide13.xml" ContentType="application/vnd.openxmlformats-officedocument.presentationml.notesSlide+xml"/>
  <Override PartName="/ppt/tags/tag24.xml" ContentType="application/vnd.openxmlformats-officedocument.presentationml.tags+xml"/>
  <Override PartName="/ppt/tags/tag25.xml" ContentType="application/vnd.openxmlformats-officedocument.presentationml.tags+xml"/>
  <Override PartName="/ppt/notesSlides/notesSlide14.xml" ContentType="application/vnd.openxmlformats-officedocument.presentationml.notesSlide+xml"/>
  <Override PartName="/ppt/tags/tag26.xml" ContentType="application/vnd.openxmlformats-officedocument.presentationml.tags+xml"/>
  <Override PartName="/ppt/tags/tag27.xml" ContentType="application/vnd.openxmlformats-officedocument.presentationml.tags+xml"/>
  <Override PartName="/ppt/notesSlides/notesSlide15.xml" ContentType="application/vnd.openxmlformats-officedocument.presentationml.notesSlide+xml"/>
  <Override PartName="/ppt/tags/tag28.xml" ContentType="application/vnd.openxmlformats-officedocument.presentationml.tags+xml"/>
  <Override PartName="/ppt/tags/tag29.xml" ContentType="application/vnd.openxmlformats-officedocument.presentationml.tags+xml"/>
  <Override PartName="/ppt/notesSlides/notesSlide16.xml" ContentType="application/vnd.openxmlformats-officedocument.presentationml.notesSlide+xml"/>
  <Override PartName="/ppt/tags/tag30.xml" ContentType="application/vnd.openxmlformats-officedocument.presentationml.tags+xml"/>
  <Override PartName="/ppt/tags/tag31.xml" ContentType="application/vnd.openxmlformats-officedocument.presentationml.tags+xml"/>
  <Override PartName="/ppt/notesSlides/notesSlide17.xml" ContentType="application/vnd.openxmlformats-officedocument.presentationml.notesSlide+xml"/>
  <Override PartName="/ppt/tags/tag32.xml" ContentType="application/vnd.openxmlformats-officedocument.presentationml.tags+xml"/>
  <Override PartName="/ppt/tags/tag33.xml" ContentType="application/vnd.openxmlformats-officedocument.presentationml.tags+xml"/>
  <Override PartName="/ppt/notesSlides/notesSlide18.xml" ContentType="application/vnd.openxmlformats-officedocument.presentationml.notesSlide+xml"/>
  <Override PartName="/ppt/tags/tag34.xml" ContentType="application/vnd.openxmlformats-officedocument.presentationml.tags+xml"/>
  <Override PartName="/ppt/tags/tag35.xml" ContentType="application/vnd.openxmlformats-officedocument.presentationml.tags+xml"/>
  <Override PartName="/ppt/notesSlides/notesSlide19.xml" ContentType="application/vnd.openxmlformats-officedocument.presentationml.notesSlide+xml"/>
  <Override PartName="/ppt/tags/tag36.xml" ContentType="application/vnd.openxmlformats-officedocument.presentationml.tags+xml"/>
  <Override PartName="/ppt/tags/tag37.xml" ContentType="application/vnd.openxmlformats-officedocument.presentationml.tags+xml"/>
  <Override PartName="/ppt/notesSlides/notesSlide20.xml" ContentType="application/vnd.openxmlformats-officedocument.presentationml.notesSlide+xml"/>
  <Override PartName="/ppt/tags/tag38.xml" ContentType="application/vnd.openxmlformats-officedocument.presentationml.tags+xml"/>
  <Override PartName="/ppt/tags/tag39.xml" ContentType="application/vnd.openxmlformats-officedocument.presentationml.tags+xml"/>
  <Override PartName="/ppt/notesSlides/notesSlide21.xml" ContentType="application/vnd.openxmlformats-officedocument.presentationml.notesSlide+xml"/>
  <Override PartName="/ppt/tags/tag40.xml" ContentType="application/vnd.openxmlformats-officedocument.presentationml.tags+xml"/>
  <Override PartName="/ppt/notesSlides/notesSlide22.xml" ContentType="application/vnd.openxmlformats-officedocument.presentationml.notesSlide+xml"/>
  <Override PartName="/ppt/tags/tag41.xml" ContentType="application/vnd.openxmlformats-officedocument.presentationml.tags+xml"/>
  <Override PartName="/ppt/notesSlides/notesSlide23.xml" ContentType="application/vnd.openxmlformats-officedocument.presentationml.notesSlide+xml"/>
  <Override PartName="/ppt/tags/tag42.xml" ContentType="application/vnd.openxmlformats-officedocument.presentationml.tags+xml"/>
  <Override PartName="/ppt/notesSlides/notesSlide24.xml" ContentType="application/vnd.openxmlformats-officedocument.presentationml.notesSlide+xml"/>
  <Override PartName="/ppt/tags/tag43.xml" ContentType="application/vnd.openxmlformats-officedocument.presentationml.tags+xml"/>
  <Override PartName="/ppt/notesSlides/notesSlide25.xml" ContentType="application/vnd.openxmlformats-officedocument.presentationml.notesSlide+xml"/>
  <Override PartName="/ppt/tags/tag44.xml" ContentType="application/vnd.openxmlformats-officedocument.presentationml.tags+xml"/>
  <Override PartName="/ppt/notesSlides/notesSlide26.xml" ContentType="application/vnd.openxmlformats-officedocument.presentationml.notesSlide+xml"/>
  <Override PartName="/ppt/tags/tag45.xml" ContentType="application/vnd.openxmlformats-officedocument.presentationml.tags+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notesMasterIdLst>
    <p:notesMasterId r:id="rId37"/>
  </p:notesMasterIdLst>
  <p:sldIdLst>
    <p:sldId id="286" r:id="rId2"/>
    <p:sldId id="258" r:id="rId3"/>
    <p:sldId id="259" r:id="rId4"/>
    <p:sldId id="260" r:id="rId5"/>
    <p:sldId id="261" r:id="rId6"/>
    <p:sldId id="262" r:id="rId7"/>
    <p:sldId id="287" r:id="rId8"/>
    <p:sldId id="289" r:id="rId9"/>
    <p:sldId id="290" r:id="rId10"/>
    <p:sldId id="288" r:id="rId11"/>
    <p:sldId id="263" r:id="rId12"/>
    <p:sldId id="291" r:id="rId13"/>
    <p:sldId id="264" r:id="rId14"/>
    <p:sldId id="265" r:id="rId15"/>
    <p:sldId id="266" r:id="rId16"/>
    <p:sldId id="267" r:id="rId17"/>
    <p:sldId id="268" r:id="rId18"/>
    <p:sldId id="269" r:id="rId19"/>
    <p:sldId id="293" r:id="rId20"/>
    <p:sldId id="304" r:id="rId21"/>
    <p:sldId id="305" r:id="rId22"/>
    <p:sldId id="306" r:id="rId23"/>
    <p:sldId id="307" r:id="rId24"/>
    <p:sldId id="308" r:id="rId25"/>
    <p:sldId id="309" r:id="rId26"/>
    <p:sldId id="310" r:id="rId27"/>
    <p:sldId id="311" r:id="rId28"/>
    <p:sldId id="312" r:id="rId29"/>
    <p:sldId id="313" r:id="rId30"/>
    <p:sldId id="270" r:id="rId31"/>
    <p:sldId id="271" r:id="rId32"/>
    <p:sldId id="292" r:id="rId33"/>
    <p:sldId id="272" r:id="rId34"/>
    <p:sldId id="273" r:id="rId35"/>
    <p:sldId id="274" r:id="rId36"/>
  </p:sldIdLst>
  <p:sldSz cx="9144000" cy="6858000" type="screen4x3"/>
  <p:notesSz cx="6858000" cy="9144000"/>
  <p:custDataLst>
    <p:tags r:id="rId3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451" autoAdjust="0"/>
  </p:normalViewPr>
  <p:slideViewPr>
    <p:cSldViewPr>
      <p:cViewPr varScale="1">
        <p:scale>
          <a:sx n="83" d="100"/>
          <a:sy n="83" d="100"/>
        </p:scale>
        <p:origin x="-1416" y="-77"/>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gs" Target="tags/tag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view3D>
      <c:rotX val="15"/>
      <c:rotY val="20"/>
      <c:rAngAx val="0"/>
      <c:perspective val="30"/>
    </c:view3D>
    <c:floor>
      <c:thickness val="0"/>
    </c:floor>
    <c:sideWall>
      <c:thickness val="0"/>
    </c:sideWall>
    <c:backWall>
      <c:thickness val="0"/>
    </c:backWall>
    <c:plotArea>
      <c:layout/>
      <c:bar3DChart>
        <c:barDir val="col"/>
        <c:grouping val="standard"/>
        <c:varyColors val="0"/>
        <c:ser>
          <c:idx val="0"/>
          <c:order val="0"/>
          <c:tx>
            <c:strRef>
              <c:f>Sheet1!$B$1</c:f>
              <c:strCache>
                <c:ptCount val="1"/>
                <c:pt idx="0">
                  <c:v>Series 1</c:v>
                </c:pt>
              </c:strCache>
            </c:strRef>
          </c:tx>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ser>
        <c:ser>
          <c:idx val="1"/>
          <c:order val="1"/>
          <c:tx>
            <c:strRef>
              <c:f>Sheet1!$C$1</c:f>
              <c:strCache>
                <c:ptCount val="1"/>
                <c:pt idx="0">
                  <c:v>Series 2</c:v>
                </c:pt>
              </c:strCache>
            </c:strRef>
          </c:tx>
          <c:invertIfNegative val="0"/>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ser>
        <c:ser>
          <c:idx val="2"/>
          <c:order val="2"/>
          <c:tx>
            <c:strRef>
              <c:f>Sheet1!$D$1</c:f>
              <c:strCache>
                <c:ptCount val="1"/>
                <c:pt idx="0">
                  <c:v>Series 3</c:v>
                </c:pt>
              </c:strCache>
            </c:strRef>
          </c:tx>
          <c:invertIfNegative val="0"/>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ser>
        <c:dLbls>
          <c:showLegendKey val="0"/>
          <c:showVal val="0"/>
          <c:showCatName val="0"/>
          <c:showSerName val="0"/>
          <c:showPercent val="0"/>
          <c:showBubbleSize val="0"/>
        </c:dLbls>
        <c:gapWidth val="150"/>
        <c:shape val="box"/>
        <c:axId val="196855296"/>
        <c:axId val="196856832"/>
        <c:axId val="65079936"/>
      </c:bar3DChart>
      <c:catAx>
        <c:axId val="196855296"/>
        <c:scaling>
          <c:orientation val="minMax"/>
        </c:scaling>
        <c:delete val="0"/>
        <c:axPos val="b"/>
        <c:majorTickMark val="out"/>
        <c:minorTickMark val="none"/>
        <c:tickLblPos val="nextTo"/>
        <c:crossAx val="196856832"/>
        <c:crosses val="autoZero"/>
        <c:auto val="1"/>
        <c:lblAlgn val="ctr"/>
        <c:lblOffset val="100"/>
        <c:noMultiLvlLbl val="0"/>
      </c:catAx>
      <c:valAx>
        <c:axId val="196856832"/>
        <c:scaling>
          <c:orientation val="minMax"/>
        </c:scaling>
        <c:delete val="0"/>
        <c:axPos val="l"/>
        <c:majorGridlines/>
        <c:numFmt formatCode="General" sourceLinked="1"/>
        <c:majorTickMark val="out"/>
        <c:minorTickMark val="none"/>
        <c:tickLblPos val="nextTo"/>
        <c:crossAx val="196855296"/>
        <c:crosses val="autoZero"/>
        <c:crossBetween val="between"/>
      </c:valAx>
      <c:serAx>
        <c:axId val="65079936"/>
        <c:scaling>
          <c:orientation val="minMax"/>
        </c:scaling>
        <c:delete val="0"/>
        <c:axPos val="b"/>
        <c:majorTickMark val="out"/>
        <c:minorTickMark val="none"/>
        <c:tickLblPos val="nextTo"/>
        <c:crossAx val="196856832"/>
        <c:crosses val="autoZero"/>
      </c:serAx>
    </c:plotArea>
    <c:legend>
      <c:legendPos val="r"/>
      <c:overlay val="0"/>
    </c:legend>
    <c:plotVisOnly val="1"/>
    <c:dispBlanksAs val="gap"/>
    <c:showDLblsOverMax val="0"/>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F557A2E-48C7-4DB9-B8F7-DD2D912B8D5E}" type="datetimeFigureOut">
              <a:rPr lang="en-US" smtClean="0"/>
              <a:t>9/12/2017</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C00838D-0573-44A2-80BE-E3F1C3AABDFF}" type="slidenum">
              <a:rPr lang="en-US" smtClean="0"/>
              <a:t>‹#›</a:t>
            </a:fld>
            <a:endParaRPr lang="en-US"/>
          </a:p>
        </p:txBody>
      </p:sp>
    </p:spTree>
    <p:extLst>
      <p:ext uri="{BB962C8B-B14F-4D97-AF65-F5344CB8AC3E}">
        <p14:creationId xmlns:p14="http://schemas.microsoft.com/office/powerpoint/2010/main" val="30619404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7E4A0B3-D59B-4A0C-B834-D1F990153E5F}" type="slidenum">
              <a:rPr lang="en-US" smtClean="0"/>
              <a:pPr/>
              <a:t>4</a:t>
            </a:fld>
            <a:endParaRPr lang="en-US"/>
          </a:p>
        </p:txBody>
      </p:sp>
    </p:spTree>
    <p:extLst>
      <p:ext uri="{BB962C8B-B14F-4D97-AF65-F5344CB8AC3E}">
        <p14:creationId xmlns:p14="http://schemas.microsoft.com/office/powerpoint/2010/main" val="5206389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7E4A0B3-D59B-4A0C-B834-D1F990153E5F}" type="slidenum">
              <a:rPr lang="en-US" smtClean="0"/>
              <a:pPr/>
              <a:t>5</a:t>
            </a:fld>
            <a:endParaRPr lang="en-US"/>
          </a:p>
        </p:txBody>
      </p:sp>
    </p:spTree>
    <p:extLst>
      <p:ext uri="{BB962C8B-B14F-4D97-AF65-F5344CB8AC3E}">
        <p14:creationId xmlns:p14="http://schemas.microsoft.com/office/powerpoint/2010/main" val="38121717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7E4A0B3-D59B-4A0C-B834-D1F990153E5F}" type="slidenum">
              <a:rPr lang="en-US" smtClean="0"/>
              <a:pPr/>
              <a:t>6</a:t>
            </a:fld>
            <a:endParaRPr lang="en-US"/>
          </a:p>
        </p:txBody>
      </p:sp>
    </p:spTree>
    <p:extLst>
      <p:ext uri="{BB962C8B-B14F-4D97-AF65-F5344CB8AC3E}">
        <p14:creationId xmlns:p14="http://schemas.microsoft.com/office/powerpoint/2010/main" val="21637587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7E4A0B3-D59B-4A0C-B834-D1F990153E5F}" type="slidenum">
              <a:rPr lang="en-US" smtClean="0"/>
              <a:pPr/>
              <a:t>11</a:t>
            </a:fld>
            <a:endParaRPr lang="en-US"/>
          </a:p>
        </p:txBody>
      </p:sp>
    </p:spTree>
    <p:extLst>
      <p:ext uri="{BB962C8B-B14F-4D97-AF65-F5344CB8AC3E}">
        <p14:creationId xmlns:p14="http://schemas.microsoft.com/office/powerpoint/2010/main" val="24510884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7E4A0B3-D59B-4A0C-B834-D1F990153E5F}" type="slidenum">
              <a:rPr lang="en-US" smtClean="0"/>
              <a:pPr/>
              <a:t>13</a:t>
            </a:fld>
            <a:endParaRPr lang="en-US"/>
          </a:p>
        </p:txBody>
      </p:sp>
    </p:spTree>
    <p:extLst>
      <p:ext uri="{BB962C8B-B14F-4D97-AF65-F5344CB8AC3E}">
        <p14:creationId xmlns:p14="http://schemas.microsoft.com/office/powerpoint/2010/main" val="28042414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7E4A0B3-D59B-4A0C-B834-D1F990153E5F}" type="slidenum">
              <a:rPr lang="en-US" smtClean="0"/>
              <a:pPr/>
              <a:t>14</a:t>
            </a:fld>
            <a:endParaRPr lang="en-US"/>
          </a:p>
        </p:txBody>
      </p:sp>
    </p:spTree>
    <p:extLst>
      <p:ext uri="{BB962C8B-B14F-4D97-AF65-F5344CB8AC3E}">
        <p14:creationId xmlns:p14="http://schemas.microsoft.com/office/powerpoint/2010/main" val="24156989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7E4A0B3-D59B-4A0C-B834-D1F990153E5F}" type="slidenum">
              <a:rPr lang="en-US" smtClean="0"/>
              <a:pPr/>
              <a:t>15</a:t>
            </a:fld>
            <a:endParaRPr lang="en-US"/>
          </a:p>
        </p:txBody>
      </p:sp>
    </p:spTree>
    <p:extLst>
      <p:ext uri="{BB962C8B-B14F-4D97-AF65-F5344CB8AC3E}">
        <p14:creationId xmlns:p14="http://schemas.microsoft.com/office/powerpoint/2010/main" val="5251809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7E4A0B3-D59B-4A0C-B834-D1F990153E5F}" type="slidenum">
              <a:rPr lang="en-US" smtClean="0"/>
              <a:pPr/>
              <a:t>16</a:t>
            </a:fld>
            <a:endParaRPr lang="en-US"/>
          </a:p>
        </p:txBody>
      </p:sp>
    </p:spTree>
    <p:extLst>
      <p:ext uri="{BB962C8B-B14F-4D97-AF65-F5344CB8AC3E}">
        <p14:creationId xmlns:p14="http://schemas.microsoft.com/office/powerpoint/2010/main" val="12166570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7E4A0B3-D59B-4A0C-B834-D1F990153E5F}" type="slidenum">
              <a:rPr lang="en-US" smtClean="0"/>
              <a:pPr/>
              <a:t>17</a:t>
            </a:fld>
            <a:endParaRPr lang="en-US"/>
          </a:p>
        </p:txBody>
      </p:sp>
    </p:spTree>
    <p:extLst>
      <p:ext uri="{BB962C8B-B14F-4D97-AF65-F5344CB8AC3E}">
        <p14:creationId xmlns:p14="http://schemas.microsoft.com/office/powerpoint/2010/main" val="26057002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7E4A0B3-D59B-4A0C-B834-D1F990153E5F}" type="slidenum">
              <a:rPr lang="en-US" smtClean="0"/>
              <a:pPr/>
              <a:t>18</a:t>
            </a:fld>
            <a:endParaRPr lang="en-US"/>
          </a:p>
        </p:txBody>
      </p:sp>
    </p:spTree>
    <p:extLst>
      <p:ext uri="{BB962C8B-B14F-4D97-AF65-F5344CB8AC3E}">
        <p14:creationId xmlns:p14="http://schemas.microsoft.com/office/powerpoint/2010/main" val="26057002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Date Placeholder 3"/>
          <p:cNvSpPr>
            <a:spLocks noGrp="1"/>
          </p:cNvSpPr>
          <p:nvPr>
            <p:ph type="dt" idx="10"/>
          </p:nvPr>
        </p:nvSpPr>
        <p:spPr/>
        <p:txBody>
          <a:bodyPr/>
          <a:lstStyle/>
          <a:p>
            <a:endParaRPr lang="en-US"/>
          </a:p>
        </p:txBody>
      </p:sp>
      <p:sp>
        <p:nvSpPr>
          <p:cNvPr id="5" name="Slide Number Placeholder 4"/>
          <p:cNvSpPr>
            <a:spLocks noGrp="1"/>
          </p:cNvSpPr>
          <p:nvPr>
            <p:ph type="sldNum" sz="quarter" idx="11"/>
          </p:nvPr>
        </p:nvSpPr>
        <p:spPr/>
        <p:txBody>
          <a:bodyPr/>
          <a:lstStyle/>
          <a:p>
            <a:fld id="{5A1F48E1-058B-4963-8D55-C60E043110E3}" type="slidenum">
              <a:rPr lang="en-US" smtClean="0"/>
              <a:pPr/>
              <a:t>19</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Date Placeholder 3"/>
          <p:cNvSpPr>
            <a:spLocks noGrp="1"/>
          </p:cNvSpPr>
          <p:nvPr>
            <p:ph type="dt" idx="10"/>
          </p:nvPr>
        </p:nvSpPr>
        <p:spPr/>
        <p:txBody>
          <a:bodyPr/>
          <a:lstStyle/>
          <a:p>
            <a:endParaRPr lang="en-US"/>
          </a:p>
        </p:txBody>
      </p:sp>
      <p:sp>
        <p:nvSpPr>
          <p:cNvPr id="5" name="Slide Number Placeholder 4"/>
          <p:cNvSpPr>
            <a:spLocks noGrp="1"/>
          </p:cNvSpPr>
          <p:nvPr>
            <p:ph type="sldNum" sz="quarter" idx="11"/>
          </p:nvPr>
        </p:nvSpPr>
        <p:spPr/>
        <p:txBody>
          <a:bodyPr/>
          <a:lstStyle/>
          <a:p>
            <a:fld id="{5A1F48E1-058B-4963-8D55-C60E043110E3}" type="slidenum">
              <a:rPr lang="en-US" smtClean="0"/>
              <a:pPr/>
              <a:t>20</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Date Placeholder 3"/>
          <p:cNvSpPr>
            <a:spLocks noGrp="1"/>
          </p:cNvSpPr>
          <p:nvPr>
            <p:ph type="dt" idx="10"/>
          </p:nvPr>
        </p:nvSpPr>
        <p:spPr/>
        <p:txBody>
          <a:bodyPr/>
          <a:lstStyle/>
          <a:p>
            <a:endParaRPr lang="en-US"/>
          </a:p>
        </p:txBody>
      </p:sp>
      <p:sp>
        <p:nvSpPr>
          <p:cNvPr id="5" name="Slide Number Placeholder 4"/>
          <p:cNvSpPr>
            <a:spLocks noGrp="1"/>
          </p:cNvSpPr>
          <p:nvPr>
            <p:ph type="sldNum" sz="quarter" idx="11"/>
          </p:nvPr>
        </p:nvSpPr>
        <p:spPr/>
        <p:txBody>
          <a:bodyPr/>
          <a:lstStyle/>
          <a:p>
            <a:fld id="{5A1F48E1-058B-4963-8D55-C60E043110E3}" type="slidenum">
              <a:rPr lang="en-US" smtClean="0"/>
              <a:pPr/>
              <a:t>21</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Date Placeholder 3"/>
          <p:cNvSpPr>
            <a:spLocks noGrp="1"/>
          </p:cNvSpPr>
          <p:nvPr>
            <p:ph type="dt" idx="10"/>
          </p:nvPr>
        </p:nvSpPr>
        <p:spPr/>
        <p:txBody>
          <a:bodyPr/>
          <a:lstStyle/>
          <a:p>
            <a:endParaRPr lang="en-US"/>
          </a:p>
        </p:txBody>
      </p:sp>
      <p:sp>
        <p:nvSpPr>
          <p:cNvPr id="5" name="Slide Number Placeholder 4"/>
          <p:cNvSpPr>
            <a:spLocks noGrp="1"/>
          </p:cNvSpPr>
          <p:nvPr>
            <p:ph type="sldNum" sz="quarter" idx="11"/>
          </p:nvPr>
        </p:nvSpPr>
        <p:spPr/>
        <p:txBody>
          <a:bodyPr/>
          <a:lstStyle/>
          <a:p>
            <a:fld id="{5A1F48E1-058B-4963-8D55-C60E043110E3}" type="slidenum">
              <a:rPr lang="en-US" smtClean="0"/>
              <a:pPr/>
              <a:t>22</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Date Placeholder 3"/>
          <p:cNvSpPr>
            <a:spLocks noGrp="1"/>
          </p:cNvSpPr>
          <p:nvPr>
            <p:ph type="dt" idx="10"/>
          </p:nvPr>
        </p:nvSpPr>
        <p:spPr/>
        <p:txBody>
          <a:bodyPr/>
          <a:lstStyle/>
          <a:p>
            <a:endParaRPr lang="en-US"/>
          </a:p>
        </p:txBody>
      </p:sp>
      <p:sp>
        <p:nvSpPr>
          <p:cNvPr id="5" name="Slide Number Placeholder 4"/>
          <p:cNvSpPr>
            <a:spLocks noGrp="1"/>
          </p:cNvSpPr>
          <p:nvPr>
            <p:ph type="sldNum" sz="quarter" idx="11"/>
          </p:nvPr>
        </p:nvSpPr>
        <p:spPr/>
        <p:txBody>
          <a:bodyPr/>
          <a:lstStyle/>
          <a:p>
            <a:fld id="{5A1F48E1-058B-4963-8D55-C60E043110E3}" type="slidenum">
              <a:rPr lang="en-US" smtClean="0"/>
              <a:pPr/>
              <a:t>23</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Date Placeholder 3"/>
          <p:cNvSpPr>
            <a:spLocks noGrp="1"/>
          </p:cNvSpPr>
          <p:nvPr>
            <p:ph type="dt" idx="10"/>
          </p:nvPr>
        </p:nvSpPr>
        <p:spPr/>
        <p:txBody>
          <a:bodyPr/>
          <a:lstStyle/>
          <a:p>
            <a:endParaRPr lang="en-US"/>
          </a:p>
        </p:txBody>
      </p:sp>
      <p:sp>
        <p:nvSpPr>
          <p:cNvPr id="5" name="Slide Number Placeholder 4"/>
          <p:cNvSpPr>
            <a:spLocks noGrp="1"/>
          </p:cNvSpPr>
          <p:nvPr>
            <p:ph type="sldNum" sz="quarter" idx="11"/>
          </p:nvPr>
        </p:nvSpPr>
        <p:spPr/>
        <p:txBody>
          <a:bodyPr/>
          <a:lstStyle/>
          <a:p>
            <a:fld id="{5A1F48E1-058B-4963-8D55-C60E043110E3}" type="slidenum">
              <a:rPr lang="en-US" smtClean="0"/>
              <a:pPr/>
              <a:t>24</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Date Placeholder 3"/>
          <p:cNvSpPr>
            <a:spLocks noGrp="1"/>
          </p:cNvSpPr>
          <p:nvPr>
            <p:ph type="dt" idx="10"/>
          </p:nvPr>
        </p:nvSpPr>
        <p:spPr/>
        <p:txBody>
          <a:bodyPr/>
          <a:lstStyle/>
          <a:p>
            <a:endParaRPr lang="en-US"/>
          </a:p>
        </p:txBody>
      </p:sp>
      <p:sp>
        <p:nvSpPr>
          <p:cNvPr id="5" name="Slide Number Placeholder 4"/>
          <p:cNvSpPr>
            <a:spLocks noGrp="1"/>
          </p:cNvSpPr>
          <p:nvPr>
            <p:ph type="sldNum" sz="quarter" idx="11"/>
          </p:nvPr>
        </p:nvSpPr>
        <p:spPr/>
        <p:txBody>
          <a:bodyPr/>
          <a:lstStyle/>
          <a:p>
            <a:fld id="{5A1F48E1-058B-4963-8D55-C60E043110E3}" type="slidenum">
              <a:rPr lang="en-US" smtClean="0"/>
              <a:pPr/>
              <a:t>25</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Date Placeholder 3"/>
          <p:cNvSpPr>
            <a:spLocks noGrp="1"/>
          </p:cNvSpPr>
          <p:nvPr>
            <p:ph type="dt" idx="10"/>
          </p:nvPr>
        </p:nvSpPr>
        <p:spPr/>
        <p:txBody>
          <a:bodyPr/>
          <a:lstStyle/>
          <a:p>
            <a:endParaRPr lang="en-US"/>
          </a:p>
        </p:txBody>
      </p:sp>
      <p:sp>
        <p:nvSpPr>
          <p:cNvPr id="5" name="Slide Number Placeholder 4"/>
          <p:cNvSpPr>
            <a:spLocks noGrp="1"/>
          </p:cNvSpPr>
          <p:nvPr>
            <p:ph type="sldNum" sz="quarter" idx="11"/>
          </p:nvPr>
        </p:nvSpPr>
        <p:spPr/>
        <p:txBody>
          <a:bodyPr/>
          <a:lstStyle/>
          <a:p>
            <a:fld id="{5A1F48E1-058B-4963-8D55-C60E043110E3}" type="slidenum">
              <a:rPr lang="en-US" smtClean="0"/>
              <a:pPr/>
              <a:t>26</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Date Placeholder 3"/>
          <p:cNvSpPr>
            <a:spLocks noGrp="1"/>
          </p:cNvSpPr>
          <p:nvPr>
            <p:ph type="dt" idx="10"/>
          </p:nvPr>
        </p:nvSpPr>
        <p:spPr/>
        <p:txBody>
          <a:bodyPr/>
          <a:lstStyle/>
          <a:p>
            <a:endParaRPr lang="en-US"/>
          </a:p>
        </p:txBody>
      </p:sp>
      <p:sp>
        <p:nvSpPr>
          <p:cNvPr id="5" name="Slide Number Placeholder 4"/>
          <p:cNvSpPr>
            <a:spLocks noGrp="1"/>
          </p:cNvSpPr>
          <p:nvPr>
            <p:ph type="sldNum" sz="quarter" idx="11"/>
          </p:nvPr>
        </p:nvSpPr>
        <p:spPr/>
        <p:txBody>
          <a:bodyPr/>
          <a:lstStyle/>
          <a:p>
            <a:fld id="{5A1F48E1-058B-4963-8D55-C60E043110E3}" type="slidenum">
              <a:rPr lang="en-US" smtClean="0"/>
              <a:pPr/>
              <a:t>27</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Date Placeholder 3"/>
          <p:cNvSpPr>
            <a:spLocks noGrp="1"/>
          </p:cNvSpPr>
          <p:nvPr>
            <p:ph type="dt" idx="10"/>
          </p:nvPr>
        </p:nvSpPr>
        <p:spPr/>
        <p:txBody>
          <a:bodyPr/>
          <a:lstStyle/>
          <a:p>
            <a:endParaRPr lang="en-US"/>
          </a:p>
        </p:txBody>
      </p:sp>
      <p:sp>
        <p:nvSpPr>
          <p:cNvPr id="5" name="Slide Number Placeholder 4"/>
          <p:cNvSpPr>
            <a:spLocks noGrp="1"/>
          </p:cNvSpPr>
          <p:nvPr>
            <p:ph type="sldNum" sz="quarter" idx="11"/>
          </p:nvPr>
        </p:nvSpPr>
        <p:spPr/>
        <p:txBody>
          <a:bodyPr/>
          <a:lstStyle/>
          <a:p>
            <a:fld id="{5A1F48E1-058B-4963-8D55-C60E043110E3}" type="slidenum">
              <a:rPr lang="en-US" smtClean="0"/>
              <a:pPr/>
              <a:t>28</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Date Placeholder 3"/>
          <p:cNvSpPr>
            <a:spLocks noGrp="1"/>
          </p:cNvSpPr>
          <p:nvPr>
            <p:ph type="dt" idx="10"/>
          </p:nvPr>
        </p:nvSpPr>
        <p:spPr/>
        <p:txBody>
          <a:bodyPr/>
          <a:lstStyle/>
          <a:p>
            <a:endParaRPr lang="en-US"/>
          </a:p>
        </p:txBody>
      </p:sp>
      <p:sp>
        <p:nvSpPr>
          <p:cNvPr id="5" name="Slide Number Placeholder 4"/>
          <p:cNvSpPr>
            <a:spLocks noGrp="1"/>
          </p:cNvSpPr>
          <p:nvPr>
            <p:ph type="sldNum" sz="quarter" idx="11"/>
          </p:nvPr>
        </p:nvSpPr>
        <p:spPr/>
        <p:txBody>
          <a:bodyPr/>
          <a:lstStyle/>
          <a:p>
            <a:fld id="{5A1F48E1-058B-4963-8D55-C60E043110E3}" type="slidenum">
              <a:rPr lang="en-US" smtClean="0"/>
              <a:pPr/>
              <a:t>29</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7E4A0B3-D59B-4A0C-B834-D1F990153E5F}" type="slidenum">
              <a:rPr lang="en-US" smtClean="0"/>
              <a:pPr/>
              <a:t>30</a:t>
            </a:fld>
            <a:endParaRPr lang="en-US"/>
          </a:p>
        </p:txBody>
      </p:sp>
    </p:spTree>
    <p:extLst>
      <p:ext uri="{BB962C8B-B14F-4D97-AF65-F5344CB8AC3E}">
        <p14:creationId xmlns:p14="http://schemas.microsoft.com/office/powerpoint/2010/main" val="174803238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7E4A0B3-D59B-4A0C-B834-D1F990153E5F}" type="slidenum">
              <a:rPr lang="en-US" smtClean="0"/>
              <a:pPr/>
              <a:t>31</a:t>
            </a:fld>
            <a:endParaRPr lang="en-US"/>
          </a:p>
        </p:txBody>
      </p:sp>
    </p:spTree>
    <p:extLst>
      <p:ext uri="{BB962C8B-B14F-4D97-AF65-F5344CB8AC3E}">
        <p14:creationId xmlns:p14="http://schemas.microsoft.com/office/powerpoint/2010/main" val="227030771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7E4A0B3-D59B-4A0C-B834-D1F990153E5F}" type="slidenum">
              <a:rPr lang="en-US" smtClean="0"/>
              <a:pPr/>
              <a:t>32</a:t>
            </a:fld>
            <a:endParaRPr lang="en-US"/>
          </a:p>
        </p:txBody>
      </p:sp>
    </p:spTree>
    <p:extLst>
      <p:ext uri="{BB962C8B-B14F-4D97-AF65-F5344CB8AC3E}">
        <p14:creationId xmlns:p14="http://schemas.microsoft.com/office/powerpoint/2010/main" val="227030771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7E4A0B3-D59B-4A0C-B834-D1F990153E5F}" type="slidenum">
              <a:rPr lang="en-US" smtClean="0"/>
              <a:pPr/>
              <a:t>33</a:t>
            </a:fld>
            <a:endParaRPr lang="en-US"/>
          </a:p>
        </p:txBody>
      </p:sp>
    </p:spTree>
    <p:extLst>
      <p:ext uri="{BB962C8B-B14F-4D97-AF65-F5344CB8AC3E}">
        <p14:creationId xmlns:p14="http://schemas.microsoft.com/office/powerpoint/2010/main" val="10621477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7E4A0B3-D59B-4A0C-B834-D1F990153E5F}" type="slidenum">
              <a:rPr lang="en-US" smtClean="0"/>
              <a:pPr/>
              <a:t>34</a:t>
            </a:fld>
            <a:endParaRPr lang="en-US"/>
          </a:p>
        </p:txBody>
      </p:sp>
    </p:spTree>
    <p:extLst>
      <p:ext uri="{BB962C8B-B14F-4D97-AF65-F5344CB8AC3E}">
        <p14:creationId xmlns:p14="http://schemas.microsoft.com/office/powerpoint/2010/main" val="86948520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7E4A0B3-D59B-4A0C-B834-D1F990153E5F}" type="slidenum">
              <a:rPr lang="en-US" smtClean="0"/>
              <a:pPr/>
              <a:t>35</a:t>
            </a:fld>
            <a:endParaRPr lang="en-US"/>
          </a:p>
        </p:txBody>
      </p:sp>
    </p:spTree>
    <p:extLst>
      <p:ext uri="{BB962C8B-B14F-4D97-AF65-F5344CB8AC3E}">
        <p14:creationId xmlns:p14="http://schemas.microsoft.com/office/powerpoint/2010/main" val="25918658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kumimoji="0" lang="en-US" smtClean="0"/>
              <a:t>Click to edit Master title style</a:t>
            </a:r>
            <a:endParaRPr kumimoji="0" lang="en-US"/>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a:xfrm>
            <a:off x="6096000" y="6248400"/>
            <a:ext cx="2667000" cy="365125"/>
          </a:xfrm>
          <a:prstGeom prst="rect">
            <a:avLst/>
          </a:prstGeom>
        </p:spPr>
        <p:txBody>
          <a:bodyPr/>
          <a:lstStyle/>
          <a:p>
            <a:fld id="{CC6AEEDA-72C3-4EA9-82F5-A2EA330DBF06}" type="datetimeFigureOut">
              <a:rPr lang="en-US" smtClean="0"/>
              <a:t>9/12/2017</a:t>
            </a:fld>
            <a:endParaRPr lang="en-US"/>
          </a:p>
        </p:txBody>
      </p:sp>
      <p:sp>
        <p:nvSpPr>
          <p:cNvPr id="5" name="Footer Placeholder 4"/>
          <p:cNvSpPr>
            <a:spLocks noGrp="1"/>
          </p:cNvSpPr>
          <p:nvPr>
            <p:ph type="ftr" sz="quarter" idx="11"/>
          </p:nvPr>
        </p:nvSpPr>
        <p:spPr>
          <a:xfrm>
            <a:off x="609600" y="6248206"/>
            <a:ext cx="5421083"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0" y="1272222"/>
            <a:ext cx="533400" cy="244476"/>
          </a:xfrm>
          <a:prstGeom prst="rect">
            <a:avLst/>
          </a:prstGeom>
        </p:spPr>
        <p:txBody>
          <a:bodyPr/>
          <a:lstStyle>
            <a:lvl1pPr>
              <a:defRPr>
                <a:solidFill>
                  <a:srgbClr val="FFFFFF"/>
                </a:solidFill>
              </a:defRPr>
            </a:lvl1pPr>
          </a:lstStyle>
          <a:p>
            <a:fld id="{87B41D8E-D836-4BC1-9F65-7A8E8844675A}" type="slidenum">
              <a:rPr lang="en-US" smtClean="0"/>
              <a:t>‹#›</a:t>
            </a:fld>
            <a:endParaRPr lang="en-US"/>
          </a:p>
        </p:txBody>
      </p:sp>
      <p:sp>
        <p:nvSpPr>
          <p:cNvPr id="8" name="Content Placeholder 7"/>
          <p:cNvSpPr>
            <a:spLocks noGrp="1"/>
          </p:cNvSpPr>
          <p:nvPr>
            <p:ph sz="quarter" idx="1"/>
          </p:nvPr>
        </p:nvSpPr>
        <p:spPr>
          <a:xfrm>
            <a:off x="612648" y="1600200"/>
            <a:ext cx="8153400" cy="44958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en-US" smtClean="0"/>
              <a:t>Click to edit Master title style</a:t>
            </a:r>
            <a:endParaRPr kumimoji="0" lang="en-US"/>
          </a:p>
        </p:txBody>
      </p:sp>
      <p:sp>
        <p:nvSpPr>
          <p:cNvPr id="12" name="Date Placeholder 11"/>
          <p:cNvSpPr>
            <a:spLocks noGrp="1"/>
          </p:cNvSpPr>
          <p:nvPr>
            <p:ph type="dt" sz="half" idx="10"/>
          </p:nvPr>
        </p:nvSpPr>
        <p:spPr>
          <a:xfrm>
            <a:off x="6096000" y="6248400"/>
            <a:ext cx="2667000" cy="365125"/>
          </a:xfrm>
          <a:prstGeom prst="rect">
            <a:avLst/>
          </a:prstGeom>
        </p:spPr>
        <p:txBody>
          <a:bodyPr/>
          <a:lstStyle/>
          <a:p>
            <a:fld id="{CC6AEEDA-72C3-4EA9-82F5-A2EA330DBF06}" type="datetimeFigureOut">
              <a:rPr lang="en-US" smtClean="0"/>
              <a:t>9/12/2017</a:t>
            </a:fld>
            <a:endParaRPr lang="en-US"/>
          </a:p>
        </p:txBody>
      </p:sp>
      <p:sp>
        <p:nvSpPr>
          <p:cNvPr id="13" name="Slide Number Placeholder 12"/>
          <p:cNvSpPr>
            <a:spLocks noGrp="1"/>
          </p:cNvSpPr>
          <p:nvPr>
            <p:ph type="sldNum" sz="quarter" idx="11"/>
          </p:nvPr>
        </p:nvSpPr>
        <p:spPr>
          <a:xfrm>
            <a:off x="0" y="1752600"/>
            <a:ext cx="1295400" cy="701676"/>
          </a:xfrm>
          <a:prstGeom prst="rect">
            <a:avLst/>
          </a:prstGeom>
        </p:spPr>
        <p:txBody>
          <a:bodyPr>
            <a:noAutofit/>
          </a:bodyPr>
          <a:lstStyle>
            <a:lvl1pPr>
              <a:defRPr sz="2400">
                <a:solidFill>
                  <a:srgbClr val="FFFFFF"/>
                </a:solidFill>
              </a:defRPr>
            </a:lvl1pPr>
          </a:lstStyle>
          <a:p>
            <a:fld id="{87B41D8E-D836-4BC1-9F65-7A8E8844675A}" type="slidenum">
              <a:rPr lang="en-US" smtClean="0"/>
              <a:t>‹#›</a:t>
            </a:fld>
            <a:endParaRPr lang="en-US"/>
          </a:p>
        </p:txBody>
      </p:sp>
      <p:sp>
        <p:nvSpPr>
          <p:cNvPr id="14" name="Footer Placeholder 13"/>
          <p:cNvSpPr>
            <a:spLocks noGrp="1"/>
          </p:cNvSpPr>
          <p:nvPr>
            <p:ph type="ftr" sz="quarter" idx="12"/>
          </p:nvPr>
        </p:nvSpPr>
        <p:spPr>
          <a:xfrm>
            <a:off x="609600" y="6248206"/>
            <a:ext cx="5421083" cy="365125"/>
          </a:xfrm>
          <a:prstGeom prst="rect">
            <a:avLst/>
          </a:prstGeom>
        </p:spPr>
        <p:txBody>
          <a:bodyPr/>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9" name="Content Placeholder 8"/>
          <p:cNvSpPr>
            <a:spLocks noGrp="1"/>
          </p:cNvSpPr>
          <p:nvPr>
            <p:ph sz="quarter" idx="1"/>
          </p:nvPr>
        </p:nvSpPr>
        <p:spPr>
          <a:xfrm>
            <a:off x="609600" y="1589567"/>
            <a:ext cx="38862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844901" y="1589567"/>
            <a:ext cx="38862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8" name="Date Placeholder 7"/>
          <p:cNvSpPr>
            <a:spLocks noGrp="1"/>
          </p:cNvSpPr>
          <p:nvPr>
            <p:ph type="dt" sz="half" idx="15"/>
          </p:nvPr>
        </p:nvSpPr>
        <p:spPr>
          <a:xfrm>
            <a:off x="6096000" y="6248400"/>
            <a:ext cx="2667000" cy="365125"/>
          </a:xfrm>
          <a:prstGeom prst="rect">
            <a:avLst/>
          </a:prstGeom>
        </p:spPr>
        <p:txBody>
          <a:bodyPr rtlCol="0"/>
          <a:lstStyle/>
          <a:p>
            <a:fld id="{CC6AEEDA-72C3-4EA9-82F5-A2EA330DBF06}" type="datetimeFigureOut">
              <a:rPr lang="en-US" smtClean="0"/>
              <a:t>9/12/2017</a:t>
            </a:fld>
            <a:endParaRPr lang="en-US"/>
          </a:p>
        </p:txBody>
      </p:sp>
      <p:sp>
        <p:nvSpPr>
          <p:cNvPr id="10" name="Slide Number Placeholder 9"/>
          <p:cNvSpPr>
            <a:spLocks noGrp="1"/>
          </p:cNvSpPr>
          <p:nvPr>
            <p:ph type="sldNum" sz="quarter" idx="16"/>
          </p:nvPr>
        </p:nvSpPr>
        <p:spPr>
          <a:xfrm>
            <a:off x="0" y="1272222"/>
            <a:ext cx="533400" cy="244476"/>
          </a:xfrm>
          <a:prstGeom prst="rect">
            <a:avLst/>
          </a:prstGeom>
        </p:spPr>
        <p:txBody>
          <a:bodyPr rtlCol="0"/>
          <a:lstStyle/>
          <a:p>
            <a:fld id="{87B41D8E-D836-4BC1-9F65-7A8E8844675A}" type="slidenum">
              <a:rPr lang="en-US" smtClean="0"/>
              <a:t>‹#›</a:t>
            </a:fld>
            <a:endParaRPr lang="en-US"/>
          </a:p>
        </p:txBody>
      </p:sp>
      <p:sp>
        <p:nvSpPr>
          <p:cNvPr id="12" name="Footer Placeholder 11"/>
          <p:cNvSpPr>
            <a:spLocks noGrp="1"/>
          </p:cNvSpPr>
          <p:nvPr>
            <p:ph type="ftr" sz="quarter" idx="17"/>
          </p:nvPr>
        </p:nvSpPr>
        <p:spPr>
          <a:xfrm>
            <a:off x="609600" y="6248206"/>
            <a:ext cx="5421083" cy="365125"/>
          </a:xfrm>
          <a:prstGeom prst="rect">
            <a:avLst/>
          </a:prstGeom>
        </p:spPr>
        <p:txBody>
          <a:bodyPr rtlCol="0"/>
          <a:lstStyle/>
          <a:p>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nchor="ctr"/>
          <a:lstStyle>
            <a:lvl1pPr>
              <a:defRPr/>
            </a:lvl1pPr>
          </a:lstStyle>
          <a:p>
            <a:r>
              <a:rPr kumimoji="0" lang="en-US" smtClean="0"/>
              <a:t>Click to edit Master title style</a:t>
            </a:r>
            <a:endParaRPr kumimoji="0" lang="en-US"/>
          </a:p>
        </p:txBody>
      </p:sp>
      <p:sp>
        <p:nvSpPr>
          <p:cNvPr id="11" name="Content Placeholder 10"/>
          <p:cNvSpPr>
            <a:spLocks noGrp="1"/>
          </p:cNvSpPr>
          <p:nvPr>
            <p:ph sz="quarter" idx="2"/>
          </p:nvPr>
        </p:nvSpPr>
        <p:spPr>
          <a:xfrm>
            <a:off x="609600" y="2438400"/>
            <a:ext cx="3886200" cy="35814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800600" y="2438400"/>
            <a:ext cx="3886200" cy="35814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0" name="Date Placeholder 9"/>
          <p:cNvSpPr>
            <a:spLocks noGrp="1"/>
          </p:cNvSpPr>
          <p:nvPr>
            <p:ph type="dt" sz="half" idx="15"/>
          </p:nvPr>
        </p:nvSpPr>
        <p:spPr>
          <a:xfrm>
            <a:off x="6096000" y="6248400"/>
            <a:ext cx="2667000" cy="365125"/>
          </a:xfrm>
          <a:prstGeom prst="rect">
            <a:avLst/>
          </a:prstGeom>
        </p:spPr>
        <p:txBody>
          <a:bodyPr rtlCol="0"/>
          <a:lstStyle/>
          <a:p>
            <a:fld id="{CC6AEEDA-72C3-4EA9-82F5-A2EA330DBF06}" type="datetimeFigureOut">
              <a:rPr lang="en-US" smtClean="0"/>
              <a:t>9/12/2017</a:t>
            </a:fld>
            <a:endParaRPr lang="en-US"/>
          </a:p>
        </p:txBody>
      </p:sp>
      <p:sp>
        <p:nvSpPr>
          <p:cNvPr id="12" name="Slide Number Placeholder 11"/>
          <p:cNvSpPr>
            <a:spLocks noGrp="1"/>
          </p:cNvSpPr>
          <p:nvPr>
            <p:ph type="sldNum" sz="quarter" idx="16"/>
          </p:nvPr>
        </p:nvSpPr>
        <p:spPr>
          <a:xfrm>
            <a:off x="0" y="1272222"/>
            <a:ext cx="533400" cy="244476"/>
          </a:xfrm>
          <a:prstGeom prst="rect">
            <a:avLst/>
          </a:prstGeom>
        </p:spPr>
        <p:txBody>
          <a:bodyPr rtlCol="0"/>
          <a:lstStyle/>
          <a:p>
            <a:fld id="{87B41D8E-D836-4BC1-9F65-7A8E8844675A}" type="slidenum">
              <a:rPr lang="en-US" smtClean="0"/>
              <a:t>‹#›</a:t>
            </a:fld>
            <a:endParaRPr lang="en-US"/>
          </a:p>
        </p:txBody>
      </p:sp>
      <p:sp>
        <p:nvSpPr>
          <p:cNvPr id="14" name="Footer Placeholder 13"/>
          <p:cNvSpPr>
            <a:spLocks noGrp="1"/>
          </p:cNvSpPr>
          <p:nvPr>
            <p:ph type="ftr" sz="quarter" idx="17"/>
          </p:nvPr>
        </p:nvSpPr>
        <p:spPr>
          <a:xfrm>
            <a:off x="609600" y="6248206"/>
            <a:ext cx="5421083" cy="365125"/>
          </a:xfrm>
          <a:prstGeom prst="rect">
            <a:avLst/>
          </a:prstGeom>
        </p:spPr>
        <p:txBody>
          <a:bodyPr rtlCol="0"/>
          <a:lstStyle/>
          <a:p>
            <a:endParaRPr lang="en-US"/>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a:xfrm>
            <a:off x="6096000" y="6248400"/>
            <a:ext cx="2667000" cy="365125"/>
          </a:xfrm>
          <a:prstGeom prst="rect">
            <a:avLst/>
          </a:prstGeom>
        </p:spPr>
        <p:txBody>
          <a:bodyPr/>
          <a:lstStyle/>
          <a:p>
            <a:fld id="{CC6AEEDA-72C3-4EA9-82F5-A2EA330DBF06}" type="datetimeFigureOut">
              <a:rPr lang="en-US" smtClean="0"/>
              <a:t>9/12/2017</a:t>
            </a:fld>
            <a:endParaRPr lang="en-US"/>
          </a:p>
        </p:txBody>
      </p:sp>
      <p:sp>
        <p:nvSpPr>
          <p:cNvPr id="4" name="Footer Placeholder 3"/>
          <p:cNvSpPr>
            <a:spLocks noGrp="1"/>
          </p:cNvSpPr>
          <p:nvPr>
            <p:ph type="ftr" sz="quarter" idx="11"/>
          </p:nvPr>
        </p:nvSpPr>
        <p:spPr>
          <a:xfrm>
            <a:off x="609600" y="6248206"/>
            <a:ext cx="5421083"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0" y="1272222"/>
            <a:ext cx="533400" cy="244476"/>
          </a:xfrm>
          <a:prstGeom prst="rect">
            <a:avLst/>
          </a:prstGeom>
        </p:spPr>
        <p:txBody>
          <a:bodyPr/>
          <a:lstStyle>
            <a:lvl1pPr>
              <a:defRPr>
                <a:solidFill>
                  <a:srgbClr val="FFFFFF"/>
                </a:solidFill>
              </a:defRPr>
            </a:lvl1pPr>
          </a:lstStyle>
          <a:p>
            <a:fld id="{87B41D8E-D836-4BC1-9F65-7A8E8844675A}"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096000" y="6248400"/>
            <a:ext cx="2667000" cy="365125"/>
          </a:xfrm>
          <a:prstGeom prst="rect">
            <a:avLst/>
          </a:prstGeom>
        </p:spPr>
        <p:txBody>
          <a:bodyPr/>
          <a:lstStyle/>
          <a:p>
            <a:fld id="{CC6AEEDA-72C3-4EA9-82F5-A2EA330DBF06}" type="datetimeFigureOut">
              <a:rPr lang="en-US" smtClean="0"/>
              <a:t>9/12/2017</a:t>
            </a:fld>
            <a:endParaRPr lang="en-US"/>
          </a:p>
        </p:txBody>
      </p:sp>
      <p:sp>
        <p:nvSpPr>
          <p:cNvPr id="3" name="Footer Placeholder 2"/>
          <p:cNvSpPr>
            <a:spLocks noGrp="1"/>
          </p:cNvSpPr>
          <p:nvPr>
            <p:ph type="ftr" sz="quarter" idx="11"/>
          </p:nvPr>
        </p:nvSpPr>
        <p:spPr>
          <a:xfrm>
            <a:off x="609600" y="6248206"/>
            <a:ext cx="5421083"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0" y="6248400"/>
            <a:ext cx="533400" cy="381000"/>
          </a:xfrm>
          <a:prstGeom prst="rect">
            <a:avLst/>
          </a:prstGeom>
        </p:spPr>
        <p:txBody>
          <a:bodyPr/>
          <a:lstStyle>
            <a:lvl1pPr>
              <a:defRPr>
                <a:solidFill>
                  <a:schemeClr val="tx2"/>
                </a:solidFill>
              </a:defRPr>
            </a:lvl1pPr>
          </a:lstStyle>
          <a:p>
            <a:fld id="{87B41D8E-D836-4BC1-9F65-7A8E8844675A}"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nchor="ctr"/>
          <a:lstStyle>
            <a:lvl1pPr algn="l">
              <a:buNone/>
              <a:defRPr sz="4400" b="0"/>
            </a:lvl1pPr>
          </a:lstStyle>
          <a:p>
            <a:r>
              <a:rPr kumimoji="0" lang="en-US" smtClean="0"/>
              <a:t>Click to edit Master title style</a:t>
            </a:r>
            <a:endParaRPr kumimoji="0" lang="en-US"/>
          </a:p>
        </p:txBody>
      </p:sp>
      <p:sp>
        <p:nvSpPr>
          <p:cNvPr id="5" name="Date Placeholder 4"/>
          <p:cNvSpPr>
            <a:spLocks noGrp="1"/>
          </p:cNvSpPr>
          <p:nvPr>
            <p:ph type="dt" sz="half" idx="10"/>
          </p:nvPr>
        </p:nvSpPr>
        <p:spPr>
          <a:xfrm>
            <a:off x="6096000" y="6248400"/>
            <a:ext cx="2667000" cy="365125"/>
          </a:xfrm>
          <a:prstGeom prst="rect">
            <a:avLst/>
          </a:prstGeom>
        </p:spPr>
        <p:txBody>
          <a:bodyPr/>
          <a:lstStyle/>
          <a:p>
            <a:fld id="{CC6AEEDA-72C3-4EA9-82F5-A2EA330DBF06}" type="datetimeFigureOut">
              <a:rPr lang="en-US" smtClean="0"/>
              <a:t>9/12/2017</a:t>
            </a:fld>
            <a:endParaRPr lang="en-US"/>
          </a:p>
        </p:txBody>
      </p:sp>
      <p:sp>
        <p:nvSpPr>
          <p:cNvPr id="6" name="Footer Placeholder 5"/>
          <p:cNvSpPr>
            <a:spLocks noGrp="1"/>
          </p:cNvSpPr>
          <p:nvPr>
            <p:ph type="ftr" sz="quarter" idx="11"/>
          </p:nvPr>
        </p:nvSpPr>
        <p:spPr>
          <a:xfrm>
            <a:off x="609600" y="6248206"/>
            <a:ext cx="5421083"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0" y="1272222"/>
            <a:ext cx="533400" cy="244476"/>
          </a:xfrm>
          <a:prstGeom prst="rect">
            <a:avLst/>
          </a:prstGeom>
        </p:spPr>
        <p:txBody>
          <a:bodyPr/>
          <a:lstStyle>
            <a:lvl1pPr>
              <a:defRPr>
                <a:solidFill>
                  <a:srgbClr val="FFFFFF"/>
                </a:solidFill>
              </a:defRPr>
            </a:lvl1pPr>
          </a:lstStyle>
          <a:p>
            <a:fld id="{87B41D8E-D836-4BC1-9F65-7A8E8844675A}" type="slidenum">
              <a:rPr lang="en-US" smtClean="0"/>
              <a:t>‹#›</a:t>
            </a:fld>
            <a:endParaRPr lang="en-US"/>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3">
        <a:schemeClr val="bg2"/>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en-US" smtClean="0"/>
              <a:t>Click to edit Master title style</a:t>
            </a:r>
            <a:endParaRPr kumimoji="0" lang="en-US"/>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Date Placeholder 11"/>
          <p:cNvSpPr>
            <a:spLocks noGrp="1"/>
          </p:cNvSpPr>
          <p:nvPr>
            <p:ph type="dt" sz="half" idx="10"/>
          </p:nvPr>
        </p:nvSpPr>
        <p:spPr>
          <a:xfrm>
            <a:off x="6248400" y="6248400"/>
            <a:ext cx="2667000" cy="365125"/>
          </a:xfrm>
          <a:prstGeom prst="rect">
            <a:avLst/>
          </a:prstGeom>
        </p:spPr>
        <p:txBody>
          <a:bodyPr rtlCol="0"/>
          <a:lstStyle/>
          <a:p>
            <a:fld id="{CC6AEEDA-72C3-4EA9-82F5-A2EA330DBF06}" type="datetimeFigureOut">
              <a:rPr lang="en-US" smtClean="0"/>
              <a:t>9/12/2017</a:t>
            </a:fld>
            <a:endParaRPr lang="en-US"/>
          </a:p>
        </p:txBody>
      </p:sp>
      <p:sp>
        <p:nvSpPr>
          <p:cNvPr id="13" name="Slide Number Placeholder 12"/>
          <p:cNvSpPr>
            <a:spLocks noGrp="1"/>
          </p:cNvSpPr>
          <p:nvPr>
            <p:ph type="sldNum" sz="quarter" idx="11"/>
          </p:nvPr>
        </p:nvSpPr>
        <p:spPr>
          <a:xfrm>
            <a:off x="0" y="4667249"/>
            <a:ext cx="1447800" cy="663578"/>
          </a:xfrm>
          <a:prstGeom prst="rect">
            <a:avLst/>
          </a:prstGeom>
        </p:spPr>
        <p:txBody>
          <a:bodyPr rtlCol="0"/>
          <a:lstStyle>
            <a:lvl1pPr>
              <a:defRPr sz="2800"/>
            </a:lvl1pPr>
          </a:lstStyle>
          <a:p>
            <a:fld id="{87B41D8E-D836-4BC1-9F65-7A8E8844675A}" type="slidenum">
              <a:rPr lang="en-US" smtClean="0"/>
              <a:t>‹#›</a:t>
            </a:fld>
            <a:endParaRPr lang="en-US"/>
          </a:p>
        </p:txBody>
      </p:sp>
      <p:sp>
        <p:nvSpPr>
          <p:cNvPr id="14" name="Footer Placeholder 13"/>
          <p:cNvSpPr>
            <a:spLocks noGrp="1"/>
          </p:cNvSpPr>
          <p:nvPr>
            <p:ph type="ftr" sz="quarter" idx="12"/>
          </p:nvPr>
        </p:nvSpPr>
        <p:spPr>
          <a:xfrm>
            <a:off x="1600200" y="6248206"/>
            <a:ext cx="4572000" cy="365125"/>
          </a:xfrm>
          <a:prstGeom prst="rect">
            <a:avLst/>
          </a:prstGeom>
        </p:spPr>
        <p:txBody>
          <a:bodyPr rtlCol="0"/>
          <a:lstStyle/>
          <a:p>
            <a:endParaRPr lang="en-US"/>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en-US" smtClean="0"/>
              <a:t>Click icon to add picture</a:t>
            </a:r>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a:xfrm>
            <a:off x="6096000" y="6248400"/>
            <a:ext cx="2667000" cy="365125"/>
          </a:xfrm>
          <a:prstGeom prst="rect">
            <a:avLst/>
          </a:prstGeom>
        </p:spPr>
        <p:txBody>
          <a:bodyPr/>
          <a:lstStyle/>
          <a:p>
            <a:fld id="{CC6AEEDA-72C3-4EA9-82F5-A2EA330DBF06}" type="datetimeFigureOut">
              <a:rPr lang="en-US" smtClean="0"/>
              <a:t>9/12/2017</a:t>
            </a:fld>
            <a:endParaRPr lang="en-US"/>
          </a:p>
        </p:txBody>
      </p:sp>
      <p:sp>
        <p:nvSpPr>
          <p:cNvPr id="5" name="Footer Placeholder 4"/>
          <p:cNvSpPr>
            <a:spLocks noGrp="1"/>
          </p:cNvSpPr>
          <p:nvPr>
            <p:ph type="ftr" sz="quarter" idx="11"/>
          </p:nvPr>
        </p:nvSpPr>
        <p:spPr>
          <a:xfrm>
            <a:off x="609600" y="6248206"/>
            <a:ext cx="5421083"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0" y="1272222"/>
            <a:ext cx="533400" cy="244476"/>
          </a:xfrm>
          <a:prstGeom prst="rect">
            <a:avLst/>
          </a:prstGeom>
        </p:spPr>
        <p:txBody>
          <a:bodyPr/>
          <a:lstStyle/>
          <a:p>
            <a:fld id="{87B41D8E-D836-4BC1-9F65-7A8E8844675A}"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1"/>
      </p:bgRef>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0"/>
            <a:ext cx="2057400" cy="55165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609600"/>
            <a:ext cx="5562600" cy="5516564"/>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a:xfrm>
            <a:off x="6553200" y="6248402"/>
            <a:ext cx="2209800" cy="365125"/>
          </a:xfrm>
          <a:prstGeom prst="rect">
            <a:avLst/>
          </a:prstGeom>
        </p:spPr>
        <p:txBody>
          <a:bodyPr/>
          <a:lstStyle/>
          <a:p>
            <a:fld id="{CC6AEEDA-72C3-4EA9-82F5-A2EA330DBF06}" type="datetimeFigureOut">
              <a:rPr lang="en-US" smtClean="0"/>
              <a:t>9/12/2017</a:t>
            </a:fld>
            <a:endParaRPr lang="en-US"/>
          </a:p>
        </p:txBody>
      </p:sp>
      <p:sp>
        <p:nvSpPr>
          <p:cNvPr id="5" name="Footer Placeholder 4"/>
          <p:cNvSpPr>
            <a:spLocks noGrp="1"/>
          </p:cNvSpPr>
          <p:nvPr>
            <p:ph type="ftr" sz="quarter" idx="11"/>
          </p:nvPr>
        </p:nvSpPr>
        <p:spPr>
          <a:xfrm>
            <a:off x="457201" y="6248207"/>
            <a:ext cx="5573483" cy="365125"/>
          </a:xfrm>
          <a:prstGeom prst="rect">
            <a:avLst/>
          </a:prstGeom>
        </p:spPr>
        <p:txBody>
          <a:bodyPr/>
          <a:lstStyle/>
          <a:p>
            <a:endParaRPr lang="en-US"/>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Slide Number Placeholder 5"/>
          <p:cNvSpPr>
            <a:spLocks noGrp="1"/>
          </p:cNvSpPr>
          <p:nvPr>
            <p:ph type="sldNum" sz="quarter" idx="12"/>
          </p:nvPr>
        </p:nvSpPr>
        <p:spPr>
          <a:xfrm rot="5400000">
            <a:off x="5989638" y="144462"/>
            <a:ext cx="533400" cy="244476"/>
          </a:xfrm>
          <a:prstGeom prst="rect">
            <a:avLst/>
          </a:prstGeom>
        </p:spPr>
        <p:txBody>
          <a:bodyPr/>
          <a:lstStyle/>
          <a:p>
            <a:fld id="{87B41D8E-D836-4BC1-9F65-7A8E8844675A}"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cSld name="TPOnTheFly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a:xfrm>
            <a:off x="6096000" y="6248400"/>
            <a:ext cx="2667000" cy="365125"/>
          </a:xfrm>
          <a:prstGeom prst="rect">
            <a:avLst/>
          </a:prstGeom>
        </p:spPr>
        <p:txBody>
          <a:bodyPr/>
          <a:lstStyle/>
          <a:p>
            <a:fld id="{CC6AEEDA-72C3-4EA9-82F5-A2EA330DBF06}" type="datetimeFigureOut">
              <a:rPr lang="en-US" smtClean="0"/>
              <a:t>9/12/2017</a:t>
            </a:fld>
            <a:endParaRPr lang="en-US"/>
          </a:p>
        </p:txBody>
      </p:sp>
      <p:sp>
        <p:nvSpPr>
          <p:cNvPr id="4" name="Footer Placeholder 3"/>
          <p:cNvSpPr>
            <a:spLocks noGrp="1"/>
          </p:cNvSpPr>
          <p:nvPr>
            <p:ph type="ftr" sz="quarter" idx="11"/>
          </p:nvPr>
        </p:nvSpPr>
        <p:spPr>
          <a:xfrm>
            <a:off x="609600" y="6248206"/>
            <a:ext cx="5421083"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0" y="1272222"/>
            <a:ext cx="533400" cy="244476"/>
          </a:xfrm>
          <a:prstGeom prst="rect">
            <a:avLst/>
          </a:prstGeom>
        </p:spPr>
        <p:txBody>
          <a:bodyPr/>
          <a:lstStyle/>
          <a:p>
            <a:fld id="{87B41D8E-D836-4BC1-9F65-7A8E8844675A}" type="slidenum">
              <a:rPr lang="en-US" smtClean="0"/>
              <a:t>‹#›</a:t>
            </a:fld>
            <a:endParaRPr lang="en-US"/>
          </a:p>
        </p:txBody>
      </p:sp>
      <p:graphicFrame>
        <p:nvGraphicFramePr>
          <p:cNvPr id="6" name="TPChart" hidden="1"/>
          <p:cNvGraphicFramePr/>
          <p:nvPr userDrawn="1">
            <p:extLst>
              <p:ext uri="{D42A27DB-BD31-4B8C-83A1-F6EECF244321}">
                <p14:modId xmlns:p14="http://schemas.microsoft.com/office/powerpoint/2010/main" val="4028809434"/>
              </p:ext>
            </p:extLst>
          </p:nvPr>
        </p:nvGraphicFramePr>
        <p:xfrm>
          <a:off x="6350000" y="1600200"/>
          <a:ext cx="2540000" cy="25400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3613789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kumimoji="0" lang="en-US" dirty="0" smtClean="0"/>
              <a:t>Click to edit Master title style</a:t>
            </a:r>
            <a:endParaRPr kumimoji="0" lang="en-US" dirty="0"/>
          </a:p>
        </p:txBody>
      </p:sp>
      <p:sp>
        <p:nvSpPr>
          <p:cNvPr id="13" name="Text Placeholder 12"/>
          <p:cNvSpPr>
            <a:spLocks noGrp="1"/>
          </p:cNvSpPr>
          <p:nvPr>
            <p:ph type="body" idx="1"/>
          </p:nvPr>
        </p:nvSpPr>
        <p:spPr>
          <a:xfrm>
            <a:off x="0" y="1539524"/>
            <a:ext cx="9144000" cy="5318475"/>
          </a:xfrm>
          <a:prstGeom prst="rect">
            <a:avLst/>
          </a:prstGeom>
        </p:spPr>
        <p:txBody>
          <a:bodyPr vert="horz">
            <a:normAutofit/>
          </a:bodyPr>
          <a:lstStyle/>
          <a:p>
            <a:pPr lvl="0" eaLnBrk="1" latinLnBrk="0" hangingPunct="1"/>
            <a:r>
              <a:rPr kumimoji="0" lang="en-US" dirty="0" smtClean="0"/>
              <a:t>Click to edit Master text styles</a:t>
            </a:r>
          </a:p>
          <a:p>
            <a:pPr lvl="1" eaLnBrk="1" latinLnBrk="0" hangingPunct="1"/>
            <a:r>
              <a:rPr kumimoji="0" lang="en-US" dirty="0" smtClean="0"/>
              <a:t>Second level</a:t>
            </a:r>
          </a:p>
          <a:p>
            <a:pPr lvl="2" eaLnBrk="1" latinLnBrk="0" hangingPunct="1"/>
            <a:r>
              <a:rPr kumimoji="0" lang="en-US" dirty="0" smtClean="0"/>
              <a:t>Third level</a:t>
            </a:r>
          </a:p>
          <a:p>
            <a:pPr lvl="3" eaLnBrk="1" latinLnBrk="0" hangingPunct="1"/>
            <a:r>
              <a:rPr kumimoji="0" lang="en-US" dirty="0" smtClean="0"/>
              <a:t>Fourth level</a:t>
            </a:r>
          </a:p>
          <a:p>
            <a:pPr lvl="4" eaLnBrk="1" latinLnBrk="0" hangingPunct="1"/>
            <a:r>
              <a:rPr kumimoji="0" lang="en-US" dirty="0" smtClean="0"/>
              <a:t>Fifth level</a:t>
            </a:r>
            <a:endParaRPr kumimoji="0" lang="en-US" dirty="0"/>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rtl="0" eaLnBrk="1" latinLnBrk="0" hangingPunct="1">
        <a:spcBef>
          <a:spcPct val="0"/>
        </a:spcBef>
        <a:buNone/>
        <a:defRPr kumimoji="0" sz="4000" b="1"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3200" kern="1200">
          <a:solidFill>
            <a:schemeClr val="tx2">
              <a:lumMod val="50000"/>
            </a:schemeClr>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3200" kern="1200">
          <a:solidFill>
            <a:schemeClr val="tx2">
              <a:lumMod val="50000"/>
            </a:schemeClr>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tags" Target="../tags/tag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8.xml"/><Relationship Id="rId1" Type="http://schemas.openxmlformats.org/officeDocument/2006/relationships/tags" Target="../tags/tag7.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0.xml"/><Relationship Id="rId1" Type="http://schemas.openxmlformats.org/officeDocument/2006/relationships/tags" Target="../tags/tag9.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tags" Target="../tags/tag11.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7.xml"/><Relationship Id="rId1" Type="http://schemas.openxmlformats.org/officeDocument/2006/relationships/tags" Target="../tags/tag12.xml"/><Relationship Id="rId5" Type="http://schemas.openxmlformats.org/officeDocument/2006/relationships/image" Target="../media/image8.pn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7.xml"/><Relationship Id="rId1" Type="http://schemas.openxmlformats.org/officeDocument/2006/relationships/tags" Target="../tags/tag13.xml"/><Relationship Id="rId5" Type="http://schemas.openxmlformats.org/officeDocument/2006/relationships/image" Target="../media/image9.png"/><Relationship Id="rId4" Type="http://schemas.openxmlformats.org/officeDocument/2006/relationships/hyperlink" Target="http://www.lock5stat.com/statkey" TargetMode="Externa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14.xml"/><Relationship Id="rId5" Type="http://schemas.openxmlformats.org/officeDocument/2006/relationships/image" Target="../media/image12.png"/><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7.xml"/><Relationship Id="rId1" Type="http://schemas.openxmlformats.org/officeDocument/2006/relationships/tags" Target="../tags/tag15.xml"/><Relationship Id="rId5" Type="http://schemas.openxmlformats.org/officeDocument/2006/relationships/hyperlink" Target="http://www.lock5stat.com/StatKey/" TargetMode="Externa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7.xml"/><Relationship Id="rId1" Type="http://schemas.openxmlformats.org/officeDocument/2006/relationships/tags" Target="../tags/tag16.xml"/><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7.xml"/><Relationship Id="rId1" Type="http://schemas.openxmlformats.org/officeDocument/2006/relationships/tags" Target="../tags/tag17.xml"/><Relationship Id="rId5" Type="http://schemas.openxmlformats.org/officeDocument/2006/relationships/image" Target="../media/image16.png"/><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9.xml"/><Relationship Id="rId1" Type="http://schemas.openxmlformats.org/officeDocument/2006/relationships/tags" Target="../tags/tag18.xml"/><Relationship Id="rId4" Type="http://schemas.openxmlformats.org/officeDocument/2006/relationships/notesSlide" Target="../notesSlides/notesSlide11.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1.xml"/><Relationship Id="rId1" Type="http://schemas.openxmlformats.org/officeDocument/2006/relationships/tags" Target="../tags/tag20.xml"/><Relationship Id="rId4" Type="http://schemas.openxmlformats.org/officeDocument/2006/relationships/notesSlide" Target="../notesSlides/notesSlide12.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3.xml"/><Relationship Id="rId1" Type="http://schemas.openxmlformats.org/officeDocument/2006/relationships/tags" Target="../tags/tag22.xml"/><Relationship Id="rId4" Type="http://schemas.openxmlformats.org/officeDocument/2006/relationships/notesSlide" Target="../notesSlides/notesSlide13.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5.xml"/><Relationship Id="rId1" Type="http://schemas.openxmlformats.org/officeDocument/2006/relationships/tags" Target="../tags/tag24.xml"/><Relationship Id="rId4" Type="http://schemas.openxmlformats.org/officeDocument/2006/relationships/notesSlide" Target="../notesSlides/notesSlide14.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7.xml"/><Relationship Id="rId1" Type="http://schemas.openxmlformats.org/officeDocument/2006/relationships/tags" Target="../tags/tag26.xml"/><Relationship Id="rId4" Type="http://schemas.openxmlformats.org/officeDocument/2006/relationships/notesSlide" Target="../notesSlides/notesSlide15.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9.xml"/><Relationship Id="rId1" Type="http://schemas.openxmlformats.org/officeDocument/2006/relationships/tags" Target="../tags/tag28.xml"/><Relationship Id="rId4" Type="http://schemas.openxmlformats.org/officeDocument/2006/relationships/notesSlide" Target="../notesSlides/notesSlide16.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31.xml"/><Relationship Id="rId1" Type="http://schemas.openxmlformats.org/officeDocument/2006/relationships/tags" Target="../tags/tag30.xml"/><Relationship Id="rId4" Type="http://schemas.openxmlformats.org/officeDocument/2006/relationships/notesSlide" Target="../notesSlides/notesSlide17.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33.xml"/><Relationship Id="rId1" Type="http://schemas.openxmlformats.org/officeDocument/2006/relationships/tags" Target="../tags/tag32.xml"/><Relationship Id="rId5" Type="http://schemas.openxmlformats.org/officeDocument/2006/relationships/hyperlink" Target="http://www.lock5stat.com/StatKey/index.html" TargetMode="External"/><Relationship Id="rId4" Type="http://schemas.openxmlformats.org/officeDocument/2006/relationships/notesSlide" Target="../notesSlides/notesSlide18.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35.xml"/><Relationship Id="rId1" Type="http://schemas.openxmlformats.org/officeDocument/2006/relationships/tags" Target="../tags/tag34.xml"/><Relationship Id="rId4" Type="http://schemas.openxmlformats.org/officeDocument/2006/relationships/notesSlide" Target="../notesSlides/notesSlide19.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37.xml"/><Relationship Id="rId1" Type="http://schemas.openxmlformats.org/officeDocument/2006/relationships/tags" Target="../tags/tag36.xml"/><Relationship Id="rId4" Type="http://schemas.openxmlformats.org/officeDocument/2006/relationships/notesSlide" Target="../notesSlides/notesSlide20.xml"/></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39.xml"/><Relationship Id="rId1" Type="http://schemas.openxmlformats.org/officeDocument/2006/relationships/tags" Target="../tags/tag38.xml"/><Relationship Id="rId4" Type="http://schemas.openxmlformats.org/officeDocument/2006/relationships/notesSlide" Target="../notesSlides/notesSlide21.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tags" Target="../tags/tag40.xml"/><Relationship Id="rId4" Type="http://schemas.openxmlformats.org/officeDocument/2006/relationships/image" Target="../media/image14.jpe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7.xml"/><Relationship Id="rId1" Type="http://schemas.openxmlformats.org/officeDocument/2006/relationships/tags" Target="../tags/tag41.xml"/><Relationship Id="rId6" Type="http://schemas.openxmlformats.org/officeDocument/2006/relationships/hyperlink" Target="http://www.lock5stat.com/StatKey/index.html" TargetMode="External"/><Relationship Id="rId5" Type="http://schemas.openxmlformats.org/officeDocument/2006/relationships/image" Target="../media/image17.png"/><Relationship Id="rId4" Type="http://schemas.openxmlformats.org/officeDocument/2006/relationships/image" Target="../media/image22.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7.xml"/><Relationship Id="rId1" Type="http://schemas.openxmlformats.org/officeDocument/2006/relationships/tags" Target="../tags/tag42.xml"/><Relationship Id="rId5" Type="http://schemas.openxmlformats.org/officeDocument/2006/relationships/image" Target="../media/image19.png"/><Relationship Id="rId4" Type="http://schemas.openxmlformats.org/officeDocument/2006/relationships/image" Target="../media/image18.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tags" Target="../tags/tag43.xml"/><Relationship Id="rId4" Type="http://schemas.openxmlformats.org/officeDocument/2006/relationships/image" Target="../media/image26.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tags" Target="../tags/tag44.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tags" Target="../tags/tag45.xml"/><Relationship Id="rId4"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1"/>
          <p:cNvSpPr txBox="1">
            <a:spLocks/>
          </p:cNvSpPr>
          <p:nvPr/>
        </p:nvSpPr>
        <p:spPr>
          <a:xfrm>
            <a:off x="2102427" y="1981200"/>
            <a:ext cx="7010400" cy="1905000"/>
          </a:xfrm>
          <a:prstGeom prst="rect">
            <a:avLst/>
          </a:prstGeom>
        </p:spPr>
        <p:txBody>
          <a:bodyPr vert="horz" lIns="91440" tIns="45720" rIns="91440" bIns="45720" rtlCol="0">
            <a:normAutofit/>
          </a:bodyPr>
          <a:lstStyle/>
          <a:p>
            <a:pPr>
              <a:spcBef>
                <a:spcPct val="20000"/>
              </a:spcBef>
              <a:defRPr/>
            </a:pPr>
            <a:r>
              <a:rPr lang="en-US" sz="3200" dirty="0">
                <a:solidFill>
                  <a:srgbClr val="EBDDC3"/>
                </a:solidFill>
              </a:rPr>
              <a:t>Section </a:t>
            </a:r>
            <a:r>
              <a:rPr lang="en-US" sz="3200" dirty="0" smtClean="0">
                <a:solidFill>
                  <a:srgbClr val="EBDDC3"/>
                </a:solidFill>
              </a:rPr>
              <a:t>7.2:</a:t>
            </a:r>
          </a:p>
          <a:p>
            <a:pPr>
              <a:spcBef>
                <a:spcPct val="20000"/>
              </a:spcBef>
              <a:defRPr/>
            </a:pPr>
            <a:r>
              <a:rPr lang="en-US" sz="3200" dirty="0" smtClean="0">
                <a:solidFill>
                  <a:srgbClr val="EBDDC3"/>
                </a:solidFill>
              </a:rPr>
              <a:t>Testing For an Association Between Two Categorical Variables</a:t>
            </a:r>
          </a:p>
        </p:txBody>
      </p:sp>
      <p:sp>
        <p:nvSpPr>
          <p:cNvPr id="3" name="TextBox 2"/>
          <p:cNvSpPr txBox="1"/>
          <p:nvPr/>
        </p:nvSpPr>
        <p:spPr>
          <a:xfrm>
            <a:off x="2362086" y="4137434"/>
            <a:ext cx="6526427" cy="1384995"/>
          </a:xfrm>
          <a:prstGeom prst="rect">
            <a:avLst/>
          </a:prstGeom>
          <a:noFill/>
        </p:spPr>
        <p:txBody>
          <a:bodyPr wrap="square" rtlCol="0">
            <a:spAutoFit/>
          </a:bodyPr>
          <a:lstStyle/>
          <a:p>
            <a:r>
              <a:rPr lang="en-US" sz="2400" dirty="0">
                <a:solidFill>
                  <a:srgbClr val="EBDDC3"/>
                </a:solidFill>
              </a:rPr>
              <a:t>To accompany</a:t>
            </a:r>
          </a:p>
          <a:p>
            <a:r>
              <a:rPr lang="en-US" sz="3200" b="1" i="1" u="sng" dirty="0">
                <a:solidFill>
                  <a:srgbClr val="EBDDC3"/>
                </a:solidFill>
              </a:rPr>
              <a:t>Statistics: Unlocking the Power of Data</a:t>
            </a:r>
            <a:r>
              <a:rPr lang="en-US" sz="3200" b="1" dirty="0">
                <a:solidFill>
                  <a:srgbClr val="EBDDC3"/>
                </a:solidFill>
              </a:rPr>
              <a:t> </a:t>
            </a:r>
          </a:p>
          <a:p>
            <a:r>
              <a:rPr lang="en-US" sz="2800" dirty="0">
                <a:solidFill>
                  <a:srgbClr val="EBDDC3"/>
                </a:solidFill>
              </a:rPr>
              <a:t>by Lock, Lock, Lock, Lock, and Lock</a:t>
            </a:r>
          </a:p>
        </p:txBody>
      </p:sp>
      <p:sp>
        <p:nvSpPr>
          <p:cNvPr id="4" name="TextBox 3"/>
          <p:cNvSpPr txBox="1"/>
          <p:nvPr/>
        </p:nvSpPr>
        <p:spPr>
          <a:xfrm>
            <a:off x="2362200" y="6159819"/>
            <a:ext cx="6490854" cy="492443"/>
          </a:xfrm>
          <a:prstGeom prst="rect">
            <a:avLst/>
          </a:prstGeom>
          <a:noFill/>
        </p:spPr>
        <p:txBody>
          <a:bodyPr wrap="square" rtlCol="0">
            <a:spAutoFit/>
          </a:bodyPr>
          <a:lstStyle/>
          <a:p>
            <a:r>
              <a:rPr lang="en-US" sz="2600" dirty="0">
                <a:solidFill>
                  <a:schemeClr val="accent6">
                    <a:lumMod val="20000"/>
                    <a:lumOff val="80000"/>
                  </a:schemeClr>
                </a:solidFill>
              </a:rPr>
              <a:t>Video by: Professor Kathryn Dobeck</a:t>
            </a:r>
          </a:p>
        </p:txBody>
      </p:sp>
      <p:pic>
        <p:nvPicPr>
          <p:cNvPr id="5" name="Picture 4" descr="WILEY_LOGO_2012.eps"/>
          <p:cNvPicPr>
            <a:picLocks noChangeAspect="1"/>
          </p:cNvPicPr>
          <p:nvPr/>
        </p:nvPicPr>
        <p:blipFill>
          <a:blip r:embed="rId3" cstate="print">
            <a:lum bright="70000" contrast="-70000"/>
            <a:extLst>
              <a:ext uri="{28A0092B-C50C-407E-A947-70E740481C1C}">
                <a14:useLocalDpi xmlns:a14="http://schemas.microsoft.com/office/drawing/2010/main" val="0"/>
              </a:ext>
            </a:extLst>
          </a:blip>
          <a:stretch>
            <a:fillRect/>
          </a:stretch>
        </p:blipFill>
        <p:spPr>
          <a:xfrm>
            <a:off x="7848600" y="6286513"/>
            <a:ext cx="1143000" cy="239059"/>
          </a:xfrm>
          <a:prstGeom prst="rect">
            <a:avLst/>
          </a:prstGeom>
        </p:spPr>
      </p:pic>
    </p:spTree>
    <p:custDataLst>
      <p:tags r:id="rId1"/>
    </p:custDataLst>
    <p:extLst>
      <p:ext uri="{BB962C8B-B14F-4D97-AF65-F5344CB8AC3E}">
        <p14:creationId xmlns:p14="http://schemas.microsoft.com/office/powerpoint/2010/main" val="157496914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Outline</a:t>
            </a:r>
            <a:endParaRPr lang="en-US" dirty="0"/>
          </a:p>
        </p:txBody>
      </p:sp>
      <p:sp>
        <p:nvSpPr>
          <p:cNvPr id="3" name="Content Placeholder 2"/>
          <p:cNvSpPr>
            <a:spLocks noGrp="1"/>
          </p:cNvSpPr>
          <p:nvPr>
            <p:ph idx="1"/>
          </p:nvPr>
        </p:nvSpPr>
        <p:spPr>
          <a:xfrm>
            <a:off x="0" y="1524000"/>
            <a:ext cx="9144000" cy="5334000"/>
          </a:xfrm>
        </p:spPr>
        <p:txBody>
          <a:bodyPr>
            <a:normAutofit/>
          </a:bodyPr>
          <a:lstStyle/>
          <a:p>
            <a:r>
              <a:rPr lang="en-US" dirty="0" smtClean="0">
                <a:solidFill>
                  <a:schemeClr val="tx2">
                    <a:lumMod val="50000"/>
                  </a:schemeClr>
                </a:solidFill>
              </a:rPr>
              <a:t>Test for a relationship between </a:t>
            </a:r>
            <a:r>
              <a:rPr lang="en-US" b="1" i="1" dirty="0" smtClean="0">
                <a:solidFill>
                  <a:schemeClr val="accent5">
                    <a:lumMod val="75000"/>
                  </a:schemeClr>
                </a:solidFill>
              </a:rPr>
              <a:t>two</a:t>
            </a:r>
            <a:r>
              <a:rPr lang="en-US" dirty="0" smtClean="0">
                <a:solidFill>
                  <a:schemeClr val="accent5">
                    <a:lumMod val="75000"/>
                  </a:schemeClr>
                </a:solidFill>
              </a:rPr>
              <a:t> </a:t>
            </a:r>
            <a:r>
              <a:rPr lang="en-US" dirty="0" smtClean="0">
                <a:solidFill>
                  <a:schemeClr val="tx2">
                    <a:lumMod val="50000"/>
                  </a:schemeClr>
                </a:solidFill>
              </a:rPr>
              <a:t>categorical variables</a:t>
            </a:r>
          </a:p>
          <a:p>
            <a:pPr lvl="1"/>
            <a:r>
              <a:rPr lang="en-US" dirty="0" smtClean="0">
                <a:solidFill>
                  <a:schemeClr val="tx2">
                    <a:lumMod val="50000"/>
                  </a:schemeClr>
                </a:solidFill>
              </a:rPr>
              <a:t>Hypotheses</a:t>
            </a:r>
          </a:p>
          <a:p>
            <a:pPr lvl="1"/>
            <a:r>
              <a:rPr lang="en-US" dirty="0" smtClean="0">
                <a:solidFill>
                  <a:schemeClr val="tx2">
                    <a:lumMod val="50000"/>
                  </a:schemeClr>
                </a:solidFill>
              </a:rPr>
              <a:t>Expected counts</a:t>
            </a:r>
          </a:p>
          <a:p>
            <a:pPr lvl="1"/>
            <a:r>
              <a:rPr lang="en-US" dirty="0" smtClean="0">
                <a:solidFill>
                  <a:schemeClr val="tx2">
                    <a:lumMod val="50000"/>
                  </a:schemeClr>
                </a:solidFill>
              </a:rPr>
              <a:t>Chi-square statistic</a:t>
            </a:r>
          </a:p>
          <a:p>
            <a:pPr lvl="1"/>
            <a:r>
              <a:rPr lang="en-US" dirty="0" smtClean="0">
                <a:solidFill>
                  <a:schemeClr val="tx2">
                    <a:lumMod val="50000"/>
                  </a:schemeClr>
                </a:solidFill>
              </a:rPr>
              <a:t>Chi-square distribution</a:t>
            </a:r>
          </a:p>
        </p:txBody>
      </p:sp>
    </p:spTree>
    <p:extLst>
      <p:ext uri="{BB962C8B-B14F-4D97-AF65-F5344CB8AC3E}">
        <p14:creationId xmlns:p14="http://schemas.microsoft.com/office/powerpoint/2010/main" val="319377521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04800"/>
            <a:ext cx="8153400" cy="990600"/>
          </a:xfrm>
        </p:spPr>
        <p:txBody>
          <a:bodyPr>
            <a:normAutofit/>
          </a:bodyPr>
          <a:lstStyle/>
          <a:p>
            <a:pPr lvl="0"/>
            <a:r>
              <a:rPr lang="en-US" dirty="0"/>
              <a:t>Recap: </a:t>
            </a:r>
            <a:r>
              <a:rPr lang="el-GR" dirty="0"/>
              <a:t>χ</a:t>
            </a:r>
            <a:r>
              <a:rPr lang="en-US" baseline="30000" dirty="0"/>
              <a:t>2</a:t>
            </a:r>
            <a:r>
              <a:rPr lang="en-US" dirty="0"/>
              <a:t> Goodness-of-Fit </a:t>
            </a:r>
            <a:r>
              <a:rPr lang="en-US" dirty="0" smtClean="0"/>
              <a:t>Test</a:t>
            </a:r>
            <a:endParaRPr lang="en-US" dirty="0"/>
          </a:p>
        </p:txBody>
      </p:sp>
      <mc:AlternateContent xmlns:mc="http://schemas.openxmlformats.org/markup-compatibility/2006" xmlns:a14="http://schemas.microsoft.com/office/drawing/2010/main">
        <mc:Choice Requires="a14">
          <p:sp>
            <p:nvSpPr>
              <p:cNvPr id="4" name="Content Placeholder 3"/>
              <p:cNvSpPr>
                <a:spLocks noGrp="1"/>
              </p:cNvSpPr>
              <p:nvPr>
                <p:ph sz="quarter" idx="1"/>
              </p:nvPr>
            </p:nvSpPr>
            <p:spPr>
              <a:xfrm>
                <a:off x="0" y="1524000"/>
                <a:ext cx="9144000" cy="5334000"/>
              </a:xfrm>
            </p:spPr>
            <p:txBody>
              <a:bodyPr>
                <a:normAutofit lnSpcReduction="10000"/>
              </a:bodyPr>
              <a:lstStyle/>
              <a:p>
                <a:r>
                  <a:rPr lang="en-US" dirty="0"/>
                  <a:t>Null hypothesis specifies proportions, </a:t>
                </a:r>
                <a:r>
                  <a:rPr lang="en-US" i="1" dirty="0"/>
                  <a:t>p</a:t>
                </a:r>
                <a:r>
                  <a:rPr lang="en-US" i="1" baseline="-25000" dirty="0"/>
                  <a:t>i</a:t>
                </a:r>
                <a:r>
                  <a:rPr lang="en-US" dirty="0"/>
                  <a:t>, for each of </a:t>
                </a:r>
                <a:r>
                  <a:rPr lang="en-US" i="1" dirty="0"/>
                  <a:t>k</a:t>
                </a:r>
                <a:r>
                  <a:rPr lang="en-US" dirty="0"/>
                  <a:t> categories </a:t>
                </a:r>
                <a:r>
                  <a:rPr lang="en-US" dirty="0" smtClean="0"/>
                  <a:t>of a </a:t>
                </a:r>
                <a:r>
                  <a:rPr lang="en-US" b="1" i="1" dirty="0">
                    <a:solidFill>
                      <a:schemeClr val="accent1">
                        <a:lumMod val="75000"/>
                      </a:schemeClr>
                    </a:solidFill>
                  </a:rPr>
                  <a:t>single</a:t>
                </a:r>
                <a:r>
                  <a:rPr lang="en-US" dirty="0">
                    <a:solidFill>
                      <a:schemeClr val="accent1">
                        <a:lumMod val="75000"/>
                      </a:schemeClr>
                    </a:solidFill>
                  </a:rPr>
                  <a:t> </a:t>
                </a:r>
                <a:r>
                  <a:rPr lang="en-US" dirty="0"/>
                  <a:t>categorical variable.</a:t>
                </a:r>
              </a:p>
              <a:p>
                <a:r>
                  <a:rPr lang="en-US" dirty="0" smtClean="0"/>
                  <a:t>Data = </a:t>
                </a:r>
                <a:r>
                  <a:rPr lang="en-US" b="1" i="1" dirty="0">
                    <a:solidFill>
                      <a:schemeClr val="accent5">
                        <a:lumMod val="75000"/>
                      </a:schemeClr>
                    </a:solidFill>
                  </a:rPr>
                  <a:t>observed counts </a:t>
                </a:r>
                <a:r>
                  <a:rPr lang="en-US" dirty="0"/>
                  <a:t>in each category (from a sample of size </a:t>
                </a:r>
                <a:r>
                  <a:rPr lang="en-US" i="1" dirty="0"/>
                  <a:t>n</a:t>
                </a:r>
                <a:r>
                  <a:rPr lang="en-US" dirty="0"/>
                  <a:t>)</a:t>
                </a:r>
              </a:p>
              <a:p>
                <a:r>
                  <a:rPr lang="en-US" dirty="0"/>
                  <a:t>Compare </a:t>
                </a:r>
                <a:r>
                  <a:rPr lang="en-US" dirty="0" smtClean="0"/>
                  <a:t>the </a:t>
                </a:r>
                <a:r>
                  <a:rPr lang="en-US" b="1" i="1" dirty="0" smtClean="0">
                    <a:solidFill>
                      <a:schemeClr val="accent2">
                        <a:lumMod val="75000"/>
                      </a:schemeClr>
                    </a:solidFill>
                  </a:rPr>
                  <a:t>expected </a:t>
                </a:r>
                <a:r>
                  <a:rPr lang="en-US" b="1" i="1" dirty="0">
                    <a:solidFill>
                      <a:schemeClr val="accent2">
                        <a:lumMod val="75000"/>
                      </a:schemeClr>
                    </a:solidFill>
                  </a:rPr>
                  <a:t>counts </a:t>
                </a:r>
                <a:r>
                  <a:rPr lang="en-US" dirty="0" smtClean="0"/>
                  <a:t>(</a:t>
                </a:r>
                <a:r>
                  <a:rPr lang="en-US" i="1" dirty="0" err="1" smtClean="0"/>
                  <a:t>n</a:t>
                </a:r>
                <a:r>
                  <a:rPr lang="en-US" dirty="0" err="1" smtClean="0"/>
                  <a:t>·</a:t>
                </a:r>
                <a:r>
                  <a:rPr lang="en-US" i="1" dirty="0" err="1" smtClean="0"/>
                  <a:t>p</a:t>
                </a:r>
                <a:r>
                  <a:rPr lang="en-US" i="1" baseline="-25000" dirty="0" err="1" smtClean="0"/>
                  <a:t>i</a:t>
                </a:r>
                <a:r>
                  <a:rPr lang="en-US" dirty="0" smtClean="0"/>
                  <a:t>) </a:t>
                </a:r>
                <a:r>
                  <a:rPr lang="en-US" dirty="0"/>
                  <a:t>for each cell to </a:t>
                </a:r>
                <a:r>
                  <a:rPr lang="en-US" dirty="0" smtClean="0"/>
                  <a:t>the observed </a:t>
                </a:r>
                <a:r>
                  <a:rPr lang="en-US" dirty="0"/>
                  <a:t>counts </a:t>
                </a:r>
                <a:r>
                  <a:rPr lang="en-US" dirty="0" smtClean="0"/>
                  <a:t>using:</a:t>
                </a:r>
                <a:endParaRPr lang="en-US" dirty="0"/>
              </a:p>
              <a:p>
                <a:pPr marL="365760" lvl="1" indent="0">
                  <a:buNone/>
                </a:pPr>
                <a14:m>
                  <m:oMathPara xmlns:m="http://schemas.openxmlformats.org/officeDocument/2006/math">
                    <m:oMathParaPr>
                      <m:jc m:val="centerGroup"/>
                    </m:oMathParaPr>
                    <m:oMath xmlns:m="http://schemas.openxmlformats.org/officeDocument/2006/math">
                      <m:sSup>
                        <m:sSupPr>
                          <m:ctrlPr>
                            <a:rPr lang="en-US" i="1">
                              <a:latin typeface="Cambria Math"/>
                            </a:rPr>
                          </m:ctrlPr>
                        </m:sSupPr>
                        <m:e>
                          <m:r>
                            <a:rPr lang="en-US" i="1">
                              <a:latin typeface="Cambria Math"/>
                              <a:ea typeface="Cambria Math"/>
                            </a:rPr>
                            <m:t>𝜒</m:t>
                          </m:r>
                        </m:e>
                        <m:sup>
                          <m:r>
                            <a:rPr lang="en-US" i="1">
                              <a:latin typeface="Cambria Math"/>
                            </a:rPr>
                            <m:t>2</m:t>
                          </m:r>
                        </m:sup>
                      </m:sSup>
                      <m:r>
                        <a:rPr lang="en-US" i="1">
                          <a:latin typeface="Cambria Math"/>
                        </a:rPr>
                        <m:t>=</m:t>
                      </m:r>
                      <m:nary>
                        <m:naryPr>
                          <m:chr m:val="∑"/>
                          <m:subHide m:val="on"/>
                          <m:supHide m:val="on"/>
                          <m:ctrlPr>
                            <a:rPr lang="en-US" i="1">
                              <a:latin typeface="Cambria Math"/>
                            </a:rPr>
                          </m:ctrlPr>
                        </m:naryPr>
                        <m:sub/>
                        <m:sup/>
                        <m:e>
                          <m:f>
                            <m:fPr>
                              <m:ctrlPr>
                                <a:rPr lang="en-US" i="1">
                                  <a:latin typeface="Cambria Math"/>
                                </a:rPr>
                              </m:ctrlPr>
                            </m:fPr>
                            <m:num>
                              <m:sSup>
                                <m:sSupPr>
                                  <m:ctrlPr>
                                    <a:rPr lang="en-US" i="1">
                                      <a:latin typeface="Cambria Math"/>
                                    </a:rPr>
                                  </m:ctrlPr>
                                </m:sSupPr>
                                <m:e>
                                  <m:d>
                                    <m:dPr>
                                      <m:ctrlPr>
                                        <a:rPr lang="en-US" i="1">
                                          <a:latin typeface="Cambria Math"/>
                                        </a:rPr>
                                      </m:ctrlPr>
                                    </m:dPr>
                                    <m:e>
                                      <m:r>
                                        <a:rPr lang="en-US" b="1" i="1" smtClean="0">
                                          <a:solidFill>
                                            <a:schemeClr val="accent5">
                                              <a:lumMod val="75000"/>
                                            </a:schemeClr>
                                          </a:solidFill>
                                          <a:latin typeface="Cambria Math"/>
                                        </a:rPr>
                                        <m:t>𝑶𝒃𝒔𝒆𝒓𝒗𝒆𝒅</m:t>
                                      </m:r>
                                      <m:r>
                                        <a:rPr lang="en-US" i="1">
                                          <a:latin typeface="Cambria Math"/>
                                        </a:rPr>
                                        <m:t>−</m:t>
                                      </m:r>
                                      <m:r>
                                        <a:rPr lang="en-US" b="1" i="1" smtClean="0">
                                          <a:solidFill>
                                            <a:schemeClr val="accent2">
                                              <a:lumMod val="75000"/>
                                            </a:schemeClr>
                                          </a:solidFill>
                                          <a:latin typeface="Cambria Math"/>
                                        </a:rPr>
                                        <m:t>𝑬𝒙𝒑𝒆𝒄𝒕𝒆𝒅</m:t>
                                      </m:r>
                                    </m:e>
                                  </m:d>
                                </m:e>
                                <m:sup>
                                  <m:r>
                                    <a:rPr lang="en-US" i="1">
                                      <a:latin typeface="Cambria Math"/>
                                    </a:rPr>
                                    <m:t>2</m:t>
                                  </m:r>
                                </m:sup>
                              </m:sSup>
                            </m:num>
                            <m:den>
                              <m:r>
                                <a:rPr lang="en-US" b="1" i="1" smtClean="0">
                                  <a:solidFill>
                                    <a:schemeClr val="accent2">
                                      <a:lumMod val="75000"/>
                                    </a:schemeClr>
                                  </a:solidFill>
                                  <a:latin typeface="Cambria Math"/>
                                </a:rPr>
                                <m:t>𝑬𝒙𝒑𝒆𝒄𝒕𝒆𝒅</m:t>
                              </m:r>
                            </m:den>
                          </m:f>
                        </m:e>
                      </m:nary>
                    </m:oMath>
                  </m:oMathPara>
                </a14:m>
                <a:endParaRPr lang="en-US" dirty="0" smtClean="0"/>
              </a:p>
              <a:p>
                <a:r>
                  <a:rPr lang="en-US" dirty="0" smtClean="0"/>
                  <a:t>Find </a:t>
                </a:r>
                <a:r>
                  <a:rPr lang="en-US" dirty="0"/>
                  <a:t>a p-value using the right (upper) tail of a </a:t>
                </a:r>
                <a:r>
                  <a:rPr lang="el-GR" dirty="0"/>
                  <a:t>χ</a:t>
                </a:r>
                <a:r>
                  <a:rPr lang="el-GR" baseline="30000" dirty="0"/>
                  <a:t>2</a:t>
                </a:r>
                <a:r>
                  <a:rPr lang="en-US" dirty="0" smtClean="0"/>
                  <a:t>-distribution </a:t>
                </a:r>
                <a:r>
                  <a:rPr lang="en-US" dirty="0"/>
                  <a:t>with </a:t>
                </a:r>
                <a:r>
                  <a:rPr lang="en-US" b="1" i="1" dirty="0">
                    <a:solidFill>
                      <a:schemeClr val="accent1">
                        <a:lumMod val="75000"/>
                      </a:schemeClr>
                    </a:solidFill>
                  </a:rPr>
                  <a:t>k</a:t>
                </a:r>
                <a:r>
                  <a:rPr lang="en-US" b="1" dirty="0">
                    <a:solidFill>
                      <a:schemeClr val="accent1">
                        <a:lumMod val="75000"/>
                      </a:schemeClr>
                    </a:solidFill>
                  </a:rPr>
                  <a:t>–1 </a:t>
                </a:r>
                <a:r>
                  <a:rPr lang="en-US" b="1" i="1" dirty="0" err="1" smtClean="0">
                    <a:solidFill>
                      <a:schemeClr val="accent1">
                        <a:lumMod val="75000"/>
                      </a:schemeClr>
                    </a:solidFill>
                  </a:rPr>
                  <a:t>df</a:t>
                </a:r>
                <a:r>
                  <a:rPr lang="en-US" dirty="0"/>
                  <a:t>.</a:t>
                </a:r>
              </a:p>
            </p:txBody>
          </p:sp>
        </mc:Choice>
        <mc:Fallback xmlns="">
          <p:sp>
            <p:nvSpPr>
              <p:cNvPr id="4" name="Content Placeholder 3"/>
              <p:cNvSpPr>
                <a:spLocks noGrp="1" noRot="1" noChangeAspect="1" noMove="1" noResize="1" noEditPoints="1" noAdjustHandles="1" noChangeArrowheads="1" noChangeShapeType="1" noTextEdit="1"/>
              </p:cNvSpPr>
              <p:nvPr>
                <p:ph sz="quarter" idx="1"/>
              </p:nvPr>
            </p:nvSpPr>
            <p:spPr>
              <a:xfrm>
                <a:off x="0" y="1524000"/>
                <a:ext cx="9144000" cy="5334000"/>
              </a:xfrm>
              <a:blipFill rotWithShape="1">
                <a:blip r:embed="rId3"/>
                <a:stretch>
                  <a:fillRect l="-467" t="-2286" r="-1133"/>
                </a:stretch>
              </a:blipFill>
            </p:spPr>
            <p:txBody>
              <a:bodyPr/>
              <a:lstStyle/>
              <a:p>
                <a:r>
                  <a:rPr lang="en-US">
                    <a:noFill/>
                  </a:rPr>
                  <a:t> </a:t>
                </a:r>
              </a:p>
            </p:txBody>
          </p:sp>
        </mc:Fallback>
      </mc:AlternateContent>
    </p:spTree>
    <p:custDataLst>
      <p:tags r:id="rId1"/>
    </p:custDataLst>
    <p:extLst>
      <p:ext uri="{BB962C8B-B14F-4D97-AF65-F5344CB8AC3E}">
        <p14:creationId xmlns:p14="http://schemas.microsoft.com/office/powerpoint/2010/main" val="257922149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5986" name="AutoShape 2" descr="http://beta.rstudio.org/graphics/plot_zoom_png?width=459&amp;height=366"/>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6" name="Content Placeholder 1"/>
          <p:cNvSpPr txBox="1">
            <a:spLocks/>
          </p:cNvSpPr>
          <p:nvPr/>
        </p:nvSpPr>
        <p:spPr>
          <a:xfrm>
            <a:off x="381000" y="1219200"/>
            <a:ext cx="8382000" cy="5334000"/>
          </a:xfrm>
          <a:prstGeom prst="rect">
            <a:avLst/>
          </a:prstGeom>
        </p:spPr>
        <p:txBody>
          <a:bodyPr vert="horz" lIns="91440" tIns="45720" rIns="91440" bIns="45720" rtlCol="0">
            <a:normAutofit/>
          </a:bodyPr>
          <a:lstStyle/>
          <a:p>
            <a:pPr marL="0" marR="0" lvl="0" indent="-342900" algn="ctr" defTabSz="914400" rtl="0" eaLnBrk="1" fontAlgn="auto" latinLnBrk="0" hangingPunct="1">
              <a:lnSpc>
                <a:spcPct val="100000"/>
              </a:lnSpc>
              <a:spcBef>
                <a:spcPts val="0"/>
              </a:spcBef>
              <a:spcAft>
                <a:spcPts val="0"/>
              </a:spcAft>
              <a:buClrTx/>
              <a:buSzTx/>
              <a:buFontTx/>
              <a:buNone/>
              <a:tabLst/>
              <a:defRPr/>
            </a:pPr>
            <a:endParaRPr kumimoji="0" lang="en-US" sz="2800" b="0" i="1" u="none" strike="noStrike" kern="0" cap="none" spc="0" normalizeH="0" baseline="0" noProof="0" dirty="0" smtClean="0">
              <a:ln>
                <a:noFill/>
              </a:ln>
              <a:solidFill>
                <a:srgbClr val="000000"/>
              </a:solidFill>
              <a:effectLst/>
              <a:uLnTx/>
              <a:uFillTx/>
            </a:endParaRPr>
          </a:p>
        </p:txBody>
      </p:sp>
      <p:sp>
        <p:nvSpPr>
          <p:cNvPr id="2" name="Title 1"/>
          <p:cNvSpPr>
            <a:spLocks noGrp="1"/>
          </p:cNvSpPr>
          <p:nvPr>
            <p:ph type="title"/>
          </p:nvPr>
        </p:nvSpPr>
        <p:spPr>
          <a:xfrm>
            <a:off x="495300" y="228600"/>
            <a:ext cx="8153400" cy="990600"/>
          </a:xfrm>
        </p:spPr>
        <p:txBody>
          <a:bodyPr>
            <a:normAutofit/>
          </a:bodyPr>
          <a:lstStyle/>
          <a:p>
            <a:pPr lvl="0"/>
            <a:r>
              <a:rPr lang="en-US" dirty="0"/>
              <a:t>Two Categorical </a:t>
            </a:r>
            <a:r>
              <a:rPr lang="en-US" dirty="0" smtClean="0"/>
              <a:t>Variables</a:t>
            </a:r>
            <a:endParaRPr lang="en-US" dirty="0"/>
          </a:p>
        </p:txBody>
      </p:sp>
      <p:sp>
        <p:nvSpPr>
          <p:cNvPr id="4" name="Content Placeholder 3"/>
          <p:cNvSpPr>
            <a:spLocks noGrp="1"/>
          </p:cNvSpPr>
          <p:nvPr>
            <p:ph sz="quarter" idx="1"/>
          </p:nvPr>
        </p:nvSpPr>
        <p:spPr>
          <a:xfrm>
            <a:off x="0" y="1524000"/>
            <a:ext cx="9144000" cy="5334000"/>
          </a:xfrm>
        </p:spPr>
        <p:txBody>
          <a:bodyPr/>
          <a:lstStyle/>
          <a:p>
            <a:r>
              <a:rPr lang="en-US" dirty="0"/>
              <a:t>The statistics behind a </a:t>
            </a:r>
            <a:r>
              <a:rPr lang="el-GR" dirty="0"/>
              <a:t>χ</a:t>
            </a:r>
            <a:r>
              <a:rPr lang="el-GR" baseline="30000" dirty="0"/>
              <a:t>2</a:t>
            </a:r>
            <a:r>
              <a:rPr lang="en-US" dirty="0" smtClean="0"/>
              <a:t> </a:t>
            </a:r>
            <a:r>
              <a:rPr lang="en-US" dirty="0"/>
              <a:t>test easily extends to </a:t>
            </a:r>
            <a:r>
              <a:rPr lang="en-US" b="1" i="1" dirty="0">
                <a:solidFill>
                  <a:schemeClr val="accent4">
                    <a:lumMod val="75000"/>
                  </a:schemeClr>
                </a:solidFill>
              </a:rPr>
              <a:t>two</a:t>
            </a:r>
            <a:r>
              <a:rPr lang="en-US" dirty="0">
                <a:solidFill>
                  <a:schemeClr val="accent4">
                    <a:lumMod val="75000"/>
                  </a:schemeClr>
                </a:solidFill>
              </a:rPr>
              <a:t> </a:t>
            </a:r>
            <a:r>
              <a:rPr lang="en-US" dirty="0"/>
              <a:t>categorical </a:t>
            </a:r>
            <a:r>
              <a:rPr lang="en-US" dirty="0" smtClean="0"/>
              <a:t>variables…</a:t>
            </a:r>
            <a:endParaRPr lang="en-US" dirty="0"/>
          </a:p>
          <a:p>
            <a:endParaRPr lang="en-US" dirty="0"/>
          </a:p>
          <a:p>
            <a:r>
              <a:rPr lang="en-US" dirty="0"/>
              <a:t> A </a:t>
            </a:r>
            <a:r>
              <a:rPr lang="el-GR" b="1" dirty="0">
                <a:solidFill>
                  <a:schemeClr val="accent4">
                    <a:lumMod val="75000"/>
                  </a:schemeClr>
                </a:solidFill>
              </a:rPr>
              <a:t>χ</a:t>
            </a:r>
            <a:r>
              <a:rPr lang="el-GR" b="1" baseline="30000" dirty="0">
                <a:solidFill>
                  <a:schemeClr val="accent4">
                    <a:lumMod val="75000"/>
                  </a:schemeClr>
                </a:solidFill>
              </a:rPr>
              <a:t>2 </a:t>
            </a:r>
            <a:r>
              <a:rPr lang="en-US" b="1" dirty="0" smtClean="0">
                <a:solidFill>
                  <a:schemeClr val="accent4">
                    <a:lumMod val="75000"/>
                  </a:schemeClr>
                </a:solidFill>
              </a:rPr>
              <a:t>-</a:t>
            </a:r>
            <a:r>
              <a:rPr lang="en-US" b="1" dirty="0">
                <a:solidFill>
                  <a:schemeClr val="accent4">
                    <a:lumMod val="75000"/>
                  </a:schemeClr>
                </a:solidFill>
              </a:rPr>
              <a:t>test for association </a:t>
            </a:r>
            <a:r>
              <a:rPr lang="en-US" dirty="0"/>
              <a:t>(often called a </a:t>
            </a:r>
            <a:r>
              <a:rPr lang="el-GR" b="1" dirty="0" smtClean="0">
                <a:solidFill>
                  <a:schemeClr val="accent4">
                    <a:lumMod val="75000"/>
                  </a:schemeClr>
                </a:solidFill>
              </a:rPr>
              <a:t>χ</a:t>
            </a:r>
            <a:r>
              <a:rPr lang="el-GR" b="1" baseline="30000" dirty="0" smtClean="0">
                <a:solidFill>
                  <a:schemeClr val="accent4">
                    <a:lumMod val="75000"/>
                  </a:schemeClr>
                </a:solidFill>
              </a:rPr>
              <a:t>2</a:t>
            </a:r>
            <a:r>
              <a:rPr lang="en-US" b="1" dirty="0" smtClean="0">
                <a:solidFill>
                  <a:schemeClr val="accent4">
                    <a:lumMod val="75000"/>
                  </a:schemeClr>
                </a:solidFill>
              </a:rPr>
              <a:t>-test </a:t>
            </a:r>
            <a:r>
              <a:rPr lang="en-US" b="1" dirty="0">
                <a:solidFill>
                  <a:schemeClr val="accent4">
                    <a:lumMod val="75000"/>
                  </a:schemeClr>
                </a:solidFill>
              </a:rPr>
              <a:t>for independence</a:t>
            </a:r>
            <a:r>
              <a:rPr lang="en-US" dirty="0"/>
              <a:t>) tests for an association between </a:t>
            </a:r>
            <a:r>
              <a:rPr lang="en-US" b="1" i="1" dirty="0">
                <a:solidFill>
                  <a:schemeClr val="accent4">
                    <a:lumMod val="75000"/>
                  </a:schemeClr>
                </a:solidFill>
              </a:rPr>
              <a:t>two</a:t>
            </a:r>
            <a:r>
              <a:rPr lang="en-US" dirty="0">
                <a:solidFill>
                  <a:schemeClr val="accent4">
                    <a:lumMod val="75000"/>
                  </a:schemeClr>
                </a:solidFill>
              </a:rPr>
              <a:t> </a:t>
            </a:r>
            <a:r>
              <a:rPr lang="en-US" dirty="0"/>
              <a:t>categorical variables</a:t>
            </a:r>
          </a:p>
          <a:p>
            <a:endParaRPr lang="en-US" dirty="0"/>
          </a:p>
        </p:txBody>
      </p:sp>
    </p:spTree>
    <p:custDataLst>
      <p:tags r:id="rId1"/>
    </p:custDataLst>
    <p:extLst>
      <p:ext uri="{BB962C8B-B14F-4D97-AF65-F5344CB8AC3E}">
        <p14:creationId xmlns:p14="http://schemas.microsoft.com/office/powerpoint/2010/main" val="77677286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5986" name="AutoShape 2" descr="http://beta.rstudio.org/graphics/plot_zoom_png?width=459&amp;height=366"/>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6" name="Content Placeholder 1"/>
          <p:cNvSpPr txBox="1">
            <a:spLocks/>
          </p:cNvSpPr>
          <p:nvPr/>
        </p:nvSpPr>
        <p:spPr>
          <a:xfrm>
            <a:off x="381000" y="1219200"/>
            <a:ext cx="8382000" cy="5334000"/>
          </a:xfrm>
          <a:prstGeom prst="rect">
            <a:avLst/>
          </a:prstGeom>
        </p:spPr>
        <p:txBody>
          <a:bodyPr vert="horz" lIns="91440" tIns="45720" rIns="91440" bIns="45720" rtlCol="0">
            <a:normAutofit/>
          </a:bodyPr>
          <a:lstStyle/>
          <a:p>
            <a:pPr marL="0" marR="0" lvl="0" indent="-342900" algn="ctr" defTabSz="914400" rtl="0" eaLnBrk="1" fontAlgn="auto" latinLnBrk="0" hangingPunct="1">
              <a:lnSpc>
                <a:spcPct val="100000"/>
              </a:lnSpc>
              <a:spcBef>
                <a:spcPts val="0"/>
              </a:spcBef>
              <a:spcAft>
                <a:spcPts val="0"/>
              </a:spcAft>
              <a:buClrTx/>
              <a:buSzTx/>
              <a:buFontTx/>
              <a:buNone/>
              <a:tabLst/>
              <a:defRPr/>
            </a:pPr>
            <a:endParaRPr kumimoji="0" lang="en-US" sz="2800" b="0" i="1" u="none" strike="noStrike" kern="0" cap="none" spc="0" normalizeH="0" baseline="0" noProof="0" dirty="0" smtClean="0">
              <a:ln>
                <a:noFill/>
              </a:ln>
              <a:solidFill>
                <a:srgbClr val="000000"/>
              </a:solidFill>
              <a:effectLst/>
              <a:uLnTx/>
              <a:uFillTx/>
            </a:endParaRPr>
          </a:p>
        </p:txBody>
      </p:sp>
      <p:sp>
        <p:nvSpPr>
          <p:cNvPr id="2" name="Title 1"/>
          <p:cNvSpPr>
            <a:spLocks noGrp="1"/>
          </p:cNvSpPr>
          <p:nvPr>
            <p:ph type="title"/>
          </p:nvPr>
        </p:nvSpPr>
        <p:spPr>
          <a:xfrm>
            <a:off x="495300" y="228600"/>
            <a:ext cx="8153400" cy="990600"/>
          </a:xfrm>
        </p:spPr>
        <p:txBody>
          <a:bodyPr>
            <a:normAutofit/>
          </a:bodyPr>
          <a:lstStyle/>
          <a:p>
            <a:pPr lvl="0"/>
            <a:r>
              <a:rPr lang="en-US" dirty="0"/>
              <a:t>Award Preference &amp; </a:t>
            </a:r>
            <a:r>
              <a:rPr lang="en-US" dirty="0" smtClean="0"/>
              <a:t>SAT</a:t>
            </a:r>
            <a:endParaRPr lang="en-US" dirty="0"/>
          </a:p>
        </p:txBody>
      </p:sp>
      <p:sp>
        <p:nvSpPr>
          <p:cNvPr id="4" name="Content Placeholder 3"/>
          <p:cNvSpPr>
            <a:spLocks noGrp="1"/>
          </p:cNvSpPr>
          <p:nvPr>
            <p:ph sz="quarter" idx="1"/>
          </p:nvPr>
        </p:nvSpPr>
        <p:spPr>
          <a:xfrm>
            <a:off x="0" y="1524000"/>
            <a:ext cx="9144000" cy="5334000"/>
          </a:xfrm>
        </p:spPr>
        <p:txBody>
          <a:bodyPr>
            <a:normAutofit/>
          </a:bodyPr>
          <a:lstStyle/>
          <a:p>
            <a:pPr>
              <a:spcAft>
                <a:spcPts val="1200"/>
              </a:spcAft>
            </a:pPr>
            <a:r>
              <a:rPr lang="en-US" dirty="0"/>
              <a:t>The data in </a:t>
            </a:r>
            <a:r>
              <a:rPr lang="en-US" b="1" dirty="0" err="1"/>
              <a:t>StudentSurvey</a:t>
            </a:r>
            <a:r>
              <a:rPr lang="en-US" dirty="0"/>
              <a:t> includes two categorical </a:t>
            </a:r>
            <a:r>
              <a:rPr lang="en-US" dirty="0" smtClean="0"/>
              <a:t>variables:</a:t>
            </a:r>
          </a:p>
          <a:p>
            <a:pPr marL="0" indent="0">
              <a:spcAft>
                <a:spcPts val="1200"/>
              </a:spcAft>
              <a:buNone/>
            </a:pPr>
            <a:r>
              <a:rPr lang="en-US" i="1" dirty="0" smtClean="0"/>
              <a:t>	Award</a:t>
            </a:r>
            <a:r>
              <a:rPr lang="en-US" dirty="0" smtClean="0"/>
              <a:t> </a:t>
            </a:r>
            <a:r>
              <a:rPr lang="en-US" dirty="0"/>
              <a:t>= Academy, Nobel, or Olympic </a:t>
            </a:r>
          </a:p>
          <a:p>
            <a:pPr marL="0" indent="0">
              <a:buNone/>
            </a:pPr>
            <a:r>
              <a:rPr lang="en-US" i="1" dirty="0" smtClean="0"/>
              <a:t>	</a:t>
            </a:r>
            <a:r>
              <a:rPr lang="en-US" i="1" dirty="0" err="1" smtClean="0"/>
              <a:t>HigherSAT</a:t>
            </a:r>
            <a:r>
              <a:rPr lang="en-US" dirty="0" smtClean="0"/>
              <a:t> </a:t>
            </a:r>
            <a:r>
              <a:rPr lang="en-US" dirty="0"/>
              <a:t>= Math or Verbal</a:t>
            </a:r>
          </a:p>
          <a:p>
            <a:pPr marL="0" indent="0">
              <a:buNone/>
            </a:pPr>
            <a:endParaRPr lang="en-US" dirty="0"/>
          </a:p>
          <a:p>
            <a:r>
              <a:rPr lang="en-US" dirty="0" smtClean="0"/>
              <a:t>We would like to investigate if there seems to be a </a:t>
            </a:r>
            <a:r>
              <a:rPr lang="en-US" dirty="0"/>
              <a:t>relationship between the award preference and which SAT is </a:t>
            </a:r>
            <a:r>
              <a:rPr lang="en-US" dirty="0" smtClean="0"/>
              <a:t>higher…</a:t>
            </a:r>
            <a:endParaRPr lang="en-US" dirty="0"/>
          </a:p>
        </p:txBody>
      </p:sp>
    </p:spTree>
    <p:custDataLst>
      <p:tags r:id="rId1"/>
    </p:custDataLst>
    <p:extLst>
      <p:ext uri="{BB962C8B-B14F-4D97-AF65-F5344CB8AC3E}">
        <p14:creationId xmlns:p14="http://schemas.microsoft.com/office/powerpoint/2010/main" val="238458925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304800" y="304800"/>
            <a:ext cx="8534400" cy="914400"/>
          </a:xfrm>
          <a:prstGeom prst="rect">
            <a:avLst/>
          </a:prstGeom>
        </p:spPr>
        <p:txBody>
          <a:bodyPr/>
          <a:lstStyle/>
          <a:p>
            <a:pPr lvl="0" algn="ctr">
              <a:spcBef>
                <a:spcPct val="0"/>
              </a:spcBef>
              <a:defRPr/>
            </a:pPr>
            <a:r>
              <a:rPr lang="en-US" sz="4000" b="1" dirty="0" smtClean="0">
                <a:solidFill>
                  <a:schemeClr val="accent5">
                    <a:lumMod val="75000"/>
                  </a:schemeClr>
                </a:solidFill>
              </a:rPr>
              <a:t>Observed</a:t>
            </a:r>
            <a:r>
              <a:rPr lang="en-US" sz="4000" b="1" dirty="0" smtClean="0">
                <a:solidFill>
                  <a:schemeClr val="tx2"/>
                </a:solidFill>
              </a:rPr>
              <a:t> Counts and Hypotheses</a:t>
            </a:r>
            <a:endParaRPr lang="en-US" sz="3600" b="1" dirty="0">
              <a:solidFill>
                <a:schemeClr val="tx2"/>
              </a:solidFill>
            </a:endParaRPr>
          </a:p>
        </p:txBody>
      </p:sp>
      <p:sp>
        <p:nvSpPr>
          <p:cNvPr id="425986" name="AutoShape 2" descr="http://beta.rstudio.org/graphics/plot_zoom_png?width=459&amp;height=366"/>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6" name="Content Placeholder 1"/>
          <p:cNvSpPr txBox="1">
            <a:spLocks/>
          </p:cNvSpPr>
          <p:nvPr/>
        </p:nvSpPr>
        <p:spPr>
          <a:xfrm>
            <a:off x="381000" y="1219200"/>
            <a:ext cx="8382000" cy="5334000"/>
          </a:xfrm>
          <a:prstGeom prst="rect">
            <a:avLst/>
          </a:prstGeom>
        </p:spPr>
        <p:txBody>
          <a:bodyPr vert="horz" lIns="91440" tIns="45720" rIns="91440" bIns="45720" rtlCol="0">
            <a:normAutofit/>
          </a:bodyPr>
          <a:lstStyle/>
          <a:p>
            <a:pPr marL="0" marR="0" lvl="0" indent="-342900" algn="ctr" defTabSz="914400" rtl="0" eaLnBrk="1" fontAlgn="auto" latinLnBrk="0" hangingPunct="1">
              <a:lnSpc>
                <a:spcPct val="100000"/>
              </a:lnSpc>
              <a:spcBef>
                <a:spcPts val="0"/>
              </a:spcBef>
              <a:spcAft>
                <a:spcPts val="0"/>
              </a:spcAft>
              <a:buClrTx/>
              <a:buSzTx/>
              <a:buFontTx/>
              <a:buNone/>
              <a:tabLst/>
              <a:defRPr/>
            </a:pPr>
            <a:endParaRPr kumimoji="0" lang="en-US" sz="2800" b="0" i="1" u="none" strike="noStrike" kern="0" cap="none" spc="0" normalizeH="0" baseline="0" noProof="0" dirty="0" smtClean="0">
              <a:ln>
                <a:noFill/>
              </a:ln>
              <a:solidFill>
                <a:srgbClr val="000000"/>
              </a:solidFill>
              <a:effectLst/>
              <a:uLnTx/>
              <a:uFillTx/>
            </a:endParaRPr>
          </a:p>
        </p:txBody>
      </p:sp>
      <p:graphicFrame>
        <p:nvGraphicFramePr>
          <p:cNvPr id="7" name="Table 6"/>
          <p:cNvGraphicFramePr>
            <a:graphicFrameLocks noGrp="1"/>
          </p:cNvGraphicFramePr>
          <p:nvPr>
            <p:extLst>
              <p:ext uri="{D42A27DB-BD31-4B8C-83A1-F6EECF244321}">
                <p14:modId xmlns:p14="http://schemas.microsoft.com/office/powerpoint/2010/main" val="3222587071"/>
              </p:ext>
            </p:extLst>
          </p:nvPr>
        </p:nvGraphicFramePr>
        <p:xfrm>
          <a:off x="381000" y="1301262"/>
          <a:ext cx="8382000" cy="1828800"/>
        </p:xfrm>
        <a:graphic>
          <a:graphicData uri="http://schemas.openxmlformats.org/drawingml/2006/table">
            <a:tbl>
              <a:tblPr firstRow="1" bandRow="1">
                <a:tableStyleId>{5C22544A-7EE6-4342-B048-85BDC9FD1C3A}</a:tableStyleId>
              </a:tblPr>
              <a:tblGrid>
                <a:gridCol w="1981200"/>
                <a:gridCol w="1600200"/>
                <a:gridCol w="1600200"/>
                <a:gridCol w="2053390"/>
                <a:gridCol w="1147010"/>
              </a:tblGrid>
              <a:tr h="370840">
                <a:tc>
                  <a:txBody>
                    <a:bodyPr/>
                    <a:lstStyle/>
                    <a:p>
                      <a:r>
                        <a:rPr lang="en-US" sz="2400" b="0" dirty="0" err="1" smtClean="0">
                          <a:solidFill>
                            <a:schemeClr val="tx1"/>
                          </a:solidFill>
                        </a:rPr>
                        <a:t>HigherSAT</a:t>
                      </a:r>
                      <a:endParaRPr lang="en-US" sz="2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chemeClr val="tx1"/>
                          </a:solidFill>
                        </a:rPr>
                        <a:t>Academy</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sz="2400" dirty="0" smtClean="0">
                          <a:solidFill>
                            <a:schemeClr val="tx1"/>
                          </a:solidFill>
                        </a:rPr>
                        <a:t>Nobel</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sz="2400" dirty="0" smtClean="0">
                          <a:solidFill>
                            <a:schemeClr val="tx1"/>
                          </a:solidFill>
                        </a:rPr>
                        <a:t>Olympic</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sz="2400" b="0" dirty="0" smtClean="0">
                          <a:solidFill>
                            <a:schemeClr val="tx1"/>
                          </a:solidFill>
                        </a:rPr>
                        <a:t>Total</a:t>
                      </a:r>
                      <a:endParaRPr lang="en-US" sz="2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70840">
                <a:tc>
                  <a:txBody>
                    <a:bodyPr/>
                    <a:lstStyle/>
                    <a:p>
                      <a:r>
                        <a:rPr lang="en-US" sz="2400" b="1" dirty="0" smtClean="0">
                          <a:solidFill>
                            <a:schemeClr val="tx1"/>
                          </a:solidFill>
                        </a:rPr>
                        <a:t>Math</a:t>
                      </a:r>
                      <a:endParaRPr lang="en-US"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algn="ctr"/>
                      <a:r>
                        <a:rPr lang="en-US" sz="2400" dirty="0" smtClean="0">
                          <a:solidFill>
                            <a:schemeClr val="tx1"/>
                          </a:solidFill>
                        </a:rPr>
                        <a:t>21</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sz="2400" dirty="0" smtClean="0">
                          <a:solidFill>
                            <a:schemeClr val="tx1"/>
                          </a:solidFill>
                        </a:rPr>
                        <a:t>68</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sz="2400" dirty="0" smtClean="0">
                          <a:solidFill>
                            <a:schemeClr val="tx1"/>
                          </a:solidFill>
                        </a:rPr>
                        <a:t>116</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sz="2400" dirty="0" smtClean="0">
                          <a:solidFill>
                            <a:schemeClr val="tx1"/>
                          </a:solidFill>
                        </a:rPr>
                        <a:t>205</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70840">
                <a:tc>
                  <a:txBody>
                    <a:bodyPr/>
                    <a:lstStyle/>
                    <a:p>
                      <a:r>
                        <a:rPr lang="en-US" sz="2400" b="1" dirty="0" smtClean="0">
                          <a:solidFill>
                            <a:schemeClr val="tx1"/>
                          </a:solidFill>
                        </a:rPr>
                        <a:t>Verbal</a:t>
                      </a:r>
                      <a:endParaRPr lang="en-US"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algn="ctr"/>
                      <a:r>
                        <a:rPr lang="en-US" sz="2400" dirty="0" smtClean="0">
                          <a:solidFill>
                            <a:schemeClr val="tx1"/>
                          </a:solidFill>
                        </a:rPr>
                        <a:t>10</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sz="2400" dirty="0" smtClean="0">
                          <a:solidFill>
                            <a:schemeClr val="tx1"/>
                          </a:solidFill>
                        </a:rPr>
                        <a:t>79</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sz="2400" dirty="0" smtClean="0">
                          <a:solidFill>
                            <a:schemeClr val="tx1"/>
                          </a:solidFill>
                        </a:rPr>
                        <a:t>61</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sz="2400" dirty="0" smtClean="0">
                          <a:solidFill>
                            <a:schemeClr val="tx1"/>
                          </a:solidFill>
                        </a:rPr>
                        <a:t>150</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70840">
                <a:tc>
                  <a:txBody>
                    <a:bodyPr/>
                    <a:lstStyle/>
                    <a:p>
                      <a:r>
                        <a:rPr lang="en-US" sz="2400" dirty="0" smtClean="0">
                          <a:solidFill>
                            <a:schemeClr val="tx1"/>
                          </a:solidFill>
                        </a:rPr>
                        <a:t>Total</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chemeClr val="tx1"/>
                          </a:solidFill>
                        </a:rPr>
                        <a:t>31</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chemeClr val="tx1"/>
                          </a:solidFill>
                        </a:rPr>
                        <a:t>147</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chemeClr val="tx1"/>
                          </a:solidFill>
                        </a:rPr>
                        <a:t>177</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chemeClr val="tx1"/>
                          </a:solidFill>
                        </a:rPr>
                        <a:t>355</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sp>
        <p:nvSpPr>
          <p:cNvPr id="8" name="TextBox 7"/>
          <p:cNvSpPr txBox="1"/>
          <p:nvPr/>
        </p:nvSpPr>
        <p:spPr>
          <a:xfrm>
            <a:off x="304800" y="3886200"/>
            <a:ext cx="8534400" cy="984885"/>
          </a:xfrm>
          <a:prstGeom prst="rect">
            <a:avLst/>
          </a:prstGeom>
          <a:solidFill>
            <a:schemeClr val="tx2">
              <a:lumMod val="20000"/>
              <a:lumOff val="80000"/>
            </a:schemeClr>
          </a:solidFill>
        </p:spPr>
        <p:txBody>
          <a:bodyPr wrap="square" rtlCol="0">
            <a:spAutoFit/>
          </a:bodyPr>
          <a:lstStyle/>
          <a:p>
            <a:pPr>
              <a:spcAft>
                <a:spcPts val="1200"/>
              </a:spcAft>
            </a:pPr>
            <a:r>
              <a:rPr lang="en-US" sz="2400" dirty="0" smtClean="0"/>
              <a:t>H</a:t>
            </a:r>
            <a:r>
              <a:rPr lang="en-US" sz="2400" baseline="-25000" dirty="0" smtClean="0"/>
              <a:t>0</a:t>
            </a:r>
            <a:r>
              <a:rPr lang="en-US" sz="2400" dirty="0" smtClean="0"/>
              <a:t> : Award preference is not associated with which SAT is higher</a:t>
            </a:r>
          </a:p>
          <a:p>
            <a:pPr>
              <a:spcAft>
                <a:spcPts val="1200"/>
              </a:spcAft>
            </a:pPr>
            <a:r>
              <a:rPr lang="en-US" sz="2400" dirty="0" smtClean="0"/>
              <a:t>H</a:t>
            </a:r>
            <a:r>
              <a:rPr lang="en-US" sz="2400" baseline="-25000" dirty="0" smtClean="0"/>
              <a:t>a</a:t>
            </a:r>
            <a:r>
              <a:rPr lang="en-US" sz="2400" dirty="0" smtClean="0"/>
              <a:t> : </a:t>
            </a:r>
            <a:r>
              <a:rPr lang="en-US" sz="2400" dirty="0"/>
              <a:t>Award preference is </a:t>
            </a:r>
            <a:r>
              <a:rPr lang="en-US" sz="2400" dirty="0" smtClean="0"/>
              <a:t> </a:t>
            </a:r>
            <a:r>
              <a:rPr lang="en-US" sz="2400" dirty="0"/>
              <a:t>associated </a:t>
            </a:r>
            <a:r>
              <a:rPr lang="en-US" sz="2400" dirty="0" smtClean="0"/>
              <a:t>with which </a:t>
            </a:r>
            <a:r>
              <a:rPr lang="en-US" sz="2400" dirty="0"/>
              <a:t>SAT is </a:t>
            </a:r>
            <a:r>
              <a:rPr lang="en-US" sz="2400" dirty="0" smtClean="0"/>
              <a:t>higher</a:t>
            </a:r>
            <a:endParaRPr lang="en-US" sz="2400" dirty="0"/>
          </a:p>
        </p:txBody>
      </p:sp>
      <p:sp>
        <p:nvSpPr>
          <p:cNvPr id="2" name="TextBox 1"/>
          <p:cNvSpPr txBox="1"/>
          <p:nvPr/>
        </p:nvSpPr>
        <p:spPr>
          <a:xfrm>
            <a:off x="155575" y="3276600"/>
            <a:ext cx="8759825" cy="461665"/>
          </a:xfrm>
          <a:prstGeom prst="rect">
            <a:avLst/>
          </a:prstGeom>
          <a:noFill/>
        </p:spPr>
        <p:txBody>
          <a:bodyPr wrap="square" rtlCol="0">
            <a:spAutoFit/>
          </a:bodyPr>
          <a:lstStyle/>
          <a:p>
            <a:pPr algn="ctr"/>
            <a:r>
              <a:rPr lang="en-US" sz="2400" dirty="0" smtClean="0"/>
              <a:t>Data are summarized with a 2×3 table for a sample of size </a:t>
            </a:r>
            <a:r>
              <a:rPr lang="en-US" sz="2400" i="1" dirty="0" smtClean="0"/>
              <a:t>n</a:t>
            </a:r>
            <a:r>
              <a:rPr lang="en-US" sz="2400" dirty="0" smtClean="0"/>
              <a:t>=355.</a:t>
            </a:r>
            <a:endParaRPr lang="en-US" sz="2400" dirty="0"/>
          </a:p>
        </p:txBody>
      </p:sp>
      <p:sp>
        <p:nvSpPr>
          <p:cNvPr id="4" name="TextBox 3"/>
          <p:cNvSpPr txBox="1"/>
          <p:nvPr/>
        </p:nvSpPr>
        <p:spPr>
          <a:xfrm>
            <a:off x="304800" y="5105400"/>
            <a:ext cx="8458200" cy="954107"/>
          </a:xfrm>
          <a:prstGeom prst="rect">
            <a:avLst/>
          </a:prstGeom>
          <a:noFill/>
        </p:spPr>
        <p:txBody>
          <a:bodyPr wrap="square" rtlCol="0">
            <a:spAutoFit/>
          </a:bodyPr>
          <a:lstStyle/>
          <a:p>
            <a:pPr marL="2290763" indent="-2290763"/>
            <a:r>
              <a:rPr lang="en-US" sz="2800" dirty="0" smtClean="0"/>
              <a:t>If H</a:t>
            </a:r>
            <a:r>
              <a:rPr lang="en-US" sz="2800" baseline="-25000" dirty="0" smtClean="0"/>
              <a:t>0</a:t>
            </a:r>
            <a:r>
              <a:rPr lang="en-US" sz="2800" dirty="0" smtClean="0"/>
              <a:t> is true </a:t>
            </a:r>
            <a:r>
              <a:rPr lang="en-US" sz="2800" dirty="0" smtClean="0">
                <a:latin typeface="Cambria"/>
              </a:rPr>
              <a:t>⟹ </a:t>
            </a:r>
            <a:r>
              <a:rPr lang="en-US" sz="2800" dirty="0"/>
              <a:t>The award distribution is </a:t>
            </a:r>
            <a:r>
              <a:rPr lang="en-US" sz="2800" b="1" dirty="0">
                <a:solidFill>
                  <a:schemeClr val="accent2">
                    <a:lumMod val="75000"/>
                  </a:schemeClr>
                </a:solidFill>
              </a:rPr>
              <a:t>expected</a:t>
            </a:r>
            <a:r>
              <a:rPr lang="en-US" sz="2800" dirty="0">
                <a:solidFill>
                  <a:schemeClr val="accent2">
                    <a:lumMod val="75000"/>
                  </a:schemeClr>
                </a:solidFill>
              </a:rPr>
              <a:t> </a:t>
            </a:r>
            <a:r>
              <a:rPr lang="en-US" sz="2800" dirty="0"/>
              <a:t>to be the same </a:t>
            </a:r>
            <a:r>
              <a:rPr lang="en-US" sz="2800" dirty="0" smtClean="0"/>
              <a:t>across each </a:t>
            </a:r>
            <a:r>
              <a:rPr lang="en-US" sz="2800" dirty="0"/>
              <a:t>row. </a:t>
            </a:r>
          </a:p>
        </p:txBody>
      </p:sp>
    </p:spTree>
    <p:custDataLst>
      <p:tags r:id="rId1"/>
    </p:custDataLst>
    <p:extLst>
      <p:ext uri="{BB962C8B-B14F-4D97-AF65-F5344CB8AC3E}">
        <p14:creationId xmlns:p14="http://schemas.microsoft.com/office/powerpoint/2010/main" val="38822284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2" grpId="0"/>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3018" y="228600"/>
            <a:ext cx="9147018" cy="990600"/>
          </a:xfrm>
        </p:spPr>
        <p:txBody>
          <a:bodyPr>
            <a:noAutofit/>
          </a:bodyPr>
          <a:lstStyle/>
          <a:p>
            <a:r>
              <a:rPr lang="en-US" dirty="0" smtClean="0">
                <a:solidFill>
                  <a:schemeClr val="accent2">
                    <a:lumMod val="75000"/>
                  </a:schemeClr>
                </a:solidFill>
              </a:rPr>
              <a:t>Expected </a:t>
            </a:r>
            <a:r>
              <a:rPr lang="en-US" dirty="0" smtClean="0"/>
              <a:t>Counts and Relative Frequencies</a:t>
            </a:r>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1598234783"/>
              </p:ext>
            </p:extLst>
          </p:nvPr>
        </p:nvGraphicFramePr>
        <p:xfrm>
          <a:off x="152400" y="1295400"/>
          <a:ext cx="8839199" cy="1828800"/>
        </p:xfrm>
        <a:graphic>
          <a:graphicData uri="http://schemas.openxmlformats.org/drawingml/2006/table">
            <a:tbl>
              <a:tblPr firstRow="1" bandRow="1">
                <a:tableStyleId>{5C22544A-7EE6-4342-B048-85BDC9FD1C3A}</a:tableStyleId>
              </a:tblPr>
              <a:tblGrid>
                <a:gridCol w="1537252"/>
                <a:gridCol w="1460389"/>
                <a:gridCol w="1614115"/>
                <a:gridCol w="1614115"/>
                <a:gridCol w="1306664"/>
                <a:gridCol w="1306664"/>
              </a:tblGrid>
              <a:tr h="370840">
                <a:tc>
                  <a:txBody>
                    <a:bodyPr/>
                    <a:lstStyle/>
                    <a:p>
                      <a:r>
                        <a:rPr lang="en-US" sz="2400" b="0" dirty="0" err="1" smtClean="0">
                          <a:solidFill>
                            <a:schemeClr val="tx1"/>
                          </a:solidFill>
                        </a:rPr>
                        <a:t>HigherSAT</a:t>
                      </a:r>
                      <a:endParaRPr lang="en-US" sz="2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chemeClr val="tx1"/>
                          </a:solidFill>
                        </a:rPr>
                        <a:t>Academy</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sz="2400" dirty="0" smtClean="0">
                          <a:solidFill>
                            <a:schemeClr val="tx1"/>
                          </a:solidFill>
                        </a:rPr>
                        <a:t>Nobel</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sz="2400" dirty="0" smtClean="0">
                          <a:solidFill>
                            <a:schemeClr val="tx1"/>
                          </a:solidFill>
                        </a:rPr>
                        <a:t>Olympic</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sz="2400" b="0" dirty="0" smtClean="0">
                          <a:solidFill>
                            <a:schemeClr val="tx1"/>
                          </a:solidFill>
                        </a:rPr>
                        <a:t>Total</a:t>
                      </a:r>
                      <a:endParaRPr lang="en-US" sz="2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b="0" dirty="0" smtClean="0">
                          <a:solidFill>
                            <a:schemeClr val="tx1"/>
                          </a:solidFill>
                        </a:rPr>
                        <a:t>Rel. </a:t>
                      </a:r>
                      <a:r>
                        <a:rPr lang="en-US" sz="2400" b="0" dirty="0" err="1" smtClean="0">
                          <a:solidFill>
                            <a:schemeClr val="tx1"/>
                          </a:solidFill>
                        </a:rPr>
                        <a:t>Freq</a:t>
                      </a:r>
                      <a:endParaRPr lang="en-US" sz="2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70840">
                <a:tc>
                  <a:txBody>
                    <a:bodyPr/>
                    <a:lstStyle/>
                    <a:p>
                      <a:r>
                        <a:rPr lang="en-US" sz="2400" b="1" dirty="0" smtClean="0">
                          <a:solidFill>
                            <a:schemeClr val="tx1"/>
                          </a:solidFill>
                        </a:rPr>
                        <a:t>Math</a:t>
                      </a:r>
                      <a:endParaRPr lang="en-US"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algn="ct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sz="2400" dirty="0" smtClean="0">
                          <a:solidFill>
                            <a:schemeClr val="tx1"/>
                          </a:solidFill>
                        </a:rPr>
                        <a:t>205</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chemeClr val="tx1"/>
                          </a:solidFill>
                        </a:rPr>
                        <a:t>0.577</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70840">
                <a:tc>
                  <a:txBody>
                    <a:bodyPr/>
                    <a:lstStyle/>
                    <a:p>
                      <a:r>
                        <a:rPr lang="en-US" sz="2400" b="1" dirty="0" smtClean="0">
                          <a:solidFill>
                            <a:schemeClr val="tx1"/>
                          </a:solidFill>
                        </a:rPr>
                        <a:t>Verbal</a:t>
                      </a:r>
                      <a:endParaRPr lang="en-US"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algn="ct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sz="2400" dirty="0" smtClean="0">
                          <a:solidFill>
                            <a:schemeClr val="tx1"/>
                          </a:solidFill>
                        </a:rPr>
                        <a:t>150</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chemeClr val="tx1"/>
                          </a:solidFill>
                        </a:rPr>
                        <a:t>0.423</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70840">
                <a:tc>
                  <a:txBody>
                    <a:bodyPr/>
                    <a:lstStyle/>
                    <a:p>
                      <a:r>
                        <a:rPr lang="en-US" sz="2400" dirty="0" smtClean="0">
                          <a:solidFill>
                            <a:schemeClr val="tx1"/>
                          </a:solidFill>
                        </a:rPr>
                        <a:t>Total</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chemeClr val="tx1"/>
                          </a:solidFill>
                        </a:rPr>
                        <a:t>31</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chemeClr val="tx1"/>
                          </a:solidFill>
                        </a:rPr>
                        <a:t>147</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chemeClr val="tx1"/>
                          </a:solidFill>
                        </a:rPr>
                        <a:t>177</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chemeClr val="tx1"/>
                          </a:solidFill>
                        </a:rPr>
                        <a:t>355</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chemeClr val="tx1"/>
                          </a:solidFill>
                        </a:rPr>
                        <a:t>1.0</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sp>
        <p:nvSpPr>
          <p:cNvPr id="7" name="TextBox 6"/>
          <p:cNvSpPr txBox="1"/>
          <p:nvPr/>
        </p:nvSpPr>
        <p:spPr>
          <a:xfrm>
            <a:off x="-3018" y="3342595"/>
            <a:ext cx="9144000" cy="477054"/>
          </a:xfrm>
          <a:prstGeom prst="rect">
            <a:avLst/>
          </a:prstGeom>
          <a:noFill/>
        </p:spPr>
        <p:txBody>
          <a:bodyPr wrap="square" rtlCol="0">
            <a:spAutoFit/>
          </a:bodyPr>
          <a:lstStyle/>
          <a:p>
            <a:r>
              <a:rPr lang="en-US" sz="2500" dirty="0" smtClean="0"/>
              <a:t>The </a:t>
            </a:r>
            <a:r>
              <a:rPr lang="en-US" sz="2500" b="1" dirty="0" smtClean="0">
                <a:solidFill>
                  <a:schemeClr val="accent2">
                    <a:lumMod val="75000"/>
                  </a:schemeClr>
                </a:solidFill>
              </a:rPr>
              <a:t>expected</a:t>
            </a:r>
            <a:r>
              <a:rPr lang="en-US" sz="2500" dirty="0" smtClean="0">
                <a:solidFill>
                  <a:schemeClr val="accent2">
                    <a:lumMod val="75000"/>
                  </a:schemeClr>
                </a:solidFill>
              </a:rPr>
              <a:t> </a:t>
            </a:r>
            <a:r>
              <a:rPr lang="en-US" sz="2500" dirty="0" smtClean="0"/>
              <a:t>counts are computed assuming the null hypothesis is true. </a:t>
            </a:r>
            <a:endParaRPr lang="en-US" sz="2500" dirty="0"/>
          </a:p>
        </p:txBody>
      </p:sp>
      <p:sp>
        <p:nvSpPr>
          <p:cNvPr id="8" name="TextBox 7"/>
          <p:cNvSpPr txBox="1"/>
          <p:nvPr/>
        </p:nvSpPr>
        <p:spPr>
          <a:xfrm>
            <a:off x="339882" y="3819649"/>
            <a:ext cx="8458200" cy="954107"/>
          </a:xfrm>
          <a:prstGeom prst="rect">
            <a:avLst/>
          </a:prstGeom>
          <a:noFill/>
        </p:spPr>
        <p:txBody>
          <a:bodyPr wrap="square" rtlCol="0">
            <a:spAutoFit/>
          </a:bodyPr>
          <a:lstStyle/>
          <a:p>
            <a:pPr marL="2290763" indent="-2290763"/>
            <a:r>
              <a:rPr lang="en-US" sz="2800" dirty="0" smtClean="0"/>
              <a:t>If H</a:t>
            </a:r>
            <a:r>
              <a:rPr lang="en-US" sz="2800" baseline="-25000" dirty="0" smtClean="0"/>
              <a:t>0</a:t>
            </a:r>
            <a:r>
              <a:rPr lang="en-US" sz="2800" dirty="0" smtClean="0"/>
              <a:t> is true </a:t>
            </a:r>
            <a:r>
              <a:rPr lang="en-US" sz="2800" dirty="0" smtClean="0">
                <a:latin typeface="Cambria"/>
              </a:rPr>
              <a:t>⟹ </a:t>
            </a:r>
            <a:r>
              <a:rPr lang="en-US" sz="2800" dirty="0"/>
              <a:t>The award distribution is </a:t>
            </a:r>
            <a:r>
              <a:rPr lang="en-US" sz="2800" b="1" dirty="0">
                <a:solidFill>
                  <a:schemeClr val="accent2">
                    <a:lumMod val="75000"/>
                  </a:schemeClr>
                </a:solidFill>
              </a:rPr>
              <a:t>expected</a:t>
            </a:r>
            <a:r>
              <a:rPr lang="en-US" sz="2800" dirty="0">
                <a:solidFill>
                  <a:schemeClr val="accent2">
                    <a:lumMod val="75000"/>
                  </a:schemeClr>
                </a:solidFill>
              </a:rPr>
              <a:t> </a:t>
            </a:r>
            <a:r>
              <a:rPr lang="en-US" sz="2800" dirty="0"/>
              <a:t>to be the same </a:t>
            </a:r>
            <a:r>
              <a:rPr lang="en-US" sz="2800" dirty="0" smtClean="0"/>
              <a:t>across </a:t>
            </a:r>
            <a:r>
              <a:rPr lang="en-US" sz="2800" dirty="0"/>
              <a:t>each row. </a:t>
            </a:r>
          </a:p>
        </p:txBody>
      </p:sp>
      <p:sp>
        <p:nvSpPr>
          <p:cNvPr id="11" name="TextBox 10"/>
          <p:cNvSpPr txBox="1"/>
          <p:nvPr/>
        </p:nvSpPr>
        <p:spPr>
          <a:xfrm>
            <a:off x="381000" y="4797200"/>
            <a:ext cx="8759982" cy="1384995"/>
          </a:xfrm>
          <a:prstGeom prst="rect">
            <a:avLst/>
          </a:prstGeom>
          <a:noFill/>
        </p:spPr>
        <p:txBody>
          <a:bodyPr wrap="square" rtlCol="0">
            <a:spAutoFit/>
          </a:bodyPr>
          <a:lstStyle/>
          <a:p>
            <a:r>
              <a:rPr lang="en-US" sz="2800" dirty="0"/>
              <a:t>⟹ </a:t>
            </a:r>
            <a:r>
              <a:rPr lang="en-US" sz="2800" dirty="0" smtClean="0"/>
              <a:t>We </a:t>
            </a:r>
            <a:r>
              <a:rPr lang="en-US" sz="2800" dirty="0"/>
              <a:t>expect 57.7</a:t>
            </a:r>
            <a:r>
              <a:rPr lang="en-US" sz="2800" dirty="0" smtClean="0"/>
              <a:t>% of all three Award Preference groups to have higher Math SAT scores and 42.3% of all three Award Preference groups to have higher Verbal SAT scores.</a:t>
            </a:r>
            <a:endParaRPr lang="en-US" sz="2800" dirty="0"/>
          </a:p>
        </p:txBody>
      </p:sp>
    </p:spTree>
    <p:extLst>
      <p:ext uri="{BB962C8B-B14F-4D97-AF65-F5344CB8AC3E}">
        <p14:creationId xmlns:p14="http://schemas.microsoft.com/office/powerpoint/2010/main" val="10977082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PQuestion"/>
          <p:cNvSpPr>
            <a:spLocks noGrp="1"/>
          </p:cNvSpPr>
          <p:nvPr>
            <p:ph type="title" idx="4294967295"/>
          </p:nvPr>
        </p:nvSpPr>
        <p:spPr>
          <a:xfrm>
            <a:off x="0" y="76200"/>
            <a:ext cx="9144000" cy="2667000"/>
          </a:xfrm>
        </p:spPr>
        <p:txBody>
          <a:bodyPr>
            <a:noAutofit/>
          </a:bodyPr>
          <a:lstStyle/>
          <a:p>
            <a:r>
              <a:rPr lang="en-US" sz="3000" dirty="0" smtClean="0"/>
              <a:t>Assuming the null hypothesis is true, we </a:t>
            </a:r>
            <a:r>
              <a:rPr lang="en-US" sz="3000" dirty="0"/>
              <a:t>expect 57.7% of all three Award Preference groups to have higher Math SAT </a:t>
            </a:r>
            <a:r>
              <a:rPr lang="en-US" sz="3000" dirty="0" smtClean="0"/>
              <a:t>scores.  Find the </a:t>
            </a:r>
            <a:r>
              <a:rPr lang="en-US" sz="3000" dirty="0" smtClean="0">
                <a:solidFill>
                  <a:schemeClr val="accent2">
                    <a:lumMod val="75000"/>
                  </a:schemeClr>
                </a:solidFill>
              </a:rPr>
              <a:t>expected count </a:t>
            </a:r>
            <a:r>
              <a:rPr lang="en-US" sz="3000" dirty="0" smtClean="0"/>
              <a:t>of students that prefer an </a:t>
            </a:r>
            <a:r>
              <a:rPr lang="en-US" sz="3000" dirty="0" smtClean="0">
                <a:solidFill>
                  <a:schemeClr val="accent1">
                    <a:lumMod val="75000"/>
                  </a:schemeClr>
                </a:solidFill>
              </a:rPr>
              <a:t>Academy Award </a:t>
            </a:r>
            <a:r>
              <a:rPr lang="en-US" sz="3000" dirty="0" smtClean="0"/>
              <a:t>and have a higher </a:t>
            </a:r>
            <a:r>
              <a:rPr lang="en-US" sz="3000" dirty="0" smtClean="0">
                <a:solidFill>
                  <a:schemeClr val="accent3">
                    <a:lumMod val="75000"/>
                  </a:schemeClr>
                </a:solidFill>
              </a:rPr>
              <a:t>Math </a:t>
            </a:r>
            <a:r>
              <a:rPr lang="en-US" sz="3000" dirty="0" smtClean="0"/>
              <a:t>SAT score. </a:t>
            </a:r>
            <a:r>
              <a:rPr lang="en-US" sz="3000" dirty="0"/>
              <a:t/>
            </a:r>
            <a:br>
              <a:rPr lang="en-US" sz="3000" dirty="0"/>
            </a:br>
            <a:endParaRPr lang="en-US" sz="3000" dirty="0"/>
          </a:p>
        </p:txBody>
      </p:sp>
      <p:sp>
        <p:nvSpPr>
          <p:cNvPr id="3" name="TPAnswers"/>
          <p:cNvSpPr>
            <a:spLocks noGrp="1"/>
          </p:cNvSpPr>
          <p:nvPr>
            <p:ph sz="quarter" idx="4294967295"/>
            <p:custDataLst>
              <p:tags r:id="rId2"/>
            </p:custDataLst>
          </p:nvPr>
        </p:nvSpPr>
        <p:spPr>
          <a:xfrm>
            <a:off x="0" y="4572000"/>
            <a:ext cx="2362200" cy="2057400"/>
          </a:xfrm>
        </p:spPr>
        <p:txBody>
          <a:bodyPr>
            <a:normAutofit fontScale="92500" lnSpcReduction="10000"/>
          </a:bodyPr>
          <a:lstStyle/>
          <a:p>
            <a:pPr marL="514350" indent="-514350">
              <a:buFont typeface="+mj-lt"/>
              <a:buAutoNum type="alphaUcPeriod"/>
            </a:pPr>
            <a:r>
              <a:rPr lang="en-US" dirty="0" smtClean="0"/>
              <a:t>17.89</a:t>
            </a:r>
          </a:p>
          <a:p>
            <a:pPr marL="514350" indent="-514350">
              <a:buFont typeface="+mj-lt"/>
              <a:buAutoNum type="alphaUcPeriod"/>
            </a:pPr>
            <a:r>
              <a:rPr lang="en-US" dirty="0" smtClean="0"/>
              <a:t>21</a:t>
            </a:r>
          </a:p>
          <a:p>
            <a:pPr marL="514350" indent="-514350">
              <a:buFont typeface="+mj-lt"/>
              <a:buAutoNum type="alphaUcPeriod"/>
            </a:pPr>
            <a:r>
              <a:rPr lang="en-US" dirty="0" smtClean="0"/>
              <a:t>24</a:t>
            </a:r>
          </a:p>
          <a:p>
            <a:pPr marL="514350" indent="-514350">
              <a:buFont typeface="+mj-lt"/>
              <a:buAutoNum type="alphaUcPeriod"/>
            </a:pPr>
            <a:r>
              <a:rPr lang="en-US" dirty="0" smtClean="0"/>
              <a:t>118.29</a:t>
            </a: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1615453935"/>
              </p:ext>
            </p:extLst>
          </p:nvPr>
        </p:nvGraphicFramePr>
        <p:xfrm>
          <a:off x="152400" y="2438400"/>
          <a:ext cx="8839199" cy="1828800"/>
        </p:xfrm>
        <a:graphic>
          <a:graphicData uri="http://schemas.openxmlformats.org/drawingml/2006/table">
            <a:tbl>
              <a:tblPr firstRow="1" bandRow="1">
                <a:tableStyleId>{5C22544A-7EE6-4342-B048-85BDC9FD1C3A}</a:tableStyleId>
              </a:tblPr>
              <a:tblGrid>
                <a:gridCol w="1537252"/>
                <a:gridCol w="1460389"/>
                <a:gridCol w="1614115"/>
                <a:gridCol w="1614115"/>
                <a:gridCol w="1306664"/>
                <a:gridCol w="1306664"/>
              </a:tblGrid>
              <a:tr h="370840">
                <a:tc>
                  <a:txBody>
                    <a:bodyPr/>
                    <a:lstStyle/>
                    <a:p>
                      <a:r>
                        <a:rPr lang="en-US" sz="2400" b="0" dirty="0" err="1" smtClean="0">
                          <a:solidFill>
                            <a:schemeClr val="tx1"/>
                          </a:solidFill>
                        </a:rPr>
                        <a:t>HigherSAT</a:t>
                      </a:r>
                      <a:endParaRPr lang="en-US" sz="2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chemeClr val="tx1"/>
                          </a:solidFill>
                        </a:rPr>
                        <a:t>Academy</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sz="2400" dirty="0" smtClean="0">
                          <a:solidFill>
                            <a:schemeClr val="tx1"/>
                          </a:solidFill>
                        </a:rPr>
                        <a:t>Nobel</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sz="2400" dirty="0" smtClean="0">
                          <a:solidFill>
                            <a:schemeClr val="tx1"/>
                          </a:solidFill>
                        </a:rPr>
                        <a:t>Olympic</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sz="2400" b="0" dirty="0" smtClean="0">
                          <a:solidFill>
                            <a:schemeClr val="tx1"/>
                          </a:solidFill>
                        </a:rPr>
                        <a:t>Total</a:t>
                      </a:r>
                      <a:endParaRPr lang="en-US" sz="2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b="0" dirty="0" smtClean="0">
                          <a:solidFill>
                            <a:schemeClr val="tx1"/>
                          </a:solidFill>
                        </a:rPr>
                        <a:t>Rel. </a:t>
                      </a:r>
                      <a:r>
                        <a:rPr lang="en-US" sz="2400" b="0" dirty="0" err="1" smtClean="0">
                          <a:solidFill>
                            <a:schemeClr val="tx1"/>
                          </a:solidFill>
                        </a:rPr>
                        <a:t>Freq</a:t>
                      </a:r>
                      <a:endParaRPr lang="en-US" sz="2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70840">
                <a:tc>
                  <a:txBody>
                    <a:bodyPr/>
                    <a:lstStyle/>
                    <a:p>
                      <a:r>
                        <a:rPr lang="en-US" sz="2400" b="1" dirty="0" smtClean="0">
                          <a:solidFill>
                            <a:schemeClr val="tx1"/>
                          </a:solidFill>
                        </a:rPr>
                        <a:t>Math</a:t>
                      </a:r>
                      <a:endParaRPr lang="en-US"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algn="ct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sz="2400" dirty="0" smtClean="0">
                          <a:solidFill>
                            <a:schemeClr val="tx1"/>
                          </a:solidFill>
                        </a:rPr>
                        <a:t>205</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chemeClr val="tx1"/>
                          </a:solidFill>
                        </a:rPr>
                        <a:t>0.577</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70840">
                <a:tc>
                  <a:txBody>
                    <a:bodyPr/>
                    <a:lstStyle/>
                    <a:p>
                      <a:r>
                        <a:rPr lang="en-US" sz="2400" b="1" dirty="0" smtClean="0">
                          <a:solidFill>
                            <a:schemeClr val="tx1"/>
                          </a:solidFill>
                        </a:rPr>
                        <a:t>Verbal</a:t>
                      </a:r>
                      <a:endParaRPr lang="en-US"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algn="ct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sz="2400" dirty="0" smtClean="0">
                          <a:solidFill>
                            <a:schemeClr val="tx1"/>
                          </a:solidFill>
                        </a:rPr>
                        <a:t>150</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chemeClr val="tx1"/>
                          </a:solidFill>
                        </a:rPr>
                        <a:t>0.423</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70840">
                <a:tc>
                  <a:txBody>
                    <a:bodyPr/>
                    <a:lstStyle/>
                    <a:p>
                      <a:r>
                        <a:rPr lang="en-US" sz="2400" dirty="0" smtClean="0">
                          <a:solidFill>
                            <a:schemeClr val="tx1"/>
                          </a:solidFill>
                        </a:rPr>
                        <a:t>Total</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chemeClr val="tx1"/>
                          </a:solidFill>
                        </a:rPr>
                        <a:t>31</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chemeClr val="tx1"/>
                          </a:solidFill>
                        </a:rPr>
                        <a:t>147</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chemeClr val="tx1"/>
                          </a:solidFill>
                        </a:rPr>
                        <a:t>177</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chemeClr val="tx1"/>
                          </a:solidFill>
                        </a:rPr>
                        <a:t>355</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chemeClr val="tx1"/>
                          </a:solidFill>
                        </a:rPr>
                        <a:t>1.0</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spTree>
    <p:custDataLst>
      <p:tags r:id="rId1"/>
    </p:custDataLst>
    <p:extLst>
      <p:ext uri="{BB962C8B-B14F-4D97-AF65-F5344CB8AC3E}">
        <p14:creationId xmlns:p14="http://schemas.microsoft.com/office/powerpoint/2010/main" val="359338746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PQuestion"/>
          <p:cNvSpPr>
            <a:spLocks noGrp="1"/>
          </p:cNvSpPr>
          <p:nvPr>
            <p:ph type="title" idx="4294967295"/>
          </p:nvPr>
        </p:nvSpPr>
        <p:spPr>
          <a:xfrm>
            <a:off x="0" y="76200"/>
            <a:ext cx="9144000" cy="2286000"/>
          </a:xfrm>
        </p:spPr>
        <p:txBody>
          <a:bodyPr>
            <a:noAutofit/>
          </a:bodyPr>
          <a:lstStyle/>
          <a:p>
            <a:r>
              <a:rPr lang="en-US" sz="3000" dirty="0" smtClean="0"/>
              <a:t>Assuming the null hypothesis is true, we </a:t>
            </a:r>
            <a:r>
              <a:rPr lang="en-US" sz="3000" dirty="0"/>
              <a:t>expect </a:t>
            </a:r>
            <a:r>
              <a:rPr lang="en-US" sz="3000" dirty="0" smtClean="0"/>
              <a:t>42.3</a:t>
            </a:r>
            <a:r>
              <a:rPr lang="en-US" sz="3000" dirty="0"/>
              <a:t>% of all three Award Preference groups to have higher Verbal SAT scores</a:t>
            </a:r>
            <a:r>
              <a:rPr lang="en-US" sz="3000" dirty="0" smtClean="0"/>
              <a:t>. </a:t>
            </a:r>
            <a:r>
              <a:rPr lang="en-US" sz="3000" dirty="0"/>
              <a:t>Find the </a:t>
            </a:r>
            <a:r>
              <a:rPr lang="en-US" sz="3000" dirty="0">
                <a:solidFill>
                  <a:schemeClr val="accent2">
                    <a:lumMod val="75000"/>
                  </a:schemeClr>
                </a:solidFill>
              </a:rPr>
              <a:t>expected count </a:t>
            </a:r>
            <a:r>
              <a:rPr lang="en-US" sz="3000" dirty="0"/>
              <a:t>of students that prefer an </a:t>
            </a:r>
            <a:r>
              <a:rPr lang="en-US" sz="3000" dirty="0" smtClean="0">
                <a:solidFill>
                  <a:srgbClr val="00B050"/>
                </a:solidFill>
              </a:rPr>
              <a:t>Olympic medal </a:t>
            </a:r>
            <a:r>
              <a:rPr lang="en-US" sz="3000" dirty="0"/>
              <a:t>and have a higher </a:t>
            </a:r>
            <a:r>
              <a:rPr lang="en-US" sz="3000" dirty="0" smtClean="0">
                <a:solidFill>
                  <a:srgbClr val="7030A0"/>
                </a:solidFill>
              </a:rPr>
              <a:t>Verbal</a:t>
            </a:r>
            <a:r>
              <a:rPr lang="en-US" sz="3000" dirty="0" smtClean="0"/>
              <a:t> SAT </a:t>
            </a:r>
            <a:r>
              <a:rPr lang="en-US" sz="3000" dirty="0"/>
              <a:t>score. </a:t>
            </a:r>
          </a:p>
        </p:txBody>
      </p:sp>
      <p:sp>
        <p:nvSpPr>
          <p:cNvPr id="3" name="TPAnswers"/>
          <p:cNvSpPr>
            <a:spLocks noGrp="1"/>
          </p:cNvSpPr>
          <p:nvPr>
            <p:ph sz="quarter" idx="4294967295"/>
            <p:custDataLst>
              <p:tags r:id="rId2"/>
            </p:custDataLst>
          </p:nvPr>
        </p:nvSpPr>
        <p:spPr>
          <a:xfrm>
            <a:off x="0" y="4572000"/>
            <a:ext cx="2362200" cy="2057400"/>
          </a:xfrm>
        </p:spPr>
        <p:txBody>
          <a:bodyPr>
            <a:normAutofit fontScale="92500" lnSpcReduction="10000"/>
          </a:bodyPr>
          <a:lstStyle/>
          <a:p>
            <a:pPr marL="514350" indent="-514350">
              <a:buFont typeface="+mj-lt"/>
              <a:buAutoNum type="alphaUcPeriod"/>
            </a:pPr>
            <a:r>
              <a:rPr lang="en-US" dirty="0" smtClean="0"/>
              <a:t>61</a:t>
            </a:r>
          </a:p>
          <a:p>
            <a:pPr marL="514350" indent="-514350">
              <a:buFont typeface="+mj-lt"/>
              <a:buAutoNum type="alphaUcPeriod"/>
            </a:pPr>
            <a:r>
              <a:rPr lang="en-US" dirty="0" smtClean="0"/>
              <a:t>63.45</a:t>
            </a:r>
          </a:p>
          <a:p>
            <a:pPr marL="514350" indent="-514350">
              <a:buFont typeface="+mj-lt"/>
              <a:buAutoNum type="alphaUcPeriod"/>
            </a:pPr>
            <a:r>
              <a:rPr lang="en-US" dirty="0" smtClean="0"/>
              <a:t>74.87</a:t>
            </a:r>
          </a:p>
          <a:p>
            <a:pPr marL="514350" indent="-514350">
              <a:buFont typeface="+mj-lt"/>
              <a:buAutoNum type="alphaUcPeriod"/>
            </a:pPr>
            <a:r>
              <a:rPr lang="en-US" dirty="0" smtClean="0"/>
              <a:t>102.13</a:t>
            </a:r>
          </a:p>
        </p:txBody>
      </p:sp>
      <p:graphicFrame>
        <p:nvGraphicFramePr>
          <p:cNvPr id="4" name="Table 3"/>
          <p:cNvGraphicFramePr>
            <a:graphicFrameLocks noGrp="1"/>
          </p:cNvGraphicFramePr>
          <p:nvPr>
            <p:extLst>
              <p:ext uri="{D42A27DB-BD31-4B8C-83A1-F6EECF244321}">
                <p14:modId xmlns:p14="http://schemas.microsoft.com/office/powerpoint/2010/main" val="2370536322"/>
              </p:ext>
            </p:extLst>
          </p:nvPr>
        </p:nvGraphicFramePr>
        <p:xfrm>
          <a:off x="152400" y="2438400"/>
          <a:ext cx="8839199" cy="1828800"/>
        </p:xfrm>
        <a:graphic>
          <a:graphicData uri="http://schemas.openxmlformats.org/drawingml/2006/table">
            <a:tbl>
              <a:tblPr firstRow="1" bandRow="1">
                <a:tableStyleId>{5C22544A-7EE6-4342-B048-85BDC9FD1C3A}</a:tableStyleId>
              </a:tblPr>
              <a:tblGrid>
                <a:gridCol w="1537252"/>
                <a:gridCol w="1460389"/>
                <a:gridCol w="1614115"/>
                <a:gridCol w="1614115"/>
                <a:gridCol w="1306664"/>
                <a:gridCol w="1306664"/>
              </a:tblGrid>
              <a:tr h="370840">
                <a:tc>
                  <a:txBody>
                    <a:bodyPr/>
                    <a:lstStyle/>
                    <a:p>
                      <a:r>
                        <a:rPr lang="en-US" sz="2400" b="0" dirty="0" err="1" smtClean="0">
                          <a:solidFill>
                            <a:schemeClr val="tx1"/>
                          </a:solidFill>
                        </a:rPr>
                        <a:t>HigherSAT</a:t>
                      </a:r>
                      <a:endParaRPr lang="en-US" sz="2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chemeClr val="tx1"/>
                          </a:solidFill>
                        </a:rPr>
                        <a:t>Academy</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sz="2400" dirty="0" smtClean="0">
                          <a:solidFill>
                            <a:schemeClr val="tx1"/>
                          </a:solidFill>
                        </a:rPr>
                        <a:t>Nobel</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sz="2400" dirty="0" smtClean="0">
                          <a:solidFill>
                            <a:schemeClr val="tx1"/>
                          </a:solidFill>
                        </a:rPr>
                        <a:t>Olympic</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sz="2400" b="0" dirty="0" smtClean="0">
                          <a:solidFill>
                            <a:schemeClr val="tx1"/>
                          </a:solidFill>
                        </a:rPr>
                        <a:t>Total</a:t>
                      </a:r>
                      <a:endParaRPr lang="en-US" sz="2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b="0" dirty="0" smtClean="0">
                          <a:solidFill>
                            <a:schemeClr val="tx1"/>
                          </a:solidFill>
                        </a:rPr>
                        <a:t>Rel. </a:t>
                      </a:r>
                      <a:r>
                        <a:rPr lang="en-US" sz="2400" b="0" dirty="0" err="1" smtClean="0">
                          <a:solidFill>
                            <a:schemeClr val="tx1"/>
                          </a:solidFill>
                        </a:rPr>
                        <a:t>Freq</a:t>
                      </a:r>
                      <a:endParaRPr lang="en-US" sz="2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70840">
                <a:tc>
                  <a:txBody>
                    <a:bodyPr/>
                    <a:lstStyle/>
                    <a:p>
                      <a:r>
                        <a:rPr lang="en-US" sz="2400" b="1" dirty="0" smtClean="0">
                          <a:solidFill>
                            <a:schemeClr val="tx1"/>
                          </a:solidFill>
                        </a:rPr>
                        <a:t>Math</a:t>
                      </a:r>
                      <a:endParaRPr lang="en-US"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algn="ct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sz="2400" dirty="0" smtClean="0">
                          <a:solidFill>
                            <a:schemeClr val="tx1"/>
                          </a:solidFill>
                        </a:rPr>
                        <a:t>205</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chemeClr val="tx1"/>
                          </a:solidFill>
                        </a:rPr>
                        <a:t>0.577</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70840">
                <a:tc>
                  <a:txBody>
                    <a:bodyPr/>
                    <a:lstStyle/>
                    <a:p>
                      <a:r>
                        <a:rPr lang="en-US" sz="2400" b="1" dirty="0" smtClean="0">
                          <a:solidFill>
                            <a:schemeClr val="tx1"/>
                          </a:solidFill>
                        </a:rPr>
                        <a:t>Verbal</a:t>
                      </a:r>
                      <a:endParaRPr lang="en-US"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algn="ct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sz="2400" dirty="0" smtClean="0">
                          <a:solidFill>
                            <a:schemeClr val="tx1"/>
                          </a:solidFill>
                        </a:rPr>
                        <a:t>150</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chemeClr val="tx1"/>
                          </a:solidFill>
                        </a:rPr>
                        <a:t>0.423</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70840">
                <a:tc>
                  <a:txBody>
                    <a:bodyPr/>
                    <a:lstStyle/>
                    <a:p>
                      <a:r>
                        <a:rPr lang="en-US" sz="2400" dirty="0" smtClean="0">
                          <a:solidFill>
                            <a:schemeClr val="tx1"/>
                          </a:solidFill>
                        </a:rPr>
                        <a:t>Total</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chemeClr val="tx1"/>
                          </a:solidFill>
                        </a:rPr>
                        <a:t>31</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chemeClr val="tx1"/>
                          </a:solidFill>
                        </a:rPr>
                        <a:t>147</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chemeClr val="tx1"/>
                          </a:solidFill>
                        </a:rPr>
                        <a:t>177</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chemeClr val="tx1"/>
                          </a:solidFill>
                        </a:rPr>
                        <a:t>355</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chemeClr val="tx1"/>
                          </a:solidFill>
                        </a:rPr>
                        <a:t>1.0</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spTree>
    <p:custDataLst>
      <p:tags r:id="rId1"/>
    </p:custDataLst>
    <p:extLst>
      <p:ext uri="{BB962C8B-B14F-4D97-AF65-F5344CB8AC3E}">
        <p14:creationId xmlns:p14="http://schemas.microsoft.com/office/powerpoint/2010/main" val="291903487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457200" y="228600"/>
            <a:ext cx="8686800" cy="990600"/>
          </a:xfrm>
        </p:spPr>
        <p:txBody>
          <a:bodyPr>
            <a:noAutofit/>
          </a:bodyPr>
          <a:lstStyle/>
          <a:p>
            <a:r>
              <a:rPr lang="en-US" sz="3800" dirty="0" smtClean="0"/>
              <a:t>Expected Counts and Relative Frequencies</a:t>
            </a:r>
            <a:endParaRPr lang="en-US" sz="3800" dirty="0"/>
          </a:p>
        </p:txBody>
      </p:sp>
      <p:graphicFrame>
        <p:nvGraphicFramePr>
          <p:cNvPr id="22" name="Table 21"/>
          <p:cNvGraphicFramePr>
            <a:graphicFrameLocks noGrp="1"/>
          </p:cNvGraphicFramePr>
          <p:nvPr>
            <p:extLst>
              <p:ext uri="{D42A27DB-BD31-4B8C-83A1-F6EECF244321}">
                <p14:modId xmlns:p14="http://schemas.microsoft.com/office/powerpoint/2010/main" val="1621123329"/>
              </p:ext>
            </p:extLst>
          </p:nvPr>
        </p:nvGraphicFramePr>
        <p:xfrm>
          <a:off x="152400" y="1295400"/>
          <a:ext cx="8839199" cy="1828800"/>
        </p:xfrm>
        <a:graphic>
          <a:graphicData uri="http://schemas.openxmlformats.org/drawingml/2006/table">
            <a:tbl>
              <a:tblPr firstRow="1" bandRow="1">
                <a:tableStyleId>{5C22544A-7EE6-4342-B048-85BDC9FD1C3A}</a:tableStyleId>
              </a:tblPr>
              <a:tblGrid>
                <a:gridCol w="1537252"/>
                <a:gridCol w="1460389"/>
                <a:gridCol w="1614115"/>
                <a:gridCol w="1614115"/>
                <a:gridCol w="1306664"/>
                <a:gridCol w="1306664"/>
              </a:tblGrid>
              <a:tr h="370840">
                <a:tc>
                  <a:txBody>
                    <a:bodyPr/>
                    <a:lstStyle/>
                    <a:p>
                      <a:r>
                        <a:rPr lang="en-US" sz="2400" b="0" dirty="0" err="1" smtClean="0">
                          <a:solidFill>
                            <a:schemeClr val="tx1"/>
                          </a:solidFill>
                        </a:rPr>
                        <a:t>HigherSAT</a:t>
                      </a:r>
                      <a:endParaRPr lang="en-US" sz="2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chemeClr val="tx1"/>
                          </a:solidFill>
                        </a:rPr>
                        <a:t>Academy</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sz="2400" dirty="0" smtClean="0">
                          <a:solidFill>
                            <a:schemeClr val="tx1"/>
                          </a:solidFill>
                        </a:rPr>
                        <a:t>Nobel</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sz="2400" dirty="0" smtClean="0">
                          <a:solidFill>
                            <a:schemeClr val="tx1"/>
                          </a:solidFill>
                        </a:rPr>
                        <a:t>Olympic</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sz="2400" b="0" dirty="0" smtClean="0">
                          <a:solidFill>
                            <a:schemeClr val="tx1"/>
                          </a:solidFill>
                        </a:rPr>
                        <a:t>Total</a:t>
                      </a:r>
                      <a:endParaRPr lang="en-US" sz="2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b="0" dirty="0" smtClean="0">
                          <a:solidFill>
                            <a:schemeClr val="tx1"/>
                          </a:solidFill>
                        </a:rPr>
                        <a:t>Rel. </a:t>
                      </a:r>
                      <a:r>
                        <a:rPr lang="en-US" sz="2400" b="0" dirty="0" err="1" smtClean="0">
                          <a:solidFill>
                            <a:schemeClr val="tx1"/>
                          </a:solidFill>
                        </a:rPr>
                        <a:t>Freq</a:t>
                      </a:r>
                      <a:endParaRPr lang="en-US" sz="2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70840">
                <a:tc>
                  <a:txBody>
                    <a:bodyPr/>
                    <a:lstStyle/>
                    <a:p>
                      <a:r>
                        <a:rPr lang="en-US" sz="2400" b="1" dirty="0" smtClean="0">
                          <a:solidFill>
                            <a:schemeClr val="tx1"/>
                          </a:solidFill>
                        </a:rPr>
                        <a:t>Math</a:t>
                      </a:r>
                      <a:endParaRPr lang="en-US"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algn="ct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sz="2400" dirty="0" smtClean="0">
                          <a:solidFill>
                            <a:schemeClr val="tx1"/>
                          </a:solidFill>
                        </a:rPr>
                        <a:t>205</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chemeClr val="tx1"/>
                          </a:solidFill>
                        </a:rPr>
                        <a:t>0.577</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70840">
                <a:tc>
                  <a:txBody>
                    <a:bodyPr/>
                    <a:lstStyle/>
                    <a:p>
                      <a:r>
                        <a:rPr lang="en-US" sz="2400" b="1" dirty="0" smtClean="0">
                          <a:solidFill>
                            <a:schemeClr val="tx1"/>
                          </a:solidFill>
                        </a:rPr>
                        <a:t>Verbal</a:t>
                      </a:r>
                      <a:endParaRPr lang="en-US"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algn="ct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sz="2400" dirty="0" smtClean="0">
                          <a:solidFill>
                            <a:schemeClr val="tx1"/>
                          </a:solidFill>
                        </a:rPr>
                        <a:t>150</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chemeClr val="tx1"/>
                          </a:solidFill>
                        </a:rPr>
                        <a:t>0.423</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70840">
                <a:tc>
                  <a:txBody>
                    <a:bodyPr/>
                    <a:lstStyle/>
                    <a:p>
                      <a:r>
                        <a:rPr lang="en-US" sz="2400" dirty="0" smtClean="0">
                          <a:solidFill>
                            <a:schemeClr val="tx1"/>
                          </a:solidFill>
                        </a:rPr>
                        <a:t>Total</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chemeClr val="tx1"/>
                          </a:solidFill>
                        </a:rPr>
                        <a:t>31</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chemeClr val="tx1"/>
                          </a:solidFill>
                        </a:rPr>
                        <a:t>147</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chemeClr val="tx1"/>
                          </a:solidFill>
                        </a:rPr>
                        <a:t>177</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chemeClr val="tx1"/>
                          </a:solidFill>
                        </a:rPr>
                        <a:t>355</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chemeClr val="tx1"/>
                          </a:solidFill>
                        </a:rPr>
                        <a:t>1.0</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sp>
        <p:nvSpPr>
          <p:cNvPr id="3" name="TextBox 2"/>
          <p:cNvSpPr txBox="1"/>
          <p:nvPr/>
        </p:nvSpPr>
        <p:spPr>
          <a:xfrm>
            <a:off x="145798" y="3124200"/>
            <a:ext cx="8915400" cy="1384995"/>
          </a:xfrm>
          <a:prstGeom prst="rect">
            <a:avLst/>
          </a:prstGeom>
          <a:noFill/>
        </p:spPr>
        <p:txBody>
          <a:bodyPr wrap="square" rtlCol="0">
            <a:spAutoFit/>
          </a:bodyPr>
          <a:lstStyle/>
          <a:p>
            <a:r>
              <a:rPr lang="en-US" sz="2800" dirty="0" smtClean="0"/>
              <a:t>Looking again at the computation of the expected count for students that prefer an </a:t>
            </a:r>
            <a:r>
              <a:rPr lang="en-US" sz="2800" b="1" dirty="0" smtClean="0">
                <a:solidFill>
                  <a:schemeClr val="accent1">
                    <a:lumMod val="75000"/>
                  </a:schemeClr>
                </a:solidFill>
              </a:rPr>
              <a:t>Academy Award </a:t>
            </a:r>
            <a:r>
              <a:rPr lang="en-US" sz="2800" dirty="0" smtClean="0"/>
              <a:t>and have a higher </a:t>
            </a:r>
            <a:r>
              <a:rPr lang="en-US" sz="2800" b="1" dirty="0" smtClean="0">
                <a:solidFill>
                  <a:schemeClr val="accent3">
                    <a:lumMod val="75000"/>
                  </a:schemeClr>
                </a:solidFill>
              </a:rPr>
              <a:t>Math</a:t>
            </a:r>
            <a:r>
              <a:rPr lang="en-US" sz="2800" dirty="0" smtClean="0">
                <a:solidFill>
                  <a:schemeClr val="accent3">
                    <a:lumMod val="75000"/>
                  </a:schemeClr>
                </a:solidFill>
              </a:rPr>
              <a:t> </a:t>
            </a:r>
            <a:r>
              <a:rPr lang="en-US" sz="2800" dirty="0" smtClean="0"/>
              <a:t>SAT score, we have: </a:t>
            </a:r>
            <a:endParaRPr lang="en-US" sz="2800" dirty="0"/>
          </a:p>
        </p:txBody>
      </p:sp>
      <p:sp>
        <p:nvSpPr>
          <p:cNvPr id="23" name="TextBox 22"/>
          <p:cNvSpPr txBox="1"/>
          <p:nvPr/>
        </p:nvSpPr>
        <p:spPr>
          <a:xfrm>
            <a:off x="867624" y="5141312"/>
            <a:ext cx="3818676" cy="461665"/>
          </a:xfrm>
          <a:prstGeom prst="rect">
            <a:avLst/>
          </a:prstGeom>
          <a:noFill/>
        </p:spPr>
        <p:txBody>
          <a:bodyPr wrap="square" rtlCol="0">
            <a:spAutoFit/>
          </a:bodyPr>
          <a:lstStyle/>
          <a:p>
            <a:r>
              <a:rPr lang="en-US" sz="2400" dirty="0" smtClean="0">
                <a:solidFill>
                  <a:schemeClr val="accent1">
                    <a:lumMod val="50000"/>
                  </a:schemeClr>
                </a:solidFill>
                <a:latin typeface="Segoe Print" panose="02000600000000000000" pitchFamily="2" charset="0"/>
              </a:rPr>
              <a:t>17.89 ≈ 0.577(31)</a:t>
            </a:r>
            <a:endParaRPr lang="en-US" sz="2400" dirty="0">
              <a:solidFill>
                <a:schemeClr val="accent1">
                  <a:lumMod val="50000"/>
                </a:schemeClr>
              </a:solidFill>
              <a:latin typeface="Segoe Print" panose="02000600000000000000" pitchFamily="2" charset="0"/>
            </a:endParaRPr>
          </a:p>
        </p:txBody>
      </p:sp>
      <p:sp>
        <p:nvSpPr>
          <p:cNvPr id="4" name="Left Brace 3"/>
          <p:cNvSpPr/>
          <p:nvPr/>
        </p:nvSpPr>
        <p:spPr>
          <a:xfrm rot="16200000">
            <a:off x="5524305" y="4498273"/>
            <a:ext cx="343290" cy="2552700"/>
          </a:xfrm>
          <a:prstGeom prst="leftBrace">
            <a:avLst>
              <a:gd name="adj1" fmla="val 52463"/>
              <a:gd name="adj2" fmla="val 50000"/>
            </a:avLst>
          </a:prstGeom>
          <a:ln w="254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 name="TextBox 4"/>
          <p:cNvSpPr txBox="1"/>
          <p:nvPr/>
        </p:nvSpPr>
        <p:spPr>
          <a:xfrm>
            <a:off x="104775" y="5873878"/>
            <a:ext cx="9018855" cy="954107"/>
          </a:xfrm>
          <a:prstGeom prst="rect">
            <a:avLst/>
          </a:prstGeom>
          <a:noFill/>
        </p:spPr>
        <p:txBody>
          <a:bodyPr wrap="square" rtlCol="0">
            <a:spAutoFit/>
          </a:bodyPr>
          <a:lstStyle/>
          <a:p>
            <a:r>
              <a:rPr lang="en-US" sz="2800" dirty="0" smtClean="0"/>
              <a:t>This is an alternate way to compute the expected count that reduces round-off error.</a:t>
            </a:r>
            <a:endParaRPr lang="en-US" sz="2800" dirty="0"/>
          </a:p>
        </p:txBody>
      </p:sp>
      <p:sp>
        <p:nvSpPr>
          <p:cNvPr id="9" name="Rounded Rectangle 8"/>
          <p:cNvSpPr/>
          <p:nvPr/>
        </p:nvSpPr>
        <p:spPr>
          <a:xfrm>
            <a:off x="1752600" y="1828800"/>
            <a:ext cx="5867400" cy="304800"/>
          </a:xfrm>
          <a:prstGeom prst="roundRect">
            <a:avLst/>
          </a:prstGeom>
          <a:noFill/>
          <a:ln w="25400">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Down Arrow Callout 25"/>
          <p:cNvSpPr/>
          <p:nvPr/>
        </p:nvSpPr>
        <p:spPr>
          <a:xfrm>
            <a:off x="5684166" y="4114800"/>
            <a:ext cx="781050" cy="929038"/>
          </a:xfrm>
          <a:prstGeom prst="downArrowCallout">
            <a:avLst>
              <a:gd name="adj1" fmla="val 25000"/>
              <a:gd name="adj2" fmla="val 21907"/>
              <a:gd name="adj3" fmla="val 13658"/>
              <a:gd name="adj4" fmla="val 72187"/>
            </a:avLst>
          </a:prstGeom>
          <a:solidFill>
            <a:schemeClr val="accent5">
              <a:lumMod val="75000"/>
            </a:schemeClr>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smtClean="0"/>
              <a:t>row total</a:t>
            </a:r>
            <a:endParaRPr lang="en-US" sz="2000" b="1" dirty="0"/>
          </a:p>
        </p:txBody>
      </p:sp>
      <p:sp>
        <p:nvSpPr>
          <p:cNvPr id="27" name="Down Arrow Callout 26"/>
          <p:cNvSpPr/>
          <p:nvPr/>
        </p:nvSpPr>
        <p:spPr>
          <a:xfrm>
            <a:off x="6491924" y="4110087"/>
            <a:ext cx="899475" cy="929038"/>
          </a:xfrm>
          <a:prstGeom prst="downArrowCallout">
            <a:avLst>
              <a:gd name="adj1" fmla="val 25000"/>
              <a:gd name="adj2" fmla="val 21907"/>
              <a:gd name="adj3" fmla="val 13658"/>
              <a:gd name="adj4" fmla="val 72187"/>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c</a:t>
            </a:r>
            <a:r>
              <a:rPr lang="en-US" b="1" dirty="0" smtClean="0"/>
              <a:t>olumn total</a:t>
            </a:r>
            <a:endParaRPr lang="en-US" b="1" dirty="0"/>
          </a:p>
        </p:txBody>
      </p:sp>
      <p:sp>
        <p:nvSpPr>
          <p:cNvPr id="28" name="Rounded Rectangle 27"/>
          <p:cNvSpPr/>
          <p:nvPr/>
        </p:nvSpPr>
        <p:spPr>
          <a:xfrm>
            <a:off x="1752600" y="1752600"/>
            <a:ext cx="1295400" cy="1371599"/>
          </a:xfrm>
          <a:prstGeom prst="roundRect">
            <a:avLst/>
          </a:prstGeom>
          <a:noFill/>
          <a:ln w="254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ounded Rectangle 28"/>
          <p:cNvSpPr/>
          <p:nvPr/>
        </p:nvSpPr>
        <p:spPr>
          <a:xfrm>
            <a:off x="6553200" y="2711780"/>
            <a:ext cx="1066800" cy="336220"/>
          </a:xfrm>
          <a:prstGeom prst="roundRect">
            <a:avLst/>
          </a:prstGeom>
          <a:noFill/>
          <a:ln w="254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Left Arrow Callout 29"/>
          <p:cNvSpPr/>
          <p:nvPr/>
        </p:nvSpPr>
        <p:spPr>
          <a:xfrm>
            <a:off x="7001366" y="5257800"/>
            <a:ext cx="1761634" cy="516822"/>
          </a:xfrm>
          <a:prstGeom prst="leftArrowCallout">
            <a:avLst>
              <a:gd name="adj1" fmla="val 25000"/>
              <a:gd name="adj2" fmla="val 25000"/>
              <a:gd name="adj3" fmla="val 25000"/>
              <a:gd name="adj4" fmla="val 85311"/>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smtClean="0"/>
              <a:t>sample size</a:t>
            </a:r>
            <a:endParaRPr lang="en-US" sz="2000" b="1" dirty="0"/>
          </a:p>
        </p:txBody>
      </p:sp>
      <mc:AlternateContent xmlns:mc="http://schemas.openxmlformats.org/markup-compatibility/2006" xmlns:a14="http://schemas.microsoft.com/office/drawing/2010/main">
        <mc:Choice Requires="a14">
          <p:sp>
            <p:nvSpPr>
              <p:cNvPr id="6" name="TextBox 5"/>
              <p:cNvSpPr txBox="1"/>
              <p:nvPr/>
            </p:nvSpPr>
            <p:spPr>
              <a:xfrm>
                <a:off x="3764371" y="5013188"/>
                <a:ext cx="3627028" cy="67685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nor/>
                        </m:rPr>
                        <a:rPr lang="en-US" sz="2000" dirty="0">
                          <a:solidFill>
                            <a:schemeClr val="accent1">
                              <a:lumMod val="50000"/>
                            </a:schemeClr>
                          </a:solidFill>
                          <a:latin typeface="Segoe Print" panose="02000600000000000000" pitchFamily="2" charset="0"/>
                        </a:rPr>
                        <m:t>≈ </m:t>
                      </m:r>
                      <m:f>
                        <m:fPr>
                          <m:ctrlPr>
                            <a:rPr lang="en-US" sz="2000" i="1">
                              <a:solidFill>
                                <a:schemeClr val="accent1">
                                  <a:lumMod val="50000"/>
                                </a:schemeClr>
                              </a:solidFill>
                              <a:latin typeface="Cambria Math"/>
                            </a:rPr>
                          </m:ctrlPr>
                        </m:fPr>
                        <m:num>
                          <m:r>
                            <a:rPr lang="en-US" sz="2000" i="1">
                              <a:solidFill>
                                <a:schemeClr val="accent1">
                                  <a:lumMod val="50000"/>
                                </a:schemeClr>
                              </a:solidFill>
                              <a:latin typeface="Cambria Math"/>
                            </a:rPr>
                            <m:t>205</m:t>
                          </m:r>
                        </m:num>
                        <m:den>
                          <m:r>
                            <a:rPr lang="en-US" sz="2000" i="1">
                              <a:solidFill>
                                <a:schemeClr val="accent1">
                                  <a:lumMod val="50000"/>
                                </a:schemeClr>
                              </a:solidFill>
                              <a:latin typeface="Cambria Math"/>
                            </a:rPr>
                            <m:t>355</m:t>
                          </m:r>
                        </m:den>
                      </m:f>
                      <m:r>
                        <a:rPr lang="en-US" sz="2000" i="1">
                          <a:solidFill>
                            <a:schemeClr val="accent1">
                              <a:lumMod val="50000"/>
                            </a:schemeClr>
                          </a:solidFill>
                          <a:latin typeface="Cambria Math"/>
                          <a:ea typeface="Cambria Math"/>
                        </a:rPr>
                        <m:t>∙</m:t>
                      </m:r>
                      <m:d>
                        <m:dPr>
                          <m:ctrlPr>
                            <a:rPr lang="en-US" sz="2000" i="1">
                              <a:solidFill>
                                <a:schemeClr val="accent1">
                                  <a:lumMod val="50000"/>
                                </a:schemeClr>
                              </a:solidFill>
                              <a:latin typeface="Cambria Math"/>
                            </a:rPr>
                          </m:ctrlPr>
                        </m:dPr>
                        <m:e>
                          <m:r>
                            <a:rPr lang="en-US" sz="2000" i="1">
                              <a:solidFill>
                                <a:schemeClr val="accent1">
                                  <a:lumMod val="50000"/>
                                </a:schemeClr>
                              </a:solidFill>
                              <a:latin typeface="Cambria Math"/>
                            </a:rPr>
                            <m:t>31</m:t>
                          </m:r>
                        </m:e>
                      </m:d>
                      <m:r>
                        <m:rPr>
                          <m:nor/>
                        </m:rPr>
                        <a:rPr lang="en-US" sz="2000" dirty="0">
                          <a:solidFill>
                            <a:schemeClr val="accent1">
                              <a:lumMod val="50000"/>
                            </a:schemeClr>
                          </a:solidFill>
                          <a:latin typeface="Segoe Print" panose="02000600000000000000" pitchFamily="2" charset="0"/>
                        </a:rPr>
                        <m:t> = </m:t>
                      </m:r>
                      <m:f>
                        <m:fPr>
                          <m:ctrlPr>
                            <a:rPr lang="en-US" sz="2000" i="1">
                              <a:solidFill>
                                <a:schemeClr val="accent1">
                                  <a:lumMod val="50000"/>
                                </a:schemeClr>
                              </a:solidFill>
                              <a:latin typeface="Cambria Math"/>
                            </a:rPr>
                          </m:ctrlPr>
                        </m:fPr>
                        <m:num>
                          <m:r>
                            <a:rPr lang="en-US" sz="2000" b="1" i="1">
                              <a:solidFill>
                                <a:schemeClr val="accent5">
                                  <a:lumMod val="75000"/>
                                </a:schemeClr>
                              </a:solidFill>
                              <a:latin typeface="Cambria Math"/>
                            </a:rPr>
                            <m:t>𝟐𝟎𝟓</m:t>
                          </m:r>
                          <m:r>
                            <a:rPr lang="en-US" sz="2000" i="1">
                              <a:solidFill>
                                <a:schemeClr val="accent1">
                                  <a:lumMod val="50000"/>
                                </a:schemeClr>
                              </a:solidFill>
                              <a:latin typeface="Cambria Math"/>
                            </a:rPr>
                            <m:t> </m:t>
                          </m:r>
                          <m:r>
                            <a:rPr lang="en-US" sz="2000" i="1">
                              <a:solidFill>
                                <a:schemeClr val="accent1">
                                  <a:lumMod val="50000"/>
                                </a:schemeClr>
                              </a:solidFill>
                              <a:latin typeface="Cambria Math"/>
                              <a:ea typeface="Cambria Math"/>
                            </a:rPr>
                            <m:t>∙ </m:t>
                          </m:r>
                          <m:r>
                            <a:rPr lang="en-US" sz="2000" b="1" i="1">
                              <a:solidFill>
                                <a:srgbClr val="7030A0"/>
                              </a:solidFill>
                              <a:latin typeface="Cambria Math"/>
                              <a:ea typeface="Cambria Math"/>
                            </a:rPr>
                            <m:t>𝟑𝟏</m:t>
                          </m:r>
                        </m:num>
                        <m:den>
                          <m:r>
                            <a:rPr lang="en-US" sz="2000" b="1" i="1" smtClean="0">
                              <a:solidFill>
                                <a:schemeClr val="accent1">
                                  <a:lumMod val="50000"/>
                                </a:schemeClr>
                              </a:solidFill>
                              <a:latin typeface="Cambria Math"/>
                            </a:rPr>
                            <m:t>𝟑𝟓𝟓</m:t>
                          </m:r>
                        </m:den>
                      </m:f>
                    </m:oMath>
                  </m:oMathPara>
                </a14:m>
                <a:endParaRPr lang="en-US" sz="2000" dirty="0">
                  <a:solidFill>
                    <a:schemeClr val="accent1">
                      <a:lumMod val="50000"/>
                    </a:schemeClr>
                  </a:solidFill>
                  <a:latin typeface="Segoe Print" panose="02000600000000000000" pitchFamily="2" charset="0"/>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3764371" y="5013188"/>
                <a:ext cx="3627028" cy="676852"/>
              </a:xfrm>
              <a:prstGeom prst="rect">
                <a:avLst/>
              </a:prstGeom>
              <a:blipFill rotWithShape="1">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9013472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4" grpId="0" animBg="1"/>
      <p:bldP spid="5" grpId="0"/>
      <p:bldP spid="9" grpId="0" animBg="1"/>
      <p:bldP spid="26" grpId="0" animBg="1"/>
      <p:bldP spid="27" grpId="0" animBg="1"/>
      <p:bldP spid="28" grpId="0" animBg="1"/>
      <p:bldP spid="29" grpId="0" animBg="1"/>
      <p:bldP spid="30" grpId="0" animBg="1"/>
      <p:bldP spid="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304800" y="381000"/>
            <a:ext cx="8534400" cy="914400"/>
          </a:xfrm>
          <a:prstGeom prst="rect">
            <a:avLst/>
          </a:prstGeom>
        </p:spPr>
        <p:txBody>
          <a:bodyPr/>
          <a:lstStyle/>
          <a:p>
            <a:pPr lvl="0" algn="ctr">
              <a:spcBef>
                <a:spcPct val="0"/>
              </a:spcBef>
              <a:defRPr/>
            </a:pPr>
            <a:r>
              <a:rPr lang="en-US" sz="4400" b="1" dirty="0" smtClean="0">
                <a:solidFill>
                  <a:schemeClr val="tx2"/>
                </a:solidFill>
              </a:rPr>
              <a:t>Expected Counts</a:t>
            </a:r>
            <a:endParaRPr lang="en-US" sz="4000" b="1" dirty="0">
              <a:solidFill>
                <a:schemeClr val="tx2"/>
              </a:solidFill>
            </a:endParaRPr>
          </a:p>
        </p:txBody>
      </p:sp>
      <p:sp>
        <p:nvSpPr>
          <p:cNvPr id="425986" name="AutoShape 2" descr="http://beta.rstudio.org/graphics/plot_zoom_png?width=459&amp;height=366"/>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6" name="Content Placeholder 1"/>
          <p:cNvSpPr txBox="1">
            <a:spLocks/>
          </p:cNvSpPr>
          <p:nvPr/>
        </p:nvSpPr>
        <p:spPr>
          <a:xfrm>
            <a:off x="381000" y="1219200"/>
            <a:ext cx="8382000" cy="5334000"/>
          </a:xfrm>
          <a:prstGeom prst="rect">
            <a:avLst/>
          </a:prstGeom>
        </p:spPr>
        <p:txBody>
          <a:bodyPr vert="horz" lIns="91440" tIns="45720" rIns="91440" bIns="45720" rtlCol="0">
            <a:normAutofit/>
          </a:bodyPr>
          <a:lstStyle/>
          <a:p>
            <a:pPr marL="0" marR="0" lvl="0" indent="-342900" algn="ctr" defTabSz="914400" rtl="0" eaLnBrk="1" fontAlgn="auto" latinLnBrk="0" hangingPunct="1">
              <a:lnSpc>
                <a:spcPct val="100000"/>
              </a:lnSpc>
              <a:spcBef>
                <a:spcPts val="0"/>
              </a:spcBef>
              <a:spcAft>
                <a:spcPts val="0"/>
              </a:spcAft>
              <a:buClrTx/>
              <a:buSzTx/>
              <a:buFontTx/>
              <a:buNone/>
              <a:tabLst/>
              <a:defRPr/>
            </a:pPr>
            <a:endParaRPr kumimoji="0" lang="en-US" sz="2800" b="0" i="1" u="none" strike="noStrike" kern="0" cap="none" spc="0" normalizeH="0" baseline="0" noProof="0" dirty="0" smtClean="0">
              <a:ln>
                <a:noFill/>
              </a:ln>
              <a:solidFill>
                <a:srgbClr val="000000"/>
              </a:solidFill>
              <a:effectLst/>
              <a:uLnTx/>
              <a:uFillTx/>
            </a:endParaRPr>
          </a:p>
        </p:txBody>
      </p:sp>
      <p:sp>
        <p:nvSpPr>
          <p:cNvPr id="8" name="TextBox 7"/>
          <p:cNvSpPr txBox="1"/>
          <p:nvPr/>
        </p:nvSpPr>
        <p:spPr>
          <a:xfrm>
            <a:off x="304800" y="4618776"/>
            <a:ext cx="8534400" cy="523220"/>
          </a:xfrm>
          <a:prstGeom prst="rect">
            <a:avLst/>
          </a:prstGeom>
          <a:noFill/>
        </p:spPr>
        <p:txBody>
          <a:bodyPr wrap="square" rtlCol="0">
            <a:spAutoFit/>
          </a:bodyPr>
          <a:lstStyle/>
          <a:p>
            <a:r>
              <a:rPr lang="en-US" sz="2800" dirty="0" smtClean="0"/>
              <a:t>Calculate the expected counts for each of the cells.</a:t>
            </a:r>
          </a:p>
        </p:txBody>
      </p:sp>
      <mc:AlternateContent xmlns:mc="http://schemas.openxmlformats.org/markup-compatibility/2006" xmlns:a14="http://schemas.microsoft.com/office/drawing/2010/main">
        <mc:Choice Requires="a14">
          <p:sp>
            <p:nvSpPr>
              <p:cNvPr id="2" name="TextBox 1"/>
              <p:cNvSpPr txBox="1"/>
              <p:nvPr/>
            </p:nvSpPr>
            <p:spPr>
              <a:xfrm>
                <a:off x="1066801" y="1295400"/>
                <a:ext cx="7239000" cy="983154"/>
              </a:xfrm>
              <a:prstGeom prst="rect">
                <a:avLst/>
              </a:prstGeom>
              <a:solidFill>
                <a:schemeClr val="bg2"/>
              </a:solidFill>
              <a:ln>
                <a:noFill/>
              </a:ln>
            </p:spPr>
            <p:txBody>
              <a:bodyPr wrap="square" rtlCol="0">
                <a:spAutoFit/>
              </a:bodyPr>
              <a:lstStyle/>
              <a:p>
                <a:pPr/>
                <a14:m>
                  <m:oMathPara xmlns:m="http://schemas.openxmlformats.org/officeDocument/2006/math">
                    <m:oMathParaPr>
                      <m:jc m:val="centerGroup"/>
                    </m:oMathParaPr>
                    <m:oMath xmlns:m="http://schemas.openxmlformats.org/officeDocument/2006/math">
                      <m:r>
                        <m:rPr>
                          <m:nor/>
                        </m:rPr>
                        <a:rPr lang="en-US" sz="2800" b="0" i="0" smtClean="0">
                          <a:latin typeface="Cambria Math"/>
                        </a:rPr>
                        <m:t>Expected</m:t>
                      </m:r>
                      <m:r>
                        <m:rPr>
                          <m:nor/>
                        </m:rPr>
                        <a:rPr lang="en-US" sz="2800" b="0" i="0" smtClean="0">
                          <a:latin typeface="Cambria Math"/>
                        </a:rPr>
                        <m:t> </m:t>
                      </m:r>
                      <m:r>
                        <m:rPr>
                          <m:nor/>
                        </m:rPr>
                        <a:rPr lang="en-US" sz="2800" b="0" i="0" smtClean="0">
                          <a:latin typeface="Cambria Math"/>
                        </a:rPr>
                        <m:t>count</m:t>
                      </m:r>
                      <m:r>
                        <a:rPr lang="en-US" sz="2800" b="0" i="1" smtClean="0">
                          <a:latin typeface="Cambria Math"/>
                        </a:rPr>
                        <m:t>= </m:t>
                      </m:r>
                      <m:f>
                        <m:fPr>
                          <m:ctrlPr>
                            <a:rPr lang="en-US" sz="2800" b="0" i="1" smtClean="0">
                              <a:latin typeface="Cambria Math"/>
                            </a:rPr>
                          </m:ctrlPr>
                        </m:fPr>
                        <m:num>
                          <m:r>
                            <m:rPr>
                              <m:nor/>
                            </m:rPr>
                            <a:rPr lang="en-US" sz="2800" b="0" i="0" smtClean="0">
                              <a:latin typeface="Cambria Math"/>
                            </a:rPr>
                            <m:t>Row</m:t>
                          </m:r>
                          <m:r>
                            <m:rPr>
                              <m:nor/>
                            </m:rPr>
                            <a:rPr lang="en-US" sz="2800" b="0" i="0" smtClean="0">
                              <a:latin typeface="Cambria Math"/>
                            </a:rPr>
                            <m:t> </m:t>
                          </m:r>
                          <m:r>
                            <m:rPr>
                              <m:nor/>
                            </m:rPr>
                            <a:rPr lang="en-US" sz="2800" b="0" i="0" smtClean="0">
                              <a:latin typeface="Cambria Math"/>
                            </a:rPr>
                            <m:t>total</m:t>
                          </m:r>
                          <m:r>
                            <m:rPr>
                              <m:nor/>
                            </m:rPr>
                            <a:rPr lang="en-US" sz="2800" b="0" i="0" smtClean="0">
                              <a:latin typeface="Cambria Math"/>
                            </a:rPr>
                            <m:t> </m:t>
                          </m:r>
                          <m:r>
                            <a:rPr lang="en-US" sz="2800" b="0" i="1" smtClean="0">
                              <a:latin typeface="Cambria Math"/>
                              <a:ea typeface="Cambria Math"/>
                            </a:rPr>
                            <m:t>×</m:t>
                          </m:r>
                          <m:r>
                            <m:rPr>
                              <m:nor/>
                            </m:rPr>
                            <a:rPr lang="en-US" sz="2800" b="0" i="0" smtClean="0">
                              <a:latin typeface="Cambria Math"/>
                              <a:ea typeface="Cambria Math"/>
                            </a:rPr>
                            <m:t>Column</m:t>
                          </m:r>
                          <m:r>
                            <m:rPr>
                              <m:nor/>
                            </m:rPr>
                            <a:rPr lang="en-US" sz="2800" b="0" i="0" smtClean="0">
                              <a:latin typeface="Cambria Math"/>
                              <a:ea typeface="Cambria Math"/>
                            </a:rPr>
                            <m:t> </m:t>
                          </m:r>
                          <m:r>
                            <m:rPr>
                              <m:nor/>
                            </m:rPr>
                            <a:rPr lang="en-US" sz="2800" b="0" i="0" smtClean="0">
                              <a:latin typeface="Cambria Math"/>
                              <a:ea typeface="Cambria Math"/>
                            </a:rPr>
                            <m:t>total</m:t>
                          </m:r>
                          <m:r>
                            <m:rPr>
                              <m:nor/>
                            </m:rPr>
                            <a:rPr lang="en-US" sz="2800" b="0" i="0" smtClean="0">
                              <a:latin typeface="Cambria Math"/>
                            </a:rPr>
                            <m:t> </m:t>
                          </m:r>
                        </m:num>
                        <m:den>
                          <m:r>
                            <m:rPr>
                              <m:nor/>
                            </m:rPr>
                            <a:rPr lang="en-US" sz="2800" b="0" i="0" smtClean="0">
                              <a:latin typeface="Cambria Math"/>
                            </a:rPr>
                            <m:t>Sample</m:t>
                          </m:r>
                          <m:r>
                            <m:rPr>
                              <m:nor/>
                            </m:rPr>
                            <a:rPr lang="en-US" sz="2800" b="0" i="0" smtClean="0">
                              <a:latin typeface="Cambria Math"/>
                            </a:rPr>
                            <m:t> </m:t>
                          </m:r>
                          <m:r>
                            <m:rPr>
                              <m:nor/>
                            </m:rPr>
                            <a:rPr lang="en-US" sz="2800" b="0" i="0" smtClean="0">
                              <a:latin typeface="Cambria Math"/>
                            </a:rPr>
                            <m:t>size</m:t>
                          </m:r>
                        </m:den>
                      </m:f>
                    </m:oMath>
                  </m:oMathPara>
                </a14:m>
                <a:endParaRPr lang="en-US" sz="2800" dirty="0"/>
              </a:p>
            </p:txBody>
          </p:sp>
        </mc:Choice>
        <mc:Fallback xmlns="">
          <p:sp>
            <p:nvSpPr>
              <p:cNvPr id="2" name="TextBox 1"/>
              <p:cNvSpPr txBox="1">
                <a:spLocks noRot="1" noChangeAspect="1" noMove="1" noResize="1" noEditPoints="1" noAdjustHandles="1" noChangeArrowheads="1" noChangeShapeType="1" noTextEdit="1"/>
              </p:cNvSpPr>
              <p:nvPr/>
            </p:nvSpPr>
            <p:spPr>
              <a:xfrm>
                <a:off x="1066801" y="1295400"/>
                <a:ext cx="7239000" cy="983154"/>
              </a:xfrm>
              <a:prstGeom prst="rect">
                <a:avLst/>
              </a:prstGeom>
              <a:blipFill rotWithShape="1">
                <a:blip r:embed="rId4"/>
                <a:stretch>
                  <a:fillRect/>
                </a:stretch>
              </a:blipFill>
              <a:ln>
                <a:noFill/>
              </a:ln>
            </p:spPr>
            <p:txBody>
              <a:bodyPr/>
              <a:lstStyle/>
              <a:p>
                <a:r>
                  <a:rPr lang="en-US">
                    <a:noFill/>
                  </a:rPr>
                  <a:t> </a:t>
                </a:r>
              </a:p>
            </p:txBody>
          </p:sp>
        </mc:Fallback>
      </mc:AlternateContent>
      <p:graphicFrame>
        <p:nvGraphicFramePr>
          <p:cNvPr id="10" name="Table 9"/>
          <p:cNvGraphicFramePr>
            <a:graphicFrameLocks noGrp="1"/>
          </p:cNvGraphicFramePr>
          <p:nvPr>
            <p:extLst>
              <p:ext uri="{D42A27DB-BD31-4B8C-83A1-F6EECF244321}">
                <p14:modId xmlns:p14="http://schemas.microsoft.com/office/powerpoint/2010/main" val="2857884833"/>
              </p:ext>
            </p:extLst>
          </p:nvPr>
        </p:nvGraphicFramePr>
        <p:xfrm>
          <a:off x="286460" y="2590800"/>
          <a:ext cx="8382000" cy="1828800"/>
        </p:xfrm>
        <a:graphic>
          <a:graphicData uri="http://schemas.openxmlformats.org/drawingml/2006/table">
            <a:tbl>
              <a:tblPr firstRow="1" bandRow="1">
                <a:tableStyleId>{5C22544A-7EE6-4342-B048-85BDC9FD1C3A}</a:tableStyleId>
              </a:tblPr>
              <a:tblGrid>
                <a:gridCol w="1981200"/>
                <a:gridCol w="1600200"/>
                <a:gridCol w="1600200"/>
                <a:gridCol w="2053390"/>
                <a:gridCol w="1147010"/>
              </a:tblGrid>
              <a:tr h="370840">
                <a:tc>
                  <a:txBody>
                    <a:bodyPr/>
                    <a:lstStyle/>
                    <a:p>
                      <a:r>
                        <a:rPr lang="en-US" sz="2400" b="0" dirty="0" err="1" smtClean="0">
                          <a:solidFill>
                            <a:schemeClr val="tx1"/>
                          </a:solidFill>
                        </a:rPr>
                        <a:t>HigherSAT</a:t>
                      </a:r>
                      <a:endParaRPr lang="en-US" sz="2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chemeClr val="tx1"/>
                          </a:solidFill>
                        </a:rPr>
                        <a:t>Academy</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sz="2400" dirty="0" smtClean="0">
                          <a:solidFill>
                            <a:schemeClr val="tx1"/>
                          </a:solidFill>
                        </a:rPr>
                        <a:t>Nobel</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sz="2400" dirty="0" smtClean="0">
                          <a:solidFill>
                            <a:schemeClr val="tx1"/>
                          </a:solidFill>
                        </a:rPr>
                        <a:t>Olympic</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sz="2400" b="0" dirty="0" smtClean="0">
                          <a:solidFill>
                            <a:schemeClr val="tx1"/>
                          </a:solidFill>
                        </a:rPr>
                        <a:t>Total</a:t>
                      </a:r>
                      <a:endParaRPr lang="en-US" sz="2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70840">
                <a:tc>
                  <a:txBody>
                    <a:bodyPr/>
                    <a:lstStyle/>
                    <a:p>
                      <a:r>
                        <a:rPr lang="en-US" sz="2400" b="1" dirty="0" smtClean="0">
                          <a:solidFill>
                            <a:schemeClr val="tx1"/>
                          </a:solidFill>
                        </a:rPr>
                        <a:t>Math</a:t>
                      </a:r>
                      <a:endParaRPr lang="en-US"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algn="ct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sz="2400" dirty="0" smtClean="0">
                          <a:solidFill>
                            <a:schemeClr val="tx1"/>
                          </a:solidFill>
                        </a:rPr>
                        <a:t>205</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70840">
                <a:tc>
                  <a:txBody>
                    <a:bodyPr/>
                    <a:lstStyle/>
                    <a:p>
                      <a:r>
                        <a:rPr lang="en-US" sz="2400" b="1" dirty="0" smtClean="0">
                          <a:solidFill>
                            <a:schemeClr val="tx1"/>
                          </a:solidFill>
                        </a:rPr>
                        <a:t>Verbal</a:t>
                      </a:r>
                      <a:endParaRPr lang="en-US"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algn="ct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sz="2400" dirty="0" smtClean="0">
                          <a:solidFill>
                            <a:schemeClr val="tx1"/>
                          </a:solidFill>
                        </a:rPr>
                        <a:t>150</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70840">
                <a:tc>
                  <a:txBody>
                    <a:bodyPr/>
                    <a:lstStyle/>
                    <a:p>
                      <a:r>
                        <a:rPr lang="en-US" sz="2400" dirty="0" smtClean="0">
                          <a:solidFill>
                            <a:schemeClr val="tx1"/>
                          </a:solidFill>
                        </a:rPr>
                        <a:t>Total</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chemeClr val="tx1"/>
                          </a:solidFill>
                        </a:rPr>
                        <a:t>31</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chemeClr val="tx1"/>
                          </a:solidFill>
                        </a:rPr>
                        <a:t>147</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chemeClr val="tx1"/>
                          </a:solidFill>
                        </a:rPr>
                        <a:t>177</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chemeClr val="tx1"/>
                          </a:solidFill>
                        </a:rPr>
                        <a:t>355</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sp>
        <p:nvSpPr>
          <p:cNvPr id="5" name="Rectangle 4"/>
          <p:cNvSpPr/>
          <p:nvPr/>
        </p:nvSpPr>
        <p:spPr>
          <a:xfrm>
            <a:off x="304800" y="5334000"/>
            <a:ext cx="8749067" cy="954107"/>
          </a:xfrm>
          <a:prstGeom prst="rect">
            <a:avLst/>
          </a:prstGeom>
        </p:spPr>
        <p:txBody>
          <a:bodyPr wrap="square">
            <a:spAutoFit/>
          </a:bodyPr>
          <a:lstStyle/>
          <a:p>
            <a:pPr lvl="0"/>
            <a:r>
              <a:rPr lang="en-US" sz="2800" dirty="0">
                <a:solidFill>
                  <a:prstClr val="black"/>
                </a:solidFill>
              </a:rPr>
              <a:t>Note: </a:t>
            </a:r>
            <a:r>
              <a:rPr lang="en-US" sz="2800" dirty="0" smtClean="0">
                <a:solidFill>
                  <a:prstClr val="black"/>
                </a:solidFill>
              </a:rPr>
              <a:t>The expected counts maintain </a:t>
            </a:r>
            <a:r>
              <a:rPr lang="en-US" sz="2800" dirty="0">
                <a:solidFill>
                  <a:prstClr val="black"/>
                </a:solidFill>
              </a:rPr>
              <a:t>row and column totals, but </a:t>
            </a:r>
            <a:r>
              <a:rPr lang="en-US" sz="2800" dirty="0" smtClean="0">
                <a:solidFill>
                  <a:prstClr val="black"/>
                </a:solidFill>
              </a:rPr>
              <a:t>redistribute the </a:t>
            </a:r>
            <a:r>
              <a:rPr lang="en-US" sz="2800" dirty="0">
                <a:solidFill>
                  <a:prstClr val="black"/>
                </a:solidFill>
              </a:rPr>
              <a:t>counts as if there were </a:t>
            </a:r>
            <a:r>
              <a:rPr lang="en-US" sz="2800" i="1" dirty="0">
                <a:solidFill>
                  <a:prstClr val="black"/>
                </a:solidFill>
              </a:rPr>
              <a:t>no</a:t>
            </a:r>
            <a:r>
              <a:rPr lang="en-US" sz="2800" dirty="0">
                <a:solidFill>
                  <a:prstClr val="black"/>
                </a:solidFill>
              </a:rPr>
              <a:t> </a:t>
            </a:r>
            <a:r>
              <a:rPr lang="en-US" sz="2800" dirty="0" smtClean="0">
                <a:solidFill>
                  <a:prstClr val="black"/>
                </a:solidFill>
              </a:rPr>
              <a:t>association.</a:t>
            </a:r>
            <a:endParaRPr lang="en-US" sz="2800" dirty="0">
              <a:solidFill>
                <a:prstClr val="black"/>
              </a:solidFill>
            </a:endParaRPr>
          </a:p>
        </p:txBody>
      </p:sp>
    </p:spTree>
    <p:custDataLst>
      <p:tags r:id="rId1"/>
    </p:custDataLst>
    <p:extLst>
      <p:ext uri="{BB962C8B-B14F-4D97-AF65-F5344CB8AC3E}">
        <p14:creationId xmlns:p14="http://schemas.microsoft.com/office/powerpoint/2010/main" val="317455217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1574156036"/>
              </p:ext>
            </p:extLst>
          </p:nvPr>
        </p:nvGraphicFramePr>
        <p:xfrm>
          <a:off x="381000" y="152400"/>
          <a:ext cx="8401994" cy="2122164"/>
        </p:xfrm>
        <a:graphic>
          <a:graphicData uri="http://schemas.openxmlformats.org/drawingml/2006/table">
            <a:tbl>
              <a:tblPr firstRow="1" bandRow="1">
                <a:tableStyleId>{5C22544A-7EE6-4342-B048-85BDC9FD1C3A}</a:tableStyleId>
              </a:tblPr>
              <a:tblGrid>
                <a:gridCol w="1985926"/>
                <a:gridCol w="1604017"/>
                <a:gridCol w="1604017"/>
                <a:gridCol w="2058288"/>
                <a:gridCol w="1149746"/>
              </a:tblGrid>
              <a:tr h="375326">
                <a:tc gridSpan="5">
                  <a:txBody>
                    <a:bodyPr/>
                    <a:lstStyle/>
                    <a:p>
                      <a:r>
                        <a:rPr lang="en-US" sz="2000" b="1" dirty="0" smtClean="0">
                          <a:solidFill>
                            <a:schemeClr val="accent5">
                              <a:lumMod val="75000"/>
                            </a:schemeClr>
                          </a:solidFill>
                        </a:rPr>
                        <a:t>Observed Counts</a:t>
                      </a:r>
                      <a:endParaRPr lang="en-US" sz="2000" b="1" dirty="0">
                        <a:solidFill>
                          <a:schemeClr val="accent5">
                            <a:lumMod val="7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pPr algn="ct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pPr algn="ct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pPr algn="ctr"/>
                      <a:endParaRPr lang="en-US" sz="2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75326">
                <a:tc>
                  <a:txBody>
                    <a:bodyPr/>
                    <a:lstStyle/>
                    <a:p>
                      <a:r>
                        <a:rPr lang="en-US" sz="2200" b="0" dirty="0" err="1" smtClean="0">
                          <a:solidFill>
                            <a:schemeClr val="tx1"/>
                          </a:solidFill>
                        </a:rPr>
                        <a:t>HigherSAT</a:t>
                      </a:r>
                      <a:endParaRPr lang="en-US" sz="2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200" b="1" dirty="0" smtClean="0">
                          <a:solidFill>
                            <a:schemeClr val="tx1"/>
                          </a:solidFill>
                        </a:rPr>
                        <a:t>Academy</a:t>
                      </a:r>
                      <a:endParaRPr lang="en-US" sz="22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sz="2200" b="1" dirty="0" smtClean="0">
                          <a:solidFill>
                            <a:schemeClr val="tx1"/>
                          </a:solidFill>
                        </a:rPr>
                        <a:t>Nobel</a:t>
                      </a:r>
                      <a:endParaRPr lang="en-US" sz="22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sz="2200" b="1" dirty="0" smtClean="0">
                          <a:solidFill>
                            <a:schemeClr val="tx1"/>
                          </a:solidFill>
                        </a:rPr>
                        <a:t>Olympic</a:t>
                      </a:r>
                      <a:endParaRPr lang="en-US" sz="22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sz="2200" b="0" dirty="0" smtClean="0">
                          <a:solidFill>
                            <a:schemeClr val="tx1"/>
                          </a:solidFill>
                        </a:rPr>
                        <a:t>Total</a:t>
                      </a:r>
                      <a:endParaRPr lang="en-US" sz="2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433068">
                <a:tc>
                  <a:txBody>
                    <a:bodyPr/>
                    <a:lstStyle/>
                    <a:p>
                      <a:r>
                        <a:rPr lang="en-US" sz="2200" b="1" dirty="0" smtClean="0">
                          <a:solidFill>
                            <a:schemeClr val="tx1"/>
                          </a:solidFill>
                        </a:rPr>
                        <a:t>Math</a:t>
                      </a:r>
                      <a:endParaRPr lang="en-US" sz="22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algn="ctr"/>
                      <a:r>
                        <a:rPr lang="en-US" sz="2200" b="1" dirty="0" smtClean="0">
                          <a:solidFill>
                            <a:schemeClr val="accent5">
                              <a:lumMod val="75000"/>
                            </a:schemeClr>
                          </a:solidFill>
                        </a:rPr>
                        <a:t>21</a:t>
                      </a:r>
                      <a:endParaRPr lang="en-US" sz="2200" b="1" dirty="0">
                        <a:solidFill>
                          <a:schemeClr val="accent5">
                            <a:lumMod val="7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sz="2200" b="1" dirty="0" smtClean="0">
                          <a:solidFill>
                            <a:schemeClr val="accent5">
                              <a:lumMod val="75000"/>
                            </a:schemeClr>
                          </a:solidFill>
                        </a:rPr>
                        <a:t>68</a:t>
                      </a:r>
                      <a:endParaRPr lang="en-US" sz="2200" b="1" dirty="0">
                        <a:solidFill>
                          <a:schemeClr val="accent5">
                            <a:lumMod val="7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sz="2200" b="1" dirty="0" smtClean="0">
                          <a:solidFill>
                            <a:schemeClr val="accent5">
                              <a:lumMod val="75000"/>
                            </a:schemeClr>
                          </a:solidFill>
                        </a:rPr>
                        <a:t>116</a:t>
                      </a:r>
                      <a:endParaRPr lang="en-US" sz="2200" b="1" dirty="0">
                        <a:solidFill>
                          <a:schemeClr val="accent5">
                            <a:lumMod val="7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sz="2200" dirty="0" smtClean="0">
                          <a:solidFill>
                            <a:schemeClr val="tx1"/>
                          </a:solidFill>
                        </a:rPr>
                        <a:t>205</a:t>
                      </a:r>
                      <a:endParaRPr 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433068">
                <a:tc>
                  <a:txBody>
                    <a:bodyPr/>
                    <a:lstStyle/>
                    <a:p>
                      <a:r>
                        <a:rPr lang="en-US" sz="2200" b="1" dirty="0" smtClean="0">
                          <a:solidFill>
                            <a:schemeClr val="tx1"/>
                          </a:solidFill>
                        </a:rPr>
                        <a:t>Verbal</a:t>
                      </a:r>
                      <a:endParaRPr lang="en-US" sz="22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algn="ctr"/>
                      <a:r>
                        <a:rPr lang="en-US" sz="2200" b="1" dirty="0" smtClean="0">
                          <a:solidFill>
                            <a:schemeClr val="accent5">
                              <a:lumMod val="75000"/>
                            </a:schemeClr>
                          </a:solidFill>
                        </a:rPr>
                        <a:t>10</a:t>
                      </a:r>
                      <a:endParaRPr lang="en-US" sz="2200" b="1" dirty="0">
                        <a:solidFill>
                          <a:schemeClr val="accent5">
                            <a:lumMod val="7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sz="2200" b="1" dirty="0" smtClean="0">
                          <a:solidFill>
                            <a:schemeClr val="accent5">
                              <a:lumMod val="75000"/>
                            </a:schemeClr>
                          </a:solidFill>
                        </a:rPr>
                        <a:t>79</a:t>
                      </a:r>
                      <a:endParaRPr lang="en-US" sz="2200" b="1" dirty="0">
                        <a:solidFill>
                          <a:schemeClr val="accent5">
                            <a:lumMod val="7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sz="2200" b="1" dirty="0" smtClean="0">
                          <a:solidFill>
                            <a:schemeClr val="accent5">
                              <a:lumMod val="75000"/>
                            </a:schemeClr>
                          </a:solidFill>
                        </a:rPr>
                        <a:t>61</a:t>
                      </a:r>
                      <a:endParaRPr lang="en-US" sz="2200" b="1" dirty="0">
                        <a:solidFill>
                          <a:schemeClr val="accent5">
                            <a:lumMod val="7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sz="2200" dirty="0" smtClean="0">
                          <a:solidFill>
                            <a:schemeClr val="tx1"/>
                          </a:solidFill>
                        </a:rPr>
                        <a:t>150</a:t>
                      </a:r>
                      <a:endParaRPr 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433068">
                <a:tc>
                  <a:txBody>
                    <a:bodyPr/>
                    <a:lstStyle/>
                    <a:p>
                      <a:r>
                        <a:rPr lang="en-US" sz="2200" dirty="0" smtClean="0">
                          <a:solidFill>
                            <a:schemeClr val="tx1"/>
                          </a:solidFill>
                        </a:rPr>
                        <a:t>Total</a:t>
                      </a:r>
                      <a:endParaRPr 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200" dirty="0" smtClean="0">
                          <a:solidFill>
                            <a:schemeClr val="tx1"/>
                          </a:solidFill>
                        </a:rPr>
                        <a:t>31</a:t>
                      </a:r>
                      <a:endParaRPr 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200" dirty="0" smtClean="0">
                          <a:solidFill>
                            <a:schemeClr val="tx1"/>
                          </a:solidFill>
                        </a:rPr>
                        <a:t>147</a:t>
                      </a:r>
                      <a:endParaRPr 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200" dirty="0" smtClean="0">
                          <a:solidFill>
                            <a:schemeClr val="tx1"/>
                          </a:solidFill>
                        </a:rPr>
                        <a:t>177</a:t>
                      </a:r>
                      <a:endParaRPr 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200" dirty="0" smtClean="0">
                          <a:solidFill>
                            <a:schemeClr val="tx1"/>
                          </a:solidFill>
                        </a:rPr>
                        <a:t>355</a:t>
                      </a:r>
                      <a:endParaRPr 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graphicFrame>
        <p:nvGraphicFramePr>
          <p:cNvPr id="4" name="Table 3"/>
          <p:cNvGraphicFramePr>
            <a:graphicFrameLocks noGrp="1"/>
          </p:cNvGraphicFramePr>
          <p:nvPr>
            <p:extLst>
              <p:ext uri="{D42A27DB-BD31-4B8C-83A1-F6EECF244321}">
                <p14:modId xmlns:p14="http://schemas.microsoft.com/office/powerpoint/2010/main" val="170282215"/>
              </p:ext>
            </p:extLst>
          </p:nvPr>
        </p:nvGraphicFramePr>
        <p:xfrm>
          <a:off x="381000" y="2362200"/>
          <a:ext cx="8382000" cy="2106930"/>
        </p:xfrm>
        <a:graphic>
          <a:graphicData uri="http://schemas.openxmlformats.org/drawingml/2006/table">
            <a:tbl>
              <a:tblPr firstRow="1" bandRow="1">
                <a:tableStyleId>{5C22544A-7EE6-4342-B048-85BDC9FD1C3A}</a:tableStyleId>
              </a:tblPr>
              <a:tblGrid>
                <a:gridCol w="1981200"/>
                <a:gridCol w="1600200"/>
                <a:gridCol w="1600200"/>
                <a:gridCol w="2053390"/>
                <a:gridCol w="1147010"/>
              </a:tblGrid>
              <a:tr h="400050">
                <a:tc gridSpan="5">
                  <a:txBody>
                    <a:bodyPr/>
                    <a:lstStyle/>
                    <a:p>
                      <a:r>
                        <a:rPr lang="en-US" sz="2000" b="1" dirty="0" smtClean="0">
                          <a:solidFill>
                            <a:schemeClr val="accent2">
                              <a:lumMod val="75000"/>
                            </a:schemeClr>
                          </a:solidFill>
                        </a:rPr>
                        <a:t>Expected Counts</a:t>
                      </a:r>
                      <a:endParaRPr lang="en-US" sz="2000" b="1" dirty="0">
                        <a:solidFill>
                          <a:schemeClr val="accent2">
                            <a:lumMod val="7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algn="ctr"/>
                      <a:endParaRPr 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pPr algn="ctr"/>
                      <a:endParaRPr 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pPr algn="ctr"/>
                      <a:endParaRPr 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pPr algn="ctr"/>
                      <a:endParaRPr lang="en-US" sz="2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400050">
                <a:tc>
                  <a:txBody>
                    <a:bodyPr/>
                    <a:lstStyle/>
                    <a:p>
                      <a:r>
                        <a:rPr lang="en-US" sz="2200" b="0" dirty="0" err="1" smtClean="0">
                          <a:solidFill>
                            <a:schemeClr val="tx1"/>
                          </a:solidFill>
                        </a:rPr>
                        <a:t>HigherSAT</a:t>
                      </a:r>
                      <a:endParaRPr lang="en-US" sz="2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200" b="1" dirty="0" smtClean="0">
                          <a:solidFill>
                            <a:schemeClr val="tx1"/>
                          </a:solidFill>
                        </a:rPr>
                        <a:t>Academy</a:t>
                      </a:r>
                      <a:endParaRPr lang="en-US" sz="22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sz="2200" b="1" dirty="0" smtClean="0">
                          <a:solidFill>
                            <a:schemeClr val="tx1"/>
                          </a:solidFill>
                        </a:rPr>
                        <a:t>Nobel</a:t>
                      </a:r>
                      <a:endParaRPr lang="en-US" sz="22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sz="2200" b="1" dirty="0" smtClean="0">
                          <a:solidFill>
                            <a:schemeClr val="tx1"/>
                          </a:solidFill>
                        </a:rPr>
                        <a:t>Olympic</a:t>
                      </a:r>
                      <a:endParaRPr lang="en-US" sz="22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sz="2200" b="0" dirty="0" smtClean="0">
                          <a:solidFill>
                            <a:schemeClr val="tx1"/>
                          </a:solidFill>
                        </a:rPr>
                        <a:t>Total</a:t>
                      </a:r>
                      <a:endParaRPr lang="en-US" sz="2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400050">
                <a:tc>
                  <a:txBody>
                    <a:bodyPr/>
                    <a:lstStyle/>
                    <a:p>
                      <a:r>
                        <a:rPr lang="en-US" sz="2200" b="1" dirty="0" smtClean="0">
                          <a:solidFill>
                            <a:schemeClr val="tx1"/>
                          </a:solidFill>
                        </a:rPr>
                        <a:t>Math</a:t>
                      </a:r>
                      <a:endParaRPr lang="en-US" sz="22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algn="ctr"/>
                      <a:r>
                        <a:rPr lang="en-US" sz="2200" b="1" dirty="0" smtClean="0">
                          <a:solidFill>
                            <a:schemeClr val="accent2">
                              <a:lumMod val="75000"/>
                            </a:schemeClr>
                          </a:solidFill>
                        </a:rPr>
                        <a:t>17.901</a:t>
                      </a:r>
                      <a:endParaRPr lang="en-US" sz="2200" b="1" dirty="0">
                        <a:solidFill>
                          <a:schemeClr val="accent2">
                            <a:lumMod val="7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sz="2200" b="1" dirty="0" smtClean="0">
                          <a:solidFill>
                            <a:schemeClr val="accent2">
                              <a:lumMod val="75000"/>
                            </a:schemeClr>
                          </a:solidFill>
                        </a:rPr>
                        <a:t>84.887</a:t>
                      </a:r>
                      <a:endParaRPr lang="en-US" sz="2200" b="1" dirty="0">
                        <a:solidFill>
                          <a:schemeClr val="accent2">
                            <a:lumMod val="7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sz="2200" b="1" dirty="0" smtClean="0">
                          <a:solidFill>
                            <a:schemeClr val="accent2">
                              <a:lumMod val="75000"/>
                            </a:schemeClr>
                          </a:solidFill>
                        </a:rPr>
                        <a:t>102.211</a:t>
                      </a:r>
                      <a:endParaRPr lang="en-US" sz="2200" b="1" dirty="0">
                        <a:solidFill>
                          <a:schemeClr val="accent2">
                            <a:lumMod val="7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sz="2200" dirty="0" smtClean="0">
                          <a:solidFill>
                            <a:schemeClr val="tx1"/>
                          </a:solidFill>
                        </a:rPr>
                        <a:t>205</a:t>
                      </a:r>
                      <a:endParaRPr 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400050">
                <a:tc>
                  <a:txBody>
                    <a:bodyPr/>
                    <a:lstStyle/>
                    <a:p>
                      <a:r>
                        <a:rPr lang="en-US" sz="2200" b="1" dirty="0" smtClean="0">
                          <a:solidFill>
                            <a:schemeClr val="tx1"/>
                          </a:solidFill>
                        </a:rPr>
                        <a:t>Verbal</a:t>
                      </a:r>
                      <a:endParaRPr lang="en-US" sz="22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algn="ctr"/>
                      <a:r>
                        <a:rPr lang="en-US" sz="2200" b="1" dirty="0" smtClean="0">
                          <a:solidFill>
                            <a:schemeClr val="accent2">
                              <a:lumMod val="75000"/>
                            </a:schemeClr>
                          </a:solidFill>
                        </a:rPr>
                        <a:t>13.099</a:t>
                      </a:r>
                      <a:endParaRPr lang="en-US" sz="2200" b="1" dirty="0">
                        <a:solidFill>
                          <a:schemeClr val="accent2">
                            <a:lumMod val="7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sz="2200" b="1" dirty="0" smtClean="0">
                          <a:solidFill>
                            <a:schemeClr val="accent2">
                              <a:lumMod val="75000"/>
                            </a:schemeClr>
                          </a:solidFill>
                        </a:rPr>
                        <a:t>62.113</a:t>
                      </a:r>
                      <a:endParaRPr lang="en-US" sz="2200" b="1" dirty="0">
                        <a:solidFill>
                          <a:schemeClr val="accent2">
                            <a:lumMod val="7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sz="2200" b="1" dirty="0" smtClean="0">
                          <a:solidFill>
                            <a:schemeClr val="accent2">
                              <a:lumMod val="75000"/>
                            </a:schemeClr>
                          </a:solidFill>
                        </a:rPr>
                        <a:t> 74.789</a:t>
                      </a:r>
                      <a:endParaRPr lang="en-US" sz="2200" b="1" dirty="0">
                        <a:solidFill>
                          <a:schemeClr val="accent2">
                            <a:lumMod val="7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sz="2200" dirty="0" smtClean="0">
                          <a:solidFill>
                            <a:schemeClr val="tx1"/>
                          </a:solidFill>
                        </a:rPr>
                        <a:t>150</a:t>
                      </a:r>
                      <a:endParaRPr 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400050">
                <a:tc>
                  <a:txBody>
                    <a:bodyPr/>
                    <a:lstStyle/>
                    <a:p>
                      <a:r>
                        <a:rPr lang="en-US" sz="2200" dirty="0" smtClean="0">
                          <a:solidFill>
                            <a:schemeClr val="tx1"/>
                          </a:solidFill>
                        </a:rPr>
                        <a:t>Total</a:t>
                      </a:r>
                      <a:endParaRPr 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200" dirty="0" smtClean="0">
                          <a:solidFill>
                            <a:schemeClr val="tx1"/>
                          </a:solidFill>
                        </a:rPr>
                        <a:t>31</a:t>
                      </a:r>
                      <a:endParaRPr 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200" dirty="0" smtClean="0">
                          <a:solidFill>
                            <a:schemeClr val="tx1"/>
                          </a:solidFill>
                        </a:rPr>
                        <a:t>147</a:t>
                      </a:r>
                      <a:endParaRPr 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200" dirty="0" smtClean="0">
                          <a:solidFill>
                            <a:schemeClr val="tx1"/>
                          </a:solidFill>
                        </a:rPr>
                        <a:t>177</a:t>
                      </a:r>
                      <a:endParaRPr 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200" dirty="0" smtClean="0">
                          <a:solidFill>
                            <a:schemeClr val="tx1"/>
                          </a:solidFill>
                        </a:rPr>
                        <a:t>355</a:t>
                      </a:r>
                      <a:endParaRPr 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689924395"/>
              </p:ext>
            </p:extLst>
          </p:nvPr>
        </p:nvGraphicFramePr>
        <p:xfrm>
          <a:off x="381000" y="4572000"/>
          <a:ext cx="8382000" cy="2103120"/>
        </p:xfrm>
        <a:graphic>
          <a:graphicData uri="http://schemas.openxmlformats.org/drawingml/2006/table">
            <a:tbl>
              <a:tblPr firstRow="1" bandRow="1">
                <a:tableStyleId>{5C22544A-7EE6-4342-B048-85BDC9FD1C3A}</a:tableStyleId>
              </a:tblPr>
              <a:tblGrid>
                <a:gridCol w="1981200"/>
                <a:gridCol w="1600200"/>
                <a:gridCol w="1600200"/>
                <a:gridCol w="2053390"/>
                <a:gridCol w="1147010"/>
              </a:tblGrid>
              <a:tr h="370840">
                <a:tc gridSpan="5">
                  <a:txBody>
                    <a:bodyPr/>
                    <a:lstStyle/>
                    <a:p>
                      <a:r>
                        <a:rPr lang="en-US" sz="2000" b="1" dirty="0" smtClean="0">
                          <a:solidFill>
                            <a:schemeClr val="accent5">
                              <a:lumMod val="75000"/>
                            </a:schemeClr>
                          </a:solidFill>
                        </a:rPr>
                        <a:t>Observed</a:t>
                      </a:r>
                      <a:r>
                        <a:rPr lang="en-US" sz="2000" b="1" baseline="0" dirty="0" smtClean="0">
                          <a:solidFill>
                            <a:schemeClr val="accent5">
                              <a:lumMod val="75000"/>
                            </a:schemeClr>
                          </a:solidFill>
                        </a:rPr>
                        <a:t> </a:t>
                      </a:r>
                      <a:r>
                        <a:rPr lang="en-US" sz="2000" b="1" baseline="0" dirty="0" smtClean="0">
                          <a:solidFill>
                            <a:schemeClr val="tx1"/>
                          </a:solidFill>
                        </a:rPr>
                        <a:t>(</a:t>
                      </a:r>
                      <a:r>
                        <a:rPr lang="en-US" sz="2000" b="1" baseline="0" dirty="0" smtClean="0">
                          <a:solidFill>
                            <a:schemeClr val="accent2">
                              <a:lumMod val="75000"/>
                            </a:schemeClr>
                          </a:solidFill>
                        </a:rPr>
                        <a:t>Expected</a:t>
                      </a:r>
                      <a:r>
                        <a:rPr lang="en-US" sz="2000" b="1" baseline="0" dirty="0" smtClean="0">
                          <a:solidFill>
                            <a:schemeClr val="tx1"/>
                          </a:solidFill>
                        </a:rPr>
                        <a:t>) Counts</a:t>
                      </a:r>
                      <a:endParaRPr lang="en-US" sz="20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algn="ctr"/>
                      <a:endParaRPr 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pPr algn="ctr"/>
                      <a:endParaRPr 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pPr algn="ctr"/>
                      <a:endParaRPr 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pPr algn="ctr"/>
                      <a:endParaRPr lang="en-US" sz="2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370840">
                <a:tc>
                  <a:txBody>
                    <a:bodyPr/>
                    <a:lstStyle/>
                    <a:p>
                      <a:r>
                        <a:rPr lang="en-US" sz="2200" b="0" dirty="0" err="1" smtClean="0">
                          <a:solidFill>
                            <a:schemeClr val="tx1"/>
                          </a:solidFill>
                        </a:rPr>
                        <a:t>HigherSAT</a:t>
                      </a:r>
                      <a:endParaRPr lang="en-US" sz="2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200" b="1" dirty="0" smtClean="0">
                          <a:solidFill>
                            <a:schemeClr val="tx1"/>
                          </a:solidFill>
                        </a:rPr>
                        <a:t>Academy</a:t>
                      </a:r>
                      <a:endParaRPr lang="en-US" sz="22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sz="2200" b="1" dirty="0" smtClean="0">
                          <a:solidFill>
                            <a:schemeClr val="tx1"/>
                          </a:solidFill>
                        </a:rPr>
                        <a:t>Nobel</a:t>
                      </a:r>
                      <a:endParaRPr lang="en-US" sz="22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sz="2200" b="1" dirty="0" smtClean="0">
                          <a:solidFill>
                            <a:schemeClr val="tx1"/>
                          </a:solidFill>
                        </a:rPr>
                        <a:t>Olympic</a:t>
                      </a:r>
                      <a:endParaRPr lang="en-US" sz="22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sz="2200" b="0" dirty="0" smtClean="0">
                          <a:solidFill>
                            <a:schemeClr val="tx1"/>
                          </a:solidFill>
                        </a:rPr>
                        <a:t>Total</a:t>
                      </a:r>
                      <a:endParaRPr lang="en-US" sz="2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370840">
                <a:tc>
                  <a:txBody>
                    <a:bodyPr/>
                    <a:lstStyle/>
                    <a:p>
                      <a:r>
                        <a:rPr lang="en-US" sz="2200" b="1" dirty="0" smtClean="0">
                          <a:solidFill>
                            <a:schemeClr val="tx1"/>
                          </a:solidFill>
                        </a:rPr>
                        <a:t>Math</a:t>
                      </a:r>
                      <a:endParaRPr lang="en-US" sz="22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algn="ctr"/>
                      <a:r>
                        <a:rPr lang="en-US" sz="2200" b="1" dirty="0" smtClean="0">
                          <a:solidFill>
                            <a:schemeClr val="accent5">
                              <a:lumMod val="75000"/>
                            </a:schemeClr>
                          </a:solidFill>
                        </a:rPr>
                        <a:t>21</a:t>
                      </a:r>
                      <a:r>
                        <a:rPr lang="en-US" sz="2200" dirty="0" smtClean="0">
                          <a:solidFill>
                            <a:schemeClr val="tx1"/>
                          </a:solidFill>
                        </a:rPr>
                        <a:t> (</a:t>
                      </a:r>
                      <a:r>
                        <a:rPr lang="en-US" sz="2200" b="1" dirty="0" smtClean="0">
                          <a:solidFill>
                            <a:schemeClr val="accent2">
                              <a:lumMod val="75000"/>
                            </a:schemeClr>
                          </a:solidFill>
                        </a:rPr>
                        <a:t>17.901</a:t>
                      </a:r>
                      <a:r>
                        <a:rPr lang="en-US" sz="2200" dirty="0" smtClean="0">
                          <a:solidFill>
                            <a:schemeClr val="tx1"/>
                          </a:solidFill>
                        </a:rPr>
                        <a:t>)</a:t>
                      </a:r>
                      <a:endParaRPr 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sz="2200" b="1" dirty="0" smtClean="0">
                          <a:solidFill>
                            <a:schemeClr val="accent5">
                              <a:lumMod val="75000"/>
                            </a:schemeClr>
                          </a:solidFill>
                        </a:rPr>
                        <a:t>68</a:t>
                      </a:r>
                      <a:r>
                        <a:rPr lang="en-US" sz="2200" dirty="0" smtClean="0">
                          <a:solidFill>
                            <a:schemeClr val="tx1"/>
                          </a:solidFill>
                        </a:rPr>
                        <a:t> (</a:t>
                      </a:r>
                      <a:r>
                        <a:rPr lang="en-US" sz="2200" b="1" dirty="0" smtClean="0">
                          <a:solidFill>
                            <a:schemeClr val="accent2">
                              <a:lumMod val="75000"/>
                            </a:schemeClr>
                          </a:solidFill>
                        </a:rPr>
                        <a:t>84.887</a:t>
                      </a:r>
                      <a:r>
                        <a:rPr lang="en-US" sz="2200" dirty="0" smtClean="0">
                          <a:solidFill>
                            <a:schemeClr val="tx1"/>
                          </a:solidFill>
                        </a:rPr>
                        <a:t>)</a:t>
                      </a:r>
                      <a:endParaRPr 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sz="2200" b="1" dirty="0" smtClean="0">
                          <a:solidFill>
                            <a:schemeClr val="accent5">
                              <a:lumMod val="75000"/>
                            </a:schemeClr>
                          </a:solidFill>
                        </a:rPr>
                        <a:t>116</a:t>
                      </a:r>
                      <a:r>
                        <a:rPr lang="en-US" sz="2200" dirty="0" smtClean="0">
                          <a:solidFill>
                            <a:schemeClr val="tx1"/>
                          </a:solidFill>
                        </a:rPr>
                        <a:t> (</a:t>
                      </a:r>
                      <a:r>
                        <a:rPr lang="en-US" sz="2200" b="1" dirty="0" smtClean="0">
                          <a:solidFill>
                            <a:schemeClr val="accent2">
                              <a:lumMod val="75000"/>
                            </a:schemeClr>
                          </a:solidFill>
                        </a:rPr>
                        <a:t>102.211</a:t>
                      </a:r>
                      <a:r>
                        <a:rPr lang="en-US" sz="2200" dirty="0" smtClean="0">
                          <a:solidFill>
                            <a:schemeClr val="tx1"/>
                          </a:solidFill>
                        </a:rPr>
                        <a:t>)</a:t>
                      </a:r>
                      <a:endParaRPr 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sz="2200" dirty="0" smtClean="0">
                          <a:solidFill>
                            <a:schemeClr val="tx1"/>
                          </a:solidFill>
                        </a:rPr>
                        <a:t>205</a:t>
                      </a:r>
                      <a:endParaRPr 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370840">
                <a:tc>
                  <a:txBody>
                    <a:bodyPr/>
                    <a:lstStyle/>
                    <a:p>
                      <a:r>
                        <a:rPr lang="en-US" sz="2200" b="1" dirty="0" smtClean="0">
                          <a:solidFill>
                            <a:schemeClr val="tx1"/>
                          </a:solidFill>
                        </a:rPr>
                        <a:t>Verbal</a:t>
                      </a:r>
                      <a:endParaRPr lang="en-US" sz="22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algn="ctr"/>
                      <a:r>
                        <a:rPr lang="en-US" sz="2200" b="1" dirty="0" smtClean="0">
                          <a:solidFill>
                            <a:schemeClr val="accent5">
                              <a:lumMod val="75000"/>
                            </a:schemeClr>
                          </a:solidFill>
                        </a:rPr>
                        <a:t>10</a:t>
                      </a:r>
                      <a:r>
                        <a:rPr lang="en-US" sz="2200" dirty="0" smtClean="0">
                          <a:solidFill>
                            <a:schemeClr val="tx1"/>
                          </a:solidFill>
                        </a:rPr>
                        <a:t> (</a:t>
                      </a:r>
                      <a:r>
                        <a:rPr lang="en-US" sz="2200" b="1" dirty="0" smtClean="0">
                          <a:solidFill>
                            <a:schemeClr val="accent2">
                              <a:lumMod val="75000"/>
                            </a:schemeClr>
                          </a:solidFill>
                        </a:rPr>
                        <a:t>13.099</a:t>
                      </a:r>
                      <a:r>
                        <a:rPr lang="en-US" sz="2200" dirty="0" smtClean="0">
                          <a:solidFill>
                            <a:schemeClr val="tx1"/>
                          </a:solidFill>
                        </a:rPr>
                        <a:t>)</a:t>
                      </a:r>
                      <a:endParaRPr 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sz="2200" b="1" dirty="0" smtClean="0">
                          <a:solidFill>
                            <a:schemeClr val="accent5">
                              <a:lumMod val="75000"/>
                            </a:schemeClr>
                          </a:solidFill>
                        </a:rPr>
                        <a:t>79</a:t>
                      </a:r>
                      <a:r>
                        <a:rPr lang="en-US" sz="2200" dirty="0" smtClean="0">
                          <a:solidFill>
                            <a:schemeClr val="tx1"/>
                          </a:solidFill>
                        </a:rPr>
                        <a:t> (</a:t>
                      </a:r>
                      <a:r>
                        <a:rPr lang="en-US" sz="2200" b="1" dirty="0" smtClean="0">
                          <a:solidFill>
                            <a:schemeClr val="accent2">
                              <a:lumMod val="75000"/>
                            </a:schemeClr>
                          </a:solidFill>
                        </a:rPr>
                        <a:t>62.113</a:t>
                      </a:r>
                      <a:r>
                        <a:rPr lang="en-US" sz="2200" dirty="0" smtClean="0">
                          <a:solidFill>
                            <a:schemeClr val="tx1"/>
                          </a:solidFill>
                        </a:rPr>
                        <a:t>)</a:t>
                      </a:r>
                      <a:endParaRPr 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sz="2200" dirty="0" smtClean="0">
                          <a:solidFill>
                            <a:schemeClr val="tx1"/>
                          </a:solidFill>
                        </a:rPr>
                        <a:t>  </a:t>
                      </a:r>
                      <a:r>
                        <a:rPr lang="en-US" sz="2200" b="1" dirty="0" smtClean="0">
                          <a:solidFill>
                            <a:schemeClr val="accent5">
                              <a:lumMod val="75000"/>
                            </a:schemeClr>
                          </a:solidFill>
                        </a:rPr>
                        <a:t>61</a:t>
                      </a:r>
                      <a:r>
                        <a:rPr lang="en-US" sz="2200" dirty="0" smtClean="0">
                          <a:solidFill>
                            <a:schemeClr val="tx1"/>
                          </a:solidFill>
                        </a:rPr>
                        <a:t>  ( </a:t>
                      </a:r>
                      <a:r>
                        <a:rPr lang="en-US" sz="2200" b="1" dirty="0" smtClean="0">
                          <a:solidFill>
                            <a:schemeClr val="accent2">
                              <a:lumMod val="75000"/>
                            </a:schemeClr>
                          </a:solidFill>
                        </a:rPr>
                        <a:t>74.789</a:t>
                      </a:r>
                      <a:r>
                        <a:rPr lang="en-US" sz="2200" dirty="0" smtClean="0">
                          <a:solidFill>
                            <a:schemeClr val="tx1"/>
                          </a:solidFill>
                        </a:rPr>
                        <a:t>)</a:t>
                      </a:r>
                      <a:endParaRPr 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sz="2200" dirty="0" smtClean="0">
                          <a:solidFill>
                            <a:schemeClr val="tx1"/>
                          </a:solidFill>
                        </a:rPr>
                        <a:t>150</a:t>
                      </a:r>
                      <a:endParaRPr 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370840">
                <a:tc>
                  <a:txBody>
                    <a:bodyPr/>
                    <a:lstStyle/>
                    <a:p>
                      <a:r>
                        <a:rPr lang="en-US" sz="2200" dirty="0" smtClean="0">
                          <a:solidFill>
                            <a:schemeClr val="tx1"/>
                          </a:solidFill>
                        </a:rPr>
                        <a:t>Total</a:t>
                      </a:r>
                      <a:endParaRPr 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200" dirty="0" smtClean="0">
                          <a:solidFill>
                            <a:schemeClr val="tx1"/>
                          </a:solidFill>
                        </a:rPr>
                        <a:t>31</a:t>
                      </a:r>
                      <a:endParaRPr 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200" dirty="0" smtClean="0">
                          <a:solidFill>
                            <a:schemeClr val="tx1"/>
                          </a:solidFill>
                        </a:rPr>
                        <a:t>147</a:t>
                      </a:r>
                      <a:endParaRPr 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200" dirty="0" smtClean="0">
                          <a:solidFill>
                            <a:schemeClr val="tx1"/>
                          </a:solidFill>
                        </a:rPr>
                        <a:t>177</a:t>
                      </a:r>
                      <a:endParaRPr 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200" dirty="0" smtClean="0">
                          <a:solidFill>
                            <a:schemeClr val="tx1"/>
                          </a:solidFill>
                        </a:rPr>
                        <a:t>355</a:t>
                      </a:r>
                      <a:endParaRPr 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bl>
          </a:graphicData>
        </a:graphic>
      </p:graphicFrame>
    </p:spTree>
    <p:extLst>
      <p:ext uri="{BB962C8B-B14F-4D97-AF65-F5344CB8AC3E}">
        <p14:creationId xmlns:p14="http://schemas.microsoft.com/office/powerpoint/2010/main" val="31405521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xit" presetSubtype="0" fill="hold" nodeType="clickEffect">
                                  <p:stCondLst>
                                    <p:cond delay="0"/>
                                  </p:stCondLst>
                                  <p:childTnLst>
                                    <p:animEffect transition="out" filter="fade">
                                      <p:cBhvr>
                                        <p:cTn id="10" dur="500"/>
                                        <p:tgtEl>
                                          <p:spTgt spid="3"/>
                                        </p:tgtEl>
                                      </p:cBhvr>
                                    </p:animEffect>
                                    <p:set>
                                      <p:cBhvr>
                                        <p:cTn id="11" dur="1" fill="hold">
                                          <p:stCondLst>
                                            <p:cond delay="499"/>
                                          </p:stCondLst>
                                        </p:cTn>
                                        <p:tgtEl>
                                          <p:spTgt spid="3"/>
                                        </p:tgtEl>
                                        <p:attrNameLst>
                                          <p:attrName>style.visibility</p:attrName>
                                        </p:attrNameLst>
                                      </p:cBhvr>
                                      <p:to>
                                        <p:strVal val="hidden"/>
                                      </p:to>
                                    </p:set>
                                  </p:childTnLst>
                                </p:cTn>
                              </p:par>
                              <p:par>
                                <p:cTn id="12" presetID="10" presetClass="exit" presetSubtype="0" fill="hold" nodeType="withEffect">
                                  <p:stCondLst>
                                    <p:cond delay="0"/>
                                  </p:stCondLst>
                                  <p:childTnLst>
                                    <p:animEffect transition="out" filter="fade">
                                      <p:cBhvr>
                                        <p:cTn id="13" dur="500"/>
                                        <p:tgtEl>
                                          <p:spTgt spid="4"/>
                                        </p:tgtEl>
                                      </p:cBhvr>
                                    </p:animEffect>
                                    <p:set>
                                      <p:cBhvr>
                                        <p:cTn id="14" dur="1" fill="hold">
                                          <p:stCondLst>
                                            <p:cond delay="499"/>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304800" y="381000"/>
            <a:ext cx="8534400" cy="914400"/>
          </a:xfrm>
          <a:prstGeom prst="rect">
            <a:avLst/>
          </a:prstGeom>
        </p:spPr>
        <p:txBody>
          <a:bodyPr/>
          <a:lstStyle/>
          <a:p>
            <a:pPr lvl="0" algn="ctr">
              <a:spcBef>
                <a:spcPct val="0"/>
              </a:spcBef>
              <a:defRPr/>
            </a:pPr>
            <a:r>
              <a:rPr lang="en-US" sz="4400" b="1" dirty="0" smtClean="0">
                <a:solidFill>
                  <a:schemeClr val="tx2"/>
                </a:solidFill>
              </a:rPr>
              <a:t>Chi-Square Statistic</a:t>
            </a:r>
            <a:endParaRPr lang="en-US" sz="4000" b="1" dirty="0">
              <a:solidFill>
                <a:schemeClr val="tx2"/>
              </a:solidFill>
            </a:endParaRPr>
          </a:p>
        </p:txBody>
      </p:sp>
      <p:sp>
        <p:nvSpPr>
          <p:cNvPr id="425986" name="AutoShape 2" descr="http://beta.rstudio.org/graphics/plot_zoom_png?width=459&amp;height=366"/>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6" name="Content Placeholder 1"/>
          <p:cNvSpPr txBox="1">
            <a:spLocks/>
          </p:cNvSpPr>
          <p:nvPr/>
        </p:nvSpPr>
        <p:spPr>
          <a:xfrm>
            <a:off x="381000" y="1219200"/>
            <a:ext cx="8382000" cy="5334000"/>
          </a:xfrm>
          <a:prstGeom prst="rect">
            <a:avLst/>
          </a:prstGeom>
        </p:spPr>
        <p:txBody>
          <a:bodyPr vert="horz" lIns="91440" tIns="45720" rIns="91440" bIns="45720" rtlCol="0">
            <a:normAutofit/>
          </a:bodyPr>
          <a:lstStyle/>
          <a:p>
            <a:pPr marL="0" marR="0" lvl="0" indent="-342900" algn="ctr" defTabSz="914400" rtl="0" eaLnBrk="1" fontAlgn="auto" latinLnBrk="0" hangingPunct="1">
              <a:lnSpc>
                <a:spcPct val="100000"/>
              </a:lnSpc>
              <a:spcBef>
                <a:spcPts val="0"/>
              </a:spcBef>
              <a:spcAft>
                <a:spcPts val="0"/>
              </a:spcAft>
              <a:buClrTx/>
              <a:buSzTx/>
              <a:buFontTx/>
              <a:buNone/>
              <a:tabLst/>
              <a:defRPr/>
            </a:pPr>
            <a:endParaRPr kumimoji="0" lang="en-US" sz="2800" b="0" i="1" u="none" strike="noStrike" kern="0" cap="none" spc="0" normalizeH="0" baseline="0" noProof="0" dirty="0" smtClean="0">
              <a:ln>
                <a:noFill/>
              </a:ln>
              <a:solidFill>
                <a:srgbClr val="000000"/>
              </a:solidFill>
              <a:effectLst/>
              <a:uLnTx/>
              <a:uFillTx/>
            </a:endParaRPr>
          </a:p>
        </p:txBody>
      </p:sp>
      <mc:AlternateContent xmlns:mc="http://schemas.openxmlformats.org/markup-compatibility/2006" xmlns:a14="http://schemas.microsoft.com/office/drawing/2010/main">
        <mc:Choice Requires="a14">
          <p:sp>
            <p:nvSpPr>
              <p:cNvPr id="8" name="TextBox 7"/>
              <p:cNvSpPr txBox="1"/>
              <p:nvPr/>
            </p:nvSpPr>
            <p:spPr>
              <a:xfrm>
                <a:off x="1524000" y="1212028"/>
                <a:ext cx="6248400" cy="1248803"/>
              </a:xfrm>
              <a:prstGeom prst="rect">
                <a:avLst/>
              </a:prstGeom>
              <a:solidFill>
                <a:schemeClr val="bg2">
                  <a:alpha val="80000"/>
                </a:schemeClr>
              </a:solidFill>
              <a:ln>
                <a:noFill/>
              </a:ln>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sz="3000" i="1" smtClean="0">
                              <a:latin typeface="Cambria Math"/>
                            </a:rPr>
                          </m:ctrlPr>
                        </m:sSupPr>
                        <m:e>
                          <m:r>
                            <a:rPr lang="en-US" sz="3000" i="1" smtClean="0">
                              <a:latin typeface="Cambria Math"/>
                              <a:ea typeface="Cambria Math"/>
                            </a:rPr>
                            <m:t>𝜒</m:t>
                          </m:r>
                        </m:e>
                        <m:sup>
                          <m:r>
                            <a:rPr lang="en-US" sz="3000" b="0" i="1" smtClean="0">
                              <a:latin typeface="Cambria Math"/>
                            </a:rPr>
                            <m:t>2</m:t>
                          </m:r>
                        </m:sup>
                      </m:sSup>
                      <m:r>
                        <a:rPr lang="en-US" sz="3000" b="0" i="1" smtClean="0">
                          <a:latin typeface="Cambria Math"/>
                        </a:rPr>
                        <m:t>=</m:t>
                      </m:r>
                      <m:nary>
                        <m:naryPr>
                          <m:chr m:val="∑"/>
                          <m:subHide m:val="on"/>
                          <m:supHide m:val="on"/>
                          <m:ctrlPr>
                            <a:rPr lang="en-US" sz="3000" b="0" i="1" smtClean="0">
                              <a:latin typeface="Cambria Math"/>
                            </a:rPr>
                          </m:ctrlPr>
                        </m:naryPr>
                        <m:sub/>
                        <m:sup/>
                        <m:e>
                          <m:f>
                            <m:fPr>
                              <m:ctrlPr>
                                <a:rPr lang="en-US" sz="3000" b="0" i="1" smtClean="0">
                                  <a:latin typeface="Cambria Math"/>
                                </a:rPr>
                              </m:ctrlPr>
                            </m:fPr>
                            <m:num>
                              <m:sSup>
                                <m:sSupPr>
                                  <m:ctrlPr>
                                    <a:rPr lang="en-US" sz="3000" b="0" i="1" smtClean="0">
                                      <a:latin typeface="Cambria Math"/>
                                    </a:rPr>
                                  </m:ctrlPr>
                                </m:sSupPr>
                                <m:e>
                                  <m:d>
                                    <m:dPr>
                                      <m:ctrlPr>
                                        <a:rPr lang="en-US" sz="3000" b="0" i="1" smtClean="0">
                                          <a:latin typeface="Cambria Math"/>
                                        </a:rPr>
                                      </m:ctrlPr>
                                    </m:dPr>
                                    <m:e>
                                      <m:r>
                                        <a:rPr lang="en-US" sz="3000" b="1" i="1" smtClean="0">
                                          <a:solidFill>
                                            <a:schemeClr val="accent5">
                                              <a:lumMod val="75000"/>
                                            </a:schemeClr>
                                          </a:solidFill>
                                          <a:latin typeface="Cambria Math"/>
                                        </a:rPr>
                                        <m:t>𝑶𝒃𝒔𝒆𝒓𝒗𝒆𝒅</m:t>
                                      </m:r>
                                      <m:r>
                                        <a:rPr lang="en-US" sz="3000" b="0" i="1" smtClean="0">
                                          <a:latin typeface="Cambria Math"/>
                                        </a:rPr>
                                        <m:t>−</m:t>
                                      </m:r>
                                      <m:r>
                                        <a:rPr lang="en-US" sz="3000" b="1" i="1" smtClean="0">
                                          <a:solidFill>
                                            <a:schemeClr val="accent2">
                                              <a:lumMod val="75000"/>
                                            </a:schemeClr>
                                          </a:solidFill>
                                          <a:latin typeface="Cambria Math"/>
                                        </a:rPr>
                                        <m:t>𝑬𝒙𝒑𝒆𝒄𝒕𝒆𝒅</m:t>
                                      </m:r>
                                    </m:e>
                                  </m:d>
                                </m:e>
                                <m:sup>
                                  <m:r>
                                    <a:rPr lang="en-US" sz="3000" b="0" i="1" smtClean="0">
                                      <a:latin typeface="Cambria Math"/>
                                    </a:rPr>
                                    <m:t>2</m:t>
                                  </m:r>
                                </m:sup>
                              </m:sSup>
                            </m:num>
                            <m:den>
                              <m:r>
                                <a:rPr lang="en-US" sz="3000" b="1" i="1" smtClean="0">
                                  <a:solidFill>
                                    <a:schemeClr val="accent2">
                                      <a:lumMod val="75000"/>
                                    </a:schemeClr>
                                  </a:solidFill>
                                  <a:latin typeface="Cambria Math"/>
                                </a:rPr>
                                <m:t>𝑬𝒙𝒑𝒆𝒄𝒕𝒆𝒅</m:t>
                              </m:r>
                            </m:den>
                          </m:f>
                        </m:e>
                      </m:nary>
                    </m:oMath>
                  </m:oMathPara>
                </a14:m>
                <a:endParaRPr lang="en-US" sz="3000" dirty="0"/>
              </a:p>
            </p:txBody>
          </p:sp>
        </mc:Choice>
        <mc:Fallback xmlns="">
          <p:sp>
            <p:nvSpPr>
              <p:cNvPr id="8" name="TextBox 7"/>
              <p:cNvSpPr txBox="1">
                <a:spLocks noRot="1" noChangeAspect="1" noMove="1" noResize="1" noEditPoints="1" noAdjustHandles="1" noChangeArrowheads="1" noChangeShapeType="1" noTextEdit="1"/>
              </p:cNvSpPr>
              <p:nvPr/>
            </p:nvSpPr>
            <p:spPr>
              <a:xfrm>
                <a:off x="1524000" y="1212028"/>
                <a:ext cx="6248400" cy="1248803"/>
              </a:xfrm>
              <a:prstGeom prst="rect">
                <a:avLst/>
              </a:prstGeom>
              <a:blipFill rotWithShape="1">
                <a:blip r:embed="rId4"/>
                <a:stretch>
                  <a:fillRect/>
                </a:stretch>
              </a:blipFill>
              <a:ln>
                <a:noFill/>
              </a:ln>
            </p:spPr>
            <p:txBody>
              <a:bodyPr/>
              <a:lstStyle/>
              <a:p>
                <a:r>
                  <a:rPr lang="en-US">
                    <a:noFill/>
                  </a:rPr>
                  <a:t> </a:t>
                </a:r>
              </a:p>
            </p:txBody>
          </p:sp>
        </mc:Fallback>
      </mc:AlternateContent>
      <p:graphicFrame>
        <p:nvGraphicFramePr>
          <p:cNvPr id="9" name="Table 8"/>
          <p:cNvGraphicFramePr>
            <a:graphicFrameLocks noGrp="1"/>
          </p:cNvGraphicFramePr>
          <p:nvPr>
            <p:extLst>
              <p:ext uri="{D42A27DB-BD31-4B8C-83A1-F6EECF244321}">
                <p14:modId xmlns:p14="http://schemas.microsoft.com/office/powerpoint/2010/main" val="1713480565"/>
              </p:ext>
            </p:extLst>
          </p:nvPr>
        </p:nvGraphicFramePr>
        <p:xfrm>
          <a:off x="304800" y="2590800"/>
          <a:ext cx="8686800" cy="1828800"/>
        </p:xfrm>
        <a:graphic>
          <a:graphicData uri="http://schemas.openxmlformats.org/drawingml/2006/table">
            <a:tbl>
              <a:tblPr firstRow="1" bandRow="1">
                <a:tableStyleId>{5C22544A-7EE6-4342-B048-85BDC9FD1C3A}</a:tableStyleId>
              </a:tblPr>
              <a:tblGrid>
                <a:gridCol w="1816331"/>
                <a:gridCol w="1895302"/>
                <a:gridCol w="1927167"/>
                <a:gridCol w="2133600"/>
                <a:gridCol w="914400"/>
              </a:tblGrid>
              <a:tr h="370840">
                <a:tc>
                  <a:txBody>
                    <a:bodyPr/>
                    <a:lstStyle/>
                    <a:p>
                      <a:r>
                        <a:rPr lang="en-US" sz="2400" b="0" dirty="0" err="1" smtClean="0">
                          <a:solidFill>
                            <a:schemeClr val="tx1"/>
                          </a:solidFill>
                        </a:rPr>
                        <a:t>HigherSAT</a:t>
                      </a:r>
                      <a:endParaRPr lang="en-US" sz="2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400" dirty="0" smtClean="0">
                          <a:solidFill>
                            <a:schemeClr val="tx1"/>
                          </a:solidFill>
                        </a:rPr>
                        <a:t>Academy</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sz="2400" dirty="0" smtClean="0">
                          <a:solidFill>
                            <a:schemeClr val="tx1"/>
                          </a:solidFill>
                        </a:rPr>
                        <a:t>Nobel</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sz="2400" dirty="0" smtClean="0">
                          <a:solidFill>
                            <a:schemeClr val="tx1"/>
                          </a:solidFill>
                        </a:rPr>
                        <a:t>Olympic</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sz="2400" b="0" dirty="0" smtClean="0">
                          <a:solidFill>
                            <a:schemeClr val="tx1"/>
                          </a:solidFill>
                        </a:rPr>
                        <a:t>Total</a:t>
                      </a:r>
                      <a:endParaRPr lang="en-US" sz="2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370840">
                <a:tc>
                  <a:txBody>
                    <a:bodyPr/>
                    <a:lstStyle/>
                    <a:p>
                      <a:r>
                        <a:rPr lang="en-US" sz="2400" b="1" dirty="0" smtClean="0">
                          <a:solidFill>
                            <a:schemeClr val="tx1"/>
                          </a:solidFill>
                        </a:rPr>
                        <a:t>Math</a:t>
                      </a:r>
                      <a:endParaRPr lang="en-US"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algn="ctr"/>
                      <a:r>
                        <a:rPr lang="en-US" sz="2400" b="1" dirty="0" smtClean="0">
                          <a:solidFill>
                            <a:schemeClr val="accent5">
                              <a:lumMod val="75000"/>
                            </a:schemeClr>
                          </a:solidFill>
                        </a:rPr>
                        <a:t>21</a:t>
                      </a:r>
                      <a:r>
                        <a:rPr lang="en-US" sz="2400" dirty="0" smtClean="0">
                          <a:solidFill>
                            <a:schemeClr val="tx1"/>
                          </a:solidFill>
                        </a:rPr>
                        <a:t> (</a:t>
                      </a:r>
                      <a:r>
                        <a:rPr lang="en-US" sz="2400" b="1" dirty="0" smtClean="0">
                          <a:solidFill>
                            <a:schemeClr val="accent2">
                              <a:lumMod val="75000"/>
                            </a:schemeClr>
                          </a:solidFill>
                        </a:rPr>
                        <a:t>17.901</a:t>
                      </a:r>
                      <a:r>
                        <a:rPr lang="en-US" sz="2400" dirty="0" smtClean="0">
                          <a:solidFill>
                            <a:schemeClr val="tx1"/>
                          </a:solidFill>
                        </a:rPr>
                        <a:t>)</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sz="2400" b="1" dirty="0" smtClean="0">
                          <a:solidFill>
                            <a:schemeClr val="accent5">
                              <a:lumMod val="75000"/>
                            </a:schemeClr>
                          </a:solidFill>
                        </a:rPr>
                        <a:t>68</a:t>
                      </a:r>
                      <a:r>
                        <a:rPr lang="en-US" sz="2400" dirty="0" smtClean="0">
                          <a:solidFill>
                            <a:schemeClr val="tx1"/>
                          </a:solidFill>
                        </a:rPr>
                        <a:t> (</a:t>
                      </a:r>
                      <a:r>
                        <a:rPr lang="en-US" sz="2400" b="1" dirty="0" smtClean="0">
                          <a:solidFill>
                            <a:schemeClr val="accent2">
                              <a:lumMod val="75000"/>
                            </a:schemeClr>
                          </a:solidFill>
                        </a:rPr>
                        <a:t>84.887</a:t>
                      </a:r>
                      <a:r>
                        <a:rPr lang="en-US" sz="2400" dirty="0" smtClean="0">
                          <a:solidFill>
                            <a:schemeClr val="tx1"/>
                          </a:solidFill>
                        </a:rPr>
                        <a:t>)</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sz="2400" b="1" dirty="0" smtClean="0">
                          <a:solidFill>
                            <a:schemeClr val="accent5">
                              <a:lumMod val="75000"/>
                            </a:schemeClr>
                          </a:solidFill>
                        </a:rPr>
                        <a:t>116</a:t>
                      </a:r>
                      <a:r>
                        <a:rPr lang="en-US" sz="2400" dirty="0" smtClean="0">
                          <a:solidFill>
                            <a:schemeClr val="tx1"/>
                          </a:solidFill>
                        </a:rPr>
                        <a:t> (</a:t>
                      </a:r>
                      <a:r>
                        <a:rPr lang="en-US" sz="2400" b="1" dirty="0" smtClean="0">
                          <a:solidFill>
                            <a:schemeClr val="accent2">
                              <a:lumMod val="75000"/>
                            </a:schemeClr>
                          </a:solidFill>
                        </a:rPr>
                        <a:t>102.211</a:t>
                      </a:r>
                      <a:r>
                        <a:rPr lang="en-US" sz="2400" dirty="0" smtClean="0">
                          <a:solidFill>
                            <a:schemeClr val="tx1"/>
                          </a:solidFill>
                        </a:rPr>
                        <a:t>)</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sz="2400" dirty="0" smtClean="0">
                          <a:solidFill>
                            <a:schemeClr val="tx1"/>
                          </a:solidFill>
                        </a:rPr>
                        <a:t>205</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370840">
                <a:tc>
                  <a:txBody>
                    <a:bodyPr/>
                    <a:lstStyle/>
                    <a:p>
                      <a:r>
                        <a:rPr lang="en-US" sz="2400" b="1" dirty="0" smtClean="0">
                          <a:solidFill>
                            <a:schemeClr val="tx1"/>
                          </a:solidFill>
                        </a:rPr>
                        <a:t>Verbal</a:t>
                      </a:r>
                      <a:endParaRPr lang="en-US"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algn="ctr"/>
                      <a:r>
                        <a:rPr lang="en-US" sz="2400" b="1" dirty="0" smtClean="0">
                          <a:solidFill>
                            <a:schemeClr val="accent5">
                              <a:lumMod val="75000"/>
                            </a:schemeClr>
                          </a:solidFill>
                        </a:rPr>
                        <a:t>10</a:t>
                      </a:r>
                      <a:r>
                        <a:rPr lang="en-US" sz="2400" dirty="0" smtClean="0">
                          <a:solidFill>
                            <a:schemeClr val="tx1"/>
                          </a:solidFill>
                        </a:rPr>
                        <a:t> (</a:t>
                      </a:r>
                      <a:r>
                        <a:rPr lang="en-US" sz="2400" b="1" dirty="0" smtClean="0">
                          <a:solidFill>
                            <a:schemeClr val="accent2">
                              <a:lumMod val="75000"/>
                            </a:schemeClr>
                          </a:solidFill>
                        </a:rPr>
                        <a:t>13.099</a:t>
                      </a:r>
                      <a:r>
                        <a:rPr lang="en-US" sz="2400" dirty="0" smtClean="0">
                          <a:solidFill>
                            <a:schemeClr val="tx1"/>
                          </a:solidFill>
                        </a:rPr>
                        <a:t>)</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sz="2400" b="1" i="0" dirty="0" smtClean="0">
                          <a:solidFill>
                            <a:schemeClr val="accent5">
                              <a:lumMod val="75000"/>
                            </a:schemeClr>
                          </a:solidFill>
                        </a:rPr>
                        <a:t>79</a:t>
                      </a:r>
                      <a:r>
                        <a:rPr lang="en-US" sz="2400" dirty="0" smtClean="0">
                          <a:solidFill>
                            <a:schemeClr val="tx1"/>
                          </a:solidFill>
                        </a:rPr>
                        <a:t> (</a:t>
                      </a:r>
                      <a:r>
                        <a:rPr lang="en-US" sz="2400" b="1" dirty="0" smtClean="0">
                          <a:solidFill>
                            <a:schemeClr val="accent2">
                              <a:lumMod val="75000"/>
                            </a:schemeClr>
                          </a:solidFill>
                        </a:rPr>
                        <a:t>62.113</a:t>
                      </a:r>
                      <a:r>
                        <a:rPr lang="en-US" sz="2400" dirty="0" smtClean="0">
                          <a:solidFill>
                            <a:schemeClr val="tx1"/>
                          </a:solidFill>
                        </a:rPr>
                        <a:t>)</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sz="2400" dirty="0" smtClean="0">
                          <a:solidFill>
                            <a:schemeClr val="tx1"/>
                          </a:solidFill>
                        </a:rPr>
                        <a:t>  </a:t>
                      </a:r>
                      <a:r>
                        <a:rPr lang="en-US" sz="2400" b="1" dirty="0" smtClean="0">
                          <a:solidFill>
                            <a:schemeClr val="accent5">
                              <a:lumMod val="75000"/>
                            </a:schemeClr>
                          </a:solidFill>
                        </a:rPr>
                        <a:t>61</a:t>
                      </a:r>
                      <a:r>
                        <a:rPr lang="en-US" sz="2400" dirty="0" smtClean="0">
                          <a:solidFill>
                            <a:schemeClr val="tx1"/>
                          </a:solidFill>
                        </a:rPr>
                        <a:t>  ( </a:t>
                      </a:r>
                      <a:r>
                        <a:rPr lang="en-US" sz="2400" b="1" dirty="0" smtClean="0">
                          <a:solidFill>
                            <a:schemeClr val="accent2">
                              <a:lumMod val="75000"/>
                            </a:schemeClr>
                          </a:solidFill>
                        </a:rPr>
                        <a:t>74.789</a:t>
                      </a:r>
                      <a:r>
                        <a:rPr lang="en-US" sz="2400" dirty="0" smtClean="0">
                          <a:solidFill>
                            <a:schemeClr val="tx1"/>
                          </a:solidFill>
                        </a:rPr>
                        <a:t>)</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sz="2400" dirty="0" smtClean="0">
                          <a:solidFill>
                            <a:schemeClr val="tx1"/>
                          </a:solidFill>
                        </a:rPr>
                        <a:t>150</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370840">
                <a:tc>
                  <a:txBody>
                    <a:bodyPr/>
                    <a:lstStyle/>
                    <a:p>
                      <a:r>
                        <a:rPr lang="en-US" sz="2400" dirty="0" smtClean="0">
                          <a:solidFill>
                            <a:schemeClr val="tx1"/>
                          </a:solidFill>
                        </a:rPr>
                        <a:t>Total</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400" dirty="0" smtClean="0">
                          <a:solidFill>
                            <a:schemeClr val="tx1"/>
                          </a:solidFill>
                        </a:rPr>
                        <a:t>31</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400" dirty="0" smtClean="0">
                          <a:solidFill>
                            <a:schemeClr val="tx1"/>
                          </a:solidFill>
                        </a:rPr>
                        <a:t>147</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400" dirty="0" smtClean="0">
                          <a:solidFill>
                            <a:schemeClr val="tx1"/>
                          </a:solidFill>
                        </a:rPr>
                        <a:t>177</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400" dirty="0" smtClean="0">
                          <a:solidFill>
                            <a:schemeClr val="tx1"/>
                          </a:solidFill>
                        </a:rPr>
                        <a:t>355</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bl>
          </a:graphicData>
        </a:graphic>
      </p:graphicFrame>
      <mc:AlternateContent xmlns:mc="http://schemas.openxmlformats.org/markup-compatibility/2006" xmlns:a14="http://schemas.microsoft.com/office/drawing/2010/main">
        <mc:Choice Requires="a14">
          <p:sp>
            <p:nvSpPr>
              <p:cNvPr id="10" name="TextBox 9"/>
              <p:cNvSpPr txBox="1"/>
              <p:nvPr/>
            </p:nvSpPr>
            <p:spPr>
              <a:xfrm>
                <a:off x="41686" y="4414248"/>
                <a:ext cx="8991600" cy="832151"/>
              </a:xfrm>
              <a:prstGeom prst="rect">
                <a:avLst/>
              </a:prstGeom>
              <a:noFill/>
              <a:ln>
                <a:noFill/>
              </a:ln>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sz="2400" i="1" smtClean="0">
                              <a:latin typeface="Cambria Math"/>
                            </a:rPr>
                          </m:ctrlPr>
                        </m:sSupPr>
                        <m:e>
                          <m:r>
                            <a:rPr lang="en-US" sz="2400" i="1" smtClean="0">
                              <a:latin typeface="Cambria Math"/>
                              <a:ea typeface="Cambria Math"/>
                            </a:rPr>
                            <m:t>𝜒</m:t>
                          </m:r>
                        </m:e>
                        <m:sup>
                          <m:r>
                            <a:rPr lang="en-US" sz="2400" b="0" i="1" smtClean="0">
                              <a:latin typeface="Cambria Math"/>
                            </a:rPr>
                            <m:t>2</m:t>
                          </m:r>
                        </m:sup>
                      </m:sSup>
                      <m:r>
                        <a:rPr lang="en-US" sz="2400" b="0" i="1" smtClean="0">
                          <a:latin typeface="Cambria Math"/>
                        </a:rPr>
                        <m:t>=</m:t>
                      </m:r>
                      <m:f>
                        <m:fPr>
                          <m:ctrlPr>
                            <a:rPr lang="en-US" sz="2400" b="0" i="1" smtClean="0">
                              <a:latin typeface="Cambria Math"/>
                            </a:rPr>
                          </m:ctrlPr>
                        </m:fPr>
                        <m:num>
                          <m:sSup>
                            <m:sSupPr>
                              <m:ctrlPr>
                                <a:rPr lang="en-US" sz="2400" b="0" i="1" smtClean="0">
                                  <a:latin typeface="Cambria Math"/>
                                </a:rPr>
                              </m:ctrlPr>
                            </m:sSupPr>
                            <m:e>
                              <m:d>
                                <m:dPr>
                                  <m:ctrlPr>
                                    <a:rPr lang="en-US" sz="2400" b="0" i="1" smtClean="0">
                                      <a:latin typeface="Cambria Math"/>
                                    </a:rPr>
                                  </m:ctrlPr>
                                </m:dPr>
                                <m:e>
                                  <m:r>
                                    <a:rPr lang="en-US" sz="2400" b="1" i="1" smtClean="0">
                                      <a:solidFill>
                                        <a:schemeClr val="accent5">
                                          <a:lumMod val="75000"/>
                                        </a:schemeClr>
                                      </a:solidFill>
                                      <a:latin typeface="Cambria Math"/>
                                    </a:rPr>
                                    <m:t>𝟐𝟏</m:t>
                                  </m:r>
                                  <m:r>
                                    <a:rPr lang="en-US" sz="2400" b="0" i="1" smtClean="0">
                                      <a:latin typeface="Cambria Math"/>
                                    </a:rPr>
                                    <m:t>−</m:t>
                                  </m:r>
                                  <m:r>
                                    <a:rPr lang="en-US" sz="2400" b="1" i="1" smtClean="0">
                                      <a:solidFill>
                                        <a:schemeClr val="accent2">
                                          <a:lumMod val="75000"/>
                                        </a:schemeClr>
                                      </a:solidFill>
                                      <a:latin typeface="Cambria Math"/>
                                    </a:rPr>
                                    <m:t>𝟏𝟕</m:t>
                                  </m:r>
                                  <m:r>
                                    <a:rPr lang="en-US" sz="2400" b="1" i="1" smtClean="0">
                                      <a:solidFill>
                                        <a:schemeClr val="accent2">
                                          <a:lumMod val="75000"/>
                                        </a:schemeClr>
                                      </a:solidFill>
                                      <a:latin typeface="Cambria Math"/>
                                    </a:rPr>
                                    <m:t>.</m:t>
                                  </m:r>
                                  <m:r>
                                    <a:rPr lang="en-US" sz="2400" b="1" i="1" smtClean="0">
                                      <a:solidFill>
                                        <a:schemeClr val="accent2">
                                          <a:lumMod val="75000"/>
                                        </a:schemeClr>
                                      </a:solidFill>
                                      <a:latin typeface="Cambria Math"/>
                                    </a:rPr>
                                    <m:t>𝟗𝟎𝟏</m:t>
                                  </m:r>
                                </m:e>
                              </m:d>
                            </m:e>
                            <m:sup>
                              <m:r>
                                <a:rPr lang="en-US" sz="2400" b="0" i="1" smtClean="0">
                                  <a:latin typeface="Cambria Math"/>
                                </a:rPr>
                                <m:t>2</m:t>
                              </m:r>
                            </m:sup>
                          </m:sSup>
                        </m:num>
                        <m:den>
                          <m:r>
                            <a:rPr lang="en-US" sz="2400" b="1" i="1" smtClean="0">
                              <a:solidFill>
                                <a:schemeClr val="accent2">
                                  <a:lumMod val="75000"/>
                                </a:schemeClr>
                              </a:solidFill>
                              <a:latin typeface="Cambria Math"/>
                            </a:rPr>
                            <m:t>𝟏𝟕</m:t>
                          </m:r>
                          <m:r>
                            <a:rPr lang="en-US" sz="2400" b="1" i="1" smtClean="0">
                              <a:solidFill>
                                <a:schemeClr val="accent2">
                                  <a:lumMod val="75000"/>
                                </a:schemeClr>
                              </a:solidFill>
                              <a:latin typeface="Cambria Math"/>
                            </a:rPr>
                            <m:t>.</m:t>
                          </m:r>
                          <m:r>
                            <a:rPr lang="en-US" sz="2400" b="1" i="1" smtClean="0">
                              <a:solidFill>
                                <a:schemeClr val="accent2">
                                  <a:lumMod val="75000"/>
                                </a:schemeClr>
                              </a:solidFill>
                              <a:latin typeface="Cambria Math"/>
                            </a:rPr>
                            <m:t>𝟗𝟎𝟏</m:t>
                          </m:r>
                        </m:den>
                      </m:f>
                      <m:r>
                        <a:rPr lang="en-US" sz="2400" b="0" i="1" smtClean="0">
                          <a:latin typeface="Cambria Math"/>
                        </a:rPr>
                        <m:t>+</m:t>
                      </m:r>
                      <m:f>
                        <m:fPr>
                          <m:ctrlPr>
                            <a:rPr lang="en-US" sz="2400" i="1">
                              <a:latin typeface="Cambria Math"/>
                            </a:rPr>
                          </m:ctrlPr>
                        </m:fPr>
                        <m:num>
                          <m:sSup>
                            <m:sSupPr>
                              <m:ctrlPr>
                                <a:rPr lang="en-US" sz="2400" i="1">
                                  <a:latin typeface="Cambria Math"/>
                                </a:rPr>
                              </m:ctrlPr>
                            </m:sSupPr>
                            <m:e>
                              <m:d>
                                <m:dPr>
                                  <m:ctrlPr>
                                    <a:rPr lang="en-US" sz="2400" i="1">
                                      <a:latin typeface="Cambria Math"/>
                                    </a:rPr>
                                  </m:ctrlPr>
                                </m:dPr>
                                <m:e>
                                  <m:r>
                                    <a:rPr lang="en-US" sz="2400" b="1" i="1" smtClean="0">
                                      <a:solidFill>
                                        <a:schemeClr val="accent5">
                                          <a:lumMod val="75000"/>
                                        </a:schemeClr>
                                      </a:solidFill>
                                      <a:latin typeface="Cambria Math"/>
                                    </a:rPr>
                                    <m:t>𝟔𝟖</m:t>
                                  </m:r>
                                  <m:r>
                                    <a:rPr lang="en-US" sz="2400" b="0" i="1" smtClean="0">
                                      <a:latin typeface="Cambria Math"/>
                                    </a:rPr>
                                    <m:t>−</m:t>
                                  </m:r>
                                  <m:r>
                                    <a:rPr lang="en-US" sz="2400" b="1" i="1" smtClean="0">
                                      <a:solidFill>
                                        <a:schemeClr val="accent2">
                                          <a:lumMod val="75000"/>
                                        </a:schemeClr>
                                      </a:solidFill>
                                      <a:latin typeface="Cambria Math"/>
                                    </a:rPr>
                                    <m:t>𝟖𝟒</m:t>
                                  </m:r>
                                  <m:r>
                                    <a:rPr lang="en-US" sz="2400" b="1" i="1" smtClean="0">
                                      <a:solidFill>
                                        <a:schemeClr val="accent2">
                                          <a:lumMod val="75000"/>
                                        </a:schemeClr>
                                      </a:solidFill>
                                      <a:latin typeface="Cambria Math"/>
                                    </a:rPr>
                                    <m:t>.</m:t>
                                  </m:r>
                                  <m:r>
                                    <a:rPr lang="en-US" sz="2400" b="1" i="1" smtClean="0">
                                      <a:solidFill>
                                        <a:schemeClr val="accent2">
                                          <a:lumMod val="75000"/>
                                        </a:schemeClr>
                                      </a:solidFill>
                                      <a:latin typeface="Cambria Math"/>
                                    </a:rPr>
                                    <m:t>𝟖𝟖𝟕</m:t>
                                  </m:r>
                                </m:e>
                              </m:d>
                            </m:e>
                            <m:sup>
                              <m:r>
                                <a:rPr lang="en-US" sz="2400" i="1">
                                  <a:latin typeface="Cambria Math"/>
                                </a:rPr>
                                <m:t>2</m:t>
                              </m:r>
                            </m:sup>
                          </m:sSup>
                        </m:num>
                        <m:den>
                          <m:r>
                            <a:rPr lang="en-US" sz="2400" b="1" i="1" smtClean="0">
                              <a:solidFill>
                                <a:schemeClr val="accent2">
                                  <a:lumMod val="75000"/>
                                </a:schemeClr>
                              </a:solidFill>
                              <a:latin typeface="Cambria Math"/>
                            </a:rPr>
                            <m:t>𝟖𝟒</m:t>
                          </m:r>
                          <m:r>
                            <a:rPr lang="en-US" sz="2400" b="1" i="1" smtClean="0">
                              <a:solidFill>
                                <a:schemeClr val="accent2">
                                  <a:lumMod val="75000"/>
                                </a:schemeClr>
                              </a:solidFill>
                              <a:latin typeface="Cambria Math"/>
                            </a:rPr>
                            <m:t>.</m:t>
                          </m:r>
                          <m:r>
                            <a:rPr lang="en-US" sz="2400" b="1" i="1" smtClean="0">
                              <a:solidFill>
                                <a:schemeClr val="accent2">
                                  <a:lumMod val="75000"/>
                                </a:schemeClr>
                              </a:solidFill>
                              <a:latin typeface="Cambria Math"/>
                            </a:rPr>
                            <m:t>𝟖𝟖𝟕</m:t>
                          </m:r>
                        </m:den>
                      </m:f>
                      <m:r>
                        <a:rPr lang="en-US" sz="2400" i="1">
                          <a:latin typeface="Cambria Math"/>
                        </a:rPr>
                        <m:t>+</m:t>
                      </m:r>
                      <m:r>
                        <a:rPr lang="en-US" sz="2400" i="1" smtClean="0">
                          <a:latin typeface="Cambria Math"/>
                          <a:ea typeface="Cambria Math"/>
                        </a:rPr>
                        <m:t>⋯</m:t>
                      </m:r>
                      <m:r>
                        <a:rPr lang="en-US" sz="2400" b="0" i="1" smtClean="0">
                          <a:latin typeface="Cambria Math"/>
                          <a:ea typeface="Cambria Math"/>
                        </a:rPr>
                        <m:t>+</m:t>
                      </m:r>
                      <m:f>
                        <m:fPr>
                          <m:ctrlPr>
                            <a:rPr lang="en-US" sz="2400" i="1">
                              <a:latin typeface="Cambria Math"/>
                            </a:rPr>
                          </m:ctrlPr>
                        </m:fPr>
                        <m:num>
                          <m:sSup>
                            <m:sSupPr>
                              <m:ctrlPr>
                                <a:rPr lang="en-US" sz="2400" i="1">
                                  <a:latin typeface="Cambria Math"/>
                                </a:rPr>
                              </m:ctrlPr>
                            </m:sSupPr>
                            <m:e>
                              <m:d>
                                <m:dPr>
                                  <m:ctrlPr>
                                    <a:rPr lang="en-US" sz="2400" i="1">
                                      <a:latin typeface="Cambria Math"/>
                                    </a:rPr>
                                  </m:ctrlPr>
                                </m:dPr>
                                <m:e>
                                  <m:r>
                                    <a:rPr lang="en-US" sz="2400" b="1" i="1" smtClean="0">
                                      <a:solidFill>
                                        <a:schemeClr val="accent5">
                                          <a:lumMod val="75000"/>
                                        </a:schemeClr>
                                      </a:solidFill>
                                      <a:latin typeface="Cambria Math"/>
                                    </a:rPr>
                                    <m:t>𝟔𝟏</m:t>
                                  </m:r>
                                  <m:r>
                                    <a:rPr lang="en-US" sz="2400" i="1">
                                      <a:latin typeface="Cambria Math"/>
                                    </a:rPr>
                                    <m:t>−</m:t>
                                  </m:r>
                                  <m:r>
                                    <a:rPr lang="en-US" sz="2400" b="1" i="1" smtClean="0">
                                      <a:solidFill>
                                        <a:schemeClr val="accent2">
                                          <a:lumMod val="75000"/>
                                        </a:schemeClr>
                                      </a:solidFill>
                                      <a:latin typeface="Cambria Math"/>
                                    </a:rPr>
                                    <m:t>𝟕𝟒</m:t>
                                  </m:r>
                                  <m:r>
                                    <a:rPr lang="en-US" sz="2400" b="1" i="1" smtClean="0">
                                      <a:solidFill>
                                        <a:schemeClr val="accent2">
                                          <a:lumMod val="75000"/>
                                        </a:schemeClr>
                                      </a:solidFill>
                                      <a:latin typeface="Cambria Math"/>
                                    </a:rPr>
                                    <m:t>.</m:t>
                                  </m:r>
                                  <m:r>
                                    <a:rPr lang="en-US" sz="2400" b="1" i="1" smtClean="0">
                                      <a:solidFill>
                                        <a:schemeClr val="accent2">
                                          <a:lumMod val="75000"/>
                                        </a:schemeClr>
                                      </a:solidFill>
                                      <a:latin typeface="Cambria Math"/>
                                    </a:rPr>
                                    <m:t>𝟕𝟖𝟗</m:t>
                                  </m:r>
                                </m:e>
                              </m:d>
                            </m:e>
                            <m:sup>
                              <m:r>
                                <a:rPr lang="en-US" sz="2400" i="1">
                                  <a:latin typeface="Cambria Math"/>
                                </a:rPr>
                                <m:t>2</m:t>
                              </m:r>
                            </m:sup>
                          </m:sSup>
                        </m:num>
                        <m:den>
                          <m:r>
                            <a:rPr lang="en-US" sz="2400" b="1" i="1" smtClean="0">
                              <a:solidFill>
                                <a:schemeClr val="accent2">
                                  <a:lumMod val="75000"/>
                                </a:schemeClr>
                              </a:solidFill>
                              <a:latin typeface="Cambria Math"/>
                            </a:rPr>
                            <m:t>𝟕𝟒</m:t>
                          </m:r>
                          <m:r>
                            <a:rPr lang="en-US" sz="2400" b="1" i="1" smtClean="0">
                              <a:solidFill>
                                <a:schemeClr val="accent2">
                                  <a:lumMod val="75000"/>
                                </a:schemeClr>
                              </a:solidFill>
                              <a:latin typeface="Cambria Math"/>
                            </a:rPr>
                            <m:t>.</m:t>
                          </m:r>
                          <m:r>
                            <a:rPr lang="en-US" sz="2400" b="1" i="1" smtClean="0">
                              <a:solidFill>
                                <a:schemeClr val="accent2">
                                  <a:lumMod val="75000"/>
                                </a:schemeClr>
                              </a:solidFill>
                              <a:latin typeface="Cambria Math"/>
                            </a:rPr>
                            <m:t>𝟕𝟖𝟗</m:t>
                          </m:r>
                        </m:den>
                      </m:f>
                    </m:oMath>
                  </m:oMathPara>
                </a14:m>
                <a:endParaRPr lang="en-US" sz="2400" dirty="0"/>
              </a:p>
            </p:txBody>
          </p:sp>
        </mc:Choice>
        <mc:Fallback xmlns="">
          <p:sp>
            <p:nvSpPr>
              <p:cNvPr id="10" name="TextBox 9"/>
              <p:cNvSpPr txBox="1">
                <a:spLocks noRot="1" noChangeAspect="1" noMove="1" noResize="1" noEditPoints="1" noAdjustHandles="1" noChangeArrowheads="1" noChangeShapeType="1" noTextEdit="1"/>
              </p:cNvSpPr>
              <p:nvPr/>
            </p:nvSpPr>
            <p:spPr>
              <a:xfrm>
                <a:off x="41686" y="4414248"/>
                <a:ext cx="8991600" cy="832151"/>
              </a:xfrm>
              <a:prstGeom prst="rect">
                <a:avLst/>
              </a:prstGeom>
              <a:blipFill rotWithShape="1">
                <a:blip r:embed="rId5"/>
                <a:stretch>
                  <a:fillRect/>
                </a:stretch>
              </a:blipFill>
              <a:ln>
                <a:noFill/>
              </a:ln>
            </p:spPr>
            <p:txBody>
              <a:bodyPr/>
              <a:lstStyle/>
              <a:p>
                <a:r>
                  <a:rPr lang="en-US">
                    <a:noFill/>
                  </a:rPr>
                  <a:t> </a:t>
                </a:r>
              </a:p>
            </p:txBody>
          </p:sp>
        </mc:Fallback>
      </mc:AlternateContent>
    </p:spTree>
    <p:custDataLst>
      <p:tags r:id="rId1"/>
    </p:custDataLst>
    <p:extLst>
      <p:ext uri="{BB962C8B-B14F-4D97-AF65-F5344CB8AC3E}">
        <p14:creationId xmlns:p14="http://schemas.microsoft.com/office/powerpoint/2010/main" val="263062119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304800" y="228600"/>
            <a:ext cx="8534400" cy="914400"/>
          </a:xfrm>
          <a:prstGeom prst="rect">
            <a:avLst/>
          </a:prstGeom>
        </p:spPr>
        <p:txBody>
          <a:bodyPr/>
          <a:lstStyle/>
          <a:p>
            <a:pPr lvl="0" algn="ctr">
              <a:spcBef>
                <a:spcPct val="0"/>
              </a:spcBef>
              <a:defRPr/>
            </a:pPr>
            <a:r>
              <a:rPr lang="en-US" sz="4400" b="1" dirty="0" smtClean="0">
                <a:solidFill>
                  <a:schemeClr val="tx2"/>
                </a:solidFill>
              </a:rPr>
              <a:t>Randomization Test</a:t>
            </a:r>
            <a:endParaRPr lang="en-US" sz="4000" b="1" dirty="0">
              <a:solidFill>
                <a:schemeClr val="tx2"/>
              </a:solidFill>
            </a:endParaRPr>
          </a:p>
        </p:txBody>
      </p:sp>
      <p:sp>
        <p:nvSpPr>
          <p:cNvPr id="425986" name="AutoShape 2" descr="http://beta.rstudio.org/graphics/plot_zoom_png?width=459&amp;height=366"/>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6" name="Content Placeholder 1"/>
          <p:cNvSpPr txBox="1">
            <a:spLocks/>
          </p:cNvSpPr>
          <p:nvPr/>
        </p:nvSpPr>
        <p:spPr>
          <a:xfrm>
            <a:off x="381000" y="1219200"/>
            <a:ext cx="8382000" cy="5334000"/>
          </a:xfrm>
          <a:prstGeom prst="rect">
            <a:avLst/>
          </a:prstGeom>
        </p:spPr>
        <p:txBody>
          <a:bodyPr vert="horz" lIns="91440" tIns="45720" rIns="91440" bIns="45720" rtlCol="0">
            <a:normAutofit/>
          </a:bodyPr>
          <a:lstStyle/>
          <a:p>
            <a:pPr marL="0" marR="0" lvl="0" indent="-342900" algn="ctr" defTabSz="914400" rtl="0" eaLnBrk="1" fontAlgn="auto" latinLnBrk="0" hangingPunct="1">
              <a:lnSpc>
                <a:spcPct val="100000"/>
              </a:lnSpc>
              <a:spcBef>
                <a:spcPts val="0"/>
              </a:spcBef>
              <a:spcAft>
                <a:spcPts val="0"/>
              </a:spcAft>
              <a:buClrTx/>
              <a:buSzTx/>
              <a:buFontTx/>
              <a:buNone/>
              <a:tabLst/>
              <a:defRPr/>
            </a:pPr>
            <a:endParaRPr kumimoji="0" lang="en-US" sz="2800" b="0" i="1" u="none" strike="noStrike" kern="0" cap="none" spc="0" normalizeH="0" baseline="0" noProof="0" dirty="0" smtClean="0">
              <a:ln>
                <a:noFill/>
              </a:ln>
              <a:solidFill>
                <a:srgbClr val="000000"/>
              </a:solidFill>
              <a:effectLst/>
              <a:uLnTx/>
              <a:uFillTx/>
            </a:endParaRPr>
          </a:p>
        </p:txBody>
      </p:sp>
      <p:sp>
        <p:nvSpPr>
          <p:cNvPr id="5" name="TextBox 4"/>
          <p:cNvSpPr txBox="1"/>
          <p:nvPr/>
        </p:nvSpPr>
        <p:spPr>
          <a:xfrm>
            <a:off x="2563283" y="848974"/>
            <a:ext cx="3950758" cy="461665"/>
          </a:xfrm>
          <a:prstGeom prst="rect">
            <a:avLst/>
          </a:prstGeom>
          <a:noFill/>
        </p:spPr>
        <p:txBody>
          <a:bodyPr wrap="square" rtlCol="0">
            <a:spAutoFit/>
          </a:bodyPr>
          <a:lstStyle/>
          <a:p>
            <a:r>
              <a:rPr lang="en-US" sz="2400" dirty="0" smtClean="0">
                <a:sym typeface="Symbol"/>
                <a:hlinkClick r:id="rId4"/>
              </a:rPr>
              <a:t>www.lock5stat.com/statkey</a:t>
            </a:r>
            <a:r>
              <a:rPr lang="en-US" sz="2400" dirty="0" smtClean="0">
                <a:sym typeface="Symbol"/>
              </a:rPr>
              <a:t> </a:t>
            </a:r>
          </a:p>
        </p:txBody>
      </p:sp>
      <p:pic>
        <p:nvPicPr>
          <p:cNvPr id="17412"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1000" y="1371600"/>
            <a:ext cx="8513781" cy="3707378"/>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157368" y="4817368"/>
            <a:ext cx="4495800" cy="523220"/>
          </a:xfrm>
          <a:prstGeom prst="rect">
            <a:avLst/>
          </a:prstGeom>
          <a:noFill/>
        </p:spPr>
        <p:txBody>
          <a:bodyPr wrap="square" rtlCol="0">
            <a:spAutoFit/>
          </a:bodyPr>
          <a:lstStyle/>
          <a:p>
            <a:r>
              <a:rPr lang="en-US" sz="2800" b="1" dirty="0" smtClean="0">
                <a:solidFill>
                  <a:srgbClr val="00B050"/>
                </a:solidFill>
              </a:rPr>
              <a:t>p-value</a:t>
            </a:r>
            <a:r>
              <a:rPr lang="en-US" sz="2800" dirty="0" smtClean="0"/>
              <a:t>=0.001 </a:t>
            </a:r>
            <a:r>
              <a:rPr lang="en-US" sz="2800" dirty="0" smtClean="0">
                <a:latin typeface="Cambria"/>
              </a:rPr>
              <a:t>⟹ </a:t>
            </a:r>
            <a:r>
              <a:rPr lang="en-US" sz="2800" dirty="0"/>
              <a:t>Reject</a:t>
            </a:r>
            <a:r>
              <a:rPr lang="en-US" sz="2800" dirty="0" smtClean="0">
                <a:latin typeface="Cambria"/>
              </a:rPr>
              <a:t> </a:t>
            </a:r>
            <a:r>
              <a:rPr lang="en-US" sz="2800" dirty="0"/>
              <a:t>H</a:t>
            </a:r>
            <a:r>
              <a:rPr lang="en-US" sz="2800" baseline="-25000" dirty="0"/>
              <a:t>0</a:t>
            </a:r>
          </a:p>
        </p:txBody>
      </p:sp>
      <p:sp>
        <p:nvSpPr>
          <p:cNvPr id="12" name="TextBox 11"/>
          <p:cNvSpPr txBox="1"/>
          <p:nvPr/>
        </p:nvSpPr>
        <p:spPr>
          <a:xfrm>
            <a:off x="620184" y="5340588"/>
            <a:ext cx="8274598" cy="954107"/>
          </a:xfrm>
          <a:prstGeom prst="rect">
            <a:avLst/>
          </a:prstGeom>
          <a:noFill/>
        </p:spPr>
        <p:txBody>
          <a:bodyPr wrap="square" rtlCol="0">
            <a:spAutoFit/>
          </a:bodyPr>
          <a:lstStyle/>
          <a:p>
            <a:r>
              <a:rPr lang="en-US" sz="2800" dirty="0" smtClean="0"/>
              <a:t>The award preference appears to be related to which SAT score is higher. </a:t>
            </a:r>
            <a:endParaRPr lang="en-US" sz="2800" dirty="0"/>
          </a:p>
        </p:txBody>
      </p:sp>
    </p:spTree>
    <p:custDataLst>
      <p:tags r:id="rId1"/>
    </p:custDataLst>
    <p:extLst>
      <p:ext uri="{BB962C8B-B14F-4D97-AF65-F5344CB8AC3E}">
        <p14:creationId xmlns:p14="http://schemas.microsoft.com/office/powerpoint/2010/main" val="378164664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7412"/>
                                        </p:tgtEl>
                                        <p:attrNameLst>
                                          <p:attrName>style.visibility</p:attrName>
                                        </p:attrNameLst>
                                      </p:cBhvr>
                                      <p:to>
                                        <p:strVal val="visible"/>
                                      </p:to>
                                    </p:set>
                                    <p:anim calcmode="lin" valueType="num">
                                      <p:cBhvr>
                                        <p:cTn id="7" dur="500" fill="hold"/>
                                        <p:tgtEl>
                                          <p:spTgt spid="17412"/>
                                        </p:tgtEl>
                                        <p:attrNameLst>
                                          <p:attrName>ppt_w</p:attrName>
                                        </p:attrNameLst>
                                      </p:cBhvr>
                                      <p:tavLst>
                                        <p:tav tm="0">
                                          <p:val>
                                            <p:fltVal val="0"/>
                                          </p:val>
                                        </p:tav>
                                        <p:tav tm="100000">
                                          <p:val>
                                            <p:strVal val="#ppt_w"/>
                                          </p:val>
                                        </p:tav>
                                      </p:tavLst>
                                    </p:anim>
                                    <p:anim calcmode="lin" valueType="num">
                                      <p:cBhvr>
                                        <p:cTn id="8" dur="500" fill="hold"/>
                                        <p:tgtEl>
                                          <p:spTgt spid="17412"/>
                                        </p:tgtEl>
                                        <p:attrNameLst>
                                          <p:attrName>ppt_h</p:attrName>
                                        </p:attrNameLst>
                                      </p:cBhvr>
                                      <p:tavLst>
                                        <p:tav tm="0">
                                          <p:val>
                                            <p:fltVal val="0"/>
                                          </p:val>
                                        </p:tav>
                                        <p:tav tm="100000">
                                          <p:val>
                                            <p:strVal val="#ppt_h"/>
                                          </p:val>
                                        </p:tav>
                                      </p:tavLst>
                                    </p:anim>
                                    <p:animEffect transition="in" filter="fade">
                                      <p:cBhvr>
                                        <p:cTn id="9" dur="500"/>
                                        <p:tgtEl>
                                          <p:spTgt spid="17412"/>
                                        </p:tgtEl>
                                      </p:cBhvr>
                                    </p:animEffect>
                                  </p:childTnLst>
                                </p:cTn>
                              </p:par>
                            </p:childTnLst>
                          </p:cTn>
                        </p:par>
                      </p:childTnLst>
                    </p:cTn>
                  </p:par>
                  <p:par>
                    <p:cTn id="10" fill="hold">
                      <p:stCondLst>
                        <p:cond delay="indefinite"/>
                      </p:stCondLst>
                      <p:childTnLst>
                        <p:par>
                          <p:cTn id="11" fill="hold">
                            <p:stCondLst>
                              <p:cond delay="0"/>
                            </p:stCondLst>
                            <p:childTnLst>
                              <p:par>
                                <p:cTn id="12" presetID="22" presetClass="entr" presetSubtype="8"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wipe(left)">
                                      <p:cBhvr>
                                        <p:cTn id="14" dur="500"/>
                                        <p:tgtEl>
                                          <p:spTgt spid="2"/>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wipe(left)">
                                      <p:cBhvr>
                                        <p:cTn id="19"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Content Placeholder 4"/>
              <p:cNvSpPr>
                <a:spLocks noGrp="1"/>
              </p:cNvSpPr>
              <p:nvPr>
                <p:ph sz="quarter" idx="1"/>
              </p:nvPr>
            </p:nvSpPr>
            <p:spPr>
              <a:xfrm>
                <a:off x="0" y="1524000"/>
                <a:ext cx="9144000" cy="5334000"/>
              </a:xfrm>
            </p:spPr>
            <p:txBody>
              <a:bodyPr>
                <a:normAutofit/>
              </a:bodyPr>
              <a:lstStyle/>
              <a:p>
                <a:endParaRPr lang="en-US" dirty="0" smtClean="0"/>
              </a:p>
              <a:p>
                <a:pPr marL="0" indent="0">
                  <a:buNone/>
                </a:pPr>
                <a:endParaRPr lang="en-US" dirty="0" smtClean="0"/>
              </a:p>
              <a:p>
                <a:r>
                  <a:rPr lang="en-US" dirty="0" smtClean="0"/>
                  <a:t>Let: </a:t>
                </a:r>
                <a:r>
                  <a:rPr lang="en-US" i="1" dirty="0"/>
                  <a:t>r</a:t>
                </a:r>
                <a:r>
                  <a:rPr lang="en-US" dirty="0"/>
                  <a:t> = # of rows </a:t>
                </a:r>
                <a:r>
                  <a:rPr lang="en-US" dirty="0" smtClean="0"/>
                  <a:t>and</a:t>
                </a:r>
              </a:p>
              <a:p>
                <a:pPr marL="0" indent="0">
                  <a:buNone/>
                </a:pPr>
                <a:r>
                  <a:rPr lang="en-US" dirty="0"/>
                  <a:t> </a:t>
                </a:r>
                <a:r>
                  <a:rPr lang="en-US" dirty="0" smtClean="0"/>
                  <a:t>       </a:t>
                </a:r>
                <a:r>
                  <a:rPr lang="en-US" i="1" dirty="0"/>
                  <a:t>c </a:t>
                </a:r>
                <a:r>
                  <a:rPr lang="en-US" dirty="0"/>
                  <a:t>= # of </a:t>
                </a:r>
                <a:r>
                  <a:rPr lang="en-US" dirty="0" smtClean="0"/>
                  <a:t>columns </a:t>
                </a:r>
              </a:p>
              <a:p>
                <a:pPr marL="0" indent="0">
                  <a:buNone/>
                </a:pPr>
                <a:r>
                  <a:rPr lang="en-US" dirty="0"/>
                  <a:t> </a:t>
                </a:r>
                <a:r>
                  <a:rPr lang="en-US" dirty="0" smtClean="0"/>
                  <a:t>  in an </a:t>
                </a:r>
                <a14:m>
                  <m:oMath xmlns:m="http://schemas.openxmlformats.org/officeDocument/2006/math">
                    <m:r>
                      <a:rPr lang="en-US" i="1" dirty="0">
                        <a:latin typeface="Cambria Math"/>
                      </a:rPr>
                      <m:t>𝑟</m:t>
                    </m:r>
                    <m:r>
                      <a:rPr lang="en-US" i="1" dirty="0">
                        <a:latin typeface="Cambria Math"/>
                        <a:ea typeface="Cambria Math"/>
                      </a:rPr>
                      <m:t>×</m:t>
                    </m:r>
                    <m:r>
                      <a:rPr lang="en-US" i="1" dirty="0">
                        <a:latin typeface="Cambria Math"/>
                      </a:rPr>
                      <m:t>𝑐</m:t>
                    </m:r>
                  </m:oMath>
                </a14:m>
                <a:r>
                  <a:rPr lang="en-US" dirty="0"/>
                  <a:t> </a:t>
                </a:r>
                <a:r>
                  <a:rPr lang="en-US" dirty="0" smtClean="0"/>
                  <a:t>two-way table.</a:t>
                </a:r>
              </a:p>
              <a:p>
                <a:r>
                  <a:rPr lang="en-US" dirty="0" smtClean="0"/>
                  <a:t>If </a:t>
                </a:r>
                <a:r>
                  <a:rPr lang="en-US" dirty="0"/>
                  <a:t>the </a:t>
                </a:r>
                <a:r>
                  <a:rPr lang="en-US" b="1" dirty="0">
                    <a:solidFill>
                      <a:schemeClr val="accent2">
                        <a:lumMod val="75000"/>
                      </a:schemeClr>
                    </a:solidFill>
                  </a:rPr>
                  <a:t>expected</a:t>
                </a:r>
                <a:r>
                  <a:rPr lang="en-US" dirty="0">
                    <a:solidFill>
                      <a:schemeClr val="accent2">
                        <a:lumMod val="75000"/>
                      </a:schemeClr>
                    </a:solidFill>
                  </a:rPr>
                  <a:t> </a:t>
                </a:r>
                <a:r>
                  <a:rPr lang="en-US" b="1" dirty="0">
                    <a:solidFill>
                      <a:schemeClr val="accent2">
                        <a:lumMod val="75000"/>
                      </a:schemeClr>
                    </a:solidFill>
                  </a:rPr>
                  <a:t>count</a:t>
                </a:r>
                <a:r>
                  <a:rPr lang="en-US" dirty="0"/>
                  <a:t> is </a:t>
                </a:r>
                <a:r>
                  <a:rPr lang="en-US" b="1" dirty="0">
                    <a:solidFill>
                      <a:schemeClr val="accent2">
                        <a:lumMod val="75000"/>
                      </a:schemeClr>
                    </a:solidFill>
                  </a:rPr>
                  <a:t>at least 5 </a:t>
                </a:r>
                <a:r>
                  <a:rPr lang="en-US" dirty="0"/>
                  <a:t>in each </a:t>
                </a:r>
                <a:r>
                  <a:rPr lang="en-US" dirty="0" smtClean="0"/>
                  <a:t>cell of the table, then we </a:t>
                </a:r>
                <a:r>
                  <a:rPr lang="en-US" dirty="0"/>
                  <a:t>can find a </a:t>
                </a:r>
                <a:r>
                  <a:rPr lang="en-US" b="1" dirty="0">
                    <a:solidFill>
                      <a:srgbClr val="00B050"/>
                    </a:solidFill>
                  </a:rPr>
                  <a:t>p-value</a:t>
                </a:r>
                <a:r>
                  <a:rPr lang="en-US" dirty="0"/>
                  <a:t> </a:t>
                </a:r>
                <a:r>
                  <a:rPr lang="en-US" dirty="0" smtClean="0"/>
                  <a:t>for a </a:t>
                </a:r>
                <a:r>
                  <a:rPr lang="el-GR" dirty="0">
                    <a:latin typeface="Times New Roman"/>
                    <a:cs typeface="Times New Roman"/>
                  </a:rPr>
                  <a:t>χ</a:t>
                </a:r>
                <a:r>
                  <a:rPr lang="en-US" baseline="30000" dirty="0">
                    <a:latin typeface="Times New Roman"/>
                    <a:cs typeface="Times New Roman"/>
                  </a:rPr>
                  <a:t>2</a:t>
                </a:r>
                <a:r>
                  <a:rPr lang="en-US" dirty="0">
                    <a:latin typeface="Times New Roman"/>
                    <a:cs typeface="Times New Roman"/>
                  </a:rPr>
                  <a:t>-</a:t>
                </a:r>
                <a:r>
                  <a:rPr lang="en-US" dirty="0"/>
                  <a:t>test for </a:t>
                </a:r>
                <a:r>
                  <a:rPr lang="en-US" dirty="0" smtClean="0"/>
                  <a:t>association by using </a:t>
                </a:r>
                <a:r>
                  <a:rPr lang="en-US" dirty="0"/>
                  <a:t>the right </a:t>
                </a:r>
                <a:r>
                  <a:rPr lang="en-US" dirty="0" smtClean="0"/>
                  <a:t>tail </a:t>
                </a:r>
                <a:r>
                  <a:rPr lang="en-US" dirty="0"/>
                  <a:t>of a </a:t>
                </a:r>
                <a:r>
                  <a:rPr lang="el-GR" dirty="0"/>
                  <a:t>χ</a:t>
                </a:r>
                <a:r>
                  <a:rPr lang="en-US" baseline="30000" dirty="0"/>
                  <a:t>2</a:t>
                </a:r>
                <a:r>
                  <a:rPr lang="en-US" dirty="0"/>
                  <a:t>-distribution with </a:t>
                </a:r>
                <a14:m>
                  <m:oMath xmlns:m="http://schemas.openxmlformats.org/officeDocument/2006/math">
                    <m:r>
                      <a:rPr lang="en-US" i="1" dirty="0">
                        <a:latin typeface="Cambria Math"/>
                      </a:rPr>
                      <m:t>(</m:t>
                    </m:r>
                    <m:r>
                      <a:rPr lang="en-US" i="1" dirty="0">
                        <a:latin typeface="Cambria Math"/>
                      </a:rPr>
                      <m:t>𝑟</m:t>
                    </m:r>
                    <m:r>
                      <a:rPr lang="en-US" i="1" dirty="0">
                        <a:latin typeface="Cambria Math"/>
                      </a:rPr>
                      <m:t>−1)∙(</m:t>
                    </m:r>
                    <m:r>
                      <a:rPr lang="en-US" i="1" dirty="0">
                        <a:latin typeface="Cambria Math"/>
                      </a:rPr>
                      <m:t>𝑐</m:t>
                    </m:r>
                    <m:r>
                      <a:rPr lang="en-US" i="1" dirty="0">
                        <a:latin typeface="Cambria Math"/>
                      </a:rPr>
                      <m:t>−1) </m:t>
                    </m:r>
                  </m:oMath>
                </a14:m>
                <a:r>
                  <a:rPr lang="en-US" dirty="0"/>
                  <a:t>degrees of </a:t>
                </a:r>
                <a:r>
                  <a:rPr lang="en-US" dirty="0" smtClean="0"/>
                  <a:t>freedom.</a:t>
                </a:r>
              </a:p>
            </p:txBody>
          </p:sp>
        </mc:Choice>
        <mc:Fallback xmlns="">
          <p:sp>
            <p:nvSpPr>
              <p:cNvPr id="5" name="Content Placeholder 4"/>
              <p:cNvSpPr>
                <a:spLocks noGrp="1" noRot="1" noChangeAspect="1" noMove="1" noResize="1" noEditPoints="1" noAdjustHandles="1" noChangeArrowheads="1" noChangeShapeType="1" noTextEdit="1"/>
              </p:cNvSpPr>
              <p:nvPr>
                <p:ph sz="quarter" idx="1"/>
              </p:nvPr>
            </p:nvSpPr>
            <p:spPr>
              <a:xfrm>
                <a:off x="0" y="1524000"/>
                <a:ext cx="9144000" cy="5334000"/>
              </a:xfrm>
              <a:blipFill rotWithShape="1">
                <a:blip r:embed="rId4"/>
                <a:stretch>
                  <a:fillRect l="-467" r="-1000"/>
                </a:stretch>
              </a:blipFill>
            </p:spPr>
            <p:txBody>
              <a:bodyPr/>
              <a:lstStyle/>
              <a:p>
                <a:r>
                  <a:rPr lang="en-US">
                    <a:noFill/>
                  </a:rPr>
                  <a:t> </a:t>
                </a:r>
              </a:p>
            </p:txBody>
          </p:sp>
        </mc:Fallback>
      </mc:AlternateContent>
      <p:sp>
        <p:nvSpPr>
          <p:cNvPr id="425986" name="AutoShape 2" descr="http://beta.rstudio.org/graphics/plot_zoom_png?width=459&amp;height=366"/>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6" name="Content Placeholder 1"/>
          <p:cNvSpPr txBox="1">
            <a:spLocks/>
          </p:cNvSpPr>
          <p:nvPr/>
        </p:nvSpPr>
        <p:spPr>
          <a:xfrm>
            <a:off x="347804" y="1143000"/>
            <a:ext cx="8382000" cy="5334000"/>
          </a:xfrm>
          <a:prstGeom prst="rect">
            <a:avLst/>
          </a:prstGeom>
        </p:spPr>
        <p:txBody>
          <a:bodyPr vert="horz" lIns="91440" tIns="45720" rIns="91440" bIns="45720" rtlCol="0">
            <a:normAutofit/>
          </a:bodyPr>
          <a:lstStyle/>
          <a:p>
            <a:pPr marL="0" marR="0" lvl="0" indent="-342900" algn="ctr" defTabSz="914400" rtl="0" eaLnBrk="1" fontAlgn="auto" latinLnBrk="0" hangingPunct="1">
              <a:lnSpc>
                <a:spcPct val="100000"/>
              </a:lnSpc>
              <a:spcBef>
                <a:spcPts val="0"/>
              </a:spcBef>
              <a:spcAft>
                <a:spcPts val="0"/>
              </a:spcAft>
              <a:buClrTx/>
              <a:buSzTx/>
              <a:buFontTx/>
              <a:buNone/>
              <a:tabLst/>
              <a:defRPr/>
            </a:pPr>
            <a:endParaRPr kumimoji="0" lang="en-US" sz="2800" b="0" i="1" u="none" strike="noStrike" kern="0" cap="none" spc="0" normalizeH="0" baseline="0" noProof="0" dirty="0" smtClean="0">
              <a:ln>
                <a:noFill/>
              </a:ln>
              <a:solidFill>
                <a:srgbClr val="000000"/>
              </a:solidFill>
              <a:effectLst/>
              <a:uLnTx/>
              <a:uFillTx/>
            </a:endParaRPr>
          </a:p>
        </p:txBody>
      </p:sp>
      <mc:AlternateContent xmlns:mc="http://schemas.openxmlformats.org/markup-compatibility/2006" xmlns:a14="http://schemas.microsoft.com/office/drawing/2010/main">
        <mc:Choice Requires="a14">
          <p:sp>
            <p:nvSpPr>
              <p:cNvPr id="7" name="TextBox 6"/>
              <p:cNvSpPr txBox="1"/>
              <p:nvPr/>
            </p:nvSpPr>
            <p:spPr>
              <a:xfrm>
                <a:off x="1752600" y="1600201"/>
                <a:ext cx="5910404" cy="1171667"/>
              </a:xfrm>
              <a:prstGeom prst="rect">
                <a:avLst/>
              </a:prstGeom>
              <a:solidFill>
                <a:schemeClr val="bg2">
                  <a:alpha val="80000"/>
                </a:schemeClr>
              </a:solidFill>
              <a:ln>
                <a:noFill/>
              </a:ln>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sz="2800" i="1" smtClean="0">
                              <a:latin typeface="Cambria Math"/>
                            </a:rPr>
                          </m:ctrlPr>
                        </m:sSupPr>
                        <m:e>
                          <m:r>
                            <a:rPr lang="en-US" sz="2800" i="1" smtClean="0">
                              <a:latin typeface="Cambria Math"/>
                              <a:ea typeface="Cambria Math"/>
                            </a:rPr>
                            <m:t>𝜒</m:t>
                          </m:r>
                        </m:e>
                        <m:sup>
                          <m:r>
                            <a:rPr lang="en-US" sz="2800" b="0" i="1" smtClean="0">
                              <a:latin typeface="Cambria Math"/>
                            </a:rPr>
                            <m:t>2</m:t>
                          </m:r>
                        </m:sup>
                      </m:sSup>
                      <m:r>
                        <a:rPr lang="en-US" sz="2800" b="0" i="1" smtClean="0">
                          <a:latin typeface="Cambria Math"/>
                        </a:rPr>
                        <m:t>=</m:t>
                      </m:r>
                      <m:nary>
                        <m:naryPr>
                          <m:chr m:val="∑"/>
                          <m:subHide m:val="on"/>
                          <m:supHide m:val="on"/>
                          <m:ctrlPr>
                            <a:rPr lang="en-US" sz="2800" b="0" i="1" smtClean="0">
                              <a:latin typeface="Cambria Math"/>
                            </a:rPr>
                          </m:ctrlPr>
                        </m:naryPr>
                        <m:sub/>
                        <m:sup/>
                        <m:e>
                          <m:f>
                            <m:fPr>
                              <m:ctrlPr>
                                <a:rPr lang="en-US" sz="2800" b="0" i="1" smtClean="0">
                                  <a:latin typeface="Cambria Math"/>
                                </a:rPr>
                              </m:ctrlPr>
                            </m:fPr>
                            <m:num>
                              <m:sSup>
                                <m:sSupPr>
                                  <m:ctrlPr>
                                    <a:rPr lang="en-US" sz="2800" b="0" i="1" smtClean="0">
                                      <a:latin typeface="Cambria Math"/>
                                    </a:rPr>
                                  </m:ctrlPr>
                                </m:sSupPr>
                                <m:e>
                                  <m:d>
                                    <m:dPr>
                                      <m:ctrlPr>
                                        <a:rPr lang="en-US" sz="2800" b="0" i="1" smtClean="0">
                                          <a:latin typeface="Cambria Math"/>
                                        </a:rPr>
                                      </m:ctrlPr>
                                    </m:dPr>
                                    <m:e>
                                      <m:r>
                                        <a:rPr lang="en-US" sz="2800" b="0" i="1" smtClean="0">
                                          <a:latin typeface="Cambria Math"/>
                                        </a:rPr>
                                        <m:t>𝑂𝑏𝑠𝑒𝑟𝑣𝑒𝑑</m:t>
                                      </m:r>
                                      <m:r>
                                        <a:rPr lang="en-US" sz="2800" b="0" i="1" smtClean="0">
                                          <a:latin typeface="Cambria Math"/>
                                        </a:rPr>
                                        <m:t>−</m:t>
                                      </m:r>
                                      <m:r>
                                        <a:rPr lang="en-US" sz="2800" b="0" i="1" smtClean="0">
                                          <a:latin typeface="Cambria Math"/>
                                        </a:rPr>
                                        <m:t>𝐸𝑥𝑝𝑒𝑐𝑡𝑒𝑑</m:t>
                                      </m:r>
                                    </m:e>
                                  </m:d>
                                </m:e>
                                <m:sup>
                                  <m:r>
                                    <a:rPr lang="en-US" sz="2800" b="0" i="1" smtClean="0">
                                      <a:latin typeface="Cambria Math"/>
                                    </a:rPr>
                                    <m:t>2</m:t>
                                  </m:r>
                                </m:sup>
                              </m:sSup>
                            </m:num>
                            <m:den>
                              <m:r>
                                <a:rPr lang="en-US" sz="2800" b="0" i="1" smtClean="0">
                                  <a:latin typeface="Cambria Math"/>
                                </a:rPr>
                                <m:t>𝐸𝑥𝑝𝑒𝑐𝑡𝑒𝑑</m:t>
                              </m:r>
                            </m:den>
                          </m:f>
                        </m:e>
                      </m:nary>
                    </m:oMath>
                  </m:oMathPara>
                </a14:m>
                <a:endParaRPr lang="en-US" sz="2800" dirty="0"/>
              </a:p>
            </p:txBody>
          </p:sp>
        </mc:Choice>
        <mc:Fallback xmlns="">
          <p:sp>
            <p:nvSpPr>
              <p:cNvPr id="7" name="TextBox 6"/>
              <p:cNvSpPr txBox="1">
                <a:spLocks noRot="1" noChangeAspect="1" noMove="1" noResize="1" noEditPoints="1" noAdjustHandles="1" noChangeArrowheads="1" noChangeShapeType="1" noTextEdit="1"/>
              </p:cNvSpPr>
              <p:nvPr/>
            </p:nvSpPr>
            <p:spPr>
              <a:xfrm>
                <a:off x="1752600" y="1600201"/>
                <a:ext cx="5910404" cy="1171667"/>
              </a:xfrm>
              <a:prstGeom prst="rect">
                <a:avLst/>
              </a:prstGeom>
              <a:blipFill rotWithShape="1">
                <a:blip r:embed="rId5"/>
                <a:stretch>
                  <a:fillRect/>
                </a:stretch>
              </a:blipFill>
              <a:ln>
                <a:noFill/>
              </a:ln>
            </p:spPr>
            <p:txBody>
              <a:bodyPr/>
              <a:lstStyle/>
              <a:p>
                <a:r>
                  <a:rPr lang="en-US">
                    <a:noFill/>
                  </a:rPr>
                  <a:t> </a:t>
                </a:r>
              </a:p>
            </p:txBody>
          </p:sp>
        </mc:Fallback>
      </mc:AlternateContent>
      <p:sp>
        <p:nvSpPr>
          <p:cNvPr id="4" name="Title 3"/>
          <p:cNvSpPr>
            <a:spLocks noGrp="1"/>
          </p:cNvSpPr>
          <p:nvPr>
            <p:ph type="title"/>
          </p:nvPr>
        </p:nvSpPr>
        <p:spPr>
          <a:xfrm>
            <a:off x="460374" y="228600"/>
            <a:ext cx="8683625" cy="990600"/>
          </a:xfrm>
        </p:spPr>
        <p:txBody>
          <a:bodyPr>
            <a:normAutofit/>
          </a:bodyPr>
          <a:lstStyle/>
          <a:p>
            <a:pPr lvl="0">
              <a:defRPr/>
            </a:pPr>
            <a:r>
              <a:rPr lang="en-US" dirty="0" smtClean="0"/>
              <a:t>Distribution for a </a:t>
            </a:r>
            <a:r>
              <a:rPr lang="el-GR" dirty="0" smtClean="0">
                <a:latin typeface="Times New Roman"/>
                <a:cs typeface="Times New Roman"/>
              </a:rPr>
              <a:t>χ</a:t>
            </a:r>
            <a:r>
              <a:rPr lang="en-US" baseline="30000" dirty="0" smtClean="0">
                <a:latin typeface="Times New Roman"/>
                <a:cs typeface="Times New Roman"/>
              </a:rPr>
              <a:t>2</a:t>
            </a:r>
            <a:r>
              <a:rPr lang="en-US" dirty="0" smtClean="0">
                <a:latin typeface="Times New Roman"/>
                <a:cs typeface="Times New Roman"/>
              </a:rPr>
              <a:t>-</a:t>
            </a:r>
            <a:r>
              <a:rPr lang="en-US" dirty="0"/>
              <a:t>t</a:t>
            </a:r>
            <a:r>
              <a:rPr lang="en-US" dirty="0" smtClean="0"/>
              <a:t>est for Association</a:t>
            </a:r>
            <a:endParaRPr lang="en-US" dirty="0"/>
          </a:p>
        </p:txBody>
      </p:sp>
    </p:spTree>
    <p:custDataLst>
      <p:tags r:id="rId1"/>
    </p:custDataLst>
    <p:extLst>
      <p:ext uri="{BB962C8B-B14F-4D97-AF65-F5344CB8AC3E}">
        <p14:creationId xmlns:p14="http://schemas.microsoft.com/office/powerpoint/2010/main" val="2745621451"/>
      </p:ext>
    </p:extLst>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5986" name="AutoShape 2" descr="http://beta.rstudio.org/graphics/plot_zoom_png?width=459&amp;height=366"/>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6" name="Content Placeholder 1"/>
          <p:cNvSpPr txBox="1">
            <a:spLocks/>
          </p:cNvSpPr>
          <p:nvPr/>
        </p:nvSpPr>
        <p:spPr>
          <a:xfrm>
            <a:off x="381000" y="1219200"/>
            <a:ext cx="8382000" cy="5334000"/>
          </a:xfrm>
          <a:prstGeom prst="rect">
            <a:avLst/>
          </a:prstGeom>
        </p:spPr>
        <p:txBody>
          <a:bodyPr vert="horz" lIns="91440" tIns="45720" rIns="91440" bIns="45720" rtlCol="0">
            <a:normAutofit/>
          </a:bodyPr>
          <a:lstStyle/>
          <a:p>
            <a:pPr marL="0" marR="0" lvl="0" indent="-342900" algn="ctr" defTabSz="914400" rtl="0" eaLnBrk="1" fontAlgn="auto" latinLnBrk="0" hangingPunct="1">
              <a:lnSpc>
                <a:spcPct val="100000"/>
              </a:lnSpc>
              <a:spcBef>
                <a:spcPts val="0"/>
              </a:spcBef>
              <a:spcAft>
                <a:spcPts val="0"/>
              </a:spcAft>
              <a:buClrTx/>
              <a:buSzTx/>
              <a:buFontTx/>
              <a:buNone/>
              <a:tabLst/>
              <a:defRPr/>
            </a:pPr>
            <a:endParaRPr kumimoji="0" lang="en-US" sz="2800" b="0" i="1" u="none" strike="noStrike" kern="0" cap="none" spc="0" normalizeH="0" baseline="0" noProof="0" dirty="0" smtClean="0">
              <a:ln>
                <a:noFill/>
              </a:ln>
              <a:solidFill>
                <a:srgbClr val="000000"/>
              </a:solidFill>
              <a:effectLst/>
              <a:uLnTx/>
              <a:uFillTx/>
            </a:endParaRPr>
          </a:p>
        </p:txBody>
      </p:sp>
      <p:pic>
        <p:nvPicPr>
          <p:cNvPr id="1843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5574" y="2627151"/>
            <a:ext cx="8207727" cy="4217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idx="4294967295"/>
          </p:nvPr>
        </p:nvSpPr>
        <p:spPr>
          <a:xfrm>
            <a:off x="460375" y="7937"/>
            <a:ext cx="5178425" cy="990600"/>
          </a:xfrm>
        </p:spPr>
        <p:txBody>
          <a:bodyPr>
            <a:normAutofit/>
          </a:bodyPr>
          <a:lstStyle/>
          <a:p>
            <a:pPr lvl="0"/>
            <a:r>
              <a:rPr lang="en-US" dirty="0"/>
              <a:t>Chi-Square </a:t>
            </a:r>
            <a:r>
              <a:rPr lang="en-US" dirty="0" smtClean="0"/>
              <a:t>Distribution</a:t>
            </a:r>
            <a:endParaRPr lang="en-US" dirty="0"/>
          </a:p>
        </p:txBody>
      </p:sp>
      <p:sp>
        <p:nvSpPr>
          <p:cNvPr id="4" name="Content Placeholder 3"/>
          <p:cNvSpPr>
            <a:spLocks noGrp="1"/>
          </p:cNvSpPr>
          <p:nvPr>
            <p:ph sz="quarter" idx="4294967295"/>
          </p:nvPr>
        </p:nvSpPr>
        <p:spPr>
          <a:xfrm>
            <a:off x="0" y="1905000"/>
            <a:ext cx="9144000" cy="631825"/>
          </a:xfrm>
        </p:spPr>
        <p:txBody>
          <a:bodyPr>
            <a:normAutofit/>
          </a:bodyPr>
          <a:lstStyle/>
          <a:p>
            <a:pPr marL="0" indent="0">
              <a:buNone/>
            </a:pPr>
            <a:r>
              <a:rPr lang="en-US" dirty="0">
                <a:sym typeface="Symbol"/>
              </a:rPr>
              <a:t>For Higher SAT vs. Award:  </a:t>
            </a:r>
            <a:r>
              <a:rPr lang="en-US" dirty="0" err="1">
                <a:sym typeface="Symbol"/>
              </a:rPr>
              <a:t>df</a:t>
            </a:r>
            <a:r>
              <a:rPr lang="en-US" dirty="0">
                <a:sym typeface="Symbol"/>
              </a:rPr>
              <a:t> </a:t>
            </a:r>
            <a:r>
              <a:rPr lang="en-US" dirty="0" smtClean="0">
                <a:sym typeface="Symbol"/>
              </a:rPr>
              <a:t>=</a:t>
            </a:r>
            <a:endParaRPr lang="en-US" dirty="0">
              <a:sym typeface="Symbol"/>
            </a:endParaRPr>
          </a:p>
        </p:txBody>
      </p:sp>
      <p:sp>
        <p:nvSpPr>
          <p:cNvPr id="9" name="Right Arrow Callout 8"/>
          <p:cNvSpPr/>
          <p:nvPr/>
        </p:nvSpPr>
        <p:spPr>
          <a:xfrm>
            <a:off x="3322622" y="4426436"/>
            <a:ext cx="1533808" cy="914400"/>
          </a:xfrm>
          <a:prstGeom prst="rightArrowCallout">
            <a:avLst>
              <a:gd name="adj1" fmla="val 25000"/>
              <a:gd name="adj2" fmla="val 26980"/>
              <a:gd name="adj3" fmla="val 19059"/>
              <a:gd name="adj4" fmla="val 84055"/>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smtClean="0">
                <a:solidFill>
                  <a:schemeClr val="bg1"/>
                </a:solidFill>
              </a:rPr>
              <a:t>p-value</a:t>
            </a:r>
            <a:endParaRPr lang="en-US" sz="2400" b="1" dirty="0">
              <a:solidFill>
                <a:schemeClr val="bg1"/>
              </a:solidFill>
            </a:endParaRPr>
          </a:p>
        </p:txBody>
      </p:sp>
      <p:sp>
        <p:nvSpPr>
          <p:cNvPr id="12" name="TextBox 11"/>
          <p:cNvSpPr txBox="1"/>
          <p:nvPr/>
        </p:nvSpPr>
        <p:spPr>
          <a:xfrm>
            <a:off x="228600" y="838200"/>
            <a:ext cx="8534400" cy="984885"/>
          </a:xfrm>
          <a:prstGeom prst="rect">
            <a:avLst/>
          </a:prstGeom>
          <a:solidFill>
            <a:schemeClr val="tx2">
              <a:lumMod val="20000"/>
              <a:lumOff val="80000"/>
            </a:schemeClr>
          </a:solidFill>
        </p:spPr>
        <p:txBody>
          <a:bodyPr wrap="square" rtlCol="0">
            <a:spAutoFit/>
          </a:bodyPr>
          <a:lstStyle/>
          <a:p>
            <a:pPr>
              <a:spcAft>
                <a:spcPts val="1200"/>
              </a:spcAft>
            </a:pPr>
            <a:r>
              <a:rPr lang="en-US" sz="2400" dirty="0" smtClean="0"/>
              <a:t>H</a:t>
            </a:r>
            <a:r>
              <a:rPr lang="en-US" sz="2400" baseline="-25000" dirty="0" smtClean="0"/>
              <a:t>0</a:t>
            </a:r>
            <a:r>
              <a:rPr lang="en-US" sz="2400" dirty="0" smtClean="0"/>
              <a:t> : Award preference is not associated with which SAT is higher</a:t>
            </a:r>
          </a:p>
          <a:p>
            <a:pPr>
              <a:spcAft>
                <a:spcPts val="1200"/>
              </a:spcAft>
            </a:pPr>
            <a:r>
              <a:rPr lang="en-US" sz="2400" dirty="0" smtClean="0"/>
              <a:t>H</a:t>
            </a:r>
            <a:r>
              <a:rPr lang="en-US" sz="2400" baseline="-25000" dirty="0" smtClean="0"/>
              <a:t>a</a:t>
            </a:r>
            <a:r>
              <a:rPr lang="en-US" sz="2400" dirty="0" smtClean="0"/>
              <a:t> : </a:t>
            </a:r>
            <a:r>
              <a:rPr lang="en-US" sz="2400" dirty="0"/>
              <a:t>Award preference is </a:t>
            </a:r>
            <a:r>
              <a:rPr lang="en-US" sz="2400" dirty="0" smtClean="0"/>
              <a:t> </a:t>
            </a:r>
            <a:r>
              <a:rPr lang="en-US" sz="2400" dirty="0"/>
              <a:t>associated </a:t>
            </a:r>
            <a:r>
              <a:rPr lang="en-US" sz="2400" dirty="0" smtClean="0"/>
              <a:t>with which </a:t>
            </a:r>
            <a:r>
              <a:rPr lang="en-US" sz="2400" dirty="0"/>
              <a:t>SAT is </a:t>
            </a:r>
            <a:r>
              <a:rPr lang="en-US" sz="2400" dirty="0" smtClean="0"/>
              <a:t>higher</a:t>
            </a:r>
            <a:endParaRPr lang="en-US" sz="2400" dirty="0"/>
          </a:p>
        </p:txBody>
      </p:sp>
      <p:sp>
        <p:nvSpPr>
          <p:cNvPr id="10" name="TextBox 9"/>
          <p:cNvSpPr txBox="1"/>
          <p:nvPr/>
        </p:nvSpPr>
        <p:spPr>
          <a:xfrm>
            <a:off x="5715000" y="228600"/>
            <a:ext cx="3048000" cy="523220"/>
          </a:xfrm>
          <a:prstGeom prst="rect">
            <a:avLst/>
          </a:prstGeom>
          <a:noFill/>
        </p:spPr>
        <p:txBody>
          <a:bodyPr wrap="square" rtlCol="0">
            <a:spAutoFit/>
          </a:bodyPr>
          <a:lstStyle/>
          <a:p>
            <a:pPr algn="r"/>
            <a:r>
              <a:rPr lang="en-US" sz="2800" b="1" dirty="0" err="1" smtClean="0">
                <a:hlinkClick r:id="rId5"/>
              </a:rPr>
              <a:t>StatKey</a:t>
            </a:r>
            <a:endParaRPr lang="en-US" sz="2800" b="1" dirty="0"/>
          </a:p>
        </p:txBody>
      </p:sp>
    </p:spTree>
    <p:custDataLst>
      <p:tags r:id="rId1"/>
    </p:custDataLst>
    <p:extLst>
      <p:ext uri="{BB962C8B-B14F-4D97-AF65-F5344CB8AC3E}">
        <p14:creationId xmlns:p14="http://schemas.microsoft.com/office/powerpoint/2010/main" val="20036152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8434"/>
                                        </p:tgtEl>
                                        <p:attrNameLst>
                                          <p:attrName>style.visibility</p:attrName>
                                        </p:attrNameLst>
                                      </p:cBhvr>
                                      <p:to>
                                        <p:strVal val="visible"/>
                                      </p:to>
                                    </p:set>
                                    <p:anim calcmode="lin" valueType="num">
                                      <p:cBhvr>
                                        <p:cTn id="7" dur="500" fill="hold"/>
                                        <p:tgtEl>
                                          <p:spTgt spid="18434"/>
                                        </p:tgtEl>
                                        <p:attrNameLst>
                                          <p:attrName>ppt_w</p:attrName>
                                        </p:attrNameLst>
                                      </p:cBhvr>
                                      <p:tavLst>
                                        <p:tav tm="0">
                                          <p:val>
                                            <p:fltVal val="0"/>
                                          </p:val>
                                        </p:tav>
                                        <p:tav tm="100000">
                                          <p:val>
                                            <p:strVal val="#ppt_w"/>
                                          </p:val>
                                        </p:tav>
                                      </p:tavLst>
                                    </p:anim>
                                    <p:anim calcmode="lin" valueType="num">
                                      <p:cBhvr>
                                        <p:cTn id="8" dur="500" fill="hold"/>
                                        <p:tgtEl>
                                          <p:spTgt spid="18434"/>
                                        </p:tgtEl>
                                        <p:attrNameLst>
                                          <p:attrName>ppt_h</p:attrName>
                                        </p:attrNameLst>
                                      </p:cBhvr>
                                      <p:tavLst>
                                        <p:tav tm="0">
                                          <p:val>
                                            <p:fltVal val="0"/>
                                          </p:val>
                                        </p:tav>
                                        <p:tav tm="100000">
                                          <p:val>
                                            <p:strVal val="#ppt_h"/>
                                          </p:val>
                                        </p:tav>
                                      </p:tavLst>
                                    </p:anim>
                                    <p:animEffect transition="in" filter="fade">
                                      <p:cBhvr>
                                        <p:cTn id="9" dur="500"/>
                                        <p:tgtEl>
                                          <p:spTgt spid="18434"/>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2"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304800" y="381000"/>
            <a:ext cx="8534400" cy="914400"/>
          </a:xfrm>
          <a:prstGeom prst="rect">
            <a:avLst/>
          </a:prstGeom>
        </p:spPr>
        <p:txBody>
          <a:bodyPr/>
          <a:lstStyle/>
          <a:p>
            <a:pPr lvl="0" algn="ctr">
              <a:spcBef>
                <a:spcPct val="0"/>
              </a:spcBef>
              <a:defRPr/>
            </a:pPr>
            <a:endParaRPr lang="en-US" sz="3600" b="1" dirty="0">
              <a:solidFill>
                <a:schemeClr val="tx2"/>
              </a:solidFill>
            </a:endParaRPr>
          </a:p>
        </p:txBody>
      </p:sp>
      <p:sp>
        <p:nvSpPr>
          <p:cNvPr id="425986" name="AutoShape 2" descr="http://beta.rstudio.org/graphics/plot_zoom_png?width=459&amp;height=366"/>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945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3505198"/>
            <a:ext cx="4038600" cy="2907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itle 3"/>
          <p:cNvSpPr>
            <a:spLocks noGrp="1"/>
          </p:cNvSpPr>
          <p:nvPr>
            <p:ph type="title" idx="4294967295"/>
          </p:nvPr>
        </p:nvSpPr>
        <p:spPr>
          <a:xfrm>
            <a:off x="460375" y="60960"/>
            <a:ext cx="8153400" cy="990600"/>
          </a:xfrm>
        </p:spPr>
        <p:txBody>
          <a:bodyPr>
            <a:normAutofit/>
          </a:bodyPr>
          <a:lstStyle/>
          <a:p>
            <a:pPr lvl="0"/>
            <a:r>
              <a:rPr lang="en-US" dirty="0"/>
              <a:t>Chi-Square Test for </a:t>
            </a:r>
            <a:r>
              <a:rPr lang="en-US" dirty="0" smtClean="0"/>
              <a:t>Association</a:t>
            </a:r>
            <a:endParaRPr lang="en-US" dirty="0"/>
          </a:p>
        </p:txBody>
      </p:sp>
      <p:sp>
        <p:nvSpPr>
          <p:cNvPr id="5" name="Content Placeholder 4"/>
          <p:cNvSpPr>
            <a:spLocks noGrp="1"/>
          </p:cNvSpPr>
          <p:nvPr>
            <p:ph sz="quarter" idx="4294967295"/>
          </p:nvPr>
        </p:nvSpPr>
        <p:spPr>
          <a:xfrm>
            <a:off x="0" y="838200"/>
            <a:ext cx="9144000" cy="1905000"/>
          </a:xfrm>
        </p:spPr>
        <p:txBody>
          <a:bodyPr>
            <a:normAutofit lnSpcReduction="10000"/>
          </a:bodyPr>
          <a:lstStyle/>
          <a:p>
            <a:pPr>
              <a:spcBef>
                <a:spcPts val="0"/>
              </a:spcBef>
            </a:pPr>
            <a:r>
              <a:rPr lang="en-US" sz="3000" dirty="0"/>
              <a:t>Note: The </a:t>
            </a:r>
            <a:r>
              <a:rPr lang="el-GR" sz="3000" dirty="0"/>
              <a:t>χ</a:t>
            </a:r>
            <a:r>
              <a:rPr lang="en-US" sz="3000" baseline="30000" dirty="0"/>
              <a:t>2</a:t>
            </a:r>
            <a:r>
              <a:rPr lang="en-US" sz="3000" dirty="0"/>
              <a:t>-test for two categorical variables only indicates </a:t>
            </a:r>
            <a:r>
              <a:rPr lang="en-US" sz="3000" b="1" dirty="0"/>
              <a:t>if</a:t>
            </a:r>
            <a:r>
              <a:rPr lang="en-US" sz="3000" dirty="0"/>
              <a:t> the variables are associated.  Look at the contribution in each cell for the possible nature of the relationship</a:t>
            </a:r>
            <a:r>
              <a:rPr lang="en-US" sz="3000" dirty="0" smtClean="0"/>
              <a:t>.</a:t>
            </a:r>
            <a:endParaRPr lang="en-US" sz="3000" dirty="0"/>
          </a:p>
        </p:txBody>
      </p:sp>
      <p:graphicFrame>
        <p:nvGraphicFramePr>
          <p:cNvPr id="10" name="Table 9"/>
          <p:cNvGraphicFramePr>
            <a:graphicFrameLocks noGrp="1"/>
          </p:cNvGraphicFramePr>
          <p:nvPr>
            <p:extLst>
              <p:ext uri="{D42A27DB-BD31-4B8C-83A1-F6EECF244321}">
                <p14:modId xmlns:p14="http://schemas.microsoft.com/office/powerpoint/2010/main" val="2978418181"/>
              </p:ext>
            </p:extLst>
          </p:nvPr>
        </p:nvGraphicFramePr>
        <p:xfrm>
          <a:off x="2365248" y="2209800"/>
          <a:ext cx="6629401" cy="1676400"/>
        </p:xfrm>
        <a:graphic>
          <a:graphicData uri="http://schemas.openxmlformats.org/drawingml/2006/table">
            <a:tbl>
              <a:tblPr firstRow="1" bandRow="1">
                <a:tableStyleId>{5C22544A-7EE6-4342-B048-85BDC9FD1C3A}</a:tableStyleId>
              </a:tblPr>
              <a:tblGrid>
                <a:gridCol w="1295400"/>
                <a:gridCol w="1537162"/>
                <a:gridCol w="1470733"/>
                <a:gridCol w="1628274"/>
                <a:gridCol w="697832"/>
              </a:tblGrid>
              <a:tr h="419100">
                <a:tc>
                  <a:txBody>
                    <a:bodyPr/>
                    <a:lstStyle/>
                    <a:p>
                      <a:r>
                        <a:rPr lang="en-US" sz="1800" b="0" dirty="0" err="1" smtClean="0">
                          <a:solidFill>
                            <a:schemeClr val="tx1"/>
                          </a:solidFill>
                        </a:rPr>
                        <a:t>HigherSAT</a:t>
                      </a:r>
                      <a:endParaRPr lang="en-US" sz="1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800" dirty="0" smtClean="0">
                          <a:solidFill>
                            <a:schemeClr val="tx1"/>
                          </a:solidFill>
                        </a:rPr>
                        <a:t>Academy</a:t>
                      </a:r>
                      <a:endParaRPr lang="en-US" sz="18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sz="1800" dirty="0" smtClean="0">
                          <a:solidFill>
                            <a:schemeClr val="tx1"/>
                          </a:solidFill>
                        </a:rPr>
                        <a:t>Nobel</a:t>
                      </a:r>
                      <a:endParaRPr lang="en-US" sz="18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sz="1800" dirty="0" smtClean="0">
                          <a:solidFill>
                            <a:schemeClr val="tx1"/>
                          </a:solidFill>
                        </a:rPr>
                        <a:t>Olympic</a:t>
                      </a:r>
                      <a:endParaRPr lang="en-US" sz="18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sz="1800" b="0" dirty="0" smtClean="0">
                          <a:solidFill>
                            <a:schemeClr val="tx1"/>
                          </a:solidFill>
                        </a:rPr>
                        <a:t>Total</a:t>
                      </a:r>
                      <a:endParaRPr lang="en-US" sz="1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419100">
                <a:tc>
                  <a:txBody>
                    <a:bodyPr/>
                    <a:lstStyle/>
                    <a:p>
                      <a:r>
                        <a:rPr lang="en-US" sz="1800" b="1" dirty="0" smtClean="0">
                          <a:solidFill>
                            <a:schemeClr val="tx1"/>
                          </a:solidFill>
                        </a:rPr>
                        <a:t>Math</a:t>
                      </a:r>
                      <a:endParaRPr lang="en-US" sz="18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algn="ctr"/>
                      <a:r>
                        <a:rPr lang="en-US" sz="1800" dirty="0" smtClean="0">
                          <a:solidFill>
                            <a:schemeClr val="tx1"/>
                          </a:solidFill>
                        </a:rPr>
                        <a:t>21 (17.901)</a:t>
                      </a:r>
                      <a:endParaRPr lang="en-US" sz="18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sz="1800" dirty="0" smtClean="0">
                          <a:solidFill>
                            <a:schemeClr val="tx1"/>
                          </a:solidFill>
                        </a:rPr>
                        <a:t>68 (84.887)</a:t>
                      </a:r>
                      <a:endParaRPr lang="en-US" sz="18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sz="1800" dirty="0" smtClean="0">
                          <a:solidFill>
                            <a:schemeClr val="tx1"/>
                          </a:solidFill>
                        </a:rPr>
                        <a:t>116 (102.211)</a:t>
                      </a:r>
                      <a:endParaRPr lang="en-US" sz="18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sz="1800" dirty="0" smtClean="0">
                          <a:solidFill>
                            <a:schemeClr val="tx1"/>
                          </a:solidFill>
                        </a:rPr>
                        <a:t>205</a:t>
                      </a:r>
                      <a:endParaRPr lang="en-US" sz="18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419100">
                <a:tc>
                  <a:txBody>
                    <a:bodyPr/>
                    <a:lstStyle/>
                    <a:p>
                      <a:r>
                        <a:rPr lang="en-US" sz="1800" b="1" dirty="0" smtClean="0">
                          <a:solidFill>
                            <a:schemeClr val="tx1"/>
                          </a:solidFill>
                        </a:rPr>
                        <a:t>Verbal</a:t>
                      </a:r>
                      <a:endParaRPr lang="en-US" sz="18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algn="ctr"/>
                      <a:r>
                        <a:rPr lang="en-US" sz="1800" dirty="0" smtClean="0">
                          <a:solidFill>
                            <a:schemeClr val="tx1"/>
                          </a:solidFill>
                        </a:rPr>
                        <a:t>10 (13.099)</a:t>
                      </a:r>
                      <a:endParaRPr lang="en-US" sz="18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sz="1800" dirty="0" smtClean="0">
                          <a:solidFill>
                            <a:schemeClr val="tx1"/>
                          </a:solidFill>
                        </a:rPr>
                        <a:t>79 (62.113)</a:t>
                      </a:r>
                      <a:endParaRPr lang="en-US" sz="18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sz="1800" dirty="0" smtClean="0">
                          <a:solidFill>
                            <a:schemeClr val="tx1"/>
                          </a:solidFill>
                        </a:rPr>
                        <a:t>  61  ( 74.789)</a:t>
                      </a:r>
                      <a:endParaRPr lang="en-US" sz="18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sz="1800" dirty="0" smtClean="0">
                          <a:solidFill>
                            <a:schemeClr val="tx1"/>
                          </a:solidFill>
                        </a:rPr>
                        <a:t>150</a:t>
                      </a:r>
                      <a:endParaRPr lang="en-US" sz="18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419100">
                <a:tc>
                  <a:txBody>
                    <a:bodyPr/>
                    <a:lstStyle/>
                    <a:p>
                      <a:r>
                        <a:rPr lang="en-US" sz="1800" dirty="0" smtClean="0">
                          <a:solidFill>
                            <a:schemeClr val="tx1"/>
                          </a:solidFill>
                        </a:rPr>
                        <a:t>Total</a:t>
                      </a:r>
                      <a:endParaRPr lang="en-US" sz="18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800" dirty="0" smtClean="0">
                          <a:solidFill>
                            <a:schemeClr val="tx1"/>
                          </a:solidFill>
                        </a:rPr>
                        <a:t>31</a:t>
                      </a:r>
                      <a:endParaRPr lang="en-US" sz="18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800" dirty="0" smtClean="0">
                          <a:solidFill>
                            <a:schemeClr val="tx1"/>
                          </a:solidFill>
                        </a:rPr>
                        <a:t>147</a:t>
                      </a:r>
                      <a:endParaRPr lang="en-US" sz="18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800" dirty="0" smtClean="0">
                          <a:solidFill>
                            <a:schemeClr val="tx1"/>
                          </a:solidFill>
                        </a:rPr>
                        <a:t>177</a:t>
                      </a:r>
                      <a:endParaRPr lang="en-US" sz="18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800" dirty="0" smtClean="0">
                          <a:solidFill>
                            <a:schemeClr val="tx1"/>
                          </a:solidFill>
                        </a:rPr>
                        <a:t>355</a:t>
                      </a:r>
                      <a:endParaRPr lang="en-US" sz="18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bl>
          </a:graphicData>
        </a:graphic>
      </p:graphicFrame>
    </p:spTree>
    <p:custDataLst>
      <p:tags r:id="rId1"/>
    </p:custDataLst>
    <p:extLst>
      <p:ext uri="{BB962C8B-B14F-4D97-AF65-F5344CB8AC3E}">
        <p14:creationId xmlns:p14="http://schemas.microsoft.com/office/powerpoint/2010/main" val="13401804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458"/>
                                        </p:tgtEl>
                                        <p:attrNameLst>
                                          <p:attrName>style.visibility</p:attrName>
                                        </p:attrNameLst>
                                      </p:cBhvr>
                                      <p:to>
                                        <p:strVal val="visible"/>
                                      </p:to>
                                    </p:set>
                                    <p:animEffect transition="in" filter="fade">
                                      <p:cBhvr>
                                        <p:cTn id="7" dur="500"/>
                                        <p:tgtEl>
                                          <p:spTgt spid="19458"/>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293483" y="160338"/>
            <a:ext cx="8534400" cy="914400"/>
          </a:xfrm>
          <a:prstGeom prst="rect">
            <a:avLst/>
          </a:prstGeom>
        </p:spPr>
        <p:txBody>
          <a:bodyPr/>
          <a:lstStyle/>
          <a:p>
            <a:pPr lvl="0" algn="ctr">
              <a:spcBef>
                <a:spcPct val="0"/>
              </a:spcBef>
              <a:defRPr/>
            </a:pPr>
            <a:r>
              <a:rPr lang="en-US" sz="4000" b="1" dirty="0" smtClean="0">
                <a:solidFill>
                  <a:schemeClr val="tx2"/>
                </a:solidFill>
              </a:rPr>
              <a:t>Chi-Square Test for Association</a:t>
            </a:r>
            <a:endParaRPr lang="en-US" sz="3600" b="1" dirty="0">
              <a:solidFill>
                <a:schemeClr val="tx2"/>
              </a:solidFill>
            </a:endParaRPr>
          </a:p>
        </p:txBody>
      </p:sp>
      <p:sp>
        <p:nvSpPr>
          <p:cNvPr id="425986" name="AutoShape 2" descr="http://beta.rstudio.org/graphics/plot_zoom_png?width=459&amp;height=366"/>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6" name="Content Placeholder 1"/>
          <p:cNvSpPr txBox="1">
            <a:spLocks/>
          </p:cNvSpPr>
          <p:nvPr/>
        </p:nvSpPr>
        <p:spPr>
          <a:xfrm>
            <a:off x="304800" y="914400"/>
            <a:ext cx="8839200" cy="5943599"/>
          </a:xfrm>
          <a:prstGeom prst="rect">
            <a:avLst/>
          </a:prstGeom>
        </p:spPr>
        <p:txBody>
          <a:bodyPr vert="horz" lIns="91440" tIns="45720" rIns="91440" bIns="45720" rtlCol="0">
            <a:normAutofit fontScale="92500" lnSpcReduction="20000"/>
          </a:bodyPr>
          <a:lstStyle/>
          <a:p>
            <a:pPr lvl="0" indent="-514350">
              <a:lnSpc>
                <a:spcPct val="110000"/>
              </a:lnSpc>
              <a:buFont typeface="+mj-lt"/>
              <a:buAutoNum type="arabicPeriod"/>
              <a:defRPr/>
            </a:pPr>
            <a:r>
              <a:rPr lang="en-US" sz="2800" kern="0" dirty="0" smtClean="0"/>
              <a:t>H</a:t>
            </a:r>
            <a:r>
              <a:rPr lang="en-US" sz="2800" kern="0" baseline="-25000" dirty="0" smtClean="0"/>
              <a:t>0</a:t>
            </a:r>
            <a:r>
              <a:rPr lang="en-US" sz="2800" kern="0" dirty="0" smtClean="0"/>
              <a:t> : The two variables </a:t>
            </a:r>
            <a:r>
              <a:rPr lang="en-US" sz="2800" b="1" kern="0" dirty="0" smtClean="0">
                <a:solidFill>
                  <a:srgbClr val="FF0000"/>
                </a:solidFill>
              </a:rPr>
              <a:t>are </a:t>
            </a:r>
            <a:r>
              <a:rPr lang="en-US" sz="2800" b="1" i="1" kern="0" dirty="0" smtClean="0">
                <a:solidFill>
                  <a:srgbClr val="FF0000"/>
                </a:solidFill>
              </a:rPr>
              <a:t>not</a:t>
            </a:r>
            <a:r>
              <a:rPr lang="en-US" sz="2800" b="1" kern="0" dirty="0" smtClean="0">
                <a:solidFill>
                  <a:srgbClr val="FF0000"/>
                </a:solidFill>
              </a:rPr>
              <a:t> associated</a:t>
            </a:r>
          </a:p>
          <a:p>
            <a:pPr lvl="0" indent="-514350">
              <a:lnSpc>
                <a:spcPct val="110000"/>
              </a:lnSpc>
              <a:spcAft>
                <a:spcPts val="1800"/>
              </a:spcAft>
              <a:defRPr/>
            </a:pPr>
            <a:r>
              <a:rPr lang="en-US" sz="2800" kern="0" dirty="0" smtClean="0"/>
              <a:t>      H</a:t>
            </a:r>
            <a:r>
              <a:rPr lang="en-US" sz="2800" kern="0" baseline="-25000" dirty="0" smtClean="0"/>
              <a:t>a</a:t>
            </a:r>
            <a:r>
              <a:rPr lang="en-US" sz="2800" kern="0" dirty="0" smtClean="0"/>
              <a:t> : The two variables </a:t>
            </a:r>
            <a:r>
              <a:rPr lang="en-US" sz="2800" b="1" kern="0" dirty="0" smtClean="0">
                <a:solidFill>
                  <a:srgbClr val="00B050"/>
                </a:solidFill>
              </a:rPr>
              <a:t>are associated</a:t>
            </a:r>
            <a:endParaRPr lang="en-US" sz="2800" b="1" kern="0" noProof="0" dirty="0" smtClean="0">
              <a:solidFill>
                <a:srgbClr val="00B050"/>
              </a:solidFill>
            </a:endParaRPr>
          </a:p>
          <a:p>
            <a:pPr lvl="0" indent="-514350">
              <a:lnSpc>
                <a:spcPct val="110000"/>
              </a:lnSpc>
              <a:spcAft>
                <a:spcPts val="1800"/>
              </a:spcAft>
              <a:buFont typeface="+mj-lt"/>
              <a:buAutoNum type="arabicPeriod" startAt="2"/>
              <a:defRPr/>
            </a:pPr>
            <a:r>
              <a:rPr lang="en-US" sz="2800" kern="0" dirty="0" smtClean="0"/>
              <a:t>Calculate the expected counts for each cell:</a:t>
            </a:r>
          </a:p>
          <a:p>
            <a:pPr lvl="0" indent="-514350">
              <a:lnSpc>
                <a:spcPct val="110000"/>
              </a:lnSpc>
              <a:spcAft>
                <a:spcPts val="1800"/>
              </a:spcAft>
              <a:buFont typeface="+mj-lt"/>
              <a:buAutoNum type="arabicPeriod" startAt="2"/>
              <a:defRPr/>
            </a:pPr>
            <a:endParaRPr lang="en-US" sz="2800" kern="0" dirty="0" smtClean="0"/>
          </a:p>
          <a:p>
            <a:pPr lvl="0">
              <a:lnSpc>
                <a:spcPct val="110000"/>
              </a:lnSpc>
              <a:spcAft>
                <a:spcPts val="1800"/>
              </a:spcAft>
              <a:defRPr/>
            </a:pPr>
            <a:endParaRPr lang="en-US" sz="600" kern="0" dirty="0" smtClean="0"/>
          </a:p>
          <a:p>
            <a:pPr lvl="0" indent="-514350">
              <a:lnSpc>
                <a:spcPct val="110000"/>
              </a:lnSpc>
              <a:spcAft>
                <a:spcPts val="1800"/>
              </a:spcAft>
              <a:defRPr/>
            </a:pPr>
            <a:r>
              <a:rPr lang="en-US" sz="2800" kern="0" dirty="0" smtClean="0"/>
              <a:t>      Check that they are all at least 5 to proceed.</a:t>
            </a:r>
          </a:p>
          <a:p>
            <a:pPr lvl="0" indent="-514350">
              <a:lnSpc>
                <a:spcPct val="110000"/>
              </a:lnSpc>
              <a:spcBef>
                <a:spcPts val="1200"/>
              </a:spcBef>
              <a:spcAft>
                <a:spcPts val="600"/>
              </a:spcAft>
              <a:buFont typeface="+mj-lt"/>
              <a:buAutoNum type="arabicPeriod" startAt="3"/>
              <a:defRPr/>
            </a:pPr>
            <a:r>
              <a:rPr lang="en-US" sz="2800" kern="0" noProof="0" dirty="0" smtClean="0"/>
              <a:t>Calculate the </a:t>
            </a:r>
            <a:r>
              <a:rPr lang="en-US" sz="2800" kern="0" dirty="0" smtClean="0">
                <a:sym typeface="Symbol"/>
              </a:rPr>
              <a:t></a:t>
            </a:r>
            <a:r>
              <a:rPr lang="en-US" sz="2800" kern="0" baseline="30000" dirty="0" smtClean="0">
                <a:sym typeface="Symbol"/>
              </a:rPr>
              <a:t>2</a:t>
            </a:r>
            <a:r>
              <a:rPr lang="en-US" sz="2800" kern="0" dirty="0" smtClean="0">
                <a:sym typeface="Symbol"/>
              </a:rPr>
              <a:t> statistic:</a:t>
            </a:r>
          </a:p>
          <a:p>
            <a:pPr lvl="0" indent="-514350">
              <a:lnSpc>
                <a:spcPct val="110000"/>
              </a:lnSpc>
              <a:spcAft>
                <a:spcPts val="600"/>
              </a:spcAft>
              <a:buFont typeface="+mj-lt"/>
              <a:buAutoNum type="arabicPeriod" startAt="3"/>
              <a:defRPr/>
            </a:pPr>
            <a:endParaRPr lang="en-US" sz="2800" kern="0" dirty="0" smtClean="0">
              <a:sym typeface="Symbol"/>
            </a:endParaRPr>
          </a:p>
          <a:p>
            <a:pPr lvl="0" indent="-514350">
              <a:lnSpc>
                <a:spcPct val="110000"/>
              </a:lnSpc>
              <a:spcAft>
                <a:spcPts val="1800"/>
              </a:spcAft>
              <a:buFont typeface="+mj-lt"/>
              <a:buAutoNum type="arabicPeriod" startAt="3"/>
              <a:defRPr/>
            </a:pPr>
            <a:r>
              <a:rPr lang="en-US" sz="2800" kern="0" dirty="0" smtClean="0">
                <a:sym typeface="Symbol"/>
              </a:rPr>
              <a:t>Compute the p-value as the area in the tail above the </a:t>
            </a:r>
            <a:r>
              <a:rPr lang="en-US" sz="2800" kern="0" baseline="30000" dirty="0" smtClean="0">
                <a:sym typeface="Symbol"/>
              </a:rPr>
              <a:t>2</a:t>
            </a:r>
            <a:r>
              <a:rPr lang="en-US" sz="2800" kern="0" dirty="0" smtClean="0">
                <a:sym typeface="Symbol"/>
              </a:rPr>
              <a:t>    </a:t>
            </a:r>
          </a:p>
          <a:p>
            <a:pPr lvl="0">
              <a:lnSpc>
                <a:spcPct val="110000"/>
              </a:lnSpc>
              <a:spcAft>
                <a:spcPts val="1800"/>
              </a:spcAft>
              <a:defRPr/>
            </a:pPr>
            <a:r>
              <a:rPr lang="en-US" sz="2800" kern="0" dirty="0">
                <a:sym typeface="Symbol"/>
              </a:rPr>
              <a:t> </a:t>
            </a:r>
            <a:r>
              <a:rPr lang="en-US" sz="2800" kern="0" dirty="0" smtClean="0">
                <a:sym typeface="Symbol"/>
              </a:rPr>
              <a:t>     statistic, using a </a:t>
            </a:r>
            <a:r>
              <a:rPr lang="en-US" sz="2800" kern="0" baseline="30000" dirty="0" smtClean="0">
                <a:sym typeface="Symbol"/>
              </a:rPr>
              <a:t>2</a:t>
            </a:r>
            <a:r>
              <a:rPr lang="en-US" sz="2800" kern="0" dirty="0">
                <a:sym typeface="Symbol"/>
              </a:rPr>
              <a:t>-</a:t>
            </a:r>
            <a:r>
              <a:rPr lang="en-US" sz="2800" kern="0" dirty="0" smtClean="0">
                <a:sym typeface="Symbol"/>
              </a:rPr>
              <a:t>distribution with </a:t>
            </a:r>
            <a:r>
              <a:rPr lang="en-US" sz="2800" kern="0" dirty="0" err="1" smtClean="0">
                <a:sym typeface="Symbol"/>
              </a:rPr>
              <a:t>df</a:t>
            </a:r>
            <a:r>
              <a:rPr lang="en-US" sz="2800" kern="0" dirty="0" smtClean="0">
                <a:sym typeface="Symbol"/>
              </a:rPr>
              <a:t> = (r – 1)  (c – 1)</a:t>
            </a:r>
          </a:p>
          <a:p>
            <a:pPr marL="514350" lvl="0" indent="-514350">
              <a:lnSpc>
                <a:spcPct val="110000"/>
              </a:lnSpc>
              <a:spcAft>
                <a:spcPts val="1800"/>
              </a:spcAft>
              <a:buFont typeface="+mj-lt"/>
              <a:buAutoNum type="arabicPeriod" startAt="5"/>
              <a:defRPr/>
            </a:pPr>
            <a:r>
              <a:rPr kumimoji="0" lang="en-US" sz="2800" b="0" i="0" u="none" strike="noStrike" kern="0" cap="none" spc="0" normalizeH="0" baseline="0" noProof="0" dirty="0" smtClean="0">
                <a:ln>
                  <a:noFill/>
                </a:ln>
                <a:solidFill>
                  <a:srgbClr val="000000"/>
                </a:solidFill>
                <a:effectLst/>
                <a:uLnTx/>
                <a:uFillTx/>
                <a:sym typeface="Symbol"/>
              </a:rPr>
              <a:t>Interpret </a:t>
            </a:r>
            <a:r>
              <a:rPr lang="en-US" sz="2800" kern="0" dirty="0" smtClean="0">
                <a:solidFill>
                  <a:srgbClr val="000000"/>
                </a:solidFill>
                <a:sym typeface="Symbol"/>
              </a:rPr>
              <a:t>the p-value in context</a:t>
            </a:r>
            <a:r>
              <a:rPr lang="en-US" sz="2800" kern="0" dirty="0">
                <a:solidFill>
                  <a:srgbClr val="000000"/>
                </a:solidFill>
                <a:sym typeface="Symbol"/>
              </a:rPr>
              <a:t>.</a:t>
            </a:r>
            <a:endParaRPr kumimoji="0" lang="en-US" sz="2800" b="0" i="0" u="none" strike="noStrike" kern="0" cap="none" spc="0" normalizeH="0" baseline="0" noProof="0" dirty="0" smtClean="0">
              <a:ln>
                <a:noFill/>
              </a:ln>
              <a:solidFill>
                <a:srgbClr val="000000"/>
              </a:solidFill>
              <a:effectLst/>
              <a:uLnTx/>
              <a:uFillTx/>
            </a:endParaRPr>
          </a:p>
        </p:txBody>
      </p:sp>
      <mc:AlternateContent xmlns:mc="http://schemas.openxmlformats.org/markup-compatibility/2006" xmlns:a14="http://schemas.microsoft.com/office/drawing/2010/main">
        <mc:Choice Requires="a14">
          <p:sp>
            <p:nvSpPr>
              <p:cNvPr id="7" name="TextBox 6"/>
              <p:cNvSpPr txBox="1"/>
              <p:nvPr/>
            </p:nvSpPr>
            <p:spPr>
              <a:xfrm>
                <a:off x="922357" y="2362200"/>
                <a:ext cx="7276652" cy="855812"/>
              </a:xfrm>
              <a:prstGeom prst="rect">
                <a:avLst/>
              </a:prstGeom>
              <a:noFill/>
              <a:ln>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a:rPr>
                        <m:t>𝐸𝑥𝑝𝑒𝑐𝑡𝑒𝑑</m:t>
                      </m:r>
                      <m:r>
                        <a:rPr lang="en-US" sz="2400" b="0" i="1" smtClean="0">
                          <a:latin typeface="Cambria Math"/>
                        </a:rPr>
                        <m:t> </m:t>
                      </m:r>
                      <m:r>
                        <a:rPr lang="en-US" sz="2400" b="0" i="1" smtClean="0">
                          <a:latin typeface="Cambria Math"/>
                        </a:rPr>
                        <m:t>𝑐𝑜𝑢𝑛𝑡</m:t>
                      </m:r>
                      <m:r>
                        <a:rPr lang="en-US" sz="2400" b="0" i="1" smtClean="0">
                          <a:latin typeface="Cambria Math"/>
                        </a:rPr>
                        <m:t>= </m:t>
                      </m:r>
                      <m:f>
                        <m:fPr>
                          <m:ctrlPr>
                            <a:rPr lang="en-US" sz="2400" i="1" smtClean="0">
                              <a:latin typeface="Cambria Math"/>
                            </a:rPr>
                          </m:ctrlPr>
                        </m:fPr>
                        <m:num>
                          <m:r>
                            <a:rPr lang="en-US" sz="2400" b="0" i="1" smtClean="0">
                              <a:latin typeface="Cambria Math"/>
                            </a:rPr>
                            <m:t>𝑅𝑜𝑤</m:t>
                          </m:r>
                          <m:r>
                            <a:rPr lang="en-US" sz="2400" b="0" i="1" smtClean="0">
                              <a:latin typeface="Cambria Math"/>
                            </a:rPr>
                            <m:t> </m:t>
                          </m:r>
                          <m:r>
                            <a:rPr lang="en-US" sz="2400" b="0" i="1" smtClean="0">
                              <a:latin typeface="Cambria Math"/>
                            </a:rPr>
                            <m:t>𝑡𝑜𝑡𝑎𝑙</m:t>
                          </m:r>
                          <m:r>
                            <a:rPr lang="en-US" sz="2400" b="0" i="1" smtClean="0">
                              <a:latin typeface="Cambria Math"/>
                            </a:rPr>
                            <m:t> ×</m:t>
                          </m:r>
                          <m:r>
                            <a:rPr lang="en-US" sz="2400" b="0" i="1" smtClean="0">
                              <a:latin typeface="Cambria Math"/>
                              <a:ea typeface="Cambria Math"/>
                            </a:rPr>
                            <m:t>𝐶𝑜𝑙𝑢𝑚𝑛</m:t>
                          </m:r>
                          <m:r>
                            <a:rPr lang="en-US" sz="2400" b="0" i="1" smtClean="0">
                              <a:latin typeface="Cambria Math"/>
                              <a:ea typeface="Cambria Math"/>
                            </a:rPr>
                            <m:t> </m:t>
                          </m:r>
                          <m:r>
                            <a:rPr lang="en-US" sz="2400" b="0" i="1" smtClean="0">
                              <a:latin typeface="Cambria Math"/>
                              <a:ea typeface="Cambria Math"/>
                            </a:rPr>
                            <m:t>𝑡𝑜𝑡𝑎𝑙</m:t>
                          </m:r>
                          <m:r>
                            <a:rPr lang="en-US" sz="2400" b="0" i="1" smtClean="0">
                              <a:latin typeface="Cambria Math"/>
                            </a:rPr>
                            <m:t> </m:t>
                          </m:r>
                        </m:num>
                        <m:den>
                          <m:r>
                            <a:rPr lang="en-US" sz="2400" b="0" i="1" smtClean="0">
                              <a:latin typeface="Cambria Math"/>
                            </a:rPr>
                            <m:t>𝑆𝑎𝑚𝑝𝑙𝑒</m:t>
                          </m:r>
                          <m:r>
                            <a:rPr lang="en-US" sz="2400" b="0" i="1" smtClean="0">
                              <a:latin typeface="Cambria Math"/>
                            </a:rPr>
                            <m:t> </m:t>
                          </m:r>
                          <m:r>
                            <a:rPr lang="en-US" sz="2400" b="0" i="1" smtClean="0">
                              <a:latin typeface="Cambria Math"/>
                            </a:rPr>
                            <m:t>𝑠𝑖𝑧𝑒</m:t>
                          </m:r>
                        </m:den>
                      </m:f>
                    </m:oMath>
                  </m:oMathPara>
                </a14:m>
                <a:endParaRPr lang="en-US" sz="2400" dirty="0"/>
              </a:p>
            </p:txBody>
          </p:sp>
        </mc:Choice>
        <mc:Fallback xmlns="">
          <p:sp>
            <p:nvSpPr>
              <p:cNvPr id="7" name="TextBox 6"/>
              <p:cNvSpPr txBox="1">
                <a:spLocks noRot="1" noChangeAspect="1" noMove="1" noResize="1" noEditPoints="1" noAdjustHandles="1" noChangeArrowheads="1" noChangeShapeType="1" noTextEdit="1"/>
              </p:cNvSpPr>
              <p:nvPr/>
            </p:nvSpPr>
            <p:spPr>
              <a:xfrm>
                <a:off x="922357" y="2362200"/>
                <a:ext cx="7276652" cy="855812"/>
              </a:xfrm>
              <a:prstGeom prst="rect">
                <a:avLst/>
              </a:prstGeom>
              <a:blipFill rotWithShape="1">
                <a:blip r:embed="rId4"/>
                <a:stretch>
                  <a:fillRect/>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4138843" y="3810000"/>
                <a:ext cx="4958379" cy="1017523"/>
              </a:xfrm>
              <a:prstGeom prst="rect">
                <a:avLst/>
              </a:prstGeom>
              <a:noFill/>
              <a:ln>
                <a:noFill/>
              </a:ln>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sz="2400" i="1" smtClean="0">
                              <a:latin typeface="Cambria Math"/>
                            </a:rPr>
                          </m:ctrlPr>
                        </m:sSupPr>
                        <m:e>
                          <m:r>
                            <a:rPr lang="en-US" sz="2400" b="0" i="1" smtClean="0">
                              <a:latin typeface="Cambria Math"/>
                              <a:ea typeface="Cambria Math"/>
                            </a:rPr>
                            <m:t>𝜒</m:t>
                          </m:r>
                        </m:e>
                        <m:sup>
                          <m:r>
                            <a:rPr lang="en-US" sz="2400" b="0" i="1" smtClean="0">
                              <a:latin typeface="Cambria Math"/>
                            </a:rPr>
                            <m:t>2</m:t>
                          </m:r>
                        </m:sup>
                      </m:sSup>
                      <m:r>
                        <a:rPr lang="en-US" sz="2400" b="0" i="1" smtClean="0">
                          <a:latin typeface="Cambria Math"/>
                        </a:rPr>
                        <m:t>=</m:t>
                      </m:r>
                      <m:nary>
                        <m:naryPr>
                          <m:chr m:val="∑"/>
                          <m:subHide m:val="on"/>
                          <m:supHide m:val="on"/>
                          <m:ctrlPr>
                            <a:rPr lang="en-US" sz="2400" i="1" smtClean="0">
                              <a:latin typeface="Cambria Math"/>
                            </a:rPr>
                          </m:ctrlPr>
                        </m:naryPr>
                        <m:sub/>
                        <m:sup/>
                        <m:e>
                          <m:f>
                            <m:fPr>
                              <m:ctrlPr>
                                <a:rPr lang="en-US" sz="2400" i="1" smtClean="0">
                                  <a:latin typeface="Cambria Math"/>
                                </a:rPr>
                              </m:ctrlPr>
                            </m:fPr>
                            <m:num>
                              <m:sSup>
                                <m:sSupPr>
                                  <m:ctrlPr>
                                    <a:rPr lang="en-US" sz="2400" i="1" smtClean="0">
                                      <a:latin typeface="Cambria Math"/>
                                    </a:rPr>
                                  </m:ctrlPr>
                                </m:sSupPr>
                                <m:e>
                                  <m:d>
                                    <m:dPr>
                                      <m:ctrlPr>
                                        <a:rPr lang="en-US" sz="2400" i="1" smtClean="0">
                                          <a:latin typeface="Cambria Math"/>
                                        </a:rPr>
                                      </m:ctrlPr>
                                    </m:dPr>
                                    <m:e>
                                      <m:r>
                                        <a:rPr lang="en-US" sz="2400" b="0" i="1" smtClean="0">
                                          <a:latin typeface="Cambria Math"/>
                                        </a:rPr>
                                        <m:t>𝑂𝑏𝑠𝑒𝑟𝑣𝑒𝑑</m:t>
                                      </m:r>
                                      <m:r>
                                        <a:rPr lang="en-US" sz="2400" b="0" i="1" smtClean="0">
                                          <a:latin typeface="Cambria Math"/>
                                        </a:rPr>
                                        <m:t>−</m:t>
                                      </m:r>
                                      <m:r>
                                        <a:rPr lang="en-US" sz="2400" b="0" i="1" smtClean="0">
                                          <a:latin typeface="Cambria Math"/>
                                        </a:rPr>
                                        <m:t>𝐸𝑥𝑝𝑒𝑐𝑡𝑒𝑑</m:t>
                                      </m:r>
                                    </m:e>
                                  </m:d>
                                </m:e>
                                <m:sup>
                                  <m:r>
                                    <a:rPr lang="en-US" sz="2400" b="0" i="1" smtClean="0">
                                      <a:latin typeface="Cambria Math"/>
                                    </a:rPr>
                                    <m:t>2</m:t>
                                  </m:r>
                                </m:sup>
                              </m:sSup>
                            </m:num>
                            <m:den>
                              <m:r>
                                <a:rPr lang="en-US" sz="2400" b="0" i="1" smtClean="0">
                                  <a:latin typeface="Cambria Math"/>
                                </a:rPr>
                                <m:t>𝐸𝑥𝑝𝑒𝑐𝑡𝑒𝑑</m:t>
                              </m:r>
                            </m:den>
                          </m:f>
                        </m:e>
                      </m:nary>
                    </m:oMath>
                  </m:oMathPara>
                </a14:m>
                <a:endParaRPr lang="en-US" sz="2400" dirty="0"/>
              </a:p>
            </p:txBody>
          </p:sp>
        </mc:Choice>
        <mc:Fallback xmlns="">
          <p:sp>
            <p:nvSpPr>
              <p:cNvPr id="8" name="TextBox 7"/>
              <p:cNvSpPr txBox="1">
                <a:spLocks noRot="1" noChangeAspect="1" noMove="1" noResize="1" noEditPoints="1" noAdjustHandles="1" noChangeArrowheads="1" noChangeShapeType="1" noTextEdit="1"/>
              </p:cNvSpPr>
              <p:nvPr/>
            </p:nvSpPr>
            <p:spPr>
              <a:xfrm>
                <a:off x="4138843" y="3810000"/>
                <a:ext cx="4958379" cy="1017523"/>
              </a:xfrm>
              <a:prstGeom prst="rect">
                <a:avLst/>
              </a:prstGeom>
              <a:blipFill rotWithShape="1">
                <a:blip r:embed="rId5"/>
                <a:stretch>
                  <a:fillRect/>
                </a:stretch>
              </a:blipFill>
              <a:ln>
                <a:noFill/>
              </a:ln>
            </p:spPr>
            <p:txBody>
              <a:bodyPr/>
              <a:lstStyle/>
              <a:p>
                <a:r>
                  <a:rPr lang="en-US">
                    <a:noFill/>
                  </a:rPr>
                  <a:t> </a:t>
                </a:r>
              </a:p>
            </p:txBody>
          </p:sp>
        </mc:Fallback>
      </mc:AlternateContent>
    </p:spTree>
    <p:custDataLst>
      <p:tags r:id="rId1"/>
    </p:custDataLst>
    <p:extLst>
      <p:ext uri="{BB962C8B-B14F-4D97-AF65-F5344CB8AC3E}">
        <p14:creationId xmlns:p14="http://schemas.microsoft.com/office/powerpoint/2010/main" val="320913146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grpId="0" nodeType="afterEffect">
                                  <p:stCondLst>
                                    <p:cond delay="0"/>
                                  </p:stCondLst>
                                  <p:childTnLst>
                                    <p:set>
                                      <p:cBhvr>
                                        <p:cTn id="15" dur="1" fill="hold">
                                          <p:stCondLst>
                                            <p:cond delay="0"/>
                                          </p:stCondLst>
                                        </p:cTn>
                                        <p:tgtEl>
                                          <p:spTgt spid="7"/>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6">
                                            <p:txEl>
                                              <p:pRg st="6" end="6"/>
                                            </p:txEl>
                                          </p:spTgt>
                                        </p:tgtEl>
                                        <p:attrNameLst>
                                          <p:attrName>style.visibility</p:attrName>
                                        </p:attrNameLst>
                                      </p:cBhvr>
                                      <p:to>
                                        <p:strVal val="visible"/>
                                      </p:to>
                                    </p:set>
                                  </p:childTnLst>
                                </p:cTn>
                              </p:par>
                            </p:childTnLst>
                          </p:cTn>
                        </p:par>
                        <p:par>
                          <p:cTn id="24" fill="hold">
                            <p:stCondLst>
                              <p:cond delay="0"/>
                            </p:stCondLst>
                            <p:childTnLst>
                              <p:par>
                                <p:cTn id="25" presetID="22" presetClass="entr" presetSubtype="8" fill="hold" grpId="0" nodeType="after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left)">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6">
                                            <p:txEl>
                                              <p:pRg st="8" end="8"/>
                                            </p:txEl>
                                          </p:spTgt>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P spid="7" grpId="0" uiExpand="1"/>
      <p:bldP spid="8" grpId="0" uiExpand="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668628961"/>
              </p:ext>
            </p:extLst>
          </p:nvPr>
        </p:nvGraphicFramePr>
        <p:xfrm>
          <a:off x="304800" y="3124200"/>
          <a:ext cx="5105401" cy="1483360"/>
        </p:xfrm>
        <a:graphic>
          <a:graphicData uri="http://schemas.openxmlformats.org/drawingml/2006/table">
            <a:tbl>
              <a:tblPr firstRow="1" bandRow="1">
                <a:tableStyleId>{5940675A-B579-460E-94D1-54222C63F5DA}</a:tableStyleId>
              </a:tblPr>
              <a:tblGrid>
                <a:gridCol w="850900"/>
                <a:gridCol w="1082964"/>
                <a:gridCol w="1082964"/>
                <a:gridCol w="1005609"/>
                <a:gridCol w="1082964"/>
              </a:tblGrid>
              <a:tr h="370840">
                <a:tc>
                  <a:txBody>
                    <a:bodyPr/>
                    <a:lstStyle/>
                    <a:p>
                      <a:endParaRPr lang="en-US" dirty="0"/>
                    </a:p>
                  </a:txBody>
                  <a:tcPr/>
                </a:tc>
                <a:tc>
                  <a:txBody>
                    <a:bodyPr/>
                    <a:lstStyle/>
                    <a:p>
                      <a:pPr algn="ctr"/>
                      <a:r>
                        <a:rPr lang="en-US" b="1" dirty="0" err="1" smtClean="0"/>
                        <a:t>aP</a:t>
                      </a:r>
                      <a:endParaRPr lang="en-US" b="1" dirty="0"/>
                    </a:p>
                  </a:txBody>
                  <a:tcPr/>
                </a:tc>
                <a:tc>
                  <a:txBody>
                    <a:bodyPr/>
                    <a:lstStyle/>
                    <a:p>
                      <a:pPr algn="ctr"/>
                      <a:r>
                        <a:rPr lang="en-US" b="1" dirty="0" smtClean="0"/>
                        <a:t>AP</a:t>
                      </a:r>
                      <a:endParaRPr lang="en-US" b="1" dirty="0"/>
                    </a:p>
                  </a:txBody>
                  <a:tcPr/>
                </a:tc>
                <a:tc>
                  <a:txBody>
                    <a:bodyPr/>
                    <a:lstStyle/>
                    <a:p>
                      <a:pPr algn="ctr"/>
                      <a:r>
                        <a:rPr lang="en-US" b="1" dirty="0" smtClean="0"/>
                        <a:t>P</a:t>
                      </a:r>
                      <a:endParaRPr lang="en-US" b="1" dirty="0"/>
                    </a:p>
                  </a:txBody>
                  <a:tcPr/>
                </a:tc>
                <a:tc>
                  <a:txBody>
                    <a:bodyPr/>
                    <a:lstStyle/>
                    <a:p>
                      <a:pPr algn="ctr"/>
                      <a:r>
                        <a:rPr lang="en-US" dirty="0" smtClean="0"/>
                        <a:t>Total</a:t>
                      </a:r>
                      <a:endParaRPr lang="en-US" dirty="0"/>
                    </a:p>
                  </a:txBody>
                  <a:tcPr/>
                </a:tc>
              </a:tr>
              <a:tr h="370840">
                <a:tc>
                  <a:txBody>
                    <a:bodyPr/>
                    <a:lstStyle/>
                    <a:p>
                      <a:r>
                        <a:rPr lang="en-US" b="1" dirty="0" smtClean="0"/>
                        <a:t>M</a:t>
                      </a:r>
                      <a:endParaRPr lang="en-US" b="1" dirty="0"/>
                    </a:p>
                  </a:txBody>
                  <a:tcPr/>
                </a:tc>
                <a:tc>
                  <a:txBody>
                    <a:bodyPr/>
                    <a:lstStyle/>
                    <a:p>
                      <a:pPr algn="ctr"/>
                      <a:r>
                        <a:rPr lang="en-US" dirty="0" smtClean="0"/>
                        <a:t>20</a:t>
                      </a:r>
                      <a:endParaRPr lang="en-US" dirty="0"/>
                    </a:p>
                  </a:txBody>
                  <a:tcPr/>
                </a:tc>
                <a:tc>
                  <a:txBody>
                    <a:bodyPr/>
                    <a:lstStyle/>
                    <a:p>
                      <a:pPr algn="ctr"/>
                      <a:r>
                        <a:rPr lang="en-US" dirty="0" smtClean="0"/>
                        <a:t>30</a:t>
                      </a:r>
                      <a:endParaRPr lang="en-US" dirty="0"/>
                    </a:p>
                  </a:txBody>
                  <a:tcPr/>
                </a:tc>
                <a:tc>
                  <a:txBody>
                    <a:bodyPr/>
                    <a:lstStyle/>
                    <a:p>
                      <a:pPr algn="ctr"/>
                      <a:r>
                        <a:rPr lang="en-US" dirty="0" smtClean="0"/>
                        <a:t>33</a:t>
                      </a:r>
                      <a:endParaRPr lang="en-US" dirty="0"/>
                    </a:p>
                  </a:txBody>
                  <a:tcPr/>
                </a:tc>
                <a:tc>
                  <a:txBody>
                    <a:bodyPr/>
                    <a:lstStyle/>
                    <a:p>
                      <a:pPr algn="ctr"/>
                      <a:r>
                        <a:rPr lang="en-US" dirty="0" smtClean="0"/>
                        <a:t>83</a:t>
                      </a:r>
                      <a:endParaRPr lang="en-US" dirty="0"/>
                    </a:p>
                  </a:txBody>
                  <a:tcPr/>
                </a:tc>
              </a:tr>
              <a:tr h="370840">
                <a:tc>
                  <a:txBody>
                    <a:bodyPr/>
                    <a:lstStyle/>
                    <a:p>
                      <a:r>
                        <a:rPr lang="en-US" b="1" dirty="0" smtClean="0"/>
                        <a:t>F</a:t>
                      </a:r>
                      <a:endParaRPr lang="en-US" b="1" dirty="0"/>
                    </a:p>
                  </a:txBody>
                  <a:tcPr/>
                </a:tc>
                <a:tc>
                  <a:txBody>
                    <a:bodyPr/>
                    <a:lstStyle/>
                    <a:p>
                      <a:pPr algn="ctr"/>
                      <a:r>
                        <a:rPr lang="en-US" dirty="0" smtClean="0"/>
                        <a:t>20</a:t>
                      </a:r>
                      <a:endParaRPr lang="en-US" dirty="0"/>
                    </a:p>
                  </a:txBody>
                  <a:tcPr/>
                </a:tc>
                <a:tc>
                  <a:txBody>
                    <a:bodyPr/>
                    <a:lstStyle/>
                    <a:p>
                      <a:pPr algn="ctr"/>
                      <a:r>
                        <a:rPr lang="en-US" dirty="0" smtClean="0"/>
                        <a:t>45</a:t>
                      </a:r>
                      <a:endParaRPr lang="en-US" dirty="0"/>
                    </a:p>
                  </a:txBody>
                  <a:tcPr/>
                </a:tc>
                <a:tc>
                  <a:txBody>
                    <a:bodyPr/>
                    <a:lstStyle/>
                    <a:p>
                      <a:pPr algn="ctr"/>
                      <a:r>
                        <a:rPr lang="en-US" dirty="0" smtClean="0"/>
                        <a:t>10</a:t>
                      </a:r>
                      <a:endParaRPr lang="en-US" dirty="0"/>
                    </a:p>
                  </a:txBody>
                  <a:tcPr/>
                </a:tc>
                <a:tc>
                  <a:txBody>
                    <a:bodyPr/>
                    <a:lstStyle/>
                    <a:p>
                      <a:pPr algn="ctr"/>
                      <a:r>
                        <a:rPr lang="en-US" dirty="0" smtClean="0"/>
                        <a:t>75</a:t>
                      </a:r>
                      <a:endParaRPr lang="en-US" dirty="0"/>
                    </a:p>
                  </a:txBody>
                  <a:tcPr/>
                </a:tc>
              </a:tr>
              <a:tr h="370840">
                <a:tc>
                  <a:txBody>
                    <a:bodyPr/>
                    <a:lstStyle/>
                    <a:p>
                      <a:r>
                        <a:rPr lang="en-US" dirty="0" smtClean="0"/>
                        <a:t>Total</a:t>
                      </a:r>
                      <a:endParaRPr lang="en-US" dirty="0"/>
                    </a:p>
                  </a:txBody>
                  <a:tcPr/>
                </a:tc>
                <a:tc>
                  <a:txBody>
                    <a:bodyPr/>
                    <a:lstStyle/>
                    <a:p>
                      <a:pPr algn="ctr"/>
                      <a:r>
                        <a:rPr lang="en-US" dirty="0" smtClean="0"/>
                        <a:t>40</a:t>
                      </a:r>
                      <a:endParaRPr lang="en-US" dirty="0"/>
                    </a:p>
                  </a:txBody>
                  <a:tcPr/>
                </a:tc>
                <a:tc>
                  <a:txBody>
                    <a:bodyPr/>
                    <a:lstStyle/>
                    <a:p>
                      <a:pPr algn="ctr"/>
                      <a:r>
                        <a:rPr lang="en-US" dirty="0" smtClean="0"/>
                        <a:t>75</a:t>
                      </a:r>
                      <a:endParaRPr lang="en-US" dirty="0"/>
                    </a:p>
                  </a:txBody>
                  <a:tcPr/>
                </a:tc>
                <a:tc>
                  <a:txBody>
                    <a:bodyPr/>
                    <a:lstStyle/>
                    <a:p>
                      <a:pPr algn="ctr"/>
                      <a:r>
                        <a:rPr lang="en-US" dirty="0" smtClean="0"/>
                        <a:t>43</a:t>
                      </a:r>
                      <a:endParaRPr lang="en-US" dirty="0"/>
                    </a:p>
                  </a:txBody>
                  <a:tcPr/>
                </a:tc>
                <a:tc>
                  <a:txBody>
                    <a:bodyPr/>
                    <a:lstStyle/>
                    <a:p>
                      <a:pPr algn="ctr"/>
                      <a:r>
                        <a:rPr lang="en-US" dirty="0" smtClean="0"/>
                        <a:t>158</a:t>
                      </a:r>
                      <a:endParaRPr lang="en-US" dirty="0"/>
                    </a:p>
                  </a:txBody>
                  <a:tcPr/>
                </a:tc>
              </a:tr>
            </a:tbl>
          </a:graphicData>
        </a:graphic>
      </p:graphicFrame>
      <p:sp>
        <p:nvSpPr>
          <p:cNvPr id="3" name="TPQuestion"/>
          <p:cNvSpPr>
            <a:spLocks noGrp="1"/>
          </p:cNvSpPr>
          <p:nvPr>
            <p:ph type="title" idx="4294967295"/>
          </p:nvPr>
        </p:nvSpPr>
        <p:spPr>
          <a:xfrm>
            <a:off x="0" y="0"/>
            <a:ext cx="9144000" cy="2971800"/>
          </a:xfrm>
        </p:spPr>
        <p:txBody>
          <a:bodyPr>
            <a:noAutofit/>
          </a:bodyPr>
          <a:lstStyle/>
          <a:p>
            <a:r>
              <a:rPr lang="en-US" sz="2700" dirty="0"/>
              <a:t>Is there an association between faculty rank and gender?  For continuing faculty at many colleges, the ranks are Assistant Professor (</a:t>
            </a:r>
            <a:r>
              <a:rPr lang="en-US" sz="2700" dirty="0" err="1"/>
              <a:t>aP</a:t>
            </a:r>
            <a:r>
              <a:rPr lang="en-US" sz="2700" dirty="0"/>
              <a:t>) for beginning faculty members, Associate Professors (AP) after one promotion, and Professors (P), the highest rank, after another promotion.   The data below show faculty rank and gender for all continuing faculty members at one college in 2012</a:t>
            </a:r>
            <a:r>
              <a:rPr lang="en-US" sz="2700" dirty="0" smtClean="0"/>
              <a:t>. </a:t>
            </a:r>
            <a:r>
              <a:rPr lang="en-US" sz="2700" i="1" dirty="0">
                <a:solidFill>
                  <a:schemeClr val="accent5">
                    <a:lumMod val="75000"/>
                  </a:schemeClr>
                </a:solidFill>
              </a:rPr>
              <a:t>What is the null hypothesis</a:t>
            </a:r>
            <a:r>
              <a:rPr lang="en-US" sz="2700" i="1" dirty="0" smtClean="0">
                <a:solidFill>
                  <a:schemeClr val="accent5">
                    <a:lumMod val="75000"/>
                  </a:schemeClr>
                </a:solidFill>
              </a:rPr>
              <a:t>?</a:t>
            </a:r>
            <a:endParaRPr lang="en-US" sz="2700" i="1" dirty="0">
              <a:solidFill>
                <a:schemeClr val="accent5">
                  <a:lumMod val="75000"/>
                </a:schemeClr>
              </a:solidFill>
            </a:endParaRPr>
          </a:p>
        </p:txBody>
      </p:sp>
      <p:sp>
        <p:nvSpPr>
          <p:cNvPr id="4" name="TPAnswers"/>
          <p:cNvSpPr>
            <a:spLocks noGrp="1"/>
          </p:cNvSpPr>
          <p:nvPr>
            <p:ph sz="quarter" idx="4294967295"/>
            <p:custDataLst>
              <p:tags r:id="rId2"/>
            </p:custDataLst>
          </p:nvPr>
        </p:nvSpPr>
        <p:spPr>
          <a:xfrm>
            <a:off x="0" y="4800600"/>
            <a:ext cx="6076950" cy="2057400"/>
          </a:xfrm>
        </p:spPr>
        <p:txBody>
          <a:bodyPr>
            <a:noAutofit/>
          </a:bodyPr>
          <a:lstStyle/>
          <a:p>
            <a:pPr marL="514350" indent="-514350">
              <a:spcBef>
                <a:spcPts val="0"/>
              </a:spcBef>
              <a:buFont typeface="Wingdings"/>
              <a:buAutoNum type="alphaUcPeriod"/>
            </a:pPr>
            <a:r>
              <a:rPr lang="en-US" sz="2400" dirty="0" smtClean="0"/>
              <a:t>Faculty rank and gender are associated.</a:t>
            </a:r>
            <a:endParaRPr lang="en-US" sz="2400" dirty="0"/>
          </a:p>
          <a:p>
            <a:pPr marL="514350" indent="-514350">
              <a:spcBef>
                <a:spcPts val="0"/>
              </a:spcBef>
              <a:buFont typeface="Wingdings"/>
              <a:buAutoNum type="alphaUcPeriod"/>
            </a:pPr>
            <a:r>
              <a:rPr lang="en-US" sz="2400" dirty="0"/>
              <a:t>Faculty rank and gender are not associated</a:t>
            </a:r>
          </a:p>
          <a:p>
            <a:pPr marL="514350" indent="-514350">
              <a:spcBef>
                <a:spcPts val="0"/>
              </a:spcBef>
              <a:buFont typeface="Wingdings"/>
              <a:buAutoNum type="alphaUcPeriod"/>
            </a:pPr>
            <a:r>
              <a:rPr lang="en-US" sz="2400" dirty="0"/>
              <a:t>The assumed proportions are correct</a:t>
            </a:r>
          </a:p>
          <a:p>
            <a:pPr marL="514350" indent="-514350">
              <a:spcBef>
                <a:spcPts val="0"/>
              </a:spcBef>
              <a:buFont typeface="Wingdings"/>
              <a:buAutoNum type="alphaUcPeriod"/>
            </a:pPr>
            <a:r>
              <a:rPr lang="en-US" sz="2400" dirty="0"/>
              <a:t>The assumed proportions are not correct</a:t>
            </a:r>
          </a:p>
          <a:p>
            <a:pPr marL="514350" indent="-514350">
              <a:spcBef>
                <a:spcPts val="0"/>
              </a:spcBef>
              <a:buFont typeface="Wingdings"/>
              <a:buAutoNum type="alphaUcPeriod"/>
            </a:pPr>
            <a:r>
              <a:rPr lang="en-US" sz="2400" dirty="0"/>
              <a:t>All ranks are equally </a:t>
            </a:r>
            <a:r>
              <a:rPr lang="en-US" sz="2400" dirty="0" smtClean="0"/>
              <a:t>likely</a:t>
            </a:r>
            <a:endParaRPr lang="en-US" sz="2400" dirty="0"/>
          </a:p>
        </p:txBody>
      </p:sp>
    </p:spTree>
    <p:custDataLst>
      <p:tags r:id="rId1"/>
    </p:custDataLst>
    <p:extLst>
      <p:ext uri="{BB962C8B-B14F-4D97-AF65-F5344CB8AC3E}">
        <p14:creationId xmlns:p14="http://schemas.microsoft.com/office/powerpoint/2010/main" val="176150795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3993543871"/>
              </p:ext>
            </p:extLst>
          </p:nvPr>
        </p:nvGraphicFramePr>
        <p:xfrm>
          <a:off x="3733800" y="2971800"/>
          <a:ext cx="5105401" cy="1483360"/>
        </p:xfrm>
        <a:graphic>
          <a:graphicData uri="http://schemas.openxmlformats.org/drawingml/2006/table">
            <a:tbl>
              <a:tblPr firstRow="1" bandRow="1">
                <a:tableStyleId>{5940675A-B579-460E-94D1-54222C63F5DA}</a:tableStyleId>
              </a:tblPr>
              <a:tblGrid>
                <a:gridCol w="850900"/>
                <a:gridCol w="1082964"/>
                <a:gridCol w="1082964"/>
                <a:gridCol w="1005609"/>
                <a:gridCol w="1082964"/>
              </a:tblGrid>
              <a:tr h="370840">
                <a:tc>
                  <a:txBody>
                    <a:bodyPr/>
                    <a:lstStyle/>
                    <a:p>
                      <a:endParaRPr lang="en-US" dirty="0"/>
                    </a:p>
                  </a:txBody>
                  <a:tcPr/>
                </a:tc>
                <a:tc>
                  <a:txBody>
                    <a:bodyPr/>
                    <a:lstStyle/>
                    <a:p>
                      <a:pPr algn="ctr"/>
                      <a:r>
                        <a:rPr lang="en-US" b="1" dirty="0" err="1" smtClean="0"/>
                        <a:t>aP</a:t>
                      </a:r>
                      <a:endParaRPr lang="en-US" b="1" dirty="0"/>
                    </a:p>
                  </a:txBody>
                  <a:tcPr/>
                </a:tc>
                <a:tc>
                  <a:txBody>
                    <a:bodyPr/>
                    <a:lstStyle/>
                    <a:p>
                      <a:pPr algn="ctr"/>
                      <a:r>
                        <a:rPr lang="en-US" b="1" dirty="0" smtClean="0"/>
                        <a:t>AP</a:t>
                      </a:r>
                      <a:endParaRPr lang="en-US" b="1" dirty="0"/>
                    </a:p>
                  </a:txBody>
                  <a:tcPr/>
                </a:tc>
                <a:tc>
                  <a:txBody>
                    <a:bodyPr/>
                    <a:lstStyle/>
                    <a:p>
                      <a:pPr algn="ctr"/>
                      <a:r>
                        <a:rPr lang="en-US" b="1" dirty="0" smtClean="0"/>
                        <a:t>P</a:t>
                      </a:r>
                      <a:endParaRPr lang="en-US" b="1" dirty="0"/>
                    </a:p>
                  </a:txBody>
                  <a:tcPr/>
                </a:tc>
                <a:tc>
                  <a:txBody>
                    <a:bodyPr/>
                    <a:lstStyle/>
                    <a:p>
                      <a:pPr algn="ctr"/>
                      <a:r>
                        <a:rPr lang="en-US" dirty="0" smtClean="0"/>
                        <a:t>Total</a:t>
                      </a:r>
                      <a:endParaRPr lang="en-US" dirty="0"/>
                    </a:p>
                  </a:txBody>
                  <a:tcPr/>
                </a:tc>
              </a:tr>
              <a:tr h="370840">
                <a:tc>
                  <a:txBody>
                    <a:bodyPr/>
                    <a:lstStyle/>
                    <a:p>
                      <a:r>
                        <a:rPr lang="en-US" b="1" dirty="0" smtClean="0"/>
                        <a:t>M</a:t>
                      </a:r>
                      <a:endParaRPr lang="en-US" b="1" dirty="0"/>
                    </a:p>
                  </a:txBody>
                  <a:tcPr/>
                </a:tc>
                <a:tc>
                  <a:txBody>
                    <a:bodyPr/>
                    <a:lstStyle/>
                    <a:p>
                      <a:pPr algn="ctr"/>
                      <a:r>
                        <a:rPr lang="en-US" dirty="0" smtClean="0"/>
                        <a:t>20</a:t>
                      </a:r>
                      <a:endParaRPr lang="en-US" dirty="0"/>
                    </a:p>
                  </a:txBody>
                  <a:tcPr/>
                </a:tc>
                <a:tc>
                  <a:txBody>
                    <a:bodyPr/>
                    <a:lstStyle/>
                    <a:p>
                      <a:pPr algn="ctr"/>
                      <a:r>
                        <a:rPr lang="en-US" dirty="0" smtClean="0"/>
                        <a:t>30</a:t>
                      </a:r>
                      <a:endParaRPr lang="en-US" dirty="0"/>
                    </a:p>
                  </a:txBody>
                  <a:tcPr/>
                </a:tc>
                <a:tc>
                  <a:txBody>
                    <a:bodyPr/>
                    <a:lstStyle/>
                    <a:p>
                      <a:pPr algn="ctr"/>
                      <a:r>
                        <a:rPr lang="en-US" dirty="0" smtClean="0"/>
                        <a:t>33</a:t>
                      </a:r>
                      <a:endParaRPr lang="en-US" dirty="0"/>
                    </a:p>
                  </a:txBody>
                  <a:tcPr/>
                </a:tc>
                <a:tc>
                  <a:txBody>
                    <a:bodyPr/>
                    <a:lstStyle/>
                    <a:p>
                      <a:pPr algn="ctr"/>
                      <a:r>
                        <a:rPr lang="en-US" dirty="0" smtClean="0"/>
                        <a:t>83</a:t>
                      </a:r>
                      <a:endParaRPr lang="en-US" dirty="0"/>
                    </a:p>
                  </a:txBody>
                  <a:tcPr/>
                </a:tc>
              </a:tr>
              <a:tr h="370840">
                <a:tc>
                  <a:txBody>
                    <a:bodyPr/>
                    <a:lstStyle/>
                    <a:p>
                      <a:r>
                        <a:rPr lang="en-US" b="1" dirty="0" smtClean="0"/>
                        <a:t>F</a:t>
                      </a:r>
                      <a:endParaRPr lang="en-US" b="1" dirty="0"/>
                    </a:p>
                  </a:txBody>
                  <a:tcPr/>
                </a:tc>
                <a:tc>
                  <a:txBody>
                    <a:bodyPr/>
                    <a:lstStyle/>
                    <a:p>
                      <a:pPr algn="ctr"/>
                      <a:r>
                        <a:rPr lang="en-US" dirty="0" smtClean="0"/>
                        <a:t>20</a:t>
                      </a:r>
                      <a:endParaRPr lang="en-US" dirty="0"/>
                    </a:p>
                  </a:txBody>
                  <a:tcPr/>
                </a:tc>
                <a:tc>
                  <a:txBody>
                    <a:bodyPr/>
                    <a:lstStyle/>
                    <a:p>
                      <a:pPr algn="ctr"/>
                      <a:r>
                        <a:rPr lang="en-US" dirty="0" smtClean="0"/>
                        <a:t>45</a:t>
                      </a:r>
                      <a:endParaRPr lang="en-US" dirty="0"/>
                    </a:p>
                  </a:txBody>
                  <a:tcPr/>
                </a:tc>
                <a:tc>
                  <a:txBody>
                    <a:bodyPr/>
                    <a:lstStyle/>
                    <a:p>
                      <a:pPr algn="ctr"/>
                      <a:r>
                        <a:rPr lang="en-US" dirty="0" smtClean="0"/>
                        <a:t>10</a:t>
                      </a:r>
                      <a:endParaRPr lang="en-US" dirty="0"/>
                    </a:p>
                  </a:txBody>
                  <a:tcPr/>
                </a:tc>
                <a:tc>
                  <a:txBody>
                    <a:bodyPr/>
                    <a:lstStyle/>
                    <a:p>
                      <a:pPr algn="ctr"/>
                      <a:r>
                        <a:rPr lang="en-US" dirty="0" smtClean="0"/>
                        <a:t>75</a:t>
                      </a:r>
                      <a:endParaRPr lang="en-US" dirty="0"/>
                    </a:p>
                  </a:txBody>
                  <a:tcPr/>
                </a:tc>
              </a:tr>
              <a:tr h="370840">
                <a:tc>
                  <a:txBody>
                    <a:bodyPr/>
                    <a:lstStyle/>
                    <a:p>
                      <a:r>
                        <a:rPr lang="en-US" dirty="0" smtClean="0"/>
                        <a:t>Total</a:t>
                      </a:r>
                      <a:endParaRPr lang="en-US" dirty="0"/>
                    </a:p>
                  </a:txBody>
                  <a:tcPr/>
                </a:tc>
                <a:tc>
                  <a:txBody>
                    <a:bodyPr/>
                    <a:lstStyle/>
                    <a:p>
                      <a:pPr algn="ctr"/>
                      <a:r>
                        <a:rPr lang="en-US" dirty="0" smtClean="0"/>
                        <a:t>40</a:t>
                      </a:r>
                      <a:endParaRPr lang="en-US" dirty="0"/>
                    </a:p>
                  </a:txBody>
                  <a:tcPr/>
                </a:tc>
                <a:tc>
                  <a:txBody>
                    <a:bodyPr/>
                    <a:lstStyle/>
                    <a:p>
                      <a:pPr algn="ctr"/>
                      <a:r>
                        <a:rPr lang="en-US" dirty="0" smtClean="0"/>
                        <a:t>75</a:t>
                      </a:r>
                      <a:endParaRPr lang="en-US" dirty="0"/>
                    </a:p>
                  </a:txBody>
                  <a:tcPr/>
                </a:tc>
                <a:tc>
                  <a:txBody>
                    <a:bodyPr/>
                    <a:lstStyle/>
                    <a:p>
                      <a:pPr algn="ctr"/>
                      <a:r>
                        <a:rPr lang="en-US" dirty="0" smtClean="0"/>
                        <a:t>43</a:t>
                      </a:r>
                      <a:endParaRPr lang="en-US" dirty="0"/>
                    </a:p>
                  </a:txBody>
                  <a:tcPr/>
                </a:tc>
                <a:tc>
                  <a:txBody>
                    <a:bodyPr/>
                    <a:lstStyle/>
                    <a:p>
                      <a:pPr algn="ctr"/>
                      <a:r>
                        <a:rPr lang="en-US" dirty="0" smtClean="0"/>
                        <a:t>158</a:t>
                      </a:r>
                      <a:endParaRPr lang="en-US" dirty="0"/>
                    </a:p>
                  </a:txBody>
                  <a:tcPr/>
                </a:tc>
              </a:tr>
            </a:tbl>
          </a:graphicData>
        </a:graphic>
      </p:graphicFrame>
      <p:sp>
        <p:nvSpPr>
          <p:cNvPr id="3" name="TPQuestion"/>
          <p:cNvSpPr>
            <a:spLocks noGrp="1"/>
          </p:cNvSpPr>
          <p:nvPr>
            <p:ph type="title" idx="4294967295"/>
          </p:nvPr>
        </p:nvSpPr>
        <p:spPr>
          <a:xfrm>
            <a:off x="0" y="0"/>
            <a:ext cx="9144000" cy="3276600"/>
          </a:xfrm>
        </p:spPr>
        <p:txBody>
          <a:bodyPr>
            <a:noAutofit/>
          </a:bodyPr>
          <a:lstStyle/>
          <a:p>
            <a:r>
              <a:rPr lang="en-US" sz="2700" dirty="0"/>
              <a:t>Is there an association between faculty rank and gender?  For continuing faculty at many colleges, the ranks are Assistant Professor (</a:t>
            </a:r>
            <a:r>
              <a:rPr lang="en-US" sz="2700" dirty="0" err="1"/>
              <a:t>aP</a:t>
            </a:r>
            <a:r>
              <a:rPr lang="en-US" sz="2700" dirty="0"/>
              <a:t>) for beginning faculty members, Associate Professors (AP) after one promotion, and Professors (P), the highest rank, after another promotion.   The data below show faculty rank and gender for all continuing faculty members at one college in 2012</a:t>
            </a:r>
            <a:r>
              <a:rPr lang="en-US" sz="2700" dirty="0" smtClean="0"/>
              <a:t>. </a:t>
            </a:r>
            <a:r>
              <a:rPr lang="en-US" sz="2800" i="1" dirty="0">
                <a:solidFill>
                  <a:schemeClr val="accent1">
                    <a:lumMod val="75000"/>
                  </a:schemeClr>
                </a:solidFill>
              </a:rPr>
              <a:t>What is the expected count for female assistant professors (</a:t>
            </a:r>
            <a:r>
              <a:rPr lang="en-US" sz="2800" i="1" dirty="0" err="1">
                <a:solidFill>
                  <a:schemeClr val="accent1">
                    <a:lumMod val="75000"/>
                  </a:schemeClr>
                </a:solidFill>
              </a:rPr>
              <a:t>aP</a:t>
            </a:r>
            <a:r>
              <a:rPr lang="en-US" sz="2800" i="1" dirty="0">
                <a:solidFill>
                  <a:schemeClr val="accent1">
                    <a:lumMod val="75000"/>
                  </a:schemeClr>
                </a:solidFill>
              </a:rPr>
              <a:t>)?</a:t>
            </a:r>
          </a:p>
        </p:txBody>
      </p:sp>
      <p:sp>
        <p:nvSpPr>
          <p:cNvPr id="4" name="TPAnswers"/>
          <p:cNvSpPr>
            <a:spLocks noGrp="1"/>
          </p:cNvSpPr>
          <p:nvPr>
            <p:ph sz="quarter" idx="4294967295"/>
            <p:custDataLst>
              <p:tags r:id="rId2"/>
            </p:custDataLst>
          </p:nvPr>
        </p:nvSpPr>
        <p:spPr>
          <a:xfrm>
            <a:off x="381000" y="3352800"/>
            <a:ext cx="3048000" cy="2514600"/>
          </a:xfrm>
        </p:spPr>
        <p:txBody>
          <a:bodyPr>
            <a:noAutofit/>
          </a:bodyPr>
          <a:lstStyle/>
          <a:p>
            <a:pPr marL="457200" indent="-457200">
              <a:buAutoNum type="alphaUcPeriod"/>
            </a:pPr>
            <a:r>
              <a:rPr lang="en-US" sz="2800" dirty="0"/>
              <a:t>20</a:t>
            </a:r>
          </a:p>
          <a:p>
            <a:pPr marL="457200" indent="-457200">
              <a:buAutoNum type="alphaUcPeriod"/>
            </a:pPr>
            <a:r>
              <a:rPr lang="en-US" sz="2800" dirty="0"/>
              <a:t>40</a:t>
            </a:r>
          </a:p>
          <a:p>
            <a:pPr marL="457200" indent="-457200">
              <a:buAutoNum type="alphaUcPeriod"/>
            </a:pPr>
            <a:r>
              <a:rPr lang="en-US" sz="2800" dirty="0"/>
              <a:t>0.50</a:t>
            </a:r>
          </a:p>
          <a:p>
            <a:pPr marL="457200" indent="-457200">
              <a:buAutoNum type="alphaUcPeriod"/>
            </a:pPr>
            <a:r>
              <a:rPr lang="en-US" sz="2800" dirty="0"/>
              <a:t>19.0</a:t>
            </a:r>
          </a:p>
          <a:p>
            <a:pPr marL="457200" indent="-457200">
              <a:buAutoNum type="alphaUcPeriod"/>
            </a:pPr>
            <a:r>
              <a:rPr lang="en-US" sz="2800" dirty="0" smtClean="0"/>
              <a:t>24.1</a:t>
            </a:r>
            <a:endParaRPr lang="en-US" sz="2800" dirty="0"/>
          </a:p>
        </p:txBody>
      </p:sp>
    </p:spTree>
    <p:custDataLst>
      <p:tags r:id="rId1"/>
    </p:custDataLst>
    <p:extLst>
      <p:ext uri="{BB962C8B-B14F-4D97-AF65-F5344CB8AC3E}">
        <p14:creationId xmlns:p14="http://schemas.microsoft.com/office/powerpoint/2010/main" val="38167799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504159929"/>
              </p:ext>
            </p:extLst>
          </p:nvPr>
        </p:nvGraphicFramePr>
        <p:xfrm>
          <a:off x="3733800" y="2971800"/>
          <a:ext cx="5105401" cy="1483360"/>
        </p:xfrm>
        <a:graphic>
          <a:graphicData uri="http://schemas.openxmlformats.org/drawingml/2006/table">
            <a:tbl>
              <a:tblPr firstRow="1" bandRow="1">
                <a:tableStyleId>{5940675A-B579-460E-94D1-54222C63F5DA}</a:tableStyleId>
              </a:tblPr>
              <a:tblGrid>
                <a:gridCol w="850900"/>
                <a:gridCol w="1082964"/>
                <a:gridCol w="1082964"/>
                <a:gridCol w="1005609"/>
                <a:gridCol w="1082964"/>
              </a:tblGrid>
              <a:tr h="370840">
                <a:tc>
                  <a:txBody>
                    <a:bodyPr/>
                    <a:lstStyle/>
                    <a:p>
                      <a:endParaRPr lang="en-US" dirty="0"/>
                    </a:p>
                  </a:txBody>
                  <a:tcPr/>
                </a:tc>
                <a:tc>
                  <a:txBody>
                    <a:bodyPr/>
                    <a:lstStyle/>
                    <a:p>
                      <a:pPr algn="ctr"/>
                      <a:r>
                        <a:rPr lang="en-US" b="1" dirty="0" err="1" smtClean="0"/>
                        <a:t>aP</a:t>
                      </a:r>
                      <a:endParaRPr lang="en-US" b="1" dirty="0"/>
                    </a:p>
                  </a:txBody>
                  <a:tcPr/>
                </a:tc>
                <a:tc>
                  <a:txBody>
                    <a:bodyPr/>
                    <a:lstStyle/>
                    <a:p>
                      <a:pPr algn="ctr"/>
                      <a:r>
                        <a:rPr lang="en-US" b="1" dirty="0" smtClean="0"/>
                        <a:t>AP</a:t>
                      </a:r>
                      <a:endParaRPr lang="en-US" b="1" dirty="0"/>
                    </a:p>
                  </a:txBody>
                  <a:tcPr/>
                </a:tc>
                <a:tc>
                  <a:txBody>
                    <a:bodyPr/>
                    <a:lstStyle/>
                    <a:p>
                      <a:pPr algn="ctr"/>
                      <a:r>
                        <a:rPr lang="en-US" b="1" dirty="0" smtClean="0"/>
                        <a:t>P</a:t>
                      </a:r>
                      <a:endParaRPr lang="en-US" b="1" dirty="0"/>
                    </a:p>
                  </a:txBody>
                  <a:tcPr/>
                </a:tc>
                <a:tc>
                  <a:txBody>
                    <a:bodyPr/>
                    <a:lstStyle/>
                    <a:p>
                      <a:pPr algn="ctr"/>
                      <a:r>
                        <a:rPr lang="en-US" dirty="0" smtClean="0"/>
                        <a:t>Total</a:t>
                      </a:r>
                      <a:endParaRPr lang="en-US" dirty="0"/>
                    </a:p>
                  </a:txBody>
                  <a:tcPr/>
                </a:tc>
              </a:tr>
              <a:tr h="370840">
                <a:tc>
                  <a:txBody>
                    <a:bodyPr/>
                    <a:lstStyle/>
                    <a:p>
                      <a:r>
                        <a:rPr lang="en-US" b="1" dirty="0" smtClean="0"/>
                        <a:t>M</a:t>
                      </a:r>
                      <a:endParaRPr lang="en-US" b="1" dirty="0"/>
                    </a:p>
                  </a:txBody>
                  <a:tcPr/>
                </a:tc>
                <a:tc>
                  <a:txBody>
                    <a:bodyPr/>
                    <a:lstStyle/>
                    <a:p>
                      <a:pPr algn="ctr"/>
                      <a:r>
                        <a:rPr lang="en-US" dirty="0" smtClean="0"/>
                        <a:t>20</a:t>
                      </a:r>
                      <a:endParaRPr lang="en-US" dirty="0"/>
                    </a:p>
                  </a:txBody>
                  <a:tcPr/>
                </a:tc>
                <a:tc>
                  <a:txBody>
                    <a:bodyPr/>
                    <a:lstStyle/>
                    <a:p>
                      <a:pPr algn="ctr"/>
                      <a:r>
                        <a:rPr lang="en-US" dirty="0" smtClean="0"/>
                        <a:t>30</a:t>
                      </a:r>
                      <a:endParaRPr lang="en-US" dirty="0"/>
                    </a:p>
                  </a:txBody>
                  <a:tcPr/>
                </a:tc>
                <a:tc>
                  <a:txBody>
                    <a:bodyPr/>
                    <a:lstStyle/>
                    <a:p>
                      <a:pPr algn="ctr"/>
                      <a:r>
                        <a:rPr lang="en-US" dirty="0" smtClean="0"/>
                        <a:t>33</a:t>
                      </a:r>
                      <a:endParaRPr lang="en-US" dirty="0"/>
                    </a:p>
                  </a:txBody>
                  <a:tcPr/>
                </a:tc>
                <a:tc>
                  <a:txBody>
                    <a:bodyPr/>
                    <a:lstStyle/>
                    <a:p>
                      <a:pPr algn="ctr"/>
                      <a:r>
                        <a:rPr lang="en-US" dirty="0" smtClean="0"/>
                        <a:t>83</a:t>
                      </a:r>
                      <a:endParaRPr lang="en-US" dirty="0"/>
                    </a:p>
                  </a:txBody>
                  <a:tcPr/>
                </a:tc>
              </a:tr>
              <a:tr h="370840">
                <a:tc>
                  <a:txBody>
                    <a:bodyPr/>
                    <a:lstStyle/>
                    <a:p>
                      <a:r>
                        <a:rPr lang="en-US" b="1" dirty="0" smtClean="0"/>
                        <a:t>F</a:t>
                      </a:r>
                      <a:endParaRPr lang="en-US" b="1" dirty="0"/>
                    </a:p>
                  </a:txBody>
                  <a:tcPr/>
                </a:tc>
                <a:tc>
                  <a:txBody>
                    <a:bodyPr/>
                    <a:lstStyle/>
                    <a:p>
                      <a:pPr algn="ctr"/>
                      <a:r>
                        <a:rPr lang="en-US" dirty="0" smtClean="0"/>
                        <a:t>20</a:t>
                      </a:r>
                      <a:endParaRPr lang="en-US" dirty="0"/>
                    </a:p>
                  </a:txBody>
                  <a:tcPr/>
                </a:tc>
                <a:tc>
                  <a:txBody>
                    <a:bodyPr/>
                    <a:lstStyle/>
                    <a:p>
                      <a:pPr algn="ctr"/>
                      <a:r>
                        <a:rPr lang="en-US" dirty="0" smtClean="0"/>
                        <a:t>45</a:t>
                      </a:r>
                      <a:endParaRPr lang="en-US" dirty="0"/>
                    </a:p>
                  </a:txBody>
                  <a:tcPr/>
                </a:tc>
                <a:tc>
                  <a:txBody>
                    <a:bodyPr/>
                    <a:lstStyle/>
                    <a:p>
                      <a:pPr algn="ctr"/>
                      <a:r>
                        <a:rPr lang="en-US" dirty="0" smtClean="0"/>
                        <a:t>10</a:t>
                      </a:r>
                      <a:endParaRPr lang="en-US" dirty="0"/>
                    </a:p>
                  </a:txBody>
                  <a:tcPr/>
                </a:tc>
                <a:tc>
                  <a:txBody>
                    <a:bodyPr/>
                    <a:lstStyle/>
                    <a:p>
                      <a:pPr algn="ctr"/>
                      <a:r>
                        <a:rPr lang="en-US" dirty="0" smtClean="0"/>
                        <a:t>75</a:t>
                      </a:r>
                      <a:endParaRPr lang="en-US" dirty="0"/>
                    </a:p>
                  </a:txBody>
                  <a:tcPr/>
                </a:tc>
              </a:tr>
              <a:tr h="370840">
                <a:tc>
                  <a:txBody>
                    <a:bodyPr/>
                    <a:lstStyle/>
                    <a:p>
                      <a:r>
                        <a:rPr lang="en-US" dirty="0" smtClean="0"/>
                        <a:t>Total</a:t>
                      </a:r>
                      <a:endParaRPr lang="en-US" dirty="0"/>
                    </a:p>
                  </a:txBody>
                  <a:tcPr/>
                </a:tc>
                <a:tc>
                  <a:txBody>
                    <a:bodyPr/>
                    <a:lstStyle/>
                    <a:p>
                      <a:pPr algn="ctr"/>
                      <a:r>
                        <a:rPr lang="en-US" dirty="0" smtClean="0"/>
                        <a:t>40</a:t>
                      </a:r>
                      <a:endParaRPr lang="en-US" dirty="0"/>
                    </a:p>
                  </a:txBody>
                  <a:tcPr/>
                </a:tc>
                <a:tc>
                  <a:txBody>
                    <a:bodyPr/>
                    <a:lstStyle/>
                    <a:p>
                      <a:pPr algn="ctr"/>
                      <a:r>
                        <a:rPr lang="en-US" dirty="0" smtClean="0"/>
                        <a:t>75</a:t>
                      </a:r>
                      <a:endParaRPr lang="en-US" dirty="0"/>
                    </a:p>
                  </a:txBody>
                  <a:tcPr/>
                </a:tc>
                <a:tc>
                  <a:txBody>
                    <a:bodyPr/>
                    <a:lstStyle/>
                    <a:p>
                      <a:pPr algn="ctr"/>
                      <a:r>
                        <a:rPr lang="en-US" dirty="0" smtClean="0"/>
                        <a:t>43</a:t>
                      </a:r>
                      <a:endParaRPr lang="en-US" dirty="0"/>
                    </a:p>
                  </a:txBody>
                  <a:tcPr/>
                </a:tc>
                <a:tc>
                  <a:txBody>
                    <a:bodyPr/>
                    <a:lstStyle/>
                    <a:p>
                      <a:pPr algn="ctr"/>
                      <a:r>
                        <a:rPr lang="en-US" dirty="0" smtClean="0"/>
                        <a:t>158</a:t>
                      </a:r>
                      <a:endParaRPr lang="en-US" dirty="0"/>
                    </a:p>
                  </a:txBody>
                  <a:tcPr/>
                </a:tc>
              </a:tr>
            </a:tbl>
          </a:graphicData>
        </a:graphic>
      </p:graphicFrame>
      <p:sp>
        <p:nvSpPr>
          <p:cNvPr id="3" name="TPQuestion"/>
          <p:cNvSpPr>
            <a:spLocks noGrp="1"/>
          </p:cNvSpPr>
          <p:nvPr>
            <p:ph type="title" idx="4294967295"/>
          </p:nvPr>
        </p:nvSpPr>
        <p:spPr>
          <a:xfrm>
            <a:off x="0" y="0"/>
            <a:ext cx="9144000" cy="3276600"/>
          </a:xfrm>
        </p:spPr>
        <p:txBody>
          <a:bodyPr>
            <a:noAutofit/>
          </a:bodyPr>
          <a:lstStyle/>
          <a:p>
            <a:r>
              <a:rPr lang="en-US" sz="2700" dirty="0"/>
              <a:t>Is there an association between faculty rank and gender?  For continuing faculty at many colleges, the ranks are Assistant Professor (</a:t>
            </a:r>
            <a:r>
              <a:rPr lang="en-US" sz="2700" dirty="0" err="1"/>
              <a:t>aP</a:t>
            </a:r>
            <a:r>
              <a:rPr lang="en-US" sz="2700" dirty="0"/>
              <a:t>) for beginning faculty members, Associate Professors (AP) after one promotion, and Professors (P), the highest rank, after another promotion.   The data below show faculty rank and gender for all continuing faculty members at one college in 2012</a:t>
            </a:r>
            <a:r>
              <a:rPr lang="en-US" sz="2700" dirty="0" smtClean="0"/>
              <a:t>. </a:t>
            </a:r>
            <a:r>
              <a:rPr lang="en-US" sz="2800" i="1" dirty="0">
                <a:solidFill>
                  <a:schemeClr val="accent2">
                    <a:lumMod val="75000"/>
                  </a:schemeClr>
                </a:solidFill>
              </a:rPr>
              <a:t>What is the expected count for male associate professors (AP)?</a:t>
            </a:r>
          </a:p>
        </p:txBody>
      </p:sp>
      <p:sp>
        <p:nvSpPr>
          <p:cNvPr id="4" name="TPAnswers"/>
          <p:cNvSpPr>
            <a:spLocks noGrp="1"/>
          </p:cNvSpPr>
          <p:nvPr>
            <p:ph sz="quarter" idx="4294967295"/>
            <p:custDataLst>
              <p:tags r:id="rId2"/>
            </p:custDataLst>
          </p:nvPr>
        </p:nvSpPr>
        <p:spPr>
          <a:xfrm>
            <a:off x="381000" y="3352800"/>
            <a:ext cx="3048000" cy="2514600"/>
          </a:xfrm>
        </p:spPr>
        <p:txBody>
          <a:bodyPr>
            <a:noAutofit/>
          </a:bodyPr>
          <a:lstStyle/>
          <a:p>
            <a:pPr marL="514350" indent="-514350">
              <a:buAutoNum type="alphaUcPeriod"/>
            </a:pPr>
            <a:r>
              <a:rPr lang="en-US" sz="2800" dirty="0"/>
              <a:t>20</a:t>
            </a:r>
          </a:p>
          <a:p>
            <a:pPr marL="514350" indent="-514350">
              <a:buAutoNum type="alphaUcPeriod"/>
            </a:pPr>
            <a:r>
              <a:rPr lang="en-US" sz="2800" dirty="0"/>
              <a:t>30</a:t>
            </a:r>
          </a:p>
          <a:p>
            <a:pPr marL="514350" indent="-514350">
              <a:buAutoNum type="alphaUcPeriod"/>
            </a:pPr>
            <a:r>
              <a:rPr lang="en-US" sz="2800" dirty="0"/>
              <a:t>0.40</a:t>
            </a:r>
          </a:p>
          <a:p>
            <a:pPr marL="514350" indent="-514350">
              <a:buAutoNum type="alphaUcPeriod"/>
            </a:pPr>
            <a:r>
              <a:rPr lang="en-US" sz="2800" dirty="0"/>
              <a:t>28.2</a:t>
            </a:r>
          </a:p>
          <a:p>
            <a:pPr marL="514350" indent="-514350">
              <a:buAutoNum type="alphaUcPeriod"/>
            </a:pPr>
            <a:r>
              <a:rPr lang="en-US" sz="2800" dirty="0" smtClean="0"/>
              <a:t>39.4</a:t>
            </a:r>
            <a:endParaRPr lang="en-US" sz="2800" dirty="0"/>
          </a:p>
        </p:txBody>
      </p:sp>
    </p:spTree>
    <p:custDataLst>
      <p:tags r:id="rId1"/>
    </p:custDataLst>
    <p:extLst>
      <p:ext uri="{BB962C8B-B14F-4D97-AF65-F5344CB8AC3E}">
        <p14:creationId xmlns:p14="http://schemas.microsoft.com/office/powerpoint/2010/main" val="252731945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PQuestion"/>
          <p:cNvSpPr>
            <a:spLocks noGrp="1"/>
          </p:cNvSpPr>
          <p:nvPr>
            <p:ph type="title" idx="4294967295"/>
          </p:nvPr>
        </p:nvSpPr>
        <p:spPr>
          <a:xfrm>
            <a:off x="0" y="0"/>
            <a:ext cx="9144000" cy="3276600"/>
          </a:xfrm>
        </p:spPr>
        <p:txBody>
          <a:bodyPr>
            <a:noAutofit/>
          </a:bodyPr>
          <a:lstStyle/>
          <a:p>
            <a:r>
              <a:rPr lang="en-US" sz="2700" dirty="0"/>
              <a:t>Is there an association between faculty rank and gender?  For continuing faculty at many colleges, the ranks are Assistant Professor (</a:t>
            </a:r>
            <a:r>
              <a:rPr lang="en-US" sz="2700" dirty="0" err="1"/>
              <a:t>aP</a:t>
            </a:r>
            <a:r>
              <a:rPr lang="en-US" sz="2700" dirty="0"/>
              <a:t>) for beginning faculty members, Associate Professors (AP) after one promotion, and Professors (P), the highest rank, after another promotion.   The data below show faculty rank and gender for all continuing faculty members at one college in 2012</a:t>
            </a:r>
            <a:r>
              <a:rPr lang="en-US" sz="2700" dirty="0" smtClean="0"/>
              <a:t>. </a:t>
            </a:r>
            <a:r>
              <a:rPr lang="en-US" sz="2800" i="1" dirty="0">
                <a:solidFill>
                  <a:schemeClr val="accent3">
                    <a:lumMod val="75000"/>
                  </a:schemeClr>
                </a:solidFill>
              </a:rPr>
              <a:t>What is the contribution to the </a:t>
            </a:r>
            <a:r>
              <a:rPr lang="en-US" sz="2800" i="1" dirty="0">
                <a:solidFill>
                  <a:schemeClr val="accent3">
                    <a:lumMod val="75000"/>
                  </a:schemeClr>
                </a:solidFill>
                <a:sym typeface="Symbol"/>
              </a:rPr>
              <a:t></a:t>
            </a:r>
            <a:r>
              <a:rPr lang="en-US" sz="2800" i="1" baseline="30000" dirty="0">
                <a:solidFill>
                  <a:schemeClr val="accent3">
                    <a:lumMod val="75000"/>
                  </a:schemeClr>
                </a:solidFill>
                <a:sym typeface="Symbol"/>
              </a:rPr>
              <a:t>2</a:t>
            </a:r>
            <a:r>
              <a:rPr lang="en-US" sz="2800" i="1" dirty="0">
                <a:solidFill>
                  <a:schemeClr val="accent3">
                    <a:lumMod val="75000"/>
                  </a:schemeClr>
                </a:solidFill>
                <a:sym typeface="Symbol"/>
              </a:rPr>
              <a:t> statistic for </a:t>
            </a:r>
            <a:r>
              <a:rPr lang="en-US" sz="2800" i="1" dirty="0" smtClean="0">
                <a:solidFill>
                  <a:schemeClr val="accent3">
                    <a:lumMod val="75000"/>
                  </a:schemeClr>
                </a:solidFill>
              </a:rPr>
              <a:t>male </a:t>
            </a:r>
            <a:r>
              <a:rPr lang="en-US" sz="2800" i="1" dirty="0">
                <a:solidFill>
                  <a:schemeClr val="accent3">
                    <a:lumMod val="75000"/>
                  </a:schemeClr>
                </a:solidFill>
              </a:rPr>
              <a:t>AP?</a:t>
            </a:r>
          </a:p>
        </p:txBody>
      </p:sp>
      <p:sp>
        <p:nvSpPr>
          <p:cNvPr id="4" name="TPAnswers"/>
          <p:cNvSpPr>
            <a:spLocks noGrp="1"/>
          </p:cNvSpPr>
          <p:nvPr>
            <p:ph sz="quarter" idx="4294967295"/>
            <p:custDataLst>
              <p:tags r:id="rId2"/>
            </p:custDataLst>
          </p:nvPr>
        </p:nvSpPr>
        <p:spPr>
          <a:xfrm>
            <a:off x="381000" y="3352800"/>
            <a:ext cx="3048000" cy="2514600"/>
          </a:xfrm>
        </p:spPr>
        <p:txBody>
          <a:bodyPr>
            <a:noAutofit/>
          </a:bodyPr>
          <a:lstStyle/>
          <a:p>
            <a:pPr marL="514350" indent="-514350">
              <a:buAutoNum type="alphaUcPeriod"/>
            </a:pPr>
            <a:r>
              <a:rPr lang="en-US" sz="2800" dirty="0"/>
              <a:t>1.68</a:t>
            </a:r>
          </a:p>
          <a:p>
            <a:pPr marL="514350" indent="-514350">
              <a:buAutoNum type="alphaUcPeriod"/>
            </a:pPr>
            <a:r>
              <a:rPr lang="en-US" sz="2800" dirty="0"/>
              <a:t>2.24</a:t>
            </a:r>
          </a:p>
          <a:p>
            <a:pPr marL="514350" indent="-514350">
              <a:buAutoNum type="alphaUcPeriod"/>
            </a:pPr>
            <a:r>
              <a:rPr lang="en-US" sz="2800" dirty="0"/>
              <a:t>4.41</a:t>
            </a:r>
          </a:p>
          <a:p>
            <a:pPr marL="514350" indent="-514350">
              <a:buAutoNum type="alphaUcPeriod"/>
            </a:pPr>
            <a:r>
              <a:rPr lang="en-US" sz="2800" dirty="0"/>
              <a:t>6.57</a:t>
            </a:r>
          </a:p>
          <a:p>
            <a:pPr marL="514350" indent="-514350">
              <a:buAutoNum type="alphaUcPeriod"/>
            </a:pPr>
            <a:r>
              <a:rPr lang="en-US" sz="2800" dirty="0"/>
              <a:t>20.95</a:t>
            </a:r>
          </a:p>
        </p:txBody>
      </p:sp>
      <p:graphicFrame>
        <p:nvGraphicFramePr>
          <p:cNvPr id="11" name="Table 10"/>
          <p:cNvGraphicFramePr>
            <a:graphicFrameLocks noGrp="1"/>
          </p:cNvGraphicFramePr>
          <p:nvPr>
            <p:extLst>
              <p:ext uri="{D42A27DB-BD31-4B8C-83A1-F6EECF244321}">
                <p14:modId xmlns:p14="http://schemas.microsoft.com/office/powerpoint/2010/main" val="2530563930"/>
              </p:ext>
            </p:extLst>
          </p:nvPr>
        </p:nvGraphicFramePr>
        <p:xfrm>
          <a:off x="3810000" y="3329940"/>
          <a:ext cx="5029199" cy="1112520"/>
        </p:xfrm>
        <a:graphic>
          <a:graphicData uri="http://schemas.openxmlformats.org/drawingml/2006/table">
            <a:tbl>
              <a:tblPr firstRow="1" bandRow="1">
                <a:tableStyleId>{5940675A-B579-460E-94D1-54222C63F5DA}</a:tableStyleId>
              </a:tblPr>
              <a:tblGrid>
                <a:gridCol w="870438"/>
                <a:gridCol w="1547446"/>
                <a:gridCol w="1354015"/>
                <a:gridCol w="1257300"/>
              </a:tblGrid>
              <a:tr h="370840">
                <a:tc>
                  <a:txBody>
                    <a:bodyPr/>
                    <a:lstStyle/>
                    <a:p>
                      <a:endParaRPr lang="en-US" dirty="0"/>
                    </a:p>
                  </a:txBody>
                  <a:tcPr/>
                </a:tc>
                <a:tc>
                  <a:txBody>
                    <a:bodyPr/>
                    <a:lstStyle/>
                    <a:p>
                      <a:pPr algn="ctr"/>
                      <a:r>
                        <a:rPr lang="en-US" dirty="0" err="1" smtClean="0"/>
                        <a:t>aP</a:t>
                      </a:r>
                      <a:endParaRPr lang="en-US" dirty="0"/>
                    </a:p>
                  </a:txBody>
                  <a:tcPr/>
                </a:tc>
                <a:tc>
                  <a:txBody>
                    <a:bodyPr/>
                    <a:lstStyle/>
                    <a:p>
                      <a:pPr algn="ctr"/>
                      <a:r>
                        <a:rPr lang="en-US" dirty="0" smtClean="0"/>
                        <a:t>AP</a:t>
                      </a:r>
                      <a:endParaRPr lang="en-US" dirty="0"/>
                    </a:p>
                  </a:txBody>
                  <a:tcPr/>
                </a:tc>
                <a:tc>
                  <a:txBody>
                    <a:bodyPr/>
                    <a:lstStyle/>
                    <a:p>
                      <a:pPr algn="ctr"/>
                      <a:r>
                        <a:rPr lang="en-US" dirty="0" smtClean="0"/>
                        <a:t>P</a:t>
                      </a:r>
                      <a:endParaRPr lang="en-US" dirty="0"/>
                    </a:p>
                  </a:txBody>
                  <a:tcPr/>
                </a:tc>
              </a:tr>
              <a:tr h="370840">
                <a:tc>
                  <a:txBody>
                    <a:bodyPr/>
                    <a:lstStyle/>
                    <a:p>
                      <a:r>
                        <a:rPr lang="en-US" dirty="0" smtClean="0"/>
                        <a:t>M</a:t>
                      </a:r>
                      <a:endParaRPr lang="en-US" dirty="0"/>
                    </a:p>
                  </a:txBody>
                  <a:tcPr/>
                </a:tc>
                <a:tc>
                  <a:txBody>
                    <a:bodyPr/>
                    <a:lstStyle/>
                    <a:p>
                      <a:pPr algn="ctr"/>
                      <a:r>
                        <a:rPr lang="en-US" b="1" dirty="0" smtClean="0">
                          <a:solidFill>
                            <a:schemeClr val="accent5">
                              <a:lumMod val="75000"/>
                            </a:schemeClr>
                          </a:solidFill>
                        </a:rPr>
                        <a:t>20</a:t>
                      </a:r>
                      <a:r>
                        <a:rPr lang="en-US" dirty="0" smtClean="0"/>
                        <a:t> </a:t>
                      </a:r>
                      <a:r>
                        <a:rPr lang="en-US" dirty="0" smtClean="0"/>
                        <a:t>(          )</a:t>
                      </a:r>
                      <a:endParaRPr lang="en-US" dirty="0"/>
                    </a:p>
                  </a:txBody>
                  <a:tcPr/>
                </a:tc>
                <a:tc>
                  <a:txBody>
                    <a:bodyPr/>
                    <a:lstStyle/>
                    <a:p>
                      <a:pPr algn="ctr"/>
                      <a:r>
                        <a:rPr lang="en-US" b="1" dirty="0" smtClean="0">
                          <a:solidFill>
                            <a:schemeClr val="accent5">
                              <a:lumMod val="75000"/>
                            </a:schemeClr>
                          </a:solidFill>
                        </a:rPr>
                        <a:t>30</a:t>
                      </a:r>
                      <a:r>
                        <a:rPr lang="en-US" dirty="0" smtClean="0"/>
                        <a:t> </a:t>
                      </a:r>
                      <a:r>
                        <a:rPr lang="en-US" dirty="0" smtClean="0"/>
                        <a:t>(          )</a:t>
                      </a:r>
                      <a:endParaRPr lang="en-US" dirty="0"/>
                    </a:p>
                  </a:txBody>
                  <a:tcPr/>
                </a:tc>
                <a:tc>
                  <a:txBody>
                    <a:bodyPr/>
                    <a:lstStyle/>
                    <a:p>
                      <a:pPr algn="ctr"/>
                      <a:r>
                        <a:rPr lang="en-US" b="1" dirty="0" smtClean="0">
                          <a:solidFill>
                            <a:schemeClr val="accent5">
                              <a:lumMod val="75000"/>
                            </a:schemeClr>
                          </a:solidFill>
                        </a:rPr>
                        <a:t>33 </a:t>
                      </a:r>
                      <a:r>
                        <a:rPr lang="en-US" dirty="0" smtClean="0"/>
                        <a:t>(          )</a:t>
                      </a:r>
                      <a:endParaRPr lang="en-US" dirty="0"/>
                    </a:p>
                  </a:txBody>
                  <a:tcPr/>
                </a:tc>
              </a:tr>
              <a:tr h="370840">
                <a:tc>
                  <a:txBody>
                    <a:bodyPr/>
                    <a:lstStyle/>
                    <a:p>
                      <a:r>
                        <a:rPr lang="en-US" dirty="0" smtClean="0"/>
                        <a:t>F</a:t>
                      </a:r>
                      <a:endParaRPr lang="en-US" dirty="0"/>
                    </a:p>
                  </a:txBody>
                  <a:tcPr/>
                </a:tc>
                <a:tc>
                  <a:txBody>
                    <a:bodyPr/>
                    <a:lstStyle/>
                    <a:p>
                      <a:pPr algn="ctr"/>
                      <a:r>
                        <a:rPr kumimoji="0" lang="en-US" b="1" kern="1200" dirty="0" smtClean="0">
                          <a:solidFill>
                            <a:schemeClr val="accent5">
                              <a:lumMod val="75000"/>
                            </a:schemeClr>
                          </a:solidFill>
                          <a:latin typeface="+mn-lt"/>
                          <a:ea typeface="+mn-ea"/>
                          <a:cs typeface="+mn-cs"/>
                        </a:rPr>
                        <a:t>20</a:t>
                      </a:r>
                      <a:r>
                        <a:rPr lang="en-US" dirty="0" smtClean="0"/>
                        <a:t> </a:t>
                      </a:r>
                      <a:r>
                        <a:rPr lang="en-US" dirty="0" smtClean="0"/>
                        <a:t>(          )</a:t>
                      </a:r>
                      <a:endParaRPr lang="en-US" dirty="0"/>
                    </a:p>
                  </a:txBody>
                  <a:tcPr/>
                </a:tc>
                <a:tc>
                  <a:txBody>
                    <a:bodyPr/>
                    <a:lstStyle/>
                    <a:p>
                      <a:pPr algn="ctr"/>
                      <a:r>
                        <a:rPr lang="en-US" b="1" dirty="0" smtClean="0">
                          <a:solidFill>
                            <a:schemeClr val="accent5">
                              <a:lumMod val="75000"/>
                            </a:schemeClr>
                          </a:solidFill>
                        </a:rPr>
                        <a:t>45</a:t>
                      </a:r>
                      <a:r>
                        <a:rPr lang="en-US" dirty="0" smtClean="0"/>
                        <a:t> </a:t>
                      </a:r>
                      <a:r>
                        <a:rPr lang="en-US" dirty="0" smtClean="0"/>
                        <a:t>(          )</a:t>
                      </a:r>
                      <a:endParaRPr lang="en-US" dirty="0"/>
                    </a:p>
                  </a:txBody>
                  <a:tcPr/>
                </a:tc>
                <a:tc>
                  <a:txBody>
                    <a:bodyPr/>
                    <a:lstStyle/>
                    <a:p>
                      <a:pPr algn="ctr"/>
                      <a:r>
                        <a:rPr lang="en-US" b="1" dirty="0" smtClean="0">
                          <a:solidFill>
                            <a:schemeClr val="accent5">
                              <a:lumMod val="75000"/>
                            </a:schemeClr>
                          </a:solidFill>
                        </a:rPr>
                        <a:t>10</a:t>
                      </a:r>
                      <a:r>
                        <a:rPr lang="en-US" dirty="0" smtClean="0"/>
                        <a:t> </a:t>
                      </a:r>
                      <a:r>
                        <a:rPr lang="en-US" dirty="0" smtClean="0"/>
                        <a:t>(          )</a:t>
                      </a:r>
                      <a:endParaRPr lang="en-US" dirty="0"/>
                    </a:p>
                  </a:txBody>
                  <a:tcPr/>
                </a:tc>
              </a:tr>
            </a:tbl>
          </a:graphicData>
        </a:graphic>
      </p:graphicFrame>
      <p:sp>
        <p:nvSpPr>
          <p:cNvPr id="12" name="TextBox 11"/>
          <p:cNvSpPr txBox="1"/>
          <p:nvPr/>
        </p:nvSpPr>
        <p:spPr>
          <a:xfrm>
            <a:off x="3810000" y="2895600"/>
            <a:ext cx="3505200" cy="400110"/>
          </a:xfrm>
          <a:prstGeom prst="rect">
            <a:avLst/>
          </a:prstGeom>
          <a:noFill/>
        </p:spPr>
        <p:txBody>
          <a:bodyPr wrap="square" rtlCol="0">
            <a:spAutoFit/>
          </a:bodyPr>
          <a:lstStyle/>
          <a:p>
            <a:r>
              <a:rPr lang="en-US" sz="2000" b="1" dirty="0" smtClean="0">
                <a:solidFill>
                  <a:schemeClr val="accent5">
                    <a:lumMod val="75000"/>
                  </a:schemeClr>
                </a:solidFill>
              </a:rPr>
              <a:t>Observed </a:t>
            </a:r>
            <a:r>
              <a:rPr lang="en-US" sz="2000" b="1" dirty="0" smtClean="0">
                <a:solidFill>
                  <a:schemeClr val="tx2"/>
                </a:solidFill>
              </a:rPr>
              <a:t>(</a:t>
            </a:r>
            <a:r>
              <a:rPr lang="en-US" sz="2000" b="1" dirty="0" smtClean="0">
                <a:solidFill>
                  <a:schemeClr val="accent2">
                    <a:lumMod val="75000"/>
                  </a:schemeClr>
                </a:solidFill>
              </a:rPr>
              <a:t>Expected</a:t>
            </a:r>
            <a:r>
              <a:rPr lang="en-US" sz="2000" b="1" dirty="0" smtClean="0">
                <a:solidFill>
                  <a:schemeClr val="tx2"/>
                </a:solidFill>
              </a:rPr>
              <a:t>)</a:t>
            </a:r>
            <a:r>
              <a:rPr lang="en-US" sz="2000" b="1" dirty="0" smtClean="0">
                <a:solidFill>
                  <a:schemeClr val="accent5">
                    <a:lumMod val="75000"/>
                  </a:schemeClr>
                </a:solidFill>
              </a:rPr>
              <a:t> </a:t>
            </a:r>
            <a:r>
              <a:rPr lang="en-US" sz="2000" b="1" dirty="0" smtClean="0">
                <a:solidFill>
                  <a:schemeClr val="tx2"/>
                </a:solidFill>
              </a:rPr>
              <a:t>Values</a:t>
            </a:r>
            <a:endParaRPr lang="en-US" sz="2000" b="1" dirty="0">
              <a:solidFill>
                <a:schemeClr val="tx2"/>
              </a:solidFill>
            </a:endParaRPr>
          </a:p>
        </p:txBody>
      </p:sp>
    </p:spTree>
    <p:custDataLst>
      <p:tags r:id="rId1"/>
    </p:custDataLst>
    <p:extLst>
      <p:ext uri="{BB962C8B-B14F-4D97-AF65-F5344CB8AC3E}">
        <p14:creationId xmlns:p14="http://schemas.microsoft.com/office/powerpoint/2010/main" val="293612885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PQuestion"/>
          <p:cNvSpPr>
            <a:spLocks noGrp="1"/>
          </p:cNvSpPr>
          <p:nvPr>
            <p:ph type="title" idx="4294967295"/>
          </p:nvPr>
        </p:nvSpPr>
        <p:spPr>
          <a:xfrm>
            <a:off x="0" y="0"/>
            <a:ext cx="9144000" cy="3276600"/>
          </a:xfrm>
        </p:spPr>
        <p:txBody>
          <a:bodyPr>
            <a:noAutofit/>
          </a:bodyPr>
          <a:lstStyle/>
          <a:p>
            <a:r>
              <a:rPr lang="en-US" sz="2700" dirty="0"/>
              <a:t>Is there an association between faculty rank and gender?  For continuing faculty at many colleges, the ranks are Assistant Professor (</a:t>
            </a:r>
            <a:r>
              <a:rPr lang="en-US" sz="2700" dirty="0" err="1"/>
              <a:t>aP</a:t>
            </a:r>
            <a:r>
              <a:rPr lang="en-US" sz="2700" dirty="0"/>
              <a:t>) for beginning faculty members, Associate Professors (AP) after one promotion, and Professors (P), the highest rank, after another promotion.   The data below show faculty rank and gender for all continuing faculty members at one college in 2012</a:t>
            </a:r>
            <a:r>
              <a:rPr lang="en-US" sz="2700" dirty="0" smtClean="0"/>
              <a:t>. </a:t>
            </a:r>
            <a:r>
              <a:rPr lang="en-US" sz="2800" i="1" dirty="0">
                <a:solidFill>
                  <a:srgbClr val="7030A0"/>
                </a:solidFill>
              </a:rPr>
              <a:t>What is the contribution to the </a:t>
            </a:r>
            <a:r>
              <a:rPr lang="en-US" sz="2800" i="1" dirty="0">
                <a:solidFill>
                  <a:srgbClr val="7030A0"/>
                </a:solidFill>
                <a:sym typeface="Symbol"/>
              </a:rPr>
              <a:t></a:t>
            </a:r>
            <a:r>
              <a:rPr lang="en-US" sz="2800" i="1" baseline="30000" dirty="0">
                <a:solidFill>
                  <a:srgbClr val="7030A0"/>
                </a:solidFill>
                <a:sym typeface="Symbol"/>
              </a:rPr>
              <a:t>2</a:t>
            </a:r>
            <a:r>
              <a:rPr lang="en-US" sz="2800" i="1" dirty="0">
                <a:solidFill>
                  <a:srgbClr val="7030A0"/>
                </a:solidFill>
                <a:sym typeface="Symbol"/>
              </a:rPr>
              <a:t> statistic for </a:t>
            </a:r>
            <a:r>
              <a:rPr lang="en-US" sz="2800" i="1" dirty="0" smtClean="0">
                <a:solidFill>
                  <a:srgbClr val="7030A0"/>
                </a:solidFill>
              </a:rPr>
              <a:t>female </a:t>
            </a:r>
            <a:r>
              <a:rPr lang="en-US" sz="2800" i="1" dirty="0" err="1">
                <a:solidFill>
                  <a:srgbClr val="7030A0"/>
                </a:solidFill>
              </a:rPr>
              <a:t>aP</a:t>
            </a:r>
            <a:r>
              <a:rPr lang="en-US" sz="2800" i="1" dirty="0" smtClean="0">
                <a:solidFill>
                  <a:srgbClr val="7030A0"/>
                </a:solidFill>
              </a:rPr>
              <a:t>?</a:t>
            </a:r>
            <a:endParaRPr lang="en-US" sz="2800" i="1" dirty="0">
              <a:solidFill>
                <a:srgbClr val="7030A0"/>
              </a:solidFill>
            </a:endParaRPr>
          </a:p>
        </p:txBody>
      </p:sp>
      <p:sp>
        <p:nvSpPr>
          <p:cNvPr id="4" name="TPAnswers"/>
          <p:cNvSpPr>
            <a:spLocks noGrp="1"/>
          </p:cNvSpPr>
          <p:nvPr>
            <p:ph sz="quarter" idx="4294967295"/>
            <p:custDataLst>
              <p:tags r:id="rId2"/>
            </p:custDataLst>
          </p:nvPr>
        </p:nvSpPr>
        <p:spPr>
          <a:xfrm>
            <a:off x="381000" y="3352800"/>
            <a:ext cx="3048000" cy="2514600"/>
          </a:xfrm>
        </p:spPr>
        <p:txBody>
          <a:bodyPr>
            <a:noAutofit/>
          </a:bodyPr>
          <a:lstStyle/>
          <a:p>
            <a:pPr marL="514350" indent="-514350">
              <a:buAutoNum type="alphaUcPeriod"/>
            </a:pPr>
            <a:r>
              <a:rPr lang="en-US" sz="2800" dirty="0"/>
              <a:t>0.05</a:t>
            </a:r>
          </a:p>
          <a:p>
            <a:pPr marL="514350" indent="-514350">
              <a:buAutoNum type="alphaUcPeriod"/>
            </a:pPr>
            <a:r>
              <a:rPr lang="en-US" sz="2800" dirty="0"/>
              <a:t>0.68</a:t>
            </a:r>
          </a:p>
          <a:p>
            <a:pPr marL="514350" indent="-514350">
              <a:buAutoNum type="alphaUcPeriod"/>
            </a:pPr>
            <a:r>
              <a:rPr lang="en-US" sz="2800" dirty="0"/>
              <a:t>2.41</a:t>
            </a:r>
          </a:p>
          <a:p>
            <a:pPr marL="514350" indent="-514350">
              <a:buAutoNum type="alphaUcPeriod"/>
            </a:pPr>
            <a:r>
              <a:rPr lang="en-US" sz="2800" dirty="0"/>
              <a:t>6.57</a:t>
            </a:r>
          </a:p>
          <a:p>
            <a:pPr marL="514350" indent="-514350">
              <a:buAutoNum type="alphaUcPeriod"/>
            </a:pPr>
            <a:r>
              <a:rPr lang="en-US" sz="2800" dirty="0"/>
              <a:t>8.95</a:t>
            </a:r>
          </a:p>
        </p:txBody>
      </p:sp>
      <p:sp>
        <p:nvSpPr>
          <p:cNvPr id="12" name="TextBox 11"/>
          <p:cNvSpPr txBox="1"/>
          <p:nvPr/>
        </p:nvSpPr>
        <p:spPr>
          <a:xfrm>
            <a:off x="3810000" y="2895600"/>
            <a:ext cx="3505200" cy="400110"/>
          </a:xfrm>
          <a:prstGeom prst="rect">
            <a:avLst/>
          </a:prstGeom>
          <a:noFill/>
        </p:spPr>
        <p:txBody>
          <a:bodyPr wrap="square" rtlCol="0">
            <a:spAutoFit/>
          </a:bodyPr>
          <a:lstStyle/>
          <a:p>
            <a:r>
              <a:rPr lang="en-US" sz="2000" b="1" dirty="0" smtClean="0">
                <a:solidFill>
                  <a:schemeClr val="accent5">
                    <a:lumMod val="75000"/>
                  </a:schemeClr>
                </a:solidFill>
              </a:rPr>
              <a:t>Observed </a:t>
            </a:r>
            <a:r>
              <a:rPr lang="en-US" sz="2000" b="1" dirty="0" smtClean="0">
                <a:solidFill>
                  <a:schemeClr val="tx2"/>
                </a:solidFill>
              </a:rPr>
              <a:t>(</a:t>
            </a:r>
            <a:r>
              <a:rPr lang="en-US" sz="2000" b="1" dirty="0" smtClean="0">
                <a:solidFill>
                  <a:schemeClr val="accent2">
                    <a:lumMod val="75000"/>
                  </a:schemeClr>
                </a:solidFill>
              </a:rPr>
              <a:t>Expected</a:t>
            </a:r>
            <a:r>
              <a:rPr lang="en-US" sz="2000" b="1" dirty="0" smtClean="0">
                <a:solidFill>
                  <a:schemeClr val="tx2"/>
                </a:solidFill>
              </a:rPr>
              <a:t>)</a:t>
            </a:r>
            <a:r>
              <a:rPr lang="en-US" sz="2000" b="1" dirty="0" smtClean="0">
                <a:solidFill>
                  <a:schemeClr val="accent5">
                    <a:lumMod val="75000"/>
                  </a:schemeClr>
                </a:solidFill>
              </a:rPr>
              <a:t> </a:t>
            </a:r>
            <a:r>
              <a:rPr lang="en-US" sz="2000" b="1" dirty="0" smtClean="0">
                <a:solidFill>
                  <a:schemeClr val="tx2"/>
                </a:solidFill>
              </a:rPr>
              <a:t>Values</a:t>
            </a:r>
            <a:endParaRPr lang="en-US" sz="2000" b="1" dirty="0">
              <a:solidFill>
                <a:schemeClr val="tx2"/>
              </a:solidFill>
            </a:endParaRPr>
          </a:p>
        </p:txBody>
      </p:sp>
      <p:graphicFrame>
        <p:nvGraphicFramePr>
          <p:cNvPr id="13" name="Table 12"/>
          <p:cNvGraphicFramePr>
            <a:graphicFrameLocks noGrp="1"/>
          </p:cNvGraphicFramePr>
          <p:nvPr>
            <p:extLst>
              <p:ext uri="{D42A27DB-BD31-4B8C-83A1-F6EECF244321}">
                <p14:modId xmlns:p14="http://schemas.microsoft.com/office/powerpoint/2010/main" val="3226904613"/>
              </p:ext>
            </p:extLst>
          </p:nvPr>
        </p:nvGraphicFramePr>
        <p:xfrm>
          <a:off x="3810000" y="3329940"/>
          <a:ext cx="5029199" cy="1112520"/>
        </p:xfrm>
        <a:graphic>
          <a:graphicData uri="http://schemas.openxmlformats.org/drawingml/2006/table">
            <a:tbl>
              <a:tblPr firstRow="1" bandRow="1">
                <a:tableStyleId>{5940675A-B579-460E-94D1-54222C63F5DA}</a:tableStyleId>
              </a:tblPr>
              <a:tblGrid>
                <a:gridCol w="870438"/>
                <a:gridCol w="1547446"/>
                <a:gridCol w="1354015"/>
                <a:gridCol w="1257300"/>
              </a:tblGrid>
              <a:tr h="370840">
                <a:tc>
                  <a:txBody>
                    <a:bodyPr/>
                    <a:lstStyle/>
                    <a:p>
                      <a:endParaRPr lang="en-US" dirty="0"/>
                    </a:p>
                  </a:txBody>
                  <a:tcPr/>
                </a:tc>
                <a:tc>
                  <a:txBody>
                    <a:bodyPr/>
                    <a:lstStyle/>
                    <a:p>
                      <a:pPr algn="ctr"/>
                      <a:r>
                        <a:rPr lang="en-US" dirty="0" err="1" smtClean="0"/>
                        <a:t>aP</a:t>
                      </a:r>
                      <a:endParaRPr lang="en-US" dirty="0"/>
                    </a:p>
                  </a:txBody>
                  <a:tcPr/>
                </a:tc>
                <a:tc>
                  <a:txBody>
                    <a:bodyPr/>
                    <a:lstStyle/>
                    <a:p>
                      <a:pPr algn="ctr"/>
                      <a:r>
                        <a:rPr lang="en-US" dirty="0" smtClean="0"/>
                        <a:t>AP</a:t>
                      </a:r>
                      <a:endParaRPr lang="en-US" dirty="0"/>
                    </a:p>
                  </a:txBody>
                  <a:tcPr/>
                </a:tc>
                <a:tc>
                  <a:txBody>
                    <a:bodyPr/>
                    <a:lstStyle/>
                    <a:p>
                      <a:pPr algn="ctr"/>
                      <a:r>
                        <a:rPr lang="en-US" dirty="0" smtClean="0"/>
                        <a:t>P</a:t>
                      </a:r>
                      <a:endParaRPr lang="en-US" dirty="0"/>
                    </a:p>
                  </a:txBody>
                  <a:tcPr/>
                </a:tc>
              </a:tr>
              <a:tr h="370840">
                <a:tc>
                  <a:txBody>
                    <a:bodyPr/>
                    <a:lstStyle/>
                    <a:p>
                      <a:r>
                        <a:rPr lang="en-US" dirty="0" smtClean="0"/>
                        <a:t>M</a:t>
                      </a:r>
                      <a:endParaRPr lang="en-US" dirty="0"/>
                    </a:p>
                  </a:txBody>
                  <a:tcPr/>
                </a:tc>
                <a:tc>
                  <a:txBody>
                    <a:bodyPr/>
                    <a:lstStyle/>
                    <a:p>
                      <a:pPr algn="ctr"/>
                      <a:r>
                        <a:rPr lang="en-US" b="1" dirty="0" smtClean="0">
                          <a:solidFill>
                            <a:schemeClr val="accent5">
                              <a:lumMod val="75000"/>
                            </a:schemeClr>
                          </a:solidFill>
                        </a:rPr>
                        <a:t>20</a:t>
                      </a:r>
                      <a:r>
                        <a:rPr lang="en-US" dirty="0" smtClean="0"/>
                        <a:t> </a:t>
                      </a:r>
                      <a:r>
                        <a:rPr lang="en-US" dirty="0" smtClean="0"/>
                        <a:t>(          )</a:t>
                      </a:r>
                      <a:endParaRPr lang="en-US" dirty="0"/>
                    </a:p>
                  </a:txBody>
                  <a:tcPr/>
                </a:tc>
                <a:tc>
                  <a:txBody>
                    <a:bodyPr/>
                    <a:lstStyle/>
                    <a:p>
                      <a:pPr algn="ctr"/>
                      <a:r>
                        <a:rPr lang="en-US" b="1" dirty="0" smtClean="0">
                          <a:solidFill>
                            <a:schemeClr val="accent5">
                              <a:lumMod val="75000"/>
                            </a:schemeClr>
                          </a:solidFill>
                        </a:rPr>
                        <a:t>30</a:t>
                      </a:r>
                      <a:r>
                        <a:rPr lang="en-US" dirty="0" smtClean="0"/>
                        <a:t> </a:t>
                      </a:r>
                      <a:r>
                        <a:rPr lang="en-US" dirty="0" smtClean="0"/>
                        <a:t>(          )</a:t>
                      </a:r>
                      <a:endParaRPr lang="en-US" dirty="0"/>
                    </a:p>
                  </a:txBody>
                  <a:tcPr/>
                </a:tc>
                <a:tc>
                  <a:txBody>
                    <a:bodyPr/>
                    <a:lstStyle/>
                    <a:p>
                      <a:pPr algn="ctr"/>
                      <a:r>
                        <a:rPr lang="en-US" b="1" dirty="0" smtClean="0">
                          <a:solidFill>
                            <a:schemeClr val="accent5">
                              <a:lumMod val="75000"/>
                            </a:schemeClr>
                          </a:solidFill>
                        </a:rPr>
                        <a:t>33 </a:t>
                      </a:r>
                      <a:r>
                        <a:rPr lang="en-US" dirty="0" smtClean="0"/>
                        <a:t>(          )</a:t>
                      </a:r>
                      <a:endParaRPr lang="en-US" dirty="0"/>
                    </a:p>
                  </a:txBody>
                  <a:tcPr/>
                </a:tc>
              </a:tr>
              <a:tr h="370840">
                <a:tc>
                  <a:txBody>
                    <a:bodyPr/>
                    <a:lstStyle/>
                    <a:p>
                      <a:r>
                        <a:rPr lang="en-US" dirty="0" smtClean="0"/>
                        <a:t>F</a:t>
                      </a:r>
                      <a:endParaRPr lang="en-US" dirty="0"/>
                    </a:p>
                  </a:txBody>
                  <a:tcPr/>
                </a:tc>
                <a:tc>
                  <a:txBody>
                    <a:bodyPr/>
                    <a:lstStyle/>
                    <a:p>
                      <a:pPr algn="ctr"/>
                      <a:r>
                        <a:rPr kumimoji="0" lang="en-US" b="1" kern="1200" dirty="0" smtClean="0">
                          <a:solidFill>
                            <a:schemeClr val="accent5">
                              <a:lumMod val="75000"/>
                            </a:schemeClr>
                          </a:solidFill>
                          <a:latin typeface="+mn-lt"/>
                          <a:ea typeface="+mn-ea"/>
                          <a:cs typeface="+mn-cs"/>
                        </a:rPr>
                        <a:t>20</a:t>
                      </a:r>
                      <a:r>
                        <a:rPr lang="en-US" dirty="0" smtClean="0"/>
                        <a:t> </a:t>
                      </a:r>
                      <a:r>
                        <a:rPr lang="en-US" dirty="0" smtClean="0"/>
                        <a:t>(          )</a:t>
                      </a:r>
                      <a:endParaRPr lang="en-US" dirty="0"/>
                    </a:p>
                  </a:txBody>
                  <a:tcPr/>
                </a:tc>
                <a:tc>
                  <a:txBody>
                    <a:bodyPr/>
                    <a:lstStyle/>
                    <a:p>
                      <a:pPr algn="ctr"/>
                      <a:r>
                        <a:rPr lang="en-US" b="1" dirty="0" smtClean="0">
                          <a:solidFill>
                            <a:schemeClr val="accent5">
                              <a:lumMod val="75000"/>
                            </a:schemeClr>
                          </a:solidFill>
                        </a:rPr>
                        <a:t>45</a:t>
                      </a:r>
                      <a:r>
                        <a:rPr lang="en-US" dirty="0" smtClean="0"/>
                        <a:t> </a:t>
                      </a:r>
                      <a:r>
                        <a:rPr lang="en-US" dirty="0" smtClean="0"/>
                        <a:t>(          )</a:t>
                      </a:r>
                      <a:endParaRPr lang="en-US" dirty="0"/>
                    </a:p>
                  </a:txBody>
                  <a:tcPr/>
                </a:tc>
                <a:tc>
                  <a:txBody>
                    <a:bodyPr/>
                    <a:lstStyle/>
                    <a:p>
                      <a:pPr algn="ctr"/>
                      <a:r>
                        <a:rPr lang="en-US" b="1" dirty="0" smtClean="0">
                          <a:solidFill>
                            <a:schemeClr val="accent5">
                              <a:lumMod val="75000"/>
                            </a:schemeClr>
                          </a:solidFill>
                        </a:rPr>
                        <a:t>10</a:t>
                      </a:r>
                      <a:r>
                        <a:rPr lang="en-US" dirty="0" smtClean="0"/>
                        <a:t> </a:t>
                      </a:r>
                      <a:r>
                        <a:rPr lang="en-US" dirty="0" smtClean="0"/>
                        <a:t>(          )</a:t>
                      </a:r>
                      <a:endParaRPr lang="en-US" dirty="0"/>
                    </a:p>
                  </a:txBody>
                  <a:tcPr/>
                </a:tc>
              </a:tr>
            </a:tbl>
          </a:graphicData>
        </a:graphic>
      </p:graphicFrame>
    </p:spTree>
    <p:custDataLst>
      <p:tags r:id="rId1"/>
    </p:custDataLst>
    <p:extLst>
      <p:ext uri="{BB962C8B-B14F-4D97-AF65-F5344CB8AC3E}">
        <p14:creationId xmlns:p14="http://schemas.microsoft.com/office/powerpoint/2010/main" val="211757815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PAnswers"/>
          <p:cNvSpPr>
            <a:spLocks noGrp="1"/>
          </p:cNvSpPr>
          <p:nvPr>
            <p:ph sz="quarter" idx="4294967295"/>
            <p:custDataLst>
              <p:tags r:id="rId2"/>
            </p:custDataLst>
          </p:nvPr>
        </p:nvSpPr>
        <p:spPr>
          <a:xfrm>
            <a:off x="304800" y="4495800"/>
            <a:ext cx="3048000" cy="2311206"/>
          </a:xfrm>
        </p:spPr>
        <p:txBody>
          <a:bodyPr>
            <a:noAutofit/>
          </a:bodyPr>
          <a:lstStyle/>
          <a:p>
            <a:pPr marL="514350" indent="-514350">
              <a:buAutoNum type="alphaUcPeriod"/>
            </a:pPr>
            <a:r>
              <a:rPr lang="en-US" sz="2600" dirty="0"/>
              <a:t>1.36</a:t>
            </a:r>
          </a:p>
          <a:p>
            <a:pPr marL="514350" indent="-514350">
              <a:buAutoNum type="alphaUcPeriod"/>
            </a:pPr>
            <a:r>
              <a:rPr lang="en-US" sz="2600" dirty="0"/>
              <a:t>1.68</a:t>
            </a:r>
          </a:p>
          <a:p>
            <a:pPr marL="514350" indent="-514350">
              <a:buAutoNum type="alphaUcPeriod"/>
            </a:pPr>
            <a:r>
              <a:rPr lang="en-US" sz="2600" dirty="0"/>
              <a:t>4.41</a:t>
            </a:r>
          </a:p>
          <a:p>
            <a:pPr marL="514350" indent="-514350">
              <a:buAutoNum type="alphaUcPeriod"/>
            </a:pPr>
            <a:r>
              <a:rPr lang="en-US" sz="2600" dirty="0"/>
              <a:t>6.57</a:t>
            </a:r>
          </a:p>
          <a:p>
            <a:pPr marL="514350" indent="-514350">
              <a:buAutoNum type="alphaUcPeriod"/>
            </a:pPr>
            <a:r>
              <a:rPr lang="en-US" sz="2600" dirty="0"/>
              <a:t>14.91</a:t>
            </a:r>
          </a:p>
        </p:txBody>
      </p:sp>
      <p:sp>
        <p:nvSpPr>
          <p:cNvPr id="3" name="TPQuestion"/>
          <p:cNvSpPr>
            <a:spLocks noGrp="1"/>
          </p:cNvSpPr>
          <p:nvPr>
            <p:ph type="title" idx="4294967295"/>
          </p:nvPr>
        </p:nvSpPr>
        <p:spPr>
          <a:xfrm>
            <a:off x="0" y="3048"/>
            <a:ext cx="9144000" cy="3095655"/>
          </a:xfrm>
        </p:spPr>
        <p:txBody>
          <a:bodyPr>
            <a:noAutofit/>
          </a:bodyPr>
          <a:lstStyle/>
          <a:p>
            <a:r>
              <a:rPr lang="en-US" sz="2700" dirty="0"/>
              <a:t>Is there an association between faculty rank and gender?  For continuing faculty at many colleges, the ranks are Assistant Professor (</a:t>
            </a:r>
            <a:r>
              <a:rPr lang="en-US" sz="2700" dirty="0" err="1"/>
              <a:t>aP</a:t>
            </a:r>
            <a:r>
              <a:rPr lang="en-US" sz="2700" dirty="0"/>
              <a:t>) for beginning faculty members, Associate Professors (AP) after one promotion, and Professors (P), the highest rank, after another promotion.   The data below show faculty rank and gender for all continuing faculty members at one college in 2012</a:t>
            </a:r>
            <a:r>
              <a:rPr lang="en-US" sz="2700" dirty="0" smtClean="0"/>
              <a:t>. </a:t>
            </a:r>
            <a:r>
              <a:rPr lang="en-US" sz="2800" dirty="0">
                <a:solidFill>
                  <a:schemeClr val="accent4">
                    <a:lumMod val="75000"/>
                  </a:schemeClr>
                </a:solidFill>
              </a:rPr>
              <a:t>What is the </a:t>
            </a:r>
            <a:r>
              <a:rPr lang="en-US" sz="2800" dirty="0">
                <a:solidFill>
                  <a:schemeClr val="accent4">
                    <a:lumMod val="75000"/>
                  </a:schemeClr>
                </a:solidFill>
                <a:sym typeface="Symbol"/>
              </a:rPr>
              <a:t></a:t>
            </a:r>
            <a:r>
              <a:rPr lang="en-US" sz="2800" baseline="30000" dirty="0">
                <a:solidFill>
                  <a:schemeClr val="accent4">
                    <a:lumMod val="75000"/>
                  </a:schemeClr>
                </a:solidFill>
                <a:sym typeface="Symbol"/>
              </a:rPr>
              <a:t>2</a:t>
            </a:r>
            <a:r>
              <a:rPr lang="en-US" sz="2800" dirty="0">
                <a:solidFill>
                  <a:schemeClr val="accent4">
                    <a:lumMod val="75000"/>
                  </a:schemeClr>
                </a:solidFill>
                <a:sym typeface="Symbol"/>
              </a:rPr>
              <a:t> statistic</a:t>
            </a:r>
            <a:r>
              <a:rPr lang="en-US" sz="2800" dirty="0" smtClean="0">
                <a:solidFill>
                  <a:schemeClr val="accent4">
                    <a:lumMod val="75000"/>
                  </a:schemeClr>
                </a:solidFill>
              </a:rPr>
              <a:t>?</a:t>
            </a:r>
            <a:endParaRPr lang="en-US" sz="2800" i="1" dirty="0">
              <a:solidFill>
                <a:schemeClr val="accent4">
                  <a:lumMod val="75000"/>
                </a:schemeClr>
              </a:solidFill>
            </a:endParaRPr>
          </a:p>
        </p:txBody>
      </p:sp>
      <p:sp>
        <p:nvSpPr>
          <p:cNvPr id="12" name="TextBox 11"/>
          <p:cNvSpPr txBox="1"/>
          <p:nvPr/>
        </p:nvSpPr>
        <p:spPr>
          <a:xfrm>
            <a:off x="76200" y="3048000"/>
            <a:ext cx="3505200" cy="400110"/>
          </a:xfrm>
          <a:prstGeom prst="rect">
            <a:avLst/>
          </a:prstGeom>
          <a:noFill/>
        </p:spPr>
        <p:txBody>
          <a:bodyPr wrap="square" rtlCol="0">
            <a:spAutoFit/>
          </a:bodyPr>
          <a:lstStyle/>
          <a:p>
            <a:r>
              <a:rPr lang="en-US" sz="2000" b="1" dirty="0" smtClean="0">
                <a:solidFill>
                  <a:schemeClr val="accent5">
                    <a:lumMod val="75000"/>
                  </a:schemeClr>
                </a:solidFill>
              </a:rPr>
              <a:t>Observed </a:t>
            </a:r>
            <a:r>
              <a:rPr lang="en-US" sz="2000" b="1" dirty="0" smtClean="0">
                <a:solidFill>
                  <a:schemeClr val="tx2"/>
                </a:solidFill>
              </a:rPr>
              <a:t>(</a:t>
            </a:r>
            <a:r>
              <a:rPr lang="en-US" sz="2000" b="1" dirty="0" smtClean="0">
                <a:solidFill>
                  <a:schemeClr val="accent2">
                    <a:lumMod val="75000"/>
                  </a:schemeClr>
                </a:solidFill>
              </a:rPr>
              <a:t>Expected</a:t>
            </a:r>
            <a:r>
              <a:rPr lang="en-US" sz="2000" b="1" dirty="0" smtClean="0">
                <a:solidFill>
                  <a:schemeClr val="tx2"/>
                </a:solidFill>
              </a:rPr>
              <a:t>)</a:t>
            </a:r>
            <a:r>
              <a:rPr lang="en-US" sz="2000" b="1" dirty="0" smtClean="0">
                <a:solidFill>
                  <a:schemeClr val="accent5">
                    <a:lumMod val="75000"/>
                  </a:schemeClr>
                </a:solidFill>
              </a:rPr>
              <a:t> </a:t>
            </a:r>
            <a:r>
              <a:rPr lang="en-US" sz="2000" b="1" dirty="0" smtClean="0">
                <a:solidFill>
                  <a:schemeClr val="tx2"/>
                </a:solidFill>
              </a:rPr>
              <a:t>Values</a:t>
            </a:r>
            <a:endParaRPr lang="en-US" sz="2000" b="1" dirty="0">
              <a:solidFill>
                <a:schemeClr val="tx2"/>
              </a:solidFill>
            </a:endParaRPr>
          </a:p>
        </p:txBody>
      </p:sp>
      <p:graphicFrame>
        <p:nvGraphicFramePr>
          <p:cNvPr id="14" name="Table 13"/>
          <p:cNvGraphicFramePr>
            <a:graphicFrameLocks noGrp="1"/>
          </p:cNvGraphicFramePr>
          <p:nvPr>
            <p:extLst>
              <p:ext uri="{D42A27DB-BD31-4B8C-83A1-F6EECF244321}">
                <p14:modId xmlns:p14="http://schemas.microsoft.com/office/powerpoint/2010/main" val="3054144927"/>
              </p:ext>
            </p:extLst>
          </p:nvPr>
        </p:nvGraphicFramePr>
        <p:xfrm>
          <a:off x="4876800" y="3442014"/>
          <a:ext cx="4191000" cy="1112520"/>
        </p:xfrm>
        <a:graphic>
          <a:graphicData uri="http://schemas.openxmlformats.org/drawingml/2006/table">
            <a:tbl>
              <a:tblPr firstRow="1" bandRow="1">
                <a:tableStyleId>{5940675A-B579-460E-94D1-54222C63F5DA}</a:tableStyleId>
              </a:tblPr>
              <a:tblGrid>
                <a:gridCol w="533400"/>
                <a:gridCol w="1219200"/>
                <a:gridCol w="1219200"/>
                <a:gridCol w="1219200"/>
              </a:tblGrid>
              <a:tr h="370840">
                <a:tc>
                  <a:txBody>
                    <a:bodyPr/>
                    <a:lstStyle/>
                    <a:p>
                      <a:endParaRPr lang="en-US" dirty="0"/>
                    </a:p>
                  </a:txBody>
                  <a:tcPr/>
                </a:tc>
                <a:tc>
                  <a:txBody>
                    <a:bodyPr/>
                    <a:lstStyle/>
                    <a:p>
                      <a:pPr algn="ctr"/>
                      <a:r>
                        <a:rPr lang="en-US" dirty="0" err="1" smtClean="0"/>
                        <a:t>aP</a:t>
                      </a:r>
                      <a:endParaRPr lang="en-US" dirty="0"/>
                    </a:p>
                  </a:txBody>
                  <a:tcPr/>
                </a:tc>
                <a:tc>
                  <a:txBody>
                    <a:bodyPr/>
                    <a:lstStyle/>
                    <a:p>
                      <a:pPr algn="ctr"/>
                      <a:r>
                        <a:rPr lang="en-US" dirty="0" smtClean="0"/>
                        <a:t>AP</a:t>
                      </a:r>
                      <a:endParaRPr lang="en-US" dirty="0"/>
                    </a:p>
                  </a:txBody>
                  <a:tcPr/>
                </a:tc>
                <a:tc>
                  <a:txBody>
                    <a:bodyPr/>
                    <a:lstStyle/>
                    <a:p>
                      <a:pPr algn="ctr"/>
                      <a:r>
                        <a:rPr lang="en-US" dirty="0" smtClean="0"/>
                        <a:t>P</a:t>
                      </a:r>
                      <a:endParaRPr lang="en-US" dirty="0"/>
                    </a:p>
                  </a:txBody>
                  <a:tcPr/>
                </a:tc>
              </a:tr>
              <a:tr h="370840">
                <a:tc>
                  <a:txBody>
                    <a:bodyPr/>
                    <a:lstStyle/>
                    <a:p>
                      <a:r>
                        <a:rPr lang="en-US" dirty="0" smtClean="0"/>
                        <a:t>M</a:t>
                      </a:r>
                      <a:endParaRPr lang="en-US" dirty="0"/>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tr>
              <a:tr h="370840">
                <a:tc>
                  <a:txBody>
                    <a:bodyPr/>
                    <a:lstStyle/>
                    <a:p>
                      <a:r>
                        <a:rPr lang="en-US" dirty="0" smtClean="0"/>
                        <a:t>F</a:t>
                      </a:r>
                      <a:endParaRPr lang="en-US" dirty="0"/>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tr>
            </a:tbl>
          </a:graphicData>
        </a:graphic>
      </p:graphicFrame>
      <p:sp>
        <p:nvSpPr>
          <p:cNvPr id="15" name="TextBox 14"/>
          <p:cNvSpPr txBox="1"/>
          <p:nvPr/>
        </p:nvSpPr>
        <p:spPr>
          <a:xfrm>
            <a:off x="4876800" y="3041904"/>
            <a:ext cx="1981200" cy="400110"/>
          </a:xfrm>
          <a:prstGeom prst="rect">
            <a:avLst/>
          </a:prstGeom>
          <a:noFill/>
        </p:spPr>
        <p:txBody>
          <a:bodyPr wrap="square" rtlCol="0">
            <a:spAutoFit/>
          </a:bodyPr>
          <a:lstStyle/>
          <a:p>
            <a:r>
              <a:rPr lang="en-US" sz="2000" b="1" dirty="0" smtClean="0">
                <a:solidFill>
                  <a:schemeClr val="tx2"/>
                </a:solidFill>
              </a:rPr>
              <a:t>Contribution</a:t>
            </a:r>
            <a:endParaRPr lang="en-US" sz="2000" b="1" dirty="0">
              <a:solidFill>
                <a:schemeClr val="tx2"/>
              </a:solidFill>
            </a:endParaRPr>
          </a:p>
        </p:txBody>
      </p:sp>
      <p:graphicFrame>
        <p:nvGraphicFramePr>
          <p:cNvPr id="16" name="Table 15"/>
          <p:cNvGraphicFramePr>
            <a:graphicFrameLocks noGrp="1"/>
          </p:cNvGraphicFramePr>
          <p:nvPr>
            <p:extLst>
              <p:ext uri="{D42A27DB-BD31-4B8C-83A1-F6EECF244321}">
                <p14:modId xmlns:p14="http://schemas.microsoft.com/office/powerpoint/2010/main" val="3840939001"/>
              </p:ext>
            </p:extLst>
          </p:nvPr>
        </p:nvGraphicFramePr>
        <p:xfrm>
          <a:off x="85345" y="3442014"/>
          <a:ext cx="4410456" cy="1112520"/>
        </p:xfrm>
        <a:graphic>
          <a:graphicData uri="http://schemas.openxmlformats.org/drawingml/2006/table">
            <a:tbl>
              <a:tblPr firstRow="1" bandRow="1">
                <a:tableStyleId>{5940675A-B579-460E-94D1-54222C63F5DA}</a:tableStyleId>
              </a:tblPr>
              <a:tblGrid>
                <a:gridCol w="371855"/>
                <a:gridCol w="1371600"/>
                <a:gridCol w="1295400"/>
                <a:gridCol w="1371601"/>
              </a:tblGrid>
              <a:tr h="370840">
                <a:tc>
                  <a:txBody>
                    <a:bodyPr/>
                    <a:lstStyle/>
                    <a:p>
                      <a:endParaRPr lang="en-US" dirty="0"/>
                    </a:p>
                  </a:txBody>
                  <a:tcPr/>
                </a:tc>
                <a:tc>
                  <a:txBody>
                    <a:bodyPr/>
                    <a:lstStyle/>
                    <a:p>
                      <a:pPr algn="ctr"/>
                      <a:r>
                        <a:rPr lang="en-US" dirty="0" err="1" smtClean="0"/>
                        <a:t>aP</a:t>
                      </a:r>
                      <a:endParaRPr lang="en-US" dirty="0"/>
                    </a:p>
                  </a:txBody>
                  <a:tcPr/>
                </a:tc>
                <a:tc>
                  <a:txBody>
                    <a:bodyPr/>
                    <a:lstStyle/>
                    <a:p>
                      <a:pPr algn="ctr"/>
                      <a:r>
                        <a:rPr lang="en-US" dirty="0" smtClean="0"/>
                        <a:t>AP</a:t>
                      </a:r>
                      <a:endParaRPr lang="en-US" dirty="0"/>
                    </a:p>
                  </a:txBody>
                  <a:tcPr/>
                </a:tc>
                <a:tc>
                  <a:txBody>
                    <a:bodyPr/>
                    <a:lstStyle/>
                    <a:p>
                      <a:pPr algn="ctr"/>
                      <a:r>
                        <a:rPr lang="en-US" dirty="0" smtClean="0"/>
                        <a:t>P</a:t>
                      </a:r>
                      <a:endParaRPr lang="en-US" dirty="0"/>
                    </a:p>
                  </a:txBody>
                  <a:tcPr/>
                </a:tc>
              </a:tr>
              <a:tr h="370840">
                <a:tc>
                  <a:txBody>
                    <a:bodyPr/>
                    <a:lstStyle/>
                    <a:p>
                      <a:r>
                        <a:rPr lang="en-US" dirty="0" smtClean="0"/>
                        <a:t>M</a:t>
                      </a:r>
                      <a:endParaRPr lang="en-US" dirty="0"/>
                    </a:p>
                  </a:txBody>
                  <a:tcPr/>
                </a:tc>
                <a:tc>
                  <a:txBody>
                    <a:bodyPr/>
                    <a:lstStyle/>
                    <a:p>
                      <a:pPr algn="ctr"/>
                      <a:r>
                        <a:rPr lang="en-US" b="1" dirty="0" smtClean="0">
                          <a:solidFill>
                            <a:schemeClr val="accent5">
                              <a:lumMod val="75000"/>
                            </a:schemeClr>
                          </a:solidFill>
                        </a:rPr>
                        <a:t>20</a:t>
                      </a:r>
                      <a:r>
                        <a:rPr lang="en-US" dirty="0" smtClean="0"/>
                        <a:t> </a:t>
                      </a:r>
                      <a:r>
                        <a:rPr lang="en-US" dirty="0" smtClean="0"/>
                        <a:t>(          )</a:t>
                      </a:r>
                      <a:endParaRPr lang="en-US" dirty="0"/>
                    </a:p>
                  </a:txBody>
                  <a:tcPr/>
                </a:tc>
                <a:tc>
                  <a:txBody>
                    <a:bodyPr/>
                    <a:lstStyle/>
                    <a:p>
                      <a:pPr algn="ctr"/>
                      <a:r>
                        <a:rPr lang="en-US" b="1" dirty="0" smtClean="0">
                          <a:solidFill>
                            <a:schemeClr val="accent5">
                              <a:lumMod val="75000"/>
                            </a:schemeClr>
                          </a:solidFill>
                        </a:rPr>
                        <a:t>30</a:t>
                      </a:r>
                      <a:r>
                        <a:rPr lang="en-US" dirty="0" smtClean="0"/>
                        <a:t> </a:t>
                      </a:r>
                      <a:r>
                        <a:rPr lang="en-US" dirty="0" smtClean="0"/>
                        <a:t>(          )</a:t>
                      </a:r>
                      <a:endParaRPr lang="en-US" dirty="0"/>
                    </a:p>
                  </a:txBody>
                  <a:tcPr/>
                </a:tc>
                <a:tc>
                  <a:txBody>
                    <a:bodyPr/>
                    <a:lstStyle/>
                    <a:p>
                      <a:pPr algn="ctr"/>
                      <a:r>
                        <a:rPr lang="en-US" b="1" dirty="0" smtClean="0">
                          <a:solidFill>
                            <a:schemeClr val="accent5">
                              <a:lumMod val="75000"/>
                            </a:schemeClr>
                          </a:solidFill>
                        </a:rPr>
                        <a:t>33 </a:t>
                      </a:r>
                      <a:r>
                        <a:rPr lang="en-US" dirty="0" smtClean="0"/>
                        <a:t>(          )</a:t>
                      </a:r>
                      <a:endParaRPr lang="en-US" dirty="0"/>
                    </a:p>
                  </a:txBody>
                  <a:tcPr/>
                </a:tc>
              </a:tr>
              <a:tr h="370840">
                <a:tc>
                  <a:txBody>
                    <a:bodyPr/>
                    <a:lstStyle/>
                    <a:p>
                      <a:r>
                        <a:rPr lang="en-US" dirty="0" smtClean="0"/>
                        <a:t>F</a:t>
                      </a:r>
                      <a:endParaRPr lang="en-US" dirty="0"/>
                    </a:p>
                  </a:txBody>
                  <a:tcPr/>
                </a:tc>
                <a:tc>
                  <a:txBody>
                    <a:bodyPr/>
                    <a:lstStyle/>
                    <a:p>
                      <a:pPr algn="ctr"/>
                      <a:r>
                        <a:rPr kumimoji="0" lang="en-US" b="1" kern="1200" dirty="0" smtClean="0">
                          <a:solidFill>
                            <a:schemeClr val="accent5">
                              <a:lumMod val="75000"/>
                            </a:schemeClr>
                          </a:solidFill>
                          <a:latin typeface="+mn-lt"/>
                          <a:ea typeface="+mn-ea"/>
                          <a:cs typeface="+mn-cs"/>
                        </a:rPr>
                        <a:t>20</a:t>
                      </a:r>
                      <a:r>
                        <a:rPr lang="en-US" dirty="0" smtClean="0"/>
                        <a:t> </a:t>
                      </a:r>
                      <a:r>
                        <a:rPr lang="en-US" dirty="0" smtClean="0"/>
                        <a:t>(          )</a:t>
                      </a:r>
                      <a:endParaRPr lang="en-US" dirty="0"/>
                    </a:p>
                  </a:txBody>
                  <a:tcPr/>
                </a:tc>
                <a:tc>
                  <a:txBody>
                    <a:bodyPr/>
                    <a:lstStyle/>
                    <a:p>
                      <a:pPr algn="ctr"/>
                      <a:r>
                        <a:rPr lang="en-US" b="1" dirty="0" smtClean="0">
                          <a:solidFill>
                            <a:schemeClr val="accent5">
                              <a:lumMod val="75000"/>
                            </a:schemeClr>
                          </a:solidFill>
                        </a:rPr>
                        <a:t>45</a:t>
                      </a:r>
                      <a:r>
                        <a:rPr lang="en-US" dirty="0" smtClean="0"/>
                        <a:t> </a:t>
                      </a:r>
                      <a:r>
                        <a:rPr lang="en-US" dirty="0" smtClean="0"/>
                        <a:t>(          )</a:t>
                      </a:r>
                      <a:endParaRPr lang="en-US" dirty="0"/>
                    </a:p>
                  </a:txBody>
                  <a:tcPr/>
                </a:tc>
                <a:tc>
                  <a:txBody>
                    <a:bodyPr/>
                    <a:lstStyle/>
                    <a:p>
                      <a:pPr algn="ctr"/>
                      <a:r>
                        <a:rPr lang="en-US" b="1" dirty="0" smtClean="0">
                          <a:solidFill>
                            <a:schemeClr val="accent5">
                              <a:lumMod val="75000"/>
                            </a:schemeClr>
                          </a:solidFill>
                        </a:rPr>
                        <a:t>10</a:t>
                      </a:r>
                      <a:r>
                        <a:rPr lang="en-US" dirty="0" smtClean="0"/>
                        <a:t> </a:t>
                      </a:r>
                      <a:r>
                        <a:rPr lang="en-US" dirty="0" smtClean="0"/>
                        <a:t>(          )</a:t>
                      </a:r>
                      <a:endParaRPr lang="en-US" dirty="0"/>
                    </a:p>
                  </a:txBody>
                  <a:tcPr/>
                </a:tc>
              </a:tr>
            </a:tbl>
          </a:graphicData>
        </a:graphic>
      </p:graphicFrame>
    </p:spTree>
    <p:custDataLst>
      <p:tags r:id="rId1"/>
    </p:custDataLst>
    <p:extLst>
      <p:ext uri="{BB962C8B-B14F-4D97-AF65-F5344CB8AC3E}">
        <p14:creationId xmlns:p14="http://schemas.microsoft.com/office/powerpoint/2010/main" val="384757742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PAnswers"/>
          <p:cNvSpPr>
            <a:spLocks noGrp="1"/>
          </p:cNvSpPr>
          <p:nvPr>
            <p:ph sz="quarter" idx="4294967295"/>
            <p:custDataLst>
              <p:tags r:id="rId2"/>
            </p:custDataLst>
          </p:nvPr>
        </p:nvSpPr>
        <p:spPr>
          <a:xfrm>
            <a:off x="304800" y="4495800"/>
            <a:ext cx="3048000" cy="2311206"/>
          </a:xfrm>
        </p:spPr>
        <p:txBody>
          <a:bodyPr>
            <a:noAutofit/>
          </a:bodyPr>
          <a:lstStyle/>
          <a:p>
            <a:pPr marL="514350" indent="-514350">
              <a:buAutoNum type="alphaUcPeriod"/>
            </a:pPr>
            <a:r>
              <a:rPr lang="en-US" sz="2600" dirty="0"/>
              <a:t>1</a:t>
            </a:r>
          </a:p>
          <a:p>
            <a:pPr marL="514350" indent="-514350">
              <a:buAutoNum type="alphaUcPeriod"/>
            </a:pPr>
            <a:r>
              <a:rPr lang="en-US" sz="2600" dirty="0"/>
              <a:t>2</a:t>
            </a:r>
          </a:p>
          <a:p>
            <a:pPr marL="514350" indent="-514350">
              <a:buAutoNum type="alphaUcPeriod"/>
            </a:pPr>
            <a:r>
              <a:rPr lang="en-US" sz="2600" dirty="0"/>
              <a:t>3</a:t>
            </a:r>
          </a:p>
          <a:p>
            <a:pPr marL="514350" indent="-514350">
              <a:buAutoNum type="alphaUcPeriod"/>
            </a:pPr>
            <a:r>
              <a:rPr lang="en-US" sz="2600" dirty="0"/>
              <a:t>5</a:t>
            </a:r>
          </a:p>
          <a:p>
            <a:pPr marL="514350" indent="-514350">
              <a:buAutoNum type="alphaUcPeriod"/>
            </a:pPr>
            <a:r>
              <a:rPr lang="en-US" sz="2600" dirty="0" smtClean="0"/>
              <a:t>6</a:t>
            </a:r>
            <a:endParaRPr lang="en-US" sz="2600" dirty="0"/>
          </a:p>
        </p:txBody>
      </p:sp>
      <p:sp>
        <p:nvSpPr>
          <p:cNvPr id="3" name="TPQuestion"/>
          <p:cNvSpPr>
            <a:spLocks noGrp="1"/>
          </p:cNvSpPr>
          <p:nvPr>
            <p:ph type="title" idx="4294967295"/>
          </p:nvPr>
        </p:nvSpPr>
        <p:spPr>
          <a:xfrm>
            <a:off x="0" y="3048"/>
            <a:ext cx="9144000" cy="3095655"/>
          </a:xfrm>
        </p:spPr>
        <p:txBody>
          <a:bodyPr>
            <a:noAutofit/>
          </a:bodyPr>
          <a:lstStyle/>
          <a:p>
            <a:r>
              <a:rPr lang="en-US" sz="2700" dirty="0"/>
              <a:t>Is there an association between faculty rank and gender?  For continuing faculty at many colleges, the ranks are Assistant Professor (</a:t>
            </a:r>
            <a:r>
              <a:rPr lang="en-US" sz="2700" dirty="0" err="1"/>
              <a:t>aP</a:t>
            </a:r>
            <a:r>
              <a:rPr lang="en-US" sz="2700" dirty="0"/>
              <a:t>) for beginning faculty members, Associate Professors (AP) after one promotion, and Professors (P), the highest rank, after another promotion.   The data below show faculty rank and gender for all continuing faculty members at one college in 2012</a:t>
            </a:r>
            <a:r>
              <a:rPr lang="en-US" sz="2700" dirty="0" smtClean="0"/>
              <a:t>. </a:t>
            </a:r>
            <a:r>
              <a:rPr lang="en-US" sz="2800" i="1" dirty="0">
                <a:solidFill>
                  <a:schemeClr val="accent1">
                    <a:lumMod val="50000"/>
                  </a:schemeClr>
                </a:solidFill>
              </a:rPr>
              <a:t>What are the degrees of freedom?</a:t>
            </a:r>
          </a:p>
        </p:txBody>
      </p:sp>
      <p:sp>
        <p:nvSpPr>
          <p:cNvPr id="12" name="TextBox 11"/>
          <p:cNvSpPr txBox="1"/>
          <p:nvPr/>
        </p:nvSpPr>
        <p:spPr>
          <a:xfrm>
            <a:off x="76200" y="3048000"/>
            <a:ext cx="3505200" cy="400110"/>
          </a:xfrm>
          <a:prstGeom prst="rect">
            <a:avLst/>
          </a:prstGeom>
          <a:noFill/>
        </p:spPr>
        <p:txBody>
          <a:bodyPr wrap="square" rtlCol="0">
            <a:spAutoFit/>
          </a:bodyPr>
          <a:lstStyle/>
          <a:p>
            <a:r>
              <a:rPr lang="en-US" sz="2000" b="1" dirty="0" smtClean="0">
                <a:solidFill>
                  <a:schemeClr val="accent5">
                    <a:lumMod val="75000"/>
                  </a:schemeClr>
                </a:solidFill>
              </a:rPr>
              <a:t>Observed </a:t>
            </a:r>
            <a:r>
              <a:rPr lang="en-US" sz="2000" b="1" dirty="0" smtClean="0">
                <a:solidFill>
                  <a:schemeClr val="tx2"/>
                </a:solidFill>
              </a:rPr>
              <a:t>(</a:t>
            </a:r>
            <a:r>
              <a:rPr lang="en-US" sz="2000" b="1" dirty="0" smtClean="0">
                <a:solidFill>
                  <a:schemeClr val="accent2">
                    <a:lumMod val="75000"/>
                  </a:schemeClr>
                </a:solidFill>
              </a:rPr>
              <a:t>Expected</a:t>
            </a:r>
            <a:r>
              <a:rPr lang="en-US" sz="2000" b="1" dirty="0" smtClean="0">
                <a:solidFill>
                  <a:schemeClr val="tx2"/>
                </a:solidFill>
              </a:rPr>
              <a:t>)</a:t>
            </a:r>
            <a:r>
              <a:rPr lang="en-US" sz="2000" b="1" dirty="0" smtClean="0">
                <a:solidFill>
                  <a:schemeClr val="accent5">
                    <a:lumMod val="75000"/>
                  </a:schemeClr>
                </a:solidFill>
              </a:rPr>
              <a:t> </a:t>
            </a:r>
            <a:r>
              <a:rPr lang="en-US" sz="2000" b="1" dirty="0" smtClean="0">
                <a:solidFill>
                  <a:schemeClr val="tx2"/>
                </a:solidFill>
              </a:rPr>
              <a:t>Values</a:t>
            </a:r>
            <a:endParaRPr lang="en-US" sz="2000" b="1" dirty="0">
              <a:solidFill>
                <a:schemeClr val="tx2"/>
              </a:solidFill>
            </a:endParaRPr>
          </a:p>
        </p:txBody>
      </p:sp>
      <p:graphicFrame>
        <p:nvGraphicFramePr>
          <p:cNvPr id="14" name="Table 13"/>
          <p:cNvGraphicFramePr>
            <a:graphicFrameLocks noGrp="1"/>
          </p:cNvGraphicFramePr>
          <p:nvPr>
            <p:extLst>
              <p:ext uri="{D42A27DB-BD31-4B8C-83A1-F6EECF244321}">
                <p14:modId xmlns:p14="http://schemas.microsoft.com/office/powerpoint/2010/main" val="3765799952"/>
              </p:ext>
            </p:extLst>
          </p:nvPr>
        </p:nvGraphicFramePr>
        <p:xfrm>
          <a:off x="4876800" y="3442014"/>
          <a:ext cx="4191000" cy="1112520"/>
        </p:xfrm>
        <a:graphic>
          <a:graphicData uri="http://schemas.openxmlformats.org/drawingml/2006/table">
            <a:tbl>
              <a:tblPr firstRow="1" bandRow="1">
                <a:tableStyleId>{5940675A-B579-460E-94D1-54222C63F5DA}</a:tableStyleId>
              </a:tblPr>
              <a:tblGrid>
                <a:gridCol w="533400"/>
                <a:gridCol w="1219200"/>
                <a:gridCol w="1219200"/>
                <a:gridCol w="1219200"/>
              </a:tblGrid>
              <a:tr h="370840">
                <a:tc>
                  <a:txBody>
                    <a:bodyPr/>
                    <a:lstStyle/>
                    <a:p>
                      <a:endParaRPr lang="en-US" dirty="0"/>
                    </a:p>
                  </a:txBody>
                  <a:tcPr/>
                </a:tc>
                <a:tc>
                  <a:txBody>
                    <a:bodyPr/>
                    <a:lstStyle/>
                    <a:p>
                      <a:pPr algn="ctr"/>
                      <a:r>
                        <a:rPr lang="en-US" dirty="0" err="1" smtClean="0"/>
                        <a:t>aP</a:t>
                      </a:r>
                      <a:endParaRPr lang="en-US" dirty="0"/>
                    </a:p>
                  </a:txBody>
                  <a:tcPr/>
                </a:tc>
                <a:tc>
                  <a:txBody>
                    <a:bodyPr/>
                    <a:lstStyle/>
                    <a:p>
                      <a:pPr algn="ctr"/>
                      <a:r>
                        <a:rPr lang="en-US" dirty="0" smtClean="0"/>
                        <a:t>AP</a:t>
                      </a:r>
                      <a:endParaRPr lang="en-US" dirty="0"/>
                    </a:p>
                  </a:txBody>
                  <a:tcPr/>
                </a:tc>
                <a:tc>
                  <a:txBody>
                    <a:bodyPr/>
                    <a:lstStyle/>
                    <a:p>
                      <a:pPr algn="ctr"/>
                      <a:r>
                        <a:rPr lang="en-US" dirty="0" smtClean="0"/>
                        <a:t>P</a:t>
                      </a:r>
                      <a:endParaRPr lang="en-US" dirty="0"/>
                    </a:p>
                  </a:txBody>
                  <a:tcPr/>
                </a:tc>
              </a:tr>
              <a:tr h="370840">
                <a:tc>
                  <a:txBody>
                    <a:bodyPr/>
                    <a:lstStyle/>
                    <a:p>
                      <a:r>
                        <a:rPr lang="en-US" dirty="0" smtClean="0"/>
                        <a:t>M</a:t>
                      </a:r>
                      <a:endParaRPr lang="en-US" dirty="0"/>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tr>
              <a:tr h="370840">
                <a:tc>
                  <a:txBody>
                    <a:bodyPr/>
                    <a:lstStyle/>
                    <a:p>
                      <a:r>
                        <a:rPr lang="en-US" dirty="0" smtClean="0"/>
                        <a:t>F</a:t>
                      </a:r>
                      <a:endParaRPr lang="en-US" dirty="0"/>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tr>
            </a:tbl>
          </a:graphicData>
        </a:graphic>
      </p:graphicFrame>
      <p:sp>
        <p:nvSpPr>
          <p:cNvPr id="15" name="TextBox 14"/>
          <p:cNvSpPr txBox="1"/>
          <p:nvPr/>
        </p:nvSpPr>
        <p:spPr>
          <a:xfrm>
            <a:off x="4876800" y="3041904"/>
            <a:ext cx="1981200" cy="400110"/>
          </a:xfrm>
          <a:prstGeom prst="rect">
            <a:avLst/>
          </a:prstGeom>
          <a:noFill/>
        </p:spPr>
        <p:txBody>
          <a:bodyPr wrap="square" rtlCol="0">
            <a:spAutoFit/>
          </a:bodyPr>
          <a:lstStyle/>
          <a:p>
            <a:r>
              <a:rPr lang="en-US" sz="2000" b="1" dirty="0" smtClean="0">
                <a:solidFill>
                  <a:schemeClr val="tx2"/>
                </a:solidFill>
              </a:rPr>
              <a:t>Contribution</a:t>
            </a:r>
            <a:endParaRPr lang="en-US" sz="2000" b="1" dirty="0">
              <a:solidFill>
                <a:schemeClr val="tx2"/>
              </a:solidFill>
            </a:endParaRPr>
          </a:p>
        </p:txBody>
      </p:sp>
      <p:graphicFrame>
        <p:nvGraphicFramePr>
          <p:cNvPr id="13" name="Table 12"/>
          <p:cNvGraphicFramePr>
            <a:graphicFrameLocks noGrp="1"/>
          </p:cNvGraphicFramePr>
          <p:nvPr>
            <p:extLst>
              <p:ext uri="{D42A27DB-BD31-4B8C-83A1-F6EECF244321}">
                <p14:modId xmlns:p14="http://schemas.microsoft.com/office/powerpoint/2010/main" val="341721730"/>
              </p:ext>
            </p:extLst>
          </p:nvPr>
        </p:nvGraphicFramePr>
        <p:xfrm>
          <a:off x="85345" y="3442014"/>
          <a:ext cx="4410456" cy="1112520"/>
        </p:xfrm>
        <a:graphic>
          <a:graphicData uri="http://schemas.openxmlformats.org/drawingml/2006/table">
            <a:tbl>
              <a:tblPr firstRow="1" bandRow="1">
                <a:tableStyleId>{5940675A-B579-460E-94D1-54222C63F5DA}</a:tableStyleId>
              </a:tblPr>
              <a:tblGrid>
                <a:gridCol w="371855"/>
                <a:gridCol w="1371600"/>
                <a:gridCol w="1295400"/>
                <a:gridCol w="1371601"/>
              </a:tblGrid>
              <a:tr h="370840">
                <a:tc>
                  <a:txBody>
                    <a:bodyPr/>
                    <a:lstStyle/>
                    <a:p>
                      <a:endParaRPr lang="en-US" dirty="0"/>
                    </a:p>
                  </a:txBody>
                  <a:tcPr/>
                </a:tc>
                <a:tc>
                  <a:txBody>
                    <a:bodyPr/>
                    <a:lstStyle/>
                    <a:p>
                      <a:pPr algn="ctr"/>
                      <a:r>
                        <a:rPr lang="en-US" dirty="0" err="1" smtClean="0"/>
                        <a:t>aP</a:t>
                      </a:r>
                      <a:endParaRPr lang="en-US" dirty="0"/>
                    </a:p>
                  </a:txBody>
                  <a:tcPr/>
                </a:tc>
                <a:tc>
                  <a:txBody>
                    <a:bodyPr/>
                    <a:lstStyle/>
                    <a:p>
                      <a:pPr algn="ctr"/>
                      <a:r>
                        <a:rPr lang="en-US" dirty="0" smtClean="0"/>
                        <a:t>AP</a:t>
                      </a:r>
                      <a:endParaRPr lang="en-US" dirty="0"/>
                    </a:p>
                  </a:txBody>
                  <a:tcPr/>
                </a:tc>
                <a:tc>
                  <a:txBody>
                    <a:bodyPr/>
                    <a:lstStyle/>
                    <a:p>
                      <a:pPr algn="ctr"/>
                      <a:r>
                        <a:rPr lang="en-US" dirty="0" smtClean="0"/>
                        <a:t>P</a:t>
                      </a:r>
                      <a:endParaRPr lang="en-US" dirty="0"/>
                    </a:p>
                  </a:txBody>
                  <a:tcPr/>
                </a:tc>
              </a:tr>
              <a:tr h="370840">
                <a:tc>
                  <a:txBody>
                    <a:bodyPr/>
                    <a:lstStyle/>
                    <a:p>
                      <a:r>
                        <a:rPr lang="en-US" dirty="0" smtClean="0"/>
                        <a:t>M</a:t>
                      </a:r>
                      <a:endParaRPr lang="en-US" dirty="0"/>
                    </a:p>
                  </a:txBody>
                  <a:tcPr/>
                </a:tc>
                <a:tc>
                  <a:txBody>
                    <a:bodyPr/>
                    <a:lstStyle/>
                    <a:p>
                      <a:pPr algn="ctr"/>
                      <a:r>
                        <a:rPr lang="en-US" b="1" dirty="0" smtClean="0">
                          <a:solidFill>
                            <a:schemeClr val="accent5">
                              <a:lumMod val="75000"/>
                            </a:schemeClr>
                          </a:solidFill>
                        </a:rPr>
                        <a:t>20</a:t>
                      </a:r>
                      <a:r>
                        <a:rPr lang="en-US" dirty="0" smtClean="0"/>
                        <a:t> </a:t>
                      </a:r>
                      <a:r>
                        <a:rPr lang="en-US" dirty="0" smtClean="0"/>
                        <a:t>(          )</a:t>
                      </a:r>
                      <a:endParaRPr lang="en-US" dirty="0"/>
                    </a:p>
                  </a:txBody>
                  <a:tcPr/>
                </a:tc>
                <a:tc>
                  <a:txBody>
                    <a:bodyPr/>
                    <a:lstStyle/>
                    <a:p>
                      <a:pPr algn="ctr"/>
                      <a:r>
                        <a:rPr lang="en-US" b="1" dirty="0" smtClean="0">
                          <a:solidFill>
                            <a:schemeClr val="accent5">
                              <a:lumMod val="75000"/>
                            </a:schemeClr>
                          </a:solidFill>
                        </a:rPr>
                        <a:t>30</a:t>
                      </a:r>
                      <a:r>
                        <a:rPr lang="en-US" dirty="0" smtClean="0"/>
                        <a:t> </a:t>
                      </a:r>
                      <a:r>
                        <a:rPr lang="en-US" dirty="0" smtClean="0"/>
                        <a:t>(          )</a:t>
                      </a:r>
                      <a:endParaRPr lang="en-US" dirty="0"/>
                    </a:p>
                  </a:txBody>
                  <a:tcPr/>
                </a:tc>
                <a:tc>
                  <a:txBody>
                    <a:bodyPr/>
                    <a:lstStyle/>
                    <a:p>
                      <a:pPr algn="ctr"/>
                      <a:r>
                        <a:rPr lang="en-US" b="1" dirty="0" smtClean="0">
                          <a:solidFill>
                            <a:schemeClr val="accent5">
                              <a:lumMod val="75000"/>
                            </a:schemeClr>
                          </a:solidFill>
                        </a:rPr>
                        <a:t>33 </a:t>
                      </a:r>
                      <a:r>
                        <a:rPr lang="en-US" dirty="0" smtClean="0"/>
                        <a:t>(          )</a:t>
                      </a:r>
                      <a:endParaRPr lang="en-US" dirty="0"/>
                    </a:p>
                  </a:txBody>
                  <a:tcPr/>
                </a:tc>
              </a:tr>
              <a:tr h="370840">
                <a:tc>
                  <a:txBody>
                    <a:bodyPr/>
                    <a:lstStyle/>
                    <a:p>
                      <a:r>
                        <a:rPr lang="en-US" dirty="0" smtClean="0"/>
                        <a:t>F</a:t>
                      </a:r>
                      <a:endParaRPr lang="en-US" dirty="0"/>
                    </a:p>
                  </a:txBody>
                  <a:tcPr/>
                </a:tc>
                <a:tc>
                  <a:txBody>
                    <a:bodyPr/>
                    <a:lstStyle/>
                    <a:p>
                      <a:pPr algn="ctr"/>
                      <a:r>
                        <a:rPr kumimoji="0" lang="en-US" b="1" kern="1200" dirty="0" smtClean="0">
                          <a:solidFill>
                            <a:schemeClr val="accent5">
                              <a:lumMod val="75000"/>
                            </a:schemeClr>
                          </a:solidFill>
                          <a:latin typeface="+mn-lt"/>
                          <a:ea typeface="+mn-ea"/>
                          <a:cs typeface="+mn-cs"/>
                        </a:rPr>
                        <a:t>20</a:t>
                      </a:r>
                      <a:r>
                        <a:rPr lang="en-US" dirty="0" smtClean="0"/>
                        <a:t> </a:t>
                      </a:r>
                      <a:r>
                        <a:rPr lang="en-US" dirty="0" smtClean="0"/>
                        <a:t>(          )</a:t>
                      </a:r>
                      <a:endParaRPr lang="en-US" dirty="0"/>
                    </a:p>
                  </a:txBody>
                  <a:tcPr/>
                </a:tc>
                <a:tc>
                  <a:txBody>
                    <a:bodyPr/>
                    <a:lstStyle/>
                    <a:p>
                      <a:pPr algn="ctr"/>
                      <a:r>
                        <a:rPr lang="en-US" b="1" dirty="0" smtClean="0">
                          <a:solidFill>
                            <a:schemeClr val="accent5">
                              <a:lumMod val="75000"/>
                            </a:schemeClr>
                          </a:solidFill>
                        </a:rPr>
                        <a:t>45</a:t>
                      </a:r>
                      <a:r>
                        <a:rPr lang="en-US" dirty="0" smtClean="0"/>
                        <a:t> </a:t>
                      </a:r>
                      <a:r>
                        <a:rPr lang="en-US" dirty="0" smtClean="0"/>
                        <a:t>(          )</a:t>
                      </a:r>
                      <a:endParaRPr lang="en-US" dirty="0"/>
                    </a:p>
                  </a:txBody>
                  <a:tcPr/>
                </a:tc>
                <a:tc>
                  <a:txBody>
                    <a:bodyPr/>
                    <a:lstStyle/>
                    <a:p>
                      <a:pPr algn="ctr"/>
                      <a:r>
                        <a:rPr lang="en-US" b="1" dirty="0" smtClean="0">
                          <a:solidFill>
                            <a:schemeClr val="accent5">
                              <a:lumMod val="75000"/>
                            </a:schemeClr>
                          </a:solidFill>
                        </a:rPr>
                        <a:t>10</a:t>
                      </a:r>
                      <a:r>
                        <a:rPr lang="en-US" dirty="0" smtClean="0"/>
                        <a:t> </a:t>
                      </a:r>
                      <a:r>
                        <a:rPr lang="en-US" dirty="0" smtClean="0"/>
                        <a:t>(          )</a:t>
                      </a:r>
                      <a:endParaRPr lang="en-US" dirty="0"/>
                    </a:p>
                  </a:txBody>
                  <a:tcPr/>
                </a:tc>
              </a:tr>
            </a:tbl>
          </a:graphicData>
        </a:graphic>
      </p:graphicFrame>
    </p:spTree>
    <p:custDataLst>
      <p:tags r:id="rId1"/>
    </p:custDataLst>
    <p:extLst>
      <p:ext uri="{BB962C8B-B14F-4D97-AF65-F5344CB8AC3E}">
        <p14:creationId xmlns:p14="http://schemas.microsoft.com/office/powerpoint/2010/main" val="226943184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PAnswers"/>
          <p:cNvSpPr>
            <a:spLocks noGrp="1"/>
          </p:cNvSpPr>
          <p:nvPr>
            <p:ph sz="quarter" idx="4294967295"/>
            <p:custDataLst>
              <p:tags r:id="rId2"/>
            </p:custDataLst>
          </p:nvPr>
        </p:nvSpPr>
        <p:spPr>
          <a:xfrm>
            <a:off x="304800" y="4495800"/>
            <a:ext cx="3048000" cy="2311206"/>
          </a:xfrm>
        </p:spPr>
        <p:txBody>
          <a:bodyPr>
            <a:noAutofit/>
          </a:bodyPr>
          <a:lstStyle/>
          <a:p>
            <a:pPr marL="514350" indent="-514350">
              <a:buAutoNum type="alphaUcPeriod"/>
            </a:pPr>
            <a:r>
              <a:rPr lang="en-US" sz="2600" dirty="0"/>
              <a:t>0.00058</a:t>
            </a:r>
          </a:p>
          <a:p>
            <a:pPr marL="514350" indent="-514350">
              <a:buAutoNum type="alphaUcPeriod"/>
            </a:pPr>
            <a:r>
              <a:rPr lang="en-US" sz="2600" dirty="0"/>
              <a:t>0.00076</a:t>
            </a:r>
          </a:p>
          <a:p>
            <a:pPr marL="514350" indent="-514350">
              <a:buAutoNum type="alphaUcPeriod"/>
            </a:pPr>
            <a:r>
              <a:rPr lang="en-US" sz="2600" dirty="0"/>
              <a:t>0.05</a:t>
            </a:r>
          </a:p>
          <a:p>
            <a:pPr marL="514350" indent="-514350">
              <a:buAutoNum type="alphaUcPeriod"/>
            </a:pPr>
            <a:r>
              <a:rPr lang="en-US" sz="2600" dirty="0"/>
              <a:t>0.143</a:t>
            </a:r>
          </a:p>
          <a:p>
            <a:pPr marL="514350" indent="-514350">
              <a:buAutoNum type="alphaUcPeriod"/>
            </a:pPr>
            <a:r>
              <a:rPr lang="en-US" sz="2600" dirty="0"/>
              <a:t>0.251</a:t>
            </a:r>
          </a:p>
        </p:txBody>
      </p:sp>
      <p:sp>
        <p:nvSpPr>
          <p:cNvPr id="3" name="TPQuestion"/>
          <p:cNvSpPr>
            <a:spLocks noGrp="1"/>
          </p:cNvSpPr>
          <p:nvPr>
            <p:ph type="title" idx="4294967295"/>
          </p:nvPr>
        </p:nvSpPr>
        <p:spPr>
          <a:xfrm>
            <a:off x="0" y="3048"/>
            <a:ext cx="9144000" cy="3095655"/>
          </a:xfrm>
        </p:spPr>
        <p:txBody>
          <a:bodyPr>
            <a:noAutofit/>
          </a:bodyPr>
          <a:lstStyle/>
          <a:p>
            <a:r>
              <a:rPr lang="en-US" sz="2700" dirty="0"/>
              <a:t>Is there an association between faculty rank and gender?  For continuing faculty at many colleges, the ranks are Assistant Professor (</a:t>
            </a:r>
            <a:r>
              <a:rPr lang="en-US" sz="2700" dirty="0" err="1"/>
              <a:t>aP</a:t>
            </a:r>
            <a:r>
              <a:rPr lang="en-US" sz="2700" dirty="0"/>
              <a:t>) for beginning faculty members, Associate Professors (AP) after one promotion, and Professors (P), the highest rank, after another promotion.   The data below show faculty rank and gender for all continuing faculty members at one college in 2012</a:t>
            </a:r>
            <a:r>
              <a:rPr lang="en-US" sz="2700" dirty="0" smtClean="0"/>
              <a:t>. </a:t>
            </a:r>
            <a:r>
              <a:rPr lang="en-US" sz="2800" i="1" dirty="0">
                <a:solidFill>
                  <a:srgbClr val="00B050"/>
                </a:solidFill>
              </a:rPr>
              <a:t>What is the p-value?</a:t>
            </a:r>
          </a:p>
        </p:txBody>
      </p:sp>
      <p:sp>
        <p:nvSpPr>
          <p:cNvPr id="12" name="TextBox 11"/>
          <p:cNvSpPr txBox="1"/>
          <p:nvPr/>
        </p:nvSpPr>
        <p:spPr>
          <a:xfrm>
            <a:off x="76200" y="3048000"/>
            <a:ext cx="3505200" cy="400110"/>
          </a:xfrm>
          <a:prstGeom prst="rect">
            <a:avLst/>
          </a:prstGeom>
          <a:noFill/>
        </p:spPr>
        <p:txBody>
          <a:bodyPr wrap="square" rtlCol="0">
            <a:spAutoFit/>
          </a:bodyPr>
          <a:lstStyle/>
          <a:p>
            <a:r>
              <a:rPr lang="en-US" sz="2000" b="1" dirty="0" smtClean="0">
                <a:solidFill>
                  <a:schemeClr val="accent5">
                    <a:lumMod val="75000"/>
                  </a:schemeClr>
                </a:solidFill>
              </a:rPr>
              <a:t>Observed </a:t>
            </a:r>
            <a:r>
              <a:rPr lang="en-US" sz="2000" b="1" dirty="0" smtClean="0">
                <a:solidFill>
                  <a:schemeClr val="tx2"/>
                </a:solidFill>
              </a:rPr>
              <a:t>(</a:t>
            </a:r>
            <a:r>
              <a:rPr lang="en-US" sz="2000" b="1" dirty="0" smtClean="0">
                <a:solidFill>
                  <a:schemeClr val="accent2">
                    <a:lumMod val="75000"/>
                  </a:schemeClr>
                </a:solidFill>
              </a:rPr>
              <a:t>Expected</a:t>
            </a:r>
            <a:r>
              <a:rPr lang="en-US" sz="2000" b="1" dirty="0" smtClean="0">
                <a:solidFill>
                  <a:schemeClr val="tx2"/>
                </a:solidFill>
              </a:rPr>
              <a:t>)</a:t>
            </a:r>
            <a:r>
              <a:rPr lang="en-US" sz="2000" b="1" dirty="0" smtClean="0">
                <a:solidFill>
                  <a:schemeClr val="accent5">
                    <a:lumMod val="75000"/>
                  </a:schemeClr>
                </a:solidFill>
              </a:rPr>
              <a:t> </a:t>
            </a:r>
            <a:r>
              <a:rPr lang="en-US" sz="2000" b="1" dirty="0" smtClean="0">
                <a:solidFill>
                  <a:schemeClr val="tx2"/>
                </a:solidFill>
              </a:rPr>
              <a:t>Values</a:t>
            </a:r>
            <a:endParaRPr lang="en-US" sz="2000" b="1" dirty="0">
              <a:solidFill>
                <a:schemeClr val="tx2"/>
              </a:solidFill>
            </a:endParaRPr>
          </a:p>
        </p:txBody>
      </p:sp>
      <p:graphicFrame>
        <p:nvGraphicFramePr>
          <p:cNvPr id="14" name="Table 13"/>
          <p:cNvGraphicFramePr>
            <a:graphicFrameLocks noGrp="1"/>
          </p:cNvGraphicFramePr>
          <p:nvPr>
            <p:extLst>
              <p:ext uri="{D42A27DB-BD31-4B8C-83A1-F6EECF244321}">
                <p14:modId xmlns:p14="http://schemas.microsoft.com/office/powerpoint/2010/main" val="2513776999"/>
              </p:ext>
            </p:extLst>
          </p:nvPr>
        </p:nvGraphicFramePr>
        <p:xfrm>
          <a:off x="4876800" y="3442014"/>
          <a:ext cx="4191000" cy="1112520"/>
        </p:xfrm>
        <a:graphic>
          <a:graphicData uri="http://schemas.openxmlformats.org/drawingml/2006/table">
            <a:tbl>
              <a:tblPr firstRow="1" bandRow="1">
                <a:tableStyleId>{5940675A-B579-460E-94D1-54222C63F5DA}</a:tableStyleId>
              </a:tblPr>
              <a:tblGrid>
                <a:gridCol w="533400"/>
                <a:gridCol w="1219200"/>
                <a:gridCol w="1219200"/>
                <a:gridCol w="1219200"/>
              </a:tblGrid>
              <a:tr h="370840">
                <a:tc>
                  <a:txBody>
                    <a:bodyPr/>
                    <a:lstStyle/>
                    <a:p>
                      <a:endParaRPr lang="en-US" dirty="0"/>
                    </a:p>
                  </a:txBody>
                  <a:tcPr/>
                </a:tc>
                <a:tc>
                  <a:txBody>
                    <a:bodyPr/>
                    <a:lstStyle/>
                    <a:p>
                      <a:pPr algn="ctr"/>
                      <a:r>
                        <a:rPr lang="en-US" dirty="0" err="1" smtClean="0"/>
                        <a:t>aP</a:t>
                      </a:r>
                      <a:endParaRPr lang="en-US" dirty="0"/>
                    </a:p>
                  </a:txBody>
                  <a:tcPr/>
                </a:tc>
                <a:tc>
                  <a:txBody>
                    <a:bodyPr/>
                    <a:lstStyle/>
                    <a:p>
                      <a:pPr algn="ctr"/>
                      <a:r>
                        <a:rPr lang="en-US" dirty="0" smtClean="0"/>
                        <a:t>AP</a:t>
                      </a:r>
                      <a:endParaRPr lang="en-US" dirty="0"/>
                    </a:p>
                  </a:txBody>
                  <a:tcPr/>
                </a:tc>
                <a:tc>
                  <a:txBody>
                    <a:bodyPr/>
                    <a:lstStyle/>
                    <a:p>
                      <a:pPr algn="ctr"/>
                      <a:r>
                        <a:rPr lang="en-US" dirty="0" smtClean="0"/>
                        <a:t>P</a:t>
                      </a:r>
                      <a:endParaRPr lang="en-US" dirty="0"/>
                    </a:p>
                  </a:txBody>
                  <a:tcPr/>
                </a:tc>
              </a:tr>
              <a:tr h="370840">
                <a:tc>
                  <a:txBody>
                    <a:bodyPr/>
                    <a:lstStyle/>
                    <a:p>
                      <a:r>
                        <a:rPr lang="en-US" dirty="0" smtClean="0"/>
                        <a:t>M</a:t>
                      </a:r>
                      <a:endParaRPr lang="en-US" dirty="0"/>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tr>
              <a:tr h="370840">
                <a:tc>
                  <a:txBody>
                    <a:bodyPr/>
                    <a:lstStyle/>
                    <a:p>
                      <a:r>
                        <a:rPr lang="en-US" dirty="0" smtClean="0"/>
                        <a:t>F</a:t>
                      </a:r>
                      <a:endParaRPr lang="en-US" dirty="0"/>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tr>
            </a:tbl>
          </a:graphicData>
        </a:graphic>
      </p:graphicFrame>
      <p:sp>
        <p:nvSpPr>
          <p:cNvPr id="15" name="TextBox 14"/>
          <p:cNvSpPr txBox="1"/>
          <p:nvPr/>
        </p:nvSpPr>
        <p:spPr>
          <a:xfrm>
            <a:off x="4876800" y="3041904"/>
            <a:ext cx="1981200" cy="400110"/>
          </a:xfrm>
          <a:prstGeom prst="rect">
            <a:avLst/>
          </a:prstGeom>
          <a:noFill/>
        </p:spPr>
        <p:txBody>
          <a:bodyPr wrap="square" rtlCol="0">
            <a:spAutoFit/>
          </a:bodyPr>
          <a:lstStyle/>
          <a:p>
            <a:r>
              <a:rPr lang="en-US" sz="2000" b="1" dirty="0" smtClean="0">
                <a:solidFill>
                  <a:schemeClr val="tx2"/>
                </a:solidFill>
              </a:rPr>
              <a:t>Contribution</a:t>
            </a:r>
            <a:endParaRPr lang="en-US" sz="2000" b="1" dirty="0">
              <a:solidFill>
                <a:schemeClr val="tx2"/>
              </a:solidFill>
            </a:endParaRPr>
          </a:p>
        </p:txBody>
      </p:sp>
      <p:sp>
        <p:nvSpPr>
          <p:cNvPr id="2" name="TextBox 1"/>
          <p:cNvSpPr txBox="1"/>
          <p:nvPr/>
        </p:nvSpPr>
        <p:spPr>
          <a:xfrm>
            <a:off x="6248400" y="2563582"/>
            <a:ext cx="2895600" cy="461665"/>
          </a:xfrm>
          <a:prstGeom prst="rect">
            <a:avLst/>
          </a:prstGeom>
          <a:noFill/>
        </p:spPr>
        <p:txBody>
          <a:bodyPr wrap="square" rtlCol="0">
            <a:spAutoFit/>
          </a:bodyPr>
          <a:lstStyle/>
          <a:p>
            <a:pPr algn="ctr"/>
            <a:r>
              <a:rPr lang="en-US" sz="2400" b="1" dirty="0" err="1" smtClean="0">
                <a:hlinkClick r:id="rId5"/>
              </a:rPr>
              <a:t>StatKey</a:t>
            </a:r>
            <a:endParaRPr lang="en-US" sz="2400" b="1" dirty="0"/>
          </a:p>
        </p:txBody>
      </p:sp>
      <p:graphicFrame>
        <p:nvGraphicFramePr>
          <p:cNvPr id="16" name="Table 15"/>
          <p:cNvGraphicFramePr>
            <a:graphicFrameLocks noGrp="1"/>
          </p:cNvGraphicFramePr>
          <p:nvPr>
            <p:extLst>
              <p:ext uri="{D42A27DB-BD31-4B8C-83A1-F6EECF244321}">
                <p14:modId xmlns:p14="http://schemas.microsoft.com/office/powerpoint/2010/main" val="341721730"/>
              </p:ext>
            </p:extLst>
          </p:nvPr>
        </p:nvGraphicFramePr>
        <p:xfrm>
          <a:off x="85345" y="3442014"/>
          <a:ext cx="4410456" cy="1112520"/>
        </p:xfrm>
        <a:graphic>
          <a:graphicData uri="http://schemas.openxmlformats.org/drawingml/2006/table">
            <a:tbl>
              <a:tblPr firstRow="1" bandRow="1">
                <a:tableStyleId>{5940675A-B579-460E-94D1-54222C63F5DA}</a:tableStyleId>
              </a:tblPr>
              <a:tblGrid>
                <a:gridCol w="371855"/>
                <a:gridCol w="1371600"/>
                <a:gridCol w="1295400"/>
                <a:gridCol w="1371601"/>
              </a:tblGrid>
              <a:tr h="370840">
                <a:tc>
                  <a:txBody>
                    <a:bodyPr/>
                    <a:lstStyle/>
                    <a:p>
                      <a:endParaRPr lang="en-US" dirty="0"/>
                    </a:p>
                  </a:txBody>
                  <a:tcPr/>
                </a:tc>
                <a:tc>
                  <a:txBody>
                    <a:bodyPr/>
                    <a:lstStyle/>
                    <a:p>
                      <a:pPr algn="ctr"/>
                      <a:r>
                        <a:rPr lang="en-US" dirty="0" err="1" smtClean="0"/>
                        <a:t>aP</a:t>
                      </a:r>
                      <a:endParaRPr lang="en-US" dirty="0"/>
                    </a:p>
                  </a:txBody>
                  <a:tcPr/>
                </a:tc>
                <a:tc>
                  <a:txBody>
                    <a:bodyPr/>
                    <a:lstStyle/>
                    <a:p>
                      <a:pPr algn="ctr"/>
                      <a:r>
                        <a:rPr lang="en-US" dirty="0" smtClean="0"/>
                        <a:t>AP</a:t>
                      </a:r>
                      <a:endParaRPr lang="en-US" dirty="0"/>
                    </a:p>
                  </a:txBody>
                  <a:tcPr/>
                </a:tc>
                <a:tc>
                  <a:txBody>
                    <a:bodyPr/>
                    <a:lstStyle/>
                    <a:p>
                      <a:pPr algn="ctr"/>
                      <a:r>
                        <a:rPr lang="en-US" dirty="0" smtClean="0"/>
                        <a:t>P</a:t>
                      </a:r>
                      <a:endParaRPr lang="en-US" dirty="0"/>
                    </a:p>
                  </a:txBody>
                  <a:tcPr/>
                </a:tc>
              </a:tr>
              <a:tr h="370840">
                <a:tc>
                  <a:txBody>
                    <a:bodyPr/>
                    <a:lstStyle/>
                    <a:p>
                      <a:r>
                        <a:rPr lang="en-US" dirty="0" smtClean="0"/>
                        <a:t>M</a:t>
                      </a:r>
                      <a:endParaRPr lang="en-US" dirty="0"/>
                    </a:p>
                  </a:txBody>
                  <a:tcPr/>
                </a:tc>
                <a:tc>
                  <a:txBody>
                    <a:bodyPr/>
                    <a:lstStyle/>
                    <a:p>
                      <a:pPr algn="ctr"/>
                      <a:r>
                        <a:rPr lang="en-US" b="1" dirty="0" smtClean="0">
                          <a:solidFill>
                            <a:schemeClr val="accent5">
                              <a:lumMod val="75000"/>
                            </a:schemeClr>
                          </a:solidFill>
                        </a:rPr>
                        <a:t>20</a:t>
                      </a:r>
                      <a:r>
                        <a:rPr lang="en-US" dirty="0" smtClean="0"/>
                        <a:t> </a:t>
                      </a:r>
                      <a:r>
                        <a:rPr lang="en-US" dirty="0" smtClean="0"/>
                        <a:t>(          )</a:t>
                      </a:r>
                      <a:endParaRPr lang="en-US" dirty="0"/>
                    </a:p>
                  </a:txBody>
                  <a:tcPr/>
                </a:tc>
                <a:tc>
                  <a:txBody>
                    <a:bodyPr/>
                    <a:lstStyle/>
                    <a:p>
                      <a:pPr algn="ctr"/>
                      <a:r>
                        <a:rPr lang="en-US" b="1" dirty="0" smtClean="0">
                          <a:solidFill>
                            <a:schemeClr val="accent5">
                              <a:lumMod val="75000"/>
                            </a:schemeClr>
                          </a:solidFill>
                        </a:rPr>
                        <a:t>30</a:t>
                      </a:r>
                      <a:r>
                        <a:rPr lang="en-US" dirty="0" smtClean="0"/>
                        <a:t> </a:t>
                      </a:r>
                      <a:r>
                        <a:rPr lang="en-US" dirty="0" smtClean="0"/>
                        <a:t>(          )</a:t>
                      </a:r>
                      <a:endParaRPr lang="en-US" dirty="0"/>
                    </a:p>
                  </a:txBody>
                  <a:tcPr/>
                </a:tc>
                <a:tc>
                  <a:txBody>
                    <a:bodyPr/>
                    <a:lstStyle/>
                    <a:p>
                      <a:pPr algn="ctr"/>
                      <a:r>
                        <a:rPr lang="en-US" b="1" dirty="0" smtClean="0">
                          <a:solidFill>
                            <a:schemeClr val="accent5">
                              <a:lumMod val="75000"/>
                            </a:schemeClr>
                          </a:solidFill>
                        </a:rPr>
                        <a:t>33 </a:t>
                      </a:r>
                      <a:r>
                        <a:rPr lang="en-US" dirty="0" smtClean="0"/>
                        <a:t>(          )</a:t>
                      </a:r>
                      <a:endParaRPr lang="en-US" dirty="0"/>
                    </a:p>
                  </a:txBody>
                  <a:tcPr/>
                </a:tc>
              </a:tr>
              <a:tr h="370840">
                <a:tc>
                  <a:txBody>
                    <a:bodyPr/>
                    <a:lstStyle/>
                    <a:p>
                      <a:r>
                        <a:rPr lang="en-US" dirty="0" smtClean="0"/>
                        <a:t>F</a:t>
                      </a:r>
                      <a:endParaRPr lang="en-US" dirty="0"/>
                    </a:p>
                  </a:txBody>
                  <a:tcPr/>
                </a:tc>
                <a:tc>
                  <a:txBody>
                    <a:bodyPr/>
                    <a:lstStyle/>
                    <a:p>
                      <a:pPr algn="ctr"/>
                      <a:r>
                        <a:rPr kumimoji="0" lang="en-US" b="1" kern="1200" dirty="0" smtClean="0">
                          <a:solidFill>
                            <a:schemeClr val="accent5">
                              <a:lumMod val="75000"/>
                            </a:schemeClr>
                          </a:solidFill>
                          <a:latin typeface="+mn-lt"/>
                          <a:ea typeface="+mn-ea"/>
                          <a:cs typeface="+mn-cs"/>
                        </a:rPr>
                        <a:t>20</a:t>
                      </a:r>
                      <a:r>
                        <a:rPr lang="en-US" dirty="0" smtClean="0"/>
                        <a:t> </a:t>
                      </a:r>
                      <a:r>
                        <a:rPr lang="en-US" dirty="0" smtClean="0"/>
                        <a:t>(          )</a:t>
                      </a:r>
                      <a:endParaRPr lang="en-US" dirty="0"/>
                    </a:p>
                  </a:txBody>
                  <a:tcPr/>
                </a:tc>
                <a:tc>
                  <a:txBody>
                    <a:bodyPr/>
                    <a:lstStyle/>
                    <a:p>
                      <a:pPr algn="ctr"/>
                      <a:r>
                        <a:rPr lang="en-US" b="1" dirty="0" smtClean="0">
                          <a:solidFill>
                            <a:schemeClr val="accent5">
                              <a:lumMod val="75000"/>
                            </a:schemeClr>
                          </a:solidFill>
                        </a:rPr>
                        <a:t>45</a:t>
                      </a:r>
                      <a:r>
                        <a:rPr lang="en-US" dirty="0" smtClean="0"/>
                        <a:t> </a:t>
                      </a:r>
                      <a:r>
                        <a:rPr lang="en-US" dirty="0" smtClean="0"/>
                        <a:t>(          )</a:t>
                      </a:r>
                      <a:endParaRPr lang="en-US" dirty="0"/>
                    </a:p>
                  </a:txBody>
                  <a:tcPr/>
                </a:tc>
                <a:tc>
                  <a:txBody>
                    <a:bodyPr/>
                    <a:lstStyle/>
                    <a:p>
                      <a:pPr algn="ctr"/>
                      <a:r>
                        <a:rPr lang="en-US" b="1" dirty="0" smtClean="0">
                          <a:solidFill>
                            <a:schemeClr val="accent5">
                              <a:lumMod val="75000"/>
                            </a:schemeClr>
                          </a:solidFill>
                        </a:rPr>
                        <a:t>10</a:t>
                      </a:r>
                      <a:r>
                        <a:rPr lang="en-US" dirty="0" smtClean="0"/>
                        <a:t> </a:t>
                      </a:r>
                      <a:r>
                        <a:rPr lang="en-US" dirty="0" smtClean="0"/>
                        <a:t>(          )</a:t>
                      </a:r>
                      <a:endParaRPr lang="en-US" dirty="0"/>
                    </a:p>
                  </a:txBody>
                  <a:tcPr/>
                </a:tc>
              </a:tr>
            </a:tbl>
          </a:graphicData>
        </a:graphic>
      </p:graphicFrame>
    </p:spTree>
    <p:custDataLst>
      <p:tags r:id="rId1"/>
    </p:custDataLst>
    <p:extLst>
      <p:ext uri="{BB962C8B-B14F-4D97-AF65-F5344CB8AC3E}">
        <p14:creationId xmlns:p14="http://schemas.microsoft.com/office/powerpoint/2010/main" val="410902014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PAnswers"/>
          <p:cNvSpPr>
            <a:spLocks noGrp="1"/>
          </p:cNvSpPr>
          <p:nvPr>
            <p:ph sz="quarter" idx="4294967295"/>
            <p:custDataLst>
              <p:tags r:id="rId2"/>
            </p:custDataLst>
          </p:nvPr>
        </p:nvSpPr>
        <p:spPr>
          <a:xfrm>
            <a:off x="0" y="2990910"/>
            <a:ext cx="5998464" cy="3793938"/>
          </a:xfrm>
        </p:spPr>
        <p:txBody>
          <a:bodyPr>
            <a:noAutofit/>
          </a:bodyPr>
          <a:lstStyle/>
          <a:p>
            <a:pPr marL="457200" indent="-457200">
              <a:buAutoNum type="alphaUcPeriod"/>
            </a:pPr>
            <a:r>
              <a:rPr lang="en-US" sz="2600" dirty="0"/>
              <a:t>We find evidence that there is no association between rank and gender</a:t>
            </a:r>
          </a:p>
          <a:p>
            <a:pPr marL="457200" indent="-457200">
              <a:buAutoNum type="alphaUcPeriod"/>
            </a:pPr>
            <a:r>
              <a:rPr lang="en-US" sz="2600" dirty="0"/>
              <a:t>We find evidence that there is an association between rank and gender</a:t>
            </a:r>
          </a:p>
          <a:p>
            <a:pPr marL="457200" indent="-457200">
              <a:buAutoNum type="alphaUcPeriod"/>
            </a:pPr>
            <a:r>
              <a:rPr lang="en-US" sz="2600" dirty="0"/>
              <a:t>We do not find evidence that there is no association between rank and gender</a:t>
            </a:r>
          </a:p>
          <a:p>
            <a:pPr marL="457200" indent="-457200">
              <a:buAutoNum type="alphaUcPeriod"/>
            </a:pPr>
            <a:r>
              <a:rPr lang="en-US" sz="2600" dirty="0"/>
              <a:t>We do not find evidence that there is an association between rank and </a:t>
            </a:r>
            <a:r>
              <a:rPr lang="en-US" sz="2600" dirty="0" smtClean="0"/>
              <a:t>gender</a:t>
            </a:r>
            <a:endParaRPr lang="en-US" sz="2600" dirty="0"/>
          </a:p>
        </p:txBody>
      </p:sp>
      <p:sp>
        <p:nvSpPr>
          <p:cNvPr id="3" name="TPQuestion"/>
          <p:cNvSpPr>
            <a:spLocks noGrp="1"/>
          </p:cNvSpPr>
          <p:nvPr>
            <p:ph type="title" idx="4294967295"/>
          </p:nvPr>
        </p:nvSpPr>
        <p:spPr>
          <a:xfrm>
            <a:off x="0" y="3049"/>
            <a:ext cx="9144000" cy="1063751"/>
          </a:xfrm>
        </p:spPr>
        <p:txBody>
          <a:bodyPr>
            <a:noAutofit/>
          </a:bodyPr>
          <a:lstStyle/>
          <a:p>
            <a:r>
              <a:rPr lang="en-US" sz="2700" dirty="0"/>
              <a:t>Is there an association between faculty rank and gender? </a:t>
            </a:r>
            <a:r>
              <a:rPr lang="en-US" sz="2800" i="1" dirty="0" smtClean="0">
                <a:solidFill>
                  <a:schemeClr val="accent1">
                    <a:lumMod val="75000"/>
                  </a:schemeClr>
                </a:solidFill>
              </a:rPr>
              <a:t>What </a:t>
            </a:r>
            <a:r>
              <a:rPr lang="en-US" sz="2800" i="1" dirty="0">
                <a:solidFill>
                  <a:schemeClr val="accent1">
                    <a:lumMod val="75000"/>
                  </a:schemeClr>
                </a:solidFill>
              </a:rPr>
              <a:t>is the conclusion?</a:t>
            </a:r>
          </a:p>
        </p:txBody>
      </p:sp>
      <p:sp>
        <p:nvSpPr>
          <p:cNvPr id="12" name="TextBox 11"/>
          <p:cNvSpPr txBox="1"/>
          <p:nvPr/>
        </p:nvSpPr>
        <p:spPr>
          <a:xfrm>
            <a:off x="152400" y="1066800"/>
            <a:ext cx="3505200" cy="400110"/>
          </a:xfrm>
          <a:prstGeom prst="rect">
            <a:avLst/>
          </a:prstGeom>
          <a:noFill/>
        </p:spPr>
        <p:txBody>
          <a:bodyPr wrap="square" rtlCol="0">
            <a:spAutoFit/>
          </a:bodyPr>
          <a:lstStyle/>
          <a:p>
            <a:r>
              <a:rPr lang="en-US" sz="2000" b="1" dirty="0" smtClean="0">
                <a:solidFill>
                  <a:schemeClr val="accent5">
                    <a:lumMod val="75000"/>
                  </a:schemeClr>
                </a:solidFill>
              </a:rPr>
              <a:t>Observed </a:t>
            </a:r>
            <a:r>
              <a:rPr lang="en-US" sz="2000" b="1" dirty="0" smtClean="0">
                <a:solidFill>
                  <a:schemeClr val="tx2"/>
                </a:solidFill>
              </a:rPr>
              <a:t>(</a:t>
            </a:r>
            <a:r>
              <a:rPr lang="en-US" sz="2000" b="1" dirty="0" smtClean="0">
                <a:solidFill>
                  <a:schemeClr val="accent2">
                    <a:lumMod val="75000"/>
                  </a:schemeClr>
                </a:solidFill>
              </a:rPr>
              <a:t>Expected</a:t>
            </a:r>
            <a:r>
              <a:rPr lang="en-US" sz="2000" b="1" dirty="0" smtClean="0">
                <a:solidFill>
                  <a:schemeClr val="tx2"/>
                </a:solidFill>
              </a:rPr>
              <a:t>)</a:t>
            </a:r>
            <a:r>
              <a:rPr lang="en-US" sz="2000" b="1" dirty="0" smtClean="0">
                <a:solidFill>
                  <a:schemeClr val="accent5">
                    <a:lumMod val="75000"/>
                  </a:schemeClr>
                </a:solidFill>
              </a:rPr>
              <a:t> </a:t>
            </a:r>
            <a:r>
              <a:rPr lang="en-US" sz="2000" b="1" dirty="0" smtClean="0">
                <a:solidFill>
                  <a:schemeClr val="tx2"/>
                </a:solidFill>
              </a:rPr>
              <a:t>Values</a:t>
            </a:r>
            <a:endParaRPr lang="en-US" sz="2000" b="1" dirty="0">
              <a:solidFill>
                <a:schemeClr val="tx2"/>
              </a:solidFill>
            </a:endParaRPr>
          </a:p>
        </p:txBody>
      </p:sp>
      <p:graphicFrame>
        <p:nvGraphicFramePr>
          <p:cNvPr id="14" name="Table 13"/>
          <p:cNvGraphicFramePr>
            <a:graphicFrameLocks noGrp="1"/>
          </p:cNvGraphicFramePr>
          <p:nvPr>
            <p:extLst>
              <p:ext uri="{D42A27DB-BD31-4B8C-83A1-F6EECF244321}">
                <p14:modId xmlns:p14="http://schemas.microsoft.com/office/powerpoint/2010/main" val="1458593943"/>
              </p:ext>
            </p:extLst>
          </p:nvPr>
        </p:nvGraphicFramePr>
        <p:xfrm>
          <a:off x="4799076" y="1466910"/>
          <a:ext cx="4191000" cy="1112520"/>
        </p:xfrm>
        <a:graphic>
          <a:graphicData uri="http://schemas.openxmlformats.org/drawingml/2006/table">
            <a:tbl>
              <a:tblPr firstRow="1" bandRow="1">
                <a:tableStyleId>{5940675A-B579-460E-94D1-54222C63F5DA}</a:tableStyleId>
              </a:tblPr>
              <a:tblGrid>
                <a:gridCol w="533400"/>
                <a:gridCol w="1219200"/>
                <a:gridCol w="1219200"/>
                <a:gridCol w="1219200"/>
              </a:tblGrid>
              <a:tr h="370840">
                <a:tc>
                  <a:txBody>
                    <a:bodyPr/>
                    <a:lstStyle/>
                    <a:p>
                      <a:endParaRPr lang="en-US" dirty="0"/>
                    </a:p>
                  </a:txBody>
                  <a:tcPr/>
                </a:tc>
                <a:tc>
                  <a:txBody>
                    <a:bodyPr/>
                    <a:lstStyle/>
                    <a:p>
                      <a:pPr algn="ctr"/>
                      <a:r>
                        <a:rPr lang="en-US" dirty="0" err="1" smtClean="0"/>
                        <a:t>aP</a:t>
                      </a:r>
                      <a:endParaRPr lang="en-US" dirty="0"/>
                    </a:p>
                  </a:txBody>
                  <a:tcPr/>
                </a:tc>
                <a:tc>
                  <a:txBody>
                    <a:bodyPr/>
                    <a:lstStyle/>
                    <a:p>
                      <a:pPr algn="ctr"/>
                      <a:r>
                        <a:rPr lang="en-US" dirty="0" smtClean="0"/>
                        <a:t>AP</a:t>
                      </a:r>
                      <a:endParaRPr lang="en-US" dirty="0"/>
                    </a:p>
                  </a:txBody>
                  <a:tcPr/>
                </a:tc>
                <a:tc>
                  <a:txBody>
                    <a:bodyPr/>
                    <a:lstStyle/>
                    <a:p>
                      <a:pPr algn="ctr"/>
                      <a:r>
                        <a:rPr lang="en-US" dirty="0" smtClean="0"/>
                        <a:t>P</a:t>
                      </a:r>
                      <a:endParaRPr lang="en-US" dirty="0"/>
                    </a:p>
                  </a:txBody>
                  <a:tcPr/>
                </a:tc>
              </a:tr>
              <a:tr h="370840">
                <a:tc>
                  <a:txBody>
                    <a:bodyPr/>
                    <a:lstStyle/>
                    <a:p>
                      <a:r>
                        <a:rPr lang="en-US" dirty="0" smtClean="0"/>
                        <a:t>M</a:t>
                      </a:r>
                      <a:endParaRPr lang="en-US" dirty="0"/>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tr>
              <a:tr h="370840">
                <a:tc>
                  <a:txBody>
                    <a:bodyPr/>
                    <a:lstStyle/>
                    <a:p>
                      <a:r>
                        <a:rPr lang="en-US" dirty="0" smtClean="0"/>
                        <a:t>F</a:t>
                      </a:r>
                      <a:endParaRPr lang="en-US" dirty="0"/>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tr>
            </a:tbl>
          </a:graphicData>
        </a:graphic>
      </p:graphicFrame>
      <p:sp>
        <p:nvSpPr>
          <p:cNvPr id="15" name="TextBox 14"/>
          <p:cNvSpPr txBox="1"/>
          <p:nvPr/>
        </p:nvSpPr>
        <p:spPr>
          <a:xfrm>
            <a:off x="4913376" y="1066800"/>
            <a:ext cx="1981200" cy="400110"/>
          </a:xfrm>
          <a:prstGeom prst="rect">
            <a:avLst/>
          </a:prstGeom>
          <a:noFill/>
        </p:spPr>
        <p:txBody>
          <a:bodyPr wrap="square" rtlCol="0">
            <a:spAutoFit/>
          </a:bodyPr>
          <a:lstStyle/>
          <a:p>
            <a:r>
              <a:rPr lang="en-US" sz="2000" b="1" dirty="0" smtClean="0">
                <a:solidFill>
                  <a:schemeClr val="tx2"/>
                </a:solidFill>
              </a:rPr>
              <a:t>Contribution</a:t>
            </a:r>
            <a:endParaRPr lang="en-US" sz="2000" b="1" dirty="0">
              <a:solidFill>
                <a:schemeClr val="tx2"/>
              </a:solidFill>
            </a:endParaRPr>
          </a:p>
        </p:txBody>
      </p:sp>
      <p:graphicFrame>
        <p:nvGraphicFramePr>
          <p:cNvPr id="13" name="Table 12"/>
          <p:cNvGraphicFramePr>
            <a:graphicFrameLocks noGrp="1"/>
          </p:cNvGraphicFramePr>
          <p:nvPr>
            <p:extLst>
              <p:ext uri="{D42A27DB-BD31-4B8C-83A1-F6EECF244321}">
                <p14:modId xmlns:p14="http://schemas.microsoft.com/office/powerpoint/2010/main" val="657110017"/>
              </p:ext>
            </p:extLst>
          </p:nvPr>
        </p:nvGraphicFramePr>
        <p:xfrm>
          <a:off x="152400" y="1485198"/>
          <a:ext cx="4410456" cy="1112520"/>
        </p:xfrm>
        <a:graphic>
          <a:graphicData uri="http://schemas.openxmlformats.org/drawingml/2006/table">
            <a:tbl>
              <a:tblPr firstRow="1" bandRow="1">
                <a:tableStyleId>{5940675A-B579-460E-94D1-54222C63F5DA}</a:tableStyleId>
              </a:tblPr>
              <a:tblGrid>
                <a:gridCol w="371855"/>
                <a:gridCol w="1371600"/>
                <a:gridCol w="1295400"/>
                <a:gridCol w="1371601"/>
              </a:tblGrid>
              <a:tr h="370840">
                <a:tc>
                  <a:txBody>
                    <a:bodyPr/>
                    <a:lstStyle/>
                    <a:p>
                      <a:endParaRPr lang="en-US" dirty="0"/>
                    </a:p>
                  </a:txBody>
                  <a:tcPr/>
                </a:tc>
                <a:tc>
                  <a:txBody>
                    <a:bodyPr/>
                    <a:lstStyle/>
                    <a:p>
                      <a:pPr algn="ctr"/>
                      <a:r>
                        <a:rPr lang="en-US" dirty="0" err="1" smtClean="0"/>
                        <a:t>aP</a:t>
                      </a:r>
                      <a:endParaRPr lang="en-US" dirty="0"/>
                    </a:p>
                  </a:txBody>
                  <a:tcPr/>
                </a:tc>
                <a:tc>
                  <a:txBody>
                    <a:bodyPr/>
                    <a:lstStyle/>
                    <a:p>
                      <a:pPr algn="ctr"/>
                      <a:r>
                        <a:rPr lang="en-US" dirty="0" smtClean="0"/>
                        <a:t>AP</a:t>
                      </a:r>
                      <a:endParaRPr lang="en-US" dirty="0"/>
                    </a:p>
                  </a:txBody>
                  <a:tcPr/>
                </a:tc>
                <a:tc>
                  <a:txBody>
                    <a:bodyPr/>
                    <a:lstStyle/>
                    <a:p>
                      <a:pPr algn="ctr"/>
                      <a:r>
                        <a:rPr lang="en-US" dirty="0" smtClean="0"/>
                        <a:t>P</a:t>
                      </a:r>
                      <a:endParaRPr lang="en-US" dirty="0"/>
                    </a:p>
                  </a:txBody>
                  <a:tcPr/>
                </a:tc>
              </a:tr>
              <a:tr h="370840">
                <a:tc>
                  <a:txBody>
                    <a:bodyPr/>
                    <a:lstStyle/>
                    <a:p>
                      <a:r>
                        <a:rPr lang="en-US" dirty="0" smtClean="0"/>
                        <a:t>M</a:t>
                      </a:r>
                      <a:endParaRPr lang="en-US" dirty="0"/>
                    </a:p>
                  </a:txBody>
                  <a:tcPr/>
                </a:tc>
                <a:tc>
                  <a:txBody>
                    <a:bodyPr/>
                    <a:lstStyle/>
                    <a:p>
                      <a:pPr algn="ctr"/>
                      <a:r>
                        <a:rPr lang="en-US" b="1" dirty="0" smtClean="0">
                          <a:solidFill>
                            <a:schemeClr val="accent5">
                              <a:lumMod val="75000"/>
                            </a:schemeClr>
                          </a:solidFill>
                        </a:rPr>
                        <a:t>20</a:t>
                      </a:r>
                      <a:r>
                        <a:rPr lang="en-US" dirty="0" smtClean="0"/>
                        <a:t> </a:t>
                      </a:r>
                      <a:r>
                        <a:rPr lang="en-US" dirty="0" smtClean="0"/>
                        <a:t>(          )</a:t>
                      </a:r>
                      <a:endParaRPr lang="en-US" dirty="0"/>
                    </a:p>
                  </a:txBody>
                  <a:tcPr/>
                </a:tc>
                <a:tc>
                  <a:txBody>
                    <a:bodyPr/>
                    <a:lstStyle/>
                    <a:p>
                      <a:pPr algn="ctr"/>
                      <a:r>
                        <a:rPr lang="en-US" b="1" dirty="0" smtClean="0">
                          <a:solidFill>
                            <a:schemeClr val="accent5">
                              <a:lumMod val="75000"/>
                            </a:schemeClr>
                          </a:solidFill>
                        </a:rPr>
                        <a:t>30</a:t>
                      </a:r>
                      <a:r>
                        <a:rPr lang="en-US" dirty="0" smtClean="0"/>
                        <a:t> </a:t>
                      </a:r>
                      <a:r>
                        <a:rPr lang="en-US" dirty="0" smtClean="0"/>
                        <a:t>(          )</a:t>
                      </a:r>
                      <a:endParaRPr lang="en-US" dirty="0"/>
                    </a:p>
                  </a:txBody>
                  <a:tcPr/>
                </a:tc>
                <a:tc>
                  <a:txBody>
                    <a:bodyPr/>
                    <a:lstStyle/>
                    <a:p>
                      <a:pPr algn="ctr"/>
                      <a:r>
                        <a:rPr lang="en-US" b="1" dirty="0" smtClean="0">
                          <a:solidFill>
                            <a:schemeClr val="accent5">
                              <a:lumMod val="75000"/>
                            </a:schemeClr>
                          </a:solidFill>
                        </a:rPr>
                        <a:t>33 </a:t>
                      </a:r>
                      <a:r>
                        <a:rPr lang="en-US" dirty="0" smtClean="0"/>
                        <a:t>(          )</a:t>
                      </a:r>
                      <a:endParaRPr lang="en-US" dirty="0"/>
                    </a:p>
                  </a:txBody>
                  <a:tcPr/>
                </a:tc>
              </a:tr>
              <a:tr h="370840">
                <a:tc>
                  <a:txBody>
                    <a:bodyPr/>
                    <a:lstStyle/>
                    <a:p>
                      <a:r>
                        <a:rPr lang="en-US" dirty="0" smtClean="0"/>
                        <a:t>F</a:t>
                      </a:r>
                      <a:endParaRPr lang="en-US" dirty="0"/>
                    </a:p>
                  </a:txBody>
                  <a:tcPr/>
                </a:tc>
                <a:tc>
                  <a:txBody>
                    <a:bodyPr/>
                    <a:lstStyle/>
                    <a:p>
                      <a:pPr algn="ctr"/>
                      <a:r>
                        <a:rPr kumimoji="0" lang="en-US" b="1" kern="1200" dirty="0" smtClean="0">
                          <a:solidFill>
                            <a:schemeClr val="accent5">
                              <a:lumMod val="75000"/>
                            </a:schemeClr>
                          </a:solidFill>
                          <a:latin typeface="+mn-lt"/>
                          <a:ea typeface="+mn-ea"/>
                          <a:cs typeface="+mn-cs"/>
                        </a:rPr>
                        <a:t>20</a:t>
                      </a:r>
                      <a:r>
                        <a:rPr lang="en-US" dirty="0" smtClean="0"/>
                        <a:t> </a:t>
                      </a:r>
                      <a:r>
                        <a:rPr lang="en-US" dirty="0" smtClean="0"/>
                        <a:t>(          )</a:t>
                      </a:r>
                      <a:endParaRPr lang="en-US" dirty="0"/>
                    </a:p>
                  </a:txBody>
                  <a:tcPr/>
                </a:tc>
                <a:tc>
                  <a:txBody>
                    <a:bodyPr/>
                    <a:lstStyle/>
                    <a:p>
                      <a:pPr algn="ctr"/>
                      <a:r>
                        <a:rPr lang="en-US" b="1" dirty="0" smtClean="0">
                          <a:solidFill>
                            <a:schemeClr val="accent5">
                              <a:lumMod val="75000"/>
                            </a:schemeClr>
                          </a:solidFill>
                        </a:rPr>
                        <a:t>45</a:t>
                      </a:r>
                      <a:r>
                        <a:rPr lang="en-US" dirty="0" smtClean="0"/>
                        <a:t> </a:t>
                      </a:r>
                      <a:r>
                        <a:rPr lang="en-US" dirty="0" smtClean="0"/>
                        <a:t>(          )</a:t>
                      </a:r>
                      <a:endParaRPr lang="en-US" dirty="0"/>
                    </a:p>
                  </a:txBody>
                  <a:tcPr/>
                </a:tc>
                <a:tc>
                  <a:txBody>
                    <a:bodyPr/>
                    <a:lstStyle/>
                    <a:p>
                      <a:pPr algn="ctr"/>
                      <a:r>
                        <a:rPr lang="en-US" b="1" dirty="0" smtClean="0">
                          <a:solidFill>
                            <a:schemeClr val="accent5">
                              <a:lumMod val="75000"/>
                            </a:schemeClr>
                          </a:solidFill>
                        </a:rPr>
                        <a:t>10</a:t>
                      </a:r>
                      <a:r>
                        <a:rPr lang="en-US" dirty="0" smtClean="0"/>
                        <a:t> </a:t>
                      </a:r>
                      <a:r>
                        <a:rPr lang="en-US" dirty="0" smtClean="0"/>
                        <a:t>(          )</a:t>
                      </a:r>
                      <a:endParaRPr lang="en-US" dirty="0"/>
                    </a:p>
                  </a:txBody>
                  <a:tcPr/>
                </a:tc>
              </a:tr>
            </a:tbl>
          </a:graphicData>
        </a:graphic>
      </p:graphicFrame>
    </p:spTree>
    <p:custDataLst>
      <p:tags r:id="rId1"/>
    </p:custDataLst>
    <p:extLst>
      <p:ext uri="{BB962C8B-B14F-4D97-AF65-F5344CB8AC3E}">
        <p14:creationId xmlns:p14="http://schemas.microsoft.com/office/powerpoint/2010/main" val="94625025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 name="Table 15"/>
          <p:cNvGraphicFramePr>
            <a:graphicFrameLocks noGrp="1"/>
          </p:cNvGraphicFramePr>
          <p:nvPr>
            <p:extLst>
              <p:ext uri="{D42A27DB-BD31-4B8C-83A1-F6EECF244321}">
                <p14:modId xmlns:p14="http://schemas.microsoft.com/office/powerpoint/2010/main" val="328923306"/>
              </p:ext>
            </p:extLst>
          </p:nvPr>
        </p:nvGraphicFramePr>
        <p:xfrm>
          <a:off x="304800" y="1805940"/>
          <a:ext cx="4410456" cy="1112520"/>
        </p:xfrm>
        <a:graphic>
          <a:graphicData uri="http://schemas.openxmlformats.org/drawingml/2006/table">
            <a:tbl>
              <a:tblPr firstRow="1" bandRow="1">
                <a:tableStyleId>{5940675A-B579-460E-94D1-54222C63F5DA}</a:tableStyleId>
              </a:tblPr>
              <a:tblGrid>
                <a:gridCol w="371855"/>
                <a:gridCol w="1371600"/>
                <a:gridCol w="1295400"/>
                <a:gridCol w="1371601"/>
              </a:tblGrid>
              <a:tr h="370840">
                <a:tc>
                  <a:txBody>
                    <a:bodyPr/>
                    <a:lstStyle/>
                    <a:p>
                      <a:endParaRPr lang="en-US" dirty="0"/>
                    </a:p>
                  </a:txBody>
                  <a:tcPr/>
                </a:tc>
                <a:tc>
                  <a:txBody>
                    <a:bodyPr/>
                    <a:lstStyle/>
                    <a:p>
                      <a:pPr algn="ctr"/>
                      <a:r>
                        <a:rPr lang="en-US" dirty="0" err="1" smtClean="0"/>
                        <a:t>aP</a:t>
                      </a:r>
                      <a:endParaRPr lang="en-US" dirty="0"/>
                    </a:p>
                  </a:txBody>
                  <a:tcPr/>
                </a:tc>
                <a:tc>
                  <a:txBody>
                    <a:bodyPr/>
                    <a:lstStyle/>
                    <a:p>
                      <a:pPr algn="ctr"/>
                      <a:r>
                        <a:rPr lang="en-US" dirty="0" smtClean="0"/>
                        <a:t>AP</a:t>
                      </a:r>
                      <a:endParaRPr lang="en-US" dirty="0"/>
                    </a:p>
                  </a:txBody>
                  <a:tcPr/>
                </a:tc>
                <a:tc>
                  <a:txBody>
                    <a:bodyPr/>
                    <a:lstStyle/>
                    <a:p>
                      <a:pPr algn="ctr"/>
                      <a:r>
                        <a:rPr lang="en-US" dirty="0" smtClean="0"/>
                        <a:t>P</a:t>
                      </a:r>
                      <a:endParaRPr lang="en-US" dirty="0"/>
                    </a:p>
                  </a:txBody>
                  <a:tcPr/>
                </a:tc>
              </a:tr>
              <a:tr h="370840">
                <a:tc>
                  <a:txBody>
                    <a:bodyPr/>
                    <a:lstStyle/>
                    <a:p>
                      <a:r>
                        <a:rPr lang="en-US" dirty="0" smtClean="0"/>
                        <a:t>M</a:t>
                      </a:r>
                      <a:endParaRPr lang="en-US" dirty="0"/>
                    </a:p>
                  </a:txBody>
                  <a:tcPr/>
                </a:tc>
                <a:tc>
                  <a:txBody>
                    <a:bodyPr/>
                    <a:lstStyle/>
                    <a:p>
                      <a:pPr algn="ctr"/>
                      <a:r>
                        <a:rPr lang="en-US" b="1" dirty="0" smtClean="0">
                          <a:solidFill>
                            <a:schemeClr val="accent5">
                              <a:lumMod val="75000"/>
                            </a:schemeClr>
                          </a:solidFill>
                        </a:rPr>
                        <a:t>20</a:t>
                      </a:r>
                      <a:r>
                        <a:rPr lang="en-US" dirty="0" smtClean="0"/>
                        <a:t> </a:t>
                      </a:r>
                      <a:r>
                        <a:rPr lang="en-US" dirty="0" smtClean="0"/>
                        <a:t>(          )</a:t>
                      </a:r>
                      <a:endParaRPr lang="en-US" dirty="0"/>
                    </a:p>
                  </a:txBody>
                  <a:tcPr/>
                </a:tc>
                <a:tc>
                  <a:txBody>
                    <a:bodyPr/>
                    <a:lstStyle/>
                    <a:p>
                      <a:pPr algn="ctr"/>
                      <a:r>
                        <a:rPr lang="en-US" b="1" dirty="0" smtClean="0">
                          <a:solidFill>
                            <a:schemeClr val="accent5">
                              <a:lumMod val="75000"/>
                            </a:schemeClr>
                          </a:solidFill>
                        </a:rPr>
                        <a:t>30</a:t>
                      </a:r>
                      <a:r>
                        <a:rPr lang="en-US" dirty="0" smtClean="0"/>
                        <a:t> </a:t>
                      </a:r>
                      <a:r>
                        <a:rPr lang="en-US" dirty="0" smtClean="0"/>
                        <a:t>(          )</a:t>
                      </a:r>
                      <a:endParaRPr lang="en-US" dirty="0"/>
                    </a:p>
                  </a:txBody>
                  <a:tcPr/>
                </a:tc>
                <a:tc>
                  <a:txBody>
                    <a:bodyPr/>
                    <a:lstStyle/>
                    <a:p>
                      <a:pPr algn="ctr"/>
                      <a:r>
                        <a:rPr lang="en-US" b="1" dirty="0" smtClean="0">
                          <a:solidFill>
                            <a:schemeClr val="accent5">
                              <a:lumMod val="75000"/>
                            </a:schemeClr>
                          </a:solidFill>
                        </a:rPr>
                        <a:t>33 </a:t>
                      </a:r>
                      <a:r>
                        <a:rPr lang="en-US" dirty="0" smtClean="0"/>
                        <a:t>(          )</a:t>
                      </a:r>
                      <a:endParaRPr lang="en-US" dirty="0"/>
                    </a:p>
                  </a:txBody>
                  <a:tcPr/>
                </a:tc>
              </a:tr>
              <a:tr h="370840">
                <a:tc>
                  <a:txBody>
                    <a:bodyPr/>
                    <a:lstStyle/>
                    <a:p>
                      <a:r>
                        <a:rPr lang="en-US" dirty="0" smtClean="0"/>
                        <a:t>F</a:t>
                      </a:r>
                      <a:endParaRPr lang="en-US" dirty="0"/>
                    </a:p>
                  </a:txBody>
                  <a:tcPr/>
                </a:tc>
                <a:tc>
                  <a:txBody>
                    <a:bodyPr/>
                    <a:lstStyle/>
                    <a:p>
                      <a:pPr algn="ctr"/>
                      <a:r>
                        <a:rPr kumimoji="0" lang="en-US" b="1" kern="1200" dirty="0" smtClean="0">
                          <a:solidFill>
                            <a:schemeClr val="accent5">
                              <a:lumMod val="75000"/>
                            </a:schemeClr>
                          </a:solidFill>
                          <a:latin typeface="+mn-lt"/>
                          <a:ea typeface="+mn-ea"/>
                          <a:cs typeface="+mn-cs"/>
                        </a:rPr>
                        <a:t>20</a:t>
                      </a:r>
                      <a:r>
                        <a:rPr lang="en-US" dirty="0" smtClean="0"/>
                        <a:t> </a:t>
                      </a:r>
                      <a:r>
                        <a:rPr lang="en-US" dirty="0" smtClean="0"/>
                        <a:t>(          )</a:t>
                      </a:r>
                      <a:endParaRPr lang="en-US" dirty="0"/>
                    </a:p>
                  </a:txBody>
                  <a:tcPr/>
                </a:tc>
                <a:tc>
                  <a:txBody>
                    <a:bodyPr/>
                    <a:lstStyle/>
                    <a:p>
                      <a:pPr algn="ctr"/>
                      <a:r>
                        <a:rPr lang="en-US" b="1" dirty="0" smtClean="0">
                          <a:solidFill>
                            <a:schemeClr val="accent5">
                              <a:lumMod val="75000"/>
                            </a:schemeClr>
                          </a:solidFill>
                        </a:rPr>
                        <a:t>45</a:t>
                      </a:r>
                      <a:r>
                        <a:rPr lang="en-US" dirty="0" smtClean="0"/>
                        <a:t> </a:t>
                      </a:r>
                      <a:r>
                        <a:rPr lang="en-US" dirty="0" smtClean="0"/>
                        <a:t>(          )</a:t>
                      </a:r>
                      <a:endParaRPr lang="en-US" dirty="0"/>
                    </a:p>
                  </a:txBody>
                  <a:tcPr/>
                </a:tc>
                <a:tc>
                  <a:txBody>
                    <a:bodyPr/>
                    <a:lstStyle/>
                    <a:p>
                      <a:pPr algn="ctr"/>
                      <a:r>
                        <a:rPr lang="en-US" b="1" dirty="0" smtClean="0">
                          <a:solidFill>
                            <a:schemeClr val="accent5">
                              <a:lumMod val="75000"/>
                            </a:schemeClr>
                          </a:solidFill>
                        </a:rPr>
                        <a:t>10</a:t>
                      </a:r>
                      <a:r>
                        <a:rPr lang="en-US" dirty="0" smtClean="0"/>
                        <a:t> </a:t>
                      </a:r>
                      <a:r>
                        <a:rPr lang="en-US" dirty="0" smtClean="0"/>
                        <a:t>(          )</a:t>
                      </a:r>
                      <a:endParaRPr lang="en-US" dirty="0"/>
                    </a:p>
                  </a:txBody>
                  <a:tcPr/>
                </a:tc>
              </a:tr>
            </a:tbl>
          </a:graphicData>
        </a:graphic>
      </p:graphicFrame>
      <p:sp>
        <p:nvSpPr>
          <p:cNvPr id="4" name="TPAnswers"/>
          <p:cNvSpPr>
            <a:spLocks noGrp="1"/>
          </p:cNvSpPr>
          <p:nvPr>
            <p:ph sz="quarter" idx="4294967295"/>
            <p:custDataLst>
              <p:tags r:id="rId2"/>
            </p:custDataLst>
          </p:nvPr>
        </p:nvSpPr>
        <p:spPr>
          <a:xfrm>
            <a:off x="0" y="2990910"/>
            <a:ext cx="6858000" cy="3793938"/>
          </a:xfrm>
        </p:spPr>
        <p:txBody>
          <a:bodyPr>
            <a:noAutofit/>
          </a:bodyPr>
          <a:lstStyle/>
          <a:p>
            <a:pPr marL="457200" indent="-457200">
              <a:spcBef>
                <a:spcPts val="0"/>
              </a:spcBef>
              <a:buAutoNum type="alphaUcPeriod"/>
            </a:pPr>
            <a:r>
              <a:rPr lang="en-US" sz="2400" dirty="0"/>
              <a:t>Assistant professors (</a:t>
            </a:r>
            <a:r>
              <a:rPr lang="en-US" sz="2400" dirty="0" err="1"/>
              <a:t>aP</a:t>
            </a:r>
            <a:r>
              <a:rPr lang="en-US" sz="2400" dirty="0"/>
              <a:t>) and we see that the genders are equally split</a:t>
            </a:r>
          </a:p>
          <a:p>
            <a:pPr marL="457200" indent="-457200">
              <a:spcBef>
                <a:spcPts val="0"/>
              </a:spcBef>
              <a:buAutoNum type="alphaUcPeriod"/>
            </a:pPr>
            <a:r>
              <a:rPr lang="en-US" sz="2400" dirty="0"/>
              <a:t>Associate professors (AP) and we see that there are more female and fewer male associate professors than we expect.</a:t>
            </a:r>
          </a:p>
          <a:p>
            <a:pPr marL="457200" indent="-457200">
              <a:spcBef>
                <a:spcPts val="0"/>
              </a:spcBef>
              <a:buAutoNum type="alphaUcPeriod"/>
            </a:pPr>
            <a:r>
              <a:rPr lang="en-US" sz="2400" dirty="0"/>
              <a:t>Professors (P) and we see that there are more female and fewer males professors than we expect.</a:t>
            </a:r>
          </a:p>
          <a:p>
            <a:pPr marL="457200" indent="-457200">
              <a:spcBef>
                <a:spcPts val="0"/>
              </a:spcBef>
              <a:buAutoNum type="alphaUcPeriod"/>
            </a:pPr>
            <a:r>
              <a:rPr lang="en-US" sz="2400" dirty="0"/>
              <a:t>Professors (P) and we see that there are more male and fewer female professors than we expect</a:t>
            </a:r>
            <a:r>
              <a:rPr lang="en-US" sz="2400" dirty="0" smtClean="0"/>
              <a:t>.</a:t>
            </a:r>
            <a:endParaRPr lang="en-US" sz="2400" dirty="0"/>
          </a:p>
        </p:txBody>
      </p:sp>
      <p:sp>
        <p:nvSpPr>
          <p:cNvPr id="3" name="TPQuestion"/>
          <p:cNvSpPr>
            <a:spLocks noGrp="1"/>
          </p:cNvSpPr>
          <p:nvPr>
            <p:ph type="title" idx="4294967295"/>
          </p:nvPr>
        </p:nvSpPr>
        <p:spPr>
          <a:xfrm>
            <a:off x="0" y="3049"/>
            <a:ext cx="9144000" cy="1368551"/>
          </a:xfrm>
        </p:spPr>
        <p:txBody>
          <a:bodyPr>
            <a:noAutofit/>
          </a:bodyPr>
          <a:lstStyle/>
          <a:p>
            <a:r>
              <a:rPr lang="en-US" sz="2700" dirty="0"/>
              <a:t>Is there an association between faculty rank and gender? </a:t>
            </a:r>
            <a:r>
              <a:rPr lang="en-US" sz="2700" i="1" dirty="0">
                <a:solidFill>
                  <a:schemeClr val="accent3">
                    <a:lumMod val="75000"/>
                  </a:schemeClr>
                </a:solidFill>
              </a:rPr>
              <a:t>Which rank (</a:t>
            </a:r>
            <a:r>
              <a:rPr lang="en-US" sz="2700" i="1" dirty="0" err="1">
                <a:solidFill>
                  <a:schemeClr val="accent3">
                    <a:lumMod val="75000"/>
                  </a:schemeClr>
                </a:solidFill>
              </a:rPr>
              <a:t>aP</a:t>
            </a:r>
            <a:r>
              <a:rPr lang="en-US" sz="2700" i="1" dirty="0">
                <a:solidFill>
                  <a:schemeClr val="accent3">
                    <a:lumMod val="75000"/>
                  </a:schemeClr>
                </a:solidFill>
              </a:rPr>
              <a:t>, AP, or P) contributes the most to the </a:t>
            </a:r>
            <a:r>
              <a:rPr lang="en-US" sz="2700" i="1" dirty="0">
                <a:solidFill>
                  <a:schemeClr val="accent3">
                    <a:lumMod val="75000"/>
                  </a:schemeClr>
                </a:solidFill>
                <a:sym typeface="Symbol"/>
              </a:rPr>
              <a:t></a:t>
            </a:r>
            <a:r>
              <a:rPr lang="en-US" sz="2700" i="1" baseline="30000" dirty="0">
                <a:solidFill>
                  <a:schemeClr val="accent3">
                    <a:lumMod val="75000"/>
                  </a:schemeClr>
                </a:solidFill>
                <a:sym typeface="Symbol"/>
              </a:rPr>
              <a:t>2</a:t>
            </a:r>
            <a:r>
              <a:rPr lang="en-US" sz="2700" i="1" dirty="0">
                <a:solidFill>
                  <a:schemeClr val="accent3">
                    <a:lumMod val="75000"/>
                  </a:schemeClr>
                </a:solidFill>
                <a:sym typeface="Symbol"/>
              </a:rPr>
              <a:t> statistic, and what do the observed and expected counts tell us about that rank?</a:t>
            </a:r>
            <a:endParaRPr lang="en-US" sz="2700" i="1" dirty="0">
              <a:solidFill>
                <a:schemeClr val="accent3">
                  <a:lumMod val="75000"/>
                </a:schemeClr>
              </a:solidFill>
            </a:endParaRPr>
          </a:p>
        </p:txBody>
      </p:sp>
      <p:sp>
        <p:nvSpPr>
          <p:cNvPr id="12" name="TextBox 11"/>
          <p:cNvSpPr txBox="1"/>
          <p:nvPr/>
        </p:nvSpPr>
        <p:spPr>
          <a:xfrm>
            <a:off x="152400" y="1400145"/>
            <a:ext cx="3505200" cy="400110"/>
          </a:xfrm>
          <a:prstGeom prst="rect">
            <a:avLst/>
          </a:prstGeom>
          <a:noFill/>
        </p:spPr>
        <p:txBody>
          <a:bodyPr wrap="square" rtlCol="0">
            <a:spAutoFit/>
          </a:bodyPr>
          <a:lstStyle/>
          <a:p>
            <a:r>
              <a:rPr lang="en-US" sz="2000" b="1" dirty="0" smtClean="0">
                <a:solidFill>
                  <a:schemeClr val="accent5">
                    <a:lumMod val="75000"/>
                  </a:schemeClr>
                </a:solidFill>
              </a:rPr>
              <a:t>Observed </a:t>
            </a:r>
            <a:r>
              <a:rPr lang="en-US" sz="2000" b="1" dirty="0" smtClean="0">
                <a:solidFill>
                  <a:schemeClr val="tx2"/>
                </a:solidFill>
              </a:rPr>
              <a:t>(</a:t>
            </a:r>
            <a:r>
              <a:rPr lang="en-US" sz="2000" b="1" dirty="0" smtClean="0">
                <a:solidFill>
                  <a:schemeClr val="accent2">
                    <a:lumMod val="75000"/>
                  </a:schemeClr>
                </a:solidFill>
              </a:rPr>
              <a:t>Expected</a:t>
            </a:r>
            <a:r>
              <a:rPr lang="en-US" sz="2000" b="1" dirty="0" smtClean="0">
                <a:solidFill>
                  <a:schemeClr val="tx2"/>
                </a:solidFill>
              </a:rPr>
              <a:t>)</a:t>
            </a:r>
            <a:r>
              <a:rPr lang="en-US" sz="2000" b="1" dirty="0" smtClean="0">
                <a:solidFill>
                  <a:schemeClr val="accent5">
                    <a:lumMod val="75000"/>
                  </a:schemeClr>
                </a:solidFill>
              </a:rPr>
              <a:t> </a:t>
            </a:r>
            <a:r>
              <a:rPr lang="en-US" sz="2000" b="1" dirty="0" smtClean="0">
                <a:solidFill>
                  <a:schemeClr val="tx2"/>
                </a:solidFill>
              </a:rPr>
              <a:t>Values</a:t>
            </a:r>
            <a:endParaRPr lang="en-US" sz="2000" b="1" dirty="0">
              <a:solidFill>
                <a:schemeClr val="tx2"/>
              </a:solidFill>
            </a:endParaRPr>
          </a:p>
        </p:txBody>
      </p:sp>
      <p:graphicFrame>
        <p:nvGraphicFramePr>
          <p:cNvPr id="14" name="Table 13"/>
          <p:cNvGraphicFramePr>
            <a:graphicFrameLocks noGrp="1"/>
          </p:cNvGraphicFramePr>
          <p:nvPr>
            <p:extLst>
              <p:ext uri="{D42A27DB-BD31-4B8C-83A1-F6EECF244321}">
                <p14:modId xmlns:p14="http://schemas.microsoft.com/office/powerpoint/2010/main" val="1754473749"/>
              </p:ext>
            </p:extLst>
          </p:nvPr>
        </p:nvGraphicFramePr>
        <p:xfrm>
          <a:off x="4914900" y="1800255"/>
          <a:ext cx="4191000" cy="1112520"/>
        </p:xfrm>
        <a:graphic>
          <a:graphicData uri="http://schemas.openxmlformats.org/drawingml/2006/table">
            <a:tbl>
              <a:tblPr firstRow="1" bandRow="1">
                <a:tableStyleId>{5940675A-B579-460E-94D1-54222C63F5DA}</a:tableStyleId>
              </a:tblPr>
              <a:tblGrid>
                <a:gridCol w="533400"/>
                <a:gridCol w="1219200"/>
                <a:gridCol w="1219200"/>
                <a:gridCol w="1219200"/>
              </a:tblGrid>
              <a:tr h="370840">
                <a:tc>
                  <a:txBody>
                    <a:bodyPr/>
                    <a:lstStyle/>
                    <a:p>
                      <a:endParaRPr lang="en-US" dirty="0"/>
                    </a:p>
                  </a:txBody>
                  <a:tcPr/>
                </a:tc>
                <a:tc>
                  <a:txBody>
                    <a:bodyPr/>
                    <a:lstStyle/>
                    <a:p>
                      <a:pPr algn="ctr"/>
                      <a:r>
                        <a:rPr lang="en-US" dirty="0" err="1" smtClean="0"/>
                        <a:t>aP</a:t>
                      </a:r>
                      <a:endParaRPr lang="en-US" dirty="0"/>
                    </a:p>
                  </a:txBody>
                  <a:tcPr/>
                </a:tc>
                <a:tc>
                  <a:txBody>
                    <a:bodyPr/>
                    <a:lstStyle/>
                    <a:p>
                      <a:pPr algn="ctr"/>
                      <a:r>
                        <a:rPr lang="en-US" dirty="0" smtClean="0"/>
                        <a:t>AP</a:t>
                      </a:r>
                      <a:endParaRPr lang="en-US" dirty="0"/>
                    </a:p>
                  </a:txBody>
                  <a:tcPr/>
                </a:tc>
                <a:tc>
                  <a:txBody>
                    <a:bodyPr/>
                    <a:lstStyle/>
                    <a:p>
                      <a:pPr algn="ctr"/>
                      <a:r>
                        <a:rPr lang="en-US" dirty="0" smtClean="0"/>
                        <a:t>P</a:t>
                      </a:r>
                      <a:endParaRPr lang="en-US" dirty="0"/>
                    </a:p>
                  </a:txBody>
                  <a:tcPr/>
                </a:tc>
              </a:tr>
              <a:tr h="370840">
                <a:tc>
                  <a:txBody>
                    <a:bodyPr/>
                    <a:lstStyle/>
                    <a:p>
                      <a:r>
                        <a:rPr lang="en-US" dirty="0" smtClean="0"/>
                        <a:t>M</a:t>
                      </a:r>
                      <a:endParaRPr lang="en-US" dirty="0"/>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tr>
              <a:tr h="370840">
                <a:tc>
                  <a:txBody>
                    <a:bodyPr/>
                    <a:lstStyle/>
                    <a:p>
                      <a:r>
                        <a:rPr lang="en-US" dirty="0" smtClean="0"/>
                        <a:t>F</a:t>
                      </a:r>
                      <a:endParaRPr lang="en-US" dirty="0"/>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tr>
            </a:tbl>
          </a:graphicData>
        </a:graphic>
      </p:graphicFrame>
      <p:sp>
        <p:nvSpPr>
          <p:cNvPr id="15" name="TextBox 14"/>
          <p:cNvSpPr txBox="1"/>
          <p:nvPr/>
        </p:nvSpPr>
        <p:spPr>
          <a:xfrm>
            <a:off x="5029200" y="1400145"/>
            <a:ext cx="1981200" cy="400110"/>
          </a:xfrm>
          <a:prstGeom prst="rect">
            <a:avLst/>
          </a:prstGeom>
          <a:noFill/>
        </p:spPr>
        <p:txBody>
          <a:bodyPr wrap="square" rtlCol="0">
            <a:spAutoFit/>
          </a:bodyPr>
          <a:lstStyle/>
          <a:p>
            <a:r>
              <a:rPr lang="en-US" sz="2000" b="1" dirty="0" smtClean="0">
                <a:solidFill>
                  <a:schemeClr val="tx2"/>
                </a:solidFill>
              </a:rPr>
              <a:t>Contribution</a:t>
            </a:r>
            <a:endParaRPr lang="en-US" sz="2000" b="1" dirty="0">
              <a:solidFill>
                <a:schemeClr val="tx2"/>
              </a:solidFill>
            </a:endParaRPr>
          </a:p>
        </p:txBody>
      </p:sp>
    </p:spTree>
    <p:custDataLst>
      <p:tags r:id="rId1"/>
    </p:custDataLst>
    <p:extLst>
      <p:ext uri="{BB962C8B-B14F-4D97-AF65-F5344CB8AC3E}">
        <p14:creationId xmlns:p14="http://schemas.microsoft.com/office/powerpoint/2010/main" val="3768408030"/>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PAnswers"/>
          <p:cNvSpPr>
            <a:spLocks noGrp="1"/>
          </p:cNvSpPr>
          <p:nvPr>
            <p:ph sz="quarter" idx="4294967295"/>
            <p:custDataLst>
              <p:tags r:id="rId2"/>
            </p:custDataLst>
          </p:nvPr>
        </p:nvSpPr>
        <p:spPr>
          <a:xfrm>
            <a:off x="76200" y="4876800"/>
            <a:ext cx="4114800" cy="1854006"/>
          </a:xfrm>
        </p:spPr>
        <p:txBody>
          <a:bodyPr>
            <a:noAutofit/>
          </a:bodyPr>
          <a:lstStyle/>
          <a:p>
            <a:pPr marL="514350" indent="-514350">
              <a:buAutoNum type="alphaUcPeriod"/>
            </a:pPr>
            <a:r>
              <a:rPr lang="en-US" sz="2600" dirty="0"/>
              <a:t>Yes</a:t>
            </a:r>
          </a:p>
          <a:p>
            <a:pPr marL="514350" indent="-514350">
              <a:buAutoNum type="alphaUcPeriod"/>
            </a:pPr>
            <a:r>
              <a:rPr lang="en-US" sz="2600" dirty="0"/>
              <a:t>No</a:t>
            </a:r>
          </a:p>
          <a:p>
            <a:pPr marL="514350" indent="-514350">
              <a:buAutoNum type="alphaUcPeriod"/>
            </a:pPr>
            <a:r>
              <a:rPr lang="en-US" sz="2600" dirty="0"/>
              <a:t>Not given enough information to </a:t>
            </a:r>
            <a:r>
              <a:rPr lang="en-US" sz="2600" dirty="0" smtClean="0"/>
              <a:t>determine</a:t>
            </a:r>
            <a:endParaRPr lang="en-US" sz="2600" dirty="0"/>
          </a:p>
        </p:txBody>
      </p:sp>
      <p:sp>
        <p:nvSpPr>
          <p:cNvPr id="3" name="TPQuestion"/>
          <p:cNvSpPr>
            <a:spLocks noGrp="1"/>
          </p:cNvSpPr>
          <p:nvPr>
            <p:ph type="title" idx="4294967295"/>
          </p:nvPr>
        </p:nvSpPr>
        <p:spPr>
          <a:xfrm>
            <a:off x="0" y="3048"/>
            <a:ext cx="9144000" cy="3095655"/>
          </a:xfrm>
        </p:spPr>
        <p:txBody>
          <a:bodyPr>
            <a:noAutofit/>
          </a:bodyPr>
          <a:lstStyle/>
          <a:p>
            <a:r>
              <a:rPr lang="en-US" sz="2700" dirty="0"/>
              <a:t>Is there an association between faculty rank and gender?  For continuing faculty at many colleges, the ranks are Assistant Professor (</a:t>
            </a:r>
            <a:r>
              <a:rPr lang="en-US" sz="2700" dirty="0" err="1"/>
              <a:t>aP</a:t>
            </a:r>
            <a:r>
              <a:rPr lang="en-US" sz="2700" dirty="0"/>
              <a:t>) for beginning faculty members, Associate Professors (AP) after one promotion, and Professors (P), the highest rank, after another promotion.   The data below show faculty rank and gender for all continuing faculty members at one college in 2012</a:t>
            </a:r>
            <a:r>
              <a:rPr lang="en-US" sz="2700" dirty="0" smtClean="0"/>
              <a:t>. </a:t>
            </a:r>
            <a:r>
              <a:rPr lang="en-US" sz="2800" i="1" dirty="0">
                <a:solidFill>
                  <a:schemeClr val="accent5">
                    <a:lumMod val="75000"/>
                  </a:schemeClr>
                </a:solidFill>
              </a:rPr>
              <a:t>Can we conclude causation from this study</a:t>
            </a:r>
            <a:r>
              <a:rPr lang="en-US" sz="2800" i="1" dirty="0" smtClean="0">
                <a:solidFill>
                  <a:schemeClr val="accent5">
                    <a:lumMod val="75000"/>
                  </a:schemeClr>
                </a:solidFill>
              </a:rPr>
              <a:t>?</a:t>
            </a:r>
            <a:endParaRPr lang="en-US" sz="2800" i="1" dirty="0">
              <a:solidFill>
                <a:srgbClr val="00B050"/>
              </a:solidFill>
            </a:endParaRPr>
          </a:p>
        </p:txBody>
      </p:sp>
      <p:sp>
        <p:nvSpPr>
          <p:cNvPr id="12" name="TextBox 11"/>
          <p:cNvSpPr txBox="1"/>
          <p:nvPr/>
        </p:nvSpPr>
        <p:spPr>
          <a:xfrm>
            <a:off x="76200" y="3048000"/>
            <a:ext cx="3505200" cy="400110"/>
          </a:xfrm>
          <a:prstGeom prst="rect">
            <a:avLst/>
          </a:prstGeom>
          <a:noFill/>
        </p:spPr>
        <p:txBody>
          <a:bodyPr wrap="square" rtlCol="0">
            <a:spAutoFit/>
          </a:bodyPr>
          <a:lstStyle/>
          <a:p>
            <a:r>
              <a:rPr lang="en-US" sz="2000" b="1" dirty="0" smtClean="0">
                <a:solidFill>
                  <a:schemeClr val="accent5">
                    <a:lumMod val="75000"/>
                  </a:schemeClr>
                </a:solidFill>
              </a:rPr>
              <a:t>Observed </a:t>
            </a:r>
            <a:r>
              <a:rPr lang="en-US" sz="2000" b="1" dirty="0" smtClean="0">
                <a:solidFill>
                  <a:schemeClr val="tx2"/>
                </a:solidFill>
              </a:rPr>
              <a:t>(</a:t>
            </a:r>
            <a:r>
              <a:rPr lang="en-US" sz="2000" b="1" dirty="0" smtClean="0">
                <a:solidFill>
                  <a:schemeClr val="accent2">
                    <a:lumMod val="75000"/>
                  </a:schemeClr>
                </a:solidFill>
              </a:rPr>
              <a:t>Expected</a:t>
            </a:r>
            <a:r>
              <a:rPr lang="en-US" sz="2000" b="1" dirty="0" smtClean="0">
                <a:solidFill>
                  <a:schemeClr val="tx2"/>
                </a:solidFill>
              </a:rPr>
              <a:t>)</a:t>
            </a:r>
            <a:r>
              <a:rPr lang="en-US" sz="2000" b="1" dirty="0" smtClean="0">
                <a:solidFill>
                  <a:schemeClr val="accent5">
                    <a:lumMod val="75000"/>
                  </a:schemeClr>
                </a:solidFill>
              </a:rPr>
              <a:t> </a:t>
            </a:r>
            <a:r>
              <a:rPr lang="en-US" sz="2000" b="1" dirty="0" smtClean="0">
                <a:solidFill>
                  <a:schemeClr val="tx2"/>
                </a:solidFill>
              </a:rPr>
              <a:t>Values</a:t>
            </a:r>
            <a:endParaRPr lang="en-US" sz="2000" b="1" dirty="0">
              <a:solidFill>
                <a:schemeClr val="tx2"/>
              </a:solidFill>
            </a:endParaRPr>
          </a:p>
        </p:txBody>
      </p:sp>
      <p:graphicFrame>
        <p:nvGraphicFramePr>
          <p:cNvPr id="14" name="Table 13"/>
          <p:cNvGraphicFramePr>
            <a:graphicFrameLocks noGrp="1"/>
          </p:cNvGraphicFramePr>
          <p:nvPr>
            <p:extLst>
              <p:ext uri="{D42A27DB-BD31-4B8C-83A1-F6EECF244321}">
                <p14:modId xmlns:p14="http://schemas.microsoft.com/office/powerpoint/2010/main" val="421291402"/>
              </p:ext>
            </p:extLst>
          </p:nvPr>
        </p:nvGraphicFramePr>
        <p:xfrm>
          <a:off x="4876800" y="3442014"/>
          <a:ext cx="4191000" cy="1112520"/>
        </p:xfrm>
        <a:graphic>
          <a:graphicData uri="http://schemas.openxmlformats.org/drawingml/2006/table">
            <a:tbl>
              <a:tblPr firstRow="1" bandRow="1">
                <a:tableStyleId>{5940675A-B579-460E-94D1-54222C63F5DA}</a:tableStyleId>
              </a:tblPr>
              <a:tblGrid>
                <a:gridCol w="533400"/>
                <a:gridCol w="1219200"/>
                <a:gridCol w="1219200"/>
                <a:gridCol w="1219200"/>
              </a:tblGrid>
              <a:tr h="370840">
                <a:tc>
                  <a:txBody>
                    <a:bodyPr/>
                    <a:lstStyle/>
                    <a:p>
                      <a:endParaRPr lang="en-US" dirty="0"/>
                    </a:p>
                  </a:txBody>
                  <a:tcPr/>
                </a:tc>
                <a:tc>
                  <a:txBody>
                    <a:bodyPr/>
                    <a:lstStyle/>
                    <a:p>
                      <a:pPr algn="ctr"/>
                      <a:r>
                        <a:rPr lang="en-US" dirty="0" err="1" smtClean="0"/>
                        <a:t>aP</a:t>
                      </a:r>
                      <a:endParaRPr lang="en-US" dirty="0"/>
                    </a:p>
                  </a:txBody>
                  <a:tcPr/>
                </a:tc>
                <a:tc>
                  <a:txBody>
                    <a:bodyPr/>
                    <a:lstStyle/>
                    <a:p>
                      <a:pPr algn="ctr"/>
                      <a:r>
                        <a:rPr lang="en-US" dirty="0" smtClean="0"/>
                        <a:t>AP</a:t>
                      </a:r>
                      <a:endParaRPr lang="en-US" dirty="0"/>
                    </a:p>
                  </a:txBody>
                  <a:tcPr/>
                </a:tc>
                <a:tc>
                  <a:txBody>
                    <a:bodyPr/>
                    <a:lstStyle/>
                    <a:p>
                      <a:pPr algn="ctr"/>
                      <a:r>
                        <a:rPr lang="en-US" dirty="0" smtClean="0"/>
                        <a:t>P</a:t>
                      </a:r>
                      <a:endParaRPr lang="en-US" dirty="0"/>
                    </a:p>
                  </a:txBody>
                  <a:tcPr/>
                </a:tc>
              </a:tr>
              <a:tr h="370840">
                <a:tc>
                  <a:txBody>
                    <a:bodyPr/>
                    <a:lstStyle/>
                    <a:p>
                      <a:r>
                        <a:rPr lang="en-US" dirty="0" smtClean="0"/>
                        <a:t>M</a:t>
                      </a:r>
                      <a:endParaRPr lang="en-US" dirty="0"/>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tr>
              <a:tr h="370840">
                <a:tc>
                  <a:txBody>
                    <a:bodyPr/>
                    <a:lstStyle/>
                    <a:p>
                      <a:r>
                        <a:rPr lang="en-US" dirty="0" smtClean="0"/>
                        <a:t>F</a:t>
                      </a:r>
                      <a:endParaRPr lang="en-US" dirty="0"/>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tr>
            </a:tbl>
          </a:graphicData>
        </a:graphic>
      </p:graphicFrame>
      <p:sp>
        <p:nvSpPr>
          <p:cNvPr id="15" name="TextBox 14"/>
          <p:cNvSpPr txBox="1"/>
          <p:nvPr/>
        </p:nvSpPr>
        <p:spPr>
          <a:xfrm>
            <a:off x="4876800" y="3041904"/>
            <a:ext cx="1981200" cy="400110"/>
          </a:xfrm>
          <a:prstGeom prst="rect">
            <a:avLst/>
          </a:prstGeom>
          <a:noFill/>
        </p:spPr>
        <p:txBody>
          <a:bodyPr wrap="square" rtlCol="0">
            <a:spAutoFit/>
          </a:bodyPr>
          <a:lstStyle/>
          <a:p>
            <a:r>
              <a:rPr lang="en-US" sz="2000" b="1" dirty="0" smtClean="0">
                <a:solidFill>
                  <a:schemeClr val="tx2"/>
                </a:solidFill>
              </a:rPr>
              <a:t>Contribution</a:t>
            </a:r>
            <a:endParaRPr lang="en-US" sz="2000" b="1" dirty="0">
              <a:solidFill>
                <a:schemeClr val="tx2"/>
              </a:solidFill>
            </a:endParaRPr>
          </a:p>
        </p:txBody>
      </p:sp>
      <p:graphicFrame>
        <p:nvGraphicFramePr>
          <p:cNvPr id="13" name="Table 12"/>
          <p:cNvGraphicFramePr>
            <a:graphicFrameLocks noGrp="1"/>
          </p:cNvGraphicFramePr>
          <p:nvPr>
            <p:extLst>
              <p:ext uri="{D42A27DB-BD31-4B8C-83A1-F6EECF244321}">
                <p14:modId xmlns:p14="http://schemas.microsoft.com/office/powerpoint/2010/main" val="341721730"/>
              </p:ext>
            </p:extLst>
          </p:nvPr>
        </p:nvGraphicFramePr>
        <p:xfrm>
          <a:off x="85345" y="3442014"/>
          <a:ext cx="4410456" cy="1112520"/>
        </p:xfrm>
        <a:graphic>
          <a:graphicData uri="http://schemas.openxmlformats.org/drawingml/2006/table">
            <a:tbl>
              <a:tblPr firstRow="1" bandRow="1">
                <a:tableStyleId>{5940675A-B579-460E-94D1-54222C63F5DA}</a:tableStyleId>
              </a:tblPr>
              <a:tblGrid>
                <a:gridCol w="371855"/>
                <a:gridCol w="1371600"/>
                <a:gridCol w="1295400"/>
                <a:gridCol w="1371601"/>
              </a:tblGrid>
              <a:tr h="370840">
                <a:tc>
                  <a:txBody>
                    <a:bodyPr/>
                    <a:lstStyle/>
                    <a:p>
                      <a:endParaRPr lang="en-US" dirty="0"/>
                    </a:p>
                  </a:txBody>
                  <a:tcPr/>
                </a:tc>
                <a:tc>
                  <a:txBody>
                    <a:bodyPr/>
                    <a:lstStyle/>
                    <a:p>
                      <a:pPr algn="ctr"/>
                      <a:r>
                        <a:rPr lang="en-US" dirty="0" err="1" smtClean="0"/>
                        <a:t>aP</a:t>
                      </a:r>
                      <a:endParaRPr lang="en-US" dirty="0"/>
                    </a:p>
                  </a:txBody>
                  <a:tcPr/>
                </a:tc>
                <a:tc>
                  <a:txBody>
                    <a:bodyPr/>
                    <a:lstStyle/>
                    <a:p>
                      <a:pPr algn="ctr"/>
                      <a:r>
                        <a:rPr lang="en-US" dirty="0" smtClean="0"/>
                        <a:t>AP</a:t>
                      </a:r>
                      <a:endParaRPr lang="en-US" dirty="0"/>
                    </a:p>
                  </a:txBody>
                  <a:tcPr/>
                </a:tc>
                <a:tc>
                  <a:txBody>
                    <a:bodyPr/>
                    <a:lstStyle/>
                    <a:p>
                      <a:pPr algn="ctr"/>
                      <a:r>
                        <a:rPr lang="en-US" dirty="0" smtClean="0"/>
                        <a:t>P</a:t>
                      </a:r>
                      <a:endParaRPr lang="en-US" dirty="0"/>
                    </a:p>
                  </a:txBody>
                  <a:tcPr/>
                </a:tc>
              </a:tr>
              <a:tr h="370840">
                <a:tc>
                  <a:txBody>
                    <a:bodyPr/>
                    <a:lstStyle/>
                    <a:p>
                      <a:r>
                        <a:rPr lang="en-US" dirty="0" smtClean="0"/>
                        <a:t>M</a:t>
                      </a:r>
                      <a:endParaRPr lang="en-US" dirty="0"/>
                    </a:p>
                  </a:txBody>
                  <a:tcPr/>
                </a:tc>
                <a:tc>
                  <a:txBody>
                    <a:bodyPr/>
                    <a:lstStyle/>
                    <a:p>
                      <a:pPr algn="ctr"/>
                      <a:r>
                        <a:rPr lang="en-US" b="1" dirty="0" smtClean="0">
                          <a:solidFill>
                            <a:schemeClr val="accent5">
                              <a:lumMod val="75000"/>
                            </a:schemeClr>
                          </a:solidFill>
                        </a:rPr>
                        <a:t>20</a:t>
                      </a:r>
                      <a:r>
                        <a:rPr lang="en-US" dirty="0" smtClean="0"/>
                        <a:t> </a:t>
                      </a:r>
                      <a:r>
                        <a:rPr lang="en-US" dirty="0" smtClean="0"/>
                        <a:t>(          )</a:t>
                      </a:r>
                      <a:endParaRPr lang="en-US" dirty="0"/>
                    </a:p>
                  </a:txBody>
                  <a:tcPr/>
                </a:tc>
                <a:tc>
                  <a:txBody>
                    <a:bodyPr/>
                    <a:lstStyle/>
                    <a:p>
                      <a:pPr algn="ctr"/>
                      <a:r>
                        <a:rPr lang="en-US" b="1" dirty="0" smtClean="0">
                          <a:solidFill>
                            <a:schemeClr val="accent5">
                              <a:lumMod val="75000"/>
                            </a:schemeClr>
                          </a:solidFill>
                        </a:rPr>
                        <a:t>30</a:t>
                      </a:r>
                      <a:r>
                        <a:rPr lang="en-US" dirty="0" smtClean="0"/>
                        <a:t> </a:t>
                      </a:r>
                      <a:r>
                        <a:rPr lang="en-US" dirty="0" smtClean="0"/>
                        <a:t>(          )</a:t>
                      </a:r>
                      <a:endParaRPr lang="en-US" dirty="0"/>
                    </a:p>
                  </a:txBody>
                  <a:tcPr/>
                </a:tc>
                <a:tc>
                  <a:txBody>
                    <a:bodyPr/>
                    <a:lstStyle/>
                    <a:p>
                      <a:pPr algn="ctr"/>
                      <a:r>
                        <a:rPr lang="en-US" b="1" dirty="0" smtClean="0">
                          <a:solidFill>
                            <a:schemeClr val="accent5">
                              <a:lumMod val="75000"/>
                            </a:schemeClr>
                          </a:solidFill>
                        </a:rPr>
                        <a:t>33 </a:t>
                      </a:r>
                      <a:r>
                        <a:rPr lang="en-US" dirty="0" smtClean="0"/>
                        <a:t>(          )</a:t>
                      </a:r>
                      <a:endParaRPr lang="en-US" dirty="0"/>
                    </a:p>
                  </a:txBody>
                  <a:tcPr/>
                </a:tc>
              </a:tr>
              <a:tr h="370840">
                <a:tc>
                  <a:txBody>
                    <a:bodyPr/>
                    <a:lstStyle/>
                    <a:p>
                      <a:r>
                        <a:rPr lang="en-US" dirty="0" smtClean="0"/>
                        <a:t>F</a:t>
                      </a:r>
                      <a:endParaRPr lang="en-US" dirty="0"/>
                    </a:p>
                  </a:txBody>
                  <a:tcPr/>
                </a:tc>
                <a:tc>
                  <a:txBody>
                    <a:bodyPr/>
                    <a:lstStyle/>
                    <a:p>
                      <a:pPr algn="ctr"/>
                      <a:r>
                        <a:rPr kumimoji="0" lang="en-US" b="1" kern="1200" dirty="0" smtClean="0">
                          <a:solidFill>
                            <a:schemeClr val="accent5">
                              <a:lumMod val="75000"/>
                            </a:schemeClr>
                          </a:solidFill>
                          <a:latin typeface="+mn-lt"/>
                          <a:ea typeface="+mn-ea"/>
                          <a:cs typeface="+mn-cs"/>
                        </a:rPr>
                        <a:t>20</a:t>
                      </a:r>
                      <a:r>
                        <a:rPr lang="en-US" dirty="0" smtClean="0"/>
                        <a:t> </a:t>
                      </a:r>
                      <a:r>
                        <a:rPr lang="en-US" dirty="0" smtClean="0"/>
                        <a:t>(          )</a:t>
                      </a:r>
                      <a:endParaRPr lang="en-US" dirty="0"/>
                    </a:p>
                  </a:txBody>
                  <a:tcPr/>
                </a:tc>
                <a:tc>
                  <a:txBody>
                    <a:bodyPr/>
                    <a:lstStyle/>
                    <a:p>
                      <a:pPr algn="ctr"/>
                      <a:r>
                        <a:rPr lang="en-US" b="1" dirty="0" smtClean="0">
                          <a:solidFill>
                            <a:schemeClr val="accent5">
                              <a:lumMod val="75000"/>
                            </a:schemeClr>
                          </a:solidFill>
                        </a:rPr>
                        <a:t>45</a:t>
                      </a:r>
                      <a:r>
                        <a:rPr lang="en-US" dirty="0" smtClean="0"/>
                        <a:t> </a:t>
                      </a:r>
                      <a:r>
                        <a:rPr lang="en-US" dirty="0" smtClean="0"/>
                        <a:t>(          )</a:t>
                      </a:r>
                      <a:endParaRPr lang="en-US" dirty="0"/>
                    </a:p>
                  </a:txBody>
                  <a:tcPr/>
                </a:tc>
                <a:tc>
                  <a:txBody>
                    <a:bodyPr/>
                    <a:lstStyle/>
                    <a:p>
                      <a:pPr algn="ctr"/>
                      <a:r>
                        <a:rPr lang="en-US" b="1" dirty="0" smtClean="0">
                          <a:solidFill>
                            <a:schemeClr val="accent5">
                              <a:lumMod val="75000"/>
                            </a:schemeClr>
                          </a:solidFill>
                        </a:rPr>
                        <a:t>10</a:t>
                      </a:r>
                      <a:r>
                        <a:rPr lang="en-US" dirty="0" smtClean="0"/>
                        <a:t> </a:t>
                      </a:r>
                      <a:r>
                        <a:rPr lang="en-US" dirty="0" smtClean="0"/>
                        <a:t>(          )</a:t>
                      </a:r>
                      <a:endParaRPr lang="en-US" dirty="0"/>
                    </a:p>
                  </a:txBody>
                  <a:tcPr/>
                </a:tc>
              </a:tr>
            </a:tbl>
          </a:graphicData>
        </a:graphic>
      </p:graphicFrame>
    </p:spTree>
    <p:custDataLst>
      <p:tags r:id="rId1"/>
    </p:custDataLst>
    <p:extLst>
      <p:ext uri="{BB962C8B-B14F-4D97-AF65-F5344CB8AC3E}">
        <p14:creationId xmlns:p14="http://schemas.microsoft.com/office/powerpoint/2010/main" val="924989548"/>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0" y="1524000"/>
            <a:ext cx="9144000" cy="5334000"/>
          </a:xfrm>
        </p:spPr>
        <p:txBody>
          <a:bodyPr>
            <a:normAutofit fontScale="47500" lnSpcReduction="20000"/>
          </a:bodyPr>
          <a:lstStyle/>
          <a:p>
            <a:r>
              <a:rPr lang="en-US" sz="6700" dirty="0">
                <a:solidFill>
                  <a:prstClr val="black"/>
                </a:solidFill>
                <a:cs typeface="Times New Roman" pitchFamily="18" charset="0"/>
              </a:rPr>
              <a:t>Let’s return to the question of whether metal tags are detrimental to penguins.  </a:t>
            </a:r>
          </a:p>
          <a:p>
            <a:endParaRPr lang="en-US" sz="4000" dirty="0">
              <a:solidFill>
                <a:prstClr val="black"/>
              </a:solidFill>
              <a:cs typeface="Times New Roman" pitchFamily="18" charset="0"/>
            </a:endParaRPr>
          </a:p>
          <a:p>
            <a:endParaRPr lang="en-US" dirty="0">
              <a:solidFill>
                <a:prstClr val="black"/>
              </a:solidFill>
              <a:cs typeface="Times New Roman" pitchFamily="18" charset="0"/>
            </a:endParaRPr>
          </a:p>
          <a:p>
            <a:endParaRPr lang="en-US" dirty="0">
              <a:solidFill>
                <a:prstClr val="black"/>
              </a:solidFill>
              <a:cs typeface="Times New Roman" pitchFamily="18" charset="0"/>
            </a:endParaRPr>
          </a:p>
          <a:p>
            <a:endParaRPr lang="en-US" sz="5100" b="1" dirty="0">
              <a:solidFill>
                <a:schemeClr val="tx1"/>
              </a:solidFill>
            </a:endParaRPr>
          </a:p>
          <a:p>
            <a:endParaRPr lang="en-US" dirty="0">
              <a:solidFill>
                <a:prstClr val="black"/>
              </a:solidFill>
              <a:cs typeface="Times New Roman" pitchFamily="18" charset="0"/>
            </a:endParaRPr>
          </a:p>
          <a:p>
            <a:endParaRPr lang="en-US" dirty="0">
              <a:solidFill>
                <a:prstClr val="black"/>
              </a:solidFill>
              <a:cs typeface="Times New Roman" pitchFamily="18" charset="0"/>
            </a:endParaRPr>
          </a:p>
          <a:p>
            <a:endParaRPr lang="en-US" dirty="0">
              <a:solidFill>
                <a:prstClr val="black"/>
              </a:solidFill>
              <a:cs typeface="Times New Roman" pitchFamily="18" charset="0"/>
            </a:endParaRPr>
          </a:p>
          <a:p>
            <a:endParaRPr lang="en-US" dirty="0">
              <a:solidFill>
                <a:prstClr val="black"/>
              </a:solidFill>
              <a:cs typeface="Times New Roman" pitchFamily="18" charset="0"/>
            </a:endParaRPr>
          </a:p>
          <a:p>
            <a:endParaRPr lang="en-US" dirty="0">
              <a:solidFill>
                <a:prstClr val="black"/>
              </a:solidFill>
              <a:cs typeface="Times New Roman" pitchFamily="18" charset="0"/>
            </a:endParaRPr>
          </a:p>
          <a:p>
            <a:endParaRPr lang="en-US" dirty="0">
              <a:solidFill>
                <a:prstClr val="black"/>
              </a:solidFill>
              <a:cs typeface="Times New Roman" pitchFamily="18" charset="0"/>
            </a:endParaRPr>
          </a:p>
          <a:p>
            <a:endParaRPr lang="en-US" dirty="0">
              <a:solidFill>
                <a:prstClr val="black"/>
              </a:solidFill>
              <a:cs typeface="Times New Roman" pitchFamily="18" charset="0"/>
            </a:endParaRPr>
          </a:p>
          <a:p>
            <a:endParaRPr lang="en-US" dirty="0">
              <a:solidFill>
                <a:prstClr val="black"/>
              </a:solidFill>
              <a:cs typeface="Times New Roman" pitchFamily="18" charset="0"/>
            </a:endParaRPr>
          </a:p>
          <a:p>
            <a:pPr marL="0" indent="0">
              <a:buNone/>
            </a:pPr>
            <a:endParaRPr lang="en-US" dirty="0" smtClean="0">
              <a:solidFill>
                <a:prstClr val="black"/>
              </a:solidFill>
              <a:cs typeface="Times New Roman" pitchFamily="18" charset="0"/>
            </a:endParaRPr>
          </a:p>
          <a:p>
            <a:pPr marL="0" indent="0">
              <a:buNone/>
            </a:pPr>
            <a:endParaRPr lang="en-US" dirty="0" smtClean="0">
              <a:solidFill>
                <a:prstClr val="black"/>
              </a:solidFill>
              <a:cs typeface="Times New Roman" pitchFamily="18" charset="0"/>
            </a:endParaRPr>
          </a:p>
          <a:p>
            <a:pPr marL="0" indent="0">
              <a:buNone/>
            </a:pPr>
            <a:r>
              <a:rPr lang="en-US" dirty="0" smtClean="0">
                <a:solidFill>
                  <a:prstClr val="black"/>
                </a:solidFill>
                <a:cs typeface="Times New Roman" pitchFamily="18" charset="0"/>
              </a:rPr>
              <a:t>Source</a:t>
            </a:r>
            <a:r>
              <a:rPr lang="en-US" dirty="0">
                <a:solidFill>
                  <a:prstClr val="black"/>
                </a:solidFill>
                <a:cs typeface="Times New Roman" pitchFamily="18" charset="0"/>
              </a:rPr>
              <a:t>: </a:t>
            </a:r>
            <a:r>
              <a:rPr lang="en-US" dirty="0" err="1">
                <a:solidFill>
                  <a:prstClr val="black"/>
                </a:solidFill>
                <a:cs typeface="Times New Roman" pitchFamily="18" charset="0"/>
              </a:rPr>
              <a:t>Saraux</a:t>
            </a:r>
            <a:r>
              <a:rPr lang="en-US" dirty="0">
                <a:solidFill>
                  <a:prstClr val="black"/>
                </a:solidFill>
                <a:cs typeface="Times New Roman" pitchFamily="18" charset="0"/>
              </a:rPr>
              <a:t>, et. al. (2011).  “Reliability of flipper-banded penguins as indicators of climate change,” </a:t>
            </a:r>
            <a:r>
              <a:rPr lang="en-US" i="1" dirty="0">
                <a:solidFill>
                  <a:prstClr val="black"/>
                </a:solidFill>
                <a:cs typeface="Times New Roman" pitchFamily="18" charset="0"/>
              </a:rPr>
              <a:t>Nature</a:t>
            </a:r>
            <a:r>
              <a:rPr lang="en-US" dirty="0">
                <a:solidFill>
                  <a:prstClr val="black"/>
                </a:solidFill>
                <a:cs typeface="Times New Roman" pitchFamily="18" charset="0"/>
              </a:rPr>
              <a:t>, </a:t>
            </a:r>
            <a:r>
              <a:rPr lang="en-US" b="1" dirty="0">
                <a:solidFill>
                  <a:prstClr val="black"/>
                </a:solidFill>
                <a:cs typeface="Times New Roman" pitchFamily="18" charset="0"/>
              </a:rPr>
              <a:t>469</a:t>
            </a:r>
            <a:r>
              <a:rPr lang="en-US" dirty="0">
                <a:solidFill>
                  <a:prstClr val="black"/>
                </a:solidFill>
                <a:cs typeface="Times New Roman" pitchFamily="18" charset="0"/>
              </a:rPr>
              <a:t>, 203-206.</a:t>
            </a:r>
            <a:endParaRPr lang="en-US" sz="4400" dirty="0">
              <a:solidFill>
                <a:prstClr val="black"/>
              </a:solidFill>
              <a:cs typeface="Times New Roman" pitchFamily="18" charset="0"/>
            </a:endParaRPr>
          </a:p>
          <a:p>
            <a:endParaRPr lang="en-US" dirty="0"/>
          </a:p>
        </p:txBody>
      </p:sp>
      <p:sp>
        <p:nvSpPr>
          <p:cNvPr id="425986" name="AutoShape 2" descr="http://beta.rstudio.org/graphics/plot_zoom_png?width=459&amp;height=366"/>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6" name="Content Placeholder 1"/>
          <p:cNvSpPr txBox="1">
            <a:spLocks/>
          </p:cNvSpPr>
          <p:nvPr/>
        </p:nvSpPr>
        <p:spPr>
          <a:xfrm>
            <a:off x="381000" y="1219200"/>
            <a:ext cx="8382000" cy="5334000"/>
          </a:xfrm>
          <a:prstGeom prst="rect">
            <a:avLst/>
          </a:prstGeom>
        </p:spPr>
        <p:txBody>
          <a:bodyPr vert="horz" lIns="91440" tIns="45720" rIns="91440" bIns="45720" rtlCol="0">
            <a:normAutofit/>
          </a:bodyPr>
          <a:lstStyle/>
          <a:p>
            <a:pPr marL="0" marR="0" lvl="0" indent="-342900" algn="l"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dirty="0" smtClean="0">
              <a:ln>
                <a:noFill/>
              </a:ln>
              <a:solidFill>
                <a:srgbClr val="000000"/>
              </a:solidFill>
              <a:effectLst/>
              <a:uLnTx/>
              <a:uFillTx/>
            </a:endParaRPr>
          </a:p>
          <a:p>
            <a:pPr marL="0" marR="0" lvl="0" indent="-342900" algn="ctr" defTabSz="914400" rtl="0" eaLnBrk="1" fontAlgn="auto" latinLnBrk="0" hangingPunct="1">
              <a:lnSpc>
                <a:spcPct val="100000"/>
              </a:lnSpc>
              <a:spcBef>
                <a:spcPts val="0"/>
              </a:spcBef>
              <a:spcAft>
                <a:spcPts val="0"/>
              </a:spcAft>
              <a:buClrTx/>
              <a:buSzTx/>
              <a:buFontTx/>
              <a:buNone/>
              <a:tabLst/>
              <a:defRPr/>
            </a:pPr>
            <a:endParaRPr kumimoji="0" lang="en-US" sz="2800" b="0" i="1" u="none" strike="noStrike" kern="0" cap="none" spc="0" normalizeH="0" baseline="0" noProof="0" dirty="0" smtClean="0">
              <a:ln>
                <a:noFill/>
              </a:ln>
              <a:solidFill>
                <a:srgbClr val="000000"/>
              </a:solidFill>
              <a:effectLst/>
              <a:uLnTx/>
              <a:uFillTx/>
            </a:endParaRPr>
          </a:p>
        </p:txBody>
      </p:sp>
      <p:pic>
        <p:nvPicPr>
          <p:cNvPr id="454658" name="Picture 2" descr="http://3.bp.blogspot.com/_C97NrIblNPQ/TTTXLcCbgoI/AAAAAAAAB3A/oySR5QDnKGA/s1600/Penguins_Edinburgh_Zoo_2004_SMC.jpg"/>
          <p:cNvPicPr>
            <a:picLocks noChangeAspect="1" noChangeArrowheads="1"/>
          </p:cNvPicPr>
          <p:nvPr/>
        </p:nvPicPr>
        <p:blipFill>
          <a:blip r:embed="rId4" cstate="print"/>
          <a:srcRect/>
          <a:stretch>
            <a:fillRect/>
          </a:stretch>
        </p:blipFill>
        <p:spPr bwMode="auto">
          <a:xfrm>
            <a:off x="6629400" y="2133600"/>
            <a:ext cx="1828800" cy="2275417"/>
          </a:xfrm>
          <a:prstGeom prst="rect">
            <a:avLst/>
          </a:prstGeom>
          <a:noFill/>
        </p:spPr>
      </p:pic>
      <p:graphicFrame>
        <p:nvGraphicFramePr>
          <p:cNvPr id="11" name="Table 10"/>
          <p:cNvGraphicFramePr>
            <a:graphicFrameLocks noGrp="1"/>
          </p:cNvGraphicFramePr>
          <p:nvPr>
            <p:extLst>
              <p:ext uri="{D42A27DB-BD31-4B8C-83A1-F6EECF244321}">
                <p14:modId xmlns:p14="http://schemas.microsoft.com/office/powerpoint/2010/main" val="1202965180"/>
              </p:ext>
            </p:extLst>
          </p:nvPr>
        </p:nvGraphicFramePr>
        <p:xfrm>
          <a:off x="457200" y="2590800"/>
          <a:ext cx="5511674" cy="1828800"/>
        </p:xfrm>
        <a:graphic>
          <a:graphicData uri="http://schemas.openxmlformats.org/drawingml/2006/table">
            <a:tbl>
              <a:tblPr firstRow="1" bandRow="1">
                <a:tableStyleId>{5C22544A-7EE6-4342-B048-85BDC9FD1C3A}</a:tableStyleId>
              </a:tblPr>
              <a:tblGrid>
                <a:gridCol w="2227898"/>
                <a:gridCol w="1477455"/>
                <a:gridCol w="903605"/>
                <a:gridCol w="902716"/>
              </a:tblGrid>
              <a:tr h="370840">
                <a:tc>
                  <a:txBody>
                    <a:bodyPr/>
                    <a:lstStyle/>
                    <a:p>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400" dirty="0" smtClean="0">
                          <a:solidFill>
                            <a:schemeClr val="tx1"/>
                          </a:solidFill>
                        </a:rPr>
                        <a:t>Survived</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r>
                        <a:rPr lang="en-US" sz="2400" dirty="0" smtClean="0">
                          <a:solidFill>
                            <a:schemeClr val="tx1"/>
                          </a:solidFill>
                        </a:rPr>
                        <a:t>Died</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r>
                        <a:rPr lang="en-US" sz="2400" b="0" dirty="0" smtClean="0">
                          <a:solidFill>
                            <a:schemeClr val="tx1"/>
                          </a:solidFill>
                        </a:rPr>
                        <a:t>Total</a:t>
                      </a:r>
                      <a:endParaRPr lang="en-US" sz="2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pPr marL="0" algn="l" rtl="0" eaLnBrk="1" latinLnBrk="0" hangingPunct="1"/>
                      <a:r>
                        <a:rPr kumimoji="0" lang="en-US" sz="2400" b="1" kern="1200" smtClean="0">
                          <a:solidFill>
                            <a:schemeClr val="tx1"/>
                          </a:solidFill>
                          <a:latin typeface="+mn-lt"/>
                          <a:ea typeface="+mn-ea"/>
                          <a:cs typeface="+mn-cs"/>
                        </a:rPr>
                        <a:t>Metal Tag</a:t>
                      </a:r>
                      <a:endParaRPr kumimoji="0" lang="en-US" sz="2400" b="1"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alpha val="80000"/>
                      </a:schemeClr>
                    </a:solidFill>
                  </a:tcPr>
                </a:tc>
                <a:tc>
                  <a:txBody>
                    <a:bodyPr/>
                    <a:lstStyle/>
                    <a:p>
                      <a:r>
                        <a:rPr lang="en-US" sz="2400" dirty="0" smtClean="0">
                          <a:solidFill>
                            <a:schemeClr val="tx1"/>
                          </a:solidFill>
                        </a:rPr>
                        <a:t>33</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r>
                        <a:rPr lang="en-US" sz="2400" dirty="0" smtClean="0">
                          <a:solidFill>
                            <a:schemeClr val="tx1"/>
                          </a:solidFill>
                        </a:rPr>
                        <a:t>134</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r>
                        <a:rPr lang="en-US" sz="2400" dirty="0" smtClean="0">
                          <a:solidFill>
                            <a:schemeClr val="tx1"/>
                          </a:solidFill>
                        </a:rPr>
                        <a:t>167</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pPr marL="0" algn="l" rtl="0" eaLnBrk="1" latinLnBrk="0" hangingPunct="1"/>
                      <a:r>
                        <a:rPr kumimoji="0" lang="en-US" sz="2400" b="1" kern="1200" dirty="0" smtClean="0">
                          <a:solidFill>
                            <a:schemeClr val="tx1"/>
                          </a:solidFill>
                          <a:latin typeface="+mn-lt"/>
                          <a:ea typeface="+mn-ea"/>
                          <a:cs typeface="+mn-cs"/>
                        </a:rPr>
                        <a:t>Electronic Tag</a:t>
                      </a:r>
                      <a:endParaRPr kumimoji="0" lang="en-US" sz="2400" b="1"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alpha val="80000"/>
                      </a:schemeClr>
                    </a:solidFill>
                  </a:tcPr>
                </a:tc>
                <a:tc>
                  <a:txBody>
                    <a:bodyPr/>
                    <a:lstStyle/>
                    <a:p>
                      <a:r>
                        <a:rPr lang="en-US" sz="2400" dirty="0" smtClean="0">
                          <a:solidFill>
                            <a:schemeClr val="tx1"/>
                          </a:solidFill>
                        </a:rPr>
                        <a:t>68</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r>
                        <a:rPr lang="en-US" sz="2400" dirty="0" smtClean="0">
                          <a:solidFill>
                            <a:schemeClr val="tx1"/>
                          </a:solidFill>
                        </a:rPr>
                        <a:t>121</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r>
                        <a:rPr lang="en-US" sz="2400" dirty="0" smtClean="0">
                          <a:solidFill>
                            <a:schemeClr val="tx1"/>
                          </a:solidFill>
                        </a:rPr>
                        <a:t>189</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r>
                        <a:rPr lang="en-US" sz="2400" dirty="0" smtClean="0">
                          <a:solidFill>
                            <a:schemeClr val="tx1"/>
                          </a:solidFill>
                        </a:rPr>
                        <a:t>Total</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400" dirty="0" smtClean="0">
                          <a:solidFill>
                            <a:schemeClr val="tx1"/>
                          </a:solidFill>
                        </a:rPr>
                        <a:t>101</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400" dirty="0" smtClean="0">
                          <a:solidFill>
                            <a:schemeClr val="tx1"/>
                          </a:solidFill>
                        </a:rPr>
                        <a:t>255</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400" dirty="0" smtClean="0">
                          <a:solidFill>
                            <a:schemeClr val="tx1"/>
                          </a:solidFill>
                        </a:rPr>
                        <a:t>356</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sp>
        <p:nvSpPr>
          <p:cNvPr id="10" name="Rectangle 9"/>
          <p:cNvSpPr/>
          <p:nvPr/>
        </p:nvSpPr>
        <p:spPr>
          <a:xfrm>
            <a:off x="168401" y="4572000"/>
            <a:ext cx="8975599" cy="553998"/>
          </a:xfrm>
          <a:prstGeom prst="rect">
            <a:avLst/>
          </a:prstGeom>
        </p:spPr>
        <p:txBody>
          <a:bodyPr wrap="square">
            <a:spAutoFit/>
          </a:bodyPr>
          <a:lstStyle/>
          <a:p>
            <a:r>
              <a:rPr lang="en-US" sz="3000" dirty="0" smtClean="0"/>
              <a:t>Is there an association between type of tag and survival?</a:t>
            </a:r>
            <a:endParaRPr lang="en-US" sz="3000" dirty="0"/>
          </a:p>
        </p:txBody>
      </p:sp>
      <p:sp>
        <p:nvSpPr>
          <p:cNvPr id="2" name="Title 1"/>
          <p:cNvSpPr>
            <a:spLocks noGrp="1"/>
          </p:cNvSpPr>
          <p:nvPr>
            <p:ph type="title"/>
          </p:nvPr>
        </p:nvSpPr>
        <p:spPr/>
        <p:txBody>
          <a:bodyPr>
            <a:normAutofit/>
          </a:bodyPr>
          <a:lstStyle/>
          <a:p>
            <a:pPr lvl="0"/>
            <a:r>
              <a:rPr lang="en-US" dirty="0"/>
              <a:t>Metal Tags and </a:t>
            </a:r>
            <a:r>
              <a:rPr lang="en-US" dirty="0" smtClean="0"/>
              <a:t>Penguins</a:t>
            </a:r>
            <a:endParaRPr lang="en-US" dirty="0"/>
          </a:p>
        </p:txBody>
      </p:sp>
      <p:sp>
        <p:nvSpPr>
          <p:cNvPr id="12" name="TextBox 11"/>
          <p:cNvSpPr txBox="1"/>
          <p:nvPr/>
        </p:nvSpPr>
        <p:spPr>
          <a:xfrm>
            <a:off x="378737" y="5158440"/>
            <a:ext cx="8534400" cy="984885"/>
          </a:xfrm>
          <a:prstGeom prst="rect">
            <a:avLst/>
          </a:prstGeom>
          <a:solidFill>
            <a:schemeClr val="tx2">
              <a:lumMod val="20000"/>
              <a:lumOff val="80000"/>
            </a:schemeClr>
          </a:solidFill>
        </p:spPr>
        <p:txBody>
          <a:bodyPr wrap="square" rtlCol="0">
            <a:spAutoFit/>
          </a:bodyPr>
          <a:lstStyle/>
          <a:p>
            <a:pPr>
              <a:spcAft>
                <a:spcPts val="1200"/>
              </a:spcAft>
            </a:pPr>
            <a:r>
              <a:rPr lang="en-US" sz="2400" dirty="0" smtClean="0"/>
              <a:t>H</a:t>
            </a:r>
            <a:r>
              <a:rPr lang="en-US" sz="2400" baseline="-25000" dirty="0" smtClean="0"/>
              <a:t>0</a:t>
            </a:r>
            <a:r>
              <a:rPr lang="en-US" sz="2400" dirty="0" smtClean="0"/>
              <a:t> : Type of tag </a:t>
            </a:r>
            <a:r>
              <a:rPr lang="en-US" sz="2400" b="1" dirty="0" smtClean="0">
                <a:solidFill>
                  <a:srgbClr val="FF0000"/>
                </a:solidFill>
              </a:rPr>
              <a:t>is not associated </a:t>
            </a:r>
            <a:r>
              <a:rPr lang="en-US" sz="2400" dirty="0" smtClean="0"/>
              <a:t>with penguin survival.</a:t>
            </a:r>
          </a:p>
          <a:p>
            <a:pPr>
              <a:spcAft>
                <a:spcPts val="1200"/>
              </a:spcAft>
            </a:pPr>
            <a:r>
              <a:rPr lang="en-US" sz="2400" dirty="0" smtClean="0"/>
              <a:t>H</a:t>
            </a:r>
            <a:r>
              <a:rPr lang="en-US" sz="2400" baseline="-25000" dirty="0" smtClean="0"/>
              <a:t>a</a:t>
            </a:r>
            <a:r>
              <a:rPr lang="en-US" sz="2400" dirty="0" smtClean="0"/>
              <a:t> : </a:t>
            </a:r>
            <a:r>
              <a:rPr lang="en-US" sz="2400" dirty="0"/>
              <a:t>Type of tag </a:t>
            </a:r>
            <a:r>
              <a:rPr lang="en-US" sz="2400" b="1" dirty="0">
                <a:solidFill>
                  <a:srgbClr val="00B050"/>
                </a:solidFill>
              </a:rPr>
              <a:t>is </a:t>
            </a:r>
            <a:r>
              <a:rPr lang="en-US" sz="2400" b="1" dirty="0" smtClean="0">
                <a:solidFill>
                  <a:srgbClr val="00B050"/>
                </a:solidFill>
              </a:rPr>
              <a:t>associated </a:t>
            </a:r>
            <a:r>
              <a:rPr lang="en-US" sz="2400" dirty="0"/>
              <a:t>with penguin survival</a:t>
            </a:r>
            <a:r>
              <a:rPr lang="en-US" sz="2400" dirty="0" smtClean="0"/>
              <a:t>.</a:t>
            </a:r>
            <a:endParaRPr lang="en-US" sz="2400" dirty="0"/>
          </a:p>
        </p:txBody>
      </p:sp>
    </p:spTree>
    <p:custDataLst>
      <p:tags r:id="rId1"/>
    </p:custDataLst>
    <p:extLst>
      <p:ext uri="{BB962C8B-B14F-4D97-AF65-F5344CB8AC3E}">
        <p14:creationId xmlns:p14="http://schemas.microsoft.com/office/powerpoint/2010/main" val="345977199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5986" name="AutoShape 2" descr="http://beta.rstudio.org/graphics/plot_zoom_png?width=459&amp;height=366"/>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6" name="Content Placeholder 1"/>
          <p:cNvSpPr txBox="1">
            <a:spLocks/>
          </p:cNvSpPr>
          <p:nvPr/>
        </p:nvSpPr>
        <p:spPr>
          <a:xfrm>
            <a:off x="381000" y="1219200"/>
            <a:ext cx="8382000" cy="5334000"/>
          </a:xfrm>
          <a:prstGeom prst="rect">
            <a:avLst/>
          </a:prstGeom>
        </p:spPr>
        <p:txBody>
          <a:bodyPr vert="horz" lIns="91440" tIns="45720" rIns="91440" bIns="45720" rtlCol="0">
            <a:normAutofit/>
          </a:bodyPr>
          <a:lstStyle/>
          <a:p>
            <a:pPr marL="0" marR="0" lvl="0" indent="-342900" algn="l"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dirty="0" smtClean="0">
              <a:ln>
                <a:noFill/>
              </a:ln>
              <a:solidFill>
                <a:srgbClr val="000000"/>
              </a:solidFill>
              <a:effectLst/>
              <a:uLnTx/>
              <a:uFillTx/>
            </a:endParaRPr>
          </a:p>
          <a:p>
            <a:pPr marL="0" marR="0" lvl="0" indent="-342900" algn="ctr" defTabSz="914400" rtl="0" eaLnBrk="1" fontAlgn="auto" latinLnBrk="0" hangingPunct="1">
              <a:lnSpc>
                <a:spcPct val="100000"/>
              </a:lnSpc>
              <a:spcBef>
                <a:spcPts val="0"/>
              </a:spcBef>
              <a:spcAft>
                <a:spcPts val="0"/>
              </a:spcAft>
              <a:buClrTx/>
              <a:buSzTx/>
              <a:buFontTx/>
              <a:buNone/>
              <a:tabLst/>
              <a:defRPr/>
            </a:pPr>
            <a:endParaRPr kumimoji="0" lang="en-US" sz="2800" b="0" i="1" u="none" strike="noStrike" kern="0" cap="none" spc="0" normalizeH="0" baseline="0" noProof="0" dirty="0" smtClean="0">
              <a:ln>
                <a:noFill/>
              </a:ln>
              <a:solidFill>
                <a:srgbClr val="000000"/>
              </a:solidFill>
              <a:effectLst/>
              <a:uLnTx/>
              <a:uFillTx/>
            </a:endParaRPr>
          </a:p>
        </p:txBody>
      </p:sp>
      <p:sp>
        <p:nvSpPr>
          <p:cNvPr id="8" name="Title 1"/>
          <p:cNvSpPr txBox="1">
            <a:spLocks/>
          </p:cNvSpPr>
          <p:nvPr/>
        </p:nvSpPr>
        <p:spPr>
          <a:xfrm>
            <a:off x="495300" y="0"/>
            <a:ext cx="8153400" cy="1219200"/>
          </a:xfrm>
          <a:prstGeom prst="rect">
            <a:avLst/>
          </a:prstGeom>
        </p:spPr>
        <p:txBody>
          <a:bodyPr/>
          <a:lstStyle/>
          <a:p>
            <a:pPr lvl="0" algn="ctr">
              <a:spcBef>
                <a:spcPct val="0"/>
              </a:spcBef>
              <a:defRPr/>
            </a:pPr>
            <a:r>
              <a:rPr lang="en-US" sz="4400" b="1" dirty="0" smtClean="0">
                <a:solidFill>
                  <a:schemeClr val="tx2"/>
                </a:solidFill>
              </a:rPr>
              <a:t>Metal Tags and Penguins</a:t>
            </a:r>
            <a:endParaRPr lang="en-US" sz="4000" b="1" dirty="0">
              <a:solidFill>
                <a:schemeClr val="tx2"/>
              </a:solidFill>
            </a:endParaRPr>
          </a:p>
        </p:txBody>
      </p:sp>
      <p:sp>
        <p:nvSpPr>
          <p:cNvPr id="9" name="TextBox 8"/>
          <p:cNvSpPr txBox="1"/>
          <p:nvPr/>
        </p:nvSpPr>
        <p:spPr>
          <a:xfrm>
            <a:off x="151048" y="2803340"/>
            <a:ext cx="8992952" cy="2708434"/>
          </a:xfrm>
          <a:prstGeom prst="rect">
            <a:avLst/>
          </a:prstGeom>
          <a:noFill/>
        </p:spPr>
        <p:txBody>
          <a:bodyPr wrap="square" rtlCol="0">
            <a:spAutoFit/>
          </a:bodyPr>
          <a:lstStyle/>
          <a:p>
            <a:r>
              <a:rPr lang="en-US" sz="2800" dirty="0" smtClean="0">
                <a:solidFill>
                  <a:prstClr val="black"/>
                </a:solidFill>
                <a:cs typeface="Times New Roman" pitchFamily="18" charset="0"/>
              </a:rPr>
              <a:t>Calculate expected counts.    </a:t>
            </a:r>
          </a:p>
          <a:p>
            <a:r>
              <a:rPr lang="en-US" sz="2800" dirty="0" smtClean="0">
                <a:solidFill>
                  <a:prstClr val="black"/>
                </a:solidFill>
                <a:cs typeface="Times New Roman" pitchFamily="18" charset="0"/>
              </a:rPr>
              <a:t>First cell:</a:t>
            </a:r>
          </a:p>
          <a:p>
            <a:endParaRPr lang="en-US" sz="2000" dirty="0" smtClean="0">
              <a:solidFill>
                <a:prstClr val="black"/>
              </a:solidFill>
              <a:cs typeface="Times New Roman" pitchFamily="18" charset="0"/>
            </a:endParaRPr>
          </a:p>
          <a:p>
            <a:r>
              <a:rPr lang="en-US" sz="2800" dirty="0" smtClean="0">
                <a:solidFill>
                  <a:prstClr val="black"/>
                </a:solidFill>
                <a:cs typeface="Times New Roman" pitchFamily="18" charset="0"/>
              </a:rPr>
              <a:t>Calculate the chi-square statistic:</a:t>
            </a:r>
          </a:p>
          <a:p>
            <a:endParaRPr lang="en-US" sz="2400" dirty="0" smtClean="0">
              <a:solidFill>
                <a:prstClr val="black"/>
              </a:solidFill>
              <a:cs typeface="Times New Roman" pitchFamily="18" charset="0"/>
            </a:endParaRPr>
          </a:p>
          <a:p>
            <a:endParaRPr lang="en-US" sz="2400" dirty="0" smtClean="0">
              <a:solidFill>
                <a:prstClr val="black"/>
              </a:solidFill>
              <a:cs typeface="Times New Roman" pitchFamily="18" charset="0"/>
            </a:endParaRPr>
          </a:p>
          <a:p>
            <a:endParaRPr lang="en-US" dirty="0" smtClean="0">
              <a:solidFill>
                <a:prstClr val="black"/>
              </a:solidFill>
              <a:cs typeface="Times New Roman" pitchFamily="18" charset="0"/>
            </a:endParaRPr>
          </a:p>
        </p:txBody>
      </p:sp>
      <p:graphicFrame>
        <p:nvGraphicFramePr>
          <p:cNvPr id="10" name="Table 9"/>
          <p:cNvGraphicFramePr>
            <a:graphicFrameLocks noGrp="1"/>
          </p:cNvGraphicFramePr>
          <p:nvPr>
            <p:extLst>
              <p:ext uri="{D42A27DB-BD31-4B8C-83A1-F6EECF244321}">
                <p14:modId xmlns:p14="http://schemas.microsoft.com/office/powerpoint/2010/main" val="1258816643"/>
              </p:ext>
            </p:extLst>
          </p:nvPr>
        </p:nvGraphicFramePr>
        <p:xfrm>
          <a:off x="990600" y="838200"/>
          <a:ext cx="6934200" cy="1828800"/>
        </p:xfrm>
        <a:graphic>
          <a:graphicData uri="http://schemas.openxmlformats.org/drawingml/2006/table">
            <a:tbl>
              <a:tblPr firstRow="1" bandRow="1">
                <a:tableStyleId>{5C22544A-7EE6-4342-B048-85BDC9FD1C3A}</a:tableStyleId>
              </a:tblPr>
              <a:tblGrid>
                <a:gridCol w="2227898"/>
                <a:gridCol w="1810702"/>
                <a:gridCol w="2057400"/>
                <a:gridCol w="838200"/>
              </a:tblGrid>
              <a:tr h="370840">
                <a:tc>
                  <a:txBody>
                    <a:bodyPr/>
                    <a:lstStyle/>
                    <a:p>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400" dirty="0" smtClean="0">
                          <a:solidFill>
                            <a:schemeClr val="tx1"/>
                          </a:solidFill>
                        </a:rPr>
                        <a:t>Survived</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alpha val="80000"/>
                      </a:schemeClr>
                    </a:solidFill>
                  </a:tcPr>
                </a:tc>
                <a:tc>
                  <a:txBody>
                    <a:bodyPr/>
                    <a:lstStyle/>
                    <a:p>
                      <a:r>
                        <a:rPr lang="en-US" sz="2400" dirty="0" smtClean="0">
                          <a:solidFill>
                            <a:schemeClr val="tx1"/>
                          </a:solidFill>
                        </a:rPr>
                        <a:t>Died</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alpha val="80000"/>
                      </a:schemeClr>
                    </a:solidFill>
                  </a:tcPr>
                </a:tc>
                <a:tc>
                  <a:txBody>
                    <a:bodyPr/>
                    <a:lstStyle/>
                    <a:p>
                      <a:r>
                        <a:rPr lang="en-US" sz="2400" b="0" dirty="0" smtClean="0">
                          <a:solidFill>
                            <a:schemeClr val="tx1"/>
                          </a:solidFill>
                        </a:rPr>
                        <a:t>Total</a:t>
                      </a:r>
                      <a:endParaRPr lang="en-US" sz="2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r>
                        <a:rPr lang="en-US" sz="2400" b="1" dirty="0" smtClean="0">
                          <a:solidFill>
                            <a:schemeClr val="tx1"/>
                          </a:solidFill>
                        </a:rPr>
                        <a:t>Metal</a:t>
                      </a:r>
                      <a:r>
                        <a:rPr lang="en-US" sz="2400" b="1" baseline="0" dirty="0" smtClean="0">
                          <a:solidFill>
                            <a:schemeClr val="tx1"/>
                          </a:solidFill>
                        </a:rPr>
                        <a:t> Tag</a:t>
                      </a:r>
                      <a:endParaRPr lang="en-US"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alpha val="80000"/>
                      </a:schemeClr>
                    </a:solidFill>
                  </a:tcPr>
                </a:tc>
                <a:tc>
                  <a:txBody>
                    <a:bodyPr/>
                    <a:lstStyle/>
                    <a:p>
                      <a:r>
                        <a:rPr lang="en-US" sz="2400" dirty="0" smtClean="0">
                          <a:solidFill>
                            <a:schemeClr val="tx1"/>
                          </a:solidFill>
                        </a:rPr>
                        <a:t>33</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alpha val="80000"/>
                      </a:schemeClr>
                    </a:solidFill>
                  </a:tcPr>
                </a:tc>
                <a:tc>
                  <a:txBody>
                    <a:bodyPr/>
                    <a:lstStyle/>
                    <a:p>
                      <a:r>
                        <a:rPr lang="en-US" sz="2400" dirty="0" smtClean="0">
                          <a:solidFill>
                            <a:schemeClr val="tx1"/>
                          </a:solidFill>
                        </a:rPr>
                        <a:t>134</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alpha val="80000"/>
                      </a:schemeClr>
                    </a:solidFill>
                  </a:tcPr>
                </a:tc>
                <a:tc>
                  <a:txBody>
                    <a:bodyPr/>
                    <a:lstStyle/>
                    <a:p>
                      <a:r>
                        <a:rPr lang="en-US" sz="2400" dirty="0" smtClean="0">
                          <a:solidFill>
                            <a:schemeClr val="tx1"/>
                          </a:solidFill>
                        </a:rPr>
                        <a:t>167</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r>
                        <a:rPr lang="en-US" sz="2400" b="1" dirty="0" smtClean="0">
                          <a:solidFill>
                            <a:schemeClr val="tx1"/>
                          </a:solidFill>
                        </a:rPr>
                        <a:t>Electronic Tag</a:t>
                      </a:r>
                      <a:endParaRPr lang="en-US"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alpha val="80000"/>
                      </a:schemeClr>
                    </a:solidFill>
                  </a:tcPr>
                </a:tc>
                <a:tc>
                  <a:txBody>
                    <a:bodyPr/>
                    <a:lstStyle/>
                    <a:p>
                      <a:r>
                        <a:rPr lang="en-US" sz="2400" dirty="0" smtClean="0">
                          <a:solidFill>
                            <a:schemeClr val="tx1"/>
                          </a:solidFill>
                        </a:rPr>
                        <a:t>68</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alpha val="80000"/>
                      </a:schemeClr>
                    </a:solidFill>
                  </a:tcPr>
                </a:tc>
                <a:tc>
                  <a:txBody>
                    <a:bodyPr/>
                    <a:lstStyle/>
                    <a:p>
                      <a:r>
                        <a:rPr lang="en-US" sz="2400" dirty="0" smtClean="0">
                          <a:solidFill>
                            <a:schemeClr val="tx1"/>
                          </a:solidFill>
                        </a:rPr>
                        <a:t>121</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alpha val="80000"/>
                      </a:schemeClr>
                    </a:solidFill>
                  </a:tcPr>
                </a:tc>
                <a:tc>
                  <a:txBody>
                    <a:bodyPr/>
                    <a:lstStyle/>
                    <a:p>
                      <a:r>
                        <a:rPr lang="en-US" sz="2400" dirty="0" smtClean="0">
                          <a:solidFill>
                            <a:schemeClr val="tx1"/>
                          </a:solidFill>
                        </a:rPr>
                        <a:t>189</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r>
                        <a:rPr lang="en-US" sz="2400" dirty="0" smtClean="0">
                          <a:solidFill>
                            <a:schemeClr val="tx1"/>
                          </a:solidFill>
                        </a:rPr>
                        <a:t>Total</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400" dirty="0" smtClean="0">
                          <a:solidFill>
                            <a:schemeClr val="tx1"/>
                          </a:solidFill>
                        </a:rPr>
                        <a:t>101</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400" dirty="0" smtClean="0">
                          <a:solidFill>
                            <a:schemeClr val="tx1"/>
                          </a:solidFill>
                        </a:rPr>
                        <a:t>255</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400" dirty="0" smtClean="0">
                          <a:solidFill>
                            <a:schemeClr val="tx1"/>
                          </a:solidFill>
                        </a:rPr>
                        <a:t>356</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graphicFrame>
        <p:nvGraphicFramePr>
          <p:cNvPr id="12" name="Table 11"/>
          <p:cNvGraphicFramePr>
            <a:graphicFrameLocks noGrp="1"/>
          </p:cNvGraphicFramePr>
          <p:nvPr>
            <p:extLst>
              <p:ext uri="{D42A27DB-BD31-4B8C-83A1-F6EECF244321}">
                <p14:modId xmlns:p14="http://schemas.microsoft.com/office/powerpoint/2010/main" val="1989385997"/>
              </p:ext>
            </p:extLst>
          </p:nvPr>
        </p:nvGraphicFramePr>
        <p:xfrm>
          <a:off x="990600" y="838200"/>
          <a:ext cx="6934200" cy="1828800"/>
        </p:xfrm>
        <a:graphic>
          <a:graphicData uri="http://schemas.openxmlformats.org/drawingml/2006/table">
            <a:tbl>
              <a:tblPr firstRow="1" bandRow="1">
                <a:tableStyleId>{5C22544A-7EE6-4342-B048-85BDC9FD1C3A}</a:tableStyleId>
              </a:tblPr>
              <a:tblGrid>
                <a:gridCol w="2227898"/>
                <a:gridCol w="1810702"/>
                <a:gridCol w="2057400"/>
                <a:gridCol w="838200"/>
              </a:tblGrid>
              <a:tr h="370840">
                <a:tc>
                  <a:txBody>
                    <a:bodyPr/>
                    <a:lstStyle/>
                    <a:p>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400" dirty="0" smtClean="0">
                          <a:solidFill>
                            <a:schemeClr val="tx1"/>
                          </a:solidFill>
                        </a:rPr>
                        <a:t>Survived</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r>
                        <a:rPr lang="en-US" sz="2400" dirty="0" smtClean="0">
                          <a:solidFill>
                            <a:schemeClr val="tx1"/>
                          </a:solidFill>
                        </a:rPr>
                        <a:t>Died</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r>
                        <a:rPr lang="en-US" sz="2400" b="0" dirty="0" smtClean="0">
                          <a:solidFill>
                            <a:schemeClr val="tx1"/>
                          </a:solidFill>
                        </a:rPr>
                        <a:t>Total</a:t>
                      </a:r>
                      <a:endParaRPr lang="en-US" sz="2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r>
                        <a:rPr lang="en-US" sz="2400" b="1" dirty="0" smtClean="0">
                          <a:solidFill>
                            <a:schemeClr val="tx1"/>
                          </a:solidFill>
                        </a:rPr>
                        <a:t>Metal</a:t>
                      </a:r>
                      <a:r>
                        <a:rPr lang="en-US" sz="2400" b="1" baseline="0" dirty="0" smtClean="0">
                          <a:solidFill>
                            <a:schemeClr val="tx1"/>
                          </a:solidFill>
                        </a:rPr>
                        <a:t> Tag</a:t>
                      </a:r>
                      <a:endParaRPr lang="en-US"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alpha val="79000"/>
                      </a:schemeClr>
                    </a:solidFill>
                  </a:tcPr>
                </a:tc>
                <a:tc>
                  <a:txBody>
                    <a:bodyPr/>
                    <a:lstStyle/>
                    <a:p>
                      <a:r>
                        <a:rPr lang="en-US" sz="2400" dirty="0" smtClean="0">
                          <a:solidFill>
                            <a:schemeClr val="tx1"/>
                          </a:solidFill>
                        </a:rPr>
                        <a:t>33  </a:t>
                      </a:r>
                      <a:r>
                        <a:rPr lang="en-US" sz="2200" b="1" dirty="0" smtClean="0">
                          <a:solidFill>
                            <a:schemeClr val="accent1">
                              <a:lumMod val="50000"/>
                            </a:schemeClr>
                          </a:solidFill>
                        </a:rPr>
                        <a:t>(47.379)</a:t>
                      </a:r>
                      <a:endParaRPr lang="en-US" sz="2200" b="1" dirty="0">
                        <a:solidFill>
                          <a:schemeClr val="accent1">
                            <a:lumMod val="5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alpha val="80000"/>
                      </a:schemeClr>
                    </a:solidFill>
                  </a:tcPr>
                </a:tc>
                <a:tc>
                  <a:txBody>
                    <a:bodyPr/>
                    <a:lstStyle/>
                    <a:p>
                      <a:r>
                        <a:rPr lang="en-US" sz="2400" dirty="0" smtClean="0">
                          <a:solidFill>
                            <a:schemeClr val="tx1"/>
                          </a:solidFill>
                        </a:rPr>
                        <a:t>134  </a:t>
                      </a:r>
                      <a:r>
                        <a:rPr lang="en-US" sz="2200" b="1" dirty="0" smtClean="0">
                          <a:solidFill>
                            <a:schemeClr val="accent1">
                              <a:lumMod val="50000"/>
                            </a:schemeClr>
                          </a:solidFill>
                        </a:rPr>
                        <a:t>(119.621)</a:t>
                      </a:r>
                      <a:endParaRPr lang="en-US" sz="2200" b="1" dirty="0">
                        <a:solidFill>
                          <a:schemeClr val="accent1">
                            <a:lumMod val="5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alpha val="80000"/>
                      </a:schemeClr>
                    </a:solidFill>
                  </a:tcPr>
                </a:tc>
                <a:tc>
                  <a:txBody>
                    <a:bodyPr/>
                    <a:lstStyle/>
                    <a:p>
                      <a:r>
                        <a:rPr lang="en-US" sz="2400" dirty="0" smtClean="0">
                          <a:solidFill>
                            <a:schemeClr val="tx1"/>
                          </a:solidFill>
                        </a:rPr>
                        <a:t>167</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r>
                        <a:rPr lang="en-US" sz="2400" b="1" dirty="0" smtClean="0">
                          <a:solidFill>
                            <a:schemeClr val="tx1"/>
                          </a:solidFill>
                        </a:rPr>
                        <a:t>Electronic Tag</a:t>
                      </a:r>
                      <a:endParaRPr lang="en-US"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alpha val="79000"/>
                      </a:schemeClr>
                    </a:solidFill>
                  </a:tcPr>
                </a:tc>
                <a:tc>
                  <a:txBody>
                    <a:bodyPr/>
                    <a:lstStyle/>
                    <a:p>
                      <a:r>
                        <a:rPr lang="en-US" sz="2400" dirty="0" smtClean="0">
                          <a:solidFill>
                            <a:schemeClr val="tx1"/>
                          </a:solidFill>
                        </a:rPr>
                        <a:t>68  </a:t>
                      </a:r>
                      <a:r>
                        <a:rPr lang="en-US" sz="2200" b="1" dirty="0" smtClean="0">
                          <a:solidFill>
                            <a:schemeClr val="accent1">
                              <a:lumMod val="50000"/>
                            </a:schemeClr>
                          </a:solidFill>
                        </a:rPr>
                        <a:t>(53.621)</a:t>
                      </a:r>
                      <a:endParaRPr lang="en-US" sz="2200" b="1" dirty="0">
                        <a:solidFill>
                          <a:schemeClr val="accent1">
                            <a:lumMod val="5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alpha val="80000"/>
                      </a:schemeClr>
                    </a:solidFill>
                  </a:tcPr>
                </a:tc>
                <a:tc>
                  <a:txBody>
                    <a:bodyPr/>
                    <a:lstStyle/>
                    <a:p>
                      <a:r>
                        <a:rPr lang="en-US" sz="2400" dirty="0" smtClean="0">
                          <a:solidFill>
                            <a:schemeClr val="tx1"/>
                          </a:solidFill>
                        </a:rPr>
                        <a:t>121  </a:t>
                      </a:r>
                      <a:r>
                        <a:rPr lang="en-US" sz="2200" b="1" dirty="0" smtClean="0">
                          <a:solidFill>
                            <a:schemeClr val="accent1">
                              <a:lumMod val="50000"/>
                            </a:schemeClr>
                          </a:solidFill>
                        </a:rPr>
                        <a:t>(135.379)</a:t>
                      </a:r>
                      <a:endParaRPr lang="en-US" sz="2200" b="1" dirty="0">
                        <a:solidFill>
                          <a:schemeClr val="accent1">
                            <a:lumMod val="5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alpha val="80000"/>
                      </a:schemeClr>
                    </a:solidFill>
                  </a:tcPr>
                </a:tc>
                <a:tc>
                  <a:txBody>
                    <a:bodyPr/>
                    <a:lstStyle/>
                    <a:p>
                      <a:r>
                        <a:rPr lang="en-US" sz="2400" dirty="0" smtClean="0">
                          <a:solidFill>
                            <a:schemeClr val="tx1"/>
                          </a:solidFill>
                        </a:rPr>
                        <a:t>189</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r>
                        <a:rPr lang="en-US" sz="2400" dirty="0" smtClean="0">
                          <a:solidFill>
                            <a:schemeClr val="tx1"/>
                          </a:solidFill>
                        </a:rPr>
                        <a:t>Total</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400" dirty="0" smtClean="0">
                          <a:solidFill>
                            <a:schemeClr val="tx1"/>
                          </a:solidFill>
                        </a:rPr>
                        <a:t>101</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400" dirty="0" smtClean="0">
                          <a:solidFill>
                            <a:schemeClr val="tx1"/>
                          </a:solidFill>
                        </a:rPr>
                        <a:t>255</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400" dirty="0" smtClean="0">
                          <a:solidFill>
                            <a:schemeClr val="tx1"/>
                          </a:solidFill>
                        </a:rPr>
                        <a:t>356</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mc:AlternateContent xmlns:mc="http://schemas.openxmlformats.org/markup-compatibility/2006" xmlns:a14="http://schemas.microsoft.com/office/drawing/2010/main">
        <mc:Choice Requires="a14">
          <p:sp>
            <p:nvSpPr>
              <p:cNvPr id="17" name="TextBox 16"/>
              <p:cNvSpPr txBox="1"/>
              <p:nvPr/>
            </p:nvSpPr>
            <p:spPr>
              <a:xfrm>
                <a:off x="1538230" y="3284100"/>
                <a:ext cx="6667500" cy="728533"/>
              </a:xfrm>
              <a:prstGeom prst="rect">
                <a:avLst/>
              </a:prstGeom>
              <a:noFill/>
              <a:ln>
                <a:noFill/>
              </a:ln>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000" b="1" i="1" smtClean="0">
                              <a:solidFill>
                                <a:schemeClr val="accent1">
                                  <a:lumMod val="50000"/>
                                </a:schemeClr>
                              </a:solidFill>
                              <a:latin typeface="Cambria Math"/>
                            </a:rPr>
                          </m:ctrlPr>
                        </m:fPr>
                        <m:num>
                          <m:r>
                            <a:rPr lang="en-US" sz="2000" b="1" i="1" smtClean="0">
                              <a:solidFill>
                                <a:schemeClr val="accent1">
                                  <a:lumMod val="50000"/>
                                </a:schemeClr>
                              </a:solidFill>
                              <a:latin typeface="Cambria Math"/>
                            </a:rPr>
                            <m:t>𝑹𝒐𝒘</m:t>
                          </m:r>
                          <m:r>
                            <a:rPr lang="en-US" sz="2000" b="1" i="1" smtClean="0">
                              <a:solidFill>
                                <a:schemeClr val="accent1">
                                  <a:lumMod val="50000"/>
                                </a:schemeClr>
                              </a:solidFill>
                              <a:latin typeface="Cambria Math"/>
                            </a:rPr>
                            <m:t> </m:t>
                          </m:r>
                          <m:r>
                            <a:rPr lang="en-US" sz="2000" b="1" i="1" smtClean="0">
                              <a:solidFill>
                                <a:schemeClr val="accent1">
                                  <a:lumMod val="50000"/>
                                </a:schemeClr>
                              </a:solidFill>
                              <a:latin typeface="Cambria Math"/>
                            </a:rPr>
                            <m:t>𝒕𝒐𝒕𝒂𝒍</m:t>
                          </m:r>
                          <m:r>
                            <a:rPr lang="en-US" sz="2000" b="1" i="1" smtClean="0">
                              <a:solidFill>
                                <a:schemeClr val="accent1">
                                  <a:lumMod val="50000"/>
                                </a:schemeClr>
                              </a:solidFill>
                              <a:latin typeface="Cambria Math"/>
                            </a:rPr>
                            <m:t> ×</m:t>
                          </m:r>
                          <m:r>
                            <a:rPr lang="en-US" sz="2000" b="1" i="1" smtClean="0">
                              <a:solidFill>
                                <a:schemeClr val="accent1">
                                  <a:lumMod val="50000"/>
                                </a:schemeClr>
                              </a:solidFill>
                              <a:latin typeface="Cambria Math"/>
                              <a:ea typeface="Cambria Math"/>
                            </a:rPr>
                            <m:t>𝑪𝒐𝒍𝒖𝒎𝒏</m:t>
                          </m:r>
                          <m:r>
                            <a:rPr lang="en-US" sz="2000" b="1" i="1" smtClean="0">
                              <a:solidFill>
                                <a:schemeClr val="accent1">
                                  <a:lumMod val="50000"/>
                                </a:schemeClr>
                              </a:solidFill>
                              <a:latin typeface="Cambria Math"/>
                              <a:ea typeface="Cambria Math"/>
                            </a:rPr>
                            <m:t> </m:t>
                          </m:r>
                          <m:r>
                            <a:rPr lang="en-US" sz="2000" b="1" i="1" smtClean="0">
                              <a:solidFill>
                                <a:schemeClr val="accent1">
                                  <a:lumMod val="50000"/>
                                </a:schemeClr>
                              </a:solidFill>
                              <a:latin typeface="Cambria Math"/>
                              <a:ea typeface="Cambria Math"/>
                            </a:rPr>
                            <m:t>𝒕𝒐𝒕𝒂𝒍</m:t>
                          </m:r>
                          <m:r>
                            <a:rPr lang="en-US" sz="2000" b="1" i="1" smtClean="0">
                              <a:solidFill>
                                <a:schemeClr val="accent1">
                                  <a:lumMod val="50000"/>
                                </a:schemeClr>
                              </a:solidFill>
                              <a:latin typeface="Cambria Math"/>
                            </a:rPr>
                            <m:t> </m:t>
                          </m:r>
                        </m:num>
                        <m:den>
                          <m:r>
                            <a:rPr lang="en-US" sz="2000" b="1" i="1" smtClean="0">
                              <a:solidFill>
                                <a:schemeClr val="accent1">
                                  <a:lumMod val="50000"/>
                                </a:schemeClr>
                              </a:solidFill>
                              <a:latin typeface="Cambria Math"/>
                            </a:rPr>
                            <m:t>𝑺𝒂𝒎𝒑𝒍𝒆</m:t>
                          </m:r>
                          <m:r>
                            <a:rPr lang="en-US" sz="2000" b="1" i="1" smtClean="0">
                              <a:solidFill>
                                <a:schemeClr val="accent1">
                                  <a:lumMod val="50000"/>
                                </a:schemeClr>
                              </a:solidFill>
                              <a:latin typeface="Cambria Math"/>
                            </a:rPr>
                            <m:t> </m:t>
                          </m:r>
                          <m:r>
                            <a:rPr lang="en-US" sz="2000" b="1" i="1" smtClean="0">
                              <a:solidFill>
                                <a:schemeClr val="accent1">
                                  <a:lumMod val="50000"/>
                                </a:schemeClr>
                              </a:solidFill>
                              <a:latin typeface="Cambria Math"/>
                            </a:rPr>
                            <m:t>𝒔𝒊𝒛𝒆</m:t>
                          </m:r>
                        </m:den>
                      </m:f>
                      <m:r>
                        <a:rPr lang="en-US" sz="2000" b="1" i="1" smtClean="0">
                          <a:solidFill>
                            <a:schemeClr val="accent1">
                              <a:lumMod val="50000"/>
                            </a:schemeClr>
                          </a:solidFill>
                          <a:latin typeface="Cambria Math"/>
                        </a:rPr>
                        <m:t>=</m:t>
                      </m:r>
                      <m:f>
                        <m:fPr>
                          <m:ctrlPr>
                            <a:rPr lang="en-US" sz="2000" b="1" i="1">
                              <a:solidFill>
                                <a:schemeClr val="accent1">
                                  <a:lumMod val="50000"/>
                                </a:schemeClr>
                              </a:solidFill>
                              <a:latin typeface="Cambria Math"/>
                            </a:rPr>
                          </m:ctrlPr>
                        </m:fPr>
                        <m:num>
                          <m:r>
                            <a:rPr lang="en-US" sz="2000" b="1" i="1" smtClean="0">
                              <a:solidFill>
                                <a:schemeClr val="accent1">
                                  <a:lumMod val="50000"/>
                                </a:schemeClr>
                              </a:solidFill>
                              <a:latin typeface="Cambria Math"/>
                            </a:rPr>
                            <m:t>𝟏𝟔𝟕</m:t>
                          </m:r>
                          <m:r>
                            <a:rPr lang="en-US" sz="2000" b="1" i="1">
                              <a:solidFill>
                                <a:schemeClr val="accent1">
                                  <a:lumMod val="50000"/>
                                </a:schemeClr>
                              </a:solidFill>
                              <a:latin typeface="Cambria Math"/>
                            </a:rPr>
                            <m:t>×</m:t>
                          </m:r>
                          <m:r>
                            <a:rPr lang="en-US" sz="2000" b="1" i="1" smtClean="0">
                              <a:solidFill>
                                <a:schemeClr val="accent1">
                                  <a:lumMod val="50000"/>
                                </a:schemeClr>
                              </a:solidFill>
                              <a:latin typeface="Cambria Math"/>
                              <a:ea typeface="Cambria Math"/>
                            </a:rPr>
                            <m:t>𝟏𝟎𝟏</m:t>
                          </m:r>
                        </m:num>
                        <m:den>
                          <m:r>
                            <a:rPr lang="en-US" sz="2000" b="1" i="1" smtClean="0">
                              <a:solidFill>
                                <a:schemeClr val="accent1">
                                  <a:lumMod val="50000"/>
                                </a:schemeClr>
                              </a:solidFill>
                              <a:latin typeface="Cambria Math"/>
                            </a:rPr>
                            <m:t>𝟑𝟓𝟔</m:t>
                          </m:r>
                        </m:den>
                      </m:f>
                      <m:r>
                        <a:rPr lang="en-US" sz="2000" b="1" i="1" smtClean="0">
                          <a:solidFill>
                            <a:schemeClr val="accent1">
                              <a:lumMod val="50000"/>
                            </a:schemeClr>
                          </a:solidFill>
                          <a:latin typeface="Cambria Math"/>
                        </a:rPr>
                        <m:t>=</m:t>
                      </m:r>
                      <m:r>
                        <a:rPr lang="en-US" sz="2000" b="1" i="1" smtClean="0">
                          <a:solidFill>
                            <a:schemeClr val="accent1">
                              <a:lumMod val="50000"/>
                            </a:schemeClr>
                          </a:solidFill>
                          <a:latin typeface="Cambria Math"/>
                        </a:rPr>
                        <m:t>𝟒𝟕</m:t>
                      </m:r>
                      <m:r>
                        <a:rPr lang="en-US" sz="2000" b="1" i="1" smtClean="0">
                          <a:solidFill>
                            <a:schemeClr val="accent1">
                              <a:lumMod val="50000"/>
                            </a:schemeClr>
                          </a:solidFill>
                          <a:latin typeface="Cambria Math"/>
                        </a:rPr>
                        <m:t>.</m:t>
                      </m:r>
                      <m:r>
                        <a:rPr lang="en-US" sz="2000" b="1" i="1" smtClean="0">
                          <a:solidFill>
                            <a:schemeClr val="accent1">
                              <a:lumMod val="50000"/>
                            </a:schemeClr>
                          </a:solidFill>
                          <a:latin typeface="Cambria Math"/>
                        </a:rPr>
                        <m:t>𝟑𝟕𝟗</m:t>
                      </m:r>
                    </m:oMath>
                  </m:oMathPara>
                </a14:m>
                <a:endParaRPr lang="en-US" sz="2000" b="1" dirty="0">
                  <a:solidFill>
                    <a:schemeClr val="accent1">
                      <a:lumMod val="50000"/>
                    </a:schemeClr>
                  </a:solidFill>
                </a:endParaRPr>
              </a:p>
            </p:txBody>
          </p:sp>
        </mc:Choice>
        <mc:Fallback xmlns="">
          <p:sp>
            <p:nvSpPr>
              <p:cNvPr id="17" name="TextBox 16"/>
              <p:cNvSpPr txBox="1">
                <a:spLocks noRot="1" noChangeAspect="1" noMove="1" noResize="1" noEditPoints="1" noAdjustHandles="1" noChangeArrowheads="1" noChangeShapeType="1" noTextEdit="1"/>
              </p:cNvSpPr>
              <p:nvPr/>
            </p:nvSpPr>
            <p:spPr>
              <a:xfrm>
                <a:off x="1538230" y="3284100"/>
                <a:ext cx="6667500" cy="728533"/>
              </a:xfrm>
              <a:prstGeom prst="rect">
                <a:avLst/>
              </a:prstGeom>
              <a:blipFill rotWithShape="1">
                <a:blip r:embed="rId4"/>
                <a:stretch>
                  <a:fillRect/>
                </a:stretch>
              </a:blipFill>
              <a:ln>
                <a:no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8" name="TextBox 17"/>
              <p:cNvSpPr txBox="1"/>
              <p:nvPr/>
            </p:nvSpPr>
            <p:spPr>
              <a:xfrm>
                <a:off x="1" y="4419600"/>
                <a:ext cx="9144000" cy="461665"/>
              </a:xfrm>
              <a:prstGeom prst="rect">
                <a:avLst/>
              </a:prstGeom>
              <a:noFill/>
              <a:ln>
                <a:noFill/>
              </a:ln>
            </p:spPr>
            <p:txBody>
              <a:bodyPr wrap="square" rtlCol="0">
                <a:spAutoFit/>
              </a:bodyPr>
              <a:lstStyle/>
              <a:p>
                <a14:m>
                  <m:oMath xmlns:m="http://schemas.openxmlformats.org/officeDocument/2006/math">
                    <m:sSup>
                      <m:sSupPr>
                        <m:ctrlPr>
                          <a:rPr lang="en-US" sz="2400" i="1" smtClean="0">
                            <a:solidFill>
                              <a:schemeClr val="accent1">
                                <a:lumMod val="50000"/>
                              </a:schemeClr>
                            </a:solidFill>
                            <a:latin typeface="Cambria Math"/>
                          </a:rPr>
                        </m:ctrlPr>
                      </m:sSupPr>
                      <m:e>
                        <m:r>
                          <a:rPr lang="en-US" sz="2400" i="1" smtClean="0">
                            <a:solidFill>
                              <a:schemeClr val="accent1">
                                <a:lumMod val="50000"/>
                              </a:schemeClr>
                            </a:solidFill>
                            <a:latin typeface="Cambria Math"/>
                            <a:ea typeface="Cambria Math"/>
                          </a:rPr>
                          <m:t>𝜒</m:t>
                        </m:r>
                      </m:e>
                      <m:sup>
                        <m:r>
                          <a:rPr lang="en-US" sz="2400" b="0" i="1" smtClean="0">
                            <a:solidFill>
                              <a:schemeClr val="accent1">
                                <a:lumMod val="50000"/>
                              </a:schemeClr>
                            </a:solidFill>
                            <a:latin typeface="Cambria Math"/>
                          </a:rPr>
                          <m:t>2</m:t>
                        </m:r>
                      </m:sup>
                    </m:sSup>
                    <m:r>
                      <a:rPr lang="en-US" sz="2400" b="0" i="1" smtClean="0">
                        <a:solidFill>
                          <a:schemeClr val="accent1">
                            <a:lumMod val="50000"/>
                          </a:schemeClr>
                        </a:solidFill>
                        <a:latin typeface="Cambria Math"/>
                      </a:rPr>
                      <m:t>=</m:t>
                    </m:r>
                  </m:oMath>
                </a14:m>
                <a:r>
                  <a:rPr lang="en-US" sz="2100" dirty="0" smtClean="0">
                    <a:solidFill>
                      <a:schemeClr val="accent1">
                        <a:lumMod val="50000"/>
                      </a:schemeClr>
                    </a:solidFill>
                  </a:rPr>
                  <a:t> </a:t>
                </a:r>
                <a:endParaRPr lang="en-US" sz="2100" dirty="0">
                  <a:solidFill>
                    <a:schemeClr val="accent1">
                      <a:lumMod val="50000"/>
                    </a:schemeClr>
                  </a:solidFill>
                </a:endParaRPr>
              </a:p>
            </p:txBody>
          </p:sp>
        </mc:Choice>
        <mc:Fallback>
          <p:sp>
            <p:nvSpPr>
              <p:cNvPr id="18" name="TextBox 17"/>
              <p:cNvSpPr txBox="1">
                <a:spLocks noRot="1" noChangeAspect="1" noMove="1" noResize="1" noEditPoints="1" noAdjustHandles="1" noChangeArrowheads="1" noChangeShapeType="1" noTextEdit="1"/>
              </p:cNvSpPr>
              <p:nvPr/>
            </p:nvSpPr>
            <p:spPr>
              <a:xfrm>
                <a:off x="1" y="4419600"/>
                <a:ext cx="9144000" cy="461665"/>
              </a:xfrm>
              <a:prstGeom prst="rect">
                <a:avLst/>
              </a:prstGeom>
              <a:blipFill rotWithShape="1">
                <a:blip r:embed="rId5"/>
                <a:stretch>
                  <a:fillRect l="-133" b="-10526"/>
                </a:stretch>
              </a:blipFill>
              <a:ln>
                <a:noFill/>
              </a:ln>
            </p:spPr>
            <p:txBody>
              <a:bodyPr/>
              <a:lstStyle/>
              <a:p>
                <a:r>
                  <a:rPr lang="en-US">
                    <a:noFill/>
                  </a:rPr>
                  <a:t> </a:t>
                </a:r>
              </a:p>
            </p:txBody>
          </p:sp>
        </mc:Fallback>
      </mc:AlternateContent>
      <p:sp>
        <p:nvSpPr>
          <p:cNvPr id="2" name="TextBox 1"/>
          <p:cNvSpPr txBox="1"/>
          <p:nvPr/>
        </p:nvSpPr>
        <p:spPr>
          <a:xfrm>
            <a:off x="495300" y="6091428"/>
            <a:ext cx="1677752" cy="461665"/>
          </a:xfrm>
          <a:prstGeom prst="rect">
            <a:avLst/>
          </a:prstGeom>
          <a:noFill/>
        </p:spPr>
        <p:txBody>
          <a:bodyPr wrap="square" rtlCol="0">
            <a:spAutoFit/>
          </a:bodyPr>
          <a:lstStyle/>
          <a:p>
            <a:r>
              <a:rPr lang="en-US" sz="2400" b="1" dirty="0" err="1" smtClean="0">
                <a:hlinkClick r:id="rId6"/>
              </a:rPr>
              <a:t>StatKey</a:t>
            </a:r>
            <a:endParaRPr lang="en-US" sz="2400" b="1" dirty="0"/>
          </a:p>
        </p:txBody>
      </p:sp>
    </p:spTree>
    <p:custDataLst>
      <p:tags r:id="rId1"/>
    </p:custDataLst>
    <p:extLst>
      <p:ext uri="{BB962C8B-B14F-4D97-AF65-F5344CB8AC3E}">
        <p14:creationId xmlns:p14="http://schemas.microsoft.com/office/powerpoint/2010/main" val="320726539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9"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dissolve">
                                      <p:cBhvr>
                                        <p:cTn id="19" dur="500"/>
                                        <p:tgtEl>
                                          <p:spTgt spid="12"/>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fade">
                                      <p:cBhvr>
                                        <p:cTn id="28" dur="500"/>
                                        <p:tgtEl>
                                          <p:spTgt spid="18"/>
                                        </p:tgtEl>
                                      </p:cBhvr>
                                    </p:animEffec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P spid="17" grpId="0"/>
      <p:bldP spid="18" grpId="0"/>
      <p:bldP spid="2"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5986" name="AutoShape 2" descr="http://beta.rstudio.org/graphics/plot_zoom_png?width=459&amp;height=366"/>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6" name="Content Placeholder 1"/>
          <p:cNvSpPr txBox="1">
            <a:spLocks/>
          </p:cNvSpPr>
          <p:nvPr/>
        </p:nvSpPr>
        <p:spPr>
          <a:xfrm>
            <a:off x="381000" y="1219200"/>
            <a:ext cx="8382000" cy="5334000"/>
          </a:xfrm>
          <a:prstGeom prst="rect">
            <a:avLst/>
          </a:prstGeom>
        </p:spPr>
        <p:txBody>
          <a:bodyPr vert="horz" lIns="91440" tIns="45720" rIns="91440" bIns="45720" rtlCol="0">
            <a:normAutofit/>
          </a:bodyPr>
          <a:lstStyle/>
          <a:p>
            <a:pPr marL="0" marR="0" lvl="0" indent="-342900" algn="l"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dirty="0" smtClean="0">
              <a:ln>
                <a:noFill/>
              </a:ln>
              <a:solidFill>
                <a:srgbClr val="000000"/>
              </a:solidFill>
              <a:effectLst/>
              <a:uLnTx/>
              <a:uFillTx/>
            </a:endParaRPr>
          </a:p>
          <a:p>
            <a:pPr marL="0" marR="0" lvl="0" indent="-342900" algn="ctr" defTabSz="914400" rtl="0" eaLnBrk="1" fontAlgn="auto" latinLnBrk="0" hangingPunct="1">
              <a:lnSpc>
                <a:spcPct val="100000"/>
              </a:lnSpc>
              <a:spcBef>
                <a:spcPts val="0"/>
              </a:spcBef>
              <a:spcAft>
                <a:spcPts val="0"/>
              </a:spcAft>
              <a:buClrTx/>
              <a:buSzTx/>
              <a:buFontTx/>
              <a:buNone/>
              <a:tabLst/>
              <a:defRPr/>
            </a:pPr>
            <a:endParaRPr kumimoji="0" lang="en-US" sz="2800" b="0" i="1" u="none" strike="noStrike" kern="0" cap="none" spc="0" normalizeH="0" baseline="0" noProof="0" dirty="0" smtClean="0">
              <a:ln>
                <a:noFill/>
              </a:ln>
              <a:solidFill>
                <a:srgbClr val="000000"/>
              </a:solidFill>
              <a:effectLst/>
              <a:uLnTx/>
              <a:uFillTx/>
            </a:endParaRPr>
          </a:p>
        </p:txBody>
      </p:sp>
      <p:sp>
        <p:nvSpPr>
          <p:cNvPr id="8" name="Title 1"/>
          <p:cNvSpPr txBox="1">
            <a:spLocks/>
          </p:cNvSpPr>
          <p:nvPr/>
        </p:nvSpPr>
        <p:spPr>
          <a:xfrm>
            <a:off x="495300" y="0"/>
            <a:ext cx="8153400" cy="1219200"/>
          </a:xfrm>
          <a:prstGeom prst="rect">
            <a:avLst/>
          </a:prstGeom>
        </p:spPr>
        <p:txBody>
          <a:bodyPr/>
          <a:lstStyle/>
          <a:p>
            <a:pPr lvl="0" algn="ctr">
              <a:spcBef>
                <a:spcPct val="0"/>
              </a:spcBef>
              <a:defRPr/>
            </a:pPr>
            <a:r>
              <a:rPr lang="en-US" sz="4400" b="1" dirty="0" smtClean="0">
                <a:solidFill>
                  <a:schemeClr val="tx2"/>
                </a:solidFill>
              </a:rPr>
              <a:t>Metal Tags and Penguins</a:t>
            </a:r>
            <a:endParaRPr lang="en-US" sz="4000" b="1" dirty="0">
              <a:solidFill>
                <a:schemeClr val="tx2"/>
              </a:solidFill>
            </a:endParaRPr>
          </a:p>
        </p:txBody>
      </p:sp>
      <p:sp>
        <p:nvSpPr>
          <p:cNvPr id="15" name="TextBox 14"/>
          <p:cNvSpPr txBox="1"/>
          <p:nvPr/>
        </p:nvSpPr>
        <p:spPr>
          <a:xfrm>
            <a:off x="207391" y="5378755"/>
            <a:ext cx="6546410" cy="461665"/>
          </a:xfrm>
          <a:prstGeom prst="rect">
            <a:avLst/>
          </a:prstGeom>
          <a:noFill/>
        </p:spPr>
        <p:txBody>
          <a:bodyPr wrap="square" rtlCol="0">
            <a:spAutoFit/>
          </a:bodyPr>
          <a:lstStyle/>
          <a:p>
            <a:r>
              <a:rPr lang="en-US" sz="2400" b="1" dirty="0" smtClean="0">
                <a:solidFill>
                  <a:srgbClr val="00B050"/>
                </a:solidFill>
              </a:rPr>
              <a:t>p-value = 0.0007  </a:t>
            </a:r>
            <a:r>
              <a:rPr lang="en-US" sz="2400" dirty="0" smtClean="0"/>
              <a:t>(using a </a:t>
            </a:r>
            <a:r>
              <a:rPr lang="el-GR" sz="2400" dirty="0" smtClean="0"/>
              <a:t>χ</a:t>
            </a:r>
            <a:r>
              <a:rPr lang="en-US" sz="2400" baseline="30000" dirty="0" smtClean="0"/>
              <a:t>2</a:t>
            </a:r>
            <a:r>
              <a:rPr lang="en-US" sz="2400" dirty="0" smtClean="0"/>
              <a:t>-distribution with 1 </a:t>
            </a:r>
            <a:r>
              <a:rPr lang="en-US" sz="2400" dirty="0" err="1" smtClean="0"/>
              <a:t>df</a:t>
            </a:r>
            <a:r>
              <a:rPr lang="en-US" sz="2400" dirty="0" smtClean="0"/>
              <a:t>)</a:t>
            </a:r>
            <a:endParaRPr lang="en-US" sz="2400" dirty="0">
              <a:solidFill>
                <a:srgbClr val="FF0000"/>
              </a:solidFill>
            </a:endParaRPr>
          </a:p>
        </p:txBody>
      </p:sp>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6911" y="705130"/>
            <a:ext cx="6931025" cy="46553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8"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00752" y="705130"/>
            <a:ext cx="2857905" cy="24952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16" name="Table 15"/>
          <p:cNvGraphicFramePr>
            <a:graphicFrameLocks noGrp="1"/>
          </p:cNvGraphicFramePr>
          <p:nvPr>
            <p:extLst>
              <p:ext uri="{D42A27DB-BD31-4B8C-83A1-F6EECF244321}">
                <p14:modId xmlns:p14="http://schemas.microsoft.com/office/powerpoint/2010/main" val="1276953684"/>
              </p:ext>
            </p:extLst>
          </p:nvPr>
        </p:nvGraphicFramePr>
        <p:xfrm>
          <a:off x="495300" y="1706880"/>
          <a:ext cx="5658674" cy="1463040"/>
        </p:xfrm>
        <a:graphic>
          <a:graphicData uri="http://schemas.openxmlformats.org/drawingml/2006/table">
            <a:tbl>
              <a:tblPr firstRow="1" bandRow="1">
                <a:tableStyleId>{5C22544A-7EE6-4342-B048-85BDC9FD1C3A}</a:tableStyleId>
              </a:tblPr>
              <a:tblGrid>
                <a:gridCol w="1818083"/>
                <a:gridCol w="1477629"/>
                <a:gridCol w="1678946"/>
                <a:gridCol w="684016"/>
              </a:tblGrid>
              <a:tr h="313690">
                <a:tc>
                  <a:txBody>
                    <a:bodyPr/>
                    <a:lstStyle/>
                    <a:p>
                      <a:endParaRPr lang="en-US" sz="18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smtClean="0">
                          <a:solidFill>
                            <a:schemeClr val="tx1"/>
                          </a:solidFill>
                        </a:rPr>
                        <a:t>Survived</a:t>
                      </a:r>
                      <a:endParaRPr lang="en-US" sz="18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r>
                        <a:rPr lang="en-US" sz="1800" dirty="0" smtClean="0">
                          <a:solidFill>
                            <a:schemeClr val="tx1"/>
                          </a:solidFill>
                        </a:rPr>
                        <a:t>Died</a:t>
                      </a:r>
                      <a:endParaRPr lang="en-US" sz="18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r>
                        <a:rPr lang="en-US" sz="1800" b="0" dirty="0" smtClean="0">
                          <a:solidFill>
                            <a:schemeClr val="tx1"/>
                          </a:solidFill>
                        </a:rPr>
                        <a:t>Total</a:t>
                      </a:r>
                      <a:endParaRPr lang="en-US" sz="1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13690">
                <a:tc>
                  <a:txBody>
                    <a:bodyPr/>
                    <a:lstStyle/>
                    <a:p>
                      <a:r>
                        <a:rPr lang="en-US" sz="1800" b="1" dirty="0" smtClean="0">
                          <a:solidFill>
                            <a:schemeClr val="tx1"/>
                          </a:solidFill>
                        </a:rPr>
                        <a:t>Metal</a:t>
                      </a:r>
                      <a:r>
                        <a:rPr lang="en-US" sz="1800" b="1" baseline="0" dirty="0" smtClean="0">
                          <a:solidFill>
                            <a:schemeClr val="tx1"/>
                          </a:solidFill>
                        </a:rPr>
                        <a:t> Tag</a:t>
                      </a:r>
                      <a:endParaRPr lang="en-US" sz="18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alpha val="79000"/>
                      </a:schemeClr>
                    </a:solidFill>
                  </a:tcPr>
                </a:tc>
                <a:tc>
                  <a:txBody>
                    <a:bodyPr/>
                    <a:lstStyle/>
                    <a:p>
                      <a:r>
                        <a:rPr lang="en-US" sz="1800" dirty="0" smtClean="0">
                          <a:solidFill>
                            <a:schemeClr val="tx1"/>
                          </a:solidFill>
                        </a:rPr>
                        <a:t>33  </a:t>
                      </a:r>
                      <a:r>
                        <a:rPr lang="en-US" sz="1800" b="1" dirty="0" smtClean="0">
                          <a:solidFill>
                            <a:schemeClr val="accent1">
                              <a:lumMod val="50000"/>
                            </a:schemeClr>
                          </a:solidFill>
                        </a:rPr>
                        <a:t>(47.379)</a:t>
                      </a:r>
                      <a:endParaRPr lang="en-US" sz="1800" b="1" dirty="0">
                        <a:solidFill>
                          <a:schemeClr val="accent1">
                            <a:lumMod val="5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alpha val="80000"/>
                      </a:schemeClr>
                    </a:solidFill>
                  </a:tcPr>
                </a:tc>
                <a:tc>
                  <a:txBody>
                    <a:bodyPr/>
                    <a:lstStyle/>
                    <a:p>
                      <a:r>
                        <a:rPr lang="en-US" sz="1800" dirty="0" smtClean="0">
                          <a:solidFill>
                            <a:schemeClr val="tx1"/>
                          </a:solidFill>
                        </a:rPr>
                        <a:t>134  </a:t>
                      </a:r>
                      <a:r>
                        <a:rPr lang="en-US" sz="1800" b="1" dirty="0" smtClean="0">
                          <a:solidFill>
                            <a:schemeClr val="accent1">
                              <a:lumMod val="50000"/>
                            </a:schemeClr>
                          </a:solidFill>
                        </a:rPr>
                        <a:t>(119.621)</a:t>
                      </a:r>
                      <a:endParaRPr lang="en-US" sz="1800" b="1" dirty="0">
                        <a:solidFill>
                          <a:schemeClr val="accent1">
                            <a:lumMod val="5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alpha val="80000"/>
                      </a:schemeClr>
                    </a:solidFill>
                  </a:tcPr>
                </a:tc>
                <a:tc>
                  <a:txBody>
                    <a:bodyPr/>
                    <a:lstStyle/>
                    <a:p>
                      <a:r>
                        <a:rPr lang="en-US" sz="1800" dirty="0" smtClean="0">
                          <a:solidFill>
                            <a:schemeClr val="tx1"/>
                          </a:solidFill>
                        </a:rPr>
                        <a:t>167</a:t>
                      </a:r>
                      <a:endParaRPr lang="en-US" sz="18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13690">
                <a:tc>
                  <a:txBody>
                    <a:bodyPr/>
                    <a:lstStyle/>
                    <a:p>
                      <a:r>
                        <a:rPr lang="en-US" sz="1800" b="1" dirty="0" smtClean="0">
                          <a:solidFill>
                            <a:schemeClr val="tx1"/>
                          </a:solidFill>
                        </a:rPr>
                        <a:t>Electronic Tag</a:t>
                      </a:r>
                      <a:endParaRPr lang="en-US" sz="18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alpha val="79000"/>
                      </a:schemeClr>
                    </a:solidFill>
                  </a:tcPr>
                </a:tc>
                <a:tc>
                  <a:txBody>
                    <a:bodyPr/>
                    <a:lstStyle/>
                    <a:p>
                      <a:r>
                        <a:rPr lang="en-US" sz="1800" dirty="0" smtClean="0">
                          <a:solidFill>
                            <a:schemeClr val="tx1"/>
                          </a:solidFill>
                        </a:rPr>
                        <a:t>68  </a:t>
                      </a:r>
                      <a:r>
                        <a:rPr lang="en-US" sz="1800" b="1" dirty="0" smtClean="0">
                          <a:solidFill>
                            <a:schemeClr val="accent1">
                              <a:lumMod val="50000"/>
                            </a:schemeClr>
                          </a:solidFill>
                        </a:rPr>
                        <a:t>(53.621)</a:t>
                      </a:r>
                      <a:endParaRPr lang="en-US" sz="1800" b="1" dirty="0">
                        <a:solidFill>
                          <a:schemeClr val="accent1">
                            <a:lumMod val="5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alpha val="80000"/>
                      </a:schemeClr>
                    </a:solidFill>
                  </a:tcPr>
                </a:tc>
                <a:tc>
                  <a:txBody>
                    <a:bodyPr/>
                    <a:lstStyle/>
                    <a:p>
                      <a:r>
                        <a:rPr lang="en-US" sz="1800" dirty="0" smtClean="0">
                          <a:solidFill>
                            <a:schemeClr val="tx1"/>
                          </a:solidFill>
                        </a:rPr>
                        <a:t>121  </a:t>
                      </a:r>
                      <a:r>
                        <a:rPr lang="en-US" sz="1800" b="1" dirty="0" smtClean="0">
                          <a:solidFill>
                            <a:schemeClr val="accent1">
                              <a:lumMod val="50000"/>
                            </a:schemeClr>
                          </a:solidFill>
                        </a:rPr>
                        <a:t>(135.379)</a:t>
                      </a:r>
                      <a:endParaRPr lang="en-US" sz="1800" b="1" dirty="0">
                        <a:solidFill>
                          <a:schemeClr val="accent1">
                            <a:lumMod val="5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alpha val="80000"/>
                      </a:schemeClr>
                    </a:solidFill>
                  </a:tcPr>
                </a:tc>
                <a:tc>
                  <a:txBody>
                    <a:bodyPr/>
                    <a:lstStyle/>
                    <a:p>
                      <a:r>
                        <a:rPr lang="en-US" sz="1800" dirty="0" smtClean="0">
                          <a:solidFill>
                            <a:schemeClr val="tx1"/>
                          </a:solidFill>
                        </a:rPr>
                        <a:t>189</a:t>
                      </a:r>
                      <a:endParaRPr lang="en-US" sz="18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13690">
                <a:tc>
                  <a:txBody>
                    <a:bodyPr/>
                    <a:lstStyle/>
                    <a:p>
                      <a:r>
                        <a:rPr lang="en-US" sz="1800" dirty="0" smtClean="0">
                          <a:solidFill>
                            <a:schemeClr val="tx1"/>
                          </a:solidFill>
                        </a:rPr>
                        <a:t>Total</a:t>
                      </a:r>
                      <a:endParaRPr lang="en-US" sz="18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smtClean="0">
                          <a:solidFill>
                            <a:schemeClr val="tx1"/>
                          </a:solidFill>
                        </a:rPr>
                        <a:t>101</a:t>
                      </a:r>
                      <a:endParaRPr lang="en-US" sz="18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smtClean="0">
                          <a:solidFill>
                            <a:schemeClr val="tx1"/>
                          </a:solidFill>
                        </a:rPr>
                        <a:t>255</a:t>
                      </a:r>
                      <a:endParaRPr lang="en-US" sz="18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smtClean="0">
                          <a:solidFill>
                            <a:schemeClr val="tx1"/>
                          </a:solidFill>
                        </a:rPr>
                        <a:t>356</a:t>
                      </a:r>
                      <a:endParaRPr lang="en-US" sz="18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Tree>
    <p:custDataLst>
      <p:tags r:id="rId1"/>
    </p:custDataLst>
    <p:extLst>
      <p:ext uri="{BB962C8B-B14F-4D97-AF65-F5344CB8AC3E}">
        <p14:creationId xmlns:p14="http://schemas.microsoft.com/office/powerpoint/2010/main" val="371013092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0" fill="hold"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anim calcmode="lin" valueType="num">
                                      <p:cBhvr>
                                        <p:cTn id="7" dur="500" fill="hold"/>
                                        <p:tgtEl>
                                          <p:spTgt spid="15">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15">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15">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1028"/>
                                        </p:tgtEl>
                                        <p:attrNameLst>
                                          <p:attrName>style.visibility</p:attrName>
                                        </p:attrNameLst>
                                      </p:cBhvr>
                                      <p:to>
                                        <p:strVal val="visible"/>
                                      </p:to>
                                    </p:set>
                                  </p:childTnLst>
                                </p:cTn>
                              </p:par>
                              <p:par>
                                <p:cTn id="14" presetID="9" presetClass="entr" presetSubtype="0" fill="hold"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dissolve">
                                      <p:cBhvr>
                                        <p:cTn id="16"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5986" name="AutoShape 2" descr="http://beta.rstudio.org/graphics/plot_zoom_png?width=459&amp;height=366"/>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 name="Title 1"/>
          <p:cNvSpPr>
            <a:spLocks noGrp="1"/>
          </p:cNvSpPr>
          <p:nvPr>
            <p:ph type="title"/>
          </p:nvPr>
        </p:nvSpPr>
        <p:spPr>
          <a:xfrm>
            <a:off x="576199" y="228600"/>
            <a:ext cx="8153400" cy="990600"/>
          </a:xfrm>
        </p:spPr>
        <p:txBody>
          <a:bodyPr>
            <a:normAutofit/>
          </a:bodyPr>
          <a:lstStyle/>
          <a:p>
            <a:pPr lvl="0"/>
            <a:r>
              <a:rPr lang="en-US" dirty="0"/>
              <a:t>Metal Tags and </a:t>
            </a:r>
            <a:r>
              <a:rPr lang="en-US" dirty="0" smtClean="0"/>
              <a:t>Penguins</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a:xfrm>
                <a:off x="18288" y="1524000"/>
                <a:ext cx="9125712" cy="5334000"/>
              </a:xfrm>
            </p:spPr>
            <p:txBody>
              <a:bodyPr>
                <a:normAutofit fontScale="92500" lnSpcReduction="10000"/>
              </a:bodyPr>
              <a:lstStyle/>
              <a:p>
                <a:r>
                  <a:rPr lang="en-US" sz="3600" u="sng" dirty="0">
                    <a:solidFill>
                      <a:prstClr val="black"/>
                    </a:solidFill>
                    <a:cs typeface="Times New Roman" pitchFamily="18" charset="0"/>
                    <a:sym typeface="Symbol"/>
                  </a:rPr>
                  <a:t>Difference in two proportions z-test:</a:t>
                </a:r>
              </a:p>
              <a:p>
                <a:pPr marL="0" indent="0">
                  <a:buNone/>
                </a:pPr>
                <a:r>
                  <a:rPr lang="en-US" dirty="0">
                    <a:solidFill>
                      <a:prstClr val="black"/>
                    </a:solidFill>
                    <a:cs typeface="Times New Roman" pitchFamily="18" charset="0"/>
                    <a:sym typeface="Symbol"/>
                  </a:rPr>
                  <a:t>  </a:t>
                </a:r>
                <a14:m>
                  <m:oMath xmlns:m="http://schemas.openxmlformats.org/officeDocument/2006/math">
                    <m:r>
                      <a:rPr lang="en-US" i="1" dirty="0">
                        <a:solidFill>
                          <a:prstClr val="black"/>
                        </a:solidFill>
                        <a:latin typeface="Cambria Math"/>
                        <a:cs typeface="Times New Roman" pitchFamily="18" charset="0"/>
                        <a:sym typeface="Symbol"/>
                      </a:rPr>
                      <m:t>  </m:t>
                    </m:r>
                    <m:r>
                      <a:rPr lang="en-US" i="1" dirty="0">
                        <a:solidFill>
                          <a:prstClr val="black"/>
                        </a:solidFill>
                        <a:latin typeface="Cambria Math"/>
                        <a:cs typeface="Times New Roman" pitchFamily="18" charset="0"/>
                        <a:sym typeface="Symbol"/>
                      </a:rPr>
                      <m:t>𝑧</m:t>
                    </m:r>
                    <m:r>
                      <a:rPr lang="en-US" i="1" dirty="0">
                        <a:solidFill>
                          <a:prstClr val="black"/>
                        </a:solidFill>
                        <a:latin typeface="Cambria Math"/>
                        <a:cs typeface="Times New Roman" pitchFamily="18" charset="0"/>
                        <a:sym typeface="Symbol"/>
                      </a:rPr>
                      <m:t> =</m:t>
                    </m:r>
                    <m:f>
                      <m:fPr>
                        <m:ctrlPr>
                          <a:rPr lang="en-US" i="1" dirty="0">
                            <a:solidFill>
                              <a:prstClr val="black"/>
                            </a:solidFill>
                            <a:latin typeface="Cambria Math"/>
                            <a:cs typeface="Times New Roman" pitchFamily="18" charset="0"/>
                            <a:sym typeface="Symbol"/>
                          </a:rPr>
                        </m:ctrlPr>
                      </m:fPr>
                      <m:num>
                        <m:sSub>
                          <m:sSubPr>
                            <m:ctrlPr>
                              <a:rPr lang="en-US" i="1" dirty="0">
                                <a:solidFill>
                                  <a:prstClr val="black"/>
                                </a:solidFill>
                                <a:latin typeface="Cambria Math"/>
                                <a:cs typeface="Times New Roman" pitchFamily="18" charset="0"/>
                                <a:sym typeface="Symbol"/>
                              </a:rPr>
                            </m:ctrlPr>
                          </m:sSubPr>
                          <m:e>
                            <m:acc>
                              <m:accPr>
                                <m:chr m:val="̂"/>
                                <m:ctrlPr>
                                  <a:rPr lang="en-US" i="1" dirty="0">
                                    <a:solidFill>
                                      <a:prstClr val="black"/>
                                    </a:solidFill>
                                    <a:latin typeface="Cambria Math"/>
                                    <a:cs typeface="Times New Roman" pitchFamily="18" charset="0"/>
                                    <a:sym typeface="Symbol"/>
                                  </a:rPr>
                                </m:ctrlPr>
                              </m:accPr>
                              <m:e>
                                <m:r>
                                  <a:rPr lang="en-US" i="1" dirty="0">
                                    <a:solidFill>
                                      <a:prstClr val="black"/>
                                    </a:solidFill>
                                    <a:latin typeface="Cambria Math"/>
                                    <a:cs typeface="Times New Roman" pitchFamily="18" charset="0"/>
                                    <a:sym typeface="Symbol"/>
                                  </a:rPr>
                                  <m:t>𝑝</m:t>
                                </m:r>
                              </m:e>
                            </m:acc>
                          </m:e>
                          <m:sub>
                            <m:r>
                              <a:rPr lang="en-US" i="1" dirty="0">
                                <a:solidFill>
                                  <a:prstClr val="black"/>
                                </a:solidFill>
                                <a:latin typeface="Cambria Math"/>
                                <a:cs typeface="Times New Roman" pitchFamily="18" charset="0"/>
                                <a:sym typeface="Symbol"/>
                              </a:rPr>
                              <m:t>1</m:t>
                            </m:r>
                          </m:sub>
                        </m:sSub>
                        <m:r>
                          <a:rPr lang="en-US" i="1" dirty="0">
                            <a:solidFill>
                              <a:prstClr val="black"/>
                            </a:solidFill>
                            <a:latin typeface="Cambria Math"/>
                            <a:cs typeface="Times New Roman" pitchFamily="18" charset="0"/>
                            <a:sym typeface="Symbol"/>
                          </a:rPr>
                          <m:t> − </m:t>
                        </m:r>
                        <m:sSub>
                          <m:sSubPr>
                            <m:ctrlPr>
                              <a:rPr lang="en-US" i="1" dirty="0">
                                <a:solidFill>
                                  <a:prstClr val="black"/>
                                </a:solidFill>
                                <a:latin typeface="Cambria Math"/>
                                <a:cs typeface="Times New Roman" pitchFamily="18" charset="0"/>
                                <a:sym typeface="Symbol"/>
                              </a:rPr>
                            </m:ctrlPr>
                          </m:sSubPr>
                          <m:e>
                            <m:acc>
                              <m:accPr>
                                <m:chr m:val="̂"/>
                                <m:ctrlPr>
                                  <a:rPr lang="en-US" i="1" dirty="0">
                                    <a:solidFill>
                                      <a:prstClr val="black"/>
                                    </a:solidFill>
                                    <a:latin typeface="Cambria Math"/>
                                    <a:cs typeface="Times New Roman" pitchFamily="18" charset="0"/>
                                    <a:sym typeface="Symbol"/>
                                  </a:rPr>
                                </m:ctrlPr>
                              </m:accPr>
                              <m:e>
                                <m:r>
                                  <a:rPr lang="en-US" i="1" dirty="0">
                                    <a:solidFill>
                                      <a:prstClr val="black"/>
                                    </a:solidFill>
                                    <a:latin typeface="Cambria Math"/>
                                    <a:cs typeface="Times New Roman" pitchFamily="18" charset="0"/>
                                    <a:sym typeface="Symbol"/>
                                  </a:rPr>
                                  <m:t>𝑝</m:t>
                                </m:r>
                              </m:e>
                            </m:acc>
                          </m:e>
                          <m:sub>
                            <m:r>
                              <a:rPr lang="en-US" i="1" dirty="0">
                                <a:solidFill>
                                  <a:prstClr val="black"/>
                                </a:solidFill>
                                <a:latin typeface="Cambria Math"/>
                                <a:cs typeface="Times New Roman" pitchFamily="18" charset="0"/>
                                <a:sym typeface="Symbol"/>
                              </a:rPr>
                              <m:t>2</m:t>
                            </m:r>
                          </m:sub>
                        </m:sSub>
                      </m:num>
                      <m:den>
                        <m:rad>
                          <m:radPr>
                            <m:degHide m:val="on"/>
                            <m:ctrlPr>
                              <a:rPr lang="en-US" i="1" dirty="0">
                                <a:solidFill>
                                  <a:prstClr val="black"/>
                                </a:solidFill>
                                <a:latin typeface="Cambria Math"/>
                                <a:cs typeface="Times New Roman" pitchFamily="18" charset="0"/>
                                <a:sym typeface="Symbol"/>
                              </a:rPr>
                            </m:ctrlPr>
                          </m:radPr>
                          <m:deg/>
                          <m:e>
                            <m:acc>
                              <m:accPr>
                                <m:chr m:val="̂"/>
                                <m:ctrlPr>
                                  <a:rPr lang="en-US" i="1" dirty="0">
                                    <a:solidFill>
                                      <a:prstClr val="black"/>
                                    </a:solidFill>
                                    <a:latin typeface="Cambria Math"/>
                                    <a:cs typeface="Times New Roman" pitchFamily="18" charset="0"/>
                                    <a:sym typeface="Symbol"/>
                                  </a:rPr>
                                </m:ctrlPr>
                              </m:accPr>
                              <m:e>
                                <m:r>
                                  <a:rPr lang="en-US" i="1" dirty="0">
                                    <a:solidFill>
                                      <a:prstClr val="black"/>
                                    </a:solidFill>
                                    <a:latin typeface="Cambria Math"/>
                                    <a:cs typeface="Times New Roman" pitchFamily="18" charset="0"/>
                                    <a:sym typeface="Symbol"/>
                                  </a:rPr>
                                  <m:t>𝑝</m:t>
                                </m:r>
                              </m:e>
                            </m:acc>
                            <m:d>
                              <m:dPr>
                                <m:ctrlPr>
                                  <a:rPr lang="en-US" i="1" dirty="0">
                                    <a:solidFill>
                                      <a:prstClr val="black"/>
                                    </a:solidFill>
                                    <a:latin typeface="Cambria Math"/>
                                    <a:cs typeface="Times New Roman" pitchFamily="18" charset="0"/>
                                    <a:sym typeface="Symbol"/>
                                  </a:rPr>
                                </m:ctrlPr>
                              </m:dPr>
                              <m:e>
                                <m:r>
                                  <a:rPr lang="en-US" i="1" dirty="0">
                                    <a:solidFill>
                                      <a:prstClr val="black"/>
                                    </a:solidFill>
                                    <a:latin typeface="Cambria Math"/>
                                    <a:cs typeface="Times New Roman" pitchFamily="18" charset="0"/>
                                    <a:sym typeface="Symbol"/>
                                  </a:rPr>
                                  <m:t>1− </m:t>
                                </m:r>
                                <m:acc>
                                  <m:accPr>
                                    <m:chr m:val="̂"/>
                                    <m:ctrlPr>
                                      <a:rPr lang="en-US" i="1" dirty="0">
                                        <a:solidFill>
                                          <a:prstClr val="black"/>
                                        </a:solidFill>
                                        <a:latin typeface="Cambria Math"/>
                                        <a:cs typeface="Times New Roman" pitchFamily="18" charset="0"/>
                                        <a:sym typeface="Symbol"/>
                                      </a:rPr>
                                    </m:ctrlPr>
                                  </m:accPr>
                                  <m:e>
                                    <m:r>
                                      <a:rPr lang="en-US" i="1" dirty="0">
                                        <a:solidFill>
                                          <a:prstClr val="black"/>
                                        </a:solidFill>
                                        <a:latin typeface="Cambria Math"/>
                                        <a:cs typeface="Times New Roman" pitchFamily="18" charset="0"/>
                                        <a:sym typeface="Symbol"/>
                                      </a:rPr>
                                      <m:t>𝑝</m:t>
                                    </m:r>
                                  </m:e>
                                </m:acc>
                              </m:e>
                            </m:d>
                            <m:d>
                              <m:dPr>
                                <m:ctrlPr>
                                  <a:rPr lang="en-US" i="1" dirty="0">
                                    <a:solidFill>
                                      <a:prstClr val="black"/>
                                    </a:solidFill>
                                    <a:latin typeface="Cambria Math"/>
                                    <a:cs typeface="Times New Roman" pitchFamily="18" charset="0"/>
                                    <a:sym typeface="Symbol"/>
                                  </a:rPr>
                                </m:ctrlPr>
                              </m:dPr>
                              <m:e>
                                <m:f>
                                  <m:fPr>
                                    <m:ctrlPr>
                                      <a:rPr lang="en-US" i="1" dirty="0">
                                        <a:solidFill>
                                          <a:prstClr val="black"/>
                                        </a:solidFill>
                                        <a:latin typeface="Cambria Math"/>
                                        <a:cs typeface="Times New Roman" pitchFamily="18" charset="0"/>
                                        <a:sym typeface="Symbol"/>
                                      </a:rPr>
                                    </m:ctrlPr>
                                  </m:fPr>
                                  <m:num>
                                    <m:r>
                                      <a:rPr lang="en-US" i="1" dirty="0">
                                        <a:solidFill>
                                          <a:prstClr val="black"/>
                                        </a:solidFill>
                                        <a:latin typeface="Cambria Math"/>
                                        <a:cs typeface="Times New Roman" pitchFamily="18" charset="0"/>
                                        <a:sym typeface="Symbol"/>
                                      </a:rPr>
                                      <m:t>1</m:t>
                                    </m:r>
                                  </m:num>
                                  <m:den>
                                    <m:sSub>
                                      <m:sSubPr>
                                        <m:ctrlPr>
                                          <a:rPr lang="en-US" i="1" dirty="0">
                                            <a:solidFill>
                                              <a:prstClr val="black"/>
                                            </a:solidFill>
                                            <a:latin typeface="Cambria Math"/>
                                            <a:cs typeface="Times New Roman" pitchFamily="18" charset="0"/>
                                            <a:sym typeface="Symbol"/>
                                          </a:rPr>
                                        </m:ctrlPr>
                                      </m:sSubPr>
                                      <m:e>
                                        <m:r>
                                          <a:rPr lang="en-US" i="1" dirty="0">
                                            <a:solidFill>
                                              <a:prstClr val="black"/>
                                            </a:solidFill>
                                            <a:latin typeface="Cambria Math"/>
                                            <a:cs typeface="Times New Roman" pitchFamily="18" charset="0"/>
                                            <a:sym typeface="Symbol"/>
                                          </a:rPr>
                                          <m:t>𝑛</m:t>
                                        </m:r>
                                      </m:e>
                                      <m:sub>
                                        <m:r>
                                          <a:rPr lang="en-US" i="1" dirty="0">
                                            <a:solidFill>
                                              <a:prstClr val="black"/>
                                            </a:solidFill>
                                            <a:latin typeface="Cambria Math"/>
                                            <a:cs typeface="Times New Roman" pitchFamily="18" charset="0"/>
                                            <a:sym typeface="Symbol"/>
                                          </a:rPr>
                                          <m:t>1</m:t>
                                        </m:r>
                                      </m:sub>
                                    </m:sSub>
                                  </m:den>
                                </m:f>
                                <m:r>
                                  <a:rPr lang="en-US" i="1" dirty="0">
                                    <a:solidFill>
                                      <a:prstClr val="black"/>
                                    </a:solidFill>
                                    <a:latin typeface="Cambria Math"/>
                                    <a:cs typeface="Times New Roman" pitchFamily="18" charset="0"/>
                                    <a:sym typeface="Symbol"/>
                                  </a:rPr>
                                  <m:t>+</m:t>
                                </m:r>
                                <m:f>
                                  <m:fPr>
                                    <m:ctrlPr>
                                      <a:rPr lang="en-US" i="1" dirty="0">
                                        <a:solidFill>
                                          <a:prstClr val="black"/>
                                        </a:solidFill>
                                        <a:latin typeface="Cambria Math"/>
                                        <a:cs typeface="Times New Roman" pitchFamily="18" charset="0"/>
                                        <a:sym typeface="Symbol"/>
                                      </a:rPr>
                                    </m:ctrlPr>
                                  </m:fPr>
                                  <m:num>
                                    <m:r>
                                      <a:rPr lang="en-US" i="1" dirty="0">
                                        <a:solidFill>
                                          <a:prstClr val="black"/>
                                        </a:solidFill>
                                        <a:latin typeface="Cambria Math"/>
                                        <a:cs typeface="Times New Roman" pitchFamily="18" charset="0"/>
                                        <a:sym typeface="Symbol"/>
                                      </a:rPr>
                                      <m:t>1</m:t>
                                    </m:r>
                                  </m:num>
                                  <m:den>
                                    <m:sSub>
                                      <m:sSubPr>
                                        <m:ctrlPr>
                                          <a:rPr lang="en-US" i="1" dirty="0">
                                            <a:solidFill>
                                              <a:prstClr val="black"/>
                                            </a:solidFill>
                                            <a:latin typeface="Cambria Math"/>
                                            <a:cs typeface="Times New Roman" pitchFamily="18" charset="0"/>
                                            <a:sym typeface="Symbol"/>
                                          </a:rPr>
                                        </m:ctrlPr>
                                      </m:sSubPr>
                                      <m:e>
                                        <m:r>
                                          <a:rPr lang="en-US" i="1" dirty="0">
                                            <a:solidFill>
                                              <a:prstClr val="black"/>
                                            </a:solidFill>
                                            <a:latin typeface="Cambria Math"/>
                                            <a:cs typeface="Times New Roman" pitchFamily="18" charset="0"/>
                                            <a:sym typeface="Symbol"/>
                                          </a:rPr>
                                          <m:t>𝑛</m:t>
                                        </m:r>
                                      </m:e>
                                      <m:sub>
                                        <m:r>
                                          <a:rPr lang="en-US" i="1" dirty="0">
                                            <a:solidFill>
                                              <a:prstClr val="black"/>
                                            </a:solidFill>
                                            <a:latin typeface="Cambria Math"/>
                                            <a:cs typeface="Times New Roman" pitchFamily="18" charset="0"/>
                                            <a:sym typeface="Symbol"/>
                                          </a:rPr>
                                          <m:t>2</m:t>
                                        </m:r>
                                      </m:sub>
                                    </m:sSub>
                                  </m:den>
                                </m:f>
                              </m:e>
                            </m:d>
                          </m:e>
                        </m:rad>
                      </m:den>
                    </m:f>
                    <m:r>
                      <a:rPr lang="en-US" i="1" dirty="0">
                        <a:solidFill>
                          <a:prstClr val="black"/>
                        </a:solidFill>
                        <a:latin typeface="Cambria Math"/>
                        <a:cs typeface="Times New Roman" pitchFamily="18" charset="0"/>
                        <a:sym typeface="Symbol"/>
                      </a:rPr>
                      <m:t>=</m:t>
                    </m:r>
                    <m:f>
                      <m:fPr>
                        <m:ctrlPr>
                          <a:rPr lang="en-US" i="1" dirty="0">
                            <a:solidFill>
                              <a:prstClr val="black"/>
                            </a:solidFill>
                            <a:latin typeface="Cambria Math"/>
                            <a:cs typeface="Times New Roman" pitchFamily="18" charset="0"/>
                            <a:sym typeface="Symbol"/>
                          </a:rPr>
                        </m:ctrlPr>
                      </m:fPr>
                      <m:num>
                        <m:f>
                          <m:fPr>
                            <m:ctrlPr>
                              <a:rPr lang="en-US" i="1" dirty="0">
                                <a:solidFill>
                                  <a:prstClr val="black"/>
                                </a:solidFill>
                                <a:latin typeface="Cambria Math"/>
                                <a:cs typeface="Times New Roman" pitchFamily="18" charset="0"/>
                                <a:sym typeface="Symbol"/>
                              </a:rPr>
                            </m:ctrlPr>
                          </m:fPr>
                          <m:num>
                            <m:r>
                              <a:rPr lang="en-US" i="1" dirty="0">
                                <a:solidFill>
                                  <a:prstClr val="black"/>
                                </a:solidFill>
                                <a:latin typeface="Cambria Math"/>
                                <a:cs typeface="Times New Roman" pitchFamily="18" charset="0"/>
                                <a:sym typeface="Symbol"/>
                              </a:rPr>
                              <m:t>33</m:t>
                            </m:r>
                          </m:num>
                          <m:den>
                            <m:r>
                              <a:rPr lang="en-US" i="1" dirty="0">
                                <a:solidFill>
                                  <a:prstClr val="black"/>
                                </a:solidFill>
                                <a:latin typeface="Cambria Math"/>
                                <a:cs typeface="Times New Roman" pitchFamily="18" charset="0"/>
                                <a:sym typeface="Symbol"/>
                              </a:rPr>
                              <m:t>167</m:t>
                            </m:r>
                          </m:den>
                        </m:f>
                        <m:r>
                          <a:rPr lang="en-US" i="1" dirty="0">
                            <a:solidFill>
                              <a:prstClr val="black"/>
                            </a:solidFill>
                            <a:latin typeface="Cambria Math"/>
                            <a:cs typeface="Times New Roman" pitchFamily="18" charset="0"/>
                            <a:sym typeface="Symbol"/>
                          </a:rPr>
                          <m:t> − </m:t>
                        </m:r>
                        <m:f>
                          <m:fPr>
                            <m:ctrlPr>
                              <a:rPr lang="en-US" i="1" dirty="0">
                                <a:solidFill>
                                  <a:prstClr val="black"/>
                                </a:solidFill>
                                <a:latin typeface="Cambria Math"/>
                                <a:cs typeface="Times New Roman" pitchFamily="18" charset="0"/>
                                <a:sym typeface="Symbol"/>
                              </a:rPr>
                            </m:ctrlPr>
                          </m:fPr>
                          <m:num>
                            <m:r>
                              <a:rPr lang="en-US" i="1" dirty="0">
                                <a:solidFill>
                                  <a:prstClr val="black"/>
                                </a:solidFill>
                                <a:latin typeface="Cambria Math"/>
                                <a:cs typeface="Times New Roman" pitchFamily="18" charset="0"/>
                                <a:sym typeface="Symbol"/>
                              </a:rPr>
                              <m:t>68</m:t>
                            </m:r>
                          </m:num>
                          <m:den>
                            <m:r>
                              <a:rPr lang="en-US" i="1" dirty="0">
                                <a:solidFill>
                                  <a:prstClr val="black"/>
                                </a:solidFill>
                                <a:latin typeface="Cambria Math"/>
                                <a:cs typeface="Times New Roman" pitchFamily="18" charset="0"/>
                                <a:sym typeface="Symbol"/>
                              </a:rPr>
                              <m:t> 189</m:t>
                            </m:r>
                          </m:den>
                        </m:f>
                      </m:num>
                      <m:den>
                        <m:rad>
                          <m:radPr>
                            <m:degHide m:val="on"/>
                            <m:ctrlPr>
                              <a:rPr lang="en-US" i="1" dirty="0">
                                <a:solidFill>
                                  <a:prstClr val="black"/>
                                </a:solidFill>
                                <a:latin typeface="Cambria Math"/>
                                <a:cs typeface="Times New Roman" pitchFamily="18" charset="0"/>
                                <a:sym typeface="Symbol"/>
                              </a:rPr>
                            </m:ctrlPr>
                          </m:radPr>
                          <m:deg/>
                          <m:e>
                            <m:f>
                              <m:fPr>
                                <m:ctrlPr>
                                  <a:rPr lang="en-US" i="1" dirty="0">
                                    <a:solidFill>
                                      <a:prstClr val="black"/>
                                    </a:solidFill>
                                    <a:latin typeface="Cambria Math"/>
                                    <a:cs typeface="Times New Roman" pitchFamily="18" charset="0"/>
                                    <a:sym typeface="Symbol"/>
                                  </a:rPr>
                                </m:ctrlPr>
                              </m:fPr>
                              <m:num>
                                <m:r>
                                  <a:rPr lang="en-US" i="1" dirty="0">
                                    <a:solidFill>
                                      <a:prstClr val="black"/>
                                    </a:solidFill>
                                    <a:latin typeface="Cambria Math"/>
                                    <a:cs typeface="Times New Roman" pitchFamily="18" charset="0"/>
                                    <a:sym typeface="Symbol"/>
                                  </a:rPr>
                                  <m:t>101</m:t>
                                </m:r>
                              </m:num>
                              <m:den>
                                <m:r>
                                  <a:rPr lang="en-US" i="1" dirty="0">
                                    <a:solidFill>
                                      <a:prstClr val="black"/>
                                    </a:solidFill>
                                    <a:latin typeface="Cambria Math"/>
                                    <a:cs typeface="Times New Roman" pitchFamily="18" charset="0"/>
                                    <a:sym typeface="Symbol"/>
                                  </a:rPr>
                                  <m:t>356</m:t>
                                </m:r>
                              </m:den>
                            </m:f>
                            <m:d>
                              <m:dPr>
                                <m:ctrlPr>
                                  <a:rPr lang="en-US" i="1" dirty="0">
                                    <a:solidFill>
                                      <a:prstClr val="black"/>
                                    </a:solidFill>
                                    <a:latin typeface="Cambria Math"/>
                                    <a:cs typeface="Times New Roman" pitchFamily="18" charset="0"/>
                                    <a:sym typeface="Symbol"/>
                                  </a:rPr>
                                </m:ctrlPr>
                              </m:dPr>
                              <m:e>
                                <m:r>
                                  <a:rPr lang="en-US" i="1" dirty="0">
                                    <a:solidFill>
                                      <a:prstClr val="black"/>
                                    </a:solidFill>
                                    <a:latin typeface="Cambria Math"/>
                                    <a:cs typeface="Times New Roman" pitchFamily="18" charset="0"/>
                                    <a:sym typeface="Symbol"/>
                                  </a:rPr>
                                  <m:t>1− </m:t>
                                </m:r>
                                <m:f>
                                  <m:fPr>
                                    <m:ctrlPr>
                                      <a:rPr lang="en-US" i="1" dirty="0">
                                        <a:solidFill>
                                          <a:prstClr val="black"/>
                                        </a:solidFill>
                                        <a:latin typeface="Cambria Math"/>
                                        <a:cs typeface="Times New Roman" pitchFamily="18" charset="0"/>
                                        <a:sym typeface="Symbol"/>
                                      </a:rPr>
                                    </m:ctrlPr>
                                  </m:fPr>
                                  <m:num>
                                    <m:r>
                                      <a:rPr lang="en-US" i="1" dirty="0">
                                        <a:solidFill>
                                          <a:prstClr val="black"/>
                                        </a:solidFill>
                                        <a:latin typeface="Cambria Math"/>
                                        <a:cs typeface="Times New Roman" pitchFamily="18" charset="0"/>
                                        <a:sym typeface="Symbol"/>
                                      </a:rPr>
                                      <m:t>101</m:t>
                                    </m:r>
                                  </m:num>
                                  <m:den>
                                    <m:r>
                                      <a:rPr lang="en-US" i="1" dirty="0">
                                        <a:solidFill>
                                          <a:prstClr val="black"/>
                                        </a:solidFill>
                                        <a:latin typeface="Cambria Math"/>
                                        <a:cs typeface="Times New Roman" pitchFamily="18" charset="0"/>
                                        <a:sym typeface="Symbol"/>
                                      </a:rPr>
                                      <m:t> 356</m:t>
                                    </m:r>
                                  </m:den>
                                </m:f>
                              </m:e>
                            </m:d>
                            <m:d>
                              <m:dPr>
                                <m:ctrlPr>
                                  <a:rPr lang="en-US" i="1" dirty="0">
                                    <a:solidFill>
                                      <a:prstClr val="black"/>
                                    </a:solidFill>
                                    <a:latin typeface="Cambria Math"/>
                                    <a:cs typeface="Times New Roman" pitchFamily="18" charset="0"/>
                                    <a:sym typeface="Symbol"/>
                                  </a:rPr>
                                </m:ctrlPr>
                              </m:dPr>
                              <m:e>
                                <m:f>
                                  <m:fPr>
                                    <m:ctrlPr>
                                      <a:rPr lang="en-US" i="1" dirty="0">
                                        <a:solidFill>
                                          <a:prstClr val="black"/>
                                        </a:solidFill>
                                        <a:latin typeface="Cambria Math"/>
                                        <a:cs typeface="Times New Roman" pitchFamily="18" charset="0"/>
                                        <a:sym typeface="Symbol"/>
                                      </a:rPr>
                                    </m:ctrlPr>
                                  </m:fPr>
                                  <m:num>
                                    <m:r>
                                      <a:rPr lang="en-US" i="1" dirty="0">
                                        <a:solidFill>
                                          <a:prstClr val="black"/>
                                        </a:solidFill>
                                        <a:latin typeface="Cambria Math"/>
                                        <a:cs typeface="Times New Roman" pitchFamily="18" charset="0"/>
                                        <a:sym typeface="Symbol"/>
                                      </a:rPr>
                                      <m:t>1</m:t>
                                    </m:r>
                                  </m:num>
                                  <m:den>
                                    <m:r>
                                      <a:rPr lang="en-US" i="1" dirty="0">
                                        <a:solidFill>
                                          <a:prstClr val="black"/>
                                        </a:solidFill>
                                        <a:latin typeface="Cambria Math"/>
                                        <a:cs typeface="Times New Roman" pitchFamily="18" charset="0"/>
                                        <a:sym typeface="Symbol"/>
                                      </a:rPr>
                                      <m:t>167</m:t>
                                    </m:r>
                                  </m:den>
                                </m:f>
                                <m:r>
                                  <a:rPr lang="en-US" i="1" dirty="0">
                                    <a:solidFill>
                                      <a:prstClr val="black"/>
                                    </a:solidFill>
                                    <a:latin typeface="Cambria Math"/>
                                    <a:cs typeface="Times New Roman" pitchFamily="18" charset="0"/>
                                    <a:sym typeface="Symbol"/>
                                  </a:rPr>
                                  <m:t>+</m:t>
                                </m:r>
                                <m:f>
                                  <m:fPr>
                                    <m:ctrlPr>
                                      <a:rPr lang="en-US" i="1" dirty="0">
                                        <a:solidFill>
                                          <a:prstClr val="black"/>
                                        </a:solidFill>
                                        <a:latin typeface="Cambria Math"/>
                                        <a:cs typeface="Times New Roman" pitchFamily="18" charset="0"/>
                                        <a:sym typeface="Symbol"/>
                                      </a:rPr>
                                    </m:ctrlPr>
                                  </m:fPr>
                                  <m:num>
                                    <m:r>
                                      <a:rPr lang="en-US" i="1" dirty="0">
                                        <a:solidFill>
                                          <a:prstClr val="black"/>
                                        </a:solidFill>
                                        <a:latin typeface="Cambria Math"/>
                                        <a:cs typeface="Times New Roman" pitchFamily="18" charset="0"/>
                                        <a:sym typeface="Symbol"/>
                                      </a:rPr>
                                      <m:t>1</m:t>
                                    </m:r>
                                  </m:num>
                                  <m:den>
                                    <m:r>
                                      <a:rPr lang="en-US" i="1" dirty="0">
                                        <a:solidFill>
                                          <a:prstClr val="black"/>
                                        </a:solidFill>
                                        <a:latin typeface="Cambria Math"/>
                                        <a:cs typeface="Times New Roman" pitchFamily="18" charset="0"/>
                                        <a:sym typeface="Symbol"/>
                                      </a:rPr>
                                      <m:t>189</m:t>
                                    </m:r>
                                  </m:den>
                                </m:f>
                              </m:e>
                            </m:d>
                          </m:e>
                        </m:rad>
                      </m:den>
                    </m:f>
                    <m:r>
                      <a:rPr lang="en-US" i="1" dirty="0">
                        <a:solidFill>
                          <a:prstClr val="black"/>
                        </a:solidFill>
                        <a:latin typeface="Cambria Math"/>
                        <a:cs typeface="Times New Roman" pitchFamily="18" charset="0"/>
                        <a:sym typeface="Symbol"/>
                      </a:rPr>
                      <m:t>=−3.388 </m:t>
                    </m:r>
                  </m:oMath>
                </a14:m>
                <a:r>
                  <a:rPr lang="en-US" dirty="0">
                    <a:solidFill>
                      <a:prstClr val="black"/>
                    </a:solidFill>
                    <a:cs typeface="Times New Roman" pitchFamily="18" charset="0"/>
                    <a:sym typeface="Symbol"/>
                  </a:rPr>
                  <a:t> </a:t>
                </a:r>
              </a:p>
              <a:p>
                <a:pPr marL="0" indent="0">
                  <a:spcBef>
                    <a:spcPts val="1200"/>
                  </a:spcBef>
                  <a:buNone/>
                </a:pPr>
                <a:r>
                  <a:rPr lang="en-US" dirty="0">
                    <a:solidFill>
                      <a:prstClr val="black"/>
                    </a:solidFill>
                    <a:cs typeface="Times New Roman" pitchFamily="18" charset="0"/>
                    <a:sym typeface="Symbol"/>
                  </a:rPr>
                  <a:t> </a:t>
                </a:r>
                <a:r>
                  <a:rPr lang="en-US" dirty="0" smtClean="0">
                    <a:solidFill>
                      <a:prstClr val="black"/>
                    </a:solidFill>
                    <a:cs typeface="Times New Roman" pitchFamily="18" charset="0"/>
                    <a:sym typeface="Symbol"/>
                  </a:rPr>
                  <a:t>   p-value </a:t>
                </a:r>
                <a:r>
                  <a:rPr lang="en-US" dirty="0">
                    <a:solidFill>
                      <a:prstClr val="black"/>
                    </a:solidFill>
                    <a:cs typeface="Times New Roman" pitchFamily="18" charset="0"/>
                    <a:sym typeface="Symbol"/>
                  </a:rPr>
                  <a:t>= 0.0007 (two-sided)</a:t>
                </a:r>
              </a:p>
              <a:p>
                <a:pPr>
                  <a:spcBef>
                    <a:spcPts val="1800"/>
                  </a:spcBef>
                </a:pPr>
                <a:r>
                  <a:rPr lang="en-US" sz="3600" u="sng" dirty="0">
                    <a:solidFill>
                      <a:prstClr val="black"/>
                    </a:solidFill>
                    <a:cs typeface="Times New Roman" pitchFamily="18" charset="0"/>
                    <a:sym typeface="Symbol"/>
                  </a:rPr>
                  <a:t>Chi-Square test for a </a:t>
                </a:r>
                <a14:m>
                  <m:oMath xmlns:m="http://schemas.openxmlformats.org/officeDocument/2006/math">
                    <m:r>
                      <a:rPr lang="en-US" sz="3600" i="1" u="sng" dirty="0">
                        <a:solidFill>
                          <a:prstClr val="black"/>
                        </a:solidFill>
                        <a:latin typeface="Cambria Math"/>
                        <a:cs typeface="Times New Roman" pitchFamily="18" charset="0"/>
                        <a:sym typeface="Symbol"/>
                      </a:rPr>
                      <m:t>2</m:t>
                    </m:r>
                    <m:r>
                      <a:rPr lang="en-US" sz="3600" i="1" u="sng" dirty="0">
                        <a:solidFill>
                          <a:prstClr val="black"/>
                        </a:solidFill>
                        <a:latin typeface="Cambria Math"/>
                        <a:ea typeface="Cambria Math"/>
                        <a:cs typeface="Times New Roman" pitchFamily="18" charset="0"/>
                        <a:sym typeface="Symbol"/>
                      </a:rPr>
                      <m:t>×</m:t>
                    </m:r>
                    <m:r>
                      <a:rPr lang="en-US" sz="3600" i="1" u="sng" dirty="0">
                        <a:solidFill>
                          <a:prstClr val="black"/>
                        </a:solidFill>
                        <a:latin typeface="Cambria Math"/>
                        <a:cs typeface="Times New Roman" pitchFamily="18" charset="0"/>
                        <a:sym typeface="Symbol"/>
                      </a:rPr>
                      <m:t>2</m:t>
                    </m:r>
                  </m:oMath>
                </a14:m>
                <a:r>
                  <a:rPr lang="en-US" sz="3600" u="sng" dirty="0">
                    <a:solidFill>
                      <a:prstClr val="black"/>
                    </a:solidFill>
                    <a:cs typeface="Times New Roman" pitchFamily="18" charset="0"/>
                    <a:sym typeface="Symbol"/>
                  </a:rPr>
                  <a:t> table:</a:t>
                </a:r>
              </a:p>
              <a:p>
                <a:pPr marL="0" indent="0">
                  <a:buNone/>
                </a:pPr>
                <a:r>
                  <a:rPr lang="en-US" sz="3600" dirty="0">
                    <a:solidFill>
                      <a:prstClr val="black"/>
                    </a:solidFill>
                    <a:cs typeface="Times New Roman" pitchFamily="18" charset="0"/>
                    <a:sym typeface="Symbol"/>
                  </a:rPr>
                  <a:t> </a:t>
                </a:r>
                <a:r>
                  <a:rPr lang="en-US" sz="3600" dirty="0" smtClean="0">
                    <a:solidFill>
                      <a:prstClr val="black"/>
                    </a:solidFill>
                    <a:cs typeface="Times New Roman" pitchFamily="18" charset="0"/>
                    <a:sym typeface="Symbol"/>
                  </a:rPr>
                  <a:t>  </a:t>
                </a:r>
                <a:r>
                  <a:rPr lang="en-US" dirty="0" smtClean="0">
                    <a:solidFill>
                      <a:prstClr val="black"/>
                    </a:solidFill>
                    <a:cs typeface="Times New Roman" pitchFamily="18" charset="0"/>
                    <a:sym typeface="Symbol"/>
                  </a:rPr>
                  <a:t></a:t>
                </a:r>
                <a:r>
                  <a:rPr lang="en-US" baseline="30000" dirty="0">
                    <a:solidFill>
                      <a:prstClr val="black"/>
                    </a:solidFill>
                    <a:cs typeface="Times New Roman" pitchFamily="18" charset="0"/>
                    <a:sym typeface="Symbol"/>
                  </a:rPr>
                  <a:t>2</a:t>
                </a:r>
                <a:r>
                  <a:rPr lang="en-US" dirty="0">
                    <a:solidFill>
                      <a:prstClr val="black"/>
                    </a:solidFill>
                    <a:cs typeface="Times New Roman" pitchFamily="18" charset="0"/>
                    <a:sym typeface="Symbol"/>
                  </a:rPr>
                  <a:t> = 11.48</a:t>
                </a:r>
              </a:p>
              <a:p>
                <a:pPr marL="0" indent="0">
                  <a:buNone/>
                </a:pPr>
                <a:r>
                  <a:rPr lang="en-US" sz="3600" dirty="0">
                    <a:solidFill>
                      <a:prstClr val="black"/>
                    </a:solidFill>
                    <a:cs typeface="Times New Roman" pitchFamily="18" charset="0"/>
                    <a:sym typeface="Symbol"/>
                  </a:rPr>
                  <a:t> </a:t>
                </a:r>
                <a:r>
                  <a:rPr lang="en-US" sz="3600" dirty="0" smtClean="0">
                    <a:solidFill>
                      <a:prstClr val="black"/>
                    </a:solidFill>
                    <a:cs typeface="Times New Roman" pitchFamily="18" charset="0"/>
                    <a:sym typeface="Symbol"/>
                  </a:rPr>
                  <a:t>  </a:t>
                </a:r>
                <a:r>
                  <a:rPr lang="en-US" dirty="0" smtClean="0">
                    <a:solidFill>
                      <a:prstClr val="black"/>
                    </a:solidFill>
                    <a:cs typeface="Times New Roman" pitchFamily="18" charset="0"/>
                    <a:sym typeface="Symbol"/>
                  </a:rPr>
                  <a:t>p-value </a:t>
                </a:r>
                <a:r>
                  <a:rPr lang="en-US" dirty="0">
                    <a:solidFill>
                      <a:prstClr val="black"/>
                    </a:solidFill>
                    <a:cs typeface="Times New Roman" pitchFamily="18" charset="0"/>
                    <a:sym typeface="Symbol"/>
                  </a:rPr>
                  <a:t>= 0.0007</a:t>
                </a:r>
              </a:p>
              <a:p>
                <a:pPr marL="0" indent="0">
                  <a:buNone/>
                </a:pPr>
                <a:endParaRPr lang="en-US" sz="2400" dirty="0">
                  <a:solidFill>
                    <a:prstClr val="black"/>
                  </a:solidFill>
                  <a:cs typeface="Times New Roman" pitchFamily="18" charset="0"/>
                  <a:sym typeface="Symbol"/>
                </a:endParaRPr>
              </a:p>
              <a:p>
                <a:pPr marL="0" indent="0">
                  <a:buNone/>
                </a:pPr>
                <a:r>
                  <a:rPr lang="en-US" dirty="0" smtClean="0">
                    <a:solidFill>
                      <a:prstClr val="black"/>
                    </a:solidFill>
                    <a:cs typeface="Times New Roman" pitchFamily="18" charset="0"/>
                    <a:sym typeface="Symbol"/>
                  </a:rPr>
                  <a:t>Note</a:t>
                </a:r>
                <a:r>
                  <a:rPr lang="en-US" dirty="0">
                    <a:solidFill>
                      <a:prstClr val="black"/>
                    </a:solidFill>
                    <a:cs typeface="Times New Roman" pitchFamily="18" charset="0"/>
                    <a:sym typeface="Symbol"/>
                  </a:rPr>
                  <a:t>: (-3.388)</a:t>
                </a:r>
                <a:r>
                  <a:rPr lang="en-US" baseline="30000" dirty="0">
                    <a:solidFill>
                      <a:prstClr val="black"/>
                    </a:solidFill>
                    <a:cs typeface="Times New Roman" pitchFamily="18" charset="0"/>
                    <a:sym typeface="Symbol"/>
                  </a:rPr>
                  <a:t>2</a:t>
                </a:r>
                <a:r>
                  <a:rPr lang="en-US" dirty="0">
                    <a:solidFill>
                      <a:prstClr val="black"/>
                    </a:solidFill>
                    <a:cs typeface="Times New Roman" pitchFamily="18" charset="0"/>
                    <a:sym typeface="Symbol"/>
                  </a:rPr>
                  <a:t> = 11.48  </a:t>
                </a:r>
                <a:endParaRPr lang="en-US" dirty="0">
                  <a:solidFill>
                    <a:prstClr val="black"/>
                  </a:solidFill>
                  <a:cs typeface="Times New Roman" pitchFamily="18" charset="0"/>
                </a:endParaRP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xfrm>
                <a:off x="18288" y="1524000"/>
                <a:ext cx="9125712" cy="5334000"/>
              </a:xfrm>
              <a:blipFill rotWithShape="1">
                <a:blip r:embed="rId4"/>
                <a:stretch>
                  <a:fillRect l="-1536" t="-2400"/>
                </a:stretch>
              </a:blipFill>
            </p:spPr>
            <p:txBody>
              <a:bodyPr/>
              <a:lstStyle/>
              <a:p>
                <a:r>
                  <a:rPr lang="en-US">
                    <a:noFill/>
                  </a:rPr>
                  <a:t> </a:t>
                </a:r>
              </a:p>
            </p:txBody>
          </p:sp>
        </mc:Fallback>
      </mc:AlternateContent>
    </p:spTree>
    <p:custDataLst>
      <p:tags r:id="rId1"/>
    </p:custDataLst>
    <p:extLst>
      <p:ext uri="{BB962C8B-B14F-4D97-AF65-F5344CB8AC3E}">
        <p14:creationId xmlns:p14="http://schemas.microsoft.com/office/powerpoint/2010/main" val="318867082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5986" name="AutoShape 2" descr="http://beta.rstudio.org/graphics/plot_zoom_png?width=459&amp;height=366"/>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6" name="Content Placeholder 1"/>
          <p:cNvSpPr txBox="1">
            <a:spLocks/>
          </p:cNvSpPr>
          <p:nvPr/>
        </p:nvSpPr>
        <p:spPr>
          <a:xfrm>
            <a:off x="381000" y="1219200"/>
            <a:ext cx="8382000" cy="5334000"/>
          </a:xfrm>
          <a:prstGeom prst="rect">
            <a:avLst/>
          </a:prstGeom>
        </p:spPr>
        <p:txBody>
          <a:bodyPr vert="horz" lIns="91440" tIns="45720" rIns="91440" bIns="45720" rtlCol="0">
            <a:normAutofit/>
          </a:bodyPr>
          <a:lstStyle/>
          <a:p>
            <a:pPr marL="0" marR="0" lvl="0" indent="-342900" algn="l"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dirty="0" smtClean="0">
              <a:ln>
                <a:noFill/>
              </a:ln>
              <a:solidFill>
                <a:srgbClr val="000000"/>
              </a:solidFill>
              <a:effectLst/>
              <a:uLnTx/>
              <a:uFillTx/>
            </a:endParaRPr>
          </a:p>
          <a:p>
            <a:pPr marL="0" marR="0" lvl="0" indent="-342900" algn="ctr" defTabSz="914400" rtl="0" eaLnBrk="1" fontAlgn="auto" latinLnBrk="0" hangingPunct="1">
              <a:lnSpc>
                <a:spcPct val="100000"/>
              </a:lnSpc>
              <a:spcBef>
                <a:spcPts val="0"/>
              </a:spcBef>
              <a:spcAft>
                <a:spcPts val="0"/>
              </a:spcAft>
              <a:buClrTx/>
              <a:buSzTx/>
              <a:buFontTx/>
              <a:buNone/>
              <a:tabLst/>
              <a:defRPr/>
            </a:pPr>
            <a:endParaRPr kumimoji="0" lang="en-US" sz="2800" b="0" i="1" u="none" strike="noStrike" kern="0" cap="none" spc="0" normalizeH="0" baseline="0" noProof="0" dirty="0" smtClean="0">
              <a:ln>
                <a:noFill/>
              </a:ln>
              <a:solidFill>
                <a:srgbClr val="000000"/>
              </a:solidFill>
              <a:effectLst/>
              <a:uLnTx/>
              <a:uFillTx/>
            </a:endParaRPr>
          </a:p>
        </p:txBody>
      </p:sp>
      <p:sp>
        <p:nvSpPr>
          <p:cNvPr id="2" name="Title 1"/>
          <p:cNvSpPr>
            <a:spLocks noGrp="1"/>
          </p:cNvSpPr>
          <p:nvPr>
            <p:ph type="title"/>
          </p:nvPr>
        </p:nvSpPr>
        <p:spPr>
          <a:xfrm>
            <a:off x="612648" y="224346"/>
            <a:ext cx="8531352" cy="990600"/>
          </a:xfrm>
        </p:spPr>
        <p:txBody>
          <a:bodyPr>
            <a:normAutofit fontScale="90000"/>
          </a:bodyPr>
          <a:lstStyle/>
          <a:p>
            <a:pPr lvl="0"/>
            <a:r>
              <a:rPr lang="en-US" dirty="0"/>
              <a:t>Two Categorical Variables with Two Categories Each (2x2 Table</a:t>
            </a:r>
            <a:r>
              <a:rPr lang="en-US" dirty="0" smtClean="0"/>
              <a:t>)</a:t>
            </a:r>
            <a:endParaRPr lang="en-US" dirty="0"/>
          </a:p>
        </p:txBody>
      </p:sp>
      <p:sp>
        <p:nvSpPr>
          <p:cNvPr id="3" name="Content Placeholder 2"/>
          <p:cNvSpPr>
            <a:spLocks noGrp="1"/>
          </p:cNvSpPr>
          <p:nvPr>
            <p:ph sz="quarter" idx="1"/>
          </p:nvPr>
        </p:nvSpPr>
        <p:spPr>
          <a:xfrm>
            <a:off x="0" y="1524000"/>
            <a:ext cx="9144000" cy="5334000"/>
          </a:xfrm>
        </p:spPr>
        <p:txBody>
          <a:bodyPr>
            <a:normAutofit/>
          </a:bodyPr>
          <a:lstStyle/>
          <a:p>
            <a:r>
              <a:rPr lang="en-US" dirty="0"/>
              <a:t>When testing two categorical variables with two categories each (i.e.  2×2 table), the </a:t>
            </a:r>
            <a:r>
              <a:rPr lang="en-US" dirty="0" smtClean="0"/>
              <a:t>value of the </a:t>
            </a:r>
            <a:r>
              <a:rPr lang="en-US" dirty="0" smtClean="0">
                <a:latin typeface="Times New Roman"/>
                <a:cs typeface="Times New Roman"/>
                <a:sym typeface="Symbol"/>
              </a:rPr>
              <a:t>χ</a:t>
            </a:r>
            <a:r>
              <a:rPr lang="en-US" baseline="30000" dirty="0" smtClean="0"/>
              <a:t>2</a:t>
            </a:r>
            <a:r>
              <a:rPr lang="en-US" dirty="0" smtClean="0"/>
              <a:t> </a:t>
            </a:r>
            <a:r>
              <a:rPr lang="en-US" dirty="0"/>
              <a:t>statistic is exactly </a:t>
            </a:r>
            <a:r>
              <a:rPr lang="en-US" dirty="0" smtClean="0"/>
              <a:t>the same as the squared value </a:t>
            </a:r>
            <a:r>
              <a:rPr lang="en-US" dirty="0"/>
              <a:t>of the </a:t>
            </a:r>
            <a:r>
              <a:rPr lang="en-US" dirty="0" smtClean="0"/>
              <a:t>z-statistic!</a:t>
            </a:r>
            <a:endParaRPr lang="en-US" dirty="0"/>
          </a:p>
          <a:p>
            <a:r>
              <a:rPr lang="en-US" dirty="0"/>
              <a:t> The </a:t>
            </a:r>
            <a:r>
              <a:rPr lang="en-US" dirty="0">
                <a:latin typeface="Times New Roman"/>
                <a:cs typeface="Times New Roman"/>
                <a:sym typeface="Symbol"/>
              </a:rPr>
              <a:t>χ</a:t>
            </a:r>
            <a:r>
              <a:rPr lang="en-US" baseline="30000" dirty="0"/>
              <a:t>2 </a:t>
            </a:r>
            <a:r>
              <a:rPr lang="en-US" dirty="0" smtClean="0"/>
              <a:t>-</a:t>
            </a:r>
            <a:r>
              <a:rPr lang="en-US" dirty="0"/>
              <a:t>distribution with 1 </a:t>
            </a:r>
            <a:r>
              <a:rPr lang="en-US" dirty="0" err="1"/>
              <a:t>df</a:t>
            </a:r>
            <a:r>
              <a:rPr lang="en-US" dirty="0"/>
              <a:t> is exactly the square of the normal distribution</a:t>
            </a:r>
          </a:p>
          <a:p>
            <a:r>
              <a:rPr lang="en-US" dirty="0" smtClean="0"/>
              <a:t>Doing </a:t>
            </a:r>
            <a:r>
              <a:rPr lang="en-US" dirty="0"/>
              <a:t>a two-sided test for difference in proportions or doing a </a:t>
            </a:r>
            <a:r>
              <a:rPr lang="en-US" dirty="0">
                <a:latin typeface="Times New Roman"/>
                <a:cs typeface="Times New Roman"/>
                <a:sym typeface="Symbol"/>
              </a:rPr>
              <a:t>χ</a:t>
            </a:r>
            <a:r>
              <a:rPr lang="en-US" baseline="30000" dirty="0"/>
              <a:t>2</a:t>
            </a:r>
            <a:r>
              <a:rPr lang="en-US" dirty="0" smtClean="0"/>
              <a:t> </a:t>
            </a:r>
            <a:r>
              <a:rPr lang="en-US" dirty="0"/>
              <a:t>test for a 2×2 table will produce exactly </a:t>
            </a:r>
            <a:r>
              <a:rPr lang="en-US" dirty="0" smtClean="0"/>
              <a:t>the same </a:t>
            </a:r>
            <a:r>
              <a:rPr lang="en-US" dirty="0"/>
              <a:t>p-value. </a:t>
            </a:r>
          </a:p>
        </p:txBody>
      </p:sp>
    </p:spTree>
    <p:custDataLst>
      <p:tags r:id="rId1"/>
    </p:custDataLst>
    <p:extLst>
      <p:ext uri="{BB962C8B-B14F-4D97-AF65-F5344CB8AC3E}">
        <p14:creationId xmlns:p14="http://schemas.microsoft.com/office/powerpoint/2010/main" val="356731911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0" y="1524000"/>
            <a:ext cx="9144000" cy="5334000"/>
          </a:xfrm>
        </p:spPr>
        <p:txBody>
          <a:bodyPr>
            <a:normAutofit/>
          </a:bodyPr>
          <a:lstStyle/>
          <a:p>
            <a:r>
              <a:rPr lang="en-US" dirty="0"/>
              <a:t>The </a:t>
            </a:r>
            <a:r>
              <a:rPr lang="en-US" b="1" dirty="0">
                <a:solidFill>
                  <a:schemeClr val="accent1">
                    <a:lumMod val="75000"/>
                  </a:schemeClr>
                </a:solidFill>
                <a:latin typeface="Times New Roman"/>
                <a:cs typeface="Times New Roman"/>
                <a:sym typeface="Symbol"/>
              </a:rPr>
              <a:t>χ</a:t>
            </a:r>
            <a:r>
              <a:rPr lang="en-US" b="1" baseline="30000" dirty="0">
                <a:solidFill>
                  <a:schemeClr val="accent1">
                    <a:lumMod val="75000"/>
                  </a:schemeClr>
                </a:solidFill>
              </a:rPr>
              <a:t>2 </a:t>
            </a:r>
            <a:r>
              <a:rPr lang="en-US" b="1" dirty="0" smtClean="0">
                <a:solidFill>
                  <a:schemeClr val="accent1">
                    <a:lumMod val="75000"/>
                  </a:schemeClr>
                </a:solidFill>
              </a:rPr>
              <a:t>-</a:t>
            </a:r>
            <a:r>
              <a:rPr lang="en-US" b="1" dirty="0">
                <a:solidFill>
                  <a:schemeClr val="accent1">
                    <a:lumMod val="75000"/>
                  </a:schemeClr>
                </a:solidFill>
              </a:rPr>
              <a:t>test for goodness-of-fit </a:t>
            </a:r>
            <a:r>
              <a:rPr lang="en-US" dirty="0" smtClean="0"/>
              <a:t>will test </a:t>
            </a:r>
            <a:r>
              <a:rPr lang="en-US" dirty="0"/>
              <a:t>if </a:t>
            </a:r>
            <a:r>
              <a:rPr lang="en-US" dirty="0" smtClean="0"/>
              <a:t>the distribution of a </a:t>
            </a:r>
            <a:r>
              <a:rPr lang="en-US" b="1" dirty="0" smtClean="0">
                <a:solidFill>
                  <a:schemeClr val="accent1">
                    <a:lumMod val="75000"/>
                  </a:schemeClr>
                </a:solidFill>
              </a:rPr>
              <a:t>single</a:t>
            </a:r>
            <a:r>
              <a:rPr lang="en-US" dirty="0" smtClean="0"/>
              <a:t> categorical </a:t>
            </a:r>
            <a:r>
              <a:rPr lang="en-US" dirty="0"/>
              <a:t>variable differs from a hypothesized distribution</a:t>
            </a:r>
          </a:p>
          <a:p>
            <a:r>
              <a:rPr lang="en-US" dirty="0"/>
              <a:t> The </a:t>
            </a:r>
            <a:r>
              <a:rPr lang="en-US" b="1" dirty="0">
                <a:solidFill>
                  <a:schemeClr val="accent4">
                    <a:lumMod val="75000"/>
                  </a:schemeClr>
                </a:solidFill>
                <a:latin typeface="Times New Roman"/>
                <a:cs typeface="Times New Roman"/>
                <a:sym typeface="Symbol"/>
              </a:rPr>
              <a:t>χ</a:t>
            </a:r>
            <a:r>
              <a:rPr lang="en-US" b="1" baseline="30000" dirty="0">
                <a:solidFill>
                  <a:schemeClr val="accent4">
                    <a:lumMod val="75000"/>
                  </a:schemeClr>
                </a:solidFill>
              </a:rPr>
              <a:t>2 </a:t>
            </a:r>
            <a:r>
              <a:rPr lang="en-US" b="1" dirty="0" smtClean="0">
                <a:solidFill>
                  <a:schemeClr val="accent4">
                    <a:lumMod val="75000"/>
                  </a:schemeClr>
                </a:solidFill>
              </a:rPr>
              <a:t>-</a:t>
            </a:r>
            <a:r>
              <a:rPr lang="en-US" b="1" dirty="0">
                <a:solidFill>
                  <a:schemeClr val="accent4">
                    <a:lumMod val="75000"/>
                  </a:schemeClr>
                </a:solidFill>
              </a:rPr>
              <a:t>test for association </a:t>
            </a:r>
            <a:r>
              <a:rPr lang="en-US" dirty="0"/>
              <a:t>will</a:t>
            </a:r>
            <a:r>
              <a:rPr lang="en-US" b="1" dirty="0" smtClean="0">
                <a:solidFill>
                  <a:schemeClr val="accent5">
                    <a:lumMod val="75000"/>
                  </a:schemeClr>
                </a:solidFill>
              </a:rPr>
              <a:t> </a:t>
            </a:r>
            <a:r>
              <a:rPr lang="en-US" dirty="0" smtClean="0"/>
              <a:t>test </a:t>
            </a:r>
            <a:r>
              <a:rPr lang="en-US" dirty="0"/>
              <a:t>if </a:t>
            </a:r>
            <a:r>
              <a:rPr lang="en-US" b="1" dirty="0">
                <a:solidFill>
                  <a:schemeClr val="accent4">
                    <a:lumMod val="75000"/>
                  </a:schemeClr>
                </a:solidFill>
              </a:rPr>
              <a:t>two</a:t>
            </a:r>
            <a:r>
              <a:rPr lang="en-US" dirty="0">
                <a:solidFill>
                  <a:schemeClr val="accent4">
                    <a:lumMod val="75000"/>
                  </a:schemeClr>
                </a:solidFill>
              </a:rPr>
              <a:t> </a:t>
            </a:r>
            <a:r>
              <a:rPr lang="en-US" dirty="0"/>
              <a:t>categorical variables are associated</a:t>
            </a:r>
          </a:p>
          <a:p>
            <a:r>
              <a:rPr lang="en-US" dirty="0"/>
              <a:t> For both, </a:t>
            </a:r>
            <a:r>
              <a:rPr lang="en-US" dirty="0" smtClean="0"/>
              <a:t>calculate the expected </a:t>
            </a:r>
            <a:r>
              <a:rPr lang="en-US" dirty="0"/>
              <a:t>counts for each </a:t>
            </a:r>
            <a:r>
              <a:rPr lang="en-US" dirty="0" smtClean="0"/>
              <a:t>cell, compute </a:t>
            </a:r>
            <a:r>
              <a:rPr lang="en-US" dirty="0"/>
              <a:t>the </a:t>
            </a:r>
            <a:r>
              <a:rPr lang="en-US" b="1" dirty="0">
                <a:latin typeface="Times New Roman"/>
                <a:cs typeface="Times New Roman"/>
                <a:sym typeface="Symbol"/>
              </a:rPr>
              <a:t>χ</a:t>
            </a:r>
            <a:r>
              <a:rPr lang="en-US" b="1" baseline="30000" dirty="0"/>
              <a:t>2</a:t>
            </a:r>
            <a:r>
              <a:rPr lang="en-US" dirty="0" smtClean="0"/>
              <a:t>  </a:t>
            </a:r>
            <a:r>
              <a:rPr lang="en-US" dirty="0"/>
              <a:t>statistic as</a:t>
            </a:r>
          </a:p>
          <a:p>
            <a:pPr marL="0" indent="0">
              <a:buNone/>
            </a:pPr>
            <a:endParaRPr lang="en-US" dirty="0"/>
          </a:p>
          <a:p>
            <a:pPr marL="0" indent="0">
              <a:buNone/>
            </a:pPr>
            <a:r>
              <a:rPr lang="en-US" dirty="0"/>
              <a:t>a</a:t>
            </a:r>
            <a:r>
              <a:rPr lang="en-US" dirty="0" smtClean="0"/>
              <a:t>nd find </a:t>
            </a:r>
            <a:r>
              <a:rPr lang="en-US" dirty="0"/>
              <a:t>the p-value as the area above this statistic </a:t>
            </a:r>
            <a:r>
              <a:rPr lang="en-US" dirty="0" smtClean="0"/>
              <a:t>   in a </a:t>
            </a:r>
            <a:r>
              <a:rPr lang="en-US" b="1" dirty="0">
                <a:latin typeface="Times New Roman"/>
                <a:cs typeface="Times New Roman"/>
                <a:sym typeface="Symbol"/>
              </a:rPr>
              <a:t>χ</a:t>
            </a:r>
            <a:r>
              <a:rPr lang="en-US" b="1" baseline="30000" dirty="0"/>
              <a:t>2</a:t>
            </a:r>
            <a:r>
              <a:rPr lang="en-US" dirty="0" smtClean="0"/>
              <a:t> </a:t>
            </a:r>
            <a:r>
              <a:rPr lang="en-US" dirty="0"/>
              <a:t>-distribution using </a:t>
            </a:r>
            <a:r>
              <a:rPr lang="en-US" b="1" dirty="0">
                <a:solidFill>
                  <a:schemeClr val="accent1">
                    <a:lumMod val="75000"/>
                  </a:schemeClr>
                </a:solidFill>
              </a:rPr>
              <a:t>𝑘−1</a:t>
            </a:r>
            <a:r>
              <a:rPr lang="en-US" dirty="0"/>
              <a:t> or </a:t>
            </a:r>
            <a:r>
              <a:rPr lang="en-US" b="1" dirty="0">
                <a:solidFill>
                  <a:schemeClr val="accent4">
                    <a:lumMod val="75000"/>
                  </a:schemeClr>
                </a:solidFill>
              </a:rPr>
              <a:t>(</a:t>
            </a:r>
            <a:r>
              <a:rPr lang="en-US" b="1" dirty="0" smtClean="0">
                <a:solidFill>
                  <a:schemeClr val="accent4">
                    <a:lumMod val="75000"/>
                  </a:schemeClr>
                </a:solidFill>
              </a:rPr>
              <a:t>𝑟 − 1)</a:t>
            </a:r>
            <a:r>
              <a:rPr lang="en-US" b="1" dirty="0" smtClean="0">
                <a:solidFill>
                  <a:schemeClr val="accent4">
                    <a:lumMod val="75000"/>
                  </a:schemeClr>
                </a:solidFill>
                <a:latin typeface="Times New Roman"/>
                <a:cs typeface="Times New Roman"/>
              </a:rPr>
              <a:t>∙</a:t>
            </a:r>
            <a:r>
              <a:rPr lang="en-US" b="1" dirty="0" smtClean="0">
                <a:solidFill>
                  <a:schemeClr val="accent4">
                    <a:lumMod val="75000"/>
                  </a:schemeClr>
                </a:solidFill>
              </a:rPr>
              <a:t>(𝑐 − 1</a:t>
            </a:r>
            <a:r>
              <a:rPr lang="en-US" b="1" dirty="0">
                <a:solidFill>
                  <a:schemeClr val="accent4">
                    <a:lumMod val="75000"/>
                  </a:schemeClr>
                </a:solidFill>
              </a:rPr>
              <a:t>) </a:t>
            </a:r>
            <a:r>
              <a:rPr lang="en-US" dirty="0" err="1" smtClean="0"/>
              <a:t>df</a:t>
            </a:r>
            <a:endParaRPr lang="en-US" dirty="0"/>
          </a:p>
        </p:txBody>
      </p:sp>
      <p:sp>
        <p:nvSpPr>
          <p:cNvPr id="425986" name="AutoShape 2" descr="http://beta.rstudio.org/graphics/plot_zoom_png?width=459&amp;height=366"/>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6" name="Content Placeholder 1"/>
          <p:cNvSpPr txBox="1">
            <a:spLocks/>
          </p:cNvSpPr>
          <p:nvPr/>
        </p:nvSpPr>
        <p:spPr>
          <a:xfrm>
            <a:off x="0" y="1524000"/>
            <a:ext cx="9144000" cy="5334000"/>
          </a:xfrm>
          <a:prstGeom prst="rect">
            <a:avLst/>
          </a:prstGeom>
        </p:spPr>
        <p:txBody>
          <a:bodyPr vert="horz" lIns="91440" tIns="45720" rIns="91440" bIns="45720" rtlCol="0">
            <a:normAutofit/>
          </a:bodyPr>
          <a:lstStyle/>
          <a:p>
            <a:pPr marL="0" marR="0" lvl="0" indent="-342900" algn="l"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dirty="0" smtClean="0">
              <a:ln>
                <a:noFill/>
              </a:ln>
              <a:solidFill>
                <a:srgbClr val="000000"/>
              </a:solidFill>
              <a:effectLst/>
              <a:uLnTx/>
              <a:uFillTx/>
            </a:endParaRPr>
          </a:p>
          <a:p>
            <a:pPr marL="0" marR="0" lvl="0" indent="-342900" algn="ctr" defTabSz="914400" rtl="0" eaLnBrk="1" fontAlgn="auto" latinLnBrk="0" hangingPunct="1">
              <a:lnSpc>
                <a:spcPct val="100000"/>
              </a:lnSpc>
              <a:spcBef>
                <a:spcPts val="0"/>
              </a:spcBef>
              <a:spcAft>
                <a:spcPts val="0"/>
              </a:spcAft>
              <a:buClrTx/>
              <a:buSzTx/>
              <a:buFontTx/>
              <a:buNone/>
              <a:tabLst/>
              <a:defRPr/>
            </a:pPr>
            <a:endParaRPr kumimoji="0" lang="en-US" sz="2800" b="0" i="1" u="none" strike="noStrike" kern="0" cap="none" spc="0" normalizeH="0" baseline="0" noProof="0" dirty="0" smtClean="0">
              <a:ln>
                <a:noFill/>
              </a:ln>
              <a:solidFill>
                <a:srgbClr val="000000"/>
              </a:solidFill>
              <a:effectLst/>
              <a:uLnTx/>
              <a:uFillTx/>
            </a:endParaRPr>
          </a:p>
        </p:txBody>
      </p:sp>
      <mc:AlternateContent xmlns:mc="http://schemas.openxmlformats.org/markup-compatibility/2006" xmlns:a14="http://schemas.microsoft.com/office/drawing/2010/main">
        <mc:Choice Requires="a14">
          <p:sp>
            <p:nvSpPr>
              <p:cNvPr id="7" name="TextBox 6"/>
              <p:cNvSpPr txBox="1"/>
              <p:nvPr/>
            </p:nvSpPr>
            <p:spPr>
              <a:xfrm>
                <a:off x="2438400" y="5029200"/>
                <a:ext cx="5029200" cy="1017523"/>
              </a:xfrm>
              <a:prstGeom prst="rect">
                <a:avLst/>
              </a:prstGeom>
              <a:noFill/>
              <a:ln>
                <a:noFill/>
              </a:ln>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sz="2400" i="1" smtClean="0">
                              <a:latin typeface="Cambria Math"/>
                            </a:rPr>
                          </m:ctrlPr>
                        </m:sSupPr>
                        <m:e>
                          <m:r>
                            <a:rPr lang="en-US" sz="2400" i="1" smtClean="0">
                              <a:latin typeface="Cambria Math"/>
                              <a:ea typeface="Cambria Math"/>
                            </a:rPr>
                            <m:t>𝜒</m:t>
                          </m:r>
                        </m:e>
                        <m:sup>
                          <m:r>
                            <a:rPr lang="en-US" sz="2400" b="0" i="1" smtClean="0">
                              <a:latin typeface="Cambria Math"/>
                            </a:rPr>
                            <m:t>2</m:t>
                          </m:r>
                        </m:sup>
                      </m:sSup>
                      <m:r>
                        <a:rPr lang="en-US" sz="2400" b="0" i="1" smtClean="0">
                          <a:latin typeface="Cambria Math"/>
                        </a:rPr>
                        <m:t>=</m:t>
                      </m:r>
                      <m:nary>
                        <m:naryPr>
                          <m:chr m:val="∑"/>
                          <m:subHide m:val="on"/>
                          <m:supHide m:val="on"/>
                          <m:ctrlPr>
                            <a:rPr lang="en-US" sz="2400" b="0" i="1" smtClean="0">
                              <a:latin typeface="Cambria Math"/>
                            </a:rPr>
                          </m:ctrlPr>
                        </m:naryPr>
                        <m:sub/>
                        <m:sup/>
                        <m:e>
                          <m:f>
                            <m:fPr>
                              <m:ctrlPr>
                                <a:rPr lang="en-US" sz="2400" b="0" i="1" smtClean="0">
                                  <a:latin typeface="Cambria Math"/>
                                </a:rPr>
                              </m:ctrlPr>
                            </m:fPr>
                            <m:num>
                              <m:sSup>
                                <m:sSupPr>
                                  <m:ctrlPr>
                                    <a:rPr lang="en-US" sz="2400" b="0" i="1" smtClean="0">
                                      <a:latin typeface="Cambria Math"/>
                                    </a:rPr>
                                  </m:ctrlPr>
                                </m:sSupPr>
                                <m:e>
                                  <m:d>
                                    <m:dPr>
                                      <m:ctrlPr>
                                        <a:rPr lang="en-US" sz="2400" b="0" i="1" smtClean="0">
                                          <a:latin typeface="Cambria Math"/>
                                        </a:rPr>
                                      </m:ctrlPr>
                                    </m:dPr>
                                    <m:e>
                                      <m:r>
                                        <a:rPr lang="en-US" sz="2400" b="0" i="1" smtClean="0">
                                          <a:latin typeface="Cambria Math"/>
                                        </a:rPr>
                                        <m:t>𝑂𝑏𝑠𝑒𝑟𝑣𝑒𝑑</m:t>
                                      </m:r>
                                      <m:r>
                                        <a:rPr lang="en-US" sz="2400" b="0" i="1" smtClean="0">
                                          <a:latin typeface="Cambria Math"/>
                                        </a:rPr>
                                        <m:t>−</m:t>
                                      </m:r>
                                      <m:r>
                                        <a:rPr lang="en-US" sz="2400" b="0" i="1" smtClean="0">
                                          <a:latin typeface="Cambria Math"/>
                                        </a:rPr>
                                        <m:t>𝐸𝑥𝑝𝑒𝑐𝑡𝑒𝑑</m:t>
                                      </m:r>
                                    </m:e>
                                  </m:d>
                                </m:e>
                                <m:sup>
                                  <m:r>
                                    <a:rPr lang="en-US" sz="2400" b="0" i="1" smtClean="0">
                                      <a:latin typeface="Cambria Math"/>
                                    </a:rPr>
                                    <m:t>2</m:t>
                                  </m:r>
                                </m:sup>
                              </m:sSup>
                            </m:num>
                            <m:den>
                              <m:r>
                                <a:rPr lang="en-US" sz="2400" b="0" i="1" smtClean="0">
                                  <a:latin typeface="Cambria Math"/>
                                </a:rPr>
                                <m:t>𝐸𝑥𝑝𝑒𝑐𝑡𝑒𝑑</m:t>
                              </m:r>
                            </m:den>
                          </m:f>
                        </m:e>
                      </m:nary>
                    </m:oMath>
                  </m:oMathPara>
                </a14:m>
                <a:endParaRPr lang="en-US" sz="2400" dirty="0"/>
              </a:p>
            </p:txBody>
          </p:sp>
        </mc:Choice>
        <mc:Fallback xmlns="">
          <p:sp>
            <p:nvSpPr>
              <p:cNvPr id="7" name="TextBox 6"/>
              <p:cNvSpPr txBox="1">
                <a:spLocks noRot="1" noChangeAspect="1" noMove="1" noResize="1" noEditPoints="1" noAdjustHandles="1" noChangeArrowheads="1" noChangeShapeType="1" noTextEdit="1"/>
              </p:cNvSpPr>
              <p:nvPr/>
            </p:nvSpPr>
            <p:spPr>
              <a:xfrm>
                <a:off x="2438400" y="5029200"/>
                <a:ext cx="5029200" cy="1017523"/>
              </a:xfrm>
              <a:prstGeom prst="rect">
                <a:avLst/>
              </a:prstGeom>
              <a:blipFill rotWithShape="1">
                <a:blip r:embed="rId4"/>
                <a:stretch>
                  <a:fillRect/>
                </a:stretch>
              </a:blipFill>
              <a:ln>
                <a:noFill/>
              </a:ln>
            </p:spPr>
            <p:txBody>
              <a:bodyPr/>
              <a:lstStyle/>
              <a:p>
                <a:r>
                  <a:rPr lang="en-US">
                    <a:noFill/>
                  </a:rPr>
                  <a:t> </a:t>
                </a:r>
              </a:p>
            </p:txBody>
          </p:sp>
        </mc:Fallback>
      </mc:AlternateContent>
      <p:sp>
        <p:nvSpPr>
          <p:cNvPr id="2" name="Title 1"/>
          <p:cNvSpPr>
            <a:spLocks noGrp="1"/>
          </p:cNvSpPr>
          <p:nvPr>
            <p:ph type="title"/>
          </p:nvPr>
        </p:nvSpPr>
        <p:spPr/>
        <p:txBody>
          <a:bodyPr>
            <a:normAutofit/>
          </a:bodyPr>
          <a:lstStyle/>
          <a:p>
            <a:pPr lvl="0"/>
            <a:r>
              <a:rPr lang="en-US" dirty="0" smtClean="0"/>
              <a:t>Summary: </a:t>
            </a:r>
            <a:r>
              <a:rPr lang="en-US" dirty="0"/>
              <a:t>Chi-square </a:t>
            </a:r>
            <a:r>
              <a:rPr lang="en-US" dirty="0" smtClean="0"/>
              <a:t>Tests</a:t>
            </a:r>
            <a:endParaRPr lang="en-US" dirty="0"/>
          </a:p>
        </p:txBody>
      </p:sp>
    </p:spTree>
    <p:custDataLst>
      <p:tags r:id="rId1"/>
    </p:custDataLst>
    <p:extLst>
      <p:ext uri="{BB962C8B-B14F-4D97-AF65-F5344CB8AC3E}">
        <p14:creationId xmlns:p14="http://schemas.microsoft.com/office/powerpoint/2010/main" val="84670530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tags/tag1.xml><?xml version="1.0" encoding="utf-8"?>
<p:tagLst xmlns:a="http://schemas.openxmlformats.org/drawingml/2006/main" xmlns:r="http://schemas.openxmlformats.org/officeDocument/2006/relationships" xmlns:p="http://schemas.openxmlformats.org/presentationml/2006/main">
  <p:tag name="TPPRESENTATIONGUID" val="4cc2413b-6890-44ad-a267-fd157f1ef7fc"/>
  <p:tag name="WASPOLLED" val="52085F7E4D9444128862AE0999CA854A"/>
  <p:tag name="TPVERSION" val="6"/>
  <p:tag name="TPFULLVERSION" val="7.4.0.111"/>
  <p:tag name="PPTVERSION" val="14"/>
  <p:tag name="TPOS" val="2"/>
  <p:tag name="TPLASTSAVEVERSION" val="6.2 PC"/>
</p:tagLst>
</file>

<file path=ppt/tags/tag2.xml><?xml version="1.0" encoding="utf-8"?>
<p:tagLst xmlns:a="http://schemas.openxmlformats.org/drawingml/2006/main" xmlns:r="http://schemas.openxmlformats.org/officeDocument/2006/relationships" xmlns:p="http://schemas.openxmlformats.org/presentationml/2006/main">
  <p:tag name="DELIMITERS" val="3.1"/>
</p:tagLst>
</file>

<file path=ppt/tags/tag3.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4.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5.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6.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7.xml><?xml version="1.0" encoding="utf-8"?>
<p:tagLst xmlns:a="http://schemas.openxmlformats.org/drawingml/2006/main" xmlns:r="http://schemas.openxmlformats.org/officeDocument/2006/relationships" xmlns:p="http://schemas.openxmlformats.org/presentationml/2006/main">
  <p:tag name="TYPE" val="MultiChoiceSlide"/>
  <p:tag name="TPQUESTIONXML" val="﻿&lt;?xml version=&quot;1.0&quot; encoding=&quot;utf-8&quot;?&gt;&#10;&lt;questionlist&gt;&#10;    &lt;properties&gt;&#10;        &lt;guid&gt;F5F6202A53934AECB46DAC6D6F871B59&lt;/guid&gt;&#10;        &lt;description /&gt;&#10;        &lt;date&gt;9/5/2017 1:48:21 P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D7B08F219F4E430289FD566EC08B0D89&lt;/guid&gt;&#10;            &lt;repollguid&gt;9B6E07B5CD5D4361985382DFFC04F647&lt;/repollguid&gt;&#10;            &lt;sourceid&gt;23E22E004205409EBE2089F75150134D&lt;/sourceid&gt;&#10;            &lt;questiontext&gt;Assuming the null hypothesis is true, we expect 57.7% of all three Award Preference groups to have higher Math SAT scores.  Find the expected count of students that prefer an Academy Award and have a higher Math SAT score. &lt;/questiontext&gt;&#10;            &lt;showresults&gt;True&lt;/showresults&gt;&#10;            &lt;responsegrid&gt;0&lt;/responsegrid&gt;&#10;            &lt;countdowntimer&gt;False&lt;/countdowntimer&gt;&#10;            &lt;countdowntime&gt;30&lt;/countdowntime&gt;&#10;            &lt;correctvalue&gt;1&lt;/correctvalue&gt;&#10;            &lt;incorrectvalue&gt;0&lt;/incorrectvalue&gt;&#10;            &lt;responselimit&gt;1&lt;/responselimit&gt;&#10;            &lt;bulletstyle&gt;2&lt;/bulletstyle&gt;&#10;            &lt;answers&gt;&#10;                &lt;answer&gt;&#10;                    &lt;guid&gt;C69657F740B74D42BB2C395A34E878DF&lt;/guid&gt;&#10;                    &lt;answertext&gt;17.89&lt;/answertext&gt;&#10;                    &lt;valuetype&gt;0&lt;/valuetype&gt;&#10;                &lt;/answer&gt;&#10;                &lt;answer&gt;&#10;                    &lt;guid&gt;DB5A8F052F554EA2A3AF59AC09443EAB&lt;/guid&gt;&#10;                    &lt;answertext&gt;21&lt;/answertext&gt;&#10;                    &lt;valuetype&gt;0&lt;/valuetype&gt;&#10;                &lt;/answer&gt;&#10;                &lt;answer&gt;&#10;                    &lt;guid&gt;2FCB7B45F8384EFCA4764594F552F528&lt;/guid&gt;&#10;                    &lt;answertext&gt;24&lt;/answertext&gt;&#10;                    &lt;valuetype&gt;0&lt;/valuetype&gt;&#10;                &lt;/answer&gt;&#10;                &lt;answer&gt;&#10;                    &lt;guid&gt;7FC4BCF44E644CDCB0893BCEC0261E23&lt;/guid&gt;&#10;                    &lt;answertext&gt;118.29&lt;/answertext&gt;&#10;                    &lt;valuetype&gt;0&lt;/valuetype&gt;&#10;                &lt;/answer&gt;&#10;            &lt;/answers&gt;&#10;            &lt;metadata&gt;&#10;                &lt;entry&gt;&#10;                    &lt;key&gt;AUTOFORMATCHART&lt;/key&gt;&#10;                    &lt;value&gt;True&lt;/value&gt;&#10;                &lt;/entry&gt;&#10;                &lt;entry&gt;&#10;                    &lt;key&gt;AUTOOPENPOLL&lt;/key&gt;&#10;                    &lt;value&gt;True&lt;/value&gt;&#10;                &lt;/entry&gt;&#10;                &lt;entry&gt;&#10;                    &lt;key&gt;LIVECHARTING&lt;/key&gt;&#10;                    &lt;value&gt;False&lt;/value&gt;&#10;                &lt;/entry&gt;&#10;            &lt;/metadata&gt;&#10;        &lt;/multichoice&gt;&#10;    &lt;/questions&gt;&#10;&lt;/questionlist&gt;"/>
  <p:tag name="LIVECHARTING" val="False"/>
  <p:tag name="AUTOOPENPOLL" val="True"/>
  <p:tag name="AUTOFORMATCHART" val="True"/>
</p:tagLst>
</file>

<file path=ppt/tags/tag8.xml><?xml version="1.0" encoding="utf-8"?>
<p:tagLst xmlns:a="http://schemas.openxmlformats.org/drawingml/2006/main" xmlns:r="http://schemas.openxmlformats.org/officeDocument/2006/relationships" xmlns:p="http://schemas.openxmlformats.org/presentationml/2006/main">
  <p:tag name="ZEROBASED" val="False"/>
</p:tagLst>
</file>

<file path=ppt/tags/tag9.xml><?xml version="1.0" encoding="utf-8"?>
<p:tagLst xmlns:a="http://schemas.openxmlformats.org/drawingml/2006/main" xmlns:r="http://schemas.openxmlformats.org/officeDocument/2006/relationships" xmlns:p="http://schemas.openxmlformats.org/presentationml/2006/main">
  <p:tag name="TYPE" val="MultiChoiceSlide"/>
  <p:tag name="TPQUESTIONXML" val="﻿&lt;?xml version=&quot;1.0&quot; encoding=&quot;utf-8&quot;?&gt;&#10;&lt;questionlist&gt;&#10;    &lt;properties&gt;&#10;        &lt;guid&gt;F5F6202A53934AECB46DAC6D6F871B59&lt;/guid&gt;&#10;        &lt;description /&gt;&#10;        &lt;date&gt;9/5/2017 1:48:21 P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7C2C87C7F59A4E4280B80EE802C56891&lt;/guid&gt;&#10;            &lt;repollguid&gt;9B6E07B5CD5D4361985382DFFC04F647&lt;/repollguid&gt;&#10;            &lt;sourceid&gt;23E22E004205409EBE2089F75150134D&lt;/sourceid&gt;&#10;            &lt;questiontext&gt;Assuming the null hypothesis is true, we expect 42.3% of all three Award Preference groups to have higher Verbal SAT scores. Find the expected count of students that prefer an Olympic medal and have a higher Verbal SAT score. &lt;/questiontext&gt;&#10;            &lt;showresults&gt;True&lt;/showresults&gt;&#10;            &lt;responsegrid&gt;0&lt;/responsegrid&gt;&#10;            &lt;countdowntimer&gt;False&lt;/countdowntimer&gt;&#10;            &lt;countdowntime&gt;30&lt;/countdowntime&gt;&#10;            &lt;correctvalue&gt;1&lt;/correctvalue&gt;&#10;            &lt;incorrectvalue&gt;0&lt;/incorrectvalue&gt;&#10;            &lt;responselimit&gt;1&lt;/responselimit&gt;&#10;            &lt;bulletstyle&gt;2&lt;/bulletstyle&gt;&#10;            &lt;answers&gt;&#10;                &lt;answer&gt;&#10;                    &lt;guid&gt;C69657F740B74D42BB2C395A34E878DF&lt;/guid&gt;&#10;                    &lt;answertext&gt;61&lt;/answertext&gt;&#10;                    &lt;valuetype&gt;0&lt;/valuetype&gt;&#10;                &lt;/answer&gt;&#10;                &lt;answer&gt;&#10;                    &lt;guid&gt;DB5A8F052F554EA2A3AF59AC09443EAB&lt;/guid&gt;&#10;                    &lt;answertext&gt;63.45&lt;/answertext&gt;&#10;                    &lt;valuetype&gt;0&lt;/valuetype&gt;&#10;                &lt;/answer&gt;&#10;                &lt;answer&gt;&#10;                    &lt;guid&gt;2FCB7B45F8384EFCA4764594F552F528&lt;/guid&gt;&#10;                    &lt;answertext&gt;74.87&lt;/answertext&gt;&#10;                    &lt;valuetype&gt;0&lt;/valuetype&gt;&#10;                &lt;/answer&gt;&#10;                &lt;answer&gt;&#10;                    &lt;guid&gt;952497FFF1494E75BBE8F54E2384A5F3&lt;/guid&gt;&#10;                    &lt;answertext&gt;102.13&lt;/answertext&gt;&#10;                    &lt;valuetype&gt;0&lt;/valuetype&gt;&#10;                &lt;/answer&gt;&#10;            &lt;/answers&gt;&#10;            &lt;metadata&gt;&#10;                &lt;entry&gt;&#10;                    &lt;key&gt;AUTOFORMATCHART&lt;/key&gt;&#10;                    &lt;value&gt;True&lt;/value&gt;&#10;                &lt;/entry&gt;&#10;                &lt;entry&gt;&#10;                    &lt;key&gt;AUTOOPENPOLL&lt;/key&gt;&#10;                    &lt;value&gt;True&lt;/value&gt;&#10;                &lt;/entry&gt;&#10;                &lt;entry&gt;&#10;                    &lt;key&gt;LIVECHARTING&lt;/key&gt;&#10;                    &lt;value&gt;False&lt;/value&gt;&#10;                &lt;/entry&gt;&#10;            &lt;/metadata&gt;&#10;        &lt;/multichoice&gt;&#10;    &lt;/questions&gt;&#10;&lt;/questionlist&gt;"/>
  <p:tag name="LIVECHARTING" val="False"/>
  <p:tag name="AUTOOPENPOLL" val="True"/>
  <p:tag name="AUTOFORMATCHART" val="True"/>
</p:tagLst>
</file>

<file path=ppt/tags/tag10.xml><?xml version="1.0" encoding="utf-8"?>
<p:tagLst xmlns:a="http://schemas.openxmlformats.org/drawingml/2006/main" xmlns:r="http://schemas.openxmlformats.org/officeDocument/2006/relationships" xmlns:p="http://schemas.openxmlformats.org/presentationml/2006/main">
  <p:tag name="ZEROBASED" val="False"/>
</p:tagLst>
</file>

<file path=ppt/tags/tag11.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12.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13.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14.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15.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16.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17.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18.xml><?xml version="1.0" encoding="utf-8"?>
<p:tagLst xmlns:a="http://schemas.openxmlformats.org/drawingml/2006/main" xmlns:r="http://schemas.openxmlformats.org/officeDocument/2006/relationships" xmlns:p="http://schemas.openxmlformats.org/presentationml/2006/main">
  <p:tag name="TYPE" val="MultiChoiceSlide"/>
  <p:tag name="TPQUESTIONXML" val="﻿&lt;?xml version=&quot;1.0&quot; encoding=&quot;utf-8&quot;?&gt;&#10;&lt;questionlist&gt;&#10;    &lt;properties&gt;&#10;        &lt;guid&gt;8F822F08DBB14D78AE2F3678EC0F2E67&lt;/guid&gt;&#10;        &lt;description /&gt;&#10;        &lt;date&gt;9/7/2017 2:45:27 P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E701785D76814F78A5DF1309C06DCA05&lt;/guid&gt;&#10;            &lt;repollguid&gt;4EC9E29F4E2446E28B886A57EF4C49C8&lt;/repollguid&gt;&#10;            &lt;sourceid&gt;689FC04D56B6447CB33A7CC612F8A0B0&lt;/sourceid&gt;&#10;            &lt;questiontext&gt;Is there an association between faculty rank and gender?  For continuing faculty at many colleges, the ranks are Assistant Professor (aP) for beginning faculty members, Associate Professors (AP) after one promotion, and Professors (P), the highest rank, after another promotion.   The data below show faculty rank and gender for all continuing faculty members at one college in 2012. What is the null hypothesis?&lt;/questiontext&gt;&#10;            &lt;showresults&gt;True&lt;/showresults&gt;&#10;            &lt;responsegrid&gt;0&lt;/responsegrid&gt;&#10;            &lt;countdowntimer&gt;False&lt;/countdowntimer&gt;&#10;            &lt;countdowntime&gt;30&lt;/countdowntime&gt;&#10;            &lt;correctvalue&gt;1&lt;/correctvalue&gt;&#10;            &lt;incorrectvalue&gt;0&lt;/incorrectvalue&gt;&#10;            &lt;responselimit&gt;1&lt;/responselimit&gt;&#10;            &lt;bulletstyle&gt;2&lt;/bulletstyle&gt;&#10;            &lt;answers&gt;&#10;                &lt;answer&gt;&#10;                    &lt;guid&gt;53BAD2EF8E7D43FE8B6DE4D95AFBF1FE&lt;/guid&gt;&#10;                    &lt;answertext&gt;Faculty rank and gender are associated.&lt;/answertext&gt;&#10;                    &lt;valuetype&gt;0&lt;/valuetype&gt;&#10;                &lt;/answer&gt;&#10;                &lt;answer&gt;&#10;                    &lt;guid&gt;A649E2558CAB42CE9069DF285591FBEB&lt;/guid&gt;&#10;                    &lt;answertext&gt;Faculty rank and gender are not associated&lt;/answertext&gt;&#10;                    &lt;valuetype&gt;0&lt;/valuetype&gt;&#10;                &lt;/answer&gt;&#10;                &lt;answer&gt;&#10;                    &lt;guid&gt;51610939DA234197B90273371F6277BF&lt;/guid&gt;&#10;                    &lt;answertext&gt;The assumed proportions are correct&lt;/answertext&gt;&#10;                    &lt;valuetype&gt;0&lt;/valuetype&gt;&#10;                &lt;/answer&gt;&#10;                &lt;answer&gt;&#10;                    &lt;guid&gt;A36BAC7E0B84422A921263AEB4C6BA83&lt;/guid&gt;&#10;                    &lt;answertext&gt;The assumed proportions are not correct&lt;/answertext&gt;&#10;                    &lt;valuetype&gt;0&lt;/valuetype&gt;&#10;                &lt;/answer&gt;&#10;                &lt;answer&gt;&#10;                    &lt;guid&gt;B8C519842FF340258F630F1C1A3B6BD7&lt;/guid&gt;&#10;                    &lt;answertext&gt;All ranks are equally likely&lt;/answertext&gt;&#10;                    &lt;valuetype&gt;0&lt;/valuetype&gt;&#10;                &lt;/answer&gt;&#10;            &lt;/answers&gt;&#10;            &lt;metadata&gt;&#10;                &lt;entry&gt;&#10;                    &lt;key&gt;AUTOFORMATCHART&lt;/key&gt;&#10;                    &lt;value&gt;True&lt;/value&gt;&#10;                &lt;/entry&gt;&#10;                &lt;entry&gt;&#10;                    &lt;key&gt;AUTOOPENPOLL&lt;/key&gt;&#10;                    &lt;value&gt;True&lt;/value&gt;&#10;                &lt;/entry&gt;&#10;                &lt;entry&gt;&#10;                    &lt;key&gt;LIVECHARTING&lt;/key&gt;&#10;                    &lt;value&gt;False&lt;/value&gt;&#10;                &lt;/entry&gt;&#10;            &lt;/metadata&gt;&#10;        &lt;/multichoice&gt;&#10;    &lt;/questions&gt;&#10;&lt;/questionlist&gt;"/>
  <p:tag name="LIVECHARTING" val="False"/>
  <p:tag name="AUTOOPENPOLL" val="True"/>
  <p:tag name="AUTOFORMATCHART" val="True"/>
</p:tagLst>
</file>

<file path=ppt/tags/tag19.xml><?xml version="1.0" encoding="utf-8"?>
<p:tagLst xmlns:a="http://schemas.openxmlformats.org/drawingml/2006/main" xmlns:r="http://schemas.openxmlformats.org/officeDocument/2006/relationships" xmlns:p="http://schemas.openxmlformats.org/presentationml/2006/main">
  <p:tag name="ZEROBASED" val="False"/>
</p:tagLst>
</file>

<file path=ppt/tags/tag20.xml><?xml version="1.0" encoding="utf-8"?>
<p:tagLst xmlns:a="http://schemas.openxmlformats.org/drawingml/2006/main" xmlns:r="http://schemas.openxmlformats.org/officeDocument/2006/relationships" xmlns:p="http://schemas.openxmlformats.org/presentationml/2006/main">
  <p:tag name="TYPE" val="MultiChoiceSlide"/>
  <p:tag name="TPQUESTIONXML" val="﻿&lt;?xml version=&quot;1.0&quot; encoding=&quot;utf-8&quot;?&gt;&#10;&lt;questionlist&gt;&#10;    &lt;properties&gt;&#10;        &lt;guid&gt;8F822F08DBB14D78AE2F3678EC0F2E67&lt;/guid&gt;&#10;        &lt;description /&gt;&#10;        &lt;date&gt;9/7/2017 2:45:27 P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CFD55DA5DE58435D81F595389A2CF501&lt;/guid&gt;&#10;            &lt;repollguid&gt;4EC9E29F4E2446E28B886A57EF4C49C8&lt;/repollguid&gt;&#10;            &lt;sourceid&gt;689FC04D56B6447CB33A7CC612F8A0B0&lt;/sourceid&gt;&#10;            &lt;questiontext&gt;Is there an association between faculty rank and gender?  For continuing faculty at many colleges, the ranks are Assistant Professor (aP) for beginning faculty members, Associate Professors (AP) after one promotion, and Professors (P), the highest rank, after another promotion.   The data below show faculty rank and gender for all continuing faculty members at one college in 2012. What is the expected count for female assistant professors (aP)?&lt;/questiontext&gt;&#10;            &lt;showresults&gt;True&lt;/showresults&gt;&#10;            &lt;responsegrid&gt;0&lt;/responsegrid&gt;&#10;            &lt;countdowntimer&gt;False&lt;/countdowntimer&gt;&#10;            &lt;countdowntime&gt;30&lt;/countdowntime&gt;&#10;            &lt;correctvalue&gt;1&lt;/correctvalue&gt;&#10;            &lt;incorrectvalue&gt;0&lt;/incorrectvalue&gt;&#10;            &lt;responselimit&gt;1&lt;/responselimit&gt;&#10;            &lt;bulletstyle&gt;2&lt;/bulletstyle&gt;&#10;            &lt;answers&gt;&#10;                &lt;answer&gt;&#10;                    &lt;guid&gt;53BAD2EF8E7D43FE8B6DE4D95AFBF1FE&lt;/guid&gt;&#10;                    &lt;answertext&gt;20&lt;/answertext&gt;&#10;                    &lt;valuetype&gt;0&lt;/valuetype&gt;&#10;                &lt;/answer&gt;&#10;                &lt;answer&gt;&#10;                    &lt;guid&gt;A649E2558CAB42CE9069DF285591FBEB&lt;/guid&gt;&#10;                    &lt;answertext&gt;40&lt;/answertext&gt;&#10;                    &lt;valuetype&gt;0&lt;/valuetype&gt;&#10;                &lt;/answer&gt;&#10;                &lt;answer&gt;&#10;                    &lt;guid&gt;51610939DA234197B90273371F6277BF&lt;/guid&gt;&#10;                    &lt;answertext&gt;0.50&lt;/answertext&gt;&#10;                    &lt;valuetype&gt;0&lt;/valuetype&gt;&#10;                &lt;/answer&gt;&#10;                &lt;answer&gt;&#10;                    &lt;guid&gt;A36BAC7E0B84422A921263AEB4C6BA83&lt;/guid&gt;&#10;                    &lt;answertext&gt;19.0&lt;/answertext&gt;&#10;                    &lt;valuetype&gt;0&lt;/valuetype&gt;&#10;                &lt;/answer&gt;&#10;                &lt;answer&gt;&#10;                    &lt;guid&gt;B8C519842FF340258F630F1C1A3B6BD7&lt;/guid&gt;&#10;                    &lt;answertext&gt;24.1&lt;/answertext&gt;&#10;                    &lt;valuetype&gt;0&lt;/valuetype&gt;&#10;                &lt;/answer&gt;&#10;            &lt;/answers&gt;&#10;            &lt;metadata&gt;&#10;                &lt;entry&gt;&#10;                    &lt;key&gt;AUTOFORMATCHART&lt;/key&gt;&#10;                    &lt;value&gt;True&lt;/value&gt;&#10;                &lt;/entry&gt;&#10;                &lt;entry&gt;&#10;                    &lt;key&gt;AUTOOPENPOLL&lt;/key&gt;&#10;                    &lt;value&gt;True&lt;/value&gt;&#10;                &lt;/entry&gt;&#10;                &lt;entry&gt;&#10;                    &lt;key&gt;LIVECHARTING&lt;/key&gt;&#10;                    &lt;value&gt;False&lt;/value&gt;&#10;                &lt;/entry&gt;&#10;            &lt;/metadata&gt;&#10;        &lt;/multichoice&gt;&#10;    &lt;/questions&gt;&#10;&lt;/questionlist&gt;"/>
  <p:tag name="LIVECHARTING" val="False"/>
  <p:tag name="AUTOOPENPOLL" val="True"/>
  <p:tag name="AUTOFORMATCHART" val="True"/>
</p:tagLst>
</file>

<file path=ppt/tags/tag21.xml><?xml version="1.0" encoding="utf-8"?>
<p:tagLst xmlns:a="http://schemas.openxmlformats.org/drawingml/2006/main" xmlns:r="http://schemas.openxmlformats.org/officeDocument/2006/relationships" xmlns:p="http://schemas.openxmlformats.org/presentationml/2006/main">
  <p:tag name="ZEROBASED" val="False"/>
</p:tagLst>
</file>

<file path=ppt/tags/tag22.xml><?xml version="1.0" encoding="utf-8"?>
<p:tagLst xmlns:a="http://schemas.openxmlformats.org/drawingml/2006/main" xmlns:r="http://schemas.openxmlformats.org/officeDocument/2006/relationships" xmlns:p="http://schemas.openxmlformats.org/presentationml/2006/main">
  <p:tag name="TYPE" val="MultiChoiceSlide"/>
  <p:tag name="TPQUESTIONXML" val="﻿&lt;?xml version=&quot;1.0&quot; encoding=&quot;utf-8&quot;?&gt;&#10;&lt;questionlist&gt;&#10;    &lt;properties&gt;&#10;        &lt;guid&gt;8F822F08DBB14D78AE2F3678EC0F2E67&lt;/guid&gt;&#10;        &lt;description /&gt;&#10;        &lt;date&gt;9/7/2017 2:45:27 P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268BBEA8ED7A4061B630495CB63AF269&lt;/guid&gt;&#10;            &lt;repollguid&gt;4EC9E29F4E2446E28B886A57EF4C49C8&lt;/repollguid&gt;&#10;            &lt;sourceid&gt;689FC04D56B6447CB33A7CC612F8A0B0&lt;/sourceid&gt;&#10;            &lt;questiontext&gt;Is there an association between faculty rank and gender?  For continuing faculty at many colleges, the ranks are Assistant Professor (aP) for beginning faculty members, Associate Professors (AP) after one promotion, and Professors (P), the highest rank, after another promotion.   The data below show faculty rank and gender for all continuing faculty members at one college in 2012. What is the expected count for male associate professors (AP)?&lt;/questiontext&gt;&#10;            &lt;showresults&gt;True&lt;/showresults&gt;&#10;            &lt;responsegrid&gt;0&lt;/responsegrid&gt;&#10;            &lt;countdowntimer&gt;False&lt;/countdowntimer&gt;&#10;            &lt;countdowntime&gt;30&lt;/countdowntime&gt;&#10;            &lt;correctvalue&gt;1&lt;/correctvalue&gt;&#10;            &lt;incorrectvalue&gt;0&lt;/incorrectvalue&gt;&#10;            &lt;responselimit&gt;1&lt;/responselimit&gt;&#10;            &lt;bulletstyle&gt;2&lt;/bulletstyle&gt;&#10;            &lt;answers&gt;&#10;                &lt;answer&gt;&#10;                    &lt;guid&gt;53BAD2EF8E7D43FE8B6DE4D95AFBF1FE&lt;/guid&gt;&#10;                    &lt;answertext&gt;20&lt;/answertext&gt;&#10;                    &lt;valuetype&gt;0&lt;/valuetype&gt;&#10;                &lt;/answer&gt;&#10;                &lt;answer&gt;&#10;                    &lt;guid&gt;A649E2558CAB42CE9069DF285591FBEB&lt;/guid&gt;&#10;                    &lt;answertext&gt;30&lt;/answertext&gt;&#10;                    &lt;valuetype&gt;0&lt;/valuetype&gt;&#10;                &lt;/answer&gt;&#10;                &lt;answer&gt;&#10;                    &lt;guid&gt;51610939DA234197B90273371F6277BF&lt;/guid&gt;&#10;                    &lt;answertext&gt;0.40&lt;/answertext&gt;&#10;                    &lt;valuetype&gt;0&lt;/valuetype&gt;&#10;                &lt;/answer&gt;&#10;                &lt;answer&gt;&#10;                    &lt;guid&gt;A36BAC7E0B84422A921263AEB4C6BA83&lt;/guid&gt;&#10;                    &lt;answertext&gt;28.2&lt;/answertext&gt;&#10;                    &lt;valuetype&gt;0&lt;/valuetype&gt;&#10;                &lt;/answer&gt;&#10;                &lt;answer&gt;&#10;                    &lt;guid&gt;B8C519842FF340258F630F1C1A3B6BD7&lt;/guid&gt;&#10;                    &lt;answertext&gt;39.4&lt;/answertext&gt;&#10;                    &lt;valuetype&gt;0&lt;/valuetype&gt;&#10;                &lt;/answer&gt;&#10;            &lt;/answers&gt;&#10;            &lt;metadata&gt;&#10;                &lt;entry&gt;&#10;                    &lt;key&gt;AUTOFORMATCHART&lt;/key&gt;&#10;                    &lt;value&gt;True&lt;/value&gt;&#10;                &lt;/entry&gt;&#10;                &lt;entry&gt;&#10;                    &lt;key&gt;AUTOOPENPOLL&lt;/key&gt;&#10;                    &lt;value&gt;True&lt;/value&gt;&#10;                &lt;/entry&gt;&#10;                &lt;entry&gt;&#10;                    &lt;key&gt;LIVECHARTING&lt;/key&gt;&#10;                    &lt;value&gt;False&lt;/value&gt;&#10;                &lt;/entry&gt;&#10;            &lt;/metadata&gt;&#10;        &lt;/multichoice&gt;&#10;    &lt;/questions&gt;&#10;&lt;/questionlist&gt;"/>
  <p:tag name="LIVECHARTING" val="False"/>
  <p:tag name="AUTOOPENPOLL" val="True"/>
  <p:tag name="AUTOFORMATCHART" val="True"/>
</p:tagLst>
</file>

<file path=ppt/tags/tag23.xml><?xml version="1.0" encoding="utf-8"?>
<p:tagLst xmlns:a="http://schemas.openxmlformats.org/drawingml/2006/main" xmlns:r="http://schemas.openxmlformats.org/officeDocument/2006/relationships" xmlns:p="http://schemas.openxmlformats.org/presentationml/2006/main">
  <p:tag name="ZEROBASED" val="False"/>
</p:tagLst>
</file>

<file path=ppt/tags/tag24.xml><?xml version="1.0" encoding="utf-8"?>
<p:tagLst xmlns:a="http://schemas.openxmlformats.org/drawingml/2006/main" xmlns:r="http://schemas.openxmlformats.org/officeDocument/2006/relationships" xmlns:p="http://schemas.openxmlformats.org/presentationml/2006/main">
  <p:tag name="TYPE" val="MultiChoiceSlide"/>
  <p:tag name="TPQUESTIONXML" val="﻿&lt;?xml version=&quot;1.0&quot; encoding=&quot;utf-8&quot;?&gt;&#10;&lt;questionlist&gt;&#10;    &lt;properties&gt;&#10;        &lt;guid&gt;8F822F08DBB14D78AE2F3678EC0F2E67&lt;/guid&gt;&#10;        &lt;description /&gt;&#10;        &lt;date&gt;9/7/2017 2:45:27 P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F678E93B323A43ACAE6349F45444FCBC&lt;/guid&gt;&#10;            &lt;repollguid&gt;4EC9E29F4E2446E28B886A57EF4C49C8&lt;/repollguid&gt;&#10;            &lt;sourceid&gt;689FC04D56B6447CB33A7CC612F8A0B0&lt;/sourceid&gt;&#10;            &lt;questiontext&gt;Is there an association between faculty rank and gender?  For continuing faculty at many colleges, the ranks are Assistant Professor (aP) for beginning faculty members, Associate Professors (AP) after one promotion, and Professors (P), the highest rank, after another promotion.   The data below show faculty rank and gender for all continuing faculty members at one college in 2012. What is the contribution to the 2 statistic for male AP?&lt;/questiontext&gt;&#10;            &lt;showresults&gt;True&lt;/showresults&gt;&#10;            &lt;responsegrid&gt;0&lt;/responsegrid&gt;&#10;            &lt;countdowntimer&gt;False&lt;/countdowntimer&gt;&#10;            &lt;countdowntime&gt;30&lt;/countdowntime&gt;&#10;            &lt;correctvalue&gt;1&lt;/correctvalue&gt;&#10;            &lt;incorrectvalue&gt;0&lt;/incorrectvalue&gt;&#10;            &lt;responselimit&gt;1&lt;/responselimit&gt;&#10;            &lt;bulletstyle&gt;2&lt;/bulletstyle&gt;&#10;            &lt;answers&gt;&#10;                &lt;answer&gt;&#10;                    &lt;guid&gt;53BAD2EF8E7D43FE8B6DE4D95AFBF1FE&lt;/guid&gt;&#10;                    &lt;answertext&gt;1.68&lt;/answertext&gt;&#10;                    &lt;valuetype&gt;0&lt;/valuetype&gt;&#10;                &lt;/answer&gt;&#10;                &lt;answer&gt;&#10;                    &lt;guid&gt;A649E2558CAB42CE9069DF285591FBEB&lt;/guid&gt;&#10;                    &lt;answertext&gt;2.24&lt;/answertext&gt;&#10;                    &lt;valuetype&gt;0&lt;/valuetype&gt;&#10;                &lt;/answer&gt;&#10;                &lt;answer&gt;&#10;                    &lt;guid&gt;51610939DA234197B90273371F6277BF&lt;/guid&gt;&#10;                    &lt;answertext&gt;4.41&lt;/answertext&gt;&#10;                    &lt;valuetype&gt;0&lt;/valuetype&gt;&#10;                &lt;/answer&gt;&#10;                &lt;answer&gt;&#10;                    &lt;guid&gt;A36BAC7E0B84422A921263AEB4C6BA83&lt;/guid&gt;&#10;                    &lt;answertext&gt;6.57&lt;/answertext&gt;&#10;                    &lt;valuetype&gt;0&lt;/valuetype&gt;&#10;                &lt;/answer&gt;&#10;                &lt;answer&gt;&#10;                    &lt;guid&gt;B8C519842FF340258F630F1C1A3B6BD7&lt;/guid&gt;&#10;                    &lt;answertext&gt;20.95&lt;/answertext&gt;&#10;                    &lt;valuetype&gt;0&lt;/valuetype&gt;&#10;                &lt;/answer&gt;&#10;            &lt;/answers&gt;&#10;            &lt;metadata&gt;&#10;                &lt;entry&gt;&#10;                    &lt;key&gt;AUTOFORMATCHART&lt;/key&gt;&#10;                    &lt;value&gt;True&lt;/value&gt;&#10;                &lt;/entry&gt;&#10;                &lt;entry&gt;&#10;                    &lt;key&gt;AUTOOPENPOLL&lt;/key&gt;&#10;                    &lt;value&gt;True&lt;/value&gt;&#10;                &lt;/entry&gt;&#10;                &lt;entry&gt;&#10;                    &lt;key&gt;LIVECHARTING&lt;/key&gt;&#10;                    &lt;value&gt;False&lt;/value&gt;&#10;                &lt;/entry&gt;&#10;            &lt;/metadata&gt;&#10;        &lt;/multichoice&gt;&#10;    &lt;/questions&gt;&#10;&lt;/questionlist&gt;"/>
  <p:tag name="LIVECHARTING" val="False"/>
  <p:tag name="AUTOOPENPOLL" val="True"/>
  <p:tag name="AUTOFORMATCHART" val="True"/>
</p:tagLst>
</file>

<file path=ppt/tags/tag25.xml><?xml version="1.0" encoding="utf-8"?>
<p:tagLst xmlns:a="http://schemas.openxmlformats.org/drawingml/2006/main" xmlns:r="http://schemas.openxmlformats.org/officeDocument/2006/relationships" xmlns:p="http://schemas.openxmlformats.org/presentationml/2006/main">
  <p:tag name="ZEROBASED" val="False"/>
</p:tagLst>
</file>

<file path=ppt/tags/tag26.xml><?xml version="1.0" encoding="utf-8"?>
<p:tagLst xmlns:a="http://schemas.openxmlformats.org/drawingml/2006/main" xmlns:r="http://schemas.openxmlformats.org/officeDocument/2006/relationships" xmlns:p="http://schemas.openxmlformats.org/presentationml/2006/main">
  <p:tag name="TYPE" val="MultiChoiceSlide"/>
  <p:tag name="TPQUESTIONXML" val="﻿&lt;?xml version=&quot;1.0&quot; encoding=&quot;utf-8&quot;?&gt;&#10;&lt;questionlist&gt;&#10;    &lt;properties&gt;&#10;        &lt;guid&gt;8F822F08DBB14D78AE2F3678EC0F2E67&lt;/guid&gt;&#10;        &lt;description /&gt;&#10;        &lt;date&gt;9/7/2017 2:45:27 P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A6165631ACF1479BA09C40FF1C5D6F0A&lt;/guid&gt;&#10;            &lt;repollguid&gt;4EC9E29F4E2446E28B886A57EF4C49C8&lt;/repollguid&gt;&#10;            &lt;sourceid&gt;689FC04D56B6447CB33A7CC612F8A0B0&lt;/sourceid&gt;&#10;            &lt;questiontext&gt;Is there an association between faculty rank and gender?  For continuing faculty at many colleges, the ranks are Assistant Professor (aP) for beginning faculty members, Associate Professors (AP) after one promotion, and Professors (P), the highest rank, after another promotion.   The data below show faculty rank and gender for all continuing faculty members at one college in 2012. What is the contribution to the 2 statistic for female aP?&lt;/questiontext&gt;&#10;            &lt;showresults&gt;True&lt;/showresults&gt;&#10;            &lt;responsegrid&gt;0&lt;/responsegrid&gt;&#10;            &lt;countdowntimer&gt;False&lt;/countdowntimer&gt;&#10;            &lt;countdowntime&gt;30&lt;/countdowntime&gt;&#10;            &lt;correctvalue&gt;1&lt;/correctvalue&gt;&#10;            &lt;incorrectvalue&gt;0&lt;/incorrectvalue&gt;&#10;            &lt;responselimit&gt;1&lt;/responselimit&gt;&#10;            &lt;bulletstyle&gt;2&lt;/bulletstyle&gt;&#10;            &lt;answers&gt;&#10;                &lt;answer&gt;&#10;                    &lt;guid&gt;53BAD2EF8E7D43FE8B6DE4D95AFBF1FE&lt;/guid&gt;&#10;                    &lt;answertext&gt;0.05&lt;/answertext&gt;&#10;                    &lt;valuetype&gt;0&lt;/valuetype&gt;&#10;                &lt;/answer&gt;&#10;                &lt;answer&gt;&#10;                    &lt;guid&gt;A649E2558CAB42CE9069DF285591FBEB&lt;/guid&gt;&#10;                    &lt;answertext&gt;0.68&lt;/answertext&gt;&#10;                    &lt;valuetype&gt;0&lt;/valuetype&gt;&#10;                &lt;/answer&gt;&#10;                &lt;answer&gt;&#10;                    &lt;guid&gt;51610939DA234197B90273371F6277BF&lt;/guid&gt;&#10;                    &lt;answertext&gt;2.41&lt;/answertext&gt;&#10;                    &lt;valuetype&gt;0&lt;/valuetype&gt;&#10;                &lt;/answer&gt;&#10;                &lt;answer&gt;&#10;                    &lt;guid&gt;A36BAC7E0B84422A921263AEB4C6BA83&lt;/guid&gt;&#10;                    &lt;answertext&gt;6.57&lt;/answertext&gt;&#10;                    &lt;valuetype&gt;0&lt;/valuetype&gt;&#10;                &lt;/answer&gt;&#10;                &lt;answer&gt;&#10;                    &lt;guid&gt;B8C519842FF340258F630F1C1A3B6BD7&lt;/guid&gt;&#10;                    &lt;answertext&gt;8.95&lt;/answertext&gt;&#10;                    &lt;valuetype&gt;0&lt;/valuetype&gt;&#10;                &lt;/answer&gt;&#10;            &lt;/answers&gt;&#10;            &lt;metadata&gt;&#10;                &lt;entry&gt;&#10;                    &lt;key&gt;AUTOFORMATCHART&lt;/key&gt;&#10;                    &lt;value&gt;True&lt;/value&gt;&#10;                &lt;/entry&gt;&#10;                &lt;entry&gt;&#10;                    &lt;key&gt;AUTOOPENPOLL&lt;/key&gt;&#10;                    &lt;value&gt;True&lt;/value&gt;&#10;                &lt;/entry&gt;&#10;                &lt;entry&gt;&#10;                    &lt;key&gt;LIVECHARTING&lt;/key&gt;&#10;                    &lt;value&gt;False&lt;/value&gt;&#10;                &lt;/entry&gt;&#10;            &lt;/metadata&gt;&#10;        &lt;/multichoice&gt;&#10;    &lt;/questions&gt;&#10;&lt;/questionlist&gt;"/>
  <p:tag name="LIVECHARTING" val="False"/>
  <p:tag name="AUTOOPENPOLL" val="True"/>
  <p:tag name="AUTOFORMATCHART" val="True"/>
</p:tagLst>
</file>

<file path=ppt/tags/tag27.xml><?xml version="1.0" encoding="utf-8"?>
<p:tagLst xmlns:a="http://schemas.openxmlformats.org/drawingml/2006/main" xmlns:r="http://schemas.openxmlformats.org/officeDocument/2006/relationships" xmlns:p="http://schemas.openxmlformats.org/presentationml/2006/main">
  <p:tag name="ZEROBASED" val="False"/>
</p:tagLst>
</file>

<file path=ppt/tags/tag28.xml><?xml version="1.0" encoding="utf-8"?>
<p:tagLst xmlns:a="http://schemas.openxmlformats.org/drawingml/2006/main" xmlns:r="http://schemas.openxmlformats.org/officeDocument/2006/relationships" xmlns:p="http://schemas.openxmlformats.org/presentationml/2006/main">
  <p:tag name="TYPE" val="MultiChoiceSlide"/>
  <p:tag name="TPQUESTIONXML" val="﻿&lt;?xml version=&quot;1.0&quot; encoding=&quot;utf-8&quot;?&gt;&#10;&lt;questionlist&gt;&#10;    &lt;properties&gt;&#10;        &lt;guid&gt;8F822F08DBB14D78AE2F3678EC0F2E67&lt;/guid&gt;&#10;        &lt;description /&gt;&#10;        &lt;date&gt;9/7/2017 2:45:27 P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EFFCC0AB4DD54E158C2573E81912D556&lt;/guid&gt;&#10;            &lt;repollguid&gt;4EC9E29F4E2446E28B886A57EF4C49C8&lt;/repollguid&gt;&#10;            &lt;sourceid&gt;689FC04D56B6447CB33A7CC612F8A0B0&lt;/sourceid&gt;&#10;            &lt;questiontext&gt;Is there an association between faculty rank and gender?  For continuing faculty at many colleges, the ranks are Assistant Professor (aP) for beginning faculty members, Associate Professors (AP) after one promotion, and Professors (P), the highest rank, after another promotion.   The data below show faculty rank and gender for all continuing faculty members at one college in 2012. What is the 2 statistic?&lt;/questiontext&gt;&#10;            &lt;showresults&gt;True&lt;/showresults&gt;&#10;            &lt;responsegrid&gt;0&lt;/responsegrid&gt;&#10;            &lt;countdowntimer&gt;False&lt;/countdowntimer&gt;&#10;            &lt;countdowntime&gt;30&lt;/countdowntime&gt;&#10;            &lt;correctvalue&gt;1&lt;/correctvalue&gt;&#10;            &lt;incorrectvalue&gt;0&lt;/incorrectvalue&gt;&#10;            &lt;responselimit&gt;1&lt;/responselimit&gt;&#10;            &lt;bulletstyle&gt;2&lt;/bulletstyle&gt;&#10;            &lt;answers&gt;&#10;                &lt;answer&gt;&#10;                    &lt;guid&gt;53BAD2EF8E7D43FE8B6DE4D95AFBF1FE&lt;/guid&gt;&#10;                    &lt;answertext&gt;1.36&lt;/answertext&gt;&#10;                    &lt;valuetype&gt;0&lt;/valuetype&gt;&#10;                &lt;/answer&gt;&#10;                &lt;answer&gt;&#10;                    &lt;guid&gt;A649E2558CAB42CE9069DF285591FBEB&lt;/guid&gt;&#10;                    &lt;answertext&gt;1.68&lt;/answertext&gt;&#10;                    &lt;valuetype&gt;0&lt;/valuetype&gt;&#10;                &lt;/answer&gt;&#10;                &lt;answer&gt;&#10;                    &lt;guid&gt;51610939DA234197B90273371F6277BF&lt;/guid&gt;&#10;                    &lt;answertext&gt;4.41&lt;/answertext&gt;&#10;                    &lt;valuetype&gt;0&lt;/valuetype&gt;&#10;                &lt;/answer&gt;&#10;                &lt;answer&gt;&#10;                    &lt;guid&gt;A36BAC7E0B84422A921263AEB4C6BA83&lt;/guid&gt;&#10;                    &lt;answertext&gt;6.57&lt;/answertext&gt;&#10;                    &lt;valuetype&gt;0&lt;/valuetype&gt;&#10;                &lt;/answer&gt;&#10;                &lt;answer&gt;&#10;                    &lt;guid&gt;B8C519842FF340258F630F1C1A3B6BD7&lt;/guid&gt;&#10;                    &lt;answertext&gt;14.91&lt;/answertext&gt;&#10;                    &lt;valuetype&gt;0&lt;/valuetype&gt;&#10;                &lt;/answer&gt;&#10;            &lt;/answers&gt;&#10;            &lt;metadata&gt;&#10;                &lt;entry&gt;&#10;                    &lt;key&gt;AUTOFORMATCHART&lt;/key&gt;&#10;                    &lt;value&gt;True&lt;/value&gt;&#10;                &lt;/entry&gt;&#10;                &lt;entry&gt;&#10;                    &lt;key&gt;AUTOOPENPOLL&lt;/key&gt;&#10;                    &lt;value&gt;True&lt;/value&gt;&#10;                &lt;/entry&gt;&#10;                &lt;entry&gt;&#10;                    &lt;key&gt;LIVECHARTING&lt;/key&gt;&#10;                    &lt;value&gt;False&lt;/value&gt;&#10;                &lt;/entry&gt;&#10;            &lt;/metadata&gt;&#10;        &lt;/multichoice&gt;&#10;    &lt;/questions&gt;&#10;&lt;/questionlist&gt;"/>
  <p:tag name="LIVECHARTING" val="False"/>
  <p:tag name="AUTOOPENPOLL" val="True"/>
  <p:tag name="AUTOFORMATCHART" val="True"/>
</p:tagLst>
</file>

<file path=ppt/tags/tag29.xml><?xml version="1.0" encoding="utf-8"?>
<p:tagLst xmlns:a="http://schemas.openxmlformats.org/drawingml/2006/main" xmlns:r="http://schemas.openxmlformats.org/officeDocument/2006/relationships" xmlns:p="http://schemas.openxmlformats.org/presentationml/2006/main">
  <p:tag name="ZEROBASED" val="False"/>
</p:tagLst>
</file>

<file path=ppt/tags/tag30.xml><?xml version="1.0" encoding="utf-8"?>
<p:tagLst xmlns:a="http://schemas.openxmlformats.org/drawingml/2006/main" xmlns:r="http://schemas.openxmlformats.org/officeDocument/2006/relationships" xmlns:p="http://schemas.openxmlformats.org/presentationml/2006/main">
  <p:tag name="TYPE" val="MultiChoiceSlide"/>
  <p:tag name="TPQUESTIONXML" val="﻿&lt;?xml version=&quot;1.0&quot; encoding=&quot;utf-8&quot;?&gt;&#10;&lt;questionlist&gt;&#10;    &lt;properties&gt;&#10;        &lt;guid&gt;8F822F08DBB14D78AE2F3678EC0F2E67&lt;/guid&gt;&#10;        &lt;description /&gt;&#10;        &lt;date&gt;9/7/2017 2:45:27 P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E69BDEEAE575427CB100D3AE836F471C&lt;/guid&gt;&#10;            &lt;repollguid&gt;4EC9E29F4E2446E28B886A57EF4C49C8&lt;/repollguid&gt;&#10;            &lt;sourceid&gt;689FC04D56B6447CB33A7CC612F8A0B0&lt;/sourceid&gt;&#10;            &lt;questiontext&gt;Is there an association between faculty rank and gender?  For continuing faculty at many colleges, the ranks are Assistant Professor (aP) for beginning faculty members, Associate Professors (AP) after one promotion, and Professors (P), the highest rank, after another promotion.   The data below show faculty rank and gender for all continuing faculty members at one college in 2012. What are the degrees of freedom?&lt;/questiontext&gt;&#10;            &lt;showresults&gt;True&lt;/showresults&gt;&#10;            &lt;responsegrid&gt;0&lt;/responsegrid&gt;&#10;            &lt;countdowntimer&gt;False&lt;/countdowntimer&gt;&#10;            &lt;countdowntime&gt;30&lt;/countdowntime&gt;&#10;            &lt;correctvalue&gt;1&lt;/correctvalue&gt;&#10;            &lt;incorrectvalue&gt;0&lt;/incorrectvalue&gt;&#10;            &lt;responselimit&gt;1&lt;/responselimit&gt;&#10;            &lt;bulletstyle&gt;2&lt;/bulletstyle&gt;&#10;            &lt;answers&gt;&#10;                &lt;answer&gt;&#10;                    &lt;guid&gt;53BAD2EF8E7D43FE8B6DE4D95AFBF1FE&lt;/guid&gt;&#10;                    &lt;answertext&gt;1&lt;/answertext&gt;&#10;                    &lt;valuetype&gt;0&lt;/valuetype&gt;&#10;                &lt;/answer&gt;&#10;                &lt;answer&gt;&#10;                    &lt;guid&gt;A649E2558CAB42CE9069DF285591FBEB&lt;/guid&gt;&#10;                    &lt;answertext&gt;2&lt;/answertext&gt;&#10;                    &lt;valuetype&gt;0&lt;/valuetype&gt;&#10;                &lt;/answer&gt;&#10;                &lt;answer&gt;&#10;                    &lt;guid&gt;51610939DA234197B90273371F6277BF&lt;/guid&gt;&#10;                    &lt;answertext&gt;3&lt;/answertext&gt;&#10;                    &lt;valuetype&gt;0&lt;/valuetype&gt;&#10;                &lt;/answer&gt;&#10;                &lt;answer&gt;&#10;                    &lt;guid&gt;A36BAC7E0B84422A921263AEB4C6BA83&lt;/guid&gt;&#10;                    &lt;answertext&gt;5&lt;/answertext&gt;&#10;                    &lt;valuetype&gt;0&lt;/valuetype&gt;&#10;                &lt;/answer&gt;&#10;                &lt;answer&gt;&#10;                    &lt;guid&gt;B8C519842FF340258F630F1C1A3B6BD7&lt;/guid&gt;&#10;                    &lt;answertext&gt;6&lt;/answertext&gt;&#10;                    &lt;valuetype&gt;0&lt;/valuetype&gt;&#10;                &lt;/answer&gt;&#10;            &lt;/answers&gt;&#10;            &lt;metadata&gt;&#10;                &lt;entry&gt;&#10;                    &lt;key&gt;AUTOFORMATCHART&lt;/key&gt;&#10;                    &lt;value&gt;True&lt;/value&gt;&#10;                &lt;/entry&gt;&#10;                &lt;entry&gt;&#10;                    &lt;key&gt;AUTOOPENPOLL&lt;/key&gt;&#10;                    &lt;value&gt;True&lt;/value&gt;&#10;                &lt;/entry&gt;&#10;                &lt;entry&gt;&#10;                    &lt;key&gt;LIVECHARTING&lt;/key&gt;&#10;                    &lt;value&gt;False&lt;/value&gt;&#10;                &lt;/entry&gt;&#10;            &lt;/metadata&gt;&#10;        &lt;/multichoice&gt;&#10;    &lt;/questions&gt;&#10;&lt;/questionlist&gt;"/>
  <p:tag name="LIVECHARTING" val="False"/>
  <p:tag name="AUTOOPENPOLL" val="True"/>
  <p:tag name="AUTOFORMATCHART" val="True"/>
</p:tagLst>
</file>

<file path=ppt/tags/tag31.xml><?xml version="1.0" encoding="utf-8"?>
<p:tagLst xmlns:a="http://schemas.openxmlformats.org/drawingml/2006/main" xmlns:r="http://schemas.openxmlformats.org/officeDocument/2006/relationships" xmlns:p="http://schemas.openxmlformats.org/presentationml/2006/main">
  <p:tag name="ZEROBASED" val="False"/>
</p:tagLst>
</file>

<file path=ppt/tags/tag32.xml><?xml version="1.0" encoding="utf-8"?>
<p:tagLst xmlns:a="http://schemas.openxmlformats.org/drawingml/2006/main" xmlns:r="http://schemas.openxmlformats.org/officeDocument/2006/relationships" xmlns:p="http://schemas.openxmlformats.org/presentationml/2006/main">
  <p:tag name="TYPE" val="MultiChoiceSlide"/>
  <p:tag name="TPQUESTIONXML" val="﻿&lt;?xml version=&quot;1.0&quot; encoding=&quot;utf-8&quot;?&gt;&#10;&lt;questionlist&gt;&#10;    &lt;properties&gt;&#10;        &lt;guid&gt;8F822F08DBB14D78AE2F3678EC0F2E67&lt;/guid&gt;&#10;        &lt;description /&gt;&#10;        &lt;date&gt;9/7/2017 2:45:27 P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7C2E235D019E4463BEEEED5A0322F360&lt;/guid&gt;&#10;            &lt;repollguid&gt;4EC9E29F4E2446E28B886A57EF4C49C8&lt;/repollguid&gt;&#10;            &lt;sourceid&gt;689FC04D56B6447CB33A7CC612F8A0B0&lt;/sourceid&gt;&#10;            &lt;questiontext&gt;Is there an association between faculty rank and gender?  For continuing faculty at many colleges, the ranks are Assistant Professor (aP) for beginning faculty members, Associate Professors (AP) after one promotion, and Professors (P), the highest rank, after another promotion.   The data below show faculty rank and gender for all continuing faculty members at one college in 2012. What is the p-value?&lt;/questiontext&gt;&#10;            &lt;showresults&gt;True&lt;/showresults&gt;&#10;            &lt;responsegrid&gt;0&lt;/responsegrid&gt;&#10;            &lt;countdowntimer&gt;False&lt;/countdowntimer&gt;&#10;            &lt;countdowntime&gt;30&lt;/countdowntime&gt;&#10;            &lt;correctvalue&gt;1&lt;/correctvalue&gt;&#10;            &lt;incorrectvalue&gt;0&lt;/incorrectvalue&gt;&#10;            &lt;responselimit&gt;1&lt;/responselimit&gt;&#10;            &lt;bulletstyle&gt;2&lt;/bulletstyle&gt;&#10;            &lt;answers&gt;&#10;                &lt;answer&gt;&#10;                    &lt;guid&gt;53BAD2EF8E7D43FE8B6DE4D95AFBF1FE&lt;/guid&gt;&#10;                    &lt;answertext&gt;0.00058&lt;/answertext&gt;&#10;                    &lt;valuetype&gt;0&lt;/valuetype&gt;&#10;                &lt;/answer&gt;&#10;                &lt;answer&gt;&#10;                    &lt;guid&gt;A649E2558CAB42CE9069DF285591FBEB&lt;/guid&gt;&#10;                    &lt;answertext&gt;0.00076&lt;/answertext&gt;&#10;                    &lt;valuetype&gt;0&lt;/valuetype&gt;&#10;                &lt;/answer&gt;&#10;                &lt;answer&gt;&#10;                    &lt;guid&gt;51610939DA234197B90273371F6277BF&lt;/guid&gt;&#10;                    &lt;answertext&gt;0.05&lt;/answertext&gt;&#10;                    &lt;valuetype&gt;0&lt;/valuetype&gt;&#10;                &lt;/answer&gt;&#10;                &lt;answer&gt;&#10;                    &lt;guid&gt;A36BAC7E0B84422A921263AEB4C6BA83&lt;/guid&gt;&#10;                    &lt;answertext&gt;0.143&lt;/answertext&gt;&#10;                    &lt;valuetype&gt;0&lt;/valuetype&gt;&#10;                &lt;/answer&gt;&#10;                &lt;answer&gt;&#10;                    &lt;guid&gt;B8C519842FF340258F630F1C1A3B6BD7&lt;/guid&gt;&#10;                    &lt;answertext&gt;0.251&lt;/answertext&gt;&#10;                    &lt;valuetype&gt;0&lt;/valuetype&gt;&#10;                &lt;/answer&gt;&#10;            &lt;/answers&gt;&#10;            &lt;metadata&gt;&#10;                &lt;entry&gt;&#10;                    &lt;key&gt;AUTOFORMATCHART&lt;/key&gt;&#10;                    &lt;value&gt;True&lt;/value&gt;&#10;                &lt;/entry&gt;&#10;                &lt;entry&gt;&#10;                    &lt;key&gt;AUTOOPENPOLL&lt;/key&gt;&#10;                    &lt;value&gt;True&lt;/value&gt;&#10;                &lt;/entry&gt;&#10;                &lt;entry&gt;&#10;                    &lt;key&gt;LIVECHARTING&lt;/key&gt;&#10;                    &lt;value&gt;False&lt;/value&gt;&#10;                &lt;/entry&gt;&#10;            &lt;/metadata&gt;&#10;        &lt;/multichoice&gt;&#10;    &lt;/questions&gt;&#10;&lt;/questionlist&gt;"/>
  <p:tag name="LIVECHARTING" val="False"/>
  <p:tag name="AUTOOPENPOLL" val="True"/>
  <p:tag name="AUTOFORMATCHART" val="True"/>
</p:tagLst>
</file>

<file path=ppt/tags/tag33.xml><?xml version="1.0" encoding="utf-8"?>
<p:tagLst xmlns:a="http://schemas.openxmlformats.org/drawingml/2006/main" xmlns:r="http://schemas.openxmlformats.org/officeDocument/2006/relationships" xmlns:p="http://schemas.openxmlformats.org/presentationml/2006/main">
  <p:tag name="ZEROBASED" val="False"/>
</p:tagLst>
</file>

<file path=ppt/tags/tag34.xml><?xml version="1.0" encoding="utf-8"?>
<p:tagLst xmlns:a="http://schemas.openxmlformats.org/drawingml/2006/main" xmlns:r="http://schemas.openxmlformats.org/officeDocument/2006/relationships" xmlns:p="http://schemas.openxmlformats.org/presentationml/2006/main">
  <p:tag name="TYPE" val="MultiChoiceSlide"/>
  <p:tag name="TPQUESTIONXML" val="﻿&lt;?xml version=&quot;1.0&quot; encoding=&quot;utf-8&quot;?&gt;&#10;&lt;questionlist&gt;&#10;    &lt;properties&gt;&#10;        &lt;guid&gt;8F822F08DBB14D78AE2F3678EC0F2E67&lt;/guid&gt;&#10;        &lt;description /&gt;&#10;        &lt;date&gt;9/7/2017 2:45:27 P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C5760FAB407F488DB079D9C33795821E&lt;/guid&gt;&#10;            &lt;repollguid&gt;4EC9E29F4E2446E28B886A57EF4C49C8&lt;/repollguid&gt;&#10;            &lt;sourceid&gt;689FC04D56B6447CB33A7CC612F8A0B0&lt;/sourceid&gt;&#10;            &lt;questiontext&gt;Is there an association between faculty rank and gender? What is the conclusion?&lt;/questiontext&gt;&#10;            &lt;showresults&gt;True&lt;/showresults&gt;&#10;            &lt;responsegrid&gt;0&lt;/responsegrid&gt;&#10;            &lt;countdowntimer&gt;False&lt;/countdowntimer&gt;&#10;            &lt;countdowntime&gt;30&lt;/countdowntime&gt;&#10;            &lt;correctvalue&gt;1&lt;/correctvalue&gt;&#10;            &lt;incorrectvalue&gt;0&lt;/incorrectvalue&gt;&#10;            &lt;responselimit&gt;1&lt;/responselimit&gt;&#10;            &lt;bulletstyle&gt;2&lt;/bulletstyle&gt;&#10;            &lt;answers&gt;&#10;                &lt;answer&gt;&#10;                    &lt;guid&gt;53BAD2EF8E7D43FE8B6DE4D95AFBF1FE&lt;/guid&gt;&#10;                    &lt;answertext&gt;We find evidence that there is no association between rank and gender&lt;/answertext&gt;&#10;                    &lt;valuetype&gt;0&lt;/valuetype&gt;&#10;                &lt;/answer&gt;&#10;                &lt;answer&gt;&#10;                    &lt;guid&gt;A649E2558CAB42CE9069DF285591FBEB&lt;/guid&gt;&#10;                    &lt;answertext&gt;We find evidence that there is an association between rank and gender&lt;/answertext&gt;&#10;                    &lt;valuetype&gt;0&lt;/valuetype&gt;&#10;                &lt;/answer&gt;&#10;                &lt;answer&gt;&#10;                    &lt;guid&gt;51610939DA234197B90273371F6277BF&lt;/guid&gt;&#10;                    &lt;answertext&gt;We do not find evidence that there is no association between rank and gender&lt;/answertext&gt;&#10;                    &lt;valuetype&gt;0&lt;/valuetype&gt;&#10;                &lt;/answer&gt;&#10;                &lt;answer&gt;&#10;                    &lt;guid&gt;A36BAC7E0B84422A921263AEB4C6BA83&lt;/guid&gt;&#10;                    &lt;answertext&gt;We do not find evidence that there is an association between rank and gender&lt;/answertext&gt;&#10;                    &lt;valuetype&gt;0&lt;/valuetype&gt;&#10;                &lt;/answer&gt;&#10;            &lt;/answers&gt;&#10;            &lt;metadata&gt;&#10;                &lt;entry&gt;&#10;                    &lt;key&gt;AUTOFORMATCHART&lt;/key&gt;&#10;                    &lt;value&gt;True&lt;/value&gt;&#10;                &lt;/entry&gt;&#10;                &lt;entry&gt;&#10;                    &lt;key&gt;AUTOOPENPOLL&lt;/key&gt;&#10;                    &lt;value&gt;True&lt;/value&gt;&#10;                &lt;/entry&gt;&#10;                &lt;entry&gt;&#10;                    &lt;key&gt;LIVECHARTING&lt;/key&gt;&#10;                    &lt;value&gt;False&lt;/value&gt;&#10;                &lt;/entry&gt;&#10;            &lt;/metadata&gt;&#10;        &lt;/multichoice&gt;&#10;    &lt;/questions&gt;&#10;&lt;/questionlist&gt;"/>
  <p:tag name="LIVECHARTING" val="False"/>
  <p:tag name="AUTOOPENPOLL" val="True"/>
  <p:tag name="AUTOFORMATCHART" val="True"/>
</p:tagLst>
</file>

<file path=ppt/tags/tag35.xml><?xml version="1.0" encoding="utf-8"?>
<p:tagLst xmlns:a="http://schemas.openxmlformats.org/drawingml/2006/main" xmlns:r="http://schemas.openxmlformats.org/officeDocument/2006/relationships" xmlns:p="http://schemas.openxmlformats.org/presentationml/2006/main">
  <p:tag name="ZEROBASED" val="False"/>
</p:tagLst>
</file>

<file path=ppt/tags/tag36.xml><?xml version="1.0" encoding="utf-8"?>
<p:tagLst xmlns:a="http://schemas.openxmlformats.org/drawingml/2006/main" xmlns:r="http://schemas.openxmlformats.org/officeDocument/2006/relationships" xmlns:p="http://schemas.openxmlformats.org/presentationml/2006/main">
  <p:tag name="TYPE" val="MultiChoiceSlide"/>
  <p:tag name="TPQUESTIONXML" val="﻿&lt;?xml version=&quot;1.0&quot; encoding=&quot;utf-8&quot;?&gt;&#10;&lt;questionlist&gt;&#10;    &lt;properties&gt;&#10;        &lt;guid&gt;8F822F08DBB14D78AE2F3678EC0F2E67&lt;/guid&gt;&#10;        &lt;description /&gt;&#10;        &lt;date&gt;9/7/2017 2:45:27 P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76DF80B463344C8DB335853C06D3835E&lt;/guid&gt;&#10;            &lt;repollguid&gt;4EC9E29F4E2446E28B886A57EF4C49C8&lt;/repollguid&gt;&#10;            &lt;sourceid&gt;689FC04D56B6447CB33A7CC612F8A0B0&lt;/sourceid&gt;&#10;            &lt;questiontext&gt;Is there an association between faculty rank and gender? Which rank (aP, AP, or P) contributes the most to the 2 statistic, and what do the observed and expected counts tell us about that rank?&lt;/questiontext&gt;&#10;            &lt;showresults&gt;True&lt;/showresults&gt;&#10;            &lt;responsegrid&gt;0&lt;/responsegrid&gt;&#10;            &lt;countdowntimer&gt;False&lt;/countdowntimer&gt;&#10;            &lt;countdowntime&gt;30&lt;/countdowntime&gt;&#10;            &lt;correctvalue&gt;1&lt;/correctvalue&gt;&#10;            &lt;incorrectvalue&gt;0&lt;/incorrectvalue&gt;&#10;            &lt;responselimit&gt;1&lt;/responselimit&gt;&#10;            &lt;bulletstyle&gt;2&lt;/bulletstyle&gt;&#10;            &lt;answers&gt;&#10;                &lt;answer&gt;&#10;                    &lt;guid&gt;53BAD2EF8E7D43FE8B6DE4D95AFBF1FE&lt;/guid&gt;&#10;                    &lt;answertext&gt;Assistant professors (aP) and we see that the genders are equally split&lt;/answertext&gt;&#10;                    &lt;valuetype&gt;0&lt;/valuetype&gt;&#10;                &lt;/answer&gt;&#10;                &lt;answer&gt;&#10;                    &lt;guid&gt;A649E2558CAB42CE9069DF285591FBEB&lt;/guid&gt;&#10;                    &lt;answertext&gt;Associate professors (AP) and we see that there are more female and fewer male associate professors than we expect.&lt;/answertext&gt;&#10;                    &lt;valuetype&gt;0&lt;/valuetype&gt;&#10;                &lt;/answer&gt;&#10;                &lt;answer&gt;&#10;                    &lt;guid&gt;51610939DA234197B90273371F6277BF&lt;/guid&gt;&#10;                    &lt;answertext&gt;Professors (P) and we see that there are more female and fewer males professors than we expect.&lt;/answertext&gt;&#10;                    &lt;valuetype&gt;0&lt;/valuetype&gt;&#10;                &lt;/answer&gt;&#10;                &lt;answer&gt;&#10;                    &lt;guid&gt;A36BAC7E0B84422A921263AEB4C6BA83&lt;/guid&gt;&#10;                    &lt;answertext&gt;Professors (P) and we see that there are more male and fewer female professors than we expect.&lt;/answertext&gt;&#10;                    &lt;valuetype&gt;0&lt;/valuetype&gt;&#10;                &lt;/answer&gt;&#10;            &lt;/answers&gt;&#10;            &lt;metadata&gt;&#10;                &lt;entry&gt;&#10;                    &lt;key&gt;AUTOFORMATCHART&lt;/key&gt;&#10;                    &lt;value&gt;True&lt;/value&gt;&#10;                &lt;/entry&gt;&#10;                &lt;entry&gt;&#10;                    &lt;key&gt;AUTOOPENPOLL&lt;/key&gt;&#10;                    &lt;value&gt;True&lt;/value&gt;&#10;                &lt;/entry&gt;&#10;                &lt;entry&gt;&#10;                    &lt;key&gt;LIVECHARTING&lt;/key&gt;&#10;                    &lt;value&gt;False&lt;/value&gt;&#10;                &lt;/entry&gt;&#10;            &lt;/metadata&gt;&#10;        &lt;/multichoice&gt;&#10;    &lt;/questions&gt;&#10;&lt;/questionlist&gt;"/>
  <p:tag name="LIVECHARTING" val="False"/>
  <p:tag name="AUTOOPENPOLL" val="True"/>
  <p:tag name="AUTOFORMATCHART" val="True"/>
</p:tagLst>
</file>

<file path=ppt/tags/tag37.xml><?xml version="1.0" encoding="utf-8"?>
<p:tagLst xmlns:a="http://schemas.openxmlformats.org/drawingml/2006/main" xmlns:r="http://schemas.openxmlformats.org/officeDocument/2006/relationships" xmlns:p="http://schemas.openxmlformats.org/presentationml/2006/main">
  <p:tag name="ZEROBASED" val="False"/>
</p:tagLst>
</file>

<file path=ppt/tags/tag38.xml><?xml version="1.0" encoding="utf-8"?>
<p:tagLst xmlns:a="http://schemas.openxmlformats.org/drawingml/2006/main" xmlns:r="http://schemas.openxmlformats.org/officeDocument/2006/relationships" xmlns:p="http://schemas.openxmlformats.org/presentationml/2006/main">
  <p:tag name="TYPE" val="MultiChoiceSlide"/>
  <p:tag name="TPQUESTIONXML" val="﻿&lt;?xml version=&quot;1.0&quot; encoding=&quot;utf-8&quot;?&gt;&#10;&lt;questionlist&gt;&#10;    &lt;properties&gt;&#10;        &lt;guid&gt;8F822F08DBB14D78AE2F3678EC0F2E67&lt;/guid&gt;&#10;        &lt;description /&gt;&#10;        &lt;date&gt;9/7/2017 2:45:27 P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B364937B3E104598A9ADEAE4201B9EDC&lt;/guid&gt;&#10;            &lt;repollguid&gt;4EC9E29F4E2446E28B886A57EF4C49C8&lt;/repollguid&gt;&#10;            &lt;sourceid&gt;689FC04D56B6447CB33A7CC612F8A0B0&lt;/sourceid&gt;&#10;            &lt;questiontext&gt;Is there an association between faculty rank and gender?  For continuing faculty at many colleges, the ranks are Assistant Professor (aP) for beginning faculty members, Associate Professors (AP) after one promotion, and Professors (P), the highest rank, after another promotion.   The data below show faculty rank and gender for all continuing faculty members at one college in 2012. Can we conclude causation from this study?&lt;/questiontext&gt;&#10;            &lt;showresults&gt;True&lt;/showresults&gt;&#10;            &lt;responsegrid&gt;0&lt;/responsegrid&gt;&#10;            &lt;countdowntimer&gt;False&lt;/countdowntimer&gt;&#10;            &lt;countdowntime&gt;30&lt;/countdowntime&gt;&#10;            &lt;correctvalue&gt;1&lt;/correctvalue&gt;&#10;            &lt;incorrectvalue&gt;0&lt;/incorrectvalue&gt;&#10;            &lt;responselimit&gt;1&lt;/responselimit&gt;&#10;            &lt;bulletstyle&gt;2&lt;/bulletstyle&gt;&#10;            &lt;answers&gt;&#10;                &lt;answer&gt;&#10;                    &lt;guid&gt;53BAD2EF8E7D43FE8B6DE4D95AFBF1FE&lt;/guid&gt;&#10;                    &lt;answertext&gt;Yes&lt;/answertext&gt;&#10;                    &lt;valuetype&gt;0&lt;/valuetype&gt;&#10;                &lt;/answer&gt;&#10;                &lt;answer&gt;&#10;                    &lt;guid&gt;A649E2558CAB42CE9069DF285591FBEB&lt;/guid&gt;&#10;                    &lt;answertext&gt;No&lt;/answertext&gt;&#10;                    &lt;valuetype&gt;0&lt;/valuetype&gt;&#10;                &lt;/answer&gt;&#10;                &lt;answer&gt;&#10;                    &lt;guid&gt;51610939DA234197B90273371F6277BF&lt;/guid&gt;&#10;                    &lt;answertext&gt;Not given enough information to determine&lt;/answertext&gt;&#10;                    &lt;valuetype&gt;0&lt;/valuetype&gt;&#10;                &lt;/answer&gt;&#10;            &lt;/answers&gt;&#10;            &lt;metadata&gt;&#10;                &lt;entry&gt;&#10;                    &lt;key&gt;AUTOFORMATCHART&lt;/key&gt;&#10;                    &lt;value&gt;True&lt;/value&gt;&#10;                &lt;/entry&gt;&#10;                &lt;entry&gt;&#10;                    &lt;key&gt;AUTOOPENPOLL&lt;/key&gt;&#10;                    &lt;value&gt;True&lt;/value&gt;&#10;                &lt;/entry&gt;&#10;                &lt;entry&gt;&#10;                    &lt;key&gt;LIVECHARTING&lt;/key&gt;&#10;                    &lt;value&gt;False&lt;/value&gt;&#10;                &lt;/entry&gt;&#10;            &lt;/metadata&gt;&#10;        &lt;/multichoice&gt;&#10;    &lt;/questions&gt;&#10;&lt;/questionlist&gt;"/>
  <p:tag name="LIVECHARTING" val="False"/>
  <p:tag name="AUTOOPENPOLL" val="True"/>
  <p:tag name="AUTOFORMATCHART" val="True"/>
</p:tagLst>
</file>

<file path=ppt/tags/tag39.xml><?xml version="1.0" encoding="utf-8"?>
<p:tagLst xmlns:a="http://schemas.openxmlformats.org/drawingml/2006/main" xmlns:r="http://schemas.openxmlformats.org/officeDocument/2006/relationships" xmlns:p="http://schemas.openxmlformats.org/presentationml/2006/main">
  <p:tag name="ZEROBASED" val="False"/>
</p:tagLst>
</file>

<file path=ppt/tags/tag40.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41.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42.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43.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44.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45.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Median</Template>
  <TotalTime>701</TotalTime>
  <Words>3017</Words>
  <Application>Microsoft Office PowerPoint</Application>
  <PresentationFormat>On-screen Show (4:3)</PresentationFormat>
  <Paragraphs>695</Paragraphs>
  <Slides>35</Slides>
  <Notes>27</Notes>
  <HiddenSlides>0</HiddenSlides>
  <MMClips>0</MMClips>
  <ScaleCrop>false</ScaleCrop>
  <HeadingPairs>
    <vt:vector size="4" baseType="variant">
      <vt:variant>
        <vt:lpstr>Theme</vt:lpstr>
      </vt:variant>
      <vt:variant>
        <vt:i4>1</vt:i4>
      </vt:variant>
      <vt:variant>
        <vt:lpstr>Slide Titles</vt:lpstr>
      </vt:variant>
      <vt:variant>
        <vt:i4>35</vt:i4>
      </vt:variant>
    </vt:vector>
  </HeadingPairs>
  <TitlesOfParts>
    <vt:vector size="36" baseType="lpstr">
      <vt:lpstr>Median</vt:lpstr>
      <vt:lpstr>PowerPoint Presentation</vt:lpstr>
      <vt:lpstr>Outline</vt:lpstr>
      <vt:lpstr>Recap: χ2 Goodness-of-Fit Test</vt:lpstr>
      <vt:lpstr>Two Categorical Variables</vt:lpstr>
      <vt:lpstr>Award Preference &amp; SAT</vt:lpstr>
      <vt:lpstr>PowerPoint Presentation</vt:lpstr>
      <vt:lpstr>Expected Counts and Relative Frequencies</vt:lpstr>
      <vt:lpstr>Assuming the null hypothesis is true, we expect 57.7% of all three Award Preference groups to have higher Math SAT scores.  Find the expected count of students that prefer an Academy Award and have a higher Math SAT score.  </vt:lpstr>
      <vt:lpstr>Assuming the null hypothesis is true, we expect 42.3% of all three Award Preference groups to have higher Verbal SAT scores. Find the expected count of students that prefer an Olympic medal and have a higher Verbal SAT score. </vt:lpstr>
      <vt:lpstr>Expected Counts and Relative Frequencies</vt:lpstr>
      <vt:lpstr>PowerPoint Presentation</vt:lpstr>
      <vt:lpstr>PowerPoint Presentation</vt:lpstr>
      <vt:lpstr>PowerPoint Presentation</vt:lpstr>
      <vt:lpstr>PowerPoint Presentation</vt:lpstr>
      <vt:lpstr>Distribution for a χ2-test for Association</vt:lpstr>
      <vt:lpstr>Chi-Square Distribution</vt:lpstr>
      <vt:lpstr>Chi-Square Test for Association</vt:lpstr>
      <vt:lpstr>PowerPoint Presentation</vt:lpstr>
      <vt:lpstr>Is there an association between faculty rank and gender?  For continuing faculty at many colleges, the ranks are Assistant Professor (aP) for beginning faculty members, Associate Professors (AP) after one promotion, and Professors (P), the highest rank, after another promotion.   The data below show faculty rank and gender for all continuing faculty members at one college in 2012. What is the null hypothesis?</vt:lpstr>
      <vt:lpstr>Is there an association between faculty rank and gender?  For continuing faculty at many colleges, the ranks are Assistant Professor (aP) for beginning faculty members, Associate Professors (AP) after one promotion, and Professors (P), the highest rank, after another promotion.   The data below show faculty rank and gender for all continuing faculty members at one college in 2012. What is the expected count for female assistant professors (aP)?</vt:lpstr>
      <vt:lpstr>Is there an association between faculty rank and gender?  For continuing faculty at many colleges, the ranks are Assistant Professor (aP) for beginning faculty members, Associate Professors (AP) after one promotion, and Professors (P), the highest rank, after another promotion.   The data below show faculty rank and gender for all continuing faculty members at one college in 2012. What is the expected count for male associate professors (AP)?</vt:lpstr>
      <vt:lpstr>Is there an association between faculty rank and gender?  For continuing faculty at many colleges, the ranks are Assistant Professor (aP) for beginning faculty members, Associate Professors (AP) after one promotion, and Professors (P), the highest rank, after another promotion.   The data below show faculty rank and gender for all continuing faculty members at one college in 2012. What is the contribution to the 2 statistic for male AP?</vt:lpstr>
      <vt:lpstr>Is there an association between faculty rank and gender?  For continuing faculty at many colleges, the ranks are Assistant Professor (aP) for beginning faculty members, Associate Professors (AP) after one promotion, and Professors (P), the highest rank, after another promotion.   The data below show faculty rank and gender for all continuing faculty members at one college in 2012. What is the contribution to the 2 statistic for female aP?</vt:lpstr>
      <vt:lpstr>Is there an association between faculty rank and gender?  For continuing faculty at many colleges, the ranks are Assistant Professor (aP) for beginning faculty members, Associate Professors (AP) after one promotion, and Professors (P), the highest rank, after another promotion.   The data below show faculty rank and gender for all continuing faculty members at one college in 2012. What is the 2 statistic?</vt:lpstr>
      <vt:lpstr>Is there an association between faculty rank and gender?  For continuing faculty at many colleges, the ranks are Assistant Professor (aP) for beginning faculty members, Associate Professors (AP) after one promotion, and Professors (P), the highest rank, after another promotion.   The data below show faculty rank and gender for all continuing faculty members at one college in 2012. What are the degrees of freedom?</vt:lpstr>
      <vt:lpstr>Is there an association between faculty rank and gender?  For continuing faculty at many colleges, the ranks are Assistant Professor (aP) for beginning faculty members, Associate Professors (AP) after one promotion, and Professors (P), the highest rank, after another promotion.   The data below show faculty rank and gender for all continuing faculty members at one college in 2012. What is the p-value?</vt:lpstr>
      <vt:lpstr>Is there an association between faculty rank and gender? What is the conclusion?</vt:lpstr>
      <vt:lpstr>Is there an association between faculty rank and gender? Which rank (aP, AP, or P) contributes the most to the 2 statistic, and what do the observed and expected counts tell us about that rank?</vt:lpstr>
      <vt:lpstr>Is there an association between faculty rank and gender?  For continuing faculty at many colleges, the ranks are Assistant Professor (aP) for beginning faculty members, Associate Professors (AP) after one promotion, and Professors (P), the highest rank, after another promotion.   The data below show faculty rank and gender for all continuing faculty members at one college in 2012. Can we conclude causation from this study?</vt:lpstr>
      <vt:lpstr>Metal Tags and Penguins</vt:lpstr>
      <vt:lpstr>PowerPoint Presentation</vt:lpstr>
      <vt:lpstr>PowerPoint Presentation</vt:lpstr>
      <vt:lpstr>Metal Tags and Penguins</vt:lpstr>
      <vt:lpstr>Two Categorical Variables with Two Categories Each (2x2 Table)</vt:lpstr>
      <vt:lpstr>Summary: Chi-square Tests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Kathryn Dobeck</dc:creator>
  <cp:lastModifiedBy>Kathryn Dobeck</cp:lastModifiedBy>
  <cp:revision>50</cp:revision>
  <dcterms:created xsi:type="dcterms:W3CDTF">2017-09-05T16:38:19Z</dcterms:created>
  <dcterms:modified xsi:type="dcterms:W3CDTF">2017-09-12T16:11:01Z</dcterms:modified>
</cp:coreProperties>
</file>