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xml" ContentType="application/vnd.openxmlformats-officedocument.presentationml.notesSlide+xml"/>
  <Override PartName="/ppt/tags/tag21.xml" ContentType="application/vnd.openxmlformats-officedocument.presentationml.tags+xml"/>
  <Override PartName="/ppt/tags/tag23.xml" ContentType="application/vnd.openxmlformats-officedocument.presentationml.tags+xml"/>
  <Override PartName="/ppt/notesSlides/notesSlide3.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4.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handoutMasterIdLst>
    <p:handoutMasterId r:id="rId44"/>
  </p:handoutMasterIdLst>
  <p:sldIdLst>
    <p:sldId id="347" r:id="rId2"/>
    <p:sldId id="262" r:id="rId3"/>
    <p:sldId id="263" r:id="rId4"/>
    <p:sldId id="264" r:id="rId5"/>
    <p:sldId id="266" r:id="rId6"/>
    <p:sldId id="322" r:id="rId7"/>
    <p:sldId id="323" r:id="rId8"/>
    <p:sldId id="324" r:id="rId9"/>
    <p:sldId id="325" r:id="rId10"/>
    <p:sldId id="319" r:id="rId11"/>
    <p:sldId id="320" r:id="rId12"/>
    <p:sldId id="321" r:id="rId13"/>
    <p:sldId id="326" r:id="rId14"/>
    <p:sldId id="343" r:id="rId15"/>
    <p:sldId id="327" r:id="rId16"/>
    <p:sldId id="328" r:id="rId17"/>
    <p:sldId id="267" r:id="rId18"/>
    <p:sldId id="344" r:id="rId19"/>
    <p:sldId id="346" r:id="rId20"/>
    <p:sldId id="338" r:id="rId21"/>
    <p:sldId id="339" r:id="rId22"/>
    <p:sldId id="340" r:id="rId23"/>
    <p:sldId id="345" r:id="rId24"/>
    <p:sldId id="274" r:id="rId25"/>
    <p:sldId id="275" r:id="rId26"/>
    <p:sldId id="296" r:id="rId27"/>
    <p:sldId id="278" r:id="rId28"/>
    <p:sldId id="279" r:id="rId29"/>
    <p:sldId id="282" r:id="rId30"/>
    <p:sldId id="304" r:id="rId31"/>
    <p:sldId id="305" r:id="rId32"/>
    <p:sldId id="314" r:id="rId33"/>
    <p:sldId id="306" r:id="rId34"/>
    <p:sldId id="311" r:id="rId35"/>
    <p:sldId id="312" r:id="rId36"/>
    <p:sldId id="307" r:id="rId37"/>
    <p:sldId id="315" r:id="rId38"/>
    <p:sldId id="313" r:id="rId39"/>
    <p:sldId id="316" r:id="rId40"/>
    <p:sldId id="341" r:id="rId41"/>
    <p:sldId id="342" r:id="rId42"/>
  </p:sldIdLst>
  <p:sldSz cx="9144000" cy="6858000" type="screen4x3"/>
  <p:notesSz cx="9296400" cy="7010400"/>
  <p:custDataLst>
    <p:tags r:id="rId4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8004"/>
    <a:srgbClr val="D85F04"/>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007" autoAdjust="0"/>
  </p:normalViewPr>
  <p:slideViewPr>
    <p:cSldViewPr>
      <p:cViewPr varScale="1">
        <p:scale>
          <a:sx n="81" d="100"/>
          <a:sy n="81" d="100"/>
        </p:scale>
        <p:origin x="-1488" y="-24"/>
      </p:cViewPr>
      <p:guideLst>
        <p:guide orient="horz" pos="2160"/>
        <p:guide pos="2880"/>
      </p:guideLst>
    </p:cSldViewPr>
  </p:slideViewPr>
  <p:notesTextViewPr>
    <p:cViewPr>
      <p:scale>
        <a:sx n="1" d="1"/>
        <a:sy n="1" d="1"/>
      </p:scale>
      <p:origin x="0" y="0"/>
    </p:cViewPr>
  </p:notesTextViewPr>
  <p:notesViewPr>
    <p:cSldViewPr>
      <p:cViewPr varScale="1">
        <p:scale>
          <a:sx n="73" d="100"/>
          <a:sy n="73" d="100"/>
        </p:scale>
        <p:origin x="-1692" y="-96"/>
      </p:cViewPr>
      <p:guideLst>
        <p:guide orient="horz" pos="2208"/>
        <p:guide pos="292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perspective val="3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shape val="box"/>
        <c:axId val="61328000"/>
        <c:axId val="62956288"/>
        <c:axId val="50095424"/>
      </c:bar3DChart>
      <c:catAx>
        <c:axId val="61328000"/>
        <c:scaling>
          <c:orientation val="minMax"/>
        </c:scaling>
        <c:delete val="0"/>
        <c:axPos val="b"/>
        <c:majorTickMark val="out"/>
        <c:minorTickMark val="none"/>
        <c:tickLblPos val="nextTo"/>
        <c:crossAx val="62956288"/>
        <c:crosses val="autoZero"/>
        <c:auto val="1"/>
        <c:lblAlgn val="ctr"/>
        <c:lblOffset val="100"/>
        <c:noMultiLvlLbl val="0"/>
      </c:catAx>
      <c:valAx>
        <c:axId val="62956288"/>
        <c:scaling>
          <c:orientation val="minMax"/>
        </c:scaling>
        <c:delete val="0"/>
        <c:axPos val="l"/>
        <c:majorGridlines/>
        <c:numFmt formatCode="General" sourceLinked="1"/>
        <c:majorTickMark val="out"/>
        <c:minorTickMark val="none"/>
        <c:tickLblPos val="nextTo"/>
        <c:crossAx val="61328000"/>
        <c:crosses val="autoZero"/>
        <c:crossBetween val="between"/>
      </c:valAx>
      <c:serAx>
        <c:axId val="50095424"/>
        <c:scaling>
          <c:orientation val="minMax"/>
        </c:scaling>
        <c:delete val="0"/>
        <c:axPos val="b"/>
        <c:majorTickMark val="out"/>
        <c:minorTickMark val="none"/>
        <c:tickLblPos val="nextTo"/>
        <c:crossAx val="62956288"/>
        <c:crosses val="autoZero"/>
      </c:ser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5265809" y="6658664"/>
            <a:ext cx="4028440" cy="350520"/>
          </a:xfrm>
          <a:prstGeom prst="rect">
            <a:avLst/>
          </a:prstGeom>
        </p:spPr>
        <p:txBody>
          <a:bodyPr vert="horz" lIns="93177" tIns="46589" rIns="93177" bIns="46589" rtlCol="0" anchor="b"/>
          <a:lstStyle>
            <a:lvl1pPr algn="r">
              <a:defRPr sz="1200"/>
            </a:lvl1pPr>
          </a:lstStyle>
          <a:p>
            <a:fld id="{43D62AB9-F5EA-4AEA-8840-1EB39596E9DC}" type="slidenum">
              <a:rPr lang="en-US" smtClean="0"/>
              <a:t>‹#›</a:t>
            </a:fld>
            <a:endParaRPr lang="en-US"/>
          </a:p>
        </p:txBody>
      </p:sp>
    </p:spTree>
    <p:extLst>
      <p:ext uri="{BB962C8B-B14F-4D97-AF65-F5344CB8AC3E}">
        <p14:creationId xmlns:p14="http://schemas.microsoft.com/office/powerpoint/2010/main" val="25417683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5265809" y="0"/>
            <a:ext cx="4028440" cy="350520"/>
          </a:xfrm>
          <a:prstGeom prst="rect">
            <a:avLst/>
          </a:prstGeom>
        </p:spPr>
        <p:txBody>
          <a:bodyPr vert="horz" lIns="93177" tIns="46589" rIns="93177" bIns="46589" rtlCol="0"/>
          <a:lstStyle>
            <a:lvl1pPr algn="r">
              <a:defRPr sz="1200"/>
            </a:lvl1pPr>
          </a:lstStyle>
          <a:p>
            <a:fld id="{74664615-560A-44EF-A281-858417E72950}" type="datetimeFigureOut">
              <a:rPr lang="en-US" smtClean="0"/>
              <a:t>6/28/2017</a:t>
            </a:fld>
            <a:endParaRPr lang="en-US"/>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929640" y="3329940"/>
            <a:ext cx="7437120" cy="3154680"/>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658664"/>
            <a:ext cx="4028440" cy="3505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5265809" y="6658664"/>
            <a:ext cx="4028440" cy="350520"/>
          </a:xfrm>
          <a:prstGeom prst="rect">
            <a:avLst/>
          </a:prstGeom>
        </p:spPr>
        <p:txBody>
          <a:bodyPr vert="horz" lIns="93177" tIns="46589" rIns="93177" bIns="46589" rtlCol="0" anchor="b"/>
          <a:lstStyle>
            <a:lvl1pPr algn="r">
              <a:defRPr sz="1200"/>
            </a:lvl1pPr>
          </a:lstStyle>
          <a:p>
            <a:fld id="{B999F2B7-000D-481E-9DFB-D49A37C8B9EF}" type="slidenum">
              <a:rPr lang="en-US" smtClean="0"/>
              <a:t>‹#›</a:t>
            </a:fld>
            <a:endParaRPr lang="en-US"/>
          </a:p>
        </p:txBody>
      </p:sp>
    </p:spTree>
    <p:extLst>
      <p:ext uri="{BB962C8B-B14F-4D97-AF65-F5344CB8AC3E}">
        <p14:creationId xmlns:p14="http://schemas.microsoft.com/office/powerpoint/2010/main" val="587118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99F2B7-000D-481E-9DFB-D49A37C8B9EF}" type="slidenum">
              <a:rPr lang="en-US" smtClean="0"/>
              <a:t>15</a:t>
            </a:fld>
            <a:endParaRPr lang="en-US"/>
          </a:p>
        </p:txBody>
      </p:sp>
    </p:spTree>
    <p:extLst>
      <p:ext uri="{BB962C8B-B14F-4D97-AF65-F5344CB8AC3E}">
        <p14:creationId xmlns:p14="http://schemas.microsoft.com/office/powerpoint/2010/main" val="2749269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99F2B7-000D-481E-9DFB-D49A37C8B9EF}" type="slidenum">
              <a:rPr lang="en-US" smtClean="0"/>
              <a:t>19</a:t>
            </a:fld>
            <a:endParaRPr lang="en-US"/>
          </a:p>
        </p:txBody>
      </p:sp>
    </p:spTree>
    <p:extLst>
      <p:ext uri="{BB962C8B-B14F-4D97-AF65-F5344CB8AC3E}">
        <p14:creationId xmlns:p14="http://schemas.microsoft.com/office/powerpoint/2010/main" val="3832164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99F2B7-000D-481E-9DFB-D49A37C8B9EF}" type="slidenum">
              <a:rPr lang="en-US" smtClean="0"/>
              <a:t>20</a:t>
            </a:fld>
            <a:endParaRPr lang="en-US"/>
          </a:p>
        </p:txBody>
      </p:sp>
    </p:spTree>
    <p:extLst>
      <p:ext uri="{BB962C8B-B14F-4D97-AF65-F5344CB8AC3E}">
        <p14:creationId xmlns:p14="http://schemas.microsoft.com/office/powerpoint/2010/main" val="1113666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881A71-1E8A-43E8-B5C2-524F1D0E2AC7}" type="slidenum">
              <a:rPr lang="en-US" smtClean="0"/>
              <a:pPr/>
              <a:t>23</a:t>
            </a:fld>
            <a:endParaRPr lang="en-US"/>
          </a:p>
        </p:txBody>
      </p:sp>
    </p:spTree>
    <p:extLst>
      <p:ext uri="{BB962C8B-B14F-4D97-AF65-F5344CB8AC3E}">
        <p14:creationId xmlns:p14="http://schemas.microsoft.com/office/powerpoint/2010/main" val="838205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a:prstGeom prst="rect">
            <a:avLst/>
          </a:prstGeom>
        </p:spPr>
        <p:txBody>
          <a:bodyPr>
            <a:noAutofit/>
          </a:bodyPr>
          <a:lstStyle>
            <a:lvl1pPr algn="ctr">
              <a:defRPr sz="2000">
                <a:solidFill>
                  <a:srgbClr val="FFFFFF"/>
                </a:solidFill>
              </a:defRPr>
            </a:lvl1pPr>
          </a:lstStyle>
          <a:p>
            <a:pPr algn="ctr" eaLnBrk="1" latinLnBrk="0" hangingPunct="1"/>
            <a:fld id="{23A271A1-F6D6-438B-A432-4747EE7ECD40}" type="datetimeFigureOut">
              <a:rPr lang="en-US" smtClean="0"/>
              <a:pPr algn="ctr" eaLnBrk="1" latinLnBrk="0" hangingPunct="1"/>
              <a:t>6/28/2017</a:t>
            </a:fld>
            <a:endParaRPr lang="en-US" sz="2000" dirty="0">
              <a:solidFill>
                <a:srgbClr val="FFFFFF"/>
              </a:solidFill>
            </a:endParaRPr>
          </a:p>
        </p:txBody>
      </p:sp>
      <p:sp>
        <p:nvSpPr>
          <p:cNvPr id="17" name="Footer Placeholder 16"/>
          <p:cNvSpPr>
            <a:spLocks noGrp="1"/>
          </p:cNvSpPr>
          <p:nvPr>
            <p:ph type="ftr" sz="quarter" idx="11"/>
          </p:nvPr>
        </p:nvSpPr>
        <p:spPr>
          <a:xfrm>
            <a:off x="2085393" y="236538"/>
            <a:ext cx="5867400" cy="365125"/>
          </a:xfrm>
          <a:prstGeom prst="rect">
            <a:avLst/>
          </a:prstGeom>
        </p:spPr>
        <p:txBody>
          <a:bodyPr/>
          <a:lstStyle>
            <a:lvl1pPr algn="r">
              <a:defRPr>
                <a:solidFill>
                  <a:schemeClr val="tx2"/>
                </a:solidFill>
              </a:defRPr>
            </a:lvl1pPr>
          </a:lstStyle>
          <a:p>
            <a:pPr algn="r" eaLnBrk="1" latinLnBrk="0" hangingPunct="1"/>
            <a:endParaRPr kumimoji="0" lang="en-US" dirty="0">
              <a:solidFill>
                <a:schemeClr val="tx2"/>
              </a:solidFill>
            </a:endParaRPr>
          </a:p>
        </p:txBody>
      </p:sp>
      <p:sp>
        <p:nvSpPr>
          <p:cNvPr id="29" name="Slide Number Placeholder 28"/>
          <p:cNvSpPr>
            <a:spLocks noGrp="1"/>
          </p:cNvSpPr>
          <p:nvPr>
            <p:ph type="sldNum" sz="quarter" idx="12"/>
          </p:nvPr>
        </p:nvSpPr>
        <p:spPr>
          <a:xfrm>
            <a:off x="8001000" y="228600"/>
            <a:ext cx="838200" cy="381000"/>
          </a:xfrm>
          <a:prstGeom prst="rect">
            <a:avLst/>
          </a:prstGeom>
        </p:spPr>
        <p:txBody>
          <a:bodyPr/>
          <a:lstStyle>
            <a:lvl1pPr>
              <a:defRPr>
                <a:solidFill>
                  <a:schemeClr val="tx2"/>
                </a:solidFill>
              </a:defRPr>
            </a:lvl1pPr>
          </a:lstStyle>
          <a:p>
            <a:fld id="{F0C94032-CD4C-4C25-B0C2-CEC720522D92}" type="slidenum">
              <a:rPr kumimoji="0" lang="en-US" smtClean="0"/>
              <a:pPr eaLnBrk="1" latinLnBrk="0" hangingPunct="1"/>
              <a:t>‹#›</a:t>
            </a:fld>
            <a:endParaRPr kumimoji="0" lang="en-US" dirty="0">
              <a:solidFill>
                <a:schemeClr val="tx2"/>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lvl1pPr>
              <a:defRPr b="1"/>
            </a:lvl1pPr>
          </a:lstStyle>
          <a:p>
            <a:r>
              <a:rPr kumimoji="0" lang="en-US" dirty="0" smtClean="0"/>
              <a:t>Click to edit Master title style</a:t>
            </a:r>
            <a:endParaRPr kumimoji="0" lang="en-US" dirty="0"/>
          </a:p>
        </p:txBody>
      </p:sp>
      <p:sp>
        <p:nvSpPr>
          <p:cNvPr id="6" name="Slide Number Placeholder 5"/>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endParaRPr kumimoji="0" lang="en-US" dirty="0">
              <a:solidFill>
                <a:srgbClr val="FFFFFF"/>
              </a:solidFill>
            </a:endParaRPr>
          </a:p>
        </p:txBody>
      </p:sp>
      <p:sp>
        <p:nvSpPr>
          <p:cNvPr id="8" name="Content Placeholder 7"/>
          <p:cNvSpPr>
            <a:spLocks noGrp="1"/>
          </p:cNvSpPr>
          <p:nvPr>
            <p:ph sz="quarter" idx="1"/>
          </p:nvPr>
        </p:nvSpPr>
        <p:spPr>
          <a:xfrm>
            <a:off x="0" y="1600200"/>
            <a:ext cx="9144000" cy="5257800"/>
          </a:xfrm>
        </p:spPr>
        <p:txBody>
          <a:bodyPr/>
          <a:lstStyle>
            <a:lvl1pPr>
              <a:defRPr sz="3200">
                <a:solidFill>
                  <a:schemeClr val="accent6">
                    <a:lumMod val="50000"/>
                  </a:schemeClr>
                </a:solidFill>
              </a:defRPr>
            </a:lvl1pPr>
            <a:lvl2pPr>
              <a:defRPr sz="3200">
                <a:solidFill>
                  <a:schemeClr val="accent6">
                    <a:lumMod val="50000"/>
                  </a:schemeClr>
                </a:solidFill>
              </a:defRPr>
            </a:lvl2pPr>
            <a:lvl3pPr>
              <a:defRPr sz="3200">
                <a:solidFill>
                  <a:schemeClr val="accent6">
                    <a:lumMod val="50000"/>
                  </a:schemeClr>
                </a:solidFill>
              </a:defRPr>
            </a:lvl3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6/28/2017</a:t>
            </a:fld>
            <a:endParaRPr lang="en-US"/>
          </a:p>
        </p:txBody>
      </p:sp>
      <p:sp>
        <p:nvSpPr>
          <p:cNvPr id="13" name="Slide Number Placeholder 12"/>
          <p:cNvSpPr>
            <a:spLocks noGrp="1"/>
          </p:cNvSpPr>
          <p:nvPr>
            <p:ph type="sldNum" sz="quarter" idx="11"/>
          </p:nvPr>
        </p:nvSpPr>
        <p:spPr>
          <a:xfrm>
            <a:off x="0" y="1752600"/>
            <a:ext cx="1295400" cy="701676"/>
          </a:xfrm>
          <a:prstGeom prst="rect">
            <a:avLst/>
          </a:prstGeom>
        </p:spPr>
        <p:txBody>
          <a:bodyPr>
            <a:noAutofit/>
          </a:bodyPr>
          <a:lstStyle>
            <a:lvl1pPr>
              <a:defRPr sz="2400">
                <a:solidFill>
                  <a:srgbClr val="FFFFFF"/>
                </a:solidFill>
              </a:defRPr>
            </a:lvl1pPr>
          </a:lstStyle>
          <a:p>
            <a:pPr algn="ctr" eaLnBrk="1" latinLnBrk="0" hangingPunct="1"/>
            <a:fld id="{F0C94032-CD4C-4C25-B0C2-CEC720522D92}" type="slidenum">
              <a:rPr kumimoji="0" lang="en-US" smtClean="0"/>
              <a:pPr algn="ctr" eaLnBrk="1" latinLnBrk="0" hangingPunct="1"/>
              <a:t>‹#›</a:t>
            </a:fld>
            <a:endParaRPr kumimoji="0" lang="en-US" sz="2400" dirty="0">
              <a:solidFill>
                <a:srgbClr val="FFFFFF"/>
              </a:solidFill>
            </a:endParaRPr>
          </a:p>
        </p:txBody>
      </p:sp>
      <p:sp>
        <p:nvSpPr>
          <p:cNvPr id="14" name="Footer Placeholder 13"/>
          <p:cNvSpPr>
            <a:spLocks noGrp="1"/>
          </p:cNvSpPr>
          <p:nvPr>
            <p:ph type="ftr" sz="quarter" idx="12"/>
          </p:nvPr>
        </p:nvSpPr>
        <p:spPr>
          <a:xfrm>
            <a:off x="609600" y="6248206"/>
            <a:ext cx="5421083" cy="365125"/>
          </a:xfrm>
          <a:prstGeom prst="rect">
            <a:avLst/>
          </a:prstGeom>
        </p:spPr>
        <p:txBody>
          <a:bodyPr/>
          <a:lstStyle/>
          <a:p>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a:xfrm>
            <a:off x="6096000" y="6248400"/>
            <a:ext cx="2667000" cy="365125"/>
          </a:xfrm>
          <a:prstGeom prst="rect">
            <a:avLst/>
          </a:prstGeom>
        </p:spPr>
        <p:txBody>
          <a:bodyPr rtlCol="0"/>
          <a:lstStyle/>
          <a:p>
            <a:pPr eaLnBrk="1" latinLnBrk="0" hangingPunct="1"/>
            <a:fld id="{23A271A1-F6D6-438B-A432-4747EE7ECD40}" type="datetimeFigureOut">
              <a:rPr lang="en-US" smtClean="0"/>
              <a:pPr eaLnBrk="1" latinLnBrk="0" hangingPunct="1"/>
              <a:t>6/28/2017</a:t>
            </a:fld>
            <a:endParaRPr lang="en-US"/>
          </a:p>
        </p:txBody>
      </p:sp>
      <p:sp>
        <p:nvSpPr>
          <p:cNvPr id="10" name="Slide Number Placeholder 9"/>
          <p:cNvSpPr>
            <a:spLocks noGrp="1"/>
          </p:cNvSpPr>
          <p:nvPr>
            <p:ph type="sldNum" sz="quarter" idx="16"/>
          </p:nvPr>
        </p:nvSpPr>
        <p:spPr>
          <a:xfrm>
            <a:off x="0" y="1272222"/>
            <a:ext cx="533400" cy="244476"/>
          </a:xfrm>
          <a:prstGeom prst="rect">
            <a:avLst/>
          </a:prstGeom>
        </p:spPr>
        <p:txBody>
          <a:bodyPr rtlCol="0"/>
          <a:lstStyle/>
          <a:p>
            <a:pPr algn="ctr" eaLnBrk="1" latinLnBrk="0" hangingPunct="1"/>
            <a:fld id="{F0C94032-CD4C-4C25-B0C2-CEC720522D92}" type="slidenum">
              <a:rPr kumimoji="0" lang="en-US" smtClean="0"/>
              <a:pPr algn="ctr" eaLnBrk="1" latinLnBrk="0" hangingPunct="1"/>
              <a:t>‹#›</a:t>
            </a:fld>
            <a:endParaRPr kumimoji="0" lang="en-US"/>
          </a:p>
        </p:txBody>
      </p:sp>
      <p:sp>
        <p:nvSpPr>
          <p:cNvPr id="12" name="Footer Placeholder 11"/>
          <p:cNvSpPr>
            <a:spLocks noGrp="1"/>
          </p:cNvSpPr>
          <p:nvPr>
            <p:ph type="ftr" sz="quarter" idx="17"/>
          </p:nvPr>
        </p:nvSpPr>
        <p:spPr>
          <a:xfrm>
            <a:off x="609600" y="6248206"/>
            <a:ext cx="5421083" cy="365125"/>
          </a:xfrm>
          <a:prstGeom prst="rect">
            <a:avLst/>
          </a:prstGeom>
        </p:spPr>
        <p:txBody>
          <a:bodyPr rtlCol="0"/>
          <a:lstStyle/>
          <a:p>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a:xfrm>
            <a:off x="6096000" y="6248400"/>
            <a:ext cx="2667000" cy="365125"/>
          </a:xfrm>
          <a:prstGeom prst="rect">
            <a:avLst/>
          </a:prstGeom>
        </p:spPr>
        <p:txBody>
          <a:bodyPr rtlCol="0"/>
          <a:lstStyle/>
          <a:p>
            <a:pPr eaLnBrk="1" latinLnBrk="0" hangingPunct="1"/>
            <a:fld id="{23A271A1-F6D6-438B-A432-4747EE7ECD40}" type="datetimeFigureOut">
              <a:rPr lang="en-US" smtClean="0"/>
              <a:pPr eaLnBrk="1" latinLnBrk="0" hangingPunct="1"/>
              <a:t>6/28/2017</a:t>
            </a:fld>
            <a:endParaRPr lang="en-US"/>
          </a:p>
        </p:txBody>
      </p:sp>
      <p:sp>
        <p:nvSpPr>
          <p:cNvPr id="12" name="Slide Number Placeholder 11"/>
          <p:cNvSpPr>
            <a:spLocks noGrp="1"/>
          </p:cNvSpPr>
          <p:nvPr>
            <p:ph type="sldNum" sz="quarter" idx="16"/>
          </p:nvPr>
        </p:nvSpPr>
        <p:spPr>
          <a:xfrm>
            <a:off x="0" y="1272222"/>
            <a:ext cx="533400" cy="244476"/>
          </a:xfrm>
          <a:prstGeom prst="rect">
            <a:avLst/>
          </a:prstGeom>
        </p:spPr>
        <p:txBody>
          <a:bodyPr rtlCol="0"/>
          <a:lstStyle/>
          <a:p>
            <a:pPr algn="ctr" eaLnBrk="1" latinLnBrk="0" hangingPunct="1"/>
            <a:fld id="{F0C94032-CD4C-4C25-B0C2-CEC720522D92}" type="slidenum">
              <a:rPr kumimoji="0" lang="en-US" smtClean="0"/>
              <a:pPr algn="ctr" eaLnBrk="1" latinLnBrk="0" hangingPunct="1"/>
              <a:t>‹#›</a:t>
            </a:fld>
            <a:endParaRPr kumimoji="0" lang="en-US"/>
          </a:p>
        </p:txBody>
      </p:sp>
      <p:sp>
        <p:nvSpPr>
          <p:cNvPr id="14" name="Footer Placeholder 13"/>
          <p:cNvSpPr>
            <a:spLocks noGrp="1"/>
          </p:cNvSpPr>
          <p:nvPr>
            <p:ph type="ftr" sz="quarter" idx="17"/>
          </p:nvPr>
        </p:nvSpPr>
        <p:spPr>
          <a:xfrm>
            <a:off x="609600" y="6248206"/>
            <a:ext cx="5421083" cy="365125"/>
          </a:xfrm>
          <a:prstGeom prst="rect">
            <a:avLst/>
          </a:prstGeom>
        </p:spPr>
        <p:txBody>
          <a:bodyPr rtlCol="0"/>
          <a:lstStyle/>
          <a:p>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6/28/2017</a:t>
            </a:fld>
            <a:endParaRPr lang="en-US"/>
          </a:p>
        </p:txBody>
      </p:sp>
      <p:sp>
        <p:nvSpPr>
          <p:cNvPr id="4" name="Footer Placeholder 3"/>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5" name="Slide Number Placeholder 4"/>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6/28/2017</a:t>
            </a:fld>
            <a:endParaRPr lang="en-US"/>
          </a:p>
        </p:txBody>
      </p:sp>
      <p:sp>
        <p:nvSpPr>
          <p:cNvPr id="3" name="Footer Placeholder 2"/>
          <p:cNvSpPr>
            <a:spLocks noGrp="1"/>
          </p:cNvSpPr>
          <p:nvPr>
            <p:ph type="ftr" sz="quarter" idx="11"/>
          </p:nvPr>
        </p:nvSpPr>
        <p:spPr>
          <a:xfrm>
            <a:off x="609600" y="6248206"/>
            <a:ext cx="5421083" cy="365125"/>
          </a:xfrm>
          <a:prstGeom prst="rect">
            <a:avLst/>
          </a:prstGeom>
        </p:spPr>
        <p:txBody>
          <a:bodyPr/>
          <a:lstStyle/>
          <a:p>
            <a:endParaRPr kumimoji="0" lang="en-US" dirty="0"/>
          </a:p>
        </p:txBody>
      </p:sp>
      <p:sp>
        <p:nvSpPr>
          <p:cNvPr id="4" name="Slide Number Placeholder 3"/>
          <p:cNvSpPr>
            <a:spLocks noGrp="1"/>
          </p:cNvSpPr>
          <p:nvPr>
            <p:ph type="sldNum" sz="quarter" idx="12"/>
          </p:nvPr>
        </p:nvSpPr>
        <p:spPr>
          <a:xfrm>
            <a:off x="0" y="6248400"/>
            <a:ext cx="533400" cy="381000"/>
          </a:xfrm>
          <a:prstGeom prst="rect">
            <a:avLst/>
          </a:prstGeom>
        </p:spPr>
        <p:txBody>
          <a:bodyPr/>
          <a:lstStyle>
            <a:lvl1pPr>
              <a:defRPr>
                <a:solidFill>
                  <a:schemeClr val="tx2"/>
                </a:solidFill>
              </a:defRPr>
            </a:lvl1pPr>
          </a:lstStyle>
          <a:p>
            <a:fld id="{F0C94032-CD4C-4C25-B0C2-CEC720522D92}" type="slidenum">
              <a:rPr kumimoji="0" lang="en-US" smtClean="0"/>
              <a:pPr eaLnBrk="1" latinLnBrk="0" hangingPunct="1"/>
              <a:t>‹#›</a:t>
            </a:fld>
            <a:endParaRPr kumimoji="0"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6/28/2017</a:t>
            </a:fld>
            <a:endParaRPr lang="en-US"/>
          </a:p>
        </p:txBody>
      </p:sp>
      <p:sp>
        <p:nvSpPr>
          <p:cNvPr id="6" name="Footer Placeholder 5"/>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7" name="Slide Number Placeholder 6"/>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a:prstGeom prst="rect">
            <a:avLst/>
          </a:prstGeom>
        </p:spPr>
        <p:txBody>
          <a:bodyPr rtlCol="0"/>
          <a:lstStyle/>
          <a:p>
            <a:pPr eaLnBrk="1" latinLnBrk="0" hangingPunct="1"/>
            <a:fld id="{23A271A1-F6D6-438B-A432-4747EE7ECD40}" type="datetimeFigureOut">
              <a:rPr lang="en-US" smtClean="0"/>
              <a:pPr eaLnBrk="1" latinLnBrk="0" hangingPunct="1"/>
              <a:t>6/28/2017</a:t>
            </a:fld>
            <a:endParaRPr lang="en-US"/>
          </a:p>
        </p:txBody>
      </p:sp>
      <p:sp>
        <p:nvSpPr>
          <p:cNvPr id="13" name="Slide Number Placeholder 12"/>
          <p:cNvSpPr>
            <a:spLocks noGrp="1"/>
          </p:cNvSpPr>
          <p:nvPr>
            <p:ph type="sldNum" sz="quarter" idx="11"/>
          </p:nvPr>
        </p:nvSpPr>
        <p:spPr>
          <a:xfrm>
            <a:off x="0" y="4667249"/>
            <a:ext cx="1447800" cy="663578"/>
          </a:xfrm>
          <a:prstGeom prst="rect">
            <a:avLst/>
          </a:prstGeom>
        </p:spPr>
        <p:txBody>
          <a:bodyPr rtlCol="0"/>
          <a:lstStyle>
            <a:lvl1pPr>
              <a:defRPr sz="2800"/>
            </a:lvl1pPr>
          </a:lstStyle>
          <a:p>
            <a:pPr algn="ctr" eaLnBrk="1" latinLnBrk="0" hangingPunct="1"/>
            <a:fld id="{F0C94032-CD4C-4C25-B0C2-CEC720522D92}" type="slidenum">
              <a:rPr kumimoji="0" lang="en-US" smtClean="0"/>
              <a:pPr algn="ctr" eaLnBrk="1" latinLnBrk="0" hangingPunct="1"/>
              <a:t>‹#›</a:t>
            </a:fld>
            <a:endParaRPr kumimoji="0" lang="en-US" sz="2800" dirty="0"/>
          </a:p>
        </p:txBody>
      </p:sp>
      <p:sp>
        <p:nvSpPr>
          <p:cNvPr id="14" name="Footer Placeholder 13"/>
          <p:cNvSpPr>
            <a:spLocks noGrp="1"/>
          </p:cNvSpPr>
          <p:nvPr>
            <p:ph type="ftr" sz="quarter" idx="12"/>
          </p:nvPr>
        </p:nvSpPr>
        <p:spPr>
          <a:xfrm>
            <a:off x="1600200" y="6248206"/>
            <a:ext cx="4572000" cy="365125"/>
          </a:xfrm>
          <a:prstGeom prst="rect">
            <a:avLst/>
          </a:prstGeom>
        </p:spPr>
        <p:txBody>
          <a:bodyPr rtlCol="0"/>
          <a:lstStyle/>
          <a:p>
            <a:endParaRPr kumimoji="0"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6/28/2017</a:t>
            </a:fld>
            <a:endParaRPr lang="en-US"/>
          </a:p>
        </p:txBody>
      </p:sp>
      <p:sp>
        <p:nvSpPr>
          <p:cNvPr id="5" name="Footer Placeholder 4"/>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0" y="1272222"/>
            <a:ext cx="533400" cy="244476"/>
          </a:xfrm>
          <a:prstGeom prst="rect">
            <a:avLst/>
          </a:prstGeom>
        </p:spPr>
        <p:txBody>
          <a:bodyPr/>
          <a:lstStyle/>
          <a:p>
            <a:fld id="{F0C94032-CD4C-4C25-B0C2-CEC720522D92}"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a:prstGeom prst="rect">
            <a:avLst/>
          </a:prstGeom>
        </p:spPr>
        <p:txBody>
          <a:bodyPr/>
          <a:lstStyle/>
          <a:p>
            <a:pPr eaLnBrk="1" latinLnBrk="0" hangingPunct="1"/>
            <a:fld id="{23A271A1-F6D6-438B-A432-4747EE7ECD40}" type="datetimeFigureOut">
              <a:rPr lang="en-US" smtClean="0"/>
              <a:pPr eaLnBrk="1" latinLnBrk="0" hangingPunct="1"/>
              <a:t>6/28/2017</a:t>
            </a:fld>
            <a:endParaRPr lang="en-US" dirty="0"/>
          </a:p>
        </p:txBody>
      </p:sp>
      <p:sp>
        <p:nvSpPr>
          <p:cNvPr id="5" name="Footer Placeholder 4"/>
          <p:cNvSpPr>
            <a:spLocks noGrp="1"/>
          </p:cNvSpPr>
          <p:nvPr>
            <p:ph type="ftr" sz="quarter" idx="11"/>
          </p:nvPr>
        </p:nvSpPr>
        <p:spPr>
          <a:xfrm>
            <a:off x="457201" y="6248207"/>
            <a:ext cx="5573483" cy="365125"/>
          </a:xfrm>
          <a:prstGeom prst="rect">
            <a:avLst/>
          </a:prstGeom>
        </p:spPr>
        <p:txBody>
          <a:bodyPr/>
          <a:lstStyle/>
          <a:p>
            <a:endParaRPr kumimoji="0"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a:prstGeom prst="rect">
            <a:avLst/>
          </a:prstGeom>
        </p:spPr>
        <p:txBody>
          <a:bodyPr/>
          <a:lstStyle/>
          <a:p>
            <a:fld id="{F0C94032-CD4C-4C25-B0C2-CEC720522D92}" type="slidenum">
              <a:rPr kumimoji="0" lang="en-US" smtClean="0"/>
              <a:pPr eaLnBrk="1" latinLnBrk="0" hangingPunct="1"/>
              <a:t>‹#›</a:t>
            </a:fld>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o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12"/>
          <p:cNvSpPr>
            <a:spLocks noGrp="1"/>
          </p:cNvSpPr>
          <p:nvPr>
            <p:ph idx="1"/>
          </p:nvPr>
        </p:nvSpPr>
        <p:spPr>
          <a:xfrm>
            <a:off x="1257300" y="1676400"/>
            <a:ext cx="6629400" cy="1759458"/>
          </a:xfrm>
          <a:prstGeom prst="rect">
            <a:avLst/>
          </a:prstGeom>
          <a:ln w="76200" cmpd="thickThin">
            <a:solidFill>
              <a:schemeClr val="accent1"/>
            </a:solidFill>
          </a:ln>
        </p:spPr>
        <p:txBody>
          <a:bodyPr vert="horz" anchor="ctr">
            <a:normAutofit/>
          </a:bodyPr>
          <a:lstStyle>
            <a:lvl1pPr marL="0" indent="0" algn="ctr">
              <a:spcBef>
                <a:spcPts val="0"/>
              </a:spcBef>
              <a:spcAft>
                <a:spcPts val="1800"/>
              </a:spcAft>
              <a:buNone/>
              <a:defRPr sz="3200"/>
            </a:lvl1pPr>
            <a:lvl2pPr>
              <a:defRPr sz="2800"/>
            </a:lvl2pPr>
            <a:lvl3pPr>
              <a:defRPr sz="2400"/>
            </a:lvl3pPr>
            <a:lvl4pPr>
              <a:defRPr sz="2000"/>
            </a:lvl4pPr>
          </a:lstStyle>
          <a:p>
            <a:pPr lvl="0" eaLnBrk="1" latinLnBrk="0" hangingPunct="1"/>
            <a:r>
              <a:rPr kumimoji="0" lang="en-US" smtClean="0"/>
              <a:t>Click to edit Master text styles</a:t>
            </a:r>
          </a:p>
        </p:txBody>
      </p:sp>
      <p:sp>
        <p:nvSpPr>
          <p:cNvPr id="5" name="Text Placeholder 12"/>
          <p:cNvSpPr>
            <a:spLocks noGrp="1"/>
          </p:cNvSpPr>
          <p:nvPr>
            <p:ph idx="10"/>
          </p:nvPr>
        </p:nvSpPr>
        <p:spPr>
          <a:xfrm>
            <a:off x="304800" y="3962400"/>
            <a:ext cx="8534400" cy="1219200"/>
          </a:xfrm>
          <a:prstGeom prst="rect">
            <a:avLst/>
          </a:prstGeom>
        </p:spPr>
        <p:txBody>
          <a:bodyPr vert="horz">
            <a:normAutofit/>
          </a:bodyPr>
          <a:lstStyle>
            <a:lvl1pPr>
              <a:spcBef>
                <a:spcPts val="0"/>
              </a:spcBef>
              <a:spcAft>
                <a:spcPts val="1800"/>
              </a:spcAft>
              <a:defRPr/>
            </a:lvl1p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Tree>
    <p:extLst>
      <p:ext uri="{BB962C8B-B14F-4D97-AF65-F5344CB8AC3E}">
        <p14:creationId xmlns:p14="http://schemas.microsoft.com/office/powerpoint/2010/main" val="2398976156"/>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licker">
    <p:spTree>
      <p:nvGrpSpPr>
        <p:cNvPr id="1" name=""/>
        <p:cNvGrpSpPr/>
        <p:nvPr/>
      </p:nvGrpSpPr>
      <p:grpSpPr>
        <a:xfrm>
          <a:off x="0" y="0"/>
          <a:ext cx="0" cy="0"/>
          <a:chOff x="0" y="0"/>
          <a:chExt cx="0" cy="0"/>
        </a:xfrm>
      </p:grpSpPr>
      <p:sp>
        <p:nvSpPr>
          <p:cNvPr id="2" name="Title 1"/>
          <p:cNvSpPr>
            <a:spLocks noGrp="1"/>
          </p:cNvSpPr>
          <p:nvPr>
            <p:ph type="title"/>
          </p:nvPr>
        </p:nvSpPr>
        <p:spPr>
          <a:xfrm>
            <a:off x="1319784" y="152400"/>
            <a:ext cx="7290816" cy="762000"/>
          </a:xfrm>
        </p:spPr>
        <p:txBody>
          <a:bodyPr>
            <a:normAutofit/>
          </a:bodyPr>
          <a:lstStyle>
            <a:lvl1pPr>
              <a:defRPr sz="4000" b="1"/>
            </a:lvl1pPr>
          </a:lstStyle>
          <a:p>
            <a:r>
              <a:rPr lang="en-US" smtClean="0"/>
              <a:t>Click to edit Master title style</a:t>
            </a:r>
            <a:endParaRPr lang="en-US" dirty="0"/>
          </a:p>
        </p:txBody>
      </p:sp>
      <p:pic>
        <p:nvPicPr>
          <p:cNvPr id="4" name="Picture 2" descr="http://t3.gstatic.com/images?q=tbn:ANd9GcTYmiLh9B_aVjviHh1xZIewSwIAVBJM6GGUwjQGMknDgt1O3VWWMFpakkXX"/>
          <p:cNvPicPr>
            <a:picLocks noChangeAspect="1" noChangeArrowheads="1"/>
          </p:cNvPicPr>
          <p:nvPr userDrawn="1"/>
        </p:nvPicPr>
        <p:blipFill>
          <a:blip r:embed="rId2" cstate="print"/>
          <a:srcRect t="17160" b="8480"/>
          <a:stretch>
            <a:fillRect/>
          </a:stretch>
        </p:blipFill>
        <p:spPr bwMode="auto">
          <a:xfrm>
            <a:off x="173736" y="173736"/>
            <a:ext cx="1066800" cy="990600"/>
          </a:xfrm>
          <a:prstGeom prst="rect">
            <a:avLst/>
          </a:prstGeom>
          <a:noFill/>
        </p:spPr>
      </p:pic>
      <p:sp>
        <p:nvSpPr>
          <p:cNvPr id="9" name="Text Placeholder 12"/>
          <p:cNvSpPr>
            <a:spLocks noGrp="1"/>
          </p:cNvSpPr>
          <p:nvPr>
            <p:ph idx="1"/>
          </p:nvPr>
        </p:nvSpPr>
        <p:spPr>
          <a:xfrm>
            <a:off x="301752" y="1371600"/>
            <a:ext cx="8534400" cy="2209800"/>
          </a:xfrm>
          <a:prstGeom prst="rect">
            <a:avLst/>
          </a:prstGeom>
        </p:spPr>
        <p:txBody>
          <a:bodyPr vert="horz">
            <a:normAutofit/>
          </a:bodyPr>
          <a:lstStyle>
            <a:lvl1pPr marL="0" indent="0">
              <a:spcBef>
                <a:spcPts val="0"/>
              </a:spcBef>
              <a:spcAft>
                <a:spcPts val="1800"/>
              </a:spcAft>
              <a:buNone/>
              <a:defRPr sz="3200"/>
            </a:lvl1pPr>
            <a:lvl2pPr>
              <a:spcBef>
                <a:spcPts val="0"/>
              </a:spcBef>
              <a:spcAft>
                <a:spcPts val="1800"/>
              </a:spcAft>
              <a:defRPr sz="2800"/>
            </a:lvl2pPr>
            <a:lvl3pPr>
              <a:spcBef>
                <a:spcPts val="0"/>
              </a:spcBef>
              <a:spcAft>
                <a:spcPts val="1800"/>
              </a:spcAft>
              <a:defRPr sz="2400"/>
            </a:lvl3pPr>
            <a:lvl4pPr>
              <a:spcBef>
                <a:spcPts val="0"/>
              </a:spcBef>
              <a:spcAft>
                <a:spcPts val="1800"/>
              </a:spcAft>
              <a:defRPr sz="2000"/>
            </a:lvl4pPr>
            <a:lvl5pPr>
              <a:spcBef>
                <a:spcPts val="0"/>
              </a:spcBef>
              <a:spcAft>
                <a:spcPts val="1800"/>
              </a:spcAft>
              <a:defRPr/>
            </a:lvl5p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
        <p:nvSpPr>
          <p:cNvPr id="10" name="Text Placeholder 12"/>
          <p:cNvSpPr>
            <a:spLocks noGrp="1"/>
          </p:cNvSpPr>
          <p:nvPr>
            <p:ph idx="13"/>
          </p:nvPr>
        </p:nvSpPr>
        <p:spPr>
          <a:xfrm>
            <a:off x="1143000" y="3886200"/>
            <a:ext cx="7568680" cy="2161032"/>
          </a:xfrm>
          <a:prstGeom prst="rect">
            <a:avLst/>
          </a:prstGeom>
        </p:spPr>
        <p:txBody>
          <a:bodyPr vert="horz">
            <a:normAutofit/>
          </a:bodyPr>
          <a:lstStyle>
            <a:lvl1pPr marL="0" indent="0">
              <a:spcBef>
                <a:spcPts val="0"/>
              </a:spcBef>
              <a:spcAft>
                <a:spcPts val="0"/>
              </a:spcAft>
              <a:buFont typeface="+mj-lt"/>
              <a:buAutoNum type="alphaLcParenR"/>
              <a:defRPr sz="3200"/>
            </a:lvl1pPr>
            <a:lvl2pPr>
              <a:defRPr sz="2800"/>
            </a:lvl2pPr>
            <a:lvl3pPr>
              <a:defRPr sz="2400"/>
            </a:lvl3pPr>
            <a:lvl4pPr>
              <a:defRPr sz="2000"/>
            </a:lvl4pPr>
          </a:lstStyle>
          <a:p>
            <a:pPr lvl="0" eaLnBrk="1" latinLnBrk="0" hangingPunct="1"/>
            <a:r>
              <a:rPr kumimoji="0" lang="en-US" smtClean="0"/>
              <a:t>Click to edit Master text styles</a:t>
            </a:r>
          </a:p>
        </p:txBody>
      </p:sp>
      <p:sp>
        <p:nvSpPr>
          <p:cNvPr id="11" name="Text Placeholder 12"/>
          <p:cNvSpPr>
            <a:spLocks noGrp="1"/>
          </p:cNvSpPr>
          <p:nvPr>
            <p:ph idx="14"/>
          </p:nvPr>
        </p:nvSpPr>
        <p:spPr>
          <a:xfrm>
            <a:off x="5181600" y="4114800"/>
            <a:ext cx="3733800" cy="2057400"/>
          </a:xfrm>
          <a:prstGeom prst="rect">
            <a:avLst/>
          </a:prstGeom>
        </p:spPr>
        <p:txBody>
          <a:bodyPr vert="horz">
            <a:normAutofit/>
          </a:bodyPr>
          <a:lstStyle>
            <a:lvl1pPr marL="0" indent="0">
              <a:buNone/>
              <a:defRPr sz="2400">
                <a:solidFill>
                  <a:schemeClr val="accent1"/>
                </a:solidFill>
                <a:latin typeface="Segoe Print" pitchFamily="2" charset="0"/>
              </a:defRPr>
            </a:lvl1pPr>
            <a:lvl2pPr marL="274320" indent="0">
              <a:buNone/>
              <a:defRPr sz="2800">
                <a:solidFill>
                  <a:schemeClr val="accent1"/>
                </a:solidFill>
                <a:latin typeface="Segoe Print" pitchFamily="2" charset="0"/>
              </a:defRPr>
            </a:lvl2pPr>
            <a:lvl3pPr marL="594360" indent="0">
              <a:buNone/>
              <a:defRPr sz="2400">
                <a:solidFill>
                  <a:schemeClr val="accent1"/>
                </a:solidFill>
                <a:latin typeface="Segoe Print" pitchFamily="2" charset="0"/>
              </a:defRPr>
            </a:lvl3pPr>
            <a:lvl4pPr marL="868680" indent="0">
              <a:buNone/>
              <a:defRPr sz="2000">
                <a:solidFill>
                  <a:schemeClr val="accent1"/>
                </a:solidFill>
                <a:latin typeface="Segoe Print" pitchFamily="2" charset="0"/>
              </a:defRPr>
            </a:lvl4pPr>
            <a:lvl5pPr marL="1143000" indent="0">
              <a:buNone/>
              <a:defRPr>
                <a:solidFill>
                  <a:schemeClr val="accent1"/>
                </a:solidFill>
                <a:latin typeface="Segoe Print" pitchFamily="2" charset="0"/>
              </a:defRPr>
            </a:lvl5pPr>
          </a:lstStyle>
          <a:p>
            <a:pPr lvl="0" eaLnBrk="1" latinLnBrk="0" hangingPunct="1"/>
            <a:r>
              <a:rPr kumimoji="0" lang="en-US" smtClean="0"/>
              <a:t>Click to edit Master text styles</a:t>
            </a:r>
          </a:p>
        </p:txBody>
      </p:sp>
    </p:spTree>
    <p:extLst>
      <p:ext uri="{BB962C8B-B14F-4D97-AF65-F5344CB8AC3E}">
        <p14:creationId xmlns:p14="http://schemas.microsoft.com/office/powerpoint/2010/main" val="401839787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004727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POnTheFly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graphicFrame>
        <p:nvGraphicFramePr>
          <p:cNvPr id="3" name="TPChart" hidden="1"/>
          <p:cNvGraphicFramePr/>
          <p:nvPr userDrawn="1">
            <p:extLst>
              <p:ext uri="{D42A27DB-BD31-4B8C-83A1-F6EECF244321}">
                <p14:modId xmlns:p14="http://schemas.microsoft.com/office/powerpoint/2010/main" val="2661450254"/>
              </p:ext>
            </p:extLst>
          </p:nvPr>
        </p:nvGraphicFramePr>
        <p:xfrm>
          <a:off x="6350000" y="1600200"/>
          <a:ext cx="2540000" cy="254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77053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4354" y="1508760"/>
            <a:ext cx="9139646" cy="5349240"/>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iming>
    <p:tnLst>
      <p:par>
        <p:cTn id="1" dur="indefinite" restart="never" nodeType="tmRoot"/>
      </p:par>
    </p:tnLst>
  </p:timing>
  <p:txStyles>
    <p:titleStyle>
      <a:lvl1pPr algn="l" rtl="0" eaLnBrk="1" latinLnBrk="0" hangingPunct="1">
        <a:spcBef>
          <a:spcPct val="0"/>
        </a:spcBef>
        <a:buNone/>
        <a:defRPr kumimoji="0" sz="4400" b="1"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3200" kern="1200">
          <a:solidFill>
            <a:schemeClr val="accent6">
              <a:lumMod val="50000"/>
            </a:schemeClr>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3200" kern="1200">
          <a:solidFill>
            <a:schemeClr val="accent6">
              <a:lumMod val="50000"/>
            </a:schemeClr>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3200" kern="1200">
          <a:solidFill>
            <a:schemeClr val="accent6">
              <a:lumMod val="50000"/>
            </a:schemeClr>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tags" Target="../tags/tag4.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Layout" Target="../slideLayouts/slideLayout12.xml"/><Relationship Id="rId1" Type="http://schemas.openxmlformats.org/officeDocument/2006/relationships/tags" Target="../tags/tag6.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 Id="rId6"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vmlDrawing" Target="../drawings/vmlDrawing1.vml"/><Relationship Id="rId6" Type="http://schemas.openxmlformats.org/officeDocument/2006/relationships/image" Target="../media/image8.png"/><Relationship Id="rId5" Type="http://schemas.openxmlformats.org/officeDocument/2006/relationships/image" Target="../media/image7.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tags" Target="../tags/tag12.xml"/><Relationship Id="rId4" Type="http://schemas.openxmlformats.org/officeDocument/2006/relationships/image" Target="../media/image150.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2.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8.png"/><Relationship Id="rId2" Type="http://schemas.openxmlformats.org/officeDocument/2006/relationships/tags" Target="../tags/tag14.xml"/><Relationship Id="rId1" Type="http://schemas.openxmlformats.org/officeDocument/2006/relationships/vmlDrawing" Target="../drawings/vmlDrawing2.vml"/><Relationship Id="rId6" Type="http://schemas.openxmlformats.org/officeDocument/2006/relationships/image" Target="../media/image11.wmf"/><Relationship Id="rId5" Type="http://schemas.openxmlformats.org/officeDocument/2006/relationships/oleObject" Target="../embeddings/oleObject2.bin"/><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6.xml"/><Relationship Id="rId1" Type="http://schemas.openxmlformats.org/officeDocument/2006/relationships/vmlDrawing" Target="../drawings/vmlDrawing3.vml"/><Relationship Id="rId6" Type="http://schemas.openxmlformats.org/officeDocument/2006/relationships/image" Target="../media/image12.wmf"/><Relationship Id="rId5" Type="http://schemas.openxmlformats.org/officeDocument/2006/relationships/oleObject" Target="../embeddings/oleObject3.bin"/><Relationship Id="rId4"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hyperlink" Target="http://lock5stat.com/statkey/descriptive_2_quant/descriptive_2_quant.html" TargetMode="External"/><Relationship Id="rId2" Type="http://schemas.openxmlformats.org/officeDocument/2006/relationships/slideLayout" Target="../slideLayouts/slideLayout7.xml"/><Relationship Id="rId1" Type="http://schemas.openxmlformats.org/officeDocument/2006/relationships/tags" Target="../tags/tag18.xml"/><Relationship Id="rId5" Type="http://schemas.openxmlformats.org/officeDocument/2006/relationships/image" Target="../media/image13.png"/><Relationship Id="rId4" Type="http://schemas.openxmlformats.org/officeDocument/2006/relationships/image" Target="../media/image100.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16.emf"/></Relationships>
</file>

<file path=ppt/slides/_rels/slide19.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slideLayout" Target="../slideLayouts/slideLayout7.xml"/><Relationship Id="rId7" Type="http://schemas.openxmlformats.org/officeDocument/2006/relationships/tags" Target="../tags/tag20.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notesSlide" Target="../notesSlides/notesSlide2.xml"/><Relationship Id="rId9" Type="http://schemas.openxmlformats.org/officeDocument/2006/relationships/image" Target="../media/image211.png"/></Relationships>
</file>

<file path=ppt/slides/_rels/slide20.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image" Target="../media/image17.wmf"/><Relationship Id="rId2" Type="http://schemas.openxmlformats.org/officeDocument/2006/relationships/tags" Target="../tags/tag21.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notesSlide" Target="../notesSlides/notesSlide3.xml"/><Relationship Id="rId4"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vmlDrawing" Target="../drawings/vmlDrawing5.vml"/><Relationship Id="rId6" Type="http://schemas.openxmlformats.org/officeDocument/2006/relationships/image" Target="../media/image17.wmf"/><Relationship Id="rId5" Type="http://schemas.openxmlformats.org/officeDocument/2006/relationships/oleObject" Target="../embeddings/oleObject5.bin"/><Relationship Id="rId4"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vmlDrawing" Target="../drawings/vmlDrawing6.vml"/><Relationship Id="rId6" Type="http://schemas.openxmlformats.org/officeDocument/2006/relationships/image" Target="../media/image17.wmf"/><Relationship Id="rId5" Type="http://schemas.openxmlformats.org/officeDocument/2006/relationships/oleObject" Target="../embeddings/oleObject6.bin"/><Relationship Id="rId4"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tags" Target="../tags/tag29.xml"/><Relationship Id="rId7" Type="http://schemas.openxmlformats.org/officeDocument/2006/relationships/image" Target="../media/image17.wmf"/><Relationship Id="rId2" Type="http://schemas.openxmlformats.org/officeDocument/2006/relationships/tags" Target="../tags/tag28.xml"/><Relationship Id="rId1" Type="http://schemas.openxmlformats.org/officeDocument/2006/relationships/vmlDrawing" Target="../drawings/vmlDrawing7.vml"/><Relationship Id="rId6" Type="http://schemas.openxmlformats.org/officeDocument/2006/relationships/oleObject" Target="../embeddings/oleObject7.bin"/><Relationship Id="rId5" Type="http://schemas.openxmlformats.org/officeDocument/2006/relationships/notesSlide" Target="../notesSlides/notesSlide4.xml"/><Relationship Id="rId4"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10.png"/><Relationship Id="rId2" Type="http://schemas.openxmlformats.org/officeDocument/2006/relationships/tags" Target="../tags/tag31.xml"/><Relationship Id="rId1" Type="http://schemas.openxmlformats.org/officeDocument/2006/relationships/tags" Target="../tags/tag30.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7.xml"/><Relationship Id="rId1" Type="http://schemas.openxmlformats.org/officeDocument/2006/relationships/tags" Target="../tags/tag3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7.xml"/><Relationship Id="rId1" Type="http://schemas.openxmlformats.org/officeDocument/2006/relationships/tags" Target="../tags/tag35.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7.xml"/><Relationship Id="rId1" Type="http://schemas.openxmlformats.org/officeDocument/2006/relationships/tags" Target="../tags/tag36.xml"/><Relationship Id="rId6" Type="http://schemas.openxmlformats.org/officeDocument/2006/relationships/image" Target="../media/image25.emf"/><Relationship Id="rId5" Type="http://schemas.openxmlformats.org/officeDocument/2006/relationships/image" Target="../media/image19.png"/><Relationship Id="rId4" Type="http://schemas.openxmlformats.org/officeDocument/2006/relationships/image" Target="../media/image24.gif"/></Relationships>
</file>

<file path=ppt/slides/_rels/slide29.xml.rels><?xml version="1.0" encoding="UTF-8" standalone="yes"?>
<Relationships xmlns="http://schemas.openxmlformats.org/package/2006/relationships"><Relationship Id="rId3" Type="http://schemas.openxmlformats.org/officeDocument/2006/relationships/hyperlink" Target="http://lock5stat.com/statkey/descriptive_2_quant/descriptive_2_quant.html" TargetMode="External"/><Relationship Id="rId2" Type="http://schemas.openxmlformats.org/officeDocument/2006/relationships/slideLayout" Target="../slideLayouts/slideLayout7.xml"/><Relationship Id="rId1" Type="http://schemas.openxmlformats.org/officeDocument/2006/relationships/tags" Target="../tags/tag37.xml"/><Relationship Id="rId5" Type="http://schemas.openxmlformats.org/officeDocument/2006/relationships/image" Target="../media/image19.png"/><Relationship Id="rId4" Type="http://schemas.openxmlformats.org/officeDocument/2006/relationships/image" Target="../media/image231.png"/></Relationships>
</file>

<file path=ppt/slides/_rels/slide30.xml.rels><?xml version="1.0" encoding="UTF-8" standalone="yes"?>
<Relationships xmlns="http://schemas.openxmlformats.org/package/2006/relationships"><Relationship Id="rId3" Type="http://schemas.openxmlformats.org/officeDocument/2006/relationships/hyperlink" Target="http://www.esrl.noaa.gov/gmd/ccgg/trends/" TargetMode="External"/><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9.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33.xml.rels><?xml version="1.0" encoding="UTF-8" standalone="yes"?>
<Relationships xmlns="http://schemas.openxmlformats.org/package/2006/relationships"><Relationship Id="rId3" Type="http://schemas.openxmlformats.org/officeDocument/2006/relationships/hyperlink" Target="http://lock5stat.com/statkey/index.html" TargetMode="External"/><Relationship Id="rId2" Type="http://schemas.openxmlformats.org/officeDocument/2006/relationships/slideLayout" Target="../slideLayouts/slideLayout2.xml"/><Relationship Id="rId1" Type="http://schemas.openxmlformats.org/officeDocument/2006/relationships/tags" Target="../tags/tag41.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43.xm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image" Target="../media/image640.png"/><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2.xml"/><Relationship Id="rId1" Type="http://schemas.openxmlformats.org/officeDocument/2006/relationships/tags" Target="../tags/tag48.xml"/><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p:cNvSpPr txBox="1">
            <a:spLocks/>
          </p:cNvSpPr>
          <p:nvPr/>
        </p:nvSpPr>
        <p:spPr>
          <a:xfrm>
            <a:off x="2102427" y="1981200"/>
            <a:ext cx="7010400" cy="1905000"/>
          </a:xfrm>
          <a:prstGeom prst="rect">
            <a:avLst/>
          </a:prstGeom>
        </p:spPr>
        <p:txBody>
          <a:bodyPr vert="horz" lIns="91440" tIns="45720" rIns="91440" bIns="45720" rtlCol="0">
            <a:normAutofit lnSpcReduction="10000"/>
          </a:bodyPr>
          <a:lstStyle/>
          <a:p>
            <a:pPr>
              <a:spcBef>
                <a:spcPct val="20000"/>
              </a:spcBef>
              <a:defRPr/>
            </a:pPr>
            <a:r>
              <a:rPr lang="en-US" sz="3200" dirty="0">
                <a:solidFill>
                  <a:srgbClr val="EBDDC3"/>
                </a:solidFill>
              </a:rPr>
              <a:t>Section </a:t>
            </a:r>
            <a:r>
              <a:rPr lang="en-US" sz="3200" dirty="0" smtClean="0">
                <a:solidFill>
                  <a:srgbClr val="EBDDC3"/>
                </a:solidFill>
              </a:rPr>
              <a:t>2.6</a:t>
            </a:r>
            <a:endParaRPr lang="en-US" sz="3200" dirty="0">
              <a:solidFill>
                <a:srgbClr val="EBDDC3"/>
              </a:solidFill>
            </a:endParaRPr>
          </a:p>
          <a:p>
            <a:pPr>
              <a:spcBef>
                <a:spcPct val="20000"/>
              </a:spcBef>
              <a:defRPr/>
            </a:pPr>
            <a:r>
              <a:rPr lang="en-US" sz="4000" b="1" dirty="0" smtClean="0">
                <a:solidFill>
                  <a:srgbClr val="EBDDC3"/>
                </a:solidFill>
              </a:rPr>
              <a:t>Two Quantitative Variables: Linear Regression</a:t>
            </a:r>
            <a:endParaRPr lang="en-US" sz="4000" b="1" dirty="0">
              <a:solidFill>
                <a:srgbClr val="EBDDC3"/>
              </a:solidFill>
            </a:endParaRPr>
          </a:p>
        </p:txBody>
      </p:sp>
      <p:sp>
        <p:nvSpPr>
          <p:cNvPr id="3" name="TextBox 2"/>
          <p:cNvSpPr txBox="1"/>
          <p:nvPr/>
        </p:nvSpPr>
        <p:spPr>
          <a:xfrm>
            <a:off x="2362086" y="4137434"/>
            <a:ext cx="6526427" cy="1384995"/>
          </a:xfrm>
          <a:prstGeom prst="rect">
            <a:avLst/>
          </a:prstGeom>
          <a:noFill/>
        </p:spPr>
        <p:txBody>
          <a:bodyPr wrap="square" rtlCol="0">
            <a:spAutoFit/>
          </a:bodyPr>
          <a:lstStyle/>
          <a:p>
            <a:r>
              <a:rPr lang="en-US" sz="2400" dirty="0">
                <a:solidFill>
                  <a:srgbClr val="EBDDC3"/>
                </a:solidFill>
              </a:rPr>
              <a:t>To accompany</a:t>
            </a:r>
          </a:p>
          <a:p>
            <a:r>
              <a:rPr lang="en-US" sz="3200" b="1" i="1" u="sng" dirty="0">
                <a:solidFill>
                  <a:srgbClr val="EBDDC3"/>
                </a:solidFill>
              </a:rPr>
              <a:t>Statistics: Unlocking the Power of Data</a:t>
            </a:r>
            <a:r>
              <a:rPr lang="en-US" sz="3200" b="1" dirty="0">
                <a:solidFill>
                  <a:srgbClr val="EBDDC3"/>
                </a:solidFill>
              </a:rPr>
              <a:t> </a:t>
            </a:r>
          </a:p>
          <a:p>
            <a:r>
              <a:rPr lang="en-US" sz="2800" dirty="0">
                <a:solidFill>
                  <a:srgbClr val="EBDDC3"/>
                </a:solidFill>
              </a:rPr>
              <a:t>by Lock, Lock, Lock, Lock, and Lock</a:t>
            </a:r>
          </a:p>
        </p:txBody>
      </p:sp>
      <p:sp>
        <p:nvSpPr>
          <p:cNvPr id="4" name="TextBox 3"/>
          <p:cNvSpPr txBox="1"/>
          <p:nvPr/>
        </p:nvSpPr>
        <p:spPr>
          <a:xfrm>
            <a:off x="2362200" y="6159819"/>
            <a:ext cx="6490854" cy="492443"/>
          </a:xfrm>
          <a:prstGeom prst="rect">
            <a:avLst/>
          </a:prstGeom>
          <a:noFill/>
        </p:spPr>
        <p:txBody>
          <a:bodyPr wrap="square" rtlCol="0">
            <a:spAutoFit/>
          </a:bodyPr>
          <a:lstStyle/>
          <a:p>
            <a:r>
              <a:rPr lang="en-US" sz="2600" dirty="0">
                <a:solidFill>
                  <a:schemeClr val="accent6">
                    <a:lumMod val="20000"/>
                    <a:lumOff val="80000"/>
                  </a:schemeClr>
                </a:solidFill>
              </a:rPr>
              <a:t>Video by: Professor Kathryn Dobeck</a:t>
            </a:r>
          </a:p>
        </p:txBody>
      </p:sp>
      <p:pic>
        <p:nvPicPr>
          <p:cNvPr id="5" name="Picture 4" descr="WILEY_LOGO_2012.eps"/>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7848600" y="6286513"/>
            <a:ext cx="1143000" cy="239059"/>
          </a:xfrm>
          <a:prstGeom prst="rect">
            <a:avLst/>
          </a:prstGeom>
        </p:spPr>
      </p:pic>
    </p:spTree>
    <p:custDataLst>
      <p:tags r:id="rId1"/>
    </p:custDataLst>
    <p:extLst>
      <p:ext uri="{BB962C8B-B14F-4D97-AF65-F5344CB8AC3E}">
        <p14:creationId xmlns:p14="http://schemas.microsoft.com/office/powerpoint/2010/main" val="9581008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
          <p:cNvSpPr txBox="1">
            <a:spLocks/>
          </p:cNvSpPr>
          <p:nvPr/>
        </p:nvSpPr>
        <p:spPr>
          <a:xfrm>
            <a:off x="0" y="1143000"/>
            <a:ext cx="8978152" cy="4038600"/>
          </a:xfrm>
          <a:prstGeom prst="rect">
            <a:avLst/>
          </a:prstGeom>
        </p:spPr>
        <p:txBody>
          <a:bodyPr>
            <a:normAutofit/>
          </a:bodyPr>
          <a:lstStyle/>
          <a:p>
            <a:pPr marL="342900" indent="-342900">
              <a:spcAft>
                <a:spcPts val="1800"/>
              </a:spcAft>
              <a:buClr>
                <a:schemeClr val="accent1"/>
              </a:buClr>
              <a:buFont typeface="Arial" pitchFamily="34" charset="0"/>
              <a:buChar char="•"/>
              <a:defRPr/>
            </a:pPr>
            <a:r>
              <a:rPr lang="en-US" sz="3200" dirty="0" smtClean="0">
                <a:solidFill>
                  <a:schemeClr val="accent6">
                    <a:lumMod val="50000"/>
                  </a:schemeClr>
                </a:solidFill>
              </a:rPr>
              <a:t>Can you estimate the temperature on a summer evening, just by listening to crickets chirp?</a:t>
            </a:r>
          </a:p>
          <a:p>
            <a:pPr marL="342900" indent="-342900">
              <a:buClr>
                <a:schemeClr val="accent1"/>
              </a:buClr>
              <a:buFont typeface="Arial" pitchFamily="34" charset="0"/>
              <a:buChar char="•"/>
              <a:defRPr/>
            </a:pPr>
            <a:r>
              <a:rPr lang="en-US" sz="3200" dirty="0">
                <a:solidFill>
                  <a:schemeClr val="accent6">
                    <a:lumMod val="50000"/>
                  </a:schemeClr>
                </a:solidFill>
              </a:rPr>
              <a:t>We will fit a </a:t>
            </a:r>
            <a:r>
              <a:rPr lang="en-US" sz="3200" b="1" dirty="0">
                <a:solidFill>
                  <a:schemeClr val="accent6">
                    <a:lumMod val="50000"/>
                  </a:schemeClr>
                </a:solidFill>
              </a:rPr>
              <a:t>model</a:t>
            </a:r>
            <a:r>
              <a:rPr lang="en-US" sz="3200" dirty="0">
                <a:solidFill>
                  <a:schemeClr val="accent6">
                    <a:lumMod val="50000"/>
                  </a:schemeClr>
                </a:solidFill>
              </a:rPr>
              <a:t> to predict temperature based on cricket chirp </a:t>
            </a:r>
            <a:r>
              <a:rPr lang="en-US" sz="3200" dirty="0" smtClean="0">
                <a:solidFill>
                  <a:schemeClr val="accent6">
                    <a:lumMod val="50000"/>
                  </a:schemeClr>
                </a:solidFill>
              </a:rPr>
              <a:t>rate</a:t>
            </a:r>
          </a:p>
          <a:p>
            <a:pPr marL="342900" indent="-342900">
              <a:buClr>
                <a:schemeClr val="accent1"/>
              </a:buClr>
              <a:buFont typeface="Arial" pitchFamily="34" charset="0"/>
              <a:buChar char="•"/>
              <a:defRPr/>
            </a:pPr>
            <a:endParaRPr lang="en-US" sz="3200" dirty="0" smtClean="0">
              <a:solidFill>
                <a:srgbClr val="000000"/>
              </a:solidFill>
            </a:endParaRPr>
          </a:p>
          <a:p>
            <a:pPr marL="342900" indent="-342900">
              <a:buClr>
                <a:schemeClr val="accent1"/>
              </a:buClr>
              <a:buFont typeface="Arial" pitchFamily="34" charset="0"/>
              <a:buChar char="•"/>
              <a:defRPr/>
            </a:pPr>
            <a:endParaRPr lang="en-US" sz="2800" dirty="0" smtClean="0">
              <a:solidFill>
                <a:srgbClr val="000000"/>
              </a:solidFill>
            </a:endParaRPr>
          </a:p>
          <a:p>
            <a:pPr marL="342900" indent="-342900">
              <a:buClr>
                <a:schemeClr val="accent1"/>
              </a:buClr>
              <a:buFont typeface="Arial" pitchFamily="34" charset="0"/>
              <a:buNone/>
              <a:defRPr/>
            </a:pPr>
            <a:endParaRPr lang="en-US" sz="3200" dirty="0" smtClean="0">
              <a:solidFill>
                <a:srgbClr val="000000"/>
              </a:solidFill>
            </a:endParaRPr>
          </a:p>
        </p:txBody>
      </p:sp>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rgbClr val="002D89"/>
              </a:solidFill>
            </a:endParaRPr>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rgbClr val="002D89"/>
              </a:solidFill>
            </a:endParaRPr>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rgbClr val="002D89"/>
              </a:solidFill>
            </a:endParaRPr>
          </a:p>
        </p:txBody>
      </p:sp>
      <p:sp>
        <p:nvSpPr>
          <p:cNvPr id="120840" name="AutoShape 8"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rgbClr val="002D89"/>
              </a:solidFill>
            </a:endParaRPr>
          </a:p>
        </p:txBody>
      </p:sp>
      <p:sp>
        <p:nvSpPr>
          <p:cNvPr id="120842" name="AutoShape 10"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rgbClr val="002D89"/>
              </a:solidFill>
            </a:endParaRPr>
          </a:p>
        </p:txBody>
      </p:sp>
      <p:sp>
        <p:nvSpPr>
          <p:cNvPr id="8" name="Title 2"/>
          <p:cNvSpPr txBox="1">
            <a:spLocks/>
          </p:cNvSpPr>
          <p:nvPr/>
        </p:nvSpPr>
        <p:spPr>
          <a:xfrm>
            <a:off x="457200" y="0"/>
            <a:ext cx="8229600" cy="1143000"/>
          </a:xfrm>
          <a:prstGeom prst="rect">
            <a:avLst/>
          </a:prstGeom>
        </p:spPr>
        <p:txBody>
          <a:bodyPr anchor="ctr"/>
          <a:lstStyle/>
          <a:p>
            <a:pPr algn="ctr">
              <a:spcBef>
                <a:spcPct val="0"/>
              </a:spcBef>
              <a:defRPr/>
            </a:pPr>
            <a:r>
              <a:rPr lang="en-US" sz="4400" b="1" dirty="0" smtClean="0">
                <a:solidFill>
                  <a:schemeClr val="tx2"/>
                </a:solidFill>
              </a:rPr>
              <a:t>Crickets and Temperature</a:t>
            </a:r>
            <a:endParaRPr lang="en-US" sz="4400" b="1" dirty="0">
              <a:solidFill>
                <a:schemeClr val="tx2"/>
              </a:solidFill>
            </a:endParaRPr>
          </a:p>
        </p:txBody>
      </p:sp>
      <p:pic>
        <p:nvPicPr>
          <p:cNvPr id="427010" name="Picture 2" descr="http://www.pest-control.com/images/Brown_House_Cricket_5992613.jpg"/>
          <p:cNvPicPr>
            <a:picLocks noChangeAspect="1" noChangeArrowheads="1"/>
          </p:cNvPicPr>
          <p:nvPr/>
        </p:nvPicPr>
        <p:blipFill>
          <a:blip r:embed="rId3" cstate="print"/>
          <a:srcRect l="12000" t="37396" r="9778" b="17195"/>
          <a:stretch>
            <a:fillRect/>
          </a:stretch>
        </p:blipFill>
        <p:spPr bwMode="auto">
          <a:xfrm>
            <a:off x="5428129" y="4953000"/>
            <a:ext cx="3550023" cy="1371599"/>
          </a:xfrm>
          <a:prstGeom prst="rect">
            <a:avLst/>
          </a:prstGeom>
          <a:noFill/>
        </p:spPr>
      </p:pic>
    </p:spTree>
    <p:custDataLst>
      <p:tags r:id="rId1"/>
    </p:custDataLst>
    <p:extLst>
      <p:ext uri="{BB962C8B-B14F-4D97-AF65-F5344CB8AC3E}">
        <p14:creationId xmlns:p14="http://schemas.microsoft.com/office/powerpoint/2010/main" val="16282445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plot (3).png"/>
          <p:cNvPicPr>
            <a:picLocks noChangeAspect="1"/>
          </p:cNvPicPr>
          <p:nvPr/>
        </p:nvPicPr>
        <p:blipFill>
          <a:blip r:embed="rId3" cstate="print"/>
          <a:srcRect t="11357"/>
          <a:stretch>
            <a:fillRect/>
          </a:stretch>
        </p:blipFill>
        <p:spPr>
          <a:xfrm>
            <a:off x="1828800" y="1486877"/>
            <a:ext cx="5105400" cy="4189046"/>
          </a:xfrm>
          <a:prstGeom prst="rect">
            <a:avLst/>
          </a:prstGeom>
        </p:spPr>
      </p:pic>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rgbClr val="002D89"/>
              </a:solidFill>
            </a:endParaRPr>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rgbClr val="002D89"/>
              </a:solidFill>
            </a:endParaRPr>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rgbClr val="002D89"/>
              </a:solidFill>
            </a:endParaRPr>
          </a:p>
        </p:txBody>
      </p:sp>
      <p:sp>
        <p:nvSpPr>
          <p:cNvPr id="120840" name="AutoShape 8"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rgbClr val="002D89"/>
              </a:solidFill>
            </a:endParaRPr>
          </a:p>
        </p:txBody>
      </p:sp>
      <p:sp>
        <p:nvSpPr>
          <p:cNvPr id="120842" name="AutoShape 10"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rgbClr val="002D89"/>
              </a:solidFill>
            </a:endParaRPr>
          </a:p>
        </p:txBody>
      </p:sp>
      <p:sp>
        <p:nvSpPr>
          <p:cNvPr id="8" name="Title 2"/>
          <p:cNvSpPr txBox="1">
            <a:spLocks/>
          </p:cNvSpPr>
          <p:nvPr/>
        </p:nvSpPr>
        <p:spPr>
          <a:xfrm>
            <a:off x="457200" y="0"/>
            <a:ext cx="8229600" cy="1143000"/>
          </a:xfrm>
          <a:prstGeom prst="rect">
            <a:avLst/>
          </a:prstGeom>
        </p:spPr>
        <p:txBody>
          <a:bodyPr anchor="ctr"/>
          <a:lstStyle/>
          <a:p>
            <a:pPr algn="ctr">
              <a:spcBef>
                <a:spcPct val="0"/>
              </a:spcBef>
              <a:defRPr/>
            </a:pPr>
            <a:r>
              <a:rPr lang="en-US" sz="4400" b="1" dirty="0" smtClean="0">
                <a:solidFill>
                  <a:schemeClr val="tx2"/>
                </a:solidFill>
              </a:rPr>
              <a:t>Crickets and Temperature</a:t>
            </a:r>
            <a:endParaRPr lang="en-US" sz="4400" b="1" dirty="0">
              <a:solidFill>
                <a:schemeClr val="tx2"/>
              </a:solidFill>
            </a:endParaRPr>
          </a:p>
        </p:txBody>
      </p:sp>
      <p:sp>
        <p:nvSpPr>
          <p:cNvPr id="13" name="Right Arrow Callout 12"/>
          <p:cNvSpPr/>
          <p:nvPr/>
        </p:nvSpPr>
        <p:spPr>
          <a:xfrm>
            <a:off x="0" y="2819400"/>
            <a:ext cx="1828800" cy="1524000"/>
          </a:xfrm>
          <a:prstGeom prst="rightArrowCallout">
            <a:avLst>
              <a:gd name="adj1" fmla="val 19923"/>
              <a:gd name="adj2" fmla="val 17615"/>
              <a:gd name="adj3" fmla="val 13923"/>
              <a:gd name="adj4" fmla="val 84564"/>
            </a:avLst>
          </a:prstGeom>
          <a:solidFill>
            <a:srgbClr val="FFE48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rgbClr val="002D89"/>
                </a:solidFill>
              </a:rPr>
              <a:t>Response Variable, </a:t>
            </a:r>
            <a:r>
              <a:rPr lang="en-US" sz="2400" i="1" dirty="0" smtClean="0">
                <a:solidFill>
                  <a:srgbClr val="002D89"/>
                </a:solidFill>
              </a:rPr>
              <a:t>y</a:t>
            </a:r>
          </a:p>
          <a:p>
            <a:pPr algn="ctr"/>
            <a:r>
              <a:rPr lang="en-US" sz="2400" dirty="0" smtClean="0">
                <a:solidFill>
                  <a:srgbClr val="002D89"/>
                </a:solidFill>
              </a:rPr>
              <a:t>In Degrees Fahrenheit</a:t>
            </a:r>
            <a:endParaRPr lang="en-US" sz="2400" dirty="0">
              <a:solidFill>
                <a:srgbClr val="002D89"/>
              </a:solidFill>
            </a:endParaRPr>
          </a:p>
        </p:txBody>
      </p:sp>
      <p:sp>
        <p:nvSpPr>
          <p:cNvPr id="14" name="Up Arrow Callout 13"/>
          <p:cNvSpPr/>
          <p:nvPr/>
        </p:nvSpPr>
        <p:spPr>
          <a:xfrm>
            <a:off x="3200400" y="5582138"/>
            <a:ext cx="2743200" cy="1275862"/>
          </a:xfrm>
          <a:prstGeom prst="upArrowCallout">
            <a:avLst>
              <a:gd name="adj1" fmla="val 25263"/>
              <a:gd name="adj2" fmla="val 17226"/>
              <a:gd name="adj3" fmla="val 10425"/>
              <a:gd name="adj4" fmla="val 85383"/>
            </a:avLst>
          </a:prstGeom>
          <a:solidFill>
            <a:srgbClr val="FFE48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rgbClr val="002D89"/>
                </a:solidFill>
              </a:rPr>
              <a:t>Explanatory</a:t>
            </a:r>
          </a:p>
          <a:p>
            <a:pPr algn="ctr"/>
            <a:r>
              <a:rPr lang="en-US" sz="2400" dirty="0" smtClean="0">
                <a:solidFill>
                  <a:srgbClr val="002D89"/>
                </a:solidFill>
              </a:rPr>
              <a:t>Variable, </a:t>
            </a:r>
            <a:r>
              <a:rPr lang="en-US" sz="2400" i="1" dirty="0" smtClean="0">
                <a:solidFill>
                  <a:srgbClr val="002D89"/>
                </a:solidFill>
              </a:rPr>
              <a:t>x </a:t>
            </a:r>
          </a:p>
          <a:p>
            <a:pPr algn="ctr"/>
            <a:r>
              <a:rPr lang="en-US" sz="2400" dirty="0" smtClean="0">
                <a:solidFill>
                  <a:srgbClr val="002D89"/>
                </a:solidFill>
              </a:rPr>
              <a:t>in Chirps per Minute</a:t>
            </a:r>
            <a:endParaRPr lang="en-US" sz="2400" dirty="0">
              <a:solidFill>
                <a:srgbClr val="002D89"/>
              </a:solidFill>
            </a:endParaRPr>
          </a:p>
        </p:txBody>
      </p:sp>
      <p:pic>
        <p:nvPicPr>
          <p:cNvPr id="427010" name="Picture 2" descr="http://www.pest-control.com/images/Brown_House_Cricket_5992613.jpg"/>
          <p:cNvPicPr>
            <a:picLocks noChangeAspect="1" noChangeArrowheads="1"/>
          </p:cNvPicPr>
          <p:nvPr/>
        </p:nvPicPr>
        <p:blipFill rotWithShape="1">
          <a:blip r:embed="rId4" cstate="print"/>
          <a:srcRect l="14106" t="37396" r="12464" b="17195"/>
          <a:stretch/>
        </p:blipFill>
        <p:spPr bwMode="auto">
          <a:xfrm>
            <a:off x="6366932" y="5181601"/>
            <a:ext cx="2777068" cy="1142999"/>
          </a:xfrm>
          <a:prstGeom prst="rect">
            <a:avLst/>
          </a:prstGeom>
          <a:noFill/>
        </p:spPr>
      </p:pic>
      <p:cxnSp>
        <p:nvCxnSpPr>
          <p:cNvPr id="3" name="Straight Connector 2"/>
          <p:cNvCxnSpPr/>
          <p:nvPr/>
        </p:nvCxnSpPr>
        <p:spPr>
          <a:xfrm flipV="1">
            <a:off x="2590800" y="1752600"/>
            <a:ext cx="3962400" cy="2819400"/>
          </a:xfrm>
          <a:prstGeom prst="line">
            <a:avLst/>
          </a:prstGeom>
          <a:ln w="317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1"/>
          <p:cNvSpPr txBox="1">
            <a:spLocks/>
          </p:cNvSpPr>
          <p:nvPr/>
        </p:nvSpPr>
        <p:spPr>
          <a:xfrm>
            <a:off x="0" y="990600"/>
            <a:ext cx="9144000" cy="762000"/>
          </a:xfrm>
          <a:prstGeom prst="rect">
            <a:avLst/>
          </a:prstGeom>
        </p:spPr>
        <p:txBody>
          <a:bodyPr>
            <a:noAutofit/>
          </a:bodyPr>
          <a:lstStyle/>
          <a:p>
            <a:pPr marL="342900" marR="0" lvl="0" indent="-342900" algn="ctr" defTabSz="914400" rtl="0" eaLnBrk="1" fontAlgn="auto" latinLnBrk="0" hangingPunct="1">
              <a:lnSpc>
                <a:spcPct val="100000"/>
              </a:lnSpc>
              <a:spcBef>
                <a:spcPts val="0"/>
              </a:spcBef>
              <a:spcAft>
                <a:spcPts val="0"/>
              </a:spcAft>
              <a:buClrTx/>
              <a:buSzTx/>
              <a:tabLst/>
              <a:defRPr/>
            </a:pPr>
            <a:r>
              <a:rPr kumimoji="0" lang="en-US" sz="2800" b="0" u="none" strike="noStrike" kern="1200" cap="none" spc="0" normalizeH="0" baseline="0" noProof="0" dirty="0" smtClean="0">
                <a:ln>
                  <a:noFill/>
                </a:ln>
                <a:effectLst/>
                <a:uLnTx/>
                <a:uFillTx/>
                <a:latin typeface="+mn-lt"/>
                <a:ea typeface="+mn-ea"/>
                <a:cs typeface="+mn-cs"/>
              </a:rPr>
              <a:t>Goal: Find a</a:t>
            </a:r>
            <a:r>
              <a:rPr kumimoji="0" lang="en-US" sz="2800" b="0" u="none" strike="noStrike" kern="1200" cap="none" spc="0" normalizeH="0" noProof="0" dirty="0" smtClean="0">
                <a:ln>
                  <a:noFill/>
                </a:ln>
                <a:effectLst/>
                <a:uLnTx/>
                <a:uFillTx/>
                <a:latin typeface="+mn-lt"/>
                <a:ea typeface="+mn-ea"/>
                <a:cs typeface="+mn-cs"/>
              </a:rPr>
              <a:t> straight line that best fits the data in a scatterplot</a:t>
            </a:r>
            <a:endParaRPr kumimoji="0" lang="en-US" sz="2800" b="0" u="none" strike="noStrike" kern="1200" cap="none" spc="0" normalizeH="0" baseline="0" noProof="0" dirty="0" smtClean="0">
              <a:ln>
                <a:noFill/>
              </a:ln>
              <a:effectLst/>
              <a:uLnTx/>
              <a:uFillTx/>
              <a:latin typeface="+mn-lt"/>
              <a:ea typeface="+mn-ea"/>
              <a:cs typeface="+mn-cs"/>
            </a:endParaRPr>
          </a:p>
        </p:txBody>
      </p:sp>
    </p:spTree>
    <p:custDataLst>
      <p:tags r:id="rId1"/>
    </p:custDataLst>
    <p:extLst>
      <p:ext uri="{BB962C8B-B14F-4D97-AF65-F5344CB8AC3E}">
        <p14:creationId xmlns:p14="http://schemas.microsoft.com/office/powerpoint/2010/main" val="2293345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53" presetClass="entr" presetSubtype="0"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p:cTn id="13" dur="500" fill="hold"/>
                                        <p:tgtEl>
                                          <p:spTgt spid="14"/>
                                        </p:tgtEl>
                                        <p:attrNameLst>
                                          <p:attrName>ppt_w</p:attrName>
                                        </p:attrNameLst>
                                      </p:cBhvr>
                                      <p:tavLst>
                                        <p:tav tm="0">
                                          <p:val>
                                            <p:fltVal val="0"/>
                                          </p:val>
                                        </p:tav>
                                        <p:tav tm="100000">
                                          <p:val>
                                            <p:strVal val="#ppt_w"/>
                                          </p:val>
                                        </p:tav>
                                      </p:tavLst>
                                    </p:anim>
                                    <p:anim calcmode="lin" valueType="num">
                                      <p:cBhvr>
                                        <p:cTn id="14" dur="500" fill="hold"/>
                                        <p:tgtEl>
                                          <p:spTgt spid="14"/>
                                        </p:tgtEl>
                                        <p:attrNameLst>
                                          <p:attrName>ppt_h</p:attrName>
                                        </p:attrNameLst>
                                      </p:cBhvr>
                                      <p:tavLst>
                                        <p:tav tm="0">
                                          <p:val>
                                            <p:fltVal val="0"/>
                                          </p:val>
                                        </p:tav>
                                        <p:tav tm="100000">
                                          <p:val>
                                            <p:strVal val="#ppt_h"/>
                                          </p:val>
                                        </p:tav>
                                      </p:tavLst>
                                    </p:anim>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down)">
                                      <p:cBhvr>
                                        <p:cTn id="20" dur="500"/>
                                        <p:tgtEl>
                                          <p:spTgt spid="3"/>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Regression</a:t>
            </a:r>
            <a:endParaRPr lang="en-US" dirty="0"/>
          </a:p>
        </p:txBody>
      </p:sp>
      <p:sp>
        <p:nvSpPr>
          <p:cNvPr id="3" name="Content Placeholder 2"/>
          <p:cNvSpPr>
            <a:spLocks noGrp="1"/>
          </p:cNvSpPr>
          <p:nvPr>
            <p:ph idx="1"/>
          </p:nvPr>
        </p:nvSpPr>
        <p:spPr/>
        <p:txBody>
          <a:bodyPr>
            <a:normAutofit/>
          </a:bodyPr>
          <a:lstStyle/>
          <a:p>
            <a:pPr lvl="0"/>
            <a:r>
              <a:rPr lang="en-US" dirty="0" smtClean="0"/>
              <a:t>The process of fitting a line to a set of data is called  </a:t>
            </a:r>
            <a:r>
              <a:rPr lang="en-US" b="1" i="1" dirty="0">
                <a:solidFill>
                  <a:schemeClr val="tx2"/>
                </a:solidFill>
              </a:rPr>
              <a:t>linear </a:t>
            </a:r>
            <a:r>
              <a:rPr lang="en-US" b="1" i="1" dirty="0" smtClean="0">
                <a:solidFill>
                  <a:schemeClr val="tx2"/>
                </a:solidFill>
              </a:rPr>
              <a:t>regression</a:t>
            </a:r>
            <a:r>
              <a:rPr lang="en-US" dirty="0"/>
              <a:t>.</a:t>
            </a:r>
          </a:p>
        </p:txBody>
      </p:sp>
      <p:sp>
        <p:nvSpPr>
          <p:cNvPr id="5" name="Content Placeholder 2"/>
          <p:cNvSpPr>
            <a:spLocks noGrp="1"/>
          </p:cNvSpPr>
          <p:nvPr>
            <p:ph idx="1"/>
          </p:nvPr>
        </p:nvSpPr>
        <p:spPr>
          <a:xfrm>
            <a:off x="1143000" y="3879342"/>
            <a:ext cx="6819900" cy="1683258"/>
          </a:xfrm>
        </p:spPr>
        <p:txBody>
          <a:bodyPr>
            <a:normAutofit/>
          </a:bodyPr>
          <a:lstStyle/>
          <a:p>
            <a:pPr lvl="0">
              <a:buSzTx/>
              <a:defRPr/>
            </a:pPr>
            <a:r>
              <a:rPr lang="en-US" dirty="0" smtClean="0"/>
              <a:t>The line of best fit is called the</a:t>
            </a:r>
            <a:r>
              <a:rPr lang="en-US" b="1" i="1" dirty="0" smtClean="0">
                <a:solidFill>
                  <a:schemeClr val="tx2"/>
                </a:solidFill>
              </a:rPr>
              <a:t> regression line</a:t>
            </a:r>
            <a:r>
              <a:rPr lang="en-US" dirty="0"/>
              <a:t>.</a:t>
            </a:r>
          </a:p>
        </p:txBody>
      </p:sp>
    </p:spTree>
    <p:custDataLst>
      <p:tags r:id="rId1"/>
    </p:custDataLst>
    <p:extLst>
      <p:ext uri="{BB962C8B-B14F-4D97-AF65-F5344CB8AC3E}">
        <p14:creationId xmlns:p14="http://schemas.microsoft.com/office/powerpoint/2010/main" val="2992184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Equation of the Regression Line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66900" y="2014301"/>
                <a:ext cx="5410200" cy="1219200"/>
              </a:xfrm>
            </p:spPr>
            <p:txBody>
              <a:bodyPr>
                <a:noAutofit/>
              </a:bodyPr>
              <a:lstStyle/>
              <a:p>
                <a:pPr>
                  <a:spcAft>
                    <a:spcPts val="0"/>
                  </a:spcAft>
                </a:pPr>
                <a14:m>
                  <m:oMathPara xmlns:m="http://schemas.openxmlformats.org/officeDocument/2006/math">
                    <m:oMathParaPr>
                      <m:jc m:val="centerGroup"/>
                    </m:oMathParaPr>
                    <m:oMath xmlns:m="http://schemas.openxmlformats.org/officeDocument/2006/math">
                      <m:acc>
                        <m:accPr>
                          <m:chr m:val="̂"/>
                          <m:ctrlPr>
                            <a:rPr lang="en-US" sz="6000" i="1" smtClean="0">
                              <a:latin typeface="Cambria Math"/>
                            </a:rPr>
                          </m:ctrlPr>
                        </m:accPr>
                        <m:e>
                          <m:r>
                            <a:rPr lang="en-US" sz="6000" b="0" i="1" smtClean="0">
                              <a:latin typeface="Cambria Math"/>
                            </a:rPr>
                            <m:t>𝑦</m:t>
                          </m:r>
                        </m:e>
                      </m:acc>
                      <m:r>
                        <a:rPr lang="en-US" sz="6000" b="0" i="1" smtClean="0">
                          <a:latin typeface="Cambria Math"/>
                        </a:rPr>
                        <m:t>=</m:t>
                      </m:r>
                      <m:r>
                        <a:rPr lang="en-US" sz="6000" b="0" i="1" smtClean="0">
                          <a:latin typeface="Cambria Math"/>
                        </a:rPr>
                        <m:t>𝑎</m:t>
                      </m:r>
                      <m:r>
                        <a:rPr lang="en-US" sz="6000" b="0" i="1" smtClean="0">
                          <a:latin typeface="Cambria Math"/>
                        </a:rPr>
                        <m:t>+</m:t>
                      </m:r>
                      <m:r>
                        <a:rPr lang="en-US" sz="6000" b="0" i="1" smtClean="0">
                          <a:latin typeface="Cambria Math"/>
                        </a:rPr>
                        <m:t>𝑏𝑥</m:t>
                      </m:r>
                    </m:oMath>
                  </m:oMathPara>
                </a14:m>
                <a:endParaRPr lang="en-US" sz="6000"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66900" y="2014301"/>
                <a:ext cx="5410200" cy="1219200"/>
              </a:xfr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3"/>
              <p:cNvSpPr txBox="1">
                <a:spLocks/>
              </p:cNvSpPr>
              <p:nvPr/>
            </p:nvSpPr>
            <p:spPr>
              <a:xfrm>
                <a:off x="321481" y="3886200"/>
                <a:ext cx="8534400" cy="1219200"/>
              </a:xfrm>
              <a:prstGeom prst="rect">
                <a:avLst/>
              </a:prstGeom>
            </p:spPr>
            <p:txBody>
              <a:bodyPr vert="horz">
                <a:noAutofit/>
              </a:bodyPr>
              <a:lstStyle>
                <a:lvl1pPr marL="274320" indent="-274320" algn="l" rtl="0" eaLnBrk="1" latinLnBrk="0" hangingPunct="1">
                  <a:spcBef>
                    <a:spcPts val="0"/>
                  </a:spcBef>
                  <a:spcAft>
                    <a:spcPts val="1800"/>
                  </a:spcAft>
                  <a:buClr>
                    <a:schemeClr val="accent1"/>
                  </a:buClr>
                  <a:buSzPct val="85000"/>
                  <a:buFont typeface="Wingdings 2"/>
                  <a:buChar char=""/>
                  <a:defRPr kumimoji="0" sz="3200" kern="1200">
                    <a:solidFill>
                      <a:schemeClr val="tx1"/>
                    </a:solidFill>
                    <a:latin typeface="+mn-lt"/>
                    <a:ea typeface="+mn-ea"/>
                    <a:cs typeface="+mn-cs"/>
                  </a:defRPr>
                </a:lvl1pPr>
                <a:lvl2pPr marL="548640" indent="-274320" algn="l" rtl="0" eaLnBrk="1" latinLnBrk="0" hangingPunct="1">
                  <a:spcBef>
                    <a:spcPts val="0"/>
                  </a:spcBef>
                  <a:spcAft>
                    <a:spcPts val="0"/>
                  </a:spcAft>
                  <a:buClr>
                    <a:schemeClr val="accent2"/>
                  </a:buClr>
                  <a:buSzPct val="70000"/>
                  <a:buFont typeface="Wingdings"/>
                  <a:buChar char=""/>
                  <a:defRPr kumimoji="0" sz="2800" kern="1200">
                    <a:solidFill>
                      <a:schemeClr val="tx1"/>
                    </a:solidFill>
                    <a:latin typeface="+mn-lt"/>
                    <a:ea typeface="+mn-ea"/>
                    <a:cs typeface="+mn-cs"/>
                  </a:defRPr>
                </a:lvl2pPr>
                <a:lvl3pPr marL="822960" indent="-228600" algn="l" rtl="0" eaLnBrk="1" latinLnBrk="0" hangingPunct="1">
                  <a:spcBef>
                    <a:spcPts val="0"/>
                  </a:spcBef>
                  <a:spcAft>
                    <a:spcPts val="0"/>
                  </a:spcAft>
                  <a:buClr>
                    <a:schemeClr val="accent3"/>
                  </a:buClr>
                  <a:buSzPct val="75000"/>
                  <a:buFont typeface="Wingdings 2"/>
                  <a:buChar char=""/>
                  <a:defRPr kumimoji="0" sz="2400" kern="1200">
                    <a:solidFill>
                      <a:schemeClr val="tx1"/>
                    </a:solidFill>
                    <a:latin typeface="+mn-lt"/>
                    <a:ea typeface="+mn-ea"/>
                    <a:cs typeface="+mn-cs"/>
                  </a:defRPr>
                </a:lvl3pPr>
                <a:lvl4pPr marL="1097280" indent="-228600" algn="l" rtl="0" eaLnBrk="1" latinLnBrk="0" hangingPunct="1">
                  <a:spcBef>
                    <a:spcPts val="0"/>
                  </a:spcBef>
                  <a:spcAft>
                    <a:spcPts val="0"/>
                  </a:spcAft>
                  <a:buClr>
                    <a:schemeClr val="accent4"/>
                  </a:buClr>
                  <a:buSzPct val="70000"/>
                  <a:buFont typeface="Wingdings"/>
                  <a:buChar char=""/>
                  <a:defRPr kumimoji="0" sz="2000" kern="1200">
                    <a:solidFill>
                      <a:schemeClr val="tx1"/>
                    </a:solidFill>
                    <a:latin typeface="+mn-lt"/>
                    <a:ea typeface="+mn-ea"/>
                    <a:cs typeface="+mn-cs"/>
                  </a:defRPr>
                </a:lvl4pPr>
                <a:lvl5pPr marL="1371600" indent="-228600" algn="l" rtl="0" eaLnBrk="1" latinLnBrk="0" hangingPunct="1">
                  <a:spcBef>
                    <a:spcPts val="0"/>
                  </a:spcBef>
                  <a:spcAft>
                    <a:spcPts val="2400"/>
                  </a:spcAft>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0" indent="0">
                  <a:spcAft>
                    <a:spcPts val="0"/>
                  </a:spcAft>
                  <a:buNone/>
                </a:pPr>
                <a:r>
                  <a:rPr lang="en-US" dirty="0"/>
                  <a:t>where </a:t>
                </a:r>
                <a:r>
                  <a:rPr lang="en-US" i="1" dirty="0"/>
                  <a:t>x</a:t>
                </a:r>
                <a:r>
                  <a:rPr lang="en-US" dirty="0"/>
                  <a:t> is the explanatory variable, and </a:t>
                </a:r>
                <a14:m>
                  <m:oMath xmlns:m="http://schemas.openxmlformats.org/officeDocument/2006/math">
                    <m:acc>
                      <m:accPr>
                        <m:chr m:val="̂"/>
                        <m:ctrlPr>
                          <a:rPr lang="en-US" i="1">
                            <a:latin typeface="Cambria Math"/>
                          </a:rPr>
                        </m:ctrlPr>
                      </m:accPr>
                      <m:e>
                        <m:r>
                          <a:rPr lang="en-US" i="1">
                            <a:latin typeface="Cambria Math"/>
                          </a:rPr>
                          <m:t>𝑦</m:t>
                        </m:r>
                      </m:e>
                    </m:acc>
                  </m:oMath>
                </a14:m>
                <a:r>
                  <a:rPr lang="en-US" dirty="0"/>
                  <a:t> is the predicted response variable.</a:t>
                </a:r>
              </a:p>
            </p:txBody>
          </p:sp>
        </mc:Choice>
        <mc:Fallback xmlns="">
          <p:sp>
            <p:nvSpPr>
              <p:cNvPr id="5" name="Content Placeholder 3"/>
              <p:cNvSpPr txBox="1">
                <a:spLocks noRot="1" noChangeAspect="1" noMove="1" noResize="1" noEditPoints="1" noAdjustHandles="1" noChangeArrowheads="1" noChangeShapeType="1" noTextEdit="1"/>
              </p:cNvSpPr>
              <p:nvPr/>
            </p:nvSpPr>
            <p:spPr>
              <a:xfrm>
                <a:off x="321481" y="3886200"/>
                <a:ext cx="8534400" cy="1219200"/>
              </a:xfrm>
              <a:prstGeom prst="rect">
                <a:avLst/>
              </a:prstGeom>
              <a:blipFill rotWithShape="1">
                <a:blip r:embed="rId4"/>
                <a:stretch>
                  <a:fillRect l="-1857" t="-6000" b="-4000"/>
                </a:stretch>
              </a:blipFill>
            </p:spPr>
            <p:txBody>
              <a:bodyPr/>
              <a:lstStyle/>
              <a:p>
                <a:r>
                  <a:rPr lang="en-US">
                    <a:noFill/>
                  </a:rPr>
                  <a:t> </a:t>
                </a:r>
              </a:p>
            </p:txBody>
          </p:sp>
        </mc:Fallback>
      </mc:AlternateContent>
      <p:sp>
        <p:nvSpPr>
          <p:cNvPr id="4" name="Rectangle 3"/>
          <p:cNvSpPr/>
          <p:nvPr/>
        </p:nvSpPr>
        <p:spPr>
          <a:xfrm>
            <a:off x="321481" y="1447800"/>
            <a:ext cx="5741059" cy="584775"/>
          </a:xfrm>
          <a:prstGeom prst="rect">
            <a:avLst/>
          </a:prstGeom>
        </p:spPr>
        <p:txBody>
          <a:bodyPr wrap="none">
            <a:spAutoFit/>
          </a:bodyPr>
          <a:lstStyle/>
          <a:p>
            <a:pPr>
              <a:spcAft>
                <a:spcPts val="0"/>
              </a:spcAft>
            </a:pPr>
            <a:r>
              <a:rPr lang="en-US" sz="3200" dirty="0"/>
              <a:t>The estimated regression line is</a:t>
            </a:r>
          </a:p>
        </p:txBody>
      </p:sp>
      <p:sp>
        <p:nvSpPr>
          <p:cNvPr id="6" name="Up Arrow Callout 5"/>
          <p:cNvSpPr/>
          <p:nvPr/>
        </p:nvSpPr>
        <p:spPr>
          <a:xfrm>
            <a:off x="3505200" y="3270001"/>
            <a:ext cx="1447800" cy="762000"/>
          </a:xfrm>
          <a:prstGeom prst="upArrowCallout">
            <a:avLst>
              <a:gd name="adj1" fmla="val 25000"/>
              <a:gd name="adj2" fmla="val 25000"/>
              <a:gd name="adj3" fmla="val 25000"/>
              <a:gd name="adj4" fmla="val 53125"/>
            </a:avLst>
          </a:prstGeom>
          <a:solidFill>
            <a:srgbClr val="FFE48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Intercept</a:t>
            </a:r>
            <a:endParaRPr lang="en-US" sz="2400" dirty="0">
              <a:solidFill>
                <a:schemeClr val="tx1"/>
              </a:solidFill>
            </a:endParaRPr>
          </a:p>
        </p:txBody>
      </p:sp>
      <p:sp>
        <p:nvSpPr>
          <p:cNvPr id="7" name="Up Arrow Callout 6"/>
          <p:cNvSpPr/>
          <p:nvPr/>
        </p:nvSpPr>
        <p:spPr>
          <a:xfrm>
            <a:off x="5111811" y="3270001"/>
            <a:ext cx="990600" cy="762000"/>
          </a:xfrm>
          <a:prstGeom prst="upArrowCallout">
            <a:avLst>
              <a:gd name="adj1" fmla="val 25000"/>
              <a:gd name="adj2" fmla="val 25000"/>
              <a:gd name="adj3" fmla="val 25000"/>
              <a:gd name="adj4" fmla="val 53125"/>
            </a:avLst>
          </a:prstGeom>
          <a:solidFill>
            <a:srgbClr val="FFE48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Slope</a:t>
            </a:r>
            <a:endParaRPr lang="en-US" sz="2400" dirty="0">
              <a:solidFill>
                <a:schemeClr val="tx1"/>
              </a:solidFill>
            </a:endParaRPr>
          </a:p>
        </p:txBody>
      </p:sp>
      <p:sp>
        <p:nvSpPr>
          <p:cNvPr id="8" name="Content Placeholder 3"/>
          <p:cNvSpPr txBox="1">
            <a:spLocks/>
          </p:cNvSpPr>
          <p:nvPr/>
        </p:nvSpPr>
        <p:spPr>
          <a:xfrm>
            <a:off x="0" y="4495800"/>
            <a:ext cx="9144000" cy="2362200"/>
          </a:xfrm>
          <a:prstGeom prst="rect">
            <a:avLst/>
          </a:prstGeom>
        </p:spPr>
        <p:txBody>
          <a:bodyPr vert="horz">
            <a:noAutofit/>
          </a:bodyPr>
          <a:lstStyle>
            <a:lvl1pPr marL="274320" indent="-274320" algn="l" rtl="0" eaLnBrk="1" latinLnBrk="0" hangingPunct="1">
              <a:spcBef>
                <a:spcPts val="0"/>
              </a:spcBef>
              <a:spcAft>
                <a:spcPts val="1800"/>
              </a:spcAft>
              <a:buClr>
                <a:schemeClr val="accent1"/>
              </a:buClr>
              <a:buSzPct val="85000"/>
              <a:buFont typeface="Wingdings 2"/>
              <a:buChar char=""/>
              <a:defRPr kumimoji="0" sz="3200" kern="1200">
                <a:solidFill>
                  <a:schemeClr val="tx1"/>
                </a:solidFill>
                <a:latin typeface="+mn-lt"/>
                <a:ea typeface="+mn-ea"/>
                <a:cs typeface="+mn-cs"/>
              </a:defRPr>
            </a:lvl1pPr>
            <a:lvl2pPr marL="548640" indent="-274320" algn="l" rtl="0" eaLnBrk="1" latinLnBrk="0" hangingPunct="1">
              <a:spcBef>
                <a:spcPts val="0"/>
              </a:spcBef>
              <a:spcAft>
                <a:spcPts val="0"/>
              </a:spcAft>
              <a:buClr>
                <a:schemeClr val="accent2"/>
              </a:buClr>
              <a:buSzPct val="70000"/>
              <a:buFont typeface="Wingdings"/>
              <a:buChar char=""/>
              <a:defRPr kumimoji="0" sz="2800" kern="1200">
                <a:solidFill>
                  <a:schemeClr val="tx1"/>
                </a:solidFill>
                <a:latin typeface="+mn-lt"/>
                <a:ea typeface="+mn-ea"/>
                <a:cs typeface="+mn-cs"/>
              </a:defRPr>
            </a:lvl2pPr>
            <a:lvl3pPr marL="822960" indent="-228600" algn="l" rtl="0" eaLnBrk="1" latinLnBrk="0" hangingPunct="1">
              <a:spcBef>
                <a:spcPts val="0"/>
              </a:spcBef>
              <a:spcAft>
                <a:spcPts val="0"/>
              </a:spcAft>
              <a:buClr>
                <a:schemeClr val="accent3"/>
              </a:buClr>
              <a:buSzPct val="75000"/>
              <a:buFont typeface="Wingdings 2"/>
              <a:buChar char=""/>
              <a:defRPr kumimoji="0" sz="2400" kern="1200">
                <a:solidFill>
                  <a:schemeClr val="tx1"/>
                </a:solidFill>
                <a:latin typeface="+mn-lt"/>
                <a:ea typeface="+mn-ea"/>
                <a:cs typeface="+mn-cs"/>
              </a:defRPr>
            </a:lvl3pPr>
            <a:lvl4pPr marL="1097280" indent="-228600" algn="l" rtl="0" eaLnBrk="1" latinLnBrk="0" hangingPunct="1">
              <a:spcBef>
                <a:spcPts val="0"/>
              </a:spcBef>
              <a:spcAft>
                <a:spcPts val="0"/>
              </a:spcAft>
              <a:buClr>
                <a:schemeClr val="accent4"/>
              </a:buClr>
              <a:buSzPct val="70000"/>
              <a:buFont typeface="Wingdings"/>
              <a:buChar char=""/>
              <a:defRPr kumimoji="0" sz="2000" kern="1200">
                <a:solidFill>
                  <a:schemeClr val="tx1"/>
                </a:solidFill>
                <a:latin typeface="+mn-lt"/>
                <a:ea typeface="+mn-ea"/>
                <a:cs typeface="+mn-cs"/>
              </a:defRPr>
            </a:lvl4pPr>
            <a:lvl5pPr marL="1371600" indent="-228600" algn="l" rtl="0" eaLnBrk="1" latinLnBrk="0" hangingPunct="1">
              <a:spcBef>
                <a:spcPts val="0"/>
              </a:spcBef>
              <a:spcAft>
                <a:spcPts val="2400"/>
              </a:spcAft>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342900" lvl="0" indent="-342900">
              <a:spcAft>
                <a:spcPts val="600"/>
              </a:spcAft>
              <a:buFont typeface="Arial" pitchFamily="34" charset="0"/>
              <a:buChar char="•"/>
              <a:defRPr/>
            </a:pPr>
            <a:endParaRPr lang="en-US" b="1" i="1" dirty="0" smtClean="0">
              <a:solidFill>
                <a:schemeClr val="tx2"/>
              </a:solidFill>
            </a:endParaRPr>
          </a:p>
          <a:p>
            <a:pPr marL="342900" lvl="0" indent="-342900">
              <a:spcAft>
                <a:spcPts val="600"/>
              </a:spcAft>
              <a:buFont typeface="Arial" pitchFamily="34" charset="0"/>
              <a:buChar char="•"/>
              <a:defRPr/>
            </a:pPr>
            <a:r>
              <a:rPr lang="en-US" b="1" i="1" dirty="0" smtClean="0">
                <a:solidFill>
                  <a:schemeClr val="tx2"/>
                </a:solidFill>
              </a:rPr>
              <a:t>Slope</a:t>
            </a:r>
            <a:r>
              <a:rPr lang="en-US" dirty="0"/>
              <a:t>: increase in predicted </a:t>
            </a:r>
            <a:r>
              <a:rPr lang="en-US" i="1" dirty="0"/>
              <a:t>y</a:t>
            </a:r>
            <a:r>
              <a:rPr lang="en-US" dirty="0"/>
              <a:t> for every unit increase in </a:t>
            </a:r>
            <a:r>
              <a:rPr lang="en-US" i="1" dirty="0"/>
              <a:t>x</a:t>
            </a:r>
          </a:p>
          <a:p>
            <a:pPr marL="342900" lvl="0" indent="-342900">
              <a:buFont typeface="Arial" pitchFamily="34" charset="0"/>
              <a:buChar char="•"/>
              <a:defRPr/>
            </a:pPr>
            <a:r>
              <a:rPr lang="en-US" b="1" i="1" dirty="0">
                <a:solidFill>
                  <a:schemeClr val="tx2"/>
                </a:solidFill>
              </a:rPr>
              <a:t>Intercept</a:t>
            </a:r>
            <a:r>
              <a:rPr lang="en-US" b="1" dirty="0"/>
              <a:t>:</a:t>
            </a:r>
            <a:r>
              <a:rPr lang="en-US" dirty="0"/>
              <a:t> predicted </a:t>
            </a:r>
            <a:r>
              <a:rPr lang="en-US" i="1" dirty="0"/>
              <a:t>y</a:t>
            </a:r>
            <a:r>
              <a:rPr lang="en-US" dirty="0"/>
              <a:t> value when </a:t>
            </a:r>
            <a:r>
              <a:rPr lang="en-US" i="1" dirty="0"/>
              <a:t>x </a:t>
            </a:r>
            <a:r>
              <a:rPr lang="en-US" dirty="0"/>
              <a:t>= 0</a:t>
            </a:r>
          </a:p>
        </p:txBody>
      </p:sp>
    </p:spTree>
    <p:custDataLst>
      <p:tags r:id="rId1"/>
    </p:custDataLst>
    <p:extLst>
      <p:ext uri="{BB962C8B-B14F-4D97-AF65-F5344CB8AC3E}">
        <p14:creationId xmlns:p14="http://schemas.microsoft.com/office/powerpoint/2010/main" val="4215298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0" name="AutoShape 8"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2" name="AutoShape 10"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 name="Title 2"/>
          <p:cNvSpPr txBox="1">
            <a:spLocks/>
          </p:cNvSpPr>
          <p:nvPr/>
        </p:nvSpPr>
        <p:spPr>
          <a:xfrm>
            <a:off x="457200" y="152400"/>
            <a:ext cx="8229600" cy="8382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2"/>
                </a:solidFill>
                <a:effectLst/>
                <a:uLnTx/>
                <a:uFillTx/>
                <a:latin typeface="+mj-lt"/>
                <a:ea typeface="+mj-ea"/>
                <a:cs typeface="+mj-cs"/>
              </a:rPr>
              <a:t>Prediction</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sp>
        <p:nvSpPr>
          <p:cNvPr id="11" name="Content Placeholder 1"/>
          <p:cNvSpPr txBox="1">
            <a:spLocks/>
          </p:cNvSpPr>
          <p:nvPr/>
        </p:nvSpPr>
        <p:spPr>
          <a:xfrm>
            <a:off x="228600" y="990600"/>
            <a:ext cx="8686800" cy="5715000"/>
          </a:xfrm>
          <a:prstGeom prst="rect">
            <a:avLst/>
          </a:prstGeom>
        </p:spPr>
        <p:txBody>
          <a:bodyPr>
            <a:normAutofit/>
          </a:bodyPr>
          <a:lstStyle/>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t>The regression equation can be used to predict y for a given value of x</a:t>
            </a: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3200" dirty="0"/>
          </a:p>
          <a:p>
            <a:pPr marR="0" lvl="0" algn="l" defTabSz="914400" rtl="0" eaLnBrk="1" fontAlgn="auto" latinLnBrk="0" hangingPunct="1">
              <a:lnSpc>
                <a:spcPct val="100000"/>
              </a:lnSpc>
              <a:spcBef>
                <a:spcPts val="0"/>
              </a:spcBef>
              <a:spcAft>
                <a:spcPts val="0"/>
              </a:spcAft>
              <a:buClrTx/>
              <a:buSzTx/>
              <a:tabLst/>
              <a:defRPr/>
            </a:pPr>
            <a:endParaRPr lang="en-US" sz="3600" i="1" dirty="0" smtClean="0"/>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t>If you listen and hear crickets chirping about 140 times per minute, your best guess at the outside temperature is</a:t>
            </a:r>
          </a:p>
          <a:p>
            <a:pPr marL="1657350" lvl="2" indent="-742950">
              <a:buFont typeface="+mj-lt"/>
              <a:buAutoNum type="alphaLcParenR"/>
              <a:defRPr/>
            </a:pPr>
            <a:endParaRPr lang="en-US" sz="3600" noProof="0" dirty="0" smtClean="0">
              <a:solidFill>
                <a:schemeClr val="tx2"/>
              </a:solidFill>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600" b="1" i="1" u="none" strike="noStrike" kern="1200" cap="none" spc="0" normalizeH="0" baseline="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tabLst/>
              <a:defRPr/>
            </a:pPr>
            <a:endParaRPr kumimoji="0" lang="en-US" sz="3200" b="1" u="sng"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12" name="Content Placeholder 2"/>
              <p:cNvSpPr txBox="1">
                <a:spLocks/>
              </p:cNvSpPr>
              <p:nvPr/>
            </p:nvSpPr>
            <p:spPr>
              <a:xfrm>
                <a:off x="228600" y="2286000"/>
                <a:ext cx="8534400" cy="1143000"/>
              </a:xfrm>
              <a:prstGeom prst="rect">
                <a:avLst/>
              </a:prstGeom>
            </p:spPr>
            <p:txBody>
              <a:bodyPr/>
              <a:lstStyle>
                <a:lvl1pPr marL="274320" indent="-274320" algn="l" rtl="0" eaLnBrk="1" latinLnBrk="0" hangingPunct="1">
                  <a:spcBef>
                    <a:spcPts val="0"/>
                  </a:spcBef>
                  <a:spcAft>
                    <a:spcPts val="1800"/>
                  </a:spcAft>
                  <a:buClr>
                    <a:schemeClr val="accent1"/>
                  </a:buClr>
                  <a:buSzPct val="85000"/>
                  <a:buFont typeface="Wingdings 2"/>
                  <a:buChar char=""/>
                  <a:defRPr kumimoji="0" sz="3200" kern="1200">
                    <a:solidFill>
                      <a:schemeClr val="tx1"/>
                    </a:solidFill>
                    <a:latin typeface="+mn-lt"/>
                    <a:ea typeface="+mn-ea"/>
                    <a:cs typeface="+mn-cs"/>
                  </a:defRPr>
                </a:lvl1pPr>
                <a:lvl2pPr marL="548640" indent="-274320" algn="l" rtl="0" eaLnBrk="1" latinLnBrk="0" hangingPunct="1">
                  <a:spcBef>
                    <a:spcPts val="0"/>
                  </a:spcBef>
                  <a:spcAft>
                    <a:spcPts val="0"/>
                  </a:spcAft>
                  <a:buClr>
                    <a:schemeClr val="accent2"/>
                  </a:buClr>
                  <a:buSzPct val="70000"/>
                  <a:buFont typeface="Wingdings"/>
                  <a:buChar char=""/>
                  <a:defRPr kumimoji="0" sz="2800" kern="1200">
                    <a:solidFill>
                      <a:schemeClr val="tx1"/>
                    </a:solidFill>
                    <a:latin typeface="+mn-lt"/>
                    <a:ea typeface="+mn-ea"/>
                    <a:cs typeface="+mn-cs"/>
                  </a:defRPr>
                </a:lvl2pPr>
                <a:lvl3pPr marL="822960" indent="-228600" algn="l" rtl="0" eaLnBrk="1" latinLnBrk="0" hangingPunct="1">
                  <a:spcBef>
                    <a:spcPts val="0"/>
                  </a:spcBef>
                  <a:spcAft>
                    <a:spcPts val="0"/>
                  </a:spcAft>
                  <a:buClr>
                    <a:schemeClr val="accent3"/>
                  </a:buClr>
                  <a:buSzPct val="75000"/>
                  <a:buFont typeface="Wingdings 2"/>
                  <a:buChar char=""/>
                  <a:defRPr kumimoji="0" sz="2400" kern="1200">
                    <a:solidFill>
                      <a:schemeClr val="tx1"/>
                    </a:solidFill>
                    <a:latin typeface="+mn-lt"/>
                    <a:ea typeface="+mn-ea"/>
                    <a:cs typeface="+mn-cs"/>
                  </a:defRPr>
                </a:lvl3pPr>
                <a:lvl4pPr marL="1097280" indent="-228600" algn="l" rtl="0" eaLnBrk="1" latinLnBrk="0" hangingPunct="1">
                  <a:spcBef>
                    <a:spcPts val="0"/>
                  </a:spcBef>
                  <a:spcAft>
                    <a:spcPts val="0"/>
                  </a:spcAft>
                  <a:buClr>
                    <a:schemeClr val="accent4"/>
                  </a:buClr>
                  <a:buSzPct val="70000"/>
                  <a:buFont typeface="Wingdings"/>
                  <a:buChar char=""/>
                  <a:defRPr kumimoji="0" sz="2000" kern="1200">
                    <a:solidFill>
                      <a:schemeClr val="tx1"/>
                    </a:solidFill>
                    <a:latin typeface="+mn-lt"/>
                    <a:ea typeface="+mn-ea"/>
                    <a:cs typeface="+mn-cs"/>
                  </a:defRPr>
                </a:lvl4pPr>
                <a:lvl5pPr marL="1371600" indent="-228600" algn="l" rtl="0" eaLnBrk="1" latinLnBrk="0" hangingPunct="1">
                  <a:spcBef>
                    <a:spcPts val="0"/>
                  </a:spcBef>
                  <a:spcAft>
                    <a:spcPts val="2400"/>
                  </a:spcAft>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0" indent="0">
                  <a:buFont typeface="Wingdings 2"/>
                  <a:buNone/>
                </a:pPr>
                <a14:m>
                  <m:oMathPara xmlns:m="http://schemas.openxmlformats.org/officeDocument/2006/math">
                    <m:oMathParaPr>
                      <m:jc m:val="centerGroup"/>
                    </m:oMathParaPr>
                    <m:oMath xmlns:m="http://schemas.openxmlformats.org/officeDocument/2006/math">
                      <m:acc>
                        <m:accPr>
                          <m:chr m:val="̂"/>
                          <m:ctrlPr>
                            <a:rPr lang="en-US" sz="3600" i="1" smtClean="0">
                              <a:latin typeface="Cambria Math"/>
                            </a:rPr>
                          </m:ctrlPr>
                        </m:accPr>
                        <m:e>
                          <m:r>
                            <a:rPr lang="en-US" sz="3600" i="1" smtClean="0">
                              <a:latin typeface="Cambria Math"/>
                            </a:rPr>
                            <m:t>𝑇𝑒𝑚𝑝</m:t>
                          </m:r>
                        </m:e>
                      </m:acc>
                      <m:r>
                        <a:rPr lang="en-US" sz="3600" i="1" smtClean="0">
                          <a:latin typeface="Cambria Math"/>
                        </a:rPr>
                        <m:t>=37.68+0.23</m:t>
                      </m:r>
                      <m:r>
                        <a:rPr lang="en-US" sz="3600" i="1" smtClean="0">
                          <a:latin typeface="Cambria Math"/>
                        </a:rPr>
                        <m:t>𝐶h𝑖𝑟𝑝𝑠</m:t>
                      </m:r>
                    </m:oMath>
                  </m:oMathPara>
                </a14:m>
                <a:endParaRPr lang="en-US" sz="3600" dirty="0"/>
              </a:p>
            </p:txBody>
          </p:sp>
        </mc:Choice>
        <mc:Fallback xmlns="">
          <p:sp>
            <p:nvSpPr>
              <p:cNvPr id="12" name="Content Placeholder 2"/>
              <p:cNvSpPr txBox="1">
                <a:spLocks noRot="1" noChangeAspect="1" noMove="1" noResize="1" noEditPoints="1" noAdjustHandles="1" noChangeArrowheads="1" noChangeShapeType="1" noTextEdit="1"/>
              </p:cNvSpPr>
              <p:nvPr/>
            </p:nvSpPr>
            <p:spPr>
              <a:xfrm>
                <a:off x="228600" y="2286000"/>
                <a:ext cx="8534400" cy="1143000"/>
              </a:xfrm>
              <a:prstGeom prst="rect">
                <a:avLst/>
              </a:prstGeom>
              <a:blipFill rotWithShape="1">
                <a:blip r:embed="rId6"/>
                <a:stretch>
                  <a:fillRect/>
                </a:stretch>
              </a:blipFill>
            </p:spPr>
            <p:txBody>
              <a:bodyPr/>
              <a:lstStyle/>
              <a:p>
                <a:r>
                  <a:rPr lang="en-US">
                    <a:noFill/>
                  </a:rPr>
                  <a:t> </a:t>
                </a:r>
              </a:p>
            </p:txBody>
          </p:sp>
        </mc:Fallback>
      </mc:AlternateContent>
      <p:sp>
        <p:nvSpPr>
          <p:cNvPr id="2" name="Rectangle 1"/>
          <p:cNvSpPr/>
          <p:nvPr/>
        </p:nvSpPr>
        <p:spPr>
          <a:xfrm>
            <a:off x="533400" y="4724400"/>
            <a:ext cx="8153400" cy="1600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785344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0" name="AutoShape 8"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2" name="AutoShape 10"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 name="Title 2"/>
          <p:cNvSpPr txBox="1">
            <a:spLocks/>
          </p:cNvSpPr>
          <p:nvPr/>
        </p:nvSpPr>
        <p:spPr>
          <a:xfrm>
            <a:off x="457200" y="152400"/>
            <a:ext cx="8229600" cy="8382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2"/>
                </a:solidFill>
                <a:effectLst/>
                <a:uLnTx/>
                <a:uFillTx/>
                <a:latin typeface="+mj-lt"/>
                <a:ea typeface="+mj-ea"/>
                <a:cs typeface="+mj-cs"/>
              </a:rPr>
              <a:t>Prediction</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graphicFrame>
        <p:nvGraphicFramePr>
          <p:cNvPr id="25603" name="Object 3"/>
          <p:cNvGraphicFramePr>
            <a:graphicFrameLocks noChangeAspect="1"/>
          </p:cNvGraphicFramePr>
          <p:nvPr>
            <p:extLst>
              <p:ext uri="{D42A27DB-BD31-4B8C-83A1-F6EECF244321}">
                <p14:modId xmlns:p14="http://schemas.microsoft.com/office/powerpoint/2010/main" val="296995112"/>
              </p:ext>
            </p:extLst>
          </p:nvPr>
        </p:nvGraphicFramePr>
        <p:xfrm>
          <a:off x="2008188" y="838200"/>
          <a:ext cx="5489575" cy="585788"/>
        </p:xfrm>
        <a:graphic>
          <a:graphicData uri="http://schemas.openxmlformats.org/presentationml/2006/ole">
            <mc:AlternateContent xmlns:mc="http://schemas.openxmlformats.org/markup-compatibility/2006">
              <mc:Choice xmlns:v="urn:schemas-microsoft-com:vml" Requires="v">
                <p:oleObj spid="_x0000_s20512" name="Equation" r:id="rId4" imgW="1663560" imgH="177480" progId="Equation.DSMT4">
                  <p:embed/>
                </p:oleObj>
              </mc:Choice>
              <mc:Fallback>
                <p:oleObj name="Equation" r:id="rId4" imgW="1663560" imgH="177480" progId="Equation.DSMT4">
                  <p:embed/>
                  <p:pic>
                    <p:nvPicPr>
                      <p:cNvPr id="0" name=""/>
                      <p:cNvPicPr>
                        <a:picLocks noChangeAspect="1" noChangeArrowheads="1"/>
                      </p:cNvPicPr>
                      <p:nvPr/>
                    </p:nvPicPr>
                    <p:blipFill>
                      <a:blip r:embed="rId5"/>
                      <a:srcRect/>
                      <a:stretch>
                        <a:fillRect/>
                      </a:stretch>
                    </p:blipFill>
                    <p:spPr bwMode="auto">
                      <a:xfrm>
                        <a:off x="2008188" y="838200"/>
                        <a:ext cx="5489575" cy="585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 name="Picture 11" descr="plot (4).png"/>
          <p:cNvPicPr>
            <a:picLocks noChangeAspect="1"/>
          </p:cNvPicPr>
          <p:nvPr/>
        </p:nvPicPr>
        <p:blipFill>
          <a:blip r:embed="rId6" cstate="print"/>
          <a:srcRect t="12254"/>
          <a:stretch>
            <a:fillRect/>
          </a:stretch>
        </p:blipFill>
        <p:spPr>
          <a:xfrm>
            <a:off x="1150031" y="1447800"/>
            <a:ext cx="7003369" cy="4953000"/>
          </a:xfrm>
          <a:prstGeom prst="rect">
            <a:avLst/>
          </a:prstGeom>
        </p:spPr>
      </p:pic>
      <p:cxnSp>
        <p:nvCxnSpPr>
          <p:cNvPr id="5" name="Straight Arrow Connector 4"/>
          <p:cNvCxnSpPr/>
          <p:nvPr/>
        </p:nvCxnSpPr>
        <p:spPr>
          <a:xfrm flipV="1">
            <a:off x="4900246" y="3352800"/>
            <a:ext cx="0" cy="2133600"/>
          </a:xfrm>
          <a:prstGeom prst="straightConnector1">
            <a:avLst/>
          </a:prstGeom>
          <a:ln w="317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1905000" y="3352800"/>
            <a:ext cx="2995246" cy="0"/>
          </a:xfrm>
          <a:prstGeom prst="straightConnector1">
            <a:avLst/>
          </a:prstGeom>
          <a:ln w="317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spTree>
    <p:custDataLst>
      <p:tags r:id="rId2"/>
    </p:custDataLst>
    <p:extLst>
      <p:ext uri="{BB962C8B-B14F-4D97-AF65-F5344CB8AC3E}">
        <p14:creationId xmlns:p14="http://schemas.microsoft.com/office/powerpoint/2010/main" val="2385107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nodeType="withEffect">
                                  <p:stCondLst>
                                    <p:cond delay="70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0" name="AutoShape 8"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2" name="AutoShape 10"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2" name="Picture 11" descr="plot (4).png"/>
          <p:cNvPicPr>
            <a:picLocks noChangeAspect="1"/>
          </p:cNvPicPr>
          <p:nvPr/>
        </p:nvPicPr>
        <p:blipFill>
          <a:blip r:embed="rId4" cstate="print"/>
          <a:srcRect t="12254"/>
          <a:stretch>
            <a:fillRect/>
          </a:stretch>
        </p:blipFill>
        <p:spPr>
          <a:xfrm>
            <a:off x="0" y="3200400"/>
            <a:ext cx="4711288" cy="3331970"/>
          </a:xfrm>
          <a:prstGeom prst="rect">
            <a:avLst/>
          </a:prstGeom>
        </p:spPr>
      </p:pic>
      <p:sp>
        <p:nvSpPr>
          <p:cNvPr id="2" name="TPQuestion"/>
          <p:cNvSpPr>
            <a:spLocks noGrp="1"/>
          </p:cNvSpPr>
          <p:nvPr>
            <p:ph type="title" idx="4294967295"/>
          </p:nvPr>
        </p:nvSpPr>
        <p:spPr>
          <a:xfrm>
            <a:off x="0" y="7936"/>
            <a:ext cx="9144000" cy="1744663"/>
          </a:xfrm>
        </p:spPr>
        <p:txBody>
          <a:bodyPr>
            <a:normAutofit fontScale="90000"/>
          </a:bodyPr>
          <a:lstStyle/>
          <a:p>
            <a:pPr lvl="0">
              <a:defRPr/>
            </a:pPr>
            <a:r>
              <a:rPr lang="en-US" dirty="0"/>
              <a:t>If the crickets are chirping about 180 times per minute, your best guess at the temperature is</a:t>
            </a:r>
          </a:p>
        </p:txBody>
      </p:sp>
      <p:sp>
        <p:nvSpPr>
          <p:cNvPr id="6" name="TPAnswers"/>
          <p:cNvSpPr>
            <a:spLocks noGrp="1"/>
          </p:cNvSpPr>
          <p:nvPr>
            <p:ph sz="quarter" idx="4294967295"/>
            <p:custDataLst>
              <p:tags r:id="rId2"/>
            </p:custDataLst>
          </p:nvPr>
        </p:nvSpPr>
        <p:spPr>
          <a:xfrm>
            <a:off x="3202931" y="1143000"/>
            <a:ext cx="1978669" cy="1905000"/>
          </a:xfrm>
        </p:spPr>
        <p:txBody>
          <a:bodyPr>
            <a:noAutofit/>
          </a:bodyPr>
          <a:lstStyle/>
          <a:p>
            <a:pPr marL="514350" indent="-514350">
              <a:spcBef>
                <a:spcPct val="20000"/>
              </a:spcBef>
              <a:buFont typeface="+mj-lt"/>
              <a:buAutoNum type="arabicPeriod"/>
              <a:defRPr/>
            </a:pPr>
            <a:r>
              <a:rPr lang="en-US" dirty="0"/>
              <a:t>60</a:t>
            </a:r>
            <a:r>
              <a:rPr lang="en-US" dirty="0">
                <a:sym typeface="Symbol"/>
              </a:rPr>
              <a:t></a:t>
            </a:r>
          </a:p>
          <a:p>
            <a:pPr marL="514350" indent="-514350">
              <a:spcBef>
                <a:spcPct val="20000"/>
              </a:spcBef>
              <a:buFont typeface="+mj-lt"/>
              <a:buAutoNum type="arabicPeriod"/>
              <a:defRPr/>
            </a:pPr>
            <a:r>
              <a:rPr lang="en-US" dirty="0"/>
              <a:t>70</a:t>
            </a:r>
            <a:r>
              <a:rPr lang="en-US" dirty="0">
                <a:sym typeface="Symbol"/>
              </a:rPr>
              <a:t></a:t>
            </a:r>
          </a:p>
          <a:p>
            <a:pPr marL="514350" indent="-514350">
              <a:spcBef>
                <a:spcPct val="20000"/>
              </a:spcBef>
              <a:buFont typeface="+mj-lt"/>
              <a:buAutoNum type="arabicPeriod"/>
              <a:defRPr/>
            </a:pPr>
            <a:r>
              <a:rPr lang="en-US" dirty="0"/>
              <a:t>80</a:t>
            </a:r>
            <a:r>
              <a:rPr lang="en-US" dirty="0" smtClean="0">
                <a:sym typeface="Symbol"/>
              </a:rPr>
              <a:t></a:t>
            </a:r>
            <a:endParaRPr lang="en-US" dirty="0"/>
          </a:p>
        </p:txBody>
      </p:sp>
    </p:spTree>
    <p:custDataLst>
      <p:tags r:id="rId1"/>
    </p:custDataLst>
    <p:extLst>
      <p:ext uri="{BB962C8B-B14F-4D97-AF65-F5344CB8AC3E}">
        <p14:creationId xmlns:p14="http://schemas.microsoft.com/office/powerpoint/2010/main" val="33804057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http://www.school-clipart.com/school_clipart_images/pencil_touching_lead_to_paper_0515-1007-2718-0955_SMU.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1" y="228600"/>
            <a:ext cx="838200" cy="8186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81000" y="1371600"/>
            <a:ext cx="8001000" cy="3016210"/>
          </a:xfrm>
          <a:prstGeom prst="rect">
            <a:avLst/>
          </a:prstGeom>
          <a:noFill/>
        </p:spPr>
        <p:txBody>
          <a:bodyPr wrap="square" rtlCol="0">
            <a:spAutoFit/>
          </a:bodyPr>
          <a:lstStyle/>
          <a:p>
            <a:pPr marL="274320" indent="-274320">
              <a:spcAft>
                <a:spcPts val="1800"/>
              </a:spcAft>
              <a:buClr>
                <a:schemeClr val="accent1"/>
              </a:buClr>
              <a:buSzPct val="85000"/>
              <a:buFont typeface="Wingdings 2"/>
              <a:buChar char=""/>
            </a:pPr>
            <a:r>
              <a:rPr lang="en-US" sz="3200" dirty="0"/>
              <a:t>O</a:t>
            </a:r>
            <a:r>
              <a:rPr lang="en-US" sz="3200" dirty="0" smtClean="0"/>
              <a:t>ne of the cases in the cricket dataset is 103 chirps per minute at 63.5</a:t>
            </a:r>
            <a:r>
              <a:rPr lang="en-US" sz="3200" baseline="30000" dirty="0" smtClean="0"/>
              <a:t>o</a:t>
            </a:r>
            <a:r>
              <a:rPr lang="en-US" sz="3200" dirty="0" smtClean="0"/>
              <a:t>F</a:t>
            </a:r>
          </a:p>
          <a:p>
            <a:pPr marL="274320" indent="-274320">
              <a:spcAft>
                <a:spcPts val="1800"/>
              </a:spcAft>
              <a:buClr>
                <a:schemeClr val="accent1"/>
              </a:buClr>
              <a:buSzPct val="85000"/>
              <a:buFont typeface="Wingdings 2"/>
              <a:buChar char=""/>
            </a:pPr>
            <a:r>
              <a:rPr lang="en-US" sz="3200" dirty="0"/>
              <a:t>How far is the </a:t>
            </a:r>
            <a:r>
              <a:rPr lang="en-US" sz="3200" i="1" dirty="0"/>
              <a:t>predicted</a:t>
            </a:r>
            <a:r>
              <a:rPr lang="en-US" sz="3200" dirty="0"/>
              <a:t> temperature from the </a:t>
            </a:r>
            <a:r>
              <a:rPr lang="en-US" sz="3200" i="1" dirty="0"/>
              <a:t>observed</a:t>
            </a:r>
            <a:r>
              <a:rPr lang="en-US" sz="3200" dirty="0"/>
              <a:t> temperature for this case?   </a:t>
            </a:r>
          </a:p>
          <a:p>
            <a:pPr>
              <a:spcAft>
                <a:spcPts val="1800"/>
              </a:spcAft>
              <a:buClr>
                <a:schemeClr val="accent1"/>
              </a:buClr>
              <a:buSzPct val="85000"/>
            </a:pPr>
            <a:endParaRPr lang="en-US" sz="3200" dirty="0" smtClean="0"/>
          </a:p>
        </p:txBody>
      </p:sp>
      <p:sp>
        <p:nvSpPr>
          <p:cNvPr id="5" name="Title 2"/>
          <p:cNvSpPr txBox="1">
            <a:spLocks/>
          </p:cNvSpPr>
          <p:nvPr/>
        </p:nvSpPr>
        <p:spPr>
          <a:xfrm>
            <a:off x="457200" y="152400"/>
            <a:ext cx="8229600" cy="8382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2"/>
                </a:solidFill>
                <a:effectLst/>
                <a:uLnTx/>
                <a:uFillTx/>
                <a:latin typeface="+mj-lt"/>
                <a:ea typeface="+mj-ea"/>
                <a:cs typeface="+mj-cs"/>
              </a:rPr>
              <a:t>Prediction</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sp>
        <p:nvSpPr>
          <p:cNvPr id="6" name="Rectangle 5"/>
          <p:cNvSpPr/>
          <p:nvPr/>
        </p:nvSpPr>
        <p:spPr>
          <a:xfrm>
            <a:off x="533400" y="3810000"/>
            <a:ext cx="8153400" cy="2514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42288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2" name="AutoShape 10" descr="http://beta.rstudio.org/graphics/plot.png?width=555&amp;height=449&amp;randomizer=1815190823"/>
          <p:cNvSpPr>
            <a:spLocks noChangeAspect="1" noChangeArrowheads="1"/>
          </p:cNvSpPr>
          <p:nvPr/>
        </p:nvSpPr>
        <p:spPr bwMode="auto">
          <a:xfrm>
            <a:off x="152400" y="0"/>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 name="Title 2"/>
          <p:cNvSpPr txBox="1">
            <a:spLocks/>
          </p:cNvSpPr>
          <p:nvPr/>
        </p:nvSpPr>
        <p:spPr>
          <a:xfrm>
            <a:off x="457200" y="0"/>
            <a:ext cx="8229600" cy="1143000"/>
          </a:xfrm>
          <a:prstGeom prst="rect">
            <a:avLst/>
          </a:prstGeom>
        </p:spPr>
        <p:txBody>
          <a:bodyPr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2"/>
                </a:solidFill>
                <a:effectLst/>
                <a:uLnTx/>
                <a:uFillTx/>
                <a:latin typeface="+mj-lt"/>
                <a:ea typeface="+mj-ea"/>
                <a:cs typeface="+mj-cs"/>
              </a:rPr>
              <a:t>Predicted and</a:t>
            </a:r>
            <a:r>
              <a:rPr kumimoji="0" lang="en-US" sz="4400" b="1" i="0" u="none" strike="noStrike" kern="1200" cap="none" spc="0" normalizeH="0" noProof="0" dirty="0" smtClean="0">
                <a:ln>
                  <a:noFill/>
                </a:ln>
                <a:solidFill>
                  <a:schemeClr val="tx2"/>
                </a:solidFill>
                <a:effectLst/>
                <a:uLnTx/>
                <a:uFillTx/>
                <a:latin typeface="+mj-lt"/>
                <a:ea typeface="+mj-ea"/>
                <a:cs typeface="+mj-cs"/>
              </a:rPr>
              <a:t> Observed Values</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mc:AlternateContent xmlns:mc="http://schemas.openxmlformats.org/markup-compatibility/2006" xmlns:a14="http://schemas.microsoft.com/office/drawing/2010/main">
        <mc:Choice Requires="a14">
          <p:sp>
            <p:nvSpPr>
              <p:cNvPr id="12" name="Content Placeholder 1"/>
              <p:cNvSpPr txBox="1">
                <a:spLocks/>
              </p:cNvSpPr>
              <p:nvPr/>
            </p:nvSpPr>
            <p:spPr>
              <a:xfrm>
                <a:off x="1172" y="1050388"/>
                <a:ext cx="9142828" cy="5807612"/>
              </a:xfrm>
              <a:prstGeom prst="rect">
                <a:avLst/>
              </a:prstGeom>
            </p:spPr>
            <p:txBody>
              <a:bodyPr>
                <a:normAutofit fontScale="92500"/>
              </a:bodyPr>
              <a:lstStyle/>
              <a:p>
                <a:pPr marL="342900" lvl="0" indent="-342900">
                  <a:spcAft>
                    <a:spcPts val="1800"/>
                  </a:spcAft>
                  <a:buFont typeface="Arial" pitchFamily="34" charset="0"/>
                  <a:buChar char="•"/>
                  <a:defRPr/>
                </a:pPr>
                <a:r>
                  <a:rPr kumimoji="0" lang="en-US" sz="3200" b="0" i="0" u="none" strike="noStrike" kern="1200" cap="none" spc="0" normalizeH="0" baseline="0" noProof="0" dirty="0" smtClean="0">
                    <a:ln>
                      <a:noFill/>
                    </a:ln>
                    <a:solidFill>
                      <a:schemeClr val="tx1"/>
                    </a:solidFill>
                    <a:effectLst/>
                    <a:uLnTx/>
                    <a:uFillTx/>
                  </a:rPr>
                  <a:t>The </a:t>
                </a:r>
                <a:r>
                  <a:rPr kumimoji="0" lang="en-US" sz="3200" b="1" i="1" u="none" strike="noStrike" kern="1200" cap="none" spc="0" normalizeH="0" baseline="0" noProof="0" dirty="0" smtClean="0">
                    <a:ln>
                      <a:noFill/>
                    </a:ln>
                    <a:solidFill>
                      <a:schemeClr val="accent5">
                        <a:lumMod val="50000"/>
                      </a:schemeClr>
                    </a:solidFill>
                    <a:effectLst/>
                    <a:uLnTx/>
                    <a:uFillTx/>
                  </a:rPr>
                  <a:t>observed response</a:t>
                </a:r>
                <a:r>
                  <a:rPr kumimoji="0" lang="en-US" sz="3200" b="1" i="1" u="none" strike="noStrike" kern="1200" cap="none" spc="0" normalizeH="0" noProof="0" dirty="0" smtClean="0">
                    <a:ln>
                      <a:noFill/>
                    </a:ln>
                    <a:solidFill>
                      <a:schemeClr val="accent5">
                        <a:lumMod val="50000"/>
                      </a:schemeClr>
                    </a:solidFill>
                    <a:effectLst/>
                    <a:uLnTx/>
                    <a:uFillTx/>
                  </a:rPr>
                  <a:t> value</a:t>
                </a:r>
                <a:r>
                  <a:rPr kumimoji="0" lang="en-US" sz="3200" b="0" i="0" u="none" strike="noStrike" kern="1200" cap="none" spc="0" normalizeH="0" noProof="0" dirty="0" smtClean="0">
                    <a:ln>
                      <a:noFill/>
                    </a:ln>
                    <a:solidFill>
                      <a:schemeClr val="tx1"/>
                    </a:solidFill>
                    <a:effectLst/>
                    <a:uLnTx/>
                    <a:uFillTx/>
                  </a:rPr>
                  <a:t>, </a:t>
                </a:r>
                <a:r>
                  <a:rPr kumimoji="0" lang="en-US" sz="3200" b="0" i="1" u="none" strike="noStrike" kern="1200" cap="none" spc="0" normalizeH="0" noProof="0" dirty="0" smtClean="0">
                    <a:ln>
                      <a:noFill/>
                    </a:ln>
                    <a:solidFill>
                      <a:schemeClr val="tx1"/>
                    </a:solidFill>
                    <a:effectLst/>
                    <a:uLnTx/>
                    <a:uFillTx/>
                  </a:rPr>
                  <a:t>y</a:t>
                </a:r>
                <a:r>
                  <a:rPr lang="en-US" sz="3200" dirty="0" smtClean="0">
                    <a:solidFill>
                      <a:schemeClr val="tx1"/>
                    </a:solidFill>
                  </a:rPr>
                  <a:t>, is the response value that was actually observed for a given </a:t>
                </a:r>
                <a:r>
                  <a:rPr lang="en-US" sz="3200" dirty="0" smtClean="0"/>
                  <a:t>value of the </a:t>
                </a:r>
                <a:r>
                  <a:rPr lang="en-US" sz="3200" dirty="0" smtClean="0">
                    <a:solidFill>
                      <a:schemeClr val="tx1"/>
                    </a:solidFill>
                  </a:rPr>
                  <a:t>explanatory variable, </a:t>
                </a:r>
                <a:r>
                  <a:rPr lang="en-US" sz="3200" i="1" dirty="0"/>
                  <a:t>x</a:t>
                </a:r>
                <a:r>
                  <a:rPr lang="en-US" sz="3200" dirty="0" smtClean="0">
                    <a:solidFill>
                      <a:schemeClr val="tx1"/>
                    </a:solidFill>
                  </a:rPr>
                  <a:t>.</a:t>
                </a:r>
              </a:p>
              <a:p>
                <a:pPr marL="342900" indent="-342900">
                  <a:spcAft>
                    <a:spcPts val="1800"/>
                  </a:spcAft>
                  <a:buFont typeface="Arial" pitchFamily="34" charset="0"/>
                  <a:buChar char="•"/>
                  <a:defRPr/>
                </a:pPr>
                <a:r>
                  <a:rPr lang="en-US" sz="3200" dirty="0" smtClean="0">
                    <a:solidFill>
                      <a:schemeClr val="tx1"/>
                    </a:solidFill>
                  </a:rPr>
                  <a:t>The </a:t>
                </a:r>
                <a:r>
                  <a:rPr lang="en-US" sz="3200" b="1" i="1" dirty="0" smtClean="0">
                    <a:solidFill>
                      <a:schemeClr val="accent1">
                        <a:lumMod val="75000"/>
                      </a:schemeClr>
                    </a:solidFill>
                  </a:rPr>
                  <a:t>predicted response value</a:t>
                </a:r>
                <a:r>
                  <a:rPr lang="en-US" sz="3200" dirty="0" smtClean="0">
                    <a:solidFill>
                      <a:schemeClr val="tx1"/>
                    </a:solidFill>
                  </a:rPr>
                  <a:t>, </a:t>
                </a:r>
                <a14:m>
                  <m:oMath xmlns:m="http://schemas.openxmlformats.org/officeDocument/2006/math">
                    <m:acc>
                      <m:accPr>
                        <m:chr m:val="̂"/>
                        <m:ctrlPr>
                          <a:rPr lang="en-US" sz="3200" i="1" smtClean="0">
                            <a:solidFill>
                              <a:schemeClr val="tx1"/>
                            </a:solidFill>
                            <a:latin typeface="Cambria Math"/>
                          </a:rPr>
                        </m:ctrlPr>
                      </m:accPr>
                      <m:e>
                        <m:r>
                          <a:rPr lang="en-US" sz="3200" b="0" i="1" smtClean="0">
                            <a:solidFill>
                              <a:schemeClr val="tx1"/>
                            </a:solidFill>
                            <a:latin typeface="Cambria Math"/>
                          </a:rPr>
                          <m:t>𝑦</m:t>
                        </m:r>
                      </m:e>
                    </m:acc>
                  </m:oMath>
                </a14:m>
                <a:r>
                  <a:rPr lang="en-US" sz="3200" dirty="0" smtClean="0">
                    <a:solidFill>
                      <a:schemeClr val="tx1"/>
                    </a:solidFill>
                  </a:rPr>
                  <a:t>, is the response value that is </a:t>
                </a:r>
                <a:r>
                  <a:rPr lang="en-US" sz="3200" dirty="0"/>
                  <a:t>predicted </a:t>
                </a:r>
                <a:r>
                  <a:rPr lang="en-US" sz="3200" dirty="0" smtClean="0"/>
                  <a:t>by the regression model </a:t>
                </a:r>
                <a:r>
                  <a:rPr lang="en-US" sz="3200" dirty="0" smtClean="0">
                    <a:solidFill>
                      <a:schemeClr val="tx1"/>
                    </a:solidFill>
                  </a:rPr>
                  <a:t>for a given value of the explanatory variable, </a:t>
                </a:r>
                <a:r>
                  <a:rPr lang="en-US" sz="3200" i="1" dirty="0" smtClean="0">
                    <a:solidFill>
                      <a:schemeClr val="tx1"/>
                    </a:solidFill>
                  </a:rPr>
                  <a:t>x.</a:t>
                </a:r>
                <a:r>
                  <a:rPr lang="en-US" sz="3200" dirty="0" smtClean="0">
                    <a:solidFill>
                      <a:schemeClr val="tx1"/>
                    </a:solidFill>
                  </a:rPr>
                  <a:t> </a:t>
                </a:r>
              </a:p>
              <a:p>
                <a:pPr marL="342900" indent="-342900">
                  <a:spcAft>
                    <a:spcPts val="1800"/>
                  </a:spcAft>
                  <a:buFont typeface="Arial" pitchFamily="34" charset="0"/>
                  <a:buChar char="•"/>
                  <a:defRPr/>
                </a:pPr>
                <a:r>
                  <a:rPr lang="en-US" sz="3200" dirty="0" smtClean="0">
                    <a:solidFill>
                      <a:schemeClr val="tx1"/>
                    </a:solidFill>
                  </a:rPr>
                  <a:t>In linear regression, the </a:t>
                </a:r>
                <a:r>
                  <a:rPr lang="en-US" sz="3200" b="1" i="1" dirty="0">
                    <a:solidFill>
                      <a:schemeClr val="accent1">
                        <a:lumMod val="75000"/>
                      </a:schemeClr>
                    </a:solidFill>
                  </a:rPr>
                  <a:t>predicted</a:t>
                </a:r>
                <a:r>
                  <a:rPr lang="en-US" sz="3200" dirty="0" smtClean="0">
                    <a:solidFill>
                      <a:schemeClr val="tx1"/>
                    </a:solidFill>
                  </a:rPr>
                  <a:t> values </a:t>
                </a:r>
                <a:r>
                  <a:rPr lang="en-US" sz="3200" b="1" i="1" dirty="0">
                    <a:solidFill>
                      <a:schemeClr val="accent1">
                        <a:lumMod val="75000"/>
                      </a:schemeClr>
                    </a:solidFill>
                  </a:rPr>
                  <a:t>fall on the regression line</a:t>
                </a:r>
                <a:r>
                  <a:rPr lang="en-US" sz="3200" dirty="0" smtClean="0">
                    <a:solidFill>
                      <a:schemeClr val="tx1"/>
                    </a:solidFill>
                  </a:rPr>
                  <a:t> directly above the corresponding </a:t>
                </a:r>
                <a:r>
                  <a:rPr lang="en-US" sz="3200" i="1" dirty="0" smtClean="0">
                    <a:solidFill>
                      <a:schemeClr val="tx1"/>
                    </a:solidFill>
                  </a:rPr>
                  <a:t>x </a:t>
                </a:r>
                <a:r>
                  <a:rPr lang="en-US" sz="3200" dirty="0" smtClean="0">
                    <a:solidFill>
                      <a:schemeClr val="tx1"/>
                    </a:solidFill>
                  </a:rPr>
                  <a:t>value.</a:t>
                </a:r>
              </a:p>
              <a:p>
                <a:pPr marL="342900" marR="0" lvl="0" indent="-342900" algn="l" defTabSz="914400" rtl="0" eaLnBrk="1" fontAlgn="auto" latinLnBrk="0" hangingPunct="1">
                  <a:lnSpc>
                    <a:spcPct val="100000"/>
                  </a:lnSpc>
                  <a:spcBef>
                    <a:spcPts val="0"/>
                  </a:spcBef>
                  <a:spcAft>
                    <a:spcPts val="1800"/>
                  </a:spcAft>
                  <a:buClrTx/>
                  <a:buSzTx/>
                  <a:buFont typeface="Arial" pitchFamily="34" charset="0"/>
                  <a:buChar char="•"/>
                  <a:tabLst/>
                  <a:defRPr/>
                </a:pPr>
                <a:r>
                  <a:rPr lang="en-US" sz="3200" dirty="0" smtClean="0">
                    <a:solidFill>
                      <a:schemeClr val="tx1"/>
                    </a:solidFill>
                  </a:rPr>
                  <a:t>The best fitting line is that which makes the predicted values closest to the observed values</a:t>
                </a:r>
                <a:endParaRPr kumimoji="0" lang="en-US" sz="3200" b="0" i="0" u="none" strike="noStrike" kern="1200" cap="none" spc="0" normalizeH="0" baseline="0" noProof="0" dirty="0" smtClean="0">
                  <a:ln>
                    <a:noFill/>
                  </a:ln>
                  <a:solidFill>
                    <a:schemeClr val="tx1"/>
                  </a:solidFill>
                  <a:effectLst/>
                  <a:uLnTx/>
                  <a:uFillTx/>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2"/>
                  </a:solidFill>
                  <a:effectLst/>
                  <a:uLnTx/>
                  <a:uFillTx/>
                </a:endParaRPr>
              </a:p>
            </p:txBody>
          </p:sp>
        </mc:Choice>
        <mc:Fallback xmlns="">
          <p:sp>
            <p:nvSpPr>
              <p:cNvPr id="12" name="Content Placeholder 1"/>
              <p:cNvSpPr txBox="1">
                <a:spLocks noRot="1" noChangeAspect="1" noMove="1" noResize="1" noEditPoints="1" noAdjustHandles="1" noChangeArrowheads="1" noChangeShapeType="1" noTextEdit="1"/>
              </p:cNvSpPr>
              <p:nvPr/>
            </p:nvSpPr>
            <p:spPr>
              <a:xfrm>
                <a:off x="1172" y="1050388"/>
                <a:ext cx="9142828" cy="5807612"/>
              </a:xfrm>
              <a:prstGeom prst="rect">
                <a:avLst/>
              </a:prstGeom>
              <a:blipFill rotWithShape="1">
                <a:blip r:embed="rId3"/>
                <a:stretch>
                  <a:fillRect l="-1333" t="-1259" r="-2067"/>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901414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2" name="AutoShape 10" descr="http://beta.rstudio.org/graphics/plot.png?width=555&amp;height=449&amp;randomizer=1815190823"/>
          <p:cNvSpPr>
            <a:spLocks noChangeAspect="1" noChangeArrowheads="1"/>
          </p:cNvSpPr>
          <p:nvPr/>
        </p:nvSpPr>
        <p:spPr bwMode="auto">
          <a:xfrm>
            <a:off x="152400" y="0"/>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 name="Title 2"/>
          <p:cNvSpPr txBox="1">
            <a:spLocks/>
          </p:cNvSpPr>
          <p:nvPr/>
        </p:nvSpPr>
        <p:spPr>
          <a:xfrm>
            <a:off x="457200" y="0"/>
            <a:ext cx="8229600" cy="1143000"/>
          </a:xfrm>
          <a:prstGeom prst="rect">
            <a:avLst/>
          </a:prstGeom>
        </p:spPr>
        <p:txBody>
          <a:bodyPr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2"/>
                </a:solidFill>
                <a:effectLst/>
                <a:uLnTx/>
                <a:uFillTx/>
                <a:latin typeface="+mj-lt"/>
                <a:ea typeface="+mj-ea"/>
                <a:cs typeface="+mj-cs"/>
              </a:rPr>
              <a:t>Predicted and</a:t>
            </a:r>
            <a:r>
              <a:rPr kumimoji="0" lang="en-US" sz="4400" b="1" i="0" u="none" strike="noStrike" kern="1200" cap="none" spc="0" normalizeH="0" noProof="0" dirty="0" smtClean="0">
                <a:ln>
                  <a:noFill/>
                </a:ln>
                <a:solidFill>
                  <a:schemeClr val="tx2"/>
                </a:solidFill>
                <a:effectLst/>
                <a:uLnTx/>
                <a:uFillTx/>
                <a:latin typeface="+mj-lt"/>
                <a:ea typeface="+mj-ea"/>
                <a:cs typeface="+mj-cs"/>
              </a:rPr>
              <a:t> Observed Values</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pic>
        <p:nvPicPr>
          <p:cNvPr id="11" name="Picture 10" descr="plot (2).png"/>
          <p:cNvPicPr>
            <a:picLocks noChangeAspect="1"/>
          </p:cNvPicPr>
          <p:nvPr/>
        </p:nvPicPr>
        <p:blipFill>
          <a:blip r:embed="rId3" cstate="print"/>
          <a:stretch>
            <a:fillRect/>
          </a:stretch>
        </p:blipFill>
        <p:spPr>
          <a:xfrm>
            <a:off x="762000" y="1135966"/>
            <a:ext cx="6979867" cy="5257800"/>
          </a:xfrm>
          <a:prstGeom prst="rect">
            <a:avLst/>
          </a:prstGeom>
          <a:ln>
            <a:noFill/>
          </a:ln>
        </p:spPr>
      </p:pic>
      <p:cxnSp>
        <p:nvCxnSpPr>
          <p:cNvPr id="12" name="Straight Connector 11"/>
          <p:cNvCxnSpPr/>
          <p:nvPr/>
        </p:nvCxnSpPr>
        <p:spPr>
          <a:xfrm>
            <a:off x="2635348" y="4419600"/>
            <a:ext cx="0" cy="1295400"/>
          </a:xfrm>
          <a:prstGeom prst="line">
            <a:avLst/>
          </a:prstGeom>
          <a:ln w="19050">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 name="Left Brace 3"/>
          <p:cNvSpPr/>
          <p:nvPr/>
        </p:nvSpPr>
        <p:spPr>
          <a:xfrm>
            <a:off x="2132429" y="4419600"/>
            <a:ext cx="502919" cy="1295400"/>
          </a:xfrm>
          <a:prstGeom prst="leftBrace">
            <a:avLst>
              <a:gd name="adj1" fmla="val 23835"/>
              <a:gd name="adj2" fmla="val 18507"/>
            </a:avLst>
          </a:prstGeom>
          <a:ln w="317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1751429" y="4391465"/>
            <a:ext cx="381000" cy="584775"/>
          </a:xfrm>
          <a:prstGeom prst="rect">
            <a:avLst/>
          </a:prstGeom>
          <a:noFill/>
        </p:spPr>
        <p:txBody>
          <a:bodyPr wrap="square" rtlCol="0">
            <a:spAutoFit/>
          </a:bodyPr>
          <a:lstStyle/>
          <a:p>
            <a:r>
              <a:rPr lang="en-US" sz="3200" b="1" i="1" dirty="0">
                <a:solidFill>
                  <a:schemeClr val="accent5">
                    <a:lumMod val="75000"/>
                  </a:schemeClr>
                </a:solidFill>
              </a:rPr>
              <a:t>y</a:t>
            </a:r>
            <a:endParaRPr lang="en-US" sz="3200" b="1" dirty="0">
              <a:solidFill>
                <a:schemeClr val="accent5">
                  <a:lumMod val="75000"/>
                </a:schemeClr>
              </a:solidFill>
            </a:endParaRPr>
          </a:p>
        </p:txBody>
      </p:sp>
      <p:sp>
        <p:nvSpPr>
          <p:cNvPr id="6" name="Right Brace 5"/>
          <p:cNvSpPr/>
          <p:nvPr/>
        </p:nvSpPr>
        <p:spPr>
          <a:xfrm>
            <a:off x="2635348" y="4683852"/>
            <a:ext cx="457200" cy="1031148"/>
          </a:xfrm>
          <a:prstGeom prst="rightBrace">
            <a:avLst>
              <a:gd name="adj1" fmla="val 39920"/>
              <a:gd name="adj2" fmla="val 31936"/>
            </a:avLst>
          </a:prstGeom>
          <a:ln w="317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p:cNvSpPr txBox="1"/>
              <p:nvPr/>
            </p:nvSpPr>
            <p:spPr>
              <a:xfrm>
                <a:off x="3092548" y="4683852"/>
                <a:ext cx="488852"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3200" b="1" i="1" smtClean="0">
                              <a:solidFill>
                                <a:schemeClr val="accent1">
                                  <a:lumMod val="75000"/>
                                </a:schemeClr>
                              </a:solidFill>
                              <a:latin typeface="Cambria Math"/>
                            </a:rPr>
                          </m:ctrlPr>
                        </m:accPr>
                        <m:e>
                          <m:r>
                            <a:rPr lang="en-US" sz="3200" b="1" i="1">
                              <a:solidFill>
                                <a:schemeClr val="accent1">
                                  <a:lumMod val="75000"/>
                                </a:schemeClr>
                              </a:solidFill>
                              <a:latin typeface="Cambria Math"/>
                            </a:rPr>
                            <m:t>𝒚</m:t>
                          </m:r>
                        </m:e>
                      </m:acc>
                    </m:oMath>
                  </m:oMathPara>
                </a14:m>
                <a:endParaRPr lang="en-US" sz="3200" b="1" dirty="0">
                  <a:solidFill>
                    <a:schemeClr val="accent1">
                      <a:lumMod val="75000"/>
                    </a:schemeClr>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092548" y="4683852"/>
                <a:ext cx="488852" cy="584775"/>
              </a:xfrm>
              <a:prstGeom prst="rect">
                <a:avLst/>
              </a:prstGeom>
              <a:blipFill rotWithShape="1">
                <a:blip r:embed="rId4"/>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994665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Residual</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1676400"/>
                <a:ext cx="8763000" cy="2133600"/>
              </a:xfrm>
            </p:spPr>
            <p:txBody>
              <a:bodyPr>
                <a:normAutofit/>
              </a:bodyPr>
              <a:lstStyle/>
              <a:p>
                <a:r>
                  <a:rPr lang="en-US" sz="3000" dirty="0">
                    <a:solidFill>
                      <a:schemeClr val="tx1"/>
                    </a:solidFill>
                  </a:rPr>
                  <a:t>The</a:t>
                </a:r>
                <a:r>
                  <a:rPr lang="en-US" sz="3600" dirty="0" smtClean="0"/>
                  <a:t> </a:t>
                </a:r>
                <a:r>
                  <a:rPr lang="en-US" sz="3000" b="1" i="1" dirty="0">
                    <a:solidFill>
                      <a:schemeClr val="accent2">
                        <a:lumMod val="75000"/>
                      </a:schemeClr>
                    </a:solidFill>
                  </a:rPr>
                  <a:t>residual</a:t>
                </a:r>
                <a:r>
                  <a:rPr lang="en-US" sz="3600" b="1" i="1" dirty="0" smtClean="0">
                    <a:solidFill>
                      <a:schemeClr val="accent2">
                        <a:lumMod val="75000"/>
                      </a:schemeClr>
                    </a:solidFill>
                  </a:rPr>
                  <a:t> </a:t>
                </a:r>
                <a:r>
                  <a:rPr lang="en-US" sz="3000" dirty="0">
                    <a:solidFill>
                      <a:schemeClr val="tx1"/>
                    </a:solidFill>
                  </a:rPr>
                  <a:t>for each data point is</a:t>
                </a:r>
              </a:p>
              <a:p>
                <a:r>
                  <a:rPr lang="en-US" sz="3000" dirty="0">
                    <a:solidFill>
                      <a:schemeClr val="tx1"/>
                    </a:solidFill>
                  </a:rPr>
                  <a:t>Observed – predicted </a:t>
                </a:r>
                <a:r>
                  <a:rPr lang="en-US" sz="3600" dirty="0" smtClean="0"/>
                  <a:t>= </a:t>
                </a:r>
                <a14:m>
                  <m:oMath xmlns:m="http://schemas.openxmlformats.org/officeDocument/2006/math">
                    <m:r>
                      <a:rPr lang="en-US" sz="3600" b="0" i="1" smtClean="0">
                        <a:latin typeface="Cambria Math"/>
                      </a:rPr>
                      <m:t>𝑦</m:t>
                    </m:r>
                    <m:r>
                      <a:rPr lang="en-US" sz="3600" b="0" i="1" smtClean="0">
                        <a:latin typeface="Cambria Math"/>
                      </a:rPr>
                      <m:t>−</m:t>
                    </m:r>
                    <m:acc>
                      <m:accPr>
                        <m:chr m:val="̂"/>
                        <m:ctrlPr>
                          <a:rPr lang="en-US" sz="3600" b="0" i="1" smtClean="0">
                            <a:latin typeface="Cambria Math"/>
                          </a:rPr>
                        </m:ctrlPr>
                      </m:accPr>
                      <m:e>
                        <m:r>
                          <a:rPr lang="en-US" sz="3600" b="0" i="1" smtClean="0">
                            <a:latin typeface="Cambria Math"/>
                          </a:rPr>
                          <m:t>𝑦</m:t>
                        </m:r>
                      </m:e>
                    </m:acc>
                  </m:oMath>
                </a14:m>
                <a:endParaRPr lang="en-US" sz="3600" i="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1676400"/>
                <a:ext cx="8763000" cy="2133600"/>
              </a:xfrm>
              <a:blipFill rotWithShape="1">
                <a:blip r:embed="rId3"/>
                <a:stretch>
                  <a:fillRect/>
                </a:stretch>
              </a:blipFill>
            </p:spPr>
            <p:txBody>
              <a:bodyPr/>
              <a:lstStyle/>
              <a:p>
                <a:r>
                  <a:rPr lang="en-US">
                    <a:noFill/>
                  </a:rPr>
                  <a:t> </a:t>
                </a:r>
              </a:p>
            </p:txBody>
          </p:sp>
        </mc:Fallback>
      </mc:AlternateContent>
      <p:sp>
        <p:nvSpPr>
          <p:cNvPr id="4" name="Content Placeholder 3"/>
          <p:cNvSpPr>
            <a:spLocks noGrp="1"/>
          </p:cNvSpPr>
          <p:nvPr>
            <p:ph idx="10"/>
          </p:nvPr>
        </p:nvSpPr>
        <p:spPr/>
        <p:txBody>
          <a:bodyPr/>
          <a:lstStyle/>
          <a:p>
            <a:r>
              <a:rPr lang="en-US" dirty="0" smtClean="0"/>
              <a:t> Geometrically speaking, the residual is the vertical distance from each point to the line</a:t>
            </a:r>
            <a:endParaRPr lang="en-US" dirty="0"/>
          </a:p>
        </p:txBody>
      </p:sp>
    </p:spTree>
    <p:custDataLst>
      <p:tags r:id="rId1"/>
    </p:custDataLst>
    <p:extLst>
      <p:ext uri="{BB962C8B-B14F-4D97-AF65-F5344CB8AC3E}">
        <p14:creationId xmlns:p14="http://schemas.microsoft.com/office/powerpoint/2010/main" val="10640436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0" name="AutoShape 8"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2" name="AutoShape 10"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 name="Title 2"/>
          <p:cNvSpPr txBox="1">
            <a:spLocks/>
          </p:cNvSpPr>
          <p:nvPr/>
        </p:nvSpPr>
        <p:spPr>
          <a:xfrm>
            <a:off x="457200" y="152400"/>
            <a:ext cx="8229600" cy="838200"/>
          </a:xfrm>
          <a:prstGeom prst="rect">
            <a:avLst/>
          </a:prstGeom>
        </p:spPr>
        <p:txBody>
          <a:bodyPr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2"/>
                </a:solidFill>
                <a:effectLst/>
                <a:uLnTx/>
                <a:uFillTx/>
                <a:latin typeface="+mj-lt"/>
                <a:ea typeface="+mj-ea"/>
                <a:cs typeface="+mj-cs"/>
              </a:rPr>
              <a:t>Residual</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pic>
        <p:nvPicPr>
          <p:cNvPr id="16" name="Picture 15" descr="plot (4).png"/>
          <p:cNvPicPr>
            <a:picLocks noChangeAspect="1"/>
          </p:cNvPicPr>
          <p:nvPr/>
        </p:nvPicPr>
        <p:blipFill>
          <a:blip r:embed="rId4" cstate="print"/>
          <a:srcRect t="12254"/>
          <a:stretch>
            <a:fillRect/>
          </a:stretch>
        </p:blipFill>
        <p:spPr>
          <a:xfrm>
            <a:off x="1555163" y="838200"/>
            <a:ext cx="6228307" cy="4404852"/>
          </a:xfrm>
          <a:prstGeom prst="rect">
            <a:avLst/>
          </a:prstGeom>
        </p:spPr>
      </p:pic>
      <p:graphicFrame>
        <p:nvGraphicFramePr>
          <p:cNvPr id="1028" name="Object 4"/>
          <p:cNvGraphicFramePr>
            <a:graphicFrameLocks noChangeAspect="1"/>
          </p:cNvGraphicFramePr>
          <p:nvPr>
            <p:extLst>
              <p:ext uri="{D42A27DB-BD31-4B8C-83A1-F6EECF244321}">
                <p14:modId xmlns:p14="http://schemas.microsoft.com/office/powerpoint/2010/main" val="3771255918"/>
              </p:ext>
            </p:extLst>
          </p:nvPr>
        </p:nvGraphicFramePr>
        <p:xfrm>
          <a:off x="3848100" y="5029200"/>
          <a:ext cx="5018088" cy="612775"/>
        </p:xfrm>
        <a:graphic>
          <a:graphicData uri="http://schemas.openxmlformats.org/presentationml/2006/ole">
            <mc:AlternateContent xmlns:mc="http://schemas.openxmlformats.org/markup-compatibility/2006">
              <mc:Choice xmlns:v="urn:schemas-microsoft-com:vml" Requires="v">
                <p:oleObj spid="_x0000_s23594" name="Equation" r:id="rId5" imgW="1663560" imgH="203040" progId="Equation.DSMT4">
                  <p:embed/>
                </p:oleObj>
              </mc:Choice>
              <mc:Fallback>
                <p:oleObj name="Equation" r:id="rId5" imgW="1663560" imgH="203040" progId="Equation.DSMT4">
                  <p:embed/>
                  <p:pic>
                    <p:nvPicPr>
                      <p:cNvPr id="0" name=""/>
                      <p:cNvPicPr>
                        <a:picLocks noChangeAspect="1" noChangeArrowheads="1"/>
                      </p:cNvPicPr>
                      <p:nvPr/>
                    </p:nvPicPr>
                    <p:blipFill>
                      <a:blip r:embed="rId6"/>
                      <a:srcRect/>
                      <a:stretch>
                        <a:fillRect/>
                      </a:stretch>
                    </p:blipFill>
                    <p:spPr bwMode="auto">
                      <a:xfrm>
                        <a:off x="3848100" y="5029200"/>
                        <a:ext cx="5018088" cy="612775"/>
                      </a:xfrm>
                      <a:prstGeom prst="rect">
                        <a:avLst/>
                      </a:prstGeom>
                      <a:noFill/>
                      <a:ln>
                        <a:noFill/>
                      </a:ln>
                    </p:spPr>
                  </p:pic>
                </p:oleObj>
              </mc:Fallback>
            </mc:AlternateContent>
          </a:graphicData>
        </a:graphic>
      </p:graphicFrame>
      <p:sp>
        <p:nvSpPr>
          <p:cNvPr id="14" name="TextBox 13"/>
          <p:cNvSpPr txBox="1"/>
          <p:nvPr/>
        </p:nvSpPr>
        <p:spPr>
          <a:xfrm>
            <a:off x="11723" y="5051995"/>
            <a:ext cx="9132277" cy="1800493"/>
          </a:xfrm>
          <a:prstGeom prst="rect">
            <a:avLst/>
          </a:prstGeom>
          <a:noFill/>
        </p:spPr>
        <p:txBody>
          <a:bodyPr wrap="square" rtlCol="0">
            <a:spAutoFit/>
          </a:bodyPr>
          <a:lstStyle/>
          <a:p>
            <a:pPr marL="457200" indent="-457200">
              <a:spcAft>
                <a:spcPts val="1800"/>
              </a:spcAft>
              <a:buClr>
                <a:schemeClr val="accent1"/>
              </a:buClr>
              <a:buFont typeface="Arial" pitchFamily="34" charset="0"/>
              <a:buChar char="•"/>
            </a:pPr>
            <a:r>
              <a:rPr lang="en-US" sz="3200" dirty="0">
                <a:solidFill>
                  <a:schemeClr val="accent6">
                    <a:lumMod val="50000"/>
                  </a:schemeClr>
                </a:solidFill>
              </a:rPr>
              <a:t>Here, the residual = </a:t>
            </a:r>
          </a:p>
          <a:p>
            <a:pPr marL="457200" indent="-457200">
              <a:spcAft>
                <a:spcPts val="1800"/>
              </a:spcAft>
              <a:buClr>
                <a:schemeClr val="accent1"/>
              </a:buClr>
              <a:buFont typeface="Arial" pitchFamily="34" charset="0"/>
              <a:buChar char="•"/>
            </a:pPr>
            <a:r>
              <a:rPr lang="en-US" sz="3200" dirty="0">
                <a:solidFill>
                  <a:schemeClr val="accent6">
                    <a:lumMod val="50000"/>
                  </a:schemeClr>
                </a:solidFill>
              </a:rPr>
              <a:t>To find the regression line, we want to make all the residuals as small as possible.</a:t>
            </a:r>
          </a:p>
        </p:txBody>
      </p:sp>
      <p:cxnSp>
        <p:nvCxnSpPr>
          <p:cNvPr id="3" name="Straight Connector 2"/>
          <p:cNvCxnSpPr/>
          <p:nvPr/>
        </p:nvCxnSpPr>
        <p:spPr>
          <a:xfrm>
            <a:off x="3328219" y="3200400"/>
            <a:ext cx="0" cy="1219200"/>
          </a:xfrm>
          <a:prstGeom prst="line">
            <a:avLst/>
          </a:prstGeom>
          <a:ln w="19050">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 name="Left Brace 14"/>
          <p:cNvSpPr/>
          <p:nvPr/>
        </p:nvSpPr>
        <p:spPr>
          <a:xfrm>
            <a:off x="2820687" y="3276600"/>
            <a:ext cx="502919" cy="1143000"/>
          </a:xfrm>
          <a:prstGeom prst="leftBrace">
            <a:avLst>
              <a:gd name="adj1" fmla="val 23835"/>
              <a:gd name="adj2" fmla="val 18507"/>
            </a:avLst>
          </a:prstGeom>
          <a:ln w="317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2439687" y="3200400"/>
            <a:ext cx="381000" cy="584775"/>
          </a:xfrm>
          <a:prstGeom prst="rect">
            <a:avLst/>
          </a:prstGeom>
          <a:noFill/>
        </p:spPr>
        <p:txBody>
          <a:bodyPr wrap="square" rtlCol="0">
            <a:spAutoFit/>
          </a:bodyPr>
          <a:lstStyle/>
          <a:p>
            <a:r>
              <a:rPr lang="en-US" sz="3200" b="1" i="1" dirty="0">
                <a:solidFill>
                  <a:schemeClr val="accent5">
                    <a:lumMod val="75000"/>
                  </a:schemeClr>
                </a:solidFill>
              </a:rPr>
              <a:t>y</a:t>
            </a:r>
            <a:endParaRPr lang="en-US" sz="3200" b="1" dirty="0">
              <a:solidFill>
                <a:schemeClr val="accent5">
                  <a:lumMod val="75000"/>
                </a:schemeClr>
              </a:solidFill>
            </a:endParaRPr>
          </a:p>
        </p:txBody>
      </p:sp>
      <p:sp>
        <p:nvSpPr>
          <p:cNvPr id="18" name="Right Brace 17"/>
          <p:cNvSpPr/>
          <p:nvPr/>
        </p:nvSpPr>
        <p:spPr>
          <a:xfrm>
            <a:off x="3340812" y="3492785"/>
            <a:ext cx="457200" cy="912065"/>
          </a:xfrm>
          <a:prstGeom prst="rightBrace">
            <a:avLst>
              <a:gd name="adj1" fmla="val 39920"/>
              <a:gd name="adj2" fmla="val 31936"/>
            </a:avLst>
          </a:prstGeom>
          <a:ln w="317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p:cNvSpPr txBox="1"/>
              <p:nvPr/>
            </p:nvSpPr>
            <p:spPr>
              <a:xfrm>
                <a:off x="3798012" y="3656429"/>
                <a:ext cx="488852"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3200" b="1" i="1" smtClean="0">
                              <a:solidFill>
                                <a:schemeClr val="accent1">
                                  <a:lumMod val="75000"/>
                                </a:schemeClr>
                              </a:solidFill>
                              <a:latin typeface="Cambria Math"/>
                            </a:rPr>
                          </m:ctrlPr>
                        </m:accPr>
                        <m:e>
                          <m:r>
                            <a:rPr lang="en-US" sz="3200" b="1" i="1">
                              <a:solidFill>
                                <a:schemeClr val="accent1">
                                  <a:lumMod val="75000"/>
                                </a:schemeClr>
                              </a:solidFill>
                              <a:latin typeface="Cambria Math"/>
                            </a:rPr>
                            <m:t>𝒚</m:t>
                          </m:r>
                        </m:e>
                      </m:acc>
                    </m:oMath>
                  </m:oMathPara>
                </a14:m>
                <a:endParaRPr lang="en-US" sz="3200" b="1" dirty="0">
                  <a:solidFill>
                    <a:schemeClr val="accent1">
                      <a:lumMod val="75000"/>
                    </a:schemeClr>
                  </a:solidFill>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3798012" y="3656429"/>
                <a:ext cx="488852" cy="584775"/>
              </a:xfrm>
              <a:prstGeom prst="rect">
                <a:avLst/>
              </a:prstGeom>
              <a:blipFill rotWithShape="1">
                <a:blip r:embed="rId7"/>
                <a:stretch>
                  <a:fillRect/>
                </a:stretch>
              </a:blipFill>
            </p:spPr>
            <p:txBody>
              <a:bodyPr/>
              <a:lstStyle/>
              <a:p>
                <a:r>
                  <a:rPr lang="en-US">
                    <a:noFill/>
                  </a:rPr>
                  <a:t> </a:t>
                </a:r>
              </a:p>
            </p:txBody>
          </p:sp>
        </mc:Fallback>
      </mc:AlternateContent>
      <p:sp>
        <p:nvSpPr>
          <p:cNvPr id="4" name="Right Brace 3"/>
          <p:cNvSpPr/>
          <p:nvPr/>
        </p:nvSpPr>
        <p:spPr>
          <a:xfrm>
            <a:off x="3328219" y="3276600"/>
            <a:ext cx="241193" cy="216185"/>
          </a:xfrm>
          <a:prstGeom prst="rightBrace">
            <a:avLst>
              <a:gd name="adj1" fmla="val 42866"/>
              <a:gd name="adj2" fmla="val 50000"/>
            </a:avLst>
          </a:prstGeom>
          <a:ln w="317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3569412" y="3120919"/>
            <a:ext cx="1688388" cy="523220"/>
          </a:xfrm>
          <a:prstGeom prst="rect">
            <a:avLst/>
          </a:prstGeom>
          <a:noFill/>
        </p:spPr>
        <p:txBody>
          <a:bodyPr wrap="square" rtlCol="0">
            <a:spAutoFit/>
          </a:bodyPr>
          <a:lstStyle/>
          <a:p>
            <a:r>
              <a:rPr lang="en-US" sz="2800" b="1" i="1" dirty="0">
                <a:solidFill>
                  <a:schemeClr val="accent2">
                    <a:lumMod val="75000"/>
                  </a:schemeClr>
                </a:solidFill>
              </a:rPr>
              <a:t>residual</a:t>
            </a:r>
            <a:endParaRPr lang="en-US" sz="2800" dirty="0"/>
          </a:p>
        </p:txBody>
      </p:sp>
    </p:spTree>
    <p:custDataLst>
      <p:tags r:id="rId2"/>
    </p:custDataLst>
    <p:extLst>
      <p:ext uri="{BB962C8B-B14F-4D97-AF65-F5344CB8AC3E}">
        <p14:creationId xmlns:p14="http://schemas.microsoft.com/office/powerpoint/2010/main" val="2511476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Regression Line</a:t>
            </a:r>
            <a:endParaRPr lang="en-US" dirty="0"/>
          </a:p>
        </p:txBody>
      </p:sp>
      <p:sp>
        <p:nvSpPr>
          <p:cNvPr id="3" name="Content Placeholder 2"/>
          <p:cNvSpPr>
            <a:spLocks noGrp="1"/>
          </p:cNvSpPr>
          <p:nvPr>
            <p:ph idx="1"/>
          </p:nvPr>
        </p:nvSpPr>
        <p:spPr/>
        <p:txBody>
          <a:bodyPr/>
          <a:lstStyle/>
          <a:p>
            <a:r>
              <a:rPr lang="en-US" dirty="0" smtClean="0"/>
              <a:t>How do we find the best fitting line???</a:t>
            </a:r>
            <a:endParaRPr lang="en-US" dirty="0"/>
          </a:p>
        </p:txBody>
      </p:sp>
    </p:spTree>
    <p:custDataLst>
      <p:tags r:id="rId1"/>
    </p:custDataLst>
    <p:extLst>
      <p:ext uri="{BB962C8B-B14F-4D97-AF65-F5344CB8AC3E}">
        <p14:creationId xmlns:p14="http://schemas.microsoft.com/office/powerpoint/2010/main" val="12704946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Least Squares Line</a:t>
            </a:r>
            <a:endParaRPr lang="en-US" dirty="0"/>
          </a:p>
        </p:txBody>
      </p:sp>
      <p:sp>
        <p:nvSpPr>
          <p:cNvPr id="3" name="Content Placeholder 2"/>
          <p:cNvSpPr>
            <a:spLocks noGrp="1"/>
          </p:cNvSpPr>
          <p:nvPr>
            <p:ph idx="1"/>
          </p:nvPr>
        </p:nvSpPr>
        <p:spPr/>
        <p:txBody>
          <a:bodyPr>
            <a:normAutofit/>
          </a:bodyPr>
          <a:lstStyle/>
          <a:p>
            <a:r>
              <a:rPr lang="en-US" dirty="0"/>
              <a:t>The</a:t>
            </a:r>
            <a:r>
              <a:rPr lang="en-US" b="1" i="1" dirty="0" smtClean="0">
                <a:solidFill>
                  <a:schemeClr val="tx2"/>
                </a:solidFill>
              </a:rPr>
              <a:t> Least squares line </a:t>
            </a:r>
            <a:r>
              <a:rPr lang="en-US" dirty="0"/>
              <a:t>is the line which minimizes the sum of squared </a:t>
            </a:r>
            <a:r>
              <a:rPr lang="en-US" dirty="0" smtClean="0"/>
              <a:t>residuals</a:t>
            </a:r>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293309234"/>
              </p:ext>
            </p:extLst>
          </p:nvPr>
        </p:nvGraphicFramePr>
        <p:xfrm>
          <a:off x="3721" y="3546454"/>
          <a:ext cx="9140279" cy="1480961"/>
        </p:xfrm>
        <a:graphic>
          <a:graphicData uri="http://schemas.openxmlformats.org/presentationml/2006/ole">
            <mc:AlternateContent xmlns:mc="http://schemas.openxmlformats.org/markup-compatibility/2006">
              <mc:Choice xmlns:v="urn:schemas-microsoft-com:vml" Requires="v">
                <p:oleObj spid="_x0000_s24610" name="Equation" r:id="rId5" imgW="4076640" imgH="660240" progId="Equation.DSMT4">
                  <p:embed/>
                </p:oleObj>
              </mc:Choice>
              <mc:Fallback>
                <p:oleObj name="Equation" r:id="rId5" imgW="4076640" imgH="660240" progId="Equation.DSMT4">
                  <p:embed/>
                  <p:pic>
                    <p:nvPicPr>
                      <p:cNvPr id="0" name=""/>
                      <p:cNvPicPr>
                        <a:picLocks noChangeAspect="1" noChangeArrowheads="1"/>
                      </p:cNvPicPr>
                      <p:nvPr/>
                    </p:nvPicPr>
                    <p:blipFill>
                      <a:blip r:embed="rId6"/>
                      <a:srcRect/>
                      <a:stretch>
                        <a:fillRect/>
                      </a:stretch>
                    </p:blipFill>
                    <p:spPr bwMode="auto">
                      <a:xfrm>
                        <a:off x="3721" y="3546454"/>
                        <a:ext cx="9140279" cy="1480961"/>
                      </a:xfrm>
                      <a:prstGeom prst="rect">
                        <a:avLst/>
                      </a:prstGeom>
                      <a:noFill/>
                      <a:ln>
                        <a:noFill/>
                      </a:ln>
                      <a:extLst/>
                    </p:spPr>
                  </p:pic>
                </p:oleObj>
              </mc:Fallback>
            </mc:AlternateContent>
          </a:graphicData>
        </a:graphic>
      </p:graphicFrame>
      <p:sp>
        <p:nvSpPr>
          <p:cNvPr id="6" name="TextBox 6"/>
          <p:cNvSpPr txBox="1"/>
          <p:nvPr/>
        </p:nvSpPr>
        <p:spPr>
          <a:xfrm>
            <a:off x="574316" y="5049538"/>
            <a:ext cx="7921625" cy="180049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spcAft>
                <a:spcPts val="1800"/>
              </a:spcAft>
              <a:buClr>
                <a:schemeClr val="accent1"/>
              </a:buClr>
              <a:buSzPct val="85000"/>
              <a:buFont typeface="Arial" pitchFamily="34" charset="0"/>
              <a:buChar char="•"/>
            </a:pPr>
            <a:r>
              <a:rPr lang="en-US" sz="3200" dirty="0">
                <a:solidFill>
                  <a:schemeClr val="accent6">
                    <a:lumMod val="50000"/>
                  </a:schemeClr>
                </a:solidFill>
              </a:rPr>
              <a:t>We rely on technology for finding the least squares line.</a:t>
            </a:r>
          </a:p>
          <a:p>
            <a:pPr marL="457200" indent="-457200">
              <a:spcAft>
                <a:spcPts val="1800"/>
              </a:spcAft>
              <a:buClr>
                <a:schemeClr val="accent1"/>
              </a:buClr>
              <a:buSzPct val="85000"/>
              <a:buFont typeface="Arial" pitchFamily="34" charset="0"/>
              <a:buChar char="•"/>
            </a:pPr>
            <a:r>
              <a:rPr lang="en-US" sz="3200" dirty="0">
                <a:solidFill>
                  <a:schemeClr val="accent6">
                    <a:lumMod val="50000"/>
                  </a:schemeClr>
                </a:solidFill>
              </a:rPr>
              <a:t>“least squares line” = “regression line”</a:t>
            </a:r>
          </a:p>
        </p:txBody>
      </p:sp>
    </p:spTree>
    <p:custDataLst>
      <p:tags r:id="rId2"/>
    </p:custDataLst>
    <p:extLst>
      <p:ext uri="{BB962C8B-B14F-4D97-AF65-F5344CB8AC3E}">
        <p14:creationId xmlns:p14="http://schemas.microsoft.com/office/powerpoint/2010/main" val="1370469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2" name="AutoShape 10" descr="http://beta.rstudio.org/graphics/plot.png?width=555&amp;height=449&amp;randomizer=1815190823"/>
          <p:cNvSpPr>
            <a:spLocks noChangeAspect="1" noChangeArrowheads="1"/>
          </p:cNvSpPr>
          <p:nvPr/>
        </p:nvSpPr>
        <p:spPr bwMode="auto">
          <a:xfrm>
            <a:off x="152400" y="0"/>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 name="Title 2"/>
          <p:cNvSpPr txBox="1">
            <a:spLocks/>
          </p:cNvSpPr>
          <p:nvPr/>
        </p:nvSpPr>
        <p:spPr>
          <a:xfrm>
            <a:off x="457200" y="-76200"/>
            <a:ext cx="8229600" cy="1143000"/>
          </a:xfrm>
          <a:prstGeom prst="rect">
            <a:avLst/>
          </a:prstGeom>
        </p:spPr>
        <p:txBody>
          <a:bodyPr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2"/>
                </a:solidFill>
                <a:effectLst/>
                <a:uLnTx/>
                <a:uFillTx/>
                <a:latin typeface="+mj-lt"/>
                <a:ea typeface="+mj-ea"/>
                <a:cs typeface="+mj-cs"/>
              </a:rPr>
              <a:t>Least Squares Regression</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pic>
        <p:nvPicPr>
          <p:cNvPr id="11" name="Picture 10" descr="plot (2).png"/>
          <p:cNvPicPr>
            <a:picLocks noChangeAspect="1"/>
          </p:cNvPicPr>
          <p:nvPr/>
        </p:nvPicPr>
        <p:blipFill rotWithShape="1">
          <a:blip r:embed="rId3" cstate="print"/>
          <a:srcRect t="7492" b="1768"/>
          <a:stretch/>
        </p:blipFill>
        <p:spPr>
          <a:xfrm>
            <a:off x="509770" y="863600"/>
            <a:ext cx="8100830" cy="5537200"/>
          </a:xfrm>
          <a:prstGeom prst="rect">
            <a:avLst/>
          </a:prstGeom>
        </p:spPr>
      </p:pic>
      <p:sp>
        <p:nvSpPr>
          <p:cNvPr id="10" name="Rectangle 9"/>
          <p:cNvSpPr/>
          <p:nvPr/>
        </p:nvSpPr>
        <p:spPr>
          <a:xfrm>
            <a:off x="2676144" y="4173728"/>
            <a:ext cx="304800" cy="304800"/>
          </a:xfrm>
          <a:prstGeom prst="rect">
            <a:avLst/>
          </a:prstGeom>
          <a:no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855720" y="3551936"/>
            <a:ext cx="210312" cy="210312"/>
          </a:xfrm>
          <a:prstGeom prst="rect">
            <a:avLst/>
          </a:prstGeom>
          <a:no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410200" y="2844800"/>
            <a:ext cx="45719" cy="57912"/>
          </a:xfrm>
          <a:prstGeom prst="rect">
            <a:avLst/>
          </a:prstGeom>
          <a:no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257288" y="1723136"/>
            <a:ext cx="182880" cy="182880"/>
          </a:xfrm>
          <a:prstGeom prst="rect">
            <a:avLst/>
          </a:prstGeom>
          <a:no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031481" y="1186688"/>
            <a:ext cx="45719" cy="57912"/>
          </a:xfrm>
          <a:prstGeom prst="rect">
            <a:avLst/>
          </a:prstGeom>
          <a:no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414272" y="5271008"/>
            <a:ext cx="256032" cy="259080"/>
          </a:xfrm>
          <a:prstGeom prst="rect">
            <a:avLst/>
          </a:prstGeom>
          <a:no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2319528" y="4731512"/>
            <a:ext cx="54864" cy="54864"/>
          </a:xfrm>
          <a:prstGeom prst="rect">
            <a:avLst/>
          </a:prstGeom>
          <a:no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4788785" y="4001474"/>
            <a:ext cx="3288415"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smtClean="0">
                <a:solidFill>
                  <a:schemeClr val="accent1">
                    <a:lumMod val="50000"/>
                  </a:schemeClr>
                </a:solidFill>
              </a:rPr>
              <a:t>Minimize the sum of squared residuals</a:t>
            </a:r>
            <a:endParaRPr lang="en-US" sz="2800" dirty="0">
              <a:solidFill>
                <a:schemeClr val="accent1">
                  <a:lumMod val="50000"/>
                </a:schemeClr>
              </a:solidFill>
            </a:endParaRPr>
          </a:p>
        </p:txBody>
      </p:sp>
    </p:spTree>
    <p:custDataLst>
      <p:tags r:id="rId1"/>
    </p:custDataLst>
    <p:extLst>
      <p:ext uri="{BB962C8B-B14F-4D97-AF65-F5344CB8AC3E}">
        <p14:creationId xmlns:p14="http://schemas.microsoft.com/office/powerpoint/2010/main" val="2302350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par>
                          <p:cTn id="10" fill="hold">
                            <p:stCondLst>
                              <p:cond delay="500"/>
                            </p:stCondLst>
                            <p:childTnLst>
                              <p:par>
                                <p:cTn id="11" presetID="53" presetClass="entr" presetSubtype="0"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p:cTn id="13" dur="500" fill="hold"/>
                                        <p:tgtEl>
                                          <p:spTgt spid="19"/>
                                        </p:tgtEl>
                                        <p:attrNameLst>
                                          <p:attrName>ppt_w</p:attrName>
                                        </p:attrNameLst>
                                      </p:cBhvr>
                                      <p:tavLst>
                                        <p:tav tm="0">
                                          <p:val>
                                            <p:fltVal val="0"/>
                                          </p:val>
                                        </p:tav>
                                        <p:tav tm="100000">
                                          <p:val>
                                            <p:strVal val="#ppt_w"/>
                                          </p:val>
                                        </p:tav>
                                      </p:tavLst>
                                    </p:anim>
                                    <p:anim calcmode="lin" valueType="num">
                                      <p:cBhvr>
                                        <p:cTn id="14" dur="500" fill="hold"/>
                                        <p:tgtEl>
                                          <p:spTgt spid="19"/>
                                        </p:tgtEl>
                                        <p:attrNameLst>
                                          <p:attrName>ppt_h</p:attrName>
                                        </p:attrNameLst>
                                      </p:cBhvr>
                                      <p:tavLst>
                                        <p:tav tm="0">
                                          <p:val>
                                            <p:fltVal val="0"/>
                                          </p:val>
                                        </p:tav>
                                        <p:tav tm="100000">
                                          <p:val>
                                            <p:strVal val="#ppt_h"/>
                                          </p:val>
                                        </p:tav>
                                      </p:tavLst>
                                    </p:anim>
                                    <p:animEffect transition="in" filter="fade">
                                      <p:cBhvr>
                                        <p:cTn id="15" dur="500"/>
                                        <p:tgtEl>
                                          <p:spTgt spid="19"/>
                                        </p:tgtEl>
                                      </p:cBhvr>
                                    </p:animEffect>
                                  </p:childTnLst>
                                </p:cTn>
                              </p:par>
                            </p:childTnLst>
                          </p:cTn>
                        </p:par>
                        <p:par>
                          <p:cTn id="16" fill="hold">
                            <p:stCondLst>
                              <p:cond delay="1000"/>
                            </p:stCondLst>
                            <p:childTnLst>
                              <p:par>
                                <p:cTn id="17" presetID="53"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par>
                          <p:cTn id="22" fill="hold">
                            <p:stCondLst>
                              <p:cond delay="1500"/>
                            </p:stCondLst>
                            <p:childTnLst>
                              <p:par>
                                <p:cTn id="23" presetID="53" presetClass="entr" presetSubtype="0"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par>
                          <p:cTn id="28" fill="hold">
                            <p:stCondLst>
                              <p:cond delay="2000"/>
                            </p:stCondLst>
                            <p:childTnLst>
                              <p:par>
                                <p:cTn id="29" presetID="53"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childTnLst>
                          </p:cTn>
                        </p:par>
                        <p:par>
                          <p:cTn id="34" fill="hold">
                            <p:stCondLst>
                              <p:cond delay="2500"/>
                            </p:stCondLst>
                            <p:childTnLst>
                              <p:par>
                                <p:cTn id="35" presetID="53" presetClass="entr" presetSubtype="0"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500" fill="hold"/>
                                        <p:tgtEl>
                                          <p:spTgt spid="15"/>
                                        </p:tgtEl>
                                        <p:attrNameLst>
                                          <p:attrName>ppt_w</p:attrName>
                                        </p:attrNameLst>
                                      </p:cBhvr>
                                      <p:tavLst>
                                        <p:tav tm="0">
                                          <p:val>
                                            <p:fltVal val="0"/>
                                          </p:val>
                                        </p:tav>
                                        <p:tav tm="100000">
                                          <p:val>
                                            <p:strVal val="#ppt_w"/>
                                          </p:val>
                                        </p:tav>
                                      </p:tavLst>
                                    </p:anim>
                                    <p:anim calcmode="lin" valueType="num">
                                      <p:cBhvr>
                                        <p:cTn id="38" dur="500" fill="hold"/>
                                        <p:tgtEl>
                                          <p:spTgt spid="15"/>
                                        </p:tgtEl>
                                        <p:attrNameLst>
                                          <p:attrName>ppt_h</p:attrName>
                                        </p:attrNameLst>
                                      </p:cBhvr>
                                      <p:tavLst>
                                        <p:tav tm="0">
                                          <p:val>
                                            <p:fltVal val="0"/>
                                          </p:val>
                                        </p:tav>
                                        <p:tav tm="100000">
                                          <p:val>
                                            <p:strVal val="#ppt_h"/>
                                          </p:val>
                                        </p:tav>
                                      </p:tavLst>
                                    </p:anim>
                                    <p:animEffect transition="in" filter="fade">
                                      <p:cBhvr>
                                        <p:cTn id="39" dur="500"/>
                                        <p:tgtEl>
                                          <p:spTgt spid="15"/>
                                        </p:tgtEl>
                                      </p:cBhvr>
                                    </p:animEffect>
                                  </p:childTnLst>
                                </p:cTn>
                              </p:par>
                            </p:childTnLst>
                          </p:cTn>
                        </p:par>
                        <p:par>
                          <p:cTn id="40" fill="hold">
                            <p:stCondLst>
                              <p:cond delay="3000"/>
                            </p:stCondLst>
                            <p:childTnLst>
                              <p:par>
                                <p:cTn id="41" presetID="53" presetClass="entr" presetSubtype="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Effect transition="in" filter="fade">
                                      <p:cBhvr>
                                        <p:cTn id="4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5" grpId="0" animBg="1"/>
      <p:bldP spid="17" grpId="0" animBg="1"/>
      <p:bldP spid="18"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90600" y="228600"/>
            <a:ext cx="8153400" cy="990600"/>
          </a:xfrm>
        </p:spPr>
        <p:txBody>
          <a:bodyPr/>
          <a:lstStyle/>
          <a:p>
            <a:r>
              <a:rPr lang="en-US" dirty="0" smtClean="0"/>
              <a:t>Regression in </a:t>
            </a:r>
            <a:r>
              <a:rPr lang="en-US" dirty="0" smtClean="0">
                <a:hlinkClick r:id="rId3"/>
              </a:rPr>
              <a:t>StatKey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4294967295"/>
              </p:nvPr>
            </p:nvSpPr>
            <p:spPr>
              <a:xfrm>
                <a:off x="0" y="6096000"/>
                <a:ext cx="8534400" cy="762000"/>
              </a:xfrm>
            </p:spPr>
            <p:txBody>
              <a:bodyPr/>
              <a:lstStyle/>
              <a:p>
                <a:pPr marL="0" indent="0">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a:rPr>
                          </m:ctrlPr>
                        </m:accPr>
                        <m:e>
                          <m:r>
                            <a:rPr lang="en-US" b="0" i="1" smtClean="0">
                              <a:latin typeface="Cambria Math"/>
                            </a:rPr>
                            <m:t>𝑇𝑒𝑚𝑝</m:t>
                          </m:r>
                        </m:e>
                      </m:acc>
                      <m:r>
                        <a:rPr lang="en-US" b="0" i="1" smtClean="0">
                          <a:latin typeface="Cambria Math"/>
                        </a:rPr>
                        <m:t>=37.679+0.231</m:t>
                      </m:r>
                      <m:r>
                        <a:rPr lang="en-US" b="0" i="1" smtClean="0">
                          <a:latin typeface="Cambria Math"/>
                        </a:rPr>
                        <m:t>𝐶h𝑖𝑟𝑝𝑠</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4294967295"/>
              </p:nvPr>
            </p:nvSpPr>
            <p:spPr>
              <a:xfrm>
                <a:off x="0" y="6096000"/>
                <a:ext cx="8534400" cy="762000"/>
              </a:xfrm>
              <a:blipFill rotWithShape="1">
                <a:blip r:embed="rId4"/>
                <a:stretch>
                  <a:fillRect/>
                </a:stretch>
              </a:blipFill>
            </p:spPr>
            <p:txBody>
              <a:bodyPr/>
              <a:lstStyle/>
              <a:p>
                <a:r>
                  <a:rPr lang="en-US">
                    <a:noFill/>
                  </a:rPr>
                  <a:t> </a:t>
                </a:r>
              </a:p>
            </p:txBody>
          </p:sp>
        </mc:Fallback>
      </mc:AlternateContent>
      <p:pic>
        <p:nvPicPr>
          <p:cNvPr id="266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450" y="1143000"/>
            <a:ext cx="8801100" cy="494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802691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fade">
                                      <p:cBhvr>
                                        <p:cTn id="7" dur="500"/>
                                        <p:tgtEl>
                                          <p:spTgt spid="2662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0" name="AutoShape 8"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2" name="AutoShape 10"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 name="Title 2"/>
          <p:cNvSpPr txBox="1">
            <a:spLocks/>
          </p:cNvSpPr>
          <p:nvPr/>
        </p:nvSpPr>
        <p:spPr>
          <a:xfrm>
            <a:off x="457200" y="152400"/>
            <a:ext cx="8229600" cy="8382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4400" b="1" dirty="0" smtClean="0">
                <a:solidFill>
                  <a:schemeClr val="tx2"/>
                </a:solidFill>
                <a:latin typeface="+mj-lt"/>
                <a:ea typeface="+mj-ea"/>
                <a:cs typeface="+mj-cs"/>
              </a:rPr>
              <a:t>Units</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sp>
        <p:nvSpPr>
          <p:cNvPr id="11" name="Content Placeholder 1"/>
          <p:cNvSpPr txBox="1">
            <a:spLocks/>
          </p:cNvSpPr>
          <p:nvPr/>
        </p:nvSpPr>
        <p:spPr>
          <a:xfrm>
            <a:off x="152400" y="762000"/>
            <a:ext cx="8915400" cy="5334000"/>
          </a:xfrm>
          <a:prstGeom prst="rect">
            <a:avLst/>
          </a:prstGeom>
        </p:spPr>
        <p:txBody>
          <a:bodyPr>
            <a:normAutofit/>
          </a:bodyPr>
          <a:lstStyle/>
          <a:p>
            <a:pPr marL="342900" indent="-342900">
              <a:defRPr/>
            </a:pPr>
            <a:endParaRPr lang="en-US" sz="3000" noProof="0" dirty="0" smtClean="0">
              <a:solidFill>
                <a:schemeClr val="tx2"/>
              </a:solidFill>
              <a:latin typeface="Courier New" pitchFamily="49" charset="0"/>
              <a:cs typeface="Courier New" pitchFamily="49" charset="0"/>
            </a:endParaRPr>
          </a:p>
          <a:p>
            <a:pPr marL="342900" indent="-342900">
              <a:defRPr/>
            </a:pPr>
            <a:endParaRPr lang="en-US" sz="3000" noProof="0" dirty="0" smtClean="0">
              <a:solidFill>
                <a:schemeClr val="tx2"/>
              </a:solidFill>
              <a:latin typeface="Courier New" pitchFamily="49" charset="0"/>
              <a:cs typeface="Courier New" pitchFamily="49" charset="0"/>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600" u="sng" strike="noStrike" kern="1200" cap="none" spc="0" normalizeH="0" baseline="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tabLst/>
              <a:defRPr/>
            </a:pPr>
            <a:endParaRPr kumimoji="0" lang="en-US" sz="3200"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p:txBody>
      </p:sp>
      <p:sp>
        <p:nvSpPr>
          <p:cNvPr id="10" name="Content Placeholder 1"/>
          <p:cNvSpPr txBox="1">
            <a:spLocks/>
          </p:cNvSpPr>
          <p:nvPr/>
        </p:nvSpPr>
        <p:spPr>
          <a:xfrm>
            <a:off x="152400" y="914400"/>
            <a:ext cx="8991600" cy="4572000"/>
          </a:xfrm>
          <a:prstGeom prst="rect">
            <a:avLst/>
          </a:prstGeom>
        </p:spPr>
        <p:txBody>
          <a:bodyPr>
            <a:normAutofit/>
          </a:bodyPr>
          <a:lstStyle/>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6">
                    <a:lumMod val="50000"/>
                  </a:schemeClr>
                </a:solidFill>
              </a:rPr>
              <a:t>It is helpful to think about units when interpreting a regression equation</a:t>
            </a:r>
          </a:p>
        </p:txBody>
      </p:sp>
      <p:sp>
        <p:nvSpPr>
          <p:cNvPr id="22" name="Up Arrow Callout 21"/>
          <p:cNvSpPr/>
          <p:nvPr/>
        </p:nvSpPr>
        <p:spPr>
          <a:xfrm>
            <a:off x="1447800" y="2733368"/>
            <a:ext cx="1371600" cy="685800"/>
          </a:xfrm>
          <a:prstGeom prst="upArrowCallout">
            <a:avLst>
              <a:gd name="adj1" fmla="val 25000"/>
              <a:gd name="adj2" fmla="val 25000"/>
              <a:gd name="adj3" fmla="val 25000"/>
              <a:gd name="adj4" fmla="val 53125"/>
            </a:avLst>
          </a:prstGeom>
          <a:solidFill>
            <a:srgbClr val="FFE48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degrees</a:t>
            </a:r>
            <a:endParaRPr lang="en-US" sz="2400" dirty="0">
              <a:solidFill>
                <a:schemeClr val="tx1"/>
              </a:solidFill>
            </a:endParaRPr>
          </a:p>
        </p:txBody>
      </p:sp>
      <p:sp>
        <p:nvSpPr>
          <p:cNvPr id="23" name="Up Arrow Callout 22"/>
          <p:cNvSpPr/>
          <p:nvPr/>
        </p:nvSpPr>
        <p:spPr>
          <a:xfrm>
            <a:off x="3048000" y="2733368"/>
            <a:ext cx="1371600" cy="685800"/>
          </a:xfrm>
          <a:prstGeom prst="upArrowCallout">
            <a:avLst>
              <a:gd name="adj1" fmla="val 25000"/>
              <a:gd name="adj2" fmla="val 25000"/>
              <a:gd name="adj3" fmla="val 25000"/>
              <a:gd name="adj4" fmla="val 53125"/>
            </a:avLst>
          </a:prstGeom>
          <a:solidFill>
            <a:srgbClr val="FFE48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degrees</a:t>
            </a:r>
            <a:endParaRPr lang="en-US" sz="2400" dirty="0">
              <a:solidFill>
                <a:schemeClr val="tx1"/>
              </a:solidFill>
            </a:endParaRPr>
          </a:p>
        </p:txBody>
      </p:sp>
      <p:sp>
        <p:nvSpPr>
          <p:cNvPr id="24" name="Up Arrow Callout 23"/>
          <p:cNvSpPr/>
          <p:nvPr/>
        </p:nvSpPr>
        <p:spPr>
          <a:xfrm>
            <a:off x="6705600" y="2705100"/>
            <a:ext cx="1447800" cy="990600"/>
          </a:xfrm>
          <a:prstGeom prst="upArrowCallout">
            <a:avLst>
              <a:gd name="adj1" fmla="val 25000"/>
              <a:gd name="adj2" fmla="val 25000"/>
              <a:gd name="adj3" fmla="val 14578"/>
              <a:gd name="adj4" fmla="val 75000"/>
            </a:avLst>
          </a:prstGeom>
          <a:solidFill>
            <a:srgbClr val="FFE48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chirps per minute</a:t>
            </a:r>
            <a:endParaRPr lang="en-US" sz="2400" dirty="0">
              <a:solidFill>
                <a:schemeClr val="tx1"/>
              </a:solidFill>
            </a:endParaRPr>
          </a:p>
        </p:txBody>
      </p:sp>
      <p:sp>
        <p:nvSpPr>
          <p:cNvPr id="25" name="Up Arrow Callout 24"/>
          <p:cNvSpPr/>
          <p:nvPr/>
        </p:nvSpPr>
        <p:spPr>
          <a:xfrm>
            <a:off x="4648200" y="2705100"/>
            <a:ext cx="1828800" cy="1321210"/>
          </a:xfrm>
          <a:prstGeom prst="upArrowCallout">
            <a:avLst>
              <a:gd name="adj1" fmla="val 18302"/>
              <a:gd name="adj2" fmla="val 16069"/>
              <a:gd name="adj3" fmla="val 17429"/>
              <a:gd name="adj4" fmla="val 74608"/>
            </a:avLst>
          </a:prstGeom>
          <a:solidFill>
            <a:srgbClr val="FFE48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smtClean="0">
                <a:solidFill>
                  <a:schemeClr val="tx1"/>
                </a:solidFill>
              </a:rPr>
              <a:t>degrees/</a:t>
            </a:r>
          </a:p>
          <a:p>
            <a:pPr algn="ctr"/>
            <a:r>
              <a:rPr lang="en-US" sz="2200" dirty="0" smtClean="0">
                <a:solidFill>
                  <a:schemeClr val="tx1"/>
                </a:solidFill>
              </a:rPr>
              <a:t>chirps per min</a:t>
            </a:r>
            <a:endParaRPr lang="en-US" sz="2200" dirty="0">
              <a:solidFill>
                <a:schemeClr val="tx1"/>
              </a:solidFill>
            </a:endParaRPr>
          </a:p>
        </p:txBody>
      </p:sp>
      <mc:AlternateContent xmlns:mc="http://schemas.openxmlformats.org/markup-compatibility/2006" xmlns:a14="http://schemas.microsoft.com/office/drawing/2010/main">
        <mc:Choice Requires="a14">
          <p:sp>
            <p:nvSpPr>
              <p:cNvPr id="26" name="Content Placeholder 2"/>
              <p:cNvSpPr txBox="1">
                <a:spLocks/>
              </p:cNvSpPr>
              <p:nvPr/>
            </p:nvSpPr>
            <p:spPr>
              <a:xfrm>
                <a:off x="342900" y="2057400"/>
                <a:ext cx="8534400" cy="1143000"/>
              </a:xfrm>
              <a:prstGeom prst="rect">
                <a:avLst/>
              </a:prstGeom>
            </p:spPr>
            <p:txBody>
              <a:bodyPr/>
              <a:lstStyle>
                <a:lvl1pPr marL="274320" indent="-274320" algn="l" rtl="0" eaLnBrk="1" latinLnBrk="0" hangingPunct="1">
                  <a:spcBef>
                    <a:spcPts val="0"/>
                  </a:spcBef>
                  <a:spcAft>
                    <a:spcPts val="1800"/>
                  </a:spcAft>
                  <a:buClr>
                    <a:schemeClr val="accent1"/>
                  </a:buClr>
                  <a:buSzPct val="85000"/>
                  <a:buFont typeface="Wingdings 2"/>
                  <a:buChar char=""/>
                  <a:defRPr kumimoji="0" sz="3200" kern="1200">
                    <a:solidFill>
                      <a:schemeClr val="tx1"/>
                    </a:solidFill>
                    <a:latin typeface="+mn-lt"/>
                    <a:ea typeface="+mn-ea"/>
                    <a:cs typeface="+mn-cs"/>
                  </a:defRPr>
                </a:lvl1pPr>
                <a:lvl2pPr marL="548640" indent="-274320" algn="l" rtl="0" eaLnBrk="1" latinLnBrk="0" hangingPunct="1">
                  <a:spcBef>
                    <a:spcPts val="0"/>
                  </a:spcBef>
                  <a:spcAft>
                    <a:spcPts val="0"/>
                  </a:spcAft>
                  <a:buClr>
                    <a:schemeClr val="accent2"/>
                  </a:buClr>
                  <a:buSzPct val="70000"/>
                  <a:buFont typeface="Wingdings"/>
                  <a:buChar char=""/>
                  <a:defRPr kumimoji="0" sz="2800" kern="1200">
                    <a:solidFill>
                      <a:schemeClr val="tx1"/>
                    </a:solidFill>
                    <a:latin typeface="+mn-lt"/>
                    <a:ea typeface="+mn-ea"/>
                    <a:cs typeface="+mn-cs"/>
                  </a:defRPr>
                </a:lvl2pPr>
                <a:lvl3pPr marL="822960" indent="-228600" algn="l" rtl="0" eaLnBrk="1" latinLnBrk="0" hangingPunct="1">
                  <a:spcBef>
                    <a:spcPts val="0"/>
                  </a:spcBef>
                  <a:spcAft>
                    <a:spcPts val="0"/>
                  </a:spcAft>
                  <a:buClr>
                    <a:schemeClr val="accent3"/>
                  </a:buClr>
                  <a:buSzPct val="75000"/>
                  <a:buFont typeface="Wingdings 2"/>
                  <a:buChar char=""/>
                  <a:defRPr kumimoji="0" sz="2400" kern="1200">
                    <a:solidFill>
                      <a:schemeClr val="tx1"/>
                    </a:solidFill>
                    <a:latin typeface="+mn-lt"/>
                    <a:ea typeface="+mn-ea"/>
                    <a:cs typeface="+mn-cs"/>
                  </a:defRPr>
                </a:lvl3pPr>
                <a:lvl4pPr marL="1097280" indent="-228600" algn="l" rtl="0" eaLnBrk="1" latinLnBrk="0" hangingPunct="1">
                  <a:spcBef>
                    <a:spcPts val="0"/>
                  </a:spcBef>
                  <a:spcAft>
                    <a:spcPts val="0"/>
                  </a:spcAft>
                  <a:buClr>
                    <a:schemeClr val="accent4"/>
                  </a:buClr>
                  <a:buSzPct val="70000"/>
                  <a:buFont typeface="Wingdings"/>
                  <a:buChar char=""/>
                  <a:defRPr kumimoji="0" sz="2000" kern="1200">
                    <a:solidFill>
                      <a:schemeClr val="tx1"/>
                    </a:solidFill>
                    <a:latin typeface="+mn-lt"/>
                    <a:ea typeface="+mn-ea"/>
                    <a:cs typeface="+mn-cs"/>
                  </a:defRPr>
                </a:lvl4pPr>
                <a:lvl5pPr marL="1371600" indent="-228600" algn="l" rtl="0" eaLnBrk="1" latinLnBrk="0" hangingPunct="1">
                  <a:spcBef>
                    <a:spcPts val="0"/>
                  </a:spcBef>
                  <a:spcAft>
                    <a:spcPts val="2400"/>
                  </a:spcAft>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0" indent="0">
                  <a:buFont typeface="Wingdings 2"/>
                  <a:buNone/>
                </a:pPr>
                <a14:m>
                  <m:oMathPara xmlns:m="http://schemas.openxmlformats.org/officeDocument/2006/math">
                    <m:oMathParaPr>
                      <m:jc m:val="centerGroup"/>
                    </m:oMathParaPr>
                    <m:oMath xmlns:m="http://schemas.openxmlformats.org/officeDocument/2006/math">
                      <m:acc>
                        <m:accPr>
                          <m:chr m:val="̂"/>
                          <m:ctrlPr>
                            <a:rPr lang="en-US" sz="4000" i="1" smtClean="0">
                              <a:latin typeface="Cambria Math"/>
                            </a:rPr>
                          </m:ctrlPr>
                        </m:accPr>
                        <m:e>
                          <m:r>
                            <a:rPr lang="en-US" sz="4000" i="1" smtClean="0">
                              <a:latin typeface="Cambria Math"/>
                            </a:rPr>
                            <m:t>𝑇𝑒𝑚𝑝</m:t>
                          </m:r>
                        </m:e>
                      </m:acc>
                      <m:r>
                        <a:rPr lang="en-US" sz="4000" i="1" smtClean="0">
                          <a:latin typeface="Cambria Math"/>
                        </a:rPr>
                        <m:t>=37.</m:t>
                      </m:r>
                      <m:r>
                        <a:rPr lang="en-US" sz="4000" b="0" i="1" smtClean="0">
                          <a:latin typeface="Cambria Math"/>
                        </a:rPr>
                        <m:t>7</m:t>
                      </m:r>
                      <m:r>
                        <a:rPr lang="en-US" sz="4000" i="1" smtClean="0">
                          <a:latin typeface="Cambria Math"/>
                        </a:rPr>
                        <m:t>+0.23</m:t>
                      </m:r>
                      <m:r>
                        <a:rPr lang="en-US" sz="4000" i="1" smtClean="0">
                          <a:latin typeface="Cambria Math"/>
                        </a:rPr>
                        <m:t>𝐶h𝑖𝑟𝑝𝑠</m:t>
                      </m:r>
                    </m:oMath>
                  </m:oMathPara>
                </a14:m>
                <a:endParaRPr lang="en-US" dirty="0"/>
              </a:p>
            </p:txBody>
          </p:sp>
        </mc:Choice>
        <mc:Fallback xmlns="">
          <p:sp>
            <p:nvSpPr>
              <p:cNvPr id="26" name="Content Placeholder 2"/>
              <p:cNvSpPr txBox="1">
                <a:spLocks noRot="1" noChangeAspect="1" noMove="1" noResize="1" noEditPoints="1" noAdjustHandles="1" noChangeArrowheads="1" noChangeShapeType="1" noTextEdit="1"/>
              </p:cNvSpPr>
              <p:nvPr/>
            </p:nvSpPr>
            <p:spPr>
              <a:xfrm>
                <a:off x="342900" y="2057400"/>
                <a:ext cx="8534400" cy="1143000"/>
              </a:xfrm>
              <a:prstGeom prst="rect">
                <a:avLst/>
              </a:prstGeom>
              <a:blipFill rotWithShape="1">
                <a:blip r:embed="rId2"/>
                <a:stretch>
                  <a:fillRect/>
                </a:stretch>
              </a:blipFill>
            </p:spPr>
            <p:txBody>
              <a:bodyPr/>
              <a:lstStyle/>
              <a:p>
                <a:r>
                  <a:rPr lang="en-US">
                    <a:noFill/>
                  </a:rPr>
                  <a:t> </a:t>
                </a:r>
              </a:p>
            </p:txBody>
          </p:sp>
        </mc:Fallback>
      </mc:AlternateContent>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2431" y="4191000"/>
            <a:ext cx="2800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6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4191692"/>
            <a:ext cx="2350514" cy="871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Text Box 4"/>
          <p:cNvSpPr txBox="1">
            <a:spLocks noChangeArrowheads="1"/>
          </p:cNvSpPr>
          <p:nvPr/>
        </p:nvSpPr>
        <p:spPr bwMode="auto">
          <a:xfrm>
            <a:off x="463191" y="5121197"/>
            <a:ext cx="8458200" cy="1569660"/>
          </a:xfrm>
          <a:prstGeom prst="rect">
            <a:avLst/>
          </a:prstGeom>
          <a:noFill/>
          <a:ln w="9525">
            <a:noFill/>
            <a:miter lim="800000"/>
            <a:headEnd/>
            <a:tailEnd/>
          </a:ln>
        </p:spPr>
        <p:txBody>
          <a:bodyPr wrap="square">
            <a:spAutoFit/>
          </a:bodyPr>
          <a:lstStyle/>
          <a:p>
            <a:pPr marL="457200" indent="-457200">
              <a:spcBef>
                <a:spcPts val="600"/>
              </a:spcBef>
              <a:spcAft>
                <a:spcPts val="1800"/>
              </a:spcAft>
              <a:buClr>
                <a:schemeClr val="accent1"/>
              </a:buClr>
              <a:buSzPct val="85000"/>
              <a:buFont typeface="Arial" pitchFamily="34" charset="0"/>
              <a:buChar char="•"/>
            </a:pPr>
            <a:r>
              <a:rPr lang="en-US" sz="3200" dirty="0" smtClean="0">
                <a:solidFill>
                  <a:schemeClr val="accent6">
                    <a:lumMod val="50000"/>
                  </a:schemeClr>
                </a:solidFill>
              </a:rPr>
              <a:t>The </a:t>
            </a:r>
            <a:r>
              <a:rPr lang="en-US" sz="3200" dirty="0">
                <a:solidFill>
                  <a:schemeClr val="accent6">
                    <a:lumMod val="50000"/>
                  </a:schemeClr>
                </a:solidFill>
              </a:rPr>
              <a:t>predicted temperature goes up by about 0.23</a:t>
            </a:r>
            <a:r>
              <a:rPr lang="en-US" sz="3200" baseline="30000" dirty="0">
                <a:solidFill>
                  <a:schemeClr val="accent6">
                    <a:lumMod val="50000"/>
                  </a:schemeClr>
                </a:solidFill>
              </a:rPr>
              <a:t>o</a:t>
            </a:r>
            <a:r>
              <a:rPr lang="en-US" sz="3200" dirty="0">
                <a:solidFill>
                  <a:schemeClr val="accent6">
                    <a:lumMod val="50000"/>
                  </a:schemeClr>
                </a:solidFill>
              </a:rPr>
              <a:t>F  for every increase of one in the chirp rate. </a:t>
            </a:r>
          </a:p>
        </p:txBody>
      </p:sp>
    </p:spTree>
    <p:extLst>
      <p:ext uri="{BB962C8B-B14F-4D97-AF65-F5344CB8AC3E}">
        <p14:creationId xmlns:p14="http://schemas.microsoft.com/office/powerpoint/2010/main" val="3759719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53"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p:cTn id="13" dur="500" fill="hold"/>
                                        <p:tgtEl>
                                          <p:spTgt spid="22"/>
                                        </p:tgtEl>
                                        <p:attrNameLst>
                                          <p:attrName>ppt_w</p:attrName>
                                        </p:attrNameLst>
                                      </p:cBhvr>
                                      <p:tavLst>
                                        <p:tav tm="0">
                                          <p:val>
                                            <p:fltVal val="0"/>
                                          </p:val>
                                        </p:tav>
                                        <p:tav tm="100000">
                                          <p:val>
                                            <p:strVal val="#ppt_w"/>
                                          </p:val>
                                        </p:tav>
                                      </p:tavLst>
                                    </p:anim>
                                    <p:anim calcmode="lin" valueType="num">
                                      <p:cBhvr>
                                        <p:cTn id="14" dur="500" fill="hold"/>
                                        <p:tgtEl>
                                          <p:spTgt spid="22"/>
                                        </p:tgtEl>
                                        <p:attrNameLst>
                                          <p:attrName>ppt_h</p:attrName>
                                        </p:attrNameLst>
                                      </p:cBhvr>
                                      <p:tavLst>
                                        <p:tav tm="0">
                                          <p:val>
                                            <p:fltVal val="0"/>
                                          </p:val>
                                        </p:tav>
                                        <p:tav tm="100000">
                                          <p:val>
                                            <p:strVal val="#ppt_h"/>
                                          </p:val>
                                        </p:tav>
                                      </p:tavLst>
                                    </p:anim>
                                    <p:animEffect transition="in" filter="fade">
                                      <p:cBhvr>
                                        <p:cTn id="15" dur="5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 calcmode="lin" valueType="num">
                                      <p:cBhvr>
                                        <p:cTn id="20" dur="500" fill="hold"/>
                                        <p:tgtEl>
                                          <p:spTgt spid="23"/>
                                        </p:tgtEl>
                                        <p:attrNameLst>
                                          <p:attrName>ppt_w</p:attrName>
                                        </p:attrNameLst>
                                      </p:cBhvr>
                                      <p:tavLst>
                                        <p:tav tm="0">
                                          <p:val>
                                            <p:fltVal val="0"/>
                                          </p:val>
                                        </p:tav>
                                        <p:tav tm="100000">
                                          <p:val>
                                            <p:strVal val="#ppt_w"/>
                                          </p:val>
                                        </p:tav>
                                      </p:tavLst>
                                    </p:anim>
                                    <p:anim calcmode="lin" valueType="num">
                                      <p:cBhvr>
                                        <p:cTn id="21" dur="500" fill="hold"/>
                                        <p:tgtEl>
                                          <p:spTgt spid="23"/>
                                        </p:tgtEl>
                                        <p:attrNameLst>
                                          <p:attrName>ppt_h</p:attrName>
                                        </p:attrNameLst>
                                      </p:cBhvr>
                                      <p:tavLst>
                                        <p:tav tm="0">
                                          <p:val>
                                            <p:fltVal val="0"/>
                                          </p:val>
                                        </p:tav>
                                        <p:tav tm="100000">
                                          <p:val>
                                            <p:strVal val="#ppt_h"/>
                                          </p:val>
                                        </p:tav>
                                      </p:tavLst>
                                    </p:anim>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p:cTn id="27" dur="500" fill="hold"/>
                                        <p:tgtEl>
                                          <p:spTgt spid="24"/>
                                        </p:tgtEl>
                                        <p:attrNameLst>
                                          <p:attrName>ppt_w</p:attrName>
                                        </p:attrNameLst>
                                      </p:cBhvr>
                                      <p:tavLst>
                                        <p:tav tm="0">
                                          <p:val>
                                            <p:fltVal val="0"/>
                                          </p:val>
                                        </p:tav>
                                        <p:tav tm="100000">
                                          <p:val>
                                            <p:strVal val="#ppt_w"/>
                                          </p:val>
                                        </p:tav>
                                      </p:tavLst>
                                    </p:anim>
                                    <p:anim calcmode="lin" valueType="num">
                                      <p:cBhvr>
                                        <p:cTn id="28" dur="500" fill="hold"/>
                                        <p:tgtEl>
                                          <p:spTgt spid="24"/>
                                        </p:tgtEl>
                                        <p:attrNameLst>
                                          <p:attrName>ppt_h</p:attrName>
                                        </p:attrNameLst>
                                      </p:cBhvr>
                                      <p:tavLst>
                                        <p:tav tm="0">
                                          <p:val>
                                            <p:fltVal val="0"/>
                                          </p:val>
                                        </p:tav>
                                        <p:tav tm="100000">
                                          <p:val>
                                            <p:strVal val="#ppt_h"/>
                                          </p:val>
                                        </p:tav>
                                      </p:tavLst>
                                    </p:anim>
                                    <p:animEffect transition="in" filter="fade">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0" fill="hold" nodeType="clickEffect">
                                  <p:stCondLst>
                                    <p:cond delay="0"/>
                                  </p:stCondLst>
                                  <p:childTnLst>
                                    <p:set>
                                      <p:cBhvr>
                                        <p:cTn id="33" dur="1" fill="hold">
                                          <p:stCondLst>
                                            <p:cond delay="0"/>
                                          </p:stCondLst>
                                        </p:cTn>
                                        <p:tgtEl>
                                          <p:spTgt spid="25"/>
                                        </p:tgtEl>
                                        <p:attrNameLst>
                                          <p:attrName>style.visibility</p:attrName>
                                        </p:attrNameLst>
                                      </p:cBhvr>
                                      <p:to>
                                        <p:strVal val="visible"/>
                                      </p:to>
                                    </p:set>
                                    <p:anim calcmode="lin" valueType="num">
                                      <p:cBhvr>
                                        <p:cTn id="34" dur="500" fill="hold"/>
                                        <p:tgtEl>
                                          <p:spTgt spid="25"/>
                                        </p:tgtEl>
                                        <p:attrNameLst>
                                          <p:attrName>ppt_w</p:attrName>
                                        </p:attrNameLst>
                                      </p:cBhvr>
                                      <p:tavLst>
                                        <p:tav tm="0">
                                          <p:val>
                                            <p:fltVal val="0"/>
                                          </p:val>
                                        </p:tav>
                                        <p:tav tm="100000">
                                          <p:val>
                                            <p:strVal val="#ppt_w"/>
                                          </p:val>
                                        </p:tav>
                                      </p:tavLst>
                                    </p:anim>
                                    <p:anim calcmode="lin" valueType="num">
                                      <p:cBhvr>
                                        <p:cTn id="35" dur="500" fill="hold"/>
                                        <p:tgtEl>
                                          <p:spTgt spid="25"/>
                                        </p:tgtEl>
                                        <p:attrNameLst>
                                          <p:attrName>ppt_h</p:attrName>
                                        </p:attrNameLst>
                                      </p:cBhvr>
                                      <p:tavLst>
                                        <p:tav tm="0">
                                          <p:val>
                                            <p:fltVal val="0"/>
                                          </p:val>
                                        </p:tav>
                                        <p:tav tm="100000">
                                          <p:val>
                                            <p:strVal val="#ppt_h"/>
                                          </p:val>
                                        </p:tav>
                                      </p:tavLst>
                                    </p:anim>
                                    <p:animEffect transition="in" filter="fade">
                                      <p:cBhvr>
                                        <p:cTn id="36" dur="500"/>
                                        <p:tgtEl>
                                          <p:spTgt spid="25"/>
                                        </p:tgtEl>
                                      </p:cBhvr>
                                    </p:animEffect>
                                  </p:childTnLst>
                                </p:cTn>
                              </p:par>
                              <p:par>
                                <p:cTn id="37" presetID="1" presetClass="entr" presetSubtype="0" fill="hold" nodeType="withEffect">
                                  <p:stCondLst>
                                    <p:cond delay="0"/>
                                  </p:stCondLst>
                                  <p:childTnLst>
                                    <p:set>
                                      <p:cBhvr>
                                        <p:cTn id="38" dur="1" fill="hold">
                                          <p:stCondLst>
                                            <p:cond delay="0"/>
                                          </p:stCondLst>
                                        </p:cTn>
                                        <p:tgtEl>
                                          <p:spTgt spid="2969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2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Question"/>
          <p:cNvSpPr>
            <a:spLocks noGrp="1"/>
          </p:cNvSpPr>
          <p:nvPr>
            <p:ph type="title" idx="4294967295"/>
          </p:nvPr>
        </p:nvSpPr>
        <p:spPr>
          <a:xfrm>
            <a:off x="0" y="113286"/>
            <a:ext cx="9144000" cy="1182114"/>
          </a:xfrm>
        </p:spPr>
        <p:txBody>
          <a:bodyPr/>
          <a:lstStyle/>
          <a:p>
            <a:pPr marL="342900" lvl="0" indent="-342900">
              <a:spcBef>
                <a:spcPts val="0"/>
              </a:spcBef>
              <a:defRPr/>
            </a:pPr>
            <a:r>
              <a:rPr lang="en-US" dirty="0"/>
              <a:t>Which is a correct interpretation?</a:t>
            </a:r>
          </a:p>
        </p:txBody>
      </p:sp>
      <mc:AlternateContent xmlns:mc="http://schemas.openxmlformats.org/markup-compatibility/2006" xmlns:a14="http://schemas.microsoft.com/office/drawing/2010/main">
        <mc:Choice Requires="a14">
          <p:sp>
            <p:nvSpPr>
              <p:cNvPr id="4" name="TPAnswers"/>
              <p:cNvSpPr>
                <a:spLocks noGrp="1"/>
              </p:cNvSpPr>
              <p:nvPr>
                <p:ph sz="quarter" idx="4294967295"/>
                <p:custDataLst>
                  <p:tags r:id="rId2"/>
                </p:custDataLst>
              </p:nvPr>
            </p:nvSpPr>
            <p:spPr>
              <a:xfrm>
                <a:off x="0" y="3148552"/>
                <a:ext cx="5486400" cy="3709447"/>
              </a:xfrm>
            </p:spPr>
            <p:txBody>
              <a:bodyPr>
                <a:normAutofit fontScale="77500" lnSpcReduction="20000"/>
              </a:bodyPr>
              <a:lstStyle/>
              <a:p>
                <a:pPr marL="1200150" lvl="1" indent="-742950">
                  <a:spcBef>
                    <a:spcPts val="600"/>
                  </a:spcBef>
                  <a:buClr>
                    <a:schemeClr val="accent2">
                      <a:lumMod val="75000"/>
                    </a:schemeClr>
                  </a:buClr>
                  <a:buFont typeface="+mj-lt"/>
                  <a:buAutoNum type="alphaUcPeriod"/>
                  <a:defRPr/>
                </a:pPr>
                <a:r>
                  <a:rPr lang="en-US" dirty="0" smtClean="0"/>
                  <a:t>The average subject is just over 6 feet tall.</a:t>
                </a:r>
                <a:endParaRPr lang="en-US" dirty="0"/>
              </a:p>
              <a:p>
                <a:pPr marL="1200150" lvl="1" indent="-742950">
                  <a:spcBef>
                    <a:spcPts val="600"/>
                  </a:spcBef>
                  <a:buClr>
                    <a:schemeClr val="accent2">
                      <a:lumMod val="75000"/>
                    </a:schemeClr>
                  </a:buClr>
                  <a:buFont typeface="+mj-lt"/>
                  <a:buAutoNum type="alphaUcPeriod"/>
                  <a:defRPr/>
                </a:pPr>
                <a:r>
                  <a:rPr lang="en-US" dirty="0"/>
                  <a:t>For every extra 6.02 inches in height, the predicted weight goes up by one pound. </a:t>
                </a:r>
              </a:p>
              <a:p>
                <a:pPr marL="1200150" lvl="1" indent="-742950">
                  <a:spcBef>
                    <a:spcPts val="600"/>
                  </a:spcBef>
                  <a:buClr>
                    <a:schemeClr val="accent2">
                      <a:lumMod val="75000"/>
                    </a:schemeClr>
                  </a:buClr>
                  <a:buFont typeface="+mj-lt"/>
                  <a:buAutoNum type="alphaUcPeriod"/>
                  <a:defRPr/>
                </a:pPr>
                <a:r>
                  <a:rPr lang="en-US" dirty="0"/>
                  <a:t>Predicted weight increases by 6.02 pounds for every additional inch in height.</a:t>
                </a:r>
              </a:p>
              <a:p>
                <a:pPr marL="1200150" lvl="1" indent="-742950">
                  <a:spcBef>
                    <a:spcPts val="600"/>
                  </a:spcBef>
                  <a:buClr>
                    <a:schemeClr val="accent2">
                      <a:lumMod val="75000"/>
                    </a:schemeClr>
                  </a:buClr>
                  <a:buFont typeface="+mj-lt"/>
                  <a:buAutoNum type="alphaUcPeriod"/>
                  <a:defRPr/>
                </a:pPr>
                <a:r>
                  <a:rPr lang="en-US" dirty="0"/>
                  <a:t>A zero inch tall person is predicted to weigh </a:t>
                </a:r>
                <a:r>
                  <a:rPr lang="en-US" dirty="0" smtClean="0"/>
                  <a:t>about </a:t>
                </a:r>
                <a14:m>
                  <m:oMath xmlns:m="http://schemas.openxmlformats.org/officeDocument/2006/math">
                    <m:r>
                      <a:rPr lang="en-US" dirty="0">
                        <a:latin typeface="Cambria Math"/>
                      </a:rPr>
                      <m:t>−</m:t>
                    </m:r>
                    <m:r>
                      <a:rPr lang="en-US" i="1" dirty="0">
                        <a:latin typeface="Cambria Math"/>
                      </a:rPr>
                      <m:t>260.4</m:t>
                    </m:r>
                  </m:oMath>
                </a14:m>
                <a:r>
                  <a:rPr lang="en-US" dirty="0"/>
                  <a:t> pounds</a:t>
                </a:r>
                <a:r>
                  <a:rPr lang="en-US" dirty="0" smtClean="0"/>
                  <a:t>.</a:t>
                </a:r>
                <a:endParaRPr lang="en-US" dirty="0"/>
              </a:p>
            </p:txBody>
          </p:sp>
        </mc:Choice>
        <mc:Fallback xmlns="">
          <p:sp>
            <p:nvSpPr>
              <p:cNvPr id="4" name="TPAnswers"/>
              <p:cNvSpPr>
                <a:spLocks noGrp="1" noRot="1" noChangeAspect="1" noMove="1" noResize="1" noEditPoints="1" noAdjustHandles="1" noChangeArrowheads="1" noChangeShapeType="1" noTextEdit="1"/>
              </p:cNvSpPr>
              <p:nvPr>
                <p:ph sz="quarter" idx="4294967295"/>
                <p:custDataLst>
                  <p:tags r:id="rId7"/>
                </p:custDataLst>
              </p:nvPr>
            </p:nvSpPr>
            <p:spPr>
              <a:xfrm>
                <a:off x="0" y="3148552"/>
                <a:ext cx="5486400" cy="3709447"/>
              </a:xfrm>
              <a:blipFill rotWithShape="1">
                <a:blip r:embed="rId8"/>
                <a:stretch>
                  <a:fillRect t="-3120" r="-333" b="-2956"/>
                </a:stretch>
              </a:blipFill>
            </p:spPr>
            <p:txBody>
              <a:bodyPr/>
              <a:lstStyle/>
              <a:p>
                <a:r>
                  <a:rPr lang="en-US">
                    <a:noFill/>
                  </a:rPr>
                  <a:t> </a:t>
                </a:r>
              </a:p>
            </p:txBody>
          </p:sp>
        </mc:Fallback>
      </mc:AlternateContent>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0" name="AutoShape 8"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 name="Content Placeholder 1"/>
          <p:cNvSpPr txBox="1">
            <a:spLocks/>
          </p:cNvSpPr>
          <p:nvPr/>
        </p:nvSpPr>
        <p:spPr>
          <a:xfrm>
            <a:off x="105266" y="2076253"/>
            <a:ext cx="8839200" cy="4572000"/>
          </a:xfrm>
          <a:prstGeom prst="rect">
            <a:avLst/>
          </a:prstGeom>
        </p:spPr>
        <p:txBody>
          <a:bodyPr>
            <a:normAutofit/>
          </a:bodyPr>
          <a:lstStyle/>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2" name="TextBox 1"/>
              <p:cNvSpPr txBox="1"/>
              <p:nvPr/>
            </p:nvSpPr>
            <p:spPr>
              <a:xfrm>
                <a:off x="838200" y="990600"/>
                <a:ext cx="6934200" cy="787716"/>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4400" i="1" smtClean="0">
                              <a:latin typeface="Cambria Math"/>
                            </a:rPr>
                          </m:ctrlPr>
                        </m:accPr>
                        <m:e>
                          <m:r>
                            <a:rPr lang="en-US" sz="4400" b="0" i="1" smtClean="0">
                              <a:latin typeface="Cambria Math"/>
                            </a:rPr>
                            <m:t>𝑊𝑔𝑡</m:t>
                          </m:r>
                        </m:e>
                      </m:acc>
                      <m:r>
                        <a:rPr lang="en-US" sz="4400" b="0" i="1" smtClean="0">
                          <a:latin typeface="Cambria Math"/>
                        </a:rPr>
                        <m:t>=−260.4+6.02</m:t>
                      </m:r>
                      <m:r>
                        <a:rPr lang="en-US" sz="4400" b="0" i="1" smtClean="0">
                          <a:latin typeface="Cambria Math"/>
                          <a:ea typeface="Cambria Math"/>
                        </a:rPr>
                        <m:t>∙</m:t>
                      </m:r>
                      <m:r>
                        <a:rPr lang="en-US" sz="4400" b="0" i="1" smtClean="0">
                          <a:latin typeface="Cambria Math"/>
                          <a:ea typeface="Cambria Math"/>
                        </a:rPr>
                        <m:t>𝐻𝑔𝑡</m:t>
                      </m:r>
                    </m:oMath>
                  </m:oMathPara>
                </a14:m>
                <a:endParaRPr lang="en-US" sz="4400" dirty="0"/>
              </a:p>
            </p:txBody>
          </p:sp>
        </mc:Choice>
        <mc:Fallback xmlns="">
          <p:sp>
            <p:nvSpPr>
              <p:cNvPr id="2" name="TextBox 1"/>
              <p:cNvSpPr txBox="1">
                <a:spLocks noRot="1" noChangeAspect="1" noMove="1" noResize="1" noEditPoints="1" noAdjustHandles="1" noChangeArrowheads="1" noChangeShapeType="1" noTextEdit="1"/>
              </p:cNvSpPr>
              <p:nvPr/>
            </p:nvSpPr>
            <p:spPr>
              <a:xfrm>
                <a:off x="838200" y="990600"/>
                <a:ext cx="6934200" cy="787716"/>
              </a:xfrm>
              <a:prstGeom prst="rect">
                <a:avLst/>
              </a:prstGeom>
              <a:blipFill rotWithShape="1">
                <a:blip r:embed="rId9"/>
                <a:stretch>
                  <a:fillRect/>
                </a:stretch>
              </a:blipFill>
              <a:ln>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0714647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152400"/>
            <a:ext cx="9144000" cy="3154362"/>
          </a:xfrm>
        </p:spPr>
        <p:txBody>
          <a:bodyPr>
            <a:noAutofit/>
          </a:bodyPr>
          <a:lstStyle/>
          <a:p>
            <a:r>
              <a:rPr lang="en-US" sz="3200" dirty="0"/>
              <a:t>For a certain course, the regression line to predict grade G on the </a:t>
            </a:r>
            <a:r>
              <a:rPr lang="en-US" sz="3200" dirty="0" smtClean="0"/>
              <a:t>final exam </a:t>
            </a:r>
            <a:r>
              <a:rPr lang="en-US" sz="3200" dirty="0"/>
              <a:t>based on number of hours studying H is</a:t>
            </a:r>
            <a:br>
              <a:rPr lang="en-US" sz="3200" dirty="0"/>
            </a:br>
            <a:r>
              <a:rPr lang="en-US" sz="3200" dirty="0"/>
              <a:t/>
            </a:r>
            <a:br>
              <a:rPr lang="en-US" sz="3200" dirty="0"/>
            </a:br>
            <a:r>
              <a:rPr lang="en-US" sz="3200" dirty="0"/>
              <a:t/>
            </a:r>
            <a:br>
              <a:rPr lang="en-US" sz="3200" dirty="0"/>
            </a:br>
            <a:r>
              <a:rPr lang="en-US" sz="3200" dirty="0"/>
              <a:t>One person studied 10 hours and received a 88 on the final.  The predicted grade for this person is:</a:t>
            </a:r>
          </a:p>
        </p:txBody>
      </p:sp>
      <p:sp>
        <p:nvSpPr>
          <p:cNvPr id="3" name="TPAnswers"/>
          <p:cNvSpPr>
            <a:spLocks noGrp="1"/>
          </p:cNvSpPr>
          <p:nvPr>
            <p:ph type="body" idx="4294967295"/>
            <p:custDataLst>
              <p:tags r:id="rId3"/>
            </p:custDataLst>
          </p:nvPr>
        </p:nvSpPr>
        <p:spPr>
          <a:xfrm>
            <a:off x="152400" y="3505200"/>
            <a:ext cx="3124200" cy="2971800"/>
          </a:xfrm>
        </p:spPr>
        <p:txBody>
          <a:bodyPr/>
          <a:lstStyle/>
          <a:p>
            <a:pPr marL="514350" indent="-514350">
              <a:buAutoNum type="alphaUcPeriod"/>
            </a:pPr>
            <a:r>
              <a:rPr lang="en-US" dirty="0"/>
              <a:t>8</a:t>
            </a:r>
          </a:p>
          <a:p>
            <a:pPr marL="514350" indent="-514350">
              <a:buAutoNum type="alphaUcPeriod"/>
            </a:pPr>
            <a:r>
              <a:rPr lang="en-US" dirty="0"/>
              <a:t>10</a:t>
            </a:r>
          </a:p>
          <a:p>
            <a:pPr marL="514350" indent="-514350">
              <a:buAutoNum type="alphaUcPeriod"/>
            </a:pPr>
            <a:r>
              <a:rPr lang="en-US" dirty="0" smtClean="0"/>
              <a:t>50</a:t>
            </a:r>
            <a:endParaRPr lang="en-US" dirty="0"/>
          </a:p>
          <a:p>
            <a:pPr marL="514350" indent="-514350">
              <a:buAutoNum type="alphaUcPeriod"/>
            </a:pPr>
            <a:r>
              <a:rPr lang="en-US" dirty="0"/>
              <a:t>80</a:t>
            </a:r>
          </a:p>
          <a:p>
            <a:pPr marL="514350" indent="-514350">
              <a:buAutoNum type="alphaUcPeriod"/>
            </a:pPr>
            <a:r>
              <a:rPr lang="en-US" dirty="0"/>
              <a:t>88</a:t>
            </a:r>
          </a:p>
        </p:txBody>
      </p:sp>
      <p:graphicFrame>
        <p:nvGraphicFramePr>
          <p:cNvPr id="5" name="Object 4"/>
          <p:cNvGraphicFramePr>
            <a:graphicFrameLocks noChangeAspect="1"/>
          </p:cNvGraphicFramePr>
          <p:nvPr>
            <p:extLst>
              <p:ext uri="{D42A27DB-BD31-4B8C-83A1-F6EECF244321}">
                <p14:modId xmlns:p14="http://schemas.microsoft.com/office/powerpoint/2010/main" val="1606146075"/>
              </p:ext>
            </p:extLst>
          </p:nvPr>
        </p:nvGraphicFramePr>
        <p:xfrm>
          <a:off x="685800" y="1676400"/>
          <a:ext cx="3092450" cy="762000"/>
        </p:xfrm>
        <a:graphic>
          <a:graphicData uri="http://schemas.openxmlformats.org/presentationml/2006/ole">
            <mc:AlternateContent xmlns:mc="http://schemas.openxmlformats.org/markup-compatibility/2006">
              <mc:Choice xmlns:v="urn:schemas-microsoft-com:vml" Requires="v">
                <p:oleObj spid="_x0000_s25671" name="Equation" r:id="rId6" imgW="875920" imgH="215806" progId="Equation.3">
                  <p:embed/>
                </p:oleObj>
              </mc:Choice>
              <mc:Fallback>
                <p:oleObj name="Equation" r:id="rId6" imgW="875920" imgH="215806"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1676400"/>
                        <a:ext cx="30924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2"/>
    </p:custDataLst>
    <p:extLst>
      <p:ext uri="{BB962C8B-B14F-4D97-AF65-F5344CB8AC3E}">
        <p14:creationId xmlns:p14="http://schemas.microsoft.com/office/powerpoint/2010/main" val="27265814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152400"/>
            <a:ext cx="9144000" cy="3078162"/>
          </a:xfrm>
        </p:spPr>
        <p:txBody>
          <a:bodyPr>
            <a:noAutofit/>
          </a:bodyPr>
          <a:lstStyle/>
          <a:p>
            <a:r>
              <a:rPr lang="en-US" sz="3200" dirty="0"/>
              <a:t>For a certain course, the regression line to predict grade G on the final </a:t>
            </a:r>
            <a:r>
              <a:rPr lang="en-US" sz="3200" dirty="0" smtClean="0"/>
              <a:t>exam based </a:t>
            </a:r>
            <a:r>
              <a:rPr lang="en-US" sz="3200" dirty="0"/>
              <a:t>on number of hours studying H is</a:t>
            </a:r>
            <a:br>
              <a:rPr lang="en-US" sz="3200" dirty="0"/>
            </a:br>
            <a:r>
              <a:rPr lang="en-US" sz="3200" dirty="0"/>
              <a:t/>
            </a:r>
            <a:br>
              <a:rPr lang="en-US" sz="3200" dirty="0"/>
            </a:br>
            <a:r>
              <a:rPr lang="en-US" sz="3200" dirty="0"/>
              <a:t/>
            </a:r>
            <a:br>
              <a:rPr lang="en-US" sz="3200" dirty="0"/>
            </a:br>
            <a:r>
              <a:rPr lang="en-US" sz="3200" dirty="0"/>
              <a:t>One person studied 10 hours and received an 88 on the final.  The residual for this person is:</a:t>
            </a:r>
          </a:p>
        </p:txBody>
      </p:sp>
      <p:sp>
        <p:nvSpPr>
          <p:cNvPr id="3" name="TPAnswers"/>
          <p:cNvSpPr>
            <a:spLocks noGrp="1"/>
          </p:cNvSpPr>
          <p:nvPr>
            <p:ph type="body" idx="4294967295"/>
            <p:custDataLst>
              <p:tags r:id="rId3"/>
            </p:custDataLst>
          </p:nvPr>
        </p:nvSpPr>
        <p:spPr>
          <a:xfrm>
            <a:off x="152400" y="3515032"/>
            <a:ext cx="2743200" cy="3063875"/>
          </a:xfrm>
        </p:spPr>
        <p:txBody>
          <a:bodyPr/>
          <a:lstStyle/>
          <a:p>
            <a:pPr marL="514350" indent="-514350">
              <a:buAutoNum type="alphaUcPeriod"/>
            </a:pPr>
            <a:r>
              <a:rPr lang="en-US" dirty="0"/>
              <a:t>8</a:t>
            </a:r>
          </a:p>
          <a:p>
            <a:pPr marL="514350" indent="-514350">
              <a:buAutoNum type="alphaUcPeriod"/>
            </a:pPr>
            <a:r>
              <a:rPr lang="en-US" dirty="0"/>
              <a:t>10</a:t>
            </a:r>
          </a:p>
          <a:p>
            <a:pPr marL="514350" indent="-514350">
              <a:buAutoNum type="alphaUcPeriod"/>
            </a:pPr>
            <a:r>
              <a:rPr lang="en-US" dirty="0"/>
              <a:t>50</a:t>
            </a:r>
          </a:p>
          <a:p>
            <a:pPr marL="514350" indent="-514350">
              <a:buAutoNum type="alphaUcPeriod"/>
            </a:pPr>
            <a:r>
              <a:rPr lang="en-US" dirty="0"/>
              <a:t>80</a:t>
            </a:r>
          </a:p>
          <a:p>
            <a:pPr marL="514350" indent="-514350">
              <a:buAutoNum type="alphaUcPeriod"/>
            </a:pPr>
            <a:r>
              <a:rPr lang="en-US" dirty="0"/>
              <a:t>88</a:t>
            </a:r>
          </a:p>
        </p:txBody>
      </p:sp>
      <p:graphicFrame>
        <p:nvGraphicFramePr>
          <p:cNvPr id="5" name="Object 4"/>
          <p:cNvGraphicFramePr>
            <a:graphicFrameLocks noChangeAspect="1"/>
          </p:cNvGraphicFramePr>
          <p:nvPr>
            <p:extLst>
              <p:ext uri="{D42A27DB-BD31-4B8C-83A1-F6EECF244321}">
                <p14:modId xmlns:p14="http://schemas.microsoft.com/office/powerpoint/2010/main" val="1606146075"/>
              </p:ext>
            </p:extLst>
          </p:nvPr>
        </p:nvGraphicFramePr>
        <p:xfrm>
          <a:off x="685800" y="1676400"/>
          <a:ext cx="3092450" cy="762000"/>
        </p:xfrm>
        <a:graphic>
          <a:graphicData uri="http://schemas.openxmlformats.org/presentationml/2006/ole">
            <mc:AlternateContent xmlns:mc="http://schemas.openxmlformats.org/markup-compatibility/2006">
              <mc:Choice xmlns:v="urn:schemas-microsoft-com:vml" Requires="v">
                <p:oleObj spid="_x0000_s26692" name="Equation" r:id="rId5" imgW="875920" imgH="215806" progId="Equation.3">
                  <p:embed/>
                </p:oleObj>
              </mc:Choice>
              <mc:Fallback>
                <p:oleObj name="Equation" r:id="rId5" imgW="875920" imgH="215806"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1676400"/>
                        <a:ext cx="30924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2"/>
    </p:custDataLst>
    <p:extLst>
      <p:ext uri="{BB962C8B-B14F-4D97-AF65-F5344CB8AC3E}">
        <p14:creationId xmlns:p14="http://schemas.microsoft.com/office/powerpoint/2010/main" val="700872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0"/>
            <a:ext cx="9144000" cy="2362200"/>
          </a:xfrm>
        </p:spPr>
        <p:txBody>
          <a:bodyPr>
            <a:noAutofit/>
          </a:bodyPr>
          <a:lstStyle/>
          <a:p>
            <a:r>
              <a:rPr lang="en-US" sz="3200" dirty="0"/>
              <a:t>For a certain course, the regression line to predict grade G on the final based on number of hours studying H is</a:t>
            </a:r>
            <a:br>
              <a:rPr lang="en-US" sz="3200" dirty="0"/>
            </a:br>
            <a:r>
              <a:rPr lang="en-US" sz="1000" dirty="0"/>
              <a:t/>
            </a:r>
            <a:br>
              <a:rPr lang="en-US" sz="1000" dirty="0"/>
            </a:br>
            <a:r>
              <a:rPr lang="en-US" sz="3200" dirty="0"/>
              <a:t>We can interpret the slope in context to mean that:</a:t>
            </a:r>
          </a:p>
        </p:txBody>
      </p:sp>
      <p:sp>
        <p:nvSpPr>
          <p:cNvPr id="3" name="TPAnswers"/>
          <p:cNvSpPr>
            <a:spLocks noGrp="1"/>
          </p:cNvSpPr>
          <p:nvPr>
            <p:ph type="body" idx="4294967295"/>
            <p:custDataLst>
              <p:tags r:id="rId3"/>
            </p:custDataLst>
          </p:nvPr>
        </p:nvSpPr>
        <p:spPr>
          <a:xfrm>
            <a:off x="0" y="2286001"/>
            <a:ext cx="7010400" cy="4572000"/>
          </a:xfrm>
        </p:spPr>
        <p:txBody>
          <a:bodyPr>
            <a:normAutofit fontScale="92500"/>
          </a:bodyPr>
          <a:lstStyle/>
          <a:p>
            <a:pPr marL="514350" indent="-514350">
              <a:buAutoNum type="alphaUcPeriod"/>
            </a:pPr>
            <a:r>
              <a:rPr lang="en-US" dirty="0"/>
              <a:t>Predicted grade will go up by 1 point for a person who studies 3 more hours.</a:t>
            </a:r>
          </a:p>
          <a:p>
            <a:pPr marL="514350" indent="-514350">
              <a:buAutoNum type="alphaUcPeriod"/>
            </a:pPr>
            <a:r>
              <a:rPr lang="en-US" dirty="0"/>
              <a:t>Predicted grade will go up by 3 points for a person who studies 1 more hour.</a:t>
            </a:r>
          </a:p>
          <a:p>
            <a:pPr marL="514350" indent="-514350">
              <a:buAutoNum type="alphaUcPeriod"/>
            </a:pPr>
            <a:r>
              <a:rPr lang="en-US" dirty="0"/>
              <a:t> Three more hours of studying gives 3 more points on the final</a:t>
            </a:r>
          </a:p>
          <a:p>
            <a:pPr marL="514350" indent="-514350">
              <a:buAutoNum type="alphaUcPeriod"/>
            </a:pPr>
            <a:r>
              <a:rPr lang="en-US" dirty="0" smtClean="0"/>
              <a:t>The rise over the run is 3/1.</a:t>
            </a:r>
            <a:endParaRPr lang="en-US" dirty="0"/>
          </a:p>
          <a:p>
            <a:pPr marL="514350" indent="-514350">
              <a:buAutoNum type="alphaUcPeriod"/>
            </a:pPr>
            <a:r>
              <a:rPr lang="en-US" dirty="0"/>
              <a:t>The response variable goes up by 1 if the </a:t>
            </a:r>
            <a:r>
              <a:rPr lang="en-US" dirty="0" smtClean="0"/>
              <a:t>explanatory variable </a:t>
            </a:r>
            <a:r>
              <a:rPr lang="en-US" dirty="0"/>
              <a:t>goes up by 3.  </a:t>
            </a:r>
          </a:p>
        </p:txBody>
      </p:sp>
      <p:graphicFrame>
        <p:nvGraphicFramePr>
          <p:cNvPr id="5" name="Object 4"/>
          <p:cNvGraphicFramePr>
            <a:graphicFrameLocks noChangeAspect="1"/>
          </p:cNvGraphicFramePr>
          <p:nvPr>
            <p:extLst>
              <p:ext uri="{D42A27DB-BD31-4B8C-83A1-F6EECF244321}">
                <p14:modId xmlns:p14="http://schemas.microsoft.com/office/powerpoint/2010/main" val="984193014"/>
              </p:ext>
            </p:extLst>
          </p:nvPr>
        </p:nvGraphicFramePr>
        <p:xfrm>
          <a:off x="2514600" y="990600"/>
          <a:ext cx="3092450" cy="762000"/>
        </p:xfrm>
        <a:graphic>
          <a:graphicData uri="http://schemas.openxmlformats.org/presentationml/2006/ole">
            <mc:AlternateContent xmlns:mc="http://schemas.openxmlformats.org/markup-compatibility/2006">
              <mc:Choice xmlns:v="urn:schemas-microsoft-com:vml" Requires="v">
                <p:oleObj spid="_x0000_s27714" name="Equation" r:id="rId5" imgW="875920" imgH="215806" progId="Equation.3">
                  <p:embed/>
                </p:oleObj>
              </mc:Choice>
              <mc:Fallback>
                <p:oleObj name="Equation" r:id="rId5" imgW="875920" imgH="215806"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990600"/>
                        <a:ext cx="30924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2"/>
    </p:custDataLst>
    <p:extLst>
      <p:ext uri="{BB962C8B-B14F-4D97-AF65-F5344CB8AC3E}">
        <p14:creationId xmlns:p14="http://schemas.microsoft.com/office/powerpoint/2010/main" val="329945967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extLst>
              <p:ext uri="{D42A27DB-BD31-4B8C-83A1-F6EECF244321}">
                <p14:modId xmlns:p14="http://schemas.microsoft.com/office/powerpoint/2010/main" val="4190878633"/>
              </p:ext>
            </p:extLst>
          </p:nvPr>
        </p:nvGraphicFramePr>
        <p:xfrm>
          <a:off x="2362200" y="838200"/>
          <a:ext cx="3092824" cy="762000"/>
        </p:xfrm>
        <a:graphic>
          <a:graphicData uri="http://schemas.openxmlformats.org/presentationml/2006/ole">
            <mc:AlternateContent xmlns:mc="http://schemas.openxmlformats.org/markup-compatibility/2006">
              <mc:Choice xmlns:v="urn:schemas-microsoft-com:vml" Requires="v">
                <p:oleObj spid="_x0000_s28683" name="Equation" r:id="rId6" imgW="876240" imgH="215640" progId="Equation.3">
                  <p:embed/>
                </p:oleObj>
              </mc:Choice>
              <mc:Fallback>
                <p:oleObj name="Equation" r:id="rId6" imgW="876240" imgH="215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0" y="838200"/>
                        <a:ext cx="3092824"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PQuestion"/>
          <p:cNvSpPr>
            <a:spLocks noGrp="1"/>
          </p:cNvSpPr>
          <p:nvPr>
            <p:ph type="title" idx="4294967295"/>
          </p:nvPr>
        </p:nvSpPr>
        <p:spPr>
          <a:xfrm>
            <a:off x="-13356" y="0"/>
            <a:ext cx="9157355" cy="3048000"/>
          </a:xfrm>
        </p:spPr>
        <p:txBody>
          <a:bodyPr>
            <a:noAutofit/>
          </a:bodyPr>
          <a:lstStyle/>
          <a:p>
            <a:r>
              <a:rPr lang="en-US" sz="3200" dirty="0"/>
              <a:t>For a certain course, the regression line to predict grade G on the final based on number of hours studying H is</a:t>
            </a:r>
            <a:br>
              <a:rPr lang="en-US" sz="3200" dirty="0"/>
            </a:br>
            <a:r>
              <a:rPr lang="en-US" sz="3200" dirty="0"/>
              <a:t/>
            </a:r>
            <a:br>
              <a:rPr lang="en-US" sz="3200" dirty="0"/>
            </a:br>
            <a:r>
              <a:rPr lang="en-US" sz="3200" dirty="0"/>
              <a:t>We can interpret the intercept in context to mean that:</a:t>
            </a:r>
          </a:p>
        </p:txBody>
      </p:sp>
      <p:sp>
        <p:nvSpPr>
          <p:cNvPr id="7" name="TPAnswers"/>
          <p:cNvSpPr>
            <a:spLocks noGrp="1"/>
          </p:cNvSpPr>
          <p:nvPr>
            <p:ph sz="quarter" idx="4294967295"/>
            <p:custDataLst>
              <p:tags r:id="rId3"/>
            </p:custDataLst>
          </p:nvPr>
        </p:nvSpPr>
        <p:spPr>
          <a:xfrm>
            <a:off x="0" y="2895600"/>
            <a:ext cx="5943600" cy="3962400"/>
          </a:xfrm>
        </p:spPr>
        <p:txBody>
          <a:bodyPr>
            <a:noAutofit/>
          </a:bodyPr>
          <a:lstStyle/>
          <a:p>
            <a:pPr marL="514350" indent="-514350">
              <a:buFont typeface="Wingdings"/>
              <a:buAutoNum type="alphaUcPeriod"/>
            </a:pPr>
            <a:r>
              <a:rPr lang="en-US" sz="2600" dirty="0" smtClean="0"/>
              <a:t>If a person does not study at all, the predicted grade will be 50.</a:t>
            </a:r>
            <a:endParaRPr lang="en-US" sz="2600" dirty="0"/>
          </a:p>
          <a:p>
            <a:pPr marL="514350" indent="-514350">
              <a:buFont typeface="Wingdings"/>
              <a:buAutoNum type="alphaUcPeriod"/>
            </a:pPr>
            <a:r>
              <a:rPr lang="en-US" sz="2600" dirty="0"/>
              <a:t>A predicted grade of zero goes with studying 50 hours. </a:t>
            </a:r>
          </a:p>
          <a:p>
            <a:pPr marL="514350" indent="-514350">
              <a:buFont typeface="Wingdings"/>
              <a:buAutoNum type="alphaUcPeriod"/>
            </a:pPr>
            <a:r>
              <a:rPr lang="en-US" sz="2600" dirty="0"/>
              <a:t>The more someone studies, the higher the predicted grade.</a:t>
            </a:r>
          </a:p>
          <a:p>
            <a:pPr marL="514350" indent="-514350">
              <a:buFont typeface="Wingdings"/>
              <a:buAutoNum type="alphaUcPeriod"/>
            </a:pPr>
            <a:r>
              <a:rPr lang="en-US" sz="2600" dirty="0"/>
              <a:t>The line crosses the axis at 50.</a:t>
            </a:r>
          </a:p>
          <a:p>
            <a:pPr marL="514350" indent="-514350">
              <a:buFont typeface="Wingdings"/>
              <a:buAutoNum type="alphaUcPeriod"/>
            </a:pPr>
            <a:r>
              <a:rPr lang="en-US" sz="2600" dirty="0"/>
              <a:t>The response variable is 50 if the explanatory variable is 0</a:t>
            </a:r>
            <a:r>
              <a:rPr lang="en-US" sz="2600" dirty="0" smtClean="0"/>
              <a:t>.</a:t>
            </a:r>
            <a:endParaRPr lang="en-US" sz="2600" dirty="0"/>
          </a:p>
        </p:txBody>
      </p:sp>
    </p:spTree>
    <p:custDataLst>
      <p:tags r:id="rId2"/>
    </p:custDataLst>
    <p:extLst>
      <p:ext uri="{BB962C8B-B14F-4D97-AF65-F5344CB8AC3E}">
        <p14:creationId xmlns:p14="http://schemas.microsoft.com/office/powerpoint/2010/main" val="42236655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0" name="AutoShape 8"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2" name="AutoShape 10"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Content Placeholder 1"/>
          <p:cNvSpPr txBox="1">
            <a:spLocks/>
          </p:cNvSpPr>
          <p:nvPr/>
        </p:nvSpPr>
        <p:spPr>
          <a:xfrm>
            <a:off x="152400" y="739170"/>
            <a:ext cx="8915400" cy="5334000"/>
          </a:xfrm>
          <a:prstGeom prst="rect">
            <a:avLst/>
          </a:prstGeom>
        </p:spPr>
        <p:txBody>
          <a:bodyPr>
            <a:normAutofit/>
          </a:bodyPr>
          <a:lstStyle/>
          <a:p>
            <a:pPr marL="342900" indent="-342900">
              <a:defRPr/>
            </a:pPr>
            <a:endParaRPr lang="en-US" sz="3000" noProof="0" dirty="0" smtClean="0">
              <a:solidFill>
                <a:schemeClr val="tx2"/>
              </a:solidFill>
              <a:latin typeface="Courier New" pitchFamily="49" charset="0"/>
              <a:cs typeface="Courier New" pitchFamily="49" charset="0"/>
            </a:endParaRPr>
          </a:p>
          <a:p>
            <a:pPr marL="342900" indent="-342900">
              <a:defRPr/>
            </a:pPr>
            <a:endParaRPr lang="en-US" sz="3000" noProof="0" dirty="0" smtClean="0">
              <a:solidFill>
                <a:schemeClr val="tx2"/>
              </a:solidFill>
              <a:latin typeface="Courier New" pitchFamily="49" charset="0"/>
              <a:cs typeface="Courier New" pitchFamily="49" charset="0"/>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600" u="sng" strike="noStrike" kern="1200" cap="none" spc="0" normalizeH="0" baseline="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tabLst/>
              <a:defRPr/>
            </a:pPr>
            <a:endParaRPr kumimoji="0" lang="en-US" sz="3200"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p:txBody>
      </p:sp>
      <p:sp>
        <p:nvSpPr>
          <p:cNvPr id="10" name="Content Placeholder 1"/>
          <p:cNvSpPr txBox="1">
            <a:spLocks/>
          </p:cNvSpPr>
          <p:nvPr/>
        </p:nvSpPr>
        <p:spPr>
          <a:xfrm>
            <a:off x="2156" y="4648200"/>
            <a:ext cx="3581401" cy="1424970"/>
          </a:xfrm>
          <a:prstGeom prst="rect">
            <a:avLst/>
          </a:prstGeom>
        </p:spPr>
        <p:txBody>
          <a:bodyPr>
            <a:normAutofit/>
          </a:bodyPr>
          <a:lstStyle/>
          <a:p>
            <a:pPr marR="0" lvl="0" algn="l" defTabSz="914400" rtl="0" eaLnBrk="1" fontAlgn="auto" latinLnBrk="0" hangingPunct="1">
              <a:lnSpc>
                <a:spcPct val="100000"/>
              </a:lnSpc>
              <a:spcBef>
                <a:spcPts val="0"/>
              </a:spcBef>
              <a:spcAft>
                <a:spcPts val="0"/>
              </a:spcAft>
              <a:buClrTx/>
              <a:buSzTx/>
              <a:tabLst/>
              <a:defRPr/>
            </a:pPr>
            <a:r>
              <a:rPr lang="en-US" sz="3600" dirty="0" smtClean="0"/>
              <a:t>	</a:t>
            </a:r>
            <a:endParaRPr lang="en-US" sz="3000" dirty="0" smtClean="0">
              <a:solidFill>
                <a:schemeClr val="tx2"/>
              </a:solidFill>
            </a:endParaRPr>
          </a:p>
          <a:p>
            <a:pPr marL="742950" marR="0" lvl="0" indent="-742950" algn="l" defTabSz="914400" rtl="0" eaLnBrk="1" fontAlgn="auto" latinLnBrk="0" hangingPunct="1">
              <a:lnSpc>
                <a:spcPct val="100000"/>
              </a:lnSpc>
              <a:spcBef>
                <a:spcPts val="0"/>
              </a:spcBef>
              <a:spcAft>
                <a:spcPts val="0"/>
              </a:spcAft>
              <a:buClrTx/>
              <a:buSzTx/>
              <a:buFont typeface="+mj-lt"/>
              <a:buAutoNum type="alphaLcParenR"/>
              <a:tabLst/>
              <a:defRPr/>
            </a:pPr>
            <a:endParaRPr kumimoji="0" lang="en-US" sz="3600" u="none" strike="noStrike" kern="1200" cap="none" spc="0" normalizeH="0" baseline="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tabLst/>
              <a:defRPr/>
            </a:pPr>
            <a:endParaRPr kumimoji="0" lang="en-US" sz="3200" b="1" u="sng"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p:txBody>
      </p:sp>
      <p:pic>
        <p:nvPicPr>
          <p:cNvPr id="13" name="Picture 12" descr="plot (4).png"/>
          <p:cNvPicPr>
            <a:picLocks noChangeAspect="1"/>
          </p:cNvPicPr>
          <p:nvPr/>
        </p:nvPicPr>
        <p:blipFill>
          <a:blip r:embed="rId4" cstate="print"/>
          <a:srcRect t="12254"/>
          <a:stretch>
            <a:fillRect/>
          </a:stretch>
        </p:blipFill>
        <p:spPr>
          <a:xfrm>
            <a:off x="307975" y="2228930"/>
            <a:ext cx="3583974" cy="2534698"/>
          </a:xfrm>
          <a:prstGeom prst="rect">
            <a:avLst/>
          </a:prstGeom>
        </p:spPr>
      </p:pic>
      <mc:AlternateContent xmlns:mc="http://schemas.openxmlformats.org/markup-compatibility/2006" xmlns:a14="http://schemas.microsoft.com/office/drawing/2010/main">
        <mc:Choice Requires="a14">
          <p:sp>
            <p:nvSpPr>
              <p:cNvPr id="2" name="TPQuestion"/>
              <p:cNvSpPr>
                <a:spLocks noGrp="1"/>
              </p:cNvSpPr>
              <p:nvPr>
                <p:ph type="title" idx="4294967295"/>
              </p:nvPr>
            </p:nvSpPr>
            <p:spPr>
              <a:xfrm>
                <a:off x="42863" y="7938"/>
                <a:ext cx="9101137" cy="2354262"/>
              </a:xfrm>
            </p:spPr>
            <p:txBody>
              <a:bodyPr>
                <a:normAutofit/>
              </a:bodyPr>
              <a:lstStyle/>
              <a:p>
                <a:pPr marL="0" indent="0"/>
                <a14:m>
                  <m:oMathPara xmlns:m="http://schemas.openxmlformats.org/officeDocument/2006/math">
                    <m:oMathParaPr>
                      <m:jc m:val="centerGroup"/>
                    </m:oMathParaPr>
                    <m:oMath xmlns:m="http://schemas.openxmlformats.org/officeDocument/2006/math">
                      <m:acc>
                        <m:accPr>
                          <m:chr m:val="̂"/>
                          <m:ctrlPr>
                            <a:rPr lang="en-US" sz="3200" i="1">
                              <a:latin typeface="Cambria Math"/>
                            </a:rPr>
                          </m:ctrlPr>
                        </m:accPr>
                        <m:e>
                          <m:r>
                            <a:rPr lang="en-US" sz="3200" i="1">
                              <a:latin typeface="Cambria Math"/>
                            </a:rPr>
                            <m:t>𝑇𝑒𝑚𝑝</m:t>
                          </m:r>
                        </m:e>
                      </m:acc>
                      <m:r>
                        <a:rPr lang="en-US" sz="3200" i="1">
                          <a:latin typeface="Cambria Math"/>
                        </a:rPr>
                        <m:t>=37.68+0.23</m:t>
                      </m:r>
                      <m:r>
                        <a:rPr lang="en-US" sz="3200" i="1">
                          <a:latin typeface="Cambria Math"/>
                        </a:rPr>
                        <m:t>𝐶h𝑖𝑟𝑝𝑠</m:t>
                      </m:r>
                    </m:oMath>
                  </m:oMathPara>
                </a14:m>
                <a:r>
                  <a:rPr lang="en-US" sz="3200" dirty="0"/>
                  <a:t/>
                </a:r>
                <a:br>
                  <a:rPr lang="en-US" sz="3200" dirty="0"/>
                </a:br>
                <a:r>
                  <a:rPr lang="en-US" sz="3200" dirty="0"/>
                  <a:t>The intercept tells us that the predicted temperature when the crickets are not chirping at all is 37.68</a:t>
                </a:r>
                <a:r>
                  <a:rPr lang="en-US" sz="3200" dirty="0">
                    <a:sym typeface="Symbol"/>
                  </a:rPr>
                  <a:t></a:t>
                </a:r>
                <a:r>
                  <a:rPr lang="en-US" sz="3200" dirty="0"/>
                  <a:t>.  Do you think this is a good prediction?</a:t>
                </a:r>
              </a:p>
            </p:txBody>
          </p:sp>
        </mc:Choice>
        <mc:Fallback xmlns="">
          <p:sp>
            <p:nvSpPr>
              <p:cNvPr id="2" name="TPQuestion"/>
              <p:cNvSpPr>
                <a:spLocks noGrp="1" noRot="1" noChangeAspect="1" noMove="1" noResize="1" noEditPoints="1" noAdjustHandles="1" noChangeArrowheads="1" noChangeShapeType="1" noTextEdit="1"/>
              </p:cNvSpPr>
              <p:nvPr>
                <p:ph type="title" idx="4294967295"/>
              </p:nvPr>
            </p:nvSpPr>
            <p:spPr>
              <a:xfrm>
                <a:off x="42863" y="7938"/>
                <a:ext cx="9101137" cy="2354262"/>
              </a:xfrm>
              <a:blipFill rotWithShape="1">
                <a:blip r:embed="rId7"/>
                <a:stretch>
                  <a:fillRect l="-1674" b="-2326"/>
                </a:stretch>
              </a:blipFill>
            </p:spPr>
            <p:txBody>
              <a:bodyPr/>
              <a:lstStyle/>
              <a:p>
                <a:r>
                  <a:rPr lang="en-US">
                    <a:noFill/>
                  </a:rPr>
                  <a:t> </a:t>
                </a:r>
              </a:p>
            </p:txBody>
          </p:sp>
        </mc:Fallback>
      </mc:AlternateContent>
      <p:sp>
        <p:nvSpPr>
          <p:cNvPr id="3" name="TPAnswers"/>
          <p:cNvSpPr>
            <a:spLocks noGrp="1"/>
          </p:cNvSpPr>
          <p:nvPr>
            <p:ph sz="quarter" idx="4294967295"/>
            <p:custDataLst>
              <p:tags r:id="rId2"/>
            </p:custDataLst>
          </p:nvPr>
        </p:nvSpPr>
        <p:spPr>
          <a:xfrm>
            <a:off x="0" y="4343400"/>
            <a:ext cx="2895600" cy="1314450"/>
          </a:xfrm>
        </p:spPr>
        <p:txBody>
          <a:bodyPr>
            <a:noAutofit/>
          </a:bodyPr>
          <a:lstStyle/>
          <a:p>
            <a:pPr marL="514350" indent="-514350">
              <a:spcBef>
                <a:spcPct val="20000"/>
              </a:spcBef>
              <a:buFont typeface="Wingdings"/>
              <a:buAutoNum type="arabicPeriod"/>
            </a:pPr>
            <a:r>
              <a:rPr lang="en-US" dirty="0" smtClean="0"/>
              <a:t>Yes</a:t>
            </a:r>
          </a:p>
          <a:p>
            <a:pPr marL="514350" indent="-514350">
              <a:spcBef>
                <a:spcPct val="20000"/>
              </a:spcBef>
              <a:buFont typeface="Wingdings"/>
              <a:buAutoNum type="arabicPeriod"/>
            </a:pPr>
            <a:r>
              <a:rPr lang="en-US" dirty="0" smtClean="0"/>
              <a:t>No</a:t>
            </a:r>
            <a:endParaRPr lang="en-US" dirty="0"/>
          </a:p>
        </p:txBody>
      </p:sp>
    </p:spTree>
    <p:custDataLst>
      <p:tags r:id="rId1"/>
    </p:custDataLst>
    <p:extLst>
      <p:ext uri="{BB962C8B-B14F-4D97-AF65-F5344CB8AC3E}">
        <p14:creationId xmlns:p14="http://schemas.microsoft.com/office/powerpoint/2010/main" val="23456156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0" name="AutoShape 8"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2" name="AutoShape 10"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 name="Title 2"/>
          <p:cNvSpPr txBox="1">
            <a:spLocks/>
          </p:cNvSpPr>
          <p:nvPr/>
        </p:nvSpPr>
        <p:spPr>
          <a:xfrm>
            <a:off x="457200" y="304800"/>
            <a:ext cx="8229600" cy="8382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2"/>
                </a:solidFill>
                <a:effectLst/>
                <a:uLnTx/>
                <a:uFillTx/>
                <a:latin typeface="+mj-lt"/>
                <a:ea typeface="+mj-ea"/>
                <a:cs typeface="+mj-cs"/>
              </a:rPr>
              <a:t>Regression Caution</a:t>
            </a:r>
            <a:r>
              <a:rPr kumimoji="0" lang="en-US" sz="4400" b="1" i="0" u="none" strike="noStrike" kern="1200" cap="none" spc="0" normalizeH="0" noProof="0" dirty="0" smtClean="0">
                <a:ln>
                  <a:noFill/>
                </a:ln>
                <a:solidFill>
                  <a:schemeClr val="tx2"/>
                </a:solidFill>
                <a:effectLst/>
                <a:uLnTx/>
                <a:uFillTx/>
                <a:latin typeface="+mj-lt"/>
                <a:ea typeface="+mj-ea"/>
                <a:cs typeface="+mj-cs"/>
              </a:rPr>
              <a:t> 1</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sp>
        <p:nvSpPr>
          <p:cNvPr id="11" name="Content Placeholder 1"/>
          <p:cNvSpPr txBox="1">
            <a:spLocks/>
          </p:cNvSpPr>
          <p:nvPr/>
        </p:nvSpPr>
        <p:spPr>
          <a:xfrm>
            <a:off x="152400" y="990600"/>
            <a:ext cx="8915400" cy="5334000"/>
          </a:xfrm>
          <a:prstGeom prst="rect">
            <a:avLst/>
          </a:prstGeom>
        </p:spPr>
        <p:txBody>
          <a:bodyPr>
            <a:normAutofit/>
          </a:bodyPr>
          <a:lstStyle/>
          <a:p>
            <a:pPr marL="342900" indent="-342900">
              <a:defRPr/>
            </a:pPr>
            <a:endParaRPr lang="en-US" sz="3000" noProof="0" dirty="0" smtClean="0">
              <a:solidFill>
                <a:schemeClr val="tx2"/>
              </a:solidFill>
              <a:latin typeface="Courier New" pitchFamily="49" charset="0"/>
              <a:cs typeface="Courier New" pitchFamily="49" charset="0"/>
            </a:endParaRPr>
          </a:p>
          <a:p>
            <a:pPr marL="342900" indent="-342900">
              <a:defRPr/>
            </a:pPr>
            <a:endParaRPr lang="en-US" sz="3000" noProof="0" dirty="0" smtClean="0">
              <a:solidFill>
                <a:schemeClr val="tx2"/>
              </a:solidFill>
              <a:latin typeface="Courier New" pitchFamily="49" charset="0"/>
              <a:cs typeface="Courier New" pitchFamily="49" charset="0"/>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600" u="sng" strike="noStrike" kern="1200" cap="none" spc="0" normalizeH="0" baseline="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tabLst/>
              <a:defRPr/>
            </a:pPr>
            <a:endParaRPr kumimoji="0" lang="en-US" sz="3200"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p:txBody>
      </p:sp>
      <p:sp>
        <p:nvSpPr>
          <p:cNvPr id="10" name="Content Placeholder 1"/>
          <p:cNvSpPr txBox="1">
            <a:spLocks/>
          </p:cNvSpPr>
          <p:nvPr/>
        </p:nvSpPr>
        <p:spPr>
          <a:xfrm>
            <a:off x="228600" y="1752600"/>
            <a:ext cx="8686800" cy="4572000"/>
          </a:xfrm>
          <a:prstGeom prst="rect">
            <a:avLst/>
          </a:prstGeom>
        </p:spPr>
        <p:txBody>
          <a:bodyPr>
            <a:normAutofit/>
          </a:bodyPr>
          <a:lstStyle/>
          <a:p>
            <a:pPr marR="0" lvl="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600" dirty="0" smtClean="0"/>
              <a:t> </a:t>
            </a:r>
            <a:r>
              <a:rPr lang="en-US" sz="3200" dirty="0">
                <a:solidFill>
                  <a:schemeClr val="accent6">
                    <a:lumMod val="50000"/>
                  </a:schemeClr>
                </a:solidFill>
              </a:rPr>
              <a:t>Do not use the regression equation or line to predict values far from those that were used to create it. (do not extrapolate!)</a:t>
            </a:r>
          </a:p>
          <a:p>
            <a:pPr marR="0" lvl="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3200" dirty="0">
              <a:solidFill>
                <a:schemeClr val="accent6">
                  <a:lumMod val="50000"/>
                </a:schemeClr>
              </a:solidFill>
            </a:endParaRPr>
          </a:p>
          <a:p>
            <a:pPr marR="0" lvl="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6">
                    <a:lumMod val="50000"/>
                  </a:schemeClr>
                </a:solidFill>
              </a:rPr>
              <a:t> If none of the x values are anywhere near 0, then the intercept is meaningless!</a:t>
            </a:r>
          </a:p>
          <a:p>
            <a:pPr marL="742950" marR="0" lvl="0" indent="-742950" algn="l" defTabSz="914400" rtl="0" eaLnBrk="1" fontAlgn="auto" latinLnBrk="0" hangingPunct="1">
              <a:lnSpc>
                <a:spcPct val="100000"/>
              </a:lnSpc>
              <a:spcBef>
                <a:spcPts val="0"/>
              </a:spcBef>
              <a:spcAft>
                <a:spcPts val="0"/>
              </a:spcAft>
              <a:buClrTx/>
              <a:buSzTx/>
              <a:buFont typeface="+mj-lt"/>
              <a:buAutoNum type="alphaLcParenR"/>
              <a:tabLst/>
              <a:defRPr/>
            </a:pPr>
            <a:endParaRPr kumimoji="0" lang="en-US" sz="3600" u="none" strike="noStrike" kern="1200" cap="none" spc="0" normalizeH="0" baseline="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tabLst/>
              <a:defRPr/>
            </a:pPr>
            <a:endParaRPr kumimoji="0" lang="en-US" sz="3200" b="1" u="sng"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p:txBody>
      </p:sp>
      <p:pic>
        <p:nvPicPr>
          <p:cNvPr id="423940" name="Picture 4" descr="http://1.bp.blogspot.com/_0L-juqHqErE/TMuS8rVivSI/AAAAAAAAAA8/F859tKReapk/s1600/Cautionary_warning_--_Caution.png"/>
          <p:cNvPicPr>
            <a:picLocks noChangeAspect="1" noChangeArrowheads="1"/>
          </p:cNvPicPr>
          <p:nvPr/>
        </p:nvPicPr>
        <p:blipFill>
          <a:blip r:embed="rId3" cstate="print"/>
          <a:srcRect/>
          <a:stretch>
            <a:fillRect/>
          </a:stretch>
        </p:blipFill>
        <p:spPr bwMode="auto">
          <a:xfrm>
            <a:off x="228600" y="272624"/>
            <a:ext cx="1600200" cy="1403776"/>
          </a:xfrm>
          <a:prstGeom prst="rect">
            <a:avLst/>
          </a:prstGeom>
          <a:noFill/>
        </p:spPr>
      </p:pic>
      <p:pic>
        <p:nvPicPr>
          <p:cNvPr id="12" name="Picture 4" descr="http://1.bp.blogspot.com/_0L-juqHqErE/TMuS8rVivSI/AAAAAAAAAA8/F859tKReapk/s1600/Cautionary_warning_--_Caution.png"/>
          <p:cNvPicPr>
            <a:picLocks noChangeAspect="1" noChangeArrowheads="1"/>
          </p:cNvPicPr>
          <p:nvPr/>
        </p:nvPicPr>
        <p:blipFill>
          <a:blip r:embed="rId3" cstate="print"/>
          <a:srcRect/>
          <a:stretch>
            <a:fillRect/>
          </a:stretch>
        </p:blipFill>
        <p:spPr bwMode="auto">
          <a:xfrm>
            <a:off x="7315200" y="272624"/>
            <a:ext cx="1600200" cy="1403776"/>
          </a:xfrm>
          <a:prstGeom prst="rect">
            <a:avLst/>
          </a:prstGeom>
          <a:noFill/>
        </p:spPr>
      </p:pic>
    </p:spTree>
    <p:custDataLst>
      <p:tags r:id="rId1"/>
    </p:custDataLst>
    <p:extLst>
      <p:ext uri="{BB962C8B-B14F-4D97-AF65-F5344CB8AC3E}">
        <p14:creationId xmlns:p14="http://schemas.microsoft.com/office/powerpoint/2010/main" val="24247102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Answers"/>
          <p:cNvSpPr>
            <a:spLocks noGrp="1"/>
          </p:cNvSpPr>
          <p:nvPr>
            <p:ph sz="quarter" idx="4294967295"/>
            <p:custDataLst>
              <p:tags r:id="rId2"/>
            </p:custDataLst>
          </p:nvPr>
        </p:nvSpPr>
        <p:spPr>
          <a:xfrm>
            <a:off x="37381" y="1752600"/>
            <a:ext cx="5257800" cy="1905000"/>
          </a:xfrm>
        </p:spPr>
        <p:txBody>
          <a:bodyPr>
            <a:noAutofit/>
          </a:bodyPr>
          <a:lstStyle/>
          <a:p>
            <a:pPr marL="742950" lvl="0" indent="-742950">
              <a:spcBef>
                <a:spcPct val="20000"/>
              </a:spcBef>
              <a:buFont typeface="+mj-lt"/>
              <a:buAutoNum type="alphaLcPeriod"/>
              <a:defRPr/>
            </a:pPr>
            <a:r>
              <a:rPr lang="en-US" dirty="0"/>
              <a:t>positively associated</a:t>
            </a:r>
          </a:p>
          <a:p>
            <a:pPr marL="742950" lvl="0" indent="-742950">
              <a:spcBef>
                <a:spcPct val="20000"/>
              </a:spcBef>
              <a:buFont typeface="+mj-lt"/>
              <a:buAutoNum type="alphaLcPeriod"/>
              <a:defRPr/>
            </a:pPr>
            <a:r>
              <a:rPr lang="en-US" dirty="0"/>
              <a:t>negatively associated</a:t>
            </a:r>
          </a:p>
          <a:p>
            <a:pPr marL="742950" lvl="0" indent="-742950">
              <a:spcBef>
                <a:spcPct val="20000"/>
              </a:spcBef>
              <a:buFont typeface="+mj-lt"/>
              <a:buAutoNum type="alphaLcPeriod"/>
              <a:defRPr/>
            </a:pPr>
            <a:r>
              <a:rPr lang="en-US" dirty="0"/>
              <a:t>not </a:t>
            </a:r>
            <a:r>
              <a:rPr lang="en-US" dirty="0" smtClean="0"/>
              <a:t>associated</a:t>
            </a:r>
            <a:endParaRPr lang="en-US" dirty="0"/>
          </a:p>
        </p:txBody>
      </p:sp>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399" y="1648708"/>
            <a:ext cx="4311199" cy="2618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PQuestion"/>
          <p:cNvSpPr>
            <a:spLocks noGrp="1"/>
          </p:cNvSpPr>
          <p:nvPr>
            <p:ph type="title" idx="4294967295"/>
          </p:nvPr>
        </p:nvSpPr>
        <p:spPr>
          <a:xfrm>
            <a:off x="0" y="4763"/>
            <a:ext cx="9156700" cy="1976437"/>
          </a:xfrm>
        </p:spPr>
        <p:txBody>
          <a:bodyPr>
            <a:normAutofit/>
          </a:bodyPr>
          <a:lstStyle/>
          <a:p>
            <a:pPr lvl="0">
              <a:defRPr/>
            </a:pPr>
            <a:r>
              <a:rPr lang="en-US" sz="3200" dirty="0"/>
              <a:t>In this sample of 200 patients following admission to an adult ICU, </a:t>
            </a:r>
            <a:r>
              <a:rPr lang="en-US" sz="3200" dirty="0" smtClean="0"/>
              <a:t>the </a:t>
            </a:r>
            <a:r>
              <a:rPr lang="en-US" sz="3200" dirty="0"/>
              <a:t>heart rates and systolic blood pressure </a:t>
            </a:r>
            <a:r>
              <a:rPr lang="en-US" sz="3200" dirty="0" smtClean="0"/>
              <a:t>measurements are: </a:t>
            </a:r>
            <a:endParaRPr lang="en-US" sz="3200" dirty="0"/>
          </a:p>
        </p:txBody>
      </p:sp>
      <p:pic>
        <p:nvPicPr>
          <p:cNvPr id="10266" name="Picture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860799"/>
            <a:ext cx="4876800" cy="29972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96886549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0" name="AutoShape 8"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 name="Title 2"/>
          <p:cNvSpPr txBox="1">
            <a:spLocks/>
          </p:cNvSpPr>
          <p:nvPr/>
        </p:nvSpPr>
        <p:spPr>
          <a:xfrm>
            <a:off x="457200" y="228600"/>
            <a:ext cx="8229600" cy="8382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2"/>
                </a:solidFill>
                <a:effectLst/>
                <a:uLnTx/>
                <a:uFillTx/>
                <a:latin typeface="+mj-lt"/>
                <a:ea typeface="+mj-ea"/>
                <a:cs typeface="+mj-cs"/>
              </a:rPr>
              <a:t>Regression Caution</a:t>
            </a:r>
            <a:r>
              <a:rPr kumimoji="0" lang="en-US" sz="4400" b="1" i="0" u="none" strike="noStrike" kern="1200" cap="none" spc="0" normalizeH="0" noProof="0" dirty="0" smtClean="0">
                <a:ln>
                  <a:noFill/>
                </a:ln>
                <a:solidFill>
                  <a:schemeClr val="tx2"/>
                </a:solidFill>
                <a:effectLst/>
                <a:uLnTx/>
                <a:uFillTx/>
                <a:latin typeface="+mj-lt"/>
                <a:ea typeface="+mj-ea"/>
                <a:cs typeface="+mj-cs"/>
              </a:rPr>
              <a:t> 2</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sp>
        <p:nvSpPr>
          <p:cNvPr id="11" name="Content Placeholder 1"/>
          <p:cNvSpPr txBox="1">
            <a:spLocks/>
          </p:cNvSpPr>
          <p:nvPr/>
        </p:nvSpPr>
        <p:spPr>
          <a:xfrm>
            <a:off x="152400" y="990600"/>
            <a:ext cx="8915400" cy="5334000"/>
          </a:xfrm>
          <a:prstGeom prst="rect">
            <a:avLst/>
          </a:prstGeom>
        </p:spPr>
        <p:txBody>
          <a:bodyPr>
            <a:normAutofit/>
          </a:bodyPr>
          <a:lstStyle/>
          <a:p>
            <a:pPr marL="342900" indent="-342900">
              <a:defRPr/>
            </a:pPr>
            <a:endParaRPr lang="en-US" sz="3000" noProof="0" dirty="0" smtClean="0">
              <a:solidFill>
                <a:schemeClr val="tx2"/>
              </a:solidFill>
              <a:latin typeface="Courier New" pitchFamily="49" charset="0"/>
              <a:cs typeface="Courier New" pitchFamily="49" charset="0"/>
            </a:endParaRPr>
          </a:p>
          <a:p>
            <a:pPr marL="342900" indent="-342900">
              <a:defRPr/>
            </a:pPr>
            <a:endParaRPr lang="en-US" sz="3000" noProof="0" dirty="0" smtClean="0">
              <a:solidFill>
                <a:schemeClr val="tx2"/>
              </a:solidFill>
              <a:latin typeface="Courier New" pitchFamily="49" charset="0"/>
              <a:cs typeface="Courier New" pitchFamily="49" charset="0"/>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600" u="sng" strike="noStrike" kern="1200" cap="none" spc="0" normalizeH="0" baseline="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tabLst/>
              <a:defRPr/>
            </a:pPr>
            <a:endParaRPr kumimoji="0" lang="en-US" sz="3200"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p:txBody>
      </p:sp>
      <p:sp>
        <p:nvSpPr>
          <p:cNvPr id="10" name="Content Placeholder 1"/>
          <p:cNvSpPr txBox="1">
            <a:spLocks/>
          </p:cNvSpPr>
          <p:nvPr/>
        </p:nvSpPr>
        <p:spPr>
          <a:xfrm>
            <a:off x="228600" y="1676400"/>
            <a:ext cx="8686800" cy="5029200"/>
          </a:xfrm>
          <a:prstGeom prst="rect">
            <a:avLst/>
          </a:prstGeom>
        </p:spPr>
        <p:txBody>
          <a:bodyPr>
            <a:normAutofit/>
          </a:bodyPr>
          <a:lstStyle/>
          <a:p>
            <a:pPr marR="0" lvl="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600" dirty="0" smtClean="0"/>
              <a:t> </a:t>
            </a:r>
            <a:r>
              <a:rPr lang="en-US" sz="3200" dirty="0">
                <a:solidFill>
                  <a:schemeClr val="accent6">
                    <a:lumMod val="50000"/>
                  </a:schemeClr>
                </a:solidFill>
              </a:rPr>
              <a:t>Computers will calculate a regression line for any two quantitative variables, even if they are not associated or if the association is not linear</a:t>
            </a:r>
          </a:p>
          <a:p>
            <a:pPr marR="0" lvl="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3200" dirty="0">
              <a:solidFill>
                <a:schemeClr val="accent6">
                  <a:lumMod val="50000"/>
                </a:schemeClr>
              </a:solidFill>
            </a:endParaRPr>
          </a:p>
          <a:p>
            <a:pPr marR="0" lvl="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6">
                    <a:lumMod val="50000"/>
                  </a:schemeClr>
                </a:solidFill>
              </a:rPr>
              <a:t> ALWAYS PLOT YOUR DATA!  </a:t>
            </a:r>
          </a:p>
          <a:p>
            <a:pPr marR="0" lvl="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3200" dirty="0">
              <a:solidFill>
                <a:schemeClr val="accent6">
                  <a:lumMod val="50000"/>
                </a:schemeClr>
              </a:solidFill>
            </a:endParaRPr>
          </a:p>
          <a:p>
            <a:pPr marR="0" lvl="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6">
                    <a:lumMod val="50000"/>
                  </a:schemeClr>
                </a:solidFill>
              </a:rPr>
              <a:t> The regression line/equation should only be used if the association is approximately linear</a:t>
            </a:r>
          </a:p>
          <a:p>
            <a:pPr marL="742950" marR="0" lvl="0" indent="-742950" algn="l" defTabSz="914400" rtl="0" eaLnBrk="1" fontAlgn="auto" latinLnBrk="0" hangingPunct="1">
              <a:lnSpc>
                <a:spcPct val="100000"/>
              </a:lnSpc>
              <a:spcBef>
                <a:spcPts val="0"/>
              </a:spcBef>
              <a:spcAft>
                <a:spcPts val="0"/>
              </a:spcAft>
              <a:buClrTx/>
              <a:buSzTx/>
              <a:tabLst/>
              <a:defRPr/>
            </a:pPr>
            <a:endParaRPr kumimoji="0" lang="en-US" sz="3600" u="none" strike="noStrike" kern="1200" cap="none" spc="0" normalizeH="0" baseline="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tabLst/>
              <a:defRPr/>
            </a:pPr>
            <a:endParaRPr kumimoji="0" lang="en-US" sz="3200" b="1" u="sng"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p:txBody>
      </p:sp>
      <p:pic>
        <p:nvPicPr>
          <p:cNvPr id="9" name="Picture 4" descr="http://1.bp.blogspot.com/_0L-juqHqErE/TMuS8rVivSI/AAAAAAAAAA8/F859tKReapk/s1600/Cautionary_warning_--_Caution.png"/>
          <p:cNvPicPr>
            <a:picLocks noChangeAspect="1" noChangeArrowheads="1"/>
          </p:cNvPicPr>
          <p:nvPr/>
        </p:nvPicPr>
        <p:blipFill>
          <a:blip r:embed="rId3" cstate="print"/>
          <a:srcRect/>
          <a:stretch>
            <a:fillRect/>
          </a:stretch>
        </p:blipFill>
        <p:spPr bwMode="auto">
          <a:xfrm>
            <a:off x="228600" y="228600"/>
            <a:ext cx="1600200" cy="1403776"/>
          </a:xfrm>
          <a:prstGeom prst="rect">
            <a:avLst/>
          </a:prstGeom>
          <a:noFill/>
        </p:spPr>
      </p:pic>
      <p:pic>
        <p:nvPicPr>
          <p:cNvPr id="12" name="Picture 4" descr="http://1.bp.blogspot.com/_0L-juqHqErE/TMuS8rVivSI/AAAAAAAAAA8/F859tKReapk/s1600/Cautionary_warning_--_Caution.png"/>
          <p:cNvPicPr>
            <a:picLocks noChangeAspect="1" noChangeArrowheads="1"/>
          </p:cNvPicPr>
          <p:nvPr/>
        </p:nvPicPr>
        <p:blipFill>
          <a:blip r:embed="rId3" cstate="print"/>
          <a:srcRect/>
          <a:stretch>
            <a:fillRect/>
          </a:stretch>
        </p:blipFill>
        <p:spPr bwMode="auto">
          <a:xfrm>
            <a:off x="7315200" y="228600"/>
            <a:ext cx="1600200" cy="1403776"/>
          </a:xfrm>
          <a:prstGeom prst="rect">
            <a:avLst/>
          </a:prstGeom>
          <a:noFill/>
        </p:spPr>
      </p:pic>
    </p:spTree>
    <p:custDataLst>
      <p:tags r:id="rId1"/>
    </p:custDataLst>
    <p:extLst>
      <p:ext uri="{BB962C8B-B14F-4D97-AF65-F5344CB8AC3E}">
        <p14:creationId xmlns:p14="http://schemas.microsoft.com/office/powerpoint/2010/main" val="2486668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4" descr="http://www.dailycomedy.com/images/jokes/b/MiamiDolphins.jpg"/>
          <p:cNvPicPr>
            <a:picLocks noChangeAspect="1" noChangeArrowheads="1"/>
          </p:cNvPicPr>
          <p:nvPr/>
        </p:nvPicPr>
        <p:blipFill>
          <a:blip r:embed="rId3" cstate="print"/>
          <a:srcRect l="19231" r="17308"/>
          <a:stretch>
            <a:fillRect/>
          </a:stretch>
        </p:blipFill>
        <p:spPr bwMode="auto">
          <a:xfrm>
            <a:off x="3095204" y="5486400"/>
            <a:ext cx="498486" cy="589120"/>
          </a:xfrm>
          <a:prstGeom prst="rect">
            <a:avLst/>
          </a:prstGeom>
          <a:noFill/>
        </p:spPr>
      </p:pic>
      <p:pic>
        <p:nvPicPr>
          <p:cNvPr id="15" name="Picture 6" descr="http://www.nflfootballstadiums.com/images/Oakland-Raiders-Logo.gif"/>
          <p:cNvPicPr>
            <a:picLocks noChangeAspect="1" noChangeArrowheads="1"/>
          </p:cNvPicPr>
          <p:nvPr/>
        </p:nvPicPr>
        <p:blipFill>
          <a:blip r:embed="rId4" cstate="print"/>
          <a:srcRect/>
          <a:stretch>
            <a:fillRect/>
          </a:stretch>
        </p:blipFill>
        <p:spPr bwMode="auto">
          <a:xfrm>
            <a:off x="5334000" y="3174795"/>
            <a:ext cx="481806" cy="511969"/>
          </a:xfrm>
          <a:prstGeom prst="rect">
            <a:avLst/>
          </a:prstGeom>
          <a:noFill/>
        </p:spPr>
      </p:pic>
      <p:sp>
        <p:nvSpPr>
          <p:cNvPr id="120834" name="AutoShape 2"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6" name="AutoShape 4"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8" name="AutoShape 6"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0" name="AutoShape 8"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42" name="AutoShape 10" descr="http://beta.rstudio.org/graphics/plot.png?width=555&amp;height=449&amp;randomizer=18151908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 name="Title 2"/>
          <p:cNvSpPr txBox="1">
            <a:spLocks/>
          </p:cNvSpPr>
          <p:nvPr/>
        </p:nvSpPr>
        <p:spPr>
          <a:xfrm>
            <a:off x="457200" y="304800"/>
            <a:ext cx="8229600" cy="8382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2"/>
                </a:solidFill>
                <a:effectLst/>
                <a:uLnTx/>
                <a:uFillTx/>
                <a:latin typeface="+mj-lt"/>
                <a:ea typeface="+mj-ea"/>
                <a:cs typeface="+mj-cs"/>
              </a:rPr>
              <a:t>Regression Caution</a:t>
            </a:r>
            <a:r>
              <a:rPr kumimoji="0" lang="en-US" sz="4400" b="1" i="0" u="none" strike="noStrike" kern="1200" cap="none" spc="0" normalizeH="0" noProof="0" dirty="0" smtClean="0">
                <a:ln>
                  <a:noFill/>
                </a:ln>
                <a:solidFill>
                  <a:schemeClr val="tx2"/>
                </a:solidFill>
                <a:effectLst/>
                <a:uLnTx/>
                <a:uFillTx/>
                <a:latin typeface="+mj-lt"/>
                <a:ea typeface="+mj-ea"/>
                <a:cs typeface="+mj-cs"/>
              </a:rPr>
              <a:t> 3</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sp>
        <p:nvSpPr>
          <p:cNvPr id="11" name="Content Placeholder 1"/>
          <p:cNvSpPr txBox="1">
            <a:spLocks/>
          </p:cNvSpPr>
          <p:nvPr/>
        </p:nvSpPr>
        <p:spPr>
          <a:xfrm>
            <a:off x="558698" y="1143000"/>
            <a:ext cx="8915400" cy="5334000"/>
          </a:xfrm>
          <a:prstGeom prst="rect">
            <a:avLst/>
          </a:prstGeom>
        </p:spPr>
        <p:txBody>
          <a:bodyPr>
            <a:normAutofit/>
          </a:bodyPr>
          <a:lstStyle/>
          <a:p>
            <a:pPr marL="342900" indent="-342900">
              <a:defRPr/>
            </a:pPr>
            <a:endParaRPr lang="en-US" sz="3000" noProof="0" dirty="0" smtClean="0">
              <a:solidFill>
                <a:schemeClr val="tx2"/>
              </a:solidFill>
              <a:latin typeface="Courier New" pitchFamily="49" charset="0"/>
              <a:cs typeface="Courier New" pitchFamily="49" charset="0"/>
            </a:endParaRPr>
          </a:p>
          <a:p>
            <a:pPr marL="342900" indent="-342900">
              <a:defRPr/>
            </a:pPr>
            <a:endParaRPr lang="en-US" sz="3000" noProof="0" dirty="0" smtClean="0">
              <a:solidFill>
                <a:schemeClr val="tx2"/>
              </a:solidFill>
              <a:latin typeface="Courier New" pitchFamily="49" charset="0"/>
              <a:cs typeface="Courier New" pitchFamily="49" charset="0"/>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600" u="sng" strike="noStrike" kern="1200" cap="none" spc="0" normalizeH="0" baseline="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tabLst/>
              <a:defRPr/>
            </a:pPr>
            <a:endParaRPr kumimoji="0" lang="en-US" sz="3200"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p:txBody>
      </p:sp>
      <p:sp>
        <p:nvSpPr>
          <p:cNvPr id="10" name="Content Placeholder 1"/>
          <p:cNvSpPr txBox="1">
            <a:spLocks/>
          </p:cNvSpPr>
          <p:nvPr/>
        </p:nvSpPr>
        <p:spPr>
          <a:xfrm>
            <a:off x="0" y="1548581"/>
            <a:ext cx="9144000" cy="5309419"/>
          </a:xfrm>
          <a:prstGeom prst="rect">
            <a:avLst/>
          </a:prstGeom>
        </p:spPr>
        <p:txBody>
          <a:bodyPr>
            <a:normAutofit/>
          </a:bodyPr>
          <a:lstStyle/>
          <a:p>
            <a:pPr marR="0" lvl="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600" dirty="0" smtClean="0"/>
              <a:t> </a:t>
            </a:r>
            <a:r>
              <a:rPr lang="en-US" sz="3200" dirty="0">
                <a:solidFill>
                  <a:schemeClr val="accent6">
                    <a:lumMod val="50000"/>
                  </a:schemeClr>
                </a:solidFill>
              </a:rPr>
              <a:t>Outliers (especially outliers in both variables) can be very influential on the regression </a:t>
            </a:r>
            <a:r>
              <a:rPr lang="en-US" sz="3200" dirty="0" smtClean="0">
                <a:solidFill>
                  <a:schemeClr val="accent6">
                    <a:lumMod val="50000"/>
                  </a:schemeClr>
                </a:solidFill>
              </a:rPr>
              <a:t>line</a:t>
            </a:r>
            <a:endParaRPr lang="en-US" sz="3200" dirty="0">
              <a:solidFill>
                <a:schemeClr val="accent6">
                  <a:lumMod val="50000"/>
                </a:schemeClr>
              </a:solidFill>
            </a:endParaRPr>
          </a:p>
          <a:p>
            <a:pPr marR="0" lvl="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6">
                    <a:lumMod val="50000"/>
                  </a:schemeClr>
                </a:solidFill>
              </a:rPr>
              <a:t> ALWAYS PLOT YOUR DATA!  </a:t>
            </a:r>
            <a:endParaRPr kumimoji="0" lang="en-US" sz="3600" u="none" strike="noStrike" kern="1200" cap="none" spc="0" normalizeH="0" baseline="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tabLst/>
              <a:defRPr/>
            </a:pPr>
            <a:endParaRPr kumimoji="0" lang="en-US" sz="3200" b="1" u="sng"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p:txBody>
      </p:sp>
      <p:pic>
        <p:nvPicPr>
          <p:cNvPr id="12" name="Picture 4" descr="http://1.bp.blogspot.com/_0L-juqHqErE/TMuS8rVivSI/AAAAAAAAAA8/F859tKReapk/s1600/Cautionary_warning_--_Caution.png"/>
          <p:cNvPicPr>
            <a:picLocks noChangeAspect="1" noChangeArrowheads="1"/>
          </p:cNvPicPr>
          <p:nvPr/>
        </p:nvPicPr>
        <p:blipFill>
          <a:blip r:embed="rId5" cstate="print"/>
          <a:srcRect/>
          <a:stretch>
            <a:fillRect/>
          </a:stretch>
        </p:blipFill>
        <p:spPr bwMode="auto">
          <a:xfrm>
            <a:off x="228600" y="196424"/>
            <a:ext cx="1600200" cy="1403776"/>
          </a:xfrm>
          <a:prstGeom prst="rect">
            <a:avLst/>
          </a:prstGeom>
          <a:noFill/>
        </p:spPr>
      </p:pic>
      <p:pic>
        <p:nvPicPr>
          <p:cNvPr id="13" name="Picture 4" descr="http://1.bp.blogspot.com/_0L-juqHqErE/TMuS8rVivSI/AAAAAAAAAA8/F859tKReapk/s1600/Cautionary_warning_--_Caution.png"/>
          <p:cNvPicPr>
            <a:picLocks noChangeAspect="1" noChangeArrowheads="1"/>
          </p:cNvPicPr>
          <p:nvPr/>
        </p:nvPicPr>
        <p:blipFill>
          <a:blip r:embed="rId5" cstate="print"/>
          <a:srcRect/>
          <a:stretch>
            <a:fillRect/>
          </a:stretch>
        </p:blipFill>
        <p:spPr bwMode="auto">
          <a:xfrm>
            <a:off x="7315200" y="196424"/>
            <a:ext cx="1600200" cy="1403776"/>
          </a:xfrm>
          <a:prstGeom prst="rect">
            <a:avLst/>
          </a:prstGeom>
          <a:noFill/>
        </p:spPr>
      </p:pic>
      <p:pic>
        <p:nvPicPr>
          <p:cNvPr id="14" name="Picture 2"/>
          <p:cNvPicPr>
            <a:picLocks noChangeAspect="1" noChangeArrowheads="1"/>
          </p:cNvPicPr>
          <p:nvPr/>
        </p:nvPicPr>
        <p:blipFill rotWithShape="1">
          <a:blip r:embed="rId6" cstate="print"/>
          <a:srcRect t="12764"/>
          <a:stretch/>
        </p:blipFill>
        <p:spPr bwMode="auto">
          <a:xfrm>
            <a:off x="2291030" y="3087489"/>
            <a:ext cx="4033570" cy="3770511"/>
          </a:xfrm>
          <a:prstGeom prst="rect">
            <a:avLst/>
          </a:prstGeom>
          <a:noFill/>
          <a:ln w="9525">
            <a:noFill/>
            <a:miter lim="800000"/>
            <a:headEnd/>
            <a:tailEnd/>
          </a:ln>
          <a:effectLst/>
        </p:spPr>
      </p:pic>
    </p:spTree>
    <p:custDataLst>
      <p:tags r:id="rId1"/>
    </p:custDataLst>
    <p:extLst>
      <p:ext uri="{BB962C8B-B14F-4D97-AF65-F5344CB8AC3E}">
        <p14:creationId xmlns:p14="http://schemas.microsoft.com/office/powerpoint/2010/main" val="32060199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457200" y="152400"/>
            <a:ext cx="8229600" cy="8382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2"/>
                </a:solidFill>
                <a:effectLst/>
                <a:uLnTx/>
                <a:uFillTx/>
                <a:latin typeface="+mj-lt"/>
                <a:ea typeface="+mj-ea"/>
                <a:cs typeface="+mj-cs"/>
              </a:rPr>
              <a:t>Regression Caution 4</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sp>
        <p:nvSpPr>
          <p:cNvPr id="4" name="Content Placeholder 1"/>
          <p:cNvSpPr txBox="1">
            <a:spLocks/>
          </p:cNvSpPr>
          <p:nvPr/>
        </p:nvSpPr>
        <p:spPr>
          <a:xfrm>
            <a:off x="217516" y="1905000"/>
            <a:ext cx="8686800" cy="4572000"/>
          </a:xfrm>
          <a:prstGeom prst="rect">
            <a:avLst/>
          </a:prstGeom>
        </p:spPr>
        <p:txBody>
          <a:bodyPr>
            <a:normAutofit/>
          </a:bodyPr>
          <a:lstStyle/>
          <a:p>
            <a:pPr marR="0" lvl="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600" dirty="0" smtClean="0"/>
              <a:t> </a:t>
            </a:r>
            <a:r>
              <a:rPr lang="en-US" sz="3200" dirty="0">
                <a:solidFill>
                  <a:schemeClr val="accent6">
                    <a:lumMod val="50000"/>
                  </a:schemeClr>
                </a:solidFill>
              </a:rPr>
              <a:t>Unlike correlation, for linear regression it </a:t>
            </a:r>
            <a:r>
              <a:rPr lang="en-US" sz="3600" b="1" dirty="0" smtClean="0">
                <a:solidFill>
                  <a:srgbClr val="FFC000"/>
                </a:solidFill>
                <a:hlinkClick r:id="rId3"/>
              </a:rPr>
              <a:t>does</a:t>
            </a:r>
            <a:r>
              <a:rPr lang="en-US" sz="3600" dirty="0" smtClean="0">
                <a:solidFill>
                  <a:srgbClr val="FFC000"/>
                </a:solidFill>
              </a:rPr>
              <a:t> </a:t>
            </a:r>
            <a:r>
              <a:rPr lang="en-US" sz="3200" dirty="0">
                <a:solidFill>
                  <a:schemeClr val="accent6">
                    <a:lumMod val="50000"/>
                  </a:schemeClr>
                </a:solidFill>
              </a:rPr>
              <a:t>matter which is the explanatory variable and which is the response</a:t>
            </a:r>
          </a:p>
          <a:p>
            <a:pPr marR="0" lvl="0" algn="l" defTabSz="914400" rtl="0" eaLnBrk="1" fontAlgn="auto" latinLnBrk="0" hangingPunct="1">
              <a:lnSpc>
                <a:spcPct val="100000"/>
              </a:lnSpc>
              <a:spcBef>
                <a:spcPts val="0"/>
              </a:spcBef>
              <a:spcAft>
                <a:spcPts val="0"/>
              </a:spcAft>
              <a:buClrTx/>
              <a:buSzTx/>
              <a:tabLst/>
              <a:defRPr/>
            </a:pPr>
            <a:endParaRPr kumimoji="0" lang="en-US" sz="3600" b="1" u="sng"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6" name="Content Placeholder 2"/>
              <p:cNvSpPr txBox="1">
                <a:spLocks/>
              </p:cNvSpPr>
              <p:nvPr/>
            </p:nvSpPr>
            <p:spPr>
              <a:xfrm>
                <a:off x="304800" y="3619500"/>
                <a:ext cx="8534400" cy="1143000"/>
              </a:xfrm>
              <a:prstGeom prst="rect">
                <a:avLst/>
              </a:prstGeom>
            </p:spPr>
            <p:txBody>
              <a:bodyPr/>
              <a:lstStyle>
                <a:lvl1pPr marL="274320" indent="-274320" algn="l" rtl="0" eaLnBrk="1" latinLnBrk="0" hangingPunct="1">
                  <a:spcBef>
                    <a:spcPts val="0"/>
                  </a:spcBef>
                  <a:spcAft>
                    <a:spcPts val="1800"/>
                  </a:spcAft>
                  <a:buClr>
                    <a:schemeClr val="accent1"/>
                  </a:buClr>
                  <a:buSzPct val="85000"/>
                  <a:buFont typeface="Wingdings 2"/>
                  <a:buChar char=""/>
                  <a:defRPr kumimoji="0" sz="3200" kern="1200">
                    <a:solidFill>
                      <a:schemeClr val="tx1"/>
                    </a:solidFill>
                    <a:latin typeface="+mn-lt"/>
                    <a:ea typeface="+mn-ea"/>
                    <a:cs typeface="+mn-cs"/>
                  </a:defRPr>
                </a:lvl1pPr>
                <a:lvl2pPr marL="548640" indent="-274320" algn="l" rtl="0" eaLnBrk="1" latinLnBrk="0" hangingPunct="1">
                  <a:spcBef>
                    <a:spcPts val="0"/>
                  </a:spcBef>
                  <a:spcAft>
                    <a:spcPts val="0"/>
                  </a:spcAft>
                  <a:buClr>
                    <a:schemeClr val="accent2"/>
                  </a:buClr>
                  <a:buSzPct val="70000"/>
                  <a:buFont typeface="Wingdings"/>
                  <a:buChar char=""/>
                  <a:defRPr kumimoji="0" sz="2800" kern="1200">
                    <a:solidFill>
                      <a:schemeClr val="tx1"/>
                    </a:solidFill>
                    <a:latin typeface="+mn-lt"/>
                    <a:ea typeface="+mn-ea"/>
                    <a:cs typeface="+mn-cs"/>
                  </a:defRPr>
                </a:lvl2pPr>
                <a:lvl3pPr marL="822960" indent="-228600" algn="l" rtl="0" eaLnBrk="1" latinLnBrk="0" hangingPunct="1">
                  <a:spcBef>
                    <a:spcPts val="0"/>
                  </a:spcBef>
                  <a:spcAft>
                    <a:spcPts val="0"/>
                  </a:spcAft>
                  <a:buClr>
                    <a:schemeClr val="accent3"/>
                  </a:buClr>
                  <a:buSzPct val="75000"/>
                  <a:buFont typeface="Wingdings 2"/>
                  <a:buChar char=""/>
                  <a:defRPr kumimoji="0" sz="2400" kern="1200">
                    <a:solidFill>
                      <a:schemeClr val="tx1"/>
                    </a:solidFill>
                    <a:latin typeface="+mn-lt"/>
                    <a:ea typeface="+mn-ea"/>
                    <a:cs typeface="+mn-cs"/>
                  </a:defRPr>
                </a:lvl3pPr>
                <a:lvl4pPr marL="1097280" indent="-228600" algn="l" rtl="0" eaLnBrk="1" latinLnBrk="0" hangingPunct="1">
                  <a:spcBef>
                    <a:spcPts val="0"/>
                  </a:spcBef>
                  <a:spcAft>
                    <a:spcPts val="0"/>
                  </a:spcAft>
                  <a:buClr>
                    <a:schemeClr val="accent4"/>
                  </a:buClr>
                  <a:buSzPct val="70000"/>
                  <a:buFont typeface="Wingdings"/>
                  <a:buChar char=""/>
                  <a:defRPr kumimoji="0" sz="2000" kern="1200">
                    <a:solidFill>
                      <a:schemeClr val="tx1"/>
                    </a:solidFill>
                    <a:latin typeface="+mn-lt"/>
                    <a:ea typeface="+mn-ea"/>
                    <a:cs typeface="+mn-cs"/>
                  </a:defRPr>
                </a:lvl4pPr>
                <a:lvl5pPr marL="1371600" indent="-228600" algn="l" rtl="0" eaLnBrk="1" latinLnBrk="0" hangingPunct="1">
                  <a:spcBef>
                    <a:spcPts val="0"/>
                  </a:spcBef>
                  <a:spcAft>
                    <a:spcPts val="2400"/>
                  </a:spcAft>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0" indent="0">
                  <a:buFont typeface="Wingdings 2"/>
                  <a:buNone/>
                </a:pPr>
                <a14:m>
                  <m:oMathPara xmlns:m="http://schemas.openxmlformats.org/officeDocument/2006/math">
                    <m:oMathParaPr>
                      <m:jc m:val="centerGroup"/>
                    </m:oMathParaPr>
                    <m:oMath xmlns:m="http://schemas.openxmlformats.org/officeDocument/2006/math">
                      <m:acc>
                        <m:accPr>
                          <m:chr m:val="̂"/>
                          <m:ctrlPr>
                            <a:rPr lang="en-US" sz="3600" i="1" smtClean="0">
                              <a:latin typeface="Cambria Math"/>
                            </a:rPr>
                          </m:ctrlPr>
                        </m:accPr>
                        <m:e>
                          <m:r>
                            <a:rPr lang="en-US" sz="3600" i="1" smtClean="0">
                              <a:latin typeface="Cambria Math"/>
                            </a:rPr>
                            <m:t>𝑇𝑒𝑚𝑝</m:t>
                          </m:r>
                        </m:e>
                      </m:acc>
                      <m:r>
                        <a:rPr lang="en-US" sz="3600" i="1" smtClean="0">
                          <a:latin typeface="Cambria Math"/>
                        </a:rPr>
                        <m:t>=37.68+0.23</m:t>
                      </m:r>
                      <m:r>
                        <a:rPr lang="en-US" sz="3600" i="1" smtClean="0">
                          <a:latin typeface="Cambria Math"/>
                        </a:rPr>
                        <m:t>𝐶h𝑖𝑟𝑝𝑠</m:t>
                      </m:r>
                    </m:oMath>
                  </m:oMathPara>
                </a14:m>
                <a:endParaRPr lang="en-US" sz="3600" dirty="0" smtClean="0"/>
              </a:p>
              <a:p>
                <a:pPr marL="0" indent="0">
                  <a:buFont typeface="Wingdings 2"/>
                  <a:buNone/>
                </a:pPr>
                <a:endParaRPr lang="en-US" sz="3600" dirty="0"/>
              </a:p>
              <a:p>
                <a:pPr marL="0" indent="0">
                  <a:buFont typeface="Wingdings 2"/>
                  <a:buNone/>
                </a:pPr>
                <a14:m>
                  <m:oMathPara xmlns:m="http://schemas.openxmlformats.org/officeDocument/2006/math">
                    <m:oMathParaPr>
                      <m:jc m:val="centerGroup"/>
                    </m:oMathParaPr>
                    <m:oMath xmlns:m="http://schemas.openxmlformats.org/officeDocument/2006/math">
                      <m:acc>
                        <m:accPr>
                          <m:chr m:val="̂"/>
                          <m:ctrlPr>
                            <a:rPr lang="en-US" sz="3600" i="1" smtClean="0">
                              <a:latin typeface="Cambria Math"/>
                            </a:rPr>
                          </m:ctrlPr>
                        </m:accPr>
                        <m:e>
                          <m:r>
                            <a:rPr lang="en-US" sz="3600" b="0" i="1" smtClean="0">
                              <a:latin typeface="Cambria Math"/>
                            </a:rPr>
                            <m:t>𝐶h𝑖𝑟𝑝𝑠</m:t>
                          </m:r>
                        </m:e>
                      </m:acc>
                      <m:r>
                        <a:rPr lang="en-US" sz="3600" b="0" i="1" smtClean="0">
                          <a:latin typeface="Cambria Math"/>
                        </a:rPr>
                        <m:t>=−157.8+4.25</m:t>
                      </m:r>
                      <m:r>
                        <a:rPr lang="en-US" sz="3600" b="0" i="1" smtClean="0">
                          <a:latin typeface="Cambria Math"/>
                        </a:rPr>
                        <m:t>𝑇𝑒𝑚𝑝</m:t>
                      </m:r>
                    </m:oMath>
                  </m:oMathPara>
                </a14:m>
                <a:endParaRPr lang="en-US" sz="3600" dirty="0" smtClean="0"/>
              </a:p>
              <a:p>
                <a:pPr marL="0" indent="0">
                  <a:buFont typeface="Wingdings 2"/>
                  <a:buNone/>
                </a:pPr>
                <a:endParaRPr lang="en-US" sz="3600" dirty="0" smtClean="0"/>
              </a:p>
              <a:p>
                <a:pPr marL="0" indent="0">
                  <a:buFont typeface="Wingdings 2"/>
                  <a:buNone/>
                </a:pPr>
                <a:endParaRPr lang="en-US" sz="3600" dirty="0"/>
              </a:p>
            </p:txBody>
          </p:sp>
        </mc:Choice>
        <mc:Fallback xmlns="">
          <p:sp>
            <p:nvSpPr>
              <p:cNvPr id="6" name="Content Placeholder 2"/>
              <p:cNvSpPr txBox="1">
                <a:spLocks noRot="1" noChangeAspect="1" noMove="1" noResize="1" noEditPoints="1" noAdjustHandles="1" noChangeArrowheads="1" noChangeShapeType="1" noTextEdit="1"/>
              </p:cNvSpPr>
              <p:nvPr/>
            </p:nvSpPr>
            <p:spPr>
              <a:xfrm>
                <a:off x="304800" y="3619500"/>
                <a:ext cx="8534400" cy="1143000"/>
              </a:xfrm>
              <a:prstGeom prst="rect">
                <a:avLst/>
              </a:prstGeom>
              <a:blipFill rotWithShape="1">
                <a:blip r:embed="rId4"/>
                <a:stretch>
                  <a:fillRect b="-90909"/>
                </a:stretch>
              </a:blipFill>
            </p:spPr>
            <p:txBody>
              <a:bodyPr/>
              <a:lstStyle/>
              <a:p>
                <a:r>
                  <a:rPr lang="en-US">
                    <a:noFill/>
                  </a:rPr>
                  <a:t> </a:t>
                </a:r>
              </a:p>
            </p:txBody>
          </p:sp>
        </mc:Fallback>
      </mc:AlternateContent>
      <p:pic>
        <p:nvPicPr>
          <p:cNvPr id="5" name="Picture 4" descr="http://1.bp.blogspot.com/_0L-juqHqErE/TMuS8rVivSI/AAAAAAAAAA8/F859tKReapk/s1600/Cautionary_warning_--_Caution.png"/>
          <p:cNvPicPr>
            <a:picLocks noChangeAspect="1" noChangeArrowheads="1"/>
          </p:cNvPicPr>
          <p:nvPr/>
        </p:nvPicPr>
        <p:blipFill>
          <a:blip r:embed="rId5" cstate="print"/>
          <a:srcRect/>
          <a:stretch>
            <a:fillRect/>
          </a:stretch>
        </p:blipFill>
        <p:spPr bwMode="auto">
          <a:xfrm>
            <a:off x="228600" y="196424"/>
            <a:ext cx="1600200" cy="1403776"/>
          </a:xfrm>
          <a:prstGeom prst="rect">
            <a:avLst/>
          </a:prstGeom>
          <a:noFill/>
        </p:spPr>
      </p:pic>
      <p:pic>
        <p:nvPicPr>
          <p:cNvPr id="7" name="Picture 4" descr="http://1.bp.blogspot.com/_0L-juqHqErE/TMuS8rVivSI/AAAAAAAAAA8/F859tKReapk/s1600/Cautionary_warning_--_Caution.png"/>
          <p:cNvPicPr>
            <a:picLocks noChangeAspect="1" noChangeArrowheads="1"/>
          </p:cNvPicPr>
          <p:nvPr/>
        </p:nvPicPr>
        <p:blipFill>
          <a:blip r:embed="rId5" cstate="print"/>
          <a:srcRect/>
          <a:stretch>
            <a:fillRect/>
          </a:stretch>
        </p:blipFill>
        <p:spPr bwMode="auto">
          <a:xfrm>
            <a:off x="7315200" y="196424"/>
            <a:ext cx="1600200" cy="1403776"/>
          </a:xfrm>
          <a:prstGeom prst="rect">
            <a:avLst/>
          </a:prstGeom>
          <a:noFill/>
        </p:spPr>
      </p:pic>
    </p:spTree>
    <p:custDataLst>
      <p:tags r:id="rId1"/>
    </p:custDataLst>
    <p:extLst>
      <p:ext uri="{BB962C8B-B14F-4D97-AF65-F5344CB8AC3E}">
        <p14:creationId xmlns:p14="http://schemas.microsoft.com/office/powerpoint/2010/main" val="3690584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24" y="12468"/>
            <a:ext cx="9127375" cy="1282931"/>
          </a:xfrm>
        </p:spPr>
        <p:txBody>
          <a:bodyPr>
            <a:normAutofit fontScale="90000"/>
          </a:bodyPr>
          <a:lstStyle/>
          <a:p>
            <a:pPr algn="ctr"/>
            <a:r>
              <a:rPr lang="en-US" dirty="0" smtClean="0"/>
              <a:t>Example: Concentration of CO</a:t>
            </a:r>
            <a:r>
              <a:rPr lang="en-US" baseline="-25000" dirty="0" smtClean="0"/>
              <a:t>2</a:t>
            </a:r>
            <a:r>
              <a:rPr lang="en-US" dirty="0" smtClean="0"/>
              <a:t> in the Atmosphere</a:t>
            </a:r>
            <a:endParaRPr lang="en-US" dirty="0"/>
          </a:p>
        </p:txBody>
      </p:sp>
      <p:sp>
        <p:nvSpPr>
          <p:cNvPr id="3" name="Content Placeholder 2"/>
          <p:cNvSpPr>
            <a:spLocks noGrp="1"/>
          </p:cNvSpPr>
          <p:nvPr>
            <p:ph sz="quarter" idx="1"/>
          </p:nvPr>
        </p:nvSpPr>
        <p:spPr>
          <a:xfrm>
            <a:off x="-6927" y="1676400"/>
            <a:ext cx="9144000" cy="4343400"/>
          </a:xfrm>
        </p:spPr>
        <p:txBody>
          <a:bodyPr>
            <a:normAutofit/>
          </a:bodyPr>
          <a:lstStyle/>
          <a:p>
            <a:r>
              <a:rPr lang="en-US" dirty="0" smtClean="0"/>
              <a:t>Levels of carbon dioxide in the atmosphere are rising rapidly, far above any levels ever before recorded. Levels were around 278 parts per million in 1800, before the Industrial Age and had never, in the hundreds of thousands of years before that, gone above 300 ppm. Levels are now nearing 400 ppm. The table on the next slide shows the rapid rise of CO</a:t>
            </a:r>
            <a:r>
              <a:rPr lang="en-US" baseline="-25000" dirty="0" smtClean="0"/>
              <a:t>2</a:t>
            </a:r>
            <a:r>
              <a:rPr lang="en-US" dirty="0" smtClean="0"/>
              <a:t> concentrations over the last 50 years. </a:t>
            </a:r>
            <a:endParaRPr lang="en-US" dirty="0"/>
          </a:p>
        </p:txBody>
      </p:sp>
      <p:sp>
        <p:nvSpPr>
          <p:cNvPr id="4" name="TextBox 3"/>
          <p:cNvSpPr txBox="1"/>
          <p:nvPr/>
        </p:nvSpPr>
        <p:spPr>
          <a:xfrm>
            <a:off x="0" y="6211669"/>
            <a:ext cx="9144000" cy="646331"/>
          </a:xfrm>
          <a:prstGeom prst="rect">
            <a:avLst/>
          </a:prstGeom>
          <a:noFill/>
        </p:spPr>
        <p:txBody>
          <a:bodyPr wrap="square" rtlCol="0">
            <a:spAutoFit/>
          </a:bodyPr>
          <a:lstStyle/>
          <a:p>
            <a:r>
              <a:rPr lang="en-US" dirty="0" smtClean="0"/>
              <a:t>Dr. Pieter Tans, NOAA/ESRL, </a:t>
            </a:r>
            <a:r>
              <a:rPr lang="en-US" dirty="0" smtClean="0">
                <a:hlinkClick r:id="rId3"/>
              </a:rPr>
              <a:t>www.esrl.noaa.gov/gmd/ccgg/trends/</a:t>
            </a:r>
            <a:r>
              <a:rPr lang="en-US" dirty="0" smtClean="0"/>
              <a:t>. Values recorded at the Mauna Loa Observatory in Hawaii.</a:t>
            </a:r>
            <a:endParaRPr lang="en-US" dirty="0"/>
          </a:p>
        </p:txBody>
      </p:sp>
    </p:spTree>
    <p:custDataLst>
      <p:tags r:id="rId1"/>
    </p:custDataLst>
    <p:extLst>
      <p:ext uri="{BB962C8B-B14F-4D97-AF65-F5344CB8AC3E}">
        <p14:creationId xmlns:p14="http://schemas.microsoft.com/office/powerpoint/2010/main" val="11333250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875" y="12700"/>
            <a:ext cx="9128125" cy="1282700"/>
          </a:xfrm>
        </p:spPr>
        <p:txBody>
          <a:bodyPr>
            <a:normAutofit fontScale="90000"/>
          </a:bodyPr>
          <a:lstStyle/>
          <a:p>
            <a:pPr algn="ctr"/>
            <a:r>
              <a:rPr lang="en-US" dirty="0" smtClean="0"/>
              <a:t>Example: Concentration of CO</a:t>
            </a:r>
            <a:r>
              <a:rPr lang="en-US" baseline="-25000" dirty="0" smtClean="0"/>
              <a:t>2</a:t>
            </a:r>
            <a:r>
              <a:rPr lang="en-US" dirty="0" smtClean="0"/>
              <a:t> in the Atmosphere</a:t>
            </a:r>
            <a:endParaRPr lang="en-US" dirty="0"/>
          </a:p>
        </p:txBody>
      </p:sp>
      <p:graphicFrame>
        <p:nvGraphicFramePr>
          <p:cNvPr id="5" name="Content Placeholder 4"/>
          <p:cNvGraphicFramePr>
            <a:graphicFrameLocks noGrp="1"/>
          </p:cNvGraphicFramePr>
          <p:nvPr>
            <p:ph sz="quarter" idx="4294967295"/>
            <p:extLst>
              <p:ext uri="{D42A27DB-BD31-4B8C-83A1-F6EECF244321}">
                <p14:modId xmlns:p14="http://schemas.microsoft.com/office/powerpoint/2010/main" val="1058512341"/>
              </p:ext>
            </p:extLst>
          </p:nvPr>
        </p:nvGraphicFramePr>
        <p:xfrm>
          <a:off x="18011" y="1371600"/>
          <a:ext cx="9144000" cy="5486400"/>
        </p:xfrm>
        <a:graphic>
          <a:graphicData uri="http://schemas.openxmlformats.org/drawingml/2006/table">
            <a:tbl>
              <a:tblPr firstRow="1" bandRow="1">
                <a:tableStyleId>{5C22544A-7EE6-4342-B048-85BDC9FD1C3A}</a:tableStyleId>
              </a:tblPr>
              <a:tblGrid>
                <a:gridCol w="4572000"/>
                <a:gridCol w="4572000"/>
              </a:tblGrid>
              <a:tr h="370840">
                <a:tc>
                  <a:txBody>
                    <a:bodyPr/>
                    <a:lstStyle/>
                    <a:p>
                      <a:pPr algn="ctr"/>
                      <a:r>
                        <a:rPr lang="en-US" sz="2400" dirty="0" smtClean="0"/>
                        <a:t>Year</a:t>
                      </a:r>
                      <a:endParaRPr lang="en-US" sz="2400" dirty="0"/>
                    </a:p>
                  </a:txBody>
                  <a:tcPr/>
                </a:tc>
                <a:tc>
                  <a:txBody>
                    <a:bodyPr/>
                    <a:lstStyle/>
                    <a:p>
                      <a:pPr algn="ctr"/>
                      <a:r>
                        <a:rPr lang="en-US" sz="2400" dirty="0" smtClean="0"/>
                        <a:t>CO</a:t>
                      </a:r>
                      <a:r>
                        <a:rPr lang="en-US" sz="2400" baseline="-25000" dirty="0" smtClean="0"/>
                        <a:t>2</a:t>
                      </a:r>
                      <a:r>
                        <a:rPr lang="en-US" sz="2400" baseline="0" dirty="0" smtClean="0"/>
                        <a:t> (in ppm)</a:t>
                      </a:r>
                      <a:endParaRPr lang="en-US" sz="2400" baseline="-25000" dirty="0"/>
                    </a:p>
                  </a:txBody>
                  <a:tcPr/>
                </a:tc>
              </a:tr>
              <a:tr h="370840">
                <a:tc>
                  <a:txBody>
                    <a:bodyPr/>
                    <a:lstStyle/>
                    <a:p>
                      <a:pPr algn="ctr"/>
                      <a:r>
                        <a:rPr lang="en-US" sz="2400" dirty="0" smtClean="0"/>
                        <a:t>1960</a:t>
                      </a:r>
                    </a:p>
                  </a:txBody>
                  <a:tcPr/>
                </a:tc>
                <a:tc>
                  <a:txBody>
                    <a:bodyPr/>
                    <a:lstStyle/>
                    <a:p>
                      <a:pPr algn="ctr"/>
                      <a:r>
                        <a:rPr lang="en-US" sz="2400" dirty="0" smtClean="0"/>
                        <a:t>316.91</a:t>
                      </a:r>
                      <a:endParaRPr lang="en-US" sz="2400" dirty="0"/>
                    </a:p>
                  </a:txBody>
                  <a:tcPr/>
                </a:tc>
              </a:tr>
              <a:tr h="370840">
                <a:tc>
                  <a:txBody>
                    <a:bodyPr/>
                    <a:lstStyle/>
                    <a:p>
                      <a:pPr algn="ctr"/>
                      <a:r>
                        <a:rPr lang="en-US" sz="2400" dirty="0" smtClean="0"/>
                        <a:t>1965</a:t>
                      </a:r>
                      <a:endParaRPr lang="en-US" sz="2400" dirty="0"/>
                    </a:p>
                  </a:txBody>
                  <a:tcPr/>
                </a:tc>
                <a:tc>
                  <a:txBody>
                    <a:bodyPr/>
                    <a:lstStyle/>
                    <a:p>
                      <a:pPr algn="ctr"/>
                      <a:r>
                        <a:rPr lang="en-US" sz="2400" dirty="0" smtClean="0"/>
                        <a:t>320.04</a:t>
                      </a:r>
                      <a:endParaRPr lang="en-US" sz="2400" dirty="0"/>
                    </a:p>
                  </a:txBody>
                  <a:tcPr/>
                </a:tc>
              </a:tr>
              <a:tr h="370840">
                <a:tc>
                  <a:txBody>
                    <a:bodyPr/>
                    <a:lstStyle/>
                    <a:p>
                      <a:pPr algn="ctr"/>
                      <a:r>
                        <a:rPr lang="en-US" sz="2400" dirty="0" smtClean="0"/>
                        <a:t>1970</a:t>
                      </a:r>
                      <a:endParaRPr lang="en-US" sz="2400" dirty="0"/>
                    </a:p>
                  </a:txBody>
                  <a:tcPr/>
                </a:tc>
                <a:tc>
                  <a:txBody>
                    <a:bodyPr/>
                    <a:lstStyle/>
                    <a:p>
                      <a:pPr algn="ctr"/>
                      <a:r>
                        <a:rPr lang="en-US" sz="2400" dirty="0" smtClean="0"/>
                        <a:t>325.68</a:t>
                      </a:r>
                      <a:endParaRPr lang="en-US" sz="2400" dirty="0"/>
                    </a:p>
                  </a:txBody>
                  <a:tcPr/>
                </a:tc>
              </a:tr>
              <a:tr h="370840">
                <a:tc>
                  <a:txBody>
                    <a:bodyPr/>
                    <a:lstStyle/>
                    <a:p>
                      <a:pPr algn="ctr"/>
                      <a:r>
                        <a:rPr lang="en-US" sz="2400" dirty="0" smtClean="0"/>
                        <a:t>1975</a:t>
                      </a:r>
                      <a:endParaRPr lang="en-US" sz="2400" dirty="0"/>
                    </a:p>
                  </a:txBody>
                  <a:tcPr/>
                </a:tc>
                <a:tc>
                  <a:txBody>
                    <a:bodyPr/>
                    <a:lstStyle/>
                    <a:p>
                      <a:pPr algn="ctr"/>
                      <a:r>
                        <a:rPr lang="en-US" sz="2400" dirty="0" smtClean="0"/>
                        <a:t>331.08</a:t>
                      </a:r>
                      <a:endParaRPr lang="en-US" sz="2400" dirty="0"/>
                    </a:p>
                  </a:txBody>
                  <a:tcPr/>
                </a:tc>
              </a:tr>
              <a:tr h="370840">
                <a:tc>
                  <a:txBody>
                    <a:bodyPr/>
                    <a:lstStyle/>
                    <a:p>
                      <a:pPr algn="ctr"/>
                      <a:r>
                        <a:rPr lang="en-US" sz="2400" dirty="0" smtClean="0"/>
                        <a:t>1980</a:t>
                      </a:r>
                      <a:endParaRPr lang="en-US" sz="2400" dirty="0"/>
                    </a:p>
                  </a:txBody>
                  <a:tcPr/>
                </a:tc>
                <a:tc>
                  <a:txBody>
                    <a:bodyPr/>
                    <a:lstStyle/>
                    <a:p>
                      <a:pPr algn="ctr"/>
                      <a:r>
                        <a:rPr lang="en-US" sz="2400" dirty="0" smtClean="0"/>
                        <a:t>338.68</a:t>
                      </a:r>
                      <a:endParaRPr lang="en-US" sz="2400" dirty="0"/>
                    </a:p>
                  </a:txBody>
                  <a:tcPr/>
                </a:tc>
              </a:tr>
              <a:tr h="370840">
                <a:tc>
                  <a:txBody>
                    <a:bodyPr/>
                    <a:lstStyle/>
                    <a:p>
                      <a:pPr algn="ctr"/>
                      <a:r>
                        <a:rPr lang="en-US" sz="2400" dirty="0" smtClean="0"/>
                        <a:t>1985</a:t>
                      </a:r>
                      <a:endParaRPr lang="en-US" sz="2400" dirty="0"/>
                    </a:p>
                  </a:txBody>
                  <a:tcPr/>
                </a:tc>
                <a:tc>
                  <a:txBody>
                    <a:bodyPr/>
                    <a:lstStyle/>
                    <a:p>
                      <a:pPr algn="ctr"/>
                      <a:r>
                        <a:rPr lang="en-US" sz="2400" dirty="0" smtClean="0"/>
                        <a:t>345.87</a:t>
                      </a:r>
                      <a:endParaRPr lang="en-US" sz="2400" dirty="0"/>
                    </a:p>
                  </a:txBody>
                  <a:tcPr/>
                </a:tc>
              </a:tr>
              <a:tr h="370840">
                <a:tc>
                  <a:txBody>
                    <a:bodyPr/>
                    <a:lstStyle/>
                    <a:p>
                      <a:pPr algn="ctr"/>
                      <a:r>
                        <a:rPr lang="en-US" sz="2400" dirty="0" smtClean="0"/>
                        <a:t>1990</a:t>
                      </a:r>
                      <a:endParaRPr lang="en-US" sz="2400" dirty="0"/>
                    </a:p>
                  </a:txBody>
                  <a:tcPr/>
                </a:tc>
                <a:tc>
                  <a:txBody>
                    <a:bodyPr/>
                    <a:lstStyle/>
                    <a:p>
                      <a:pPr algn="ctr"/>
                      <a:r>
                        <a:rPr lang="en-US" sz="2400" dirty="0" smtClean="0"/>
                        <a:t>354.16</a:t>
                      </a:r>
                      <a:endParaRPr lang="en-US" sz="2400" dirty="0"/>
                    </a:p>
                  </a:txBody>
                  <a:tcPr/>
                </a:tc>
              </a:tr>
              <a:tr h="370840">
                <a:tc>
                  <a:txBody>
                    <a:bodyPr/>
                    <a:lstStyle/>
                    <a:p>
                      <a:pPr algn="ctr"/>
                      <a:r>
                        <a:rPr lang="en-US" sz="2400" dirty="0" smtClean="0"/>
                        <a:t>1995</a:t>
                      </a:r>
                      <a:endParaRPr lang="en-US" sz="2400" dirty="0"/>
                    </a:p>
                  </a:txBody>
                  <a:tcPr/>
                </a:tc>
                <a:tc>
                  <a:txBody>
                    <a:bodyPr/>
                    <a:lstStyle/>
                    <a:p>
                      <a:pPr algn="ctr"/>
                      <a:r>
                        <a:rPr lang="en-US" sz="2400" dirty="0" smtClean="0"/>
                        <a:t>360.62</a:t>
                      </a:r>
                      <a:endParaRPr lang="en-US" sz="2400" dirty="0"/>
                    </a:p>
                  </a:txBody>
                  <a:tcPr/>
                </a:tc>
              </a:tr>
              <a:tr h="370840">
                <a:tc>
                  <a:txBody>
                    <a:bodyPr/>
                    <a:lstStyle/>
                    <a:p>
                      <a:pPr algn="ctr"/>
                      <a:r>
                        <a:rPr lang="en-US" sz="2400" dirty="0" smtClean="0"/>
                        <a:t>2000</a:t>
                      </a:r>
                      <a:endParaRPr lang="en-US" sz="2400" dirty="0"/>
                    </a:p>
                  </a:txBody>
                  <a:tcPr/>
                </a:tc>
                <a:tc>
                  <a:txBody>
                    <a:bodyPr/>
                    <a:lstStyle/>
                    <a:p>
                      <a:pPr algn="ctr"/>
                      <a:r>
                        <a:rPr lang="en-US" sz="2400" dirty="0" smtClean="0"/>
                        <a:t>369.40</a:t>
                      </a:r>
                      <a:endParaRPr lang="en-US" sz="2400" dirty="0"/>
                    </a:p>
                  </a:txBody>
                  <a:tcPr/>
                </a:tc>
              </a:tr>
              <a:tr h="370840">
                <a:tc>
                  <a:txBody>
                    <a:bodyPr/>
                    <a:lstStyle/>
                    <a:p>
                      <a:pPr algn="ctr"/>
                      <a:r>
                        <a:rPr lang="en-US" sz="2400" dirty="0" smtClean="0"/>
                        <a:t>2005</a:t>
                      </a:r>
                      <a:endParaRPr lang="en-US" sz="2400" dirty="0"/>
                    </a:p>
                  </a:txBody>
                  <a:tcPr/>
                </a:tc>
                <a:tc>
                  <a:txBody>
                    <a:bodyPr/>
                    <a:lstStyle/>
                    <a:p>
                      <a:pPr algn="ctr"/>
                      <a:r>
                        <a:rPr lang="en-US" sz="2400" dirty="0" smtClean="0"/>
                        <a:t>379.76</a:t>
                      </a:r>
                      <a:endParaRPr lang="en-US" sz="2400" dirty="0"/>
                    </a:p>
                  </a:txBody>
                  <a:tcPr/>
                </a:tc>
              </a:tr>
              <a:tr h="370840">
                <a:tc>
                  <a:txBody>
                    <a:bodyPr/>
                    <a:lstStyle/>
                    <a:p>
                      <a:pPr algn="ctr"/>
                      <a:r>
                        <a:rPr lang="en-US" sz="2400" dirty="0" smtClean="0"/>
                        <a:t>2010</a:t>
                      </a:r>
                      <a:endParaRPr lang="en-US" sz="2400" dirty="0"/>
                    </a:p>
                  </a:txBody>
                  <a:tcPr/>
                </a:tc>
                <a:tc>
                  <a:txBody>
                    <a:bodyPr/>
                    <a:lstStyle/>
                    <a:p>
                      <a:pPr algn="ctr"/>
                      <a:r>
                        <a:rPr lang="en-US" sz="2400" dirty="0" smtClean="0"/>
                        <a:t>389.78</a:t>
                      </a:r>
                      <a:endParaRPr lang="en-US" sz="2400" dirty="0"/>
                    </a:p>
                  </a:txBody>
                  <a:tcPr/>
                </a:tc>
              </a:tr>
            </a:tbl>
          </a:graphicData>
        </a:graphic>
      </p:graphicFrame>
    </p:spTree>
    <p:custDataLst>
      <p:tags r:id="rId1"/>
    </p:custDataLst>
    <p:extLst>
      <p:ext uri="{BB962C8B-B14F-4D97-AF65-F5344CB8AC3E}">
        <p14:creationId xmlns:p14="http://schemas.microsoft.com/office/powerpoint/2010/main" val="39548973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24" y="12468"/>
            <a:ext cx="9127375" cy="1282931"/>
          </a:xfrm>
        </p:spPr>
        <p:txBody>
          <a:bodyPr>
            <a:normAutofit fontScale="90000"/>
          </a:bodyPr>
          <a:lstStyle/>
          <a:p>
            <a:pPr algn="ctr"/>
            <a:r>
              <a:rPr lang="en-US" dirty="0" smtClean="0"/>
              <a:t>Example: Concentration of CO</a:t>
            </a:r>
            <a:r>
              <a:rPr lang="en-US" baseline="-25000" dirty="0" smtClean="0"/>
              <a:t>2</a:t>
            </a:r>
            <a:r>
              <a:rPr lang="en-US" dirty="0" smtClean="0"/>
              <a:t> in the Atmosphere</a:t>
            </a:r>
            <a:endParaRPr lang="en-US" dirty="0"/>
          </a:p>
        </p:txBody>
      </p:sp>
      <p:sp>
        <p:nvSpPr>
          <p:cNvPr id="3" name="Content Placeholder 2"/>
          <p:cNvSpPr>
            <a:spLocks noGrp="1"/>
          </p:cNvSpPr>
          <p:nvPr>
            <p:ph sz="quarter" idx="1"/>
          </p:nvPr>
        </p:nvSpPr>
        <p:spPr>
          <a:xfrm>
            <a:off x="-6927" y="1676400"/>
            <a:ext cx="9144000" cy="5181600"/>
          </a:xfrm>
        </p:spPr>
        <p:txBody>
          <a:bodyPr>
            <a:normAutofit/>
          </a:bodyPr>
          <a:lstStyle/>
          <a:p>
            <a:pPr marL="0" indent="0">
              <a:buNone/>
            </a:pPr>
            <a:r>
              <a:rPr lang="en-US" dirty="0" smtClean="0"/>
              <a:t>a) What is the explanatory variable? What is the response variable?</a:t>
            </a:r>
          </a:p>
          <a:p>
            <a:pPr marL="0" indent="0">
              <a:buNone/>
            </a:pPr>
            <a:endParaRPr lang="en-US" b="1" dirty="0" smtClean="0"/>
          </a:p>
          <a:p>
            <a:pPr marL="0" indent="0">
              <a:buNone/>
            </a:pPr>
            <a:endParaRPr lang="en-US" dirty="0"/>
          </a:p>
        </p:txBody>
      </p:sp>
    </p:spTree>
    <p:custDataLst>
      <p:tags r:id="rId1"/>
    </p:custDataLst>
    <p:extLst>
      <p:ext uri="{BB962C8B-B14F-4D97-AF65-F5344CB8AC3E}">
        <p14:creationId xmlns:p14="http://schemas.microsoft.com/office/powerpoint/2010/main" val="2438869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24" y="12468"/>
            <a:ext cx="9127375" cy="1282931"/>
          </a:xfrm>
        </p:spPr>
        <p:txBody>
          <a:bodyPr>
            <a:normAutofit fontScale="90000"/>
          </a:bodyPr>
          <a:lstStyle/>
          <a:p>
            <a:pPr algn="ctr"/>
            <a:r>
              <a:rPr lang="en-US" dirty="0" smtClean="0"/>
              <a:t>Example: Concentration of CO</a:t>
            </a:r>
            <a:r>
              <a:rPr lang="en-US" baseline="-25000" dirty="0" smtClean="0"/>
              <a:t>2</a:t>
            </a:r>
            <a:r>
              <a:rPr lang="en-US" dirty="0" smtClean="0"/>
              <a:t> in the Atmosphere</a:t>
            </a:r>
            <a:endParaRPr lang="en-US" dirty="0"/>
          </a:p>
        </p:txBody>
      </p:sp>
      <p:sp>
        <p:nvSpPr>
          <p:cNvPr id="3" name="Content Placeholder 2"/>
          <p:cNvSpPr>
            <a:spLocks noGrp="1"/>
          </p:cNvSpPr>
          <p:nvPr>
            <p:ph sz="quarter" idx="1"/>
          </p:nvPr>
        </p:nvSpPr>
        <p:spPr>
          <a:xfrm>
            <a:off x="-6927" y="1676400"/>
            <a:ext cx="9144000" cy="5181600"/>
          </a:xfrm>
        </p:spPr>
        <p:txBody>
          <a:bodyPr>
            <a:normAutofit/>
          </a:bodyPr>
          <a:lstStyle/>
          <a:p>
            <a:pPr marL="0" indent="0">
              <a:buNone/>
            </a:pPr>
            <a:r>
              <a:rPr lang="en-US" dirty="0" smtClean="0"/>
              <a:t>b) Draw a scatterplot of the data. Does there appear to be a linear relationship in the data? </a:t>
            </a:r>
            <a:r>
              <a:rPr lang="en-US" dirty="0" err="1" smtClean="0">
                <a:hlinkClick r:id="rId3"/>
              </a:rPr>
              <a:t>StatKey</a:t>
            </a:r>
            <a:endParaRPr lang="en-US" dirty="0" smtClean="0"/>
          </a:p>
          <a:p>
            <a:pPr marL="0" indent="0">
              <a:buNone/>
            </a:pPr>
            <a:endParaRPr lang="en-US" dirty="0"/>
          </a:p>
        </p:txBody>
      </p:sp>
      <p:pic>
        <p:nvPicPr>
          <p:cNvPr id="174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2805957"/>
            <a:ext cx="5129980" cy="37390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48950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24" y="12468"/>
            <a:ext cx="9127375" cy="1282931"/>
          </a:xfrm>
        </p:spPr>
        <p:txBody>
          <a:bodyPr>
            <a:normAutofit fontScale="90000"/>
          </a:bodyPr>
          <a:lstStyle/>
          <a:p>
            <a:pPr algn="ctr"/>
            <a:r>
              <a:rPr lang="en-US" dirty="0" smtClean="0"/>
              <a:t>Example: Concentration of CO</a:t>
            </a:r>
            <a:r>
              <a:rPr lang="en-US" baseline="-25000" dirty="0" smtClean="0"/>
              <a:t>2</a:t>
            </a:r>
            <a:r>
              <a:rPr lang="en-US" dirty="0" smtClean="0"/>
              <a:t> in the Atmosphere</a:t>
            </a:r>
            <a:endParaRPr lang="en-US" dirty="0"/>
          </a:p>
        </p:txBody>
      </p:sp>
      <p:sp>
        <p:nvSpPr>
          <p:cNvPr id="3" name="Content Placeholder 2"/>
          <p:cNvSpPr>
            <a:spLocks noGrp="1"/>
          </p:cNvSpPr>
          <p:nvPr>
            <p:ph sz="quarter" idx="1"/>
          </p:nvPr>
        </p:nvSpPr>
        <p:spPr>
          <a:xfrm>
            <a:off x="-6927" y="1676400"/>
            <a:ext cx="9144000" cy="5181600"/>
          </a:xfrm>
        </p:spPr>
        <p:txBody>
          <a:bodyPr>
            <a:normAutofit/>
          </a:bodyPr>
          <a:lstStyle/>
          <a:p>
            <a:pPr marL="0" indent="0">
              <a:buNone/>
            </a:pPr>
            <a:r>
              <a:rPr lang="en-US" dirty="0" smtClean="0"/>
              <a:t>c)  Use technology to find the correlation between year and CO</a:t>
            </a:r>
            <a:r>
              <a:rPr lang="en-US" baseline="-25000" dirty="0" smtClean="0"/>
              <a:t>2</a:t>
            </a:r>
            <a:r>
              <a:rPr lang="en-US" dirty="0" smtClean="0"/>
              <a:t> levels. Does the value of the correlation support your answer to part b?</a:t>
            </a:r>
          </a:p>
          <a:p>
            <a:pPr marL="0" indent="0">
              <a:buNone/>
            </a:pPr>
            <a:endParaRPr lang="en-US" dirty="0"/>
          </a:p>
          <a:p>
            <a:pPr marL="0" indent="0">
              <a:buNone/>
            </a:pPr>
            <a:endParaRPr lang="en-US" dirty="0" smtClean="0"/>
          </a:p>
          <a:p>
            <a:pPr marL="0" indent="0">
              <a:buNone/>
            </a:pPr>
            <a:endParaRPr lang="en-US" dirty="0"/>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3" y="3200400"/>
            <a:ext cx="4224337" cy="36314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41859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24" y="12468"/>
            <a:ext cx="9127375" cy="1282931"/>
          </a:xfrm>
        </p:spPr>
        <p:txBody>
          <a:bodyPr>
            <a:normAutofit fontScale="90000"/>
          </a:bodyPr>
          <a:lstStyle/>
          <a:p>
            <a:pPr algn="ctr"/>
            <a:r>
              <a:rPr lang="en-US" dirty="0" smtClean="0"/>
              <a:t>Example: Concentration of CO</a:t>
            </a:r>
            <a:r>
              <a:rPr lang="en-US" baseline="-25000" dirty="0" smtClean="0"/>
              <a:t>2</a:t>
            </a:r>
            <a:r>
              <a:rPr lang="en-US" dirty="0" smtClean="0"/>
              <a:t> in the Atmosphere</a:t>
            </a:r>
            <a:endParaRPr lang="en-US" dirty="0"/>
          </a:p>
        </p:txBody>
      </p:sp>
      <p:sp>
        <p:nvSpPr>
          <p:cNvPr id="3" name="Content Placeholder 2"/>
          <p:cNvSpPr>
            <a:spLocks noGrp="1"/>
          </p:cNvSpPr>
          <p:nvPr>
            <p:ph sz="quarter" idx="1"/>
          </p:nvPr>
        </p:nvSpPr>
        <p:spPr>
          <a:xfrm>
            <a:off x="0" y="1676400"/>
            <a:ext cx="9144000" cy="5181600"/>
          </a:xfrm>
        </p:spPr>
        <p:txBody>
          <a:bodyPr>
            <a:normAutofit/>
          </a:bodyPr>
          <a:lstStyle/>
          <a:p>
            <a:pPr marL="0" indent="0">
              <a:buNone/>
            </a:pPr>
            <a:r>
              <a:rPr lang="en-US" dirty="0" smtClean="0"/>
              <a:t>d</a:t>
            </a:r>
            <a:r>
              <a:rPr lang="en-US" dirty="0"/>
              <a:t>)  Use technology to calculate the regression line to predict CO</a:t>
            </a:r>
            <a:r>
              <a:rPr lang="en-US" baseline="-25000" dirty="0"/>
              <a:t>2 </a:t>
            </a:r>
            <a:r>
              <a:rPr lang="en-US" dirty="0"/>
              <a:t>level</a:t>
            </a:r>
            <a:r>
              <a:rPr lang="en-US" baseline="-25000" dirty="0"/>
              <a:t> </a:t>
            </a:r>
            <a:r>
              <a:rPr lang="en-US" dirty="0"/>
              <a:t>from year.</a:t>
            </a:r>
          </a:p>
          <a:p>
            <a:pPr marL="0" indent="0">
              <a:buNone/>
            </a:pPr>
            <a:endParaRPr lang="en-US" dirty="0" smtClean="0"/>
          </a:p>
          <a:p>
            <a:pPr marL="0" indent="0">
              <a:buNone/>
            </a:pPr>
            <a:endParaRPr lang="en-US" dirty="0"/>
          </a:p>
        </p:txBody>
      </p:sp>
      <p:pic>
        <p:nvPicPr>
          <p:cNvPr id="14347"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81" y="2703354"/>
            <a:ext cx="4581525" cy="33373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48"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2514599"/>
            <a:ext cx="3911088" cy="33764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79692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24" y="12468"/>
            <a:ext cx="9127375" cy="1282931"/>
          </a:xfrm>
        </p:spPr>
        <p:txBody>
          <a:bodyPr>
            <a:normAutofit fontScale="90000"/>
          </a:bodyPr>
          <a:lstStyle/>
          <a:p>
            <a:pPr algn="ctr"/>
            <a:r>
              <a:rPr lang="en-US" dirty="0" smtClean="0"/>
              <a:t>Example: Concentration of CO</a:t>
            </a:r>
            <a:r>
              <a:rPr lang="en-US" baseline="-25000" dirty="0" smtClean="0"/>
              <a:t>2</a:t>
            </a:r>
            <a:r>
              <a:rPr lang="en-US" dirty="0" smtClean="0"/>
              <a:t> in the Atmosphere</a:t>
            </a:r>
            <a:endParaRPr lang="en-US" dirty="0"/>
          </a:p>
        </p:txBody>
      </p:sp>
      <p:sp>
        <p:nvSpPr>
          <p:cNvPr id="3" name="Content Placeholder 2"/>
          <p:cNvSpPr>
            <a:spLocks noGrp="1"/>
          </p:cNvSpPr>
          <p:nvPr>
            <p:ph sz="quarter" idx="1"/>
          </p:nvPr>
        </p:nvSpPr>
        <p:spPr>
          <a:xfrm>
            <a:off x="-6927" y="1676400"/>
            <a:ext cx="9144000" cy="5181600"/>
          </a:xfrm>
        </p:spPr>
        <p:txBody>
          <a:bodyPr>
            <a:normAutofit/>
          </a:bodyPr>
          <a:lstStyle/>
          <a:p>
            <a:pPr marL="0" indent="0">
              <a:buNone/>
            </a:pPr>
            <a:r>
              <a:rPr lang="en-US" dirty="0" smtClean="0"/>
              <a:t>e) Interpret the slope of the regression line, in terms of carbon dioxide concentrations.</a:t>
            </a:r>
          </a:p>
          <a:p>
            <a:pPr marL="0" indent="0">
              <a:buNone/>
            </a:pPr>
            <a:endParaRPr lang="en-US" dirty="0"/>
          </a:p>
          <a:p>
            <a:pPr marL="0" indent="0">
              <a:buNone/>
            </a:pPr>
            <a:endParaRPr lang="en-US" dirty="0" smtClean="0"/>
          </a:p>
          <a:p>
            <a:pPr marL="0" indent="0">
              <a:buNone/>
            </a:pPr>
            <a:endParaRPr lang="en-US" dirty="0" smtClean="0"/>
          </a:p>
        </p:txBody>
      </p:sp>
      <mc:AlternateContent xmlns:mc="http://schemas.openxmlformats.org/markup-compatibility/2006" xmlns:a14="http://schemas.microsoft.com/office/drawing/2010/main">
        <mc:Choice Requires="a14">
          <p:sp>
            <p:nvSpPr>
              <p:cNvPr id="4" name="Content Placeholder 2"/>
              <p:cNvSpPr txBox="1">
                <a:spLocks/>
              </p:cNvSpPr>
              <p:nvPr/>
            </p:nvSpPr>
            <p:spPr>
              <a:xfrm>
                <a:off x="0" y="2590800"/>
                <a:ext cx="8844116" cy="1143000"/>
              </a:xfrm>
              <a:prstGeom prst="rect">
                <a:avLst/>
              </a:prstGeom>
            </p:spPr>
            <p:txBody>
              <a:bodyPr/>
              <a:lstStyle>
                <a:lvl1pPr marL="274320" indent="-274320" algn="l" rtl="0" eaLnBrk="1" latinLnBrk="0" hangingPunct="1">
                  <a:spcBef>
                    <a:spcPts val="0"/>
                  </a:spcBef>
                  <a:spcAft>
                    <a:spcPts val="1800"/>
                  </a:spcAft>
                  <a:buClr>
                    <a:schemeClr val="accent1"/>
                  </a:buClr>
                  <a:buSzPct val="85000"/>
                  <a:buFont typeface="Wingdings 2"/>
                  <a:buChar char=""/>
                  <a:defRPr kumimoji="0" sz="3200" kern="1200">
                    <a:solidFill>
                      <a:schemeClr val="tx1"/>
                    </a:solidFill>
                    <a:latin typeface="+mn-lt"/>
                    <a:ea typeface="+mn-ea"/>
                    <a:cs typeface="+mn-cs"/>
                  </a:defRPr>
                </a:lvl1pPr>
                <a:lvl2pPr marL="548640" indent="-274320" algn="l" rtl="0" eaLnBrk="1" latinLnBrk="0" hangingPunct="1">
                  <a:spcBef>
                    <a:spcPts val="0"/>
                  </a:spcBef>
                  <a:spcAft>
                    <a:spcPts val="0"/>
                  </a:spcAft>
                  <a:buClr>
                    <a:schemeClr val="accent2"/>
                  </a:buClr>
                  <a:buSzPct val="70000"/>
                  <a:buFont typeface="Wingdings"/>
                  <a:buChar char=""/>
                  <a:defRPr kumimoji="0" sz="2800" kern="1200">
                    <a:solidFill>
                      <a:schemeClr val="tx1"/>
                    </a:solidFill>
                    <a:latin typeface="+mn-lt"/>
                    <a:ea typeface="+mn-ea"/>
                    <a:cs typeface="+mn-cs"/>
                  </a:defRPr>
                </a:lvl2pPr>
                <a:lvl3pPr marL="822960" indent="-228600" algn="l" rtl="0" eaLnBrk="1" latinLnBrk="0" hangingPunct="1">
                  <a:spcBef>
                    <a:spcPts val="0"/>
                  </a:spcBef>
                  <a:spcAft>
                    <a:spcPts val="0"/>
                  </a:spcAft>
                  <a:buClr>
                    <a:schemeClr val="accent3"/>
                  </a:buClr>
                  <a:buSzPct val="75000"/>
                  <a:buFont typeface="Wingdings 2"/>
                  <a:buChar char=""/>
                  <a:defRPr kumimoji="0" sz="2400" kern="1200">
                    <a:solidFill>
                      <a:schemeClr val="tx1"/>
                    </a:solidFill>
                    <a:latin typeface="+mn-lt"/>
                    <a:ea typeface="+mn-ea"/>
                    <a:cs typeface="+mn-cs"/>
                  </a:defRPr>
                </a:lvl3pPr>
                <a:lvl4pPr marL="1097280" indent="-228600" algn="l" rtl="0" eaLnBrk="1" latinLnBrk="0" hangingPunct="1">
                  <a:spcBef>
                    <a:spcPts val="0"/>
                  </a:spcBef>
                  <a:spcAft>
                    <a:spcPts val="0"/>
                  </a:spcAft>
                  <a:buClr>
                    <a:schemeClr val="accent4"/>
                  </a:buClr>
                  <a:buSzPct val="70000"/>
                  <a:buFont typeface="Wingdings"/>
                  <a:buChar char=""/>
                  <a:defRPr kumimoji="0" sz="2000" kern="1200">
                    <a:solidFill>
                      <a:schemeClr val="tx1"/>
                    </a:solidFill>
                    <a:latin typeface="+mn-lt"/>
                    <a:ea typeface="+mn-ea"/>
                    <a:cs typeface="+mn-cs"/>
                  </a:defRPr>
                </a:lvl4pPr>
                <a:lvl5pPr marL="1371600" indent="-228600" algn="l" rtl="0" eaLnBrk="1" latinLnBrk="0" hangingPunct="1">
                  <a:spcBef>
                    <a:spcPts val="0"/>
                  </a:spcBef>
                  <a:spcAft>
                    <a:spcPts val="2400"/>
                  </a:spcAft>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acc>
                        <m:accPr>
                          <m:chr m:val="̂"/>
                          <m:ctrlPr>
                            <a:rPr lang="en-US" sz="4000" i="1" smtClean="0">
                              <a:latin typeface="Cambria Math"/>
                            </a:rPr>
                          </m:ctrlPr>
                        </m:accPr>
                        <m:e>
                          <m:r>
                            <a:rPr lang="en-US" sz="4000" b="0" i="1" smtClean="0">
                              <a:latin typeface="Cambria Math"/>
                            </a:rPr>
                            <m:t>𝐶𝑂</m:t>
                          </m:r>
                          <m:r>
                            <a:rPr lang="en-US" sz="4000" b="0" i="1" baseline="-25000" smtClean="0">
                              <a:latin typeface="Cambria Math"/>
                            </a:rPr>
                            <m:t>2 </m:t>
                          </m:r>
                          <m:r>
                            <a:rPr lang="en-US" sz="4000" b="0" i="1" smtClean="0">
                              <a:latin typeface="Cambria Math"/>
                            </a:rPr>
                            <m:t>𝑙𝑒𝑣𝑒𝑙</m:t>
                          </m:r>
                        </m:e>
                      </m:acc>
                      <m:r>
                        <a:rPr lang="en-US" sz="4000" i="1" smtClean="0">
                          <a:latin typeface="Cambria Math"/>
                        </a:rPr>
                        <m:t>=</m:t>
                      </m:r>
                      <m:r>
                        <m:rPr>
                          <m:nor/>
                        </m:rPr>
                        <a:rPr lang="en-US" sz="4000">
                          <a:latin typeface="Cambria Math" panose="02040503050406030204" pitchFamily="18" charset="0"/>
                          <a:ea typeface="Cambria Math" panose="02040503050406030204" pitchFamily="18" charset="0"/>
                        </a:rPr>
                        <m:t>−2571.212</m:t>
                      </m:r>
                      <m:r>
                        <a:rPr lang="en-US" sz="400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1.471</m:t>
                      </m:r>
                      <m:r>
                        <a:rPr lang="en-US" sz="4000" b="0" i="1" smtClean="0">
                          <a:latin typeface="Cambria Math"/>
                        </a:rPr>
                        <m:t>∗</m:t>
                      </m:r>
                      <m:r>
                        <a:rPr lang="en-US" sz="4000" b="0" i="1" smtClean="0">
                          <a:latin typeface="Cambria Math"/>
                        </a:rPr>
                        <m:t>𝑌𝑒𝑎𝑟</m:t>
                      </m:r>
                    </m:oMath>
                  </m:oMathPara>
                </a14:m>
                <a:endParaRPr lang="en-US"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0" y="2590800"/>
                <a:ext cx="8844116" cy="1143000"/>
              </a:xfrm>
              <a:prstGeom prst="rect">
                <a:avLst/>
              </a:prstGeom>
              <a:blipFill rotWithShape="1">
                <a:blip r:embed="rId3"/>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170987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24" y="12468"/>
            <a:ext cx="9127375" cy="1282931"/>
          </a:xfrm>
        </p:spPr>
        <p:txBody>
          <a:bodyPr>
            <a:normAutofit fontScale="90000"/>
          </a:bodyPr>
          <a:lstStyle/>
          <a:p>
            <a:pPr algn="ctr"/>
            <a:r>
              <a:rPr lang="en-US" dirty="0" smtClean="0"/>
              <a:t>Example: Concentration of CO</a:t>
            </a:r>
            <a:r>
              <a:rPr lang="en-US" baseline="-25000" dirty="0" smtClean="0"/>
              <a:t>2</a:t>
            </a:r>
            <a:r>
              <a:rPr lang="en-US" dirty="0" smtClean="0"/>
              <a:t> in the Atmosphere</a:t>
            </a:r>
            <a:endParaRPr lang="en-US" dirty="0"/>
          </a:p>
        </p:txBody>
      </p:sp>
      <p:sp>
        <p:nvSpPr>
          <p:cNvPr id="3" name="Content Placeholder 2"/>
          <p:cNvSpPr>
            <a:spLocks noGrp="1"/>
          </p:cNvSpPr>
          <p:nvPr>
            <p:ph sz="quarter" idx="1"/>
          </p:nvPr>
        </p:nvSpPr>
        <p:spPr>
          <a:xfrm>
            <a:off x="-6927" y="1676400"/>
            <a:ext cx="9144000" cy="5181600"/>
          </a:xfrm>
        </p:spPr>
        <p:txBody>
          <a:bodyPr>
            <a:normAutofit/>
          </a:bodyPr>
          <a:lstStyle/>
          <a:p>
            <a:pPr marL="0" indent="0">
              <a:buNone/>
            </a:pPr>
            <a:r>
              <a:rPr lang="en-US" dirty="0" smtClean="0"/>
              <a:t>f) What is the intercept of the line? Does it make sense in context? Why or why not?</a:t>
            </a:r>
          </a:p>
          <a:p>
            <a:pPr marL="0" indent="0">
              <a:buNone/>
            </a:pPr>
            <a:endParaRPr lang="en-US" sz="2800" b="1" dirty="0">
              <a:solidFill>
                <a:schemeClr val="accent1">
                  <a:lumMod val="50000"/>
                </a:schemeClr>
              </a:solidFill>
              <a:latin typeface="Segoe Print" pitchFamily="2" charset="0"/>
            </a:endParaRPr>
          </a:p>
          <a:p>
            <a:pPr marL="0" indent="0">
              <a:buNone/>
            </a:pPr>
            <a:endParaRPr lang="en-US" sz="2800" dirty="0">
              <a:solidFill>
                <a:schemeClr val="accent1">
                  <a:lumMod val="50000"/>
                </a:schemeClr>
              </a:solidFill>
              <a:latin typeface="Segoe Print" pitchFamily="2" charset="0"/>
            </a:endParaRPr>
          </a:p>
        </p:txBody>
      </p:sp>
    </p:spTree>
    <p:custDataLst>
      <p:tags r:id="rId1"/>
    </p:custDataLst>
    <p:extLst>
      <p:ext uri="{BB962C8B-B14F-4D97-AF65-F5344CB8AC3E}">
        <p14:creationId xmlns:p14="http://schemas.microsoft.com/office/powerpoint/2010/main" val="94124268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24" y="12468"/>
            <a:ext cx="9127375" cy="1282931"/>
          </a:xfrm>
        </p:spPr>
        <p:txBody>
          <a:bodyPr>
            <a:normAutofit fontScale="90000"/>
          </a:bodyPr>
          <a:lstStyle/>
          <a:p>
            <a:pPr algn="ctr"/>
            <a:r>
              <a:rPr lang="en-US" dirty="0" smtClean="0"/>
              <a:t>Example: Concentration of CO</a:t>
            </a:r>
            <a:r>
              <a:rPr lang="en-US" baseline="-25000" dirty="0" smtClean="0"/>
              <a:t>2</a:t>
            </a:r>
            <a:r>
              <a:rPr lang="en-US" dirty="0" smtClean="0"/>
              <a:t> in the Atmosphere</a:t>
            </a:r>
            <a:endParaRPr lang="en-US" dirty="0"/>
          </a:p>
        </p:txBody>
      </p:sp>
      <p:sp>
        <p:nvSpPr>
          <p:cNvPr id="3" name="Content Placeholder 2"/>
          <p:cNvSpPr>
            <a:spLocks noGrp="1"/>
          </p:cNvSpPr>
          <p:nvPr>
            <p:ph sz="quarter" idx="1"/>
          </p:nvPr>
        </p:nvSpPr>
        <p:spPr>
          <a:xfrm>
            <a:off x="-6927" y="1676400"/>
            <a:ext cx="9144000" cy="5181600"/>
          </a:xfrm>
        </p:spPr>
        <p:txBody>
          <a:bodyPr>
            <a:normAutofit/>
          </a:bodyPr>
          <a:lstStyle/>
          <a:p>
            <a:pPr marL="0" indent="0">
              <a:buNone/>
            </a:pPr>
            <a:r>
              <a:rPr lang="en-US" dirty="0" smtClean="0"/>
              <a:t>g) Use the regression line to predict the </a:t>
            </a:r>
            <a:r>
              <a:rPr lang="en-US" dirty="0"/>
              <a:t>CO</a:t>
            </a:r>
            <a:r>
              <a:rPr lang="en-US" baseline="-25000" dirty="0"/>
              <a:t>2</a:t>
            </a:r>
            <a:r>
              <a:rPr lang="en-US" dirty="0" smtClean="0"/>
              <a:t> level in 2020.</a:t>
            </a:r>
          </a:p>
          <a:p>
            <a:pPr marL="0" indent="0">
              <a:buNone/>
            </a:pPr>
            <a:endParaRPr lang="en-US" dirty="0"/>
          </a:p>
          <a:p>
            <a:pPr marL="0" indent="0">
              <a:buNone/>
            </a:pPr>
            <a:endParaRPr lang="en-US" dirty="0" smtClean="0"/>
          </a:p>
          <a:p>
            <a:pPr marL="0" indent="0">
              <a:buNone/>
            </a:pPr>
            <a:endParaRPr lang="en-US" dirty="0" smtClean="0"/>
          </a:p>
          <a:p>
            <a:pPr marL="0" indent="0">
              <a:buNone/>
            </a:pPr>
            <a:endParaRPr lang="en-US" dirty="0"/>
          </a:p>
        </p:txBody>
      </p:sp>
    </p:spTree>
    <p:custDataLst>
      <p:tags r:id="rId1"/>
    </p:custDataLst>
    <p:extLst>
      <p:ext uri="{BB962C8B-B14F-4D97-AF65-F5344CB8AC3E}">
        <p14:creationId xmlns:p14="http://schemas.microsoft.com/office/powerpoint/2010/main" val="180279832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24" y="12468"/>
            <a:ext cx="9127375" cy="1282931"/>
          </a:xfrm>
        </p:spPr>
        <p:txBody>
          <a:bodyPr>
            <a:normAutofit fontScale="90000"/>
          </a:bodyPr>
          <a:lstStyle/>
          <a:p>
            <a:pPr algn="ctr"/>
            <a:r>
              <a:rPr lang="en-US" dirty="0" smtClean="0"/>
              <a:t>Example: Concentration of CO</a:t>
            </a:r>
            <a:r>
              <a:rPr lang="en-US" baseline="-25000" dirty="0" smtClean="0"/>
              <a:t>2</a:t>
            </a:r>
            <a:r>
              <a:rPr lang="en-US" dirty="0" smtClean="0"/>
              <a:t> in the Atmosphere</a:t>
            </a:r>
            <a:endParaRPr lang="en-US" dirty="0"/>
          </a:p>
        </p:txBody>
      </p:sp>
      <p:sp>
        <p:nvSpPr>
          <p:cNvPr id="3" name="Content Placeholder 2"/>
          <p:cNvSpPr>
            <a:spLocks noGrp="1"/>
          </p:cNvSpPr>
          <p:nvPr>
            <p:ph sz="quarter" idx="1"/>
          </p:nvPr>
        </p:nvSpPr>
        <p:spPr>
          <a:xfrm>
            <a:off x="-6927" y="1676400"/>
            <a:ext cx="9144000" cy="5181600"/>
          </a:xfrm>
        </p:spPr>
        <p:txBody>
          <a:bodyPr>
            <a:normAutofit/>
          </a:bodyPr>
          <a:lstStyle/>
          <a:p>
            <a:pPr marL="0" indent="0">
              <a:buNone/>
            </a:pPr>
            <a:r>
              <a:rPr lang="en-US" dirty="0" smtClean="0"/>
              <a:t>h</a:t>
            </a:r>
            <a:r>
              <a:rPr lang="en-US" dirty="0"/>
              <a:t>) Find the residual for 2010.</a:t>
            </a:r>
          </a:p>
          <a:p>
            <a:pPr marL="0" indent="0">
              <a:buNone/>
            </a:pPr>
            <a:endParaRPr lang="en-US" dirty="0"/>
          </a:p>
        </p:txBody>
      </p:sp>
    </p:spTree>
    <p:custDataLst>
      <p:tags r:id="rId1"/>
    </p:custDataLst>
    <p:extLst>
      <p:ext uri="{BB962C8B-B14F-4D97-AF65-F5344CB8AC3E}">
        <p14:creationId xmlns:p14="http://schemas.microsoft.com/office/powerpoint/2010/main" val="230063152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304800"/>
            <a:ext cx="8991600" cy="685800"/>
          </a:xfrm>
        </p:spPr>
        <p:txBody>
          <a:bodyPr>
            <a:normAutofit fontScale="90000"/>
          </a:bodyPr>
          <a:lstStyle/>
          <a:p>
            <a:r>
              <a:rPr lang="en-US" b="1" dirty="0" smtClean="0"/>
              <a:t>Summary: Least Squares Regression</a:t>
            </a:r>
            <a:endParaRPr lang="en-US" b="1" dirty="0"/>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0" y="1524000"/>
                <a:ext cx="9144000" cy="5334000"/>
              </a:xfrm>
            </p:spPr>
            <p:txBody>
              <a:bodyPr>
                <a:noAutofit/>
              </a:bodyPr>
              <a:lstStyle/>
              <a:p>
                <a:pPr marL="514350" indent="-514350">
                  <a:spcBef>
                    <a:spcPts val="0"/>
                  </a:spcBef>
                  <a:spcAft>
                    <a:spcPts val="0"/>
                  </a:spcAft>
                </a:pPr>
                <a:r>
                  <a:rPr lang="en-US" sz="3000" dirty="0" smtClean="0"/>
                  <a:t>For a quantitative response </a:t>
                </a:r>
                <a:r>
                  <a:rPr lang="en-US" sz="3000" i="1" dirty="0" smtClean="0"/>
                  <a:t>y</a:t>
                </a:r>
                <a:r>
                  <a:rPr lang="en-US" sz="3000" dirty="0" smtClean="0"/>
                  <a:t> and quantitative predictor </a:t>
                </a:r>
                <a:r>
                  <a:rPr lang="en-US" sz="3000" i="1" dirty="0" smtClean="0"/>
                  <a:t>x</a:t>
                </a:r>
                <a:r>
                  <a:rPr lang="en-US" sz="3000" dirty="0" smtClean="0"/>
                  <a:t>, the least squares line is </a:t>
                </a:r>
              </a:p>
              <a:p>
                <a:pPr marL="514350" indent="-514350">
                  <a:spcBef>
                    <a:spcPts val="0"/>
                  </a:spcBef>
                  <a:spcAft>
                    <a:spcPts val="1200"/>
                  </a:spcAft>
                  <a:buNone/>
                </a:pPr>
                <a:r>
                  <a:rPr lang="en-US" sz="3000" dirty="0" smtClean="0"/>
                  <a:t>	where the slope (</a:t>
                </a:r>
                <a14:m>
                  <m:oMath xmlns:m="http://schemas.openxmlformats.org/officeDocument/2006/math">
                    <m:r>
                      <a:rPr lang="en-US" sz="3000" b="0" i="1" smtClean="0">
                        <a:latin typeface="Cambria Math"/>
                      </a:rPr>
                      <m:t>𝑏</m:t>
                    </m:r>
                  </m:oMath>
                </a14:m>
                <a:r>
                  <a:rPr lang="en-US" sz="3000" dirty="0" smtClean="0"/>
                  <a:t>) and intercept (</a:t>
                </a:r>
                <a14:m>
                  <m:oMath xmlns:m="http://schemas.openxmlformats.org/officeDocument/2006/math">
                    <m:r>
                      <a:rPr lang="en-US" sz="3000" b="0" i="1" smtClean="0">
                        <a:latin typeface="Cambria Math"/>
                      </a:rPr>
                      <m:t>𝑎</m:t>
                    </m:r>
                  </m:oMath>
                </a14:m>
                <a:r>
                  <a:rPr lang="en-US" sz="3000" dirty="0" smtClean="0"/>
                  <a:t>) are chosen to minimize the sum of squared residuals. </a:t>
                </a:r>
              </a:p>
              <a:p>
                <a:pPr marL="514350" indent="-514350">
                  <a:spcAft>
                    <a:spcPts val="1200"/>
                  </a:spcAft>
                </a:pPr>
                <a:r>
                  <a:rPr lang="en-US" sz="3000" dirty="0"/>
                  <a:t>For each data case the residual is </a:t>
                </a:r>
                <a14:m>
                  <m:oMath xmlns:m="http://schemas.openxmlformats.org/officeDocument/2006/math">
                    <m:r>
                      <a:rPr lang="en-US" sz="3000">
                        <a:latin typeface="Cambria Math"/>
                      </a:rPr>
                      <m:t>𝑦</m:t>
                    </m:r>
                    <m:r>
                      <a:rPr lang="en-US" sz="3000">
                        <a:latin typeface="Cambria Math"/>
                      </a:rPr>
                      <m:t>−</m:t>
                    </m:r>
                    <m:acc>
                      <m:accPr>
                        <m:chr m:val="̂"/>
                        <m:ctrlPr>
                          <a:rPr lang="en-US" sz="3000" i="1">
                            <a:latin typeface="Cambria Math"/>
                          </a:rPr>
                        </m:ctrlPr>
                      </m:accPr>
                      <m:e>
                        <m:r>
                          <a:rPr lang="en-US" sz="3000">
                            <a:latin typeface="Cambria Math"/>
                          </a:rPr>
                          <m:t>𝑦</m:t>
                        </m:r>
                      </m:e>
                    </m:acc>
                    <m:r>
                      <a:rPr lang="en-US" sz="3000" b="0" i="0" smtClean="0">
                        <a:latin typeface="Cambria Math"/>
                      </a:rPr>
                      <m:t>.</m:t>
                    </m:r>
                  </m:oMath>
                </a14:m>
                <a:endParaRPr lang="en-US" sz="3000" dirty="0" smtClean="0"/>
              </a:p>
              <a:p>
                <a:pPr marL="514350" indent="-514350">
                  <a:spcAft>
                    <a:spcPts val="1200"/>
                  </a:spcAft>
                </a:pPr>
                <a:r>
                  <a:rPr lang="en-US" sz="3000" dirty="0" smtClean="0"/>
                  <a:t>We rely on technology to give the regression equation</a:t>
                </a:r>
              </a:p>
              <a:p>
                <a:pPr marL="514350" indent="-514350">
                  <a:spcAft>
                    <a:spcPts val="1200"/>
                  </a:spcAft>
                </a:pPr>
                <a:r>
                  <a:rPr lang="en-US" sz="3000" dirty="0" smtClean="0"/>
                  <a:t>The slope is interpreted as the change in the predicted response (y) when the explanatory variable (x) increases by one. </a:t>
                </a:r>
                <a:endParaRPr lang="en-US" sz="3000" dirty="0" smtClean="0">
                  <a:solidFill>
                    <a:schemeClr val="tx2"/>
                  </a:solidFill>
                </a:endParaRPr>
              </a:p>
              <a:p>
                <a:pPr marL="800100" lvl="2" indent="-514350">
                  <a:spcBef>
                    <a:spcPts val="0"/>
                  </a:spcBef>
                  <a:buNone/>
                </a:pPr>
                <a:endParaRPr lang="en-US" sz="3000" dirty="0" smtClean="0">
                  <a:solidFill>
                    <a:schemeClr val="tx2"/>
                  </a:solidFill>
                </a:endParaRPr>
              </a:p>
              <a:p>
                <a:pPr marL="0" indent="-514350">
                  <a:spcBef>
                    <a:spcPts val="0"/>
                  </a:spcBef>
                </a:pPr>
                <a:endParaRPr lang="en-US" sz="3000" dirty="0" smtClean="0">
                  <a:solidFill>
                    <a:schemeClr val="tx2"/>
                  </a:solidFill>
                </a:endParaRPr>
              </a:p>
              <a:p>
                <a:pPr marL="400050" lvl="1" indent="-514350">
                  <a:spcBef>
                    <a:spcPts val="0"/>
                  </a:spcBef>
                </a:pPr>
                <a:endParaRPr lang="en-US" sz="3000" dirty="0" smtClean="0">
                  <a:solidFill>
                    <a:schemeClr val="tx2"/>
                  </a:solidFill>
                </a:endParaRPr>
              </a:p>
              <a:p>
                <a:pPr marL="0" indent="-514350">
                  <a:spcBef>
                    <a:spcPts val="0"/>
                  </a:spcBef>
                  <a:buNone/>
                </a:pPr>
                <a:endParaRPr lang="en-US" sz="3000" dirty="0" smtClean="0">
                  <a:solidFill>
                    <a:schemeClr val="tx2"/>
                  </a:solidFill>
                </a:endParaRPr>
              </a:p>
              <a:p>
                <a:pPr marL="0" indent="-514350">
                  <a:spcBef>
                    <a:spcPts val="0"/>
                  </a:spcBef>
                </a:pPr>
                <a:endParaRPr lang="en-US" sz="3000" dirty="0" smtClean="0">
                  <a:solidFill>
                    <a:schemeClr val="tx2"/>
                  </a:solidFill>
                </a:endParaRPr>
              </a:p>
              <a:p>
                <a:pPr marL="0" indent="-514350">
                  <a:spcBef>
                    <a:spcPts val="0"/>
                  </a:spcBef>
                </a:pPr>
                <a:endParaRPr lang="en-US" sz="3000" dirty="0" smtClean="0">
                  <a:solidFill>
                    <a:schemeClr val="tx2"/>
                  </a:solidFill>
                </a:endParaRPr>
              </a:p>
              <a:p>
                <a:pPr marL="0" indent="-514350">
                  <a:spcBef>
                    <a:spcPts val="0"/>
                  </a:spcBef>
                </a:pPr>
                <a:endParaRPr lang="en-US" sz="3000" dirty="0" smtClean="0">
                  <a:solidFill>
                    <a:schemeClr val="tx2"/>
                  </a:solidFill>
                </a:endParaRPr>
              </a:p>
              <a:p>
                <a:pPr marL="0" indent="-514350">
                  <a:spcBef>
                    <a:spcPts val="0"/>
                  </a:spcBef>
                </a:pPr>
                <a:endParaRPr lang="en-US" sz="3000" dirty="0" smtClean="0">
                  <a:solidFill>
                    <a:schemeClr val="tx2"/>
                  </a:solidFill>
                </a:endParaRPr>
              </a:p>
              <a:p>
                <a:pPr marL="0" indent="-514350">
                  <a:spcBef>
                    <a:spcPts val="0"/>
                  </a:spcBef>
                  <a:buNone/>
                </a:pPr>
                <a:endParaRPr lang="en-US" sz="3000" dirty="0" smtClean="0">
                  <a:solidFill>
                    <a:schemeClr val="tx2"/>
                  </a:solidFill>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0" y="1524000"/>
                <a:ext cx="9144000" cy="5334000"/>
              </a:xfrm>
              <a:blipFill rotWithShape="1">
                <a:blip r:embed="rId3"/>
                <a:stretch>
                  <a:fillRect l="-400" t="-1371" r="-7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019800" y="2020478"/>
                <a:ext cx="2313069" cy="538609"/>
              </a:xfrm>
              <a:prstGeom prst="rect">
                <a:avLst/>
              </a:prstGeom>
            </p:spPr>
            <p:txBody>
              <a:bodyPr wrap="none">
                <a:spAutoFit/>
              </a:bodyPr>
              <a:lstStyle/>
              <a:p>
                <a:pPr marL="514350" indent="-514350">
                  <a:spcBef>
                    <a:spcPts val="0"/>
                  </a:spcBef>
                  <a:spcAft>
                    <a:spcPts val="600"/>
                  </a:spcAft>
                  <a:buNone/>
                </a:pPr>
                <a14:m>
                  <m:oMathPara xmlns:m="http://schemas.openxmlformats.org/officeDocument/2006/math">
                    <m:oMathParaPr>
                      <m:jc m:val="centerGroup"/>
                    </m:oMathParaPr>
                    <m:oMath xmlns:m="http://schemas.openxmlformats.org/officeDocument/2006/math">
                      <m:acc>
                        <m:accPr>
                          <m:chr m:val="̂"/>
                          <m:ctrlPr>
                            <a:rPr lang="en-US" sz="2400" i="1" smtClean="0">
                              <a:latin typeface="Cambria Math"/>
                            </a:rPr>
                          </m:ctrlPr>
                        </m:accPr>
                        <m:e>
                          <m:r>
                            <a:rPr lang="en-US" sz="2400" i="1">
                              <a:latin typeface="Cambria Math"/>
                            </a:rPr>
                            <m:t>𝑦</m:t>
                          </m:r>
                        </m:e>
                      </m:acc>
                      <m:r>
                        <a:rPr lang="en-US" sz="2400" i="1">
                          <a:latin typeface="Cambria Math"/>
                        </a:rPr>
                        <m:t>=</m:t>
                      </m:r>
                      <m:r>
                        <a:rPr lang="en-US" sz="2400" i="1">
                          <a:latin typeface="Cambria Math"/>
                        </a:rPr>
                        <m:t>𝑎</m:t>
                      </m:r>
                      <m:r>
                        <a:rPr lang="en-US" sz="2400" i="1">
                          <a:latin typeface="Cambria Math"/>
                        </a:rPr>
                        <m:t>+</m:t>
                      </m:r>
                      <m:r>
                        <a:rPr lang="en-US" sz="2400" i="1">
                          <a:latin typeface="Cambria Math"/>
                        </a:rPr>
                        <m:t>𝑏𝑥</m:t>
                      </m:r>
                      <m:r>
                        <a:rPr lang="en-US" sz="2400" b="0" i="1" smtClean="0">
                          <a:latin typeface="Cambria Math"/>
                        </a:rPr>
                        <m:t>,</m:t>
                      </m:r>
                    </m:oMath>
                  </m:oMathPara>
                </a14:m>
                <a:endParaRPr lang="en-US" sz="2400" dirty="0"/>
              </a:p>
            </p:txBody>
          </p:sp>
        </mc:Choice>
        <mc:Fallback xmlns="">
          <p:sp>
            <p:nvSpPr>
              <p:cNvPr id="5" name="Rectangle 4"/>
              <p:cNvSpPr>
                <a:spLocks noRot="1" noChangeAspect="1" noMove="1" noResize="1" noEditPoints="1" noAdjustHandles="1" noChangeArrowheads="1" noChangeShapeType="1" noTextEdit="1"/>
              </p:cNvSpPr>
              <p:nvPr/>
            </p:nvSpPr>
            <p:spPr>
              <a:xfrm>
                <a:off x="6019800" y="2020478"/>
                <a:ext cx="2313069" cy="538609"/>
              </a:xfrm>
              <a:prstGeom prst="rect">
                <a:avLst/>
              </a:prstGeom>
              <a:blipFill rotWithShape="1">
                <a:blip r:embed="rId4"/>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74278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304800"/>
            <a:ext cx="8991600" cy="685800"/>
          </a:xfrm>
        </p:spPr>
        <p:txBody>
          <a:bodyPr>
            <a:normAutofit fontScale="90000"/>
          </a:bodyPr>
          <a:lstStyle/>
          <a:p>
            <a:r>
              <a:rPr lang="en-US" b="1" dirty="0" smtClean="0"/>
              <a:t>Summary: Regression </a:t>
            </a:r>
            <a:r>
              <a:rPr lang="en-US" dirty="0"/>
              <a:t>Cautions</a:t>
            </a:r>
            <a:endParaRPr lang="en-US" b="1" dirty="0"/>
          </a:p>
        </p:txBody>
      </p:sp>
      <p:sp>
        <p:nvSpPr>
          <p:cNvPr id="2" name="Content Placeholder 1"/>
          <p:cNvSpPr>
            <a:spLocks noGrp="1"/>
          </p:cNvSpPr>
          <p:nvPr>
            <p:ph idx="1"/>
          </p:nvPr>
        </p:nvSpPr>
        <p:spPr>
          <a:xfrm>
            <a:off x="10212" y="1513788"/>
            <a:ext cx="9144000" cy="5334000"/>
          </a:xfrm>
        </p:spPr>
        <p:txBody>
          <a:bodyPr>
            <a:noAutofit/>
          </a:bodyPr>
          <a:lstStyle/>
          <a:p>
            <a:pPr marL="731520" lvl="1" indent="-457200">
              <a:spcAft>
                <a:spcPts val="1200"/>
              </a:spcAft>
            </a:pPr>
            <a:r>
              <a:rPr lang="en-US" sz="2600" dirty="0"/>
              <a:t>Don’t extrapolate far beyond where the model is built.</a:t>
            </a:r>
          </a:p>
          <a:p>
            <a:pPr marL="731520" lvl="1" indent="-457200">
              <a:spcAft>
                <a:spcPts val="1200"/>
              </a:spcAft>
            </a:pPr>
            <a:r>
              <a:rPr lang="en-US" sz="2600" dirty="0" smtClean="0"/>
              <a:t>Just because technology outputs an equation for a least squares line, it does </a:t>
            </a:r>
            <a:r>
              <a:rPr lang="en-US" sz="2600" i="1" dirty="0" smtClean="0"/>
              <a:t>not</a:t>
            </a:r>
            <a:r>
              <a:rPr lang="en-US" sz="2600" dirty="0" smtClean="0"/>
              <a:t> mean there is a linear trend in the data.  ALWAYS </a:t>
            </a:r>
            <a:r>
              <a:rPr lang="en-US" sz="2600" dirty="0"/>
              <a:t>PLOT YOUR </a:t>
            </a:r>
            <a:r>
              <a:rPr lang="en-US" sz="2600" dirty="0" smtClean="0"/>
              <a:t>DATA!</a:t>
            </a:r>
          </a:p>
          <a:p>
            <a:pPr marL="731520" lvl="1" indent="-457200">
              <a:spcAft>
                <a:spcPts val="1200"/>
              </a:spcAft>
            </a:pPr>
            <a:r>
              <a:rPr lang="en-US" sz="2600" dirty="0" smtClean="0"/>
              <a:t>Watch out for outliers that don’t fit the pattern; they can greatly influence the line.</a:t>
            </a:r>
          </a:p>
          <a:p>
            <a:pPr marL="731520" lvl="1" indent="-457200">
              <a:spcAft>
                <a:spcPts val="1200"/>
              </a:spcAft>
            </a:pPr>
            <a:r>
              <a:rPr lang="en-US" sz="2600" dirty="0" smtClean="0"/>
              <a:t>It matters </a:t>
            </a:r>
            <a:r>
              <a:rPr lang="en-US" sz="2600" dirty="0"/>
              <a:t>which is the explanatory variable and which is the </a:t>
            </a:r>
            <a:r>
              <a:rPr lang="en-US" sz="2600" dirty="0" smtClean="0"/>
              <a:t>response. You will get a different regression line if you switch your x and y values!</a:t>
            </a:r>
          </a:p>
          <a:p>
            <a:pPr marL="731520" lvl="1" indent="-457200">
              <a:spcAft>
                <a:spcPts val="1200"/>
              </a:spcAft>
            </a:pPr>
            <a:r>
              <a:rPr lang="en-US" sz="2600" dirty="0" smtClean="0"/>
              <a:t>Even </a:t>
            </a:r>
            <a:r>
              <a:rPr lang="en-US" sz="2600" dirty="0"/>
              <a:t>a strong linear fit does not (necessarily) imply a cause/effect relationship</a:t>
            </a:r>
            <a:r>
              <a:rPr lang="en-US" sz="2600" dirty="0" smtClean="0"/>
              <a:t>.</a:t>
            </a:r>
            <a:endParaRPr lang="en-US" sz="2600" dirty="0" smtClean="0">
              <a:solidFill>
                <a:schemeClr val="tx2"/>
              </a:solidFill>
            </a:endParaRPr>
          </a:p>
        </p:txBody>
      </p:sp>
    </p:spTree>
    <p:custDataLst>
      <p:tags r:id="rId1"/>
    </p:custDataLst>
    <p:extLst>
      <p:ext uri="{BB962C8B-B14F-4D97-AF65-F5344CB8AC3E}">
        <p14:creationId xmlns:p14="http://schemas.microsoft.com/office/powerpoint/2010/main" val="367758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p:bldLst>
  </p:timing>
</p:sld>
</file>

<file path=ppt/tags/tag1.xml><?xml version="1.0" encoding="utf-8"?>
<p:tagLst xmlns:a="http://schemas.openxmlformats.org/drawingml/2006/main" xmlns:r="http://schemas.openxmlformats.org/officeDocument/2006/relationships" xmlns:p="http://schemas.openxmlformats.org/presentationml/2006/main">
  <p:tag name="SHOWBARVISIBLE" val="True"/>
  <p:tag name="CSVFORMAT" val="0"/>
  <p:tag name="COUNTDOWNSTYLE" val="-1"/>
  <p:tag name="COUNTDOWNSECONDS" val="10"/>
  <p:tag name="BACKUPSESSIONS" val="True"/>
  <p:tag name="REVIEWONLY" val="False"/>
  <p:tag name="RACEENDPOINTS" val="100"/>
  <p:tag name="PARTICIPANTSINLEADERBOARD" val="5"/>
  <p:tag name="BUBBLESIZEVISIBLE" val="True"/>
  <p:tag name="CUSTOMGRIDBACKCOLOR" val="-2830136"/>
  <p:tag name="CUSTOMCELLBACKCOLOR3" val="-268652"/>
  <p:tag name="DISPLAYDEVICENUMBER" val="True"/>
  <p:tag name="AUTOSIZEGRID" val="True"/>
  <p:tag name="POLLINGCYCLE" val="2"/>
  <p:tag name="INCLUDENONRESPONDERS" val="False"/>
  <p:tag name="CORRECTPOINTVALUE" val="100"/>
  <p:tag name="ZEROBASED" val="False"/>
  <p:tag name="FIBDISPLAYRESULTS" val="True"/>
  <p:tag name="PRRESPONSE1" val="10"/>
  <p:tag name="PRRESPONSE5" val="6"/>
  <p:tag name="PRRESPONSE9" val="2"/>
  <p:tag name="USESECONDARYMONITOR" val="True"/>
  <p:tag name="ANSWERNOWTEXT" val="Answer Now"/>
  <p:tag name="INPUTSOURCE" val="1"/>
  <p:tag name="CHARTVALUEFORMAT" val="0%"/>
  <p:tag name="STDCHART" val="1"/>
  <p:tag name="TEAMSINLEADERBOARD" val="5"/>
  <p:tag name="BUBBLEGROUPING" val="3"/>
  <p:tag name="CUSTOMCELLBACKCOLOR2" val="-13395457"/>
  <p:tag name="DISPLAYDEVICEID" val="True"/>
  <p:tag name="GRIDPOSITION" val="1"/>
  <p:tag name="RESETCHARTS" val="True"/>
  <p:tag name="INCORRECTPOINTVALUE" val="0"/>
  <p:tag name="CHARTSCALE" val="True"/>
  <p:tag name="FIBDISPLAYKEYWORDS" val="True"/>
  <p:tag name="PRRESPONSE6" val="5"/>
  <p:tag name="SHOWFLASHWARNING" val="True"/>
  <p:tag name="RESPCOUNTERSTYLE" val="-1"/>
  <p:tag name="ALLOWDUPLICATES" val="False"/>
  <p:tag name="AUTOUPDATEALIASES" val="True"/>
  <p:tag name="MAXRESPONDERS" val="5"/>
  <p:tag name="CUSTOMCELLFORECOLOR" val="-16777216"/>
  <p:tag name="DISPLAYNAME" val="True"/>
  <p:tag name="GRIDFONTSIZE" val="12"/>
  <p:tag name="INCLUDEPPT" val="True"/>
  <p:tag name="AUTOADJUSTPARTRANGE" val="True"/>
  <p:tag name="PRRESPONSE2" val="9"/>
  <p:tag name="PRRESPONSE8" val="3"/>
  <p:tag name="POWERPOINTVERSION" val="14.0"/>
  <p:tag name="RESPCOUNTERFORMAT" val="0"/>
  <p:tag name="AUTOADVANCE" val="False"/>
  <p:tag name="SKIPREMAININGRACESLIDES" val="True"/>
  <p:tag name="CUSTOMCELLBACKCOLOR1" val="-657956"/>
  <p:tag name="GRIDROTATIONINTERVAL" val="2"/>
  <p:tag name="MULTIRESPDIVISOR" val="1"/>
  <p:tag name="ADVANCEDSETTINGSVIEW" val="False"/>
  <p:tag name="PRRESPONSE4" val="7"/>
  <p:tag name="RESPTABLESTYLE" val="-1"/>
  <p:tag name="RACERSMAXDISPLAYED" val="5"/>
  <p:tag name="DEFAULTNUMTEAMS" val="5"/>
  <p:tag name="GRIDSIZE" val="{Width=800, Height=600}"/>
  <p:tag name="REALTIMEBACKUP" val="False"/>
  <p:tag name="PRRESPONSE3" val="8"/>
  <p:tag name="SAVECSVWITHSESSION" val="True"/>
  <p:tag name="BACKUPMAINTENANCE" val="7"/>
  <p:tag name="BUBBLEVALUEFORMAT" val="0.0"/>
  <p:tag name="CHARTCOLORS" val="0"/>
  <p:tag name="FIBNUMRESULTS" val="5"/>
  <p:tag name="ALWAYSOPENPOLL" val="False"/>
  <p:tag name="ROTATIONINTERVAL" val="2"/>
  <p:tag name="USESCHEMECOLORS" val="True"/>
  <p:tag name="REALTIMEBACKUPPATH" val="(None)"/>
  <p:tag name="BULLETTYPE" val="3"/>
  <p:tag name="BUBBLENAMEVISIBLE" val="True"/>
  <p:tag name="ALLOWUSERFEEDBACK" val="True"/>
  <p:tag name="ANSWERNOWSTYLE" val="-1"/>
  <p:tag name="GRIDOPACITY" val="90"/>
  <p:tag name="PRRESPONSE10" val="1"/>
  <p:tag name="CHARTLABELS" val="0"/>
  <p:tag name="RACEANIMATIONSPEED" val="3"/>
  <p:tag name="NUMRESPONSES" val="1"/>
  <p:tag name="CUSTOMCELLBACKCOLOR4" val="-8355712"/>
  <p:tag name="PRRESPONSE7" val="4"/>
  <p:tag name="FIBINCLUDEOTHER" val="True"/>
  <p:tag name="DELIMITERS" val="3.1"/>
  <p:tag name="TASKPANEKEY" val="6e80c436-c783-45b7-b150-614f1ee550f3"/>
  <p:tag name="INCLUDESESSION" val="True"/>
  <p:tag name="EXPANDSHOWBAR" val="False"/>
  <p:tag name="WASPOLLED" val="E1B9ACF0CCE14EA3A1F09AB91CBB8AB4"/>
  <p:tag name="TPPRESENTATIONGUID" val="949f6a16-c3de-409f-a53f-bbf8be02e53c"/>
  <p:tag name="TPVERSION" val="6"/>
  <p:tag name="TPFULLVERSION" val="7.4.0.111"/>
  <p:tag name="PPTVERSION" val="14"/>
  <p:tag name="TPOS" val="2"/>
  <p:tag name="TPLASTSAVEVERSION" val="6.2 PC"/>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 name="DEMOGRAPHIC" val="False"/>
  <p:tag name="SPEEDSCORING" val="False"/>
  <p:tag name="CORRECTPOINTVALUE" val="100"/>
  <p:tag name="INCORRECTPOINTVALUE" val="0"/>
  <p:tag name="ZEROBASED" val="False"/>
  <p:tag name="VALUEFORMAT" val="0%"/>
  <p:tag name="SLIDEGUID" val="534491E5389C473B8F2D71CE31EE7A7D"/>
  <p:tag name="SLIDEID" val="534491E5389C473B8F2D71CE31EE7A7D"/>
  <p:tag name="SLIDEORDER" val="1"/>
  <p:tag name="SLIDETYPE" val="Q"/>
  <p:tag name="QUESTIONALIAS" val="If the crickets are chirping about 180 times per minute, your best guess at the temperature is"/>
  <p:tag name="ANSWERSALIAS" val="60|smicln|70|smicln|80"/>
  <p:tag name="DELIMITERS" val="3.1"/>
  <p:tag name="RESPONSESGATHERED" val="False"/>
  <p:tag name="VALUES" val="No Value|smicln|No Value|smicln|No Value"/>
  <p:tag name="TOTALRESPONSES" val="0"/>
  <p:tag name="ANONYMOUSTEMP" val="False"/>
  <p:tag name="TYPE" val="MultiChoiceSlide"/>
  <p:tag name="TPQUESTIONXML" val="﻿&lt;?xml version=&quot;1.0&quot; encoding=&quot;utf-8&quot;?&gt;&#10;&lt;questionlist&gt;&#10;    &lt;properties&gt;&#10;        &lt;guid&gt;3AD4D9D6C8C94543ACA6831128E2E5BA&lt;/guid&gt;&#10;        &lt;description /&gt;&#10;        &lt;date&gt;6/18/2015 6:27:1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600F88DCF8B04BD591F5C9CE590FAB4E&lt;/guid&gt;&#10;            &lt;repollguid&gt;DD594F1CAC444BD6B6880C874A4A67A3&lt;/repollguid&gt;&#10;            &lt;sourceid&gt;5FBE6596D1234162B9FFD224FF33AB51&lt;/sourceid&gt;&#10;            &lt;questiontext&gt;If the crickets are chirping about 180 times per minute, your best guess at the temperature is&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AEEDEDE20B054C1F85D47258AFE6BAA5&lt;/guid&gt;&#10;                    &lt;answertext&gt;60 &lt;/answertext&gt;&#10;                    &lt;valuetype&gt;0&lt;/valuetype&gt;&#10;                &lt;/answer&gt;&#10;                &lt;answer&gt;&#10;                    &lt;guid&gt;6AEB4EAC510444B8BBE5E7CF2FABAD75&lt;/guid&gt;&#10;                    &lt;answertext&gt;70 &lt;/answertext&gt;&#10;                    &lt;valuetype&gt;0&lt;/valuetype&gt;&#10;                &lt;/answer&gt;&#10;                &lt;answer&gt;&#10;                    &lt;guid&gt;82DE51B73518435DB547AFE3B914A7EE&lt;/guid&gt;&#10;                    &lt;answertext&gt;80&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10.xml><?xml version="1.0" encoding="utf-8"?>
<p:tagLst xmlns:a="http://schemas.openxmlformats.org/drawingml/2006/main" xmlns:r="http://schemas.openxmlformats.org/officeDocument/2006/relationships" xmlns:p="http://schemas.openxmlformats.org/presentationml/2006/main">
  <p:tag name="ANSWERBULLETS" val="3"/>
  <p:tag name="OLDNUMANSWERS" val="3"/>
  <p:tag name="TEXTLENGTH" val="11"/>
  <p:tag name="FONTSIZE" val="32"/>
  <p:tag name="BULLETTYPE" val="ppBulletArabicPeriod"/>
  <p:tag name="ANSWERTEXT" val="60&#10;70&#10;80"/>
  <p:tag name="ZEROBASED" val="False"/>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Lst>
</file>

<file path=ppt/tags/tag18.xml><?xml version="1.0" encoding="utf-8"?>
<p:tagLst xmlns:a="http://schemas.openxmlformats.org/drawingml/2006/main" xmlns:r="http://schemas.openxmlformats.org/officeDocument/2006/relationships" xmlns:p="http://schemas.openxmlformats.org/presentationml/2006/main">
  <p:tag name="NOPREFERENCE" val="False"/>
</p:tagLst>
</file>

<file path=ppt/tags/tag19.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ED7D654D53B47C585E0ED8A2FD313C3&lt;/guid&gt;&#10;        &lt;description /&gt;&#10;        &lt;date&gt;6/12/2017 11:02:5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85B9E25874CB4689A40CEF85DA8C11D0&lt;/guid&gt;&#10;            &lt;repollguid&gt;F06268BD94094026AC5D76AC53008CEA&lt;/repollguid&gt;&#10;            &lt;sourceid&gt;060DB65A755545D993A629BE0B8A056F&lt;/sourceid&gt;&#10;            &lt;questiontext&gt;Which is a correct interpretation?&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3FC3DF0ECCF74FD7989A6EEB134A38B6&lt;/guid&gt;&#10;                    &lt;answertext&gt;The average subject is just over 6 feet tall.&lt;/answertext&gt;&#10;                    &lt;valuetype&gt;0&lt;/valuetype&gt;&#10;                &lt;/answer&gt;&#10;                &lt;answer&gt;&#10;                    &lt;guid&gt;71691D12A2E844D5A81CFED7AD0FFF72&lt;/guid&gt;&#10;                    &lt;answertext&gt;For every extra 6.02 inches in height, the predicted weight goes up by one pound. &lt;/answertext&gt;&#10;                    &lt;valuetype&gt;0&lt;/valuetype&gt;&#10;                &lt;/answer&gt;&#10;                &lt;answer&gt;&#10;                    &lt;guid&gt;00D1AEE37A404968A616DFDC508DE657&lt;/guid&gt;&#10;                    &lt;answertext&gt;Predicted weight increases by 6.02 pounds for every additional inch in height.&lt;/answertext&gt;&#10;                    &lt;valuetype&gt;0&lt;/valuetype&gt;&#10;                &lt;/answer&gt;&#10;                &lt;answer&gt;&#10;                    &lt;guid&gt;C4BC3D7D8F7F4865AA7E8B48BC75926E&lt;/guid&gt;&#10;                    &lt;answertext&gt;A zero inch tall person is predicted to weigh about −260.4 pounds.&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0.xml><?xml version="1.0" encoding="utf-8"?>
<p:tagLst xmlns:a="http://schemas.openxmlformats.org/drawingml/2006/main" xmlns:r="http://schemas.openxmlformats.org/officeDocument/2006/relationships" xmlns:p="http://schemas.openxmlformats.org/presentationml/2006/main">
  <p:tag name="ZEROBASED" val="False"/>
</p:tagLst>
</file>

<file path=ppt/tags/tag21.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79C80338F57D4304B644CC8AA8C87D0A&lt;/guid&gt;&#10;        &lt;description /&gt;&#10;        &lt;date&gt;6/18/2015 6:27:49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B86B515E02614C24AFC8F2634B45EA31&lt;/guid&gt;&#10;            &lt;repollguid&gt;10A0EB7C612A446689EA7531384C4CE1&lt;/repollguid&gt;&#10;            &lt;sourceid&gt;25DC9C54BD694A018599D8FEC9E90E84&lt;/sourceid&gt;&#10;            &lt;questiontext&gt;For a certain course, the regression line to predict grade G on the final exam based on number of hours studying H isOne person studied 10 hours and received a 88 on the final.  The predicted grade for this person is:&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7591A2E3E210483A91ABDF7BF4BD273B&lt;/guid&gt;&#10;                    &lt;answertext&gt;8&lt;/answertext&gt;&#10;                    &lt;valuetype&gt;0&lt;/valuetype&gt;&#10;                &lt;/answer&gt;&#10;                &lt;answer&gt;&#10;                    &lt;guid&gt;B7669D2B8AD14E4D8CA06C0893EAE0C8&lt;/guid&gt;&#10;                    &lt;answertext&gt;10&lt;/answertext&gt;&#10;                    &lt;valuetype&gt;0&lt;/valuetype&gt;&#10;                &lt;/answer&gt;&#10;                &lt;answer&gt;&#10;                    &lt;guid&gt;235739706F6F47DEAAA10D1F1853BB21&lt;/guid&gt;&#10;                    &lt;answertext&gt;50&lt;/answertext&gt;&#10;                    &lt;valuetype&gt;0&lt;/valuetype&gt;&#10;                &lt;/answer&gt;&#10;                &lt;answer&gt;&#10;                    &lt;guid&gt;190B20B4FB2F4FA786B35FE3A5EFCA68&lt;/guid&gt;&#10;                    &lt;answertext&gt;80&lt;/answertext&gt;&#10;                    &lt;valuetype&gt;0&lt;/valuetype&gt;&#10;                &lt;/answer&gt;&#10;                &lt;answer&gt;&#10;                    &lt;guid&gt;9F02247AFEA946D5B947FE2FA327EFD7&lt;/guid&gt;&#10;                    &lt;answertext&gt;88&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3.xml><?xml version="1.0" encoding="utf-8"?>
<p:tagLst xmlns:a="http://schemas.openxmlformats.org/drawingml/2006/main" xmlns:r="http://schemas.openxmlformats.org/officeDocument/2006/relationships" xmlns:p="http://schemas.openxmlformats.org/presentationml/2006/main">
  <p:tag name="ZEROBASED" val="False"/>
</p:tagLst>
</file>

<file path=ppt/tags/tag24.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AB40EEBB7F274E8F994FAD0B1BD574CB&lt;/guid&gt;&#10;        &lt;description /&gt;&#10;        &lt;date&gt;6/18/2015 6:31:40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74253AACB02E44C896DAC880B4AE091B&lt;/guid&gt;&#10;            &lt;repollguid&gt;FF897B399A0E4265B62AA0E8D74E204E&lt;/repollguid&gt;&#10;            &lt;sourceid&gt;6DA52E65DB984A01B1BD7833C37A8B47&lt;/sourceid&gt;&#10;            &lt;questiontext&gt;For a certain course, the regression line to predict grade G on the final exam based on number of hours studying H isOne person studied 10 hours and received an 88 on the final.  The residual for this person is:&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7362835A3DAC4C6FB85845547ED496C7&lt;/guid&gt;&#10;                    &lt;answertext&gt;8&lt;/answertext&gt;&#10;                    &lt;valuetype&gt;0&lt;/valuetype&gt;&#10;                &lt;/answer&gt;&#10;                &lt;answer&gt;&#10;                    &lt;guid&gt;BE4FC423D359460CB14CBB9B6E42D357&lt;/guid&gt;&#10;                    &lt;answertext&gt;10&lt;/answertext&gt;&#10;                    &lt;valuetype&gt;0&lt;/valuetype&gt;&#10;                &lt;/answer&gt;&#10;                &lt;answer&gt;&#10;                    &lt;guid&gt;4B1A1A45164341DA850203AD01EC2118&lt;/guid&gt;&#10;                    &lt;answertext&gt;50&lt;/answertext&gt;&#10;                    &lt;valuetype&gt;0&lt;/valuetype&gt;&#10;                &lt;/answer&gt;&#10;                &lt;answer&gt;&#10;                    &lt;guid&gt;3A9656BDA3DE4D24ADF5CD7CC7EDA008&lt;/guid&gt;&#10;                    &lt;answertext&gt;80&lt;/answertext&gt;&#10;                    &lt;valuetype&gt;0&lt;/valuetype&gt;&#10;                &lt;/answer&gt;&#10;                &lt;answer&gt;&#10;                    &lt;guid&gt;540322E45E154BDF9A5BE9B81CDA3B00&lt;/guid&gt;&#10;                    &lt;answertext&gt;88&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5.xml><?xml version="1.0" encoding="utf-8"?>
<p:tagLst xmlns:a="http://schemas.openxmlformats.org/drawingml/2006/main" xmlns:r="http://schemas.openxmlformats.org/officeDocument/2006/relationships" xmlns:p="http://schemas.openxmlformats.org/presentationml/2006/main">
  <p:tag name="ZEROBASED" val="False"/>
</p:tagLst>
</file>

<file path=ppt/tags/tag26.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1821859E73134E79A12744C12982C28E&lt;/guid&gt;&#10;        &lt;description /&gt;&#10;        &lt;date&gt;6/18/2015 6:34:52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480FC6DD682D4144B4987D396FEC7B59&lt;/guid&gt;&#10;            &lt;repollguid&gt;A5AEE48E582743E1B1C234718773A6E7&lt;/repollguid&gt;&#10;            &lt;sourceid&gt;CA55F6A4FB384DFFBF8EA233AE0D918F&lt;/sourceid&gt;&#10;            &lt;questiontext&gt;For a certain course, the regression line to predict grade G on the final based on number of hours studying H isWe can interpret the slope in context to mean that:&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31712A06535B414CA275ABB04B74FE6C&lt;/guid&gt;&#10;                    &lt;answertext&gt;Predicted grade will go up by 1 point for a person who studies 3 more hours.&lt;/answertext&gt;&#10;                    &lt;valuetype&gt;0&lt;/valuetype&gt;&#10;                &lt;/answer&gt;&#10;                &lt;answer&gt;&#10;                    &lt;guid&gt;7C61238D8A5A4E78A6EF6D2AAC0A0340&lt;/guid&gt;&#10;                    &lt;answertext&gt;Predicted grade will go up by 3 points for a person who studies 1 more hour.&lt;/answertext&gt;&#10;                    &lt;valuetype&gt;0&lt;/valuetype&gt;&#10;                &lt;/answer&gt;&#10;                &lt;answer&gt;&#10;                    &lt;guid&gt;CF5EB79C5B104BE18234823D2389A4B3&lt;/guid&gt;&#10;                    &lt;answertext&gt; Three more hours of studying gives 3 more points on the final&lt;/answertext&gt;&#10;                    &lt;valuetype&gt;0&lt;/valuetype&gt;&#10;                &lt;/answer&gt;&#10;                &lt;answer&gt;&#10;                    &lt;guid&gt;7F1BDB33EB1C471E8FBF6337725EEC42&lt;/guid&gt;&#10;                    &lt;answertext&gt;The rise over the run is 3/1.&lt;/answertext&gt;&#10;                    &lt;valuetype&gt;0&lt;/valuetype&gt;&#10;                &lt;/answer&gt;&#10;                &lt;answer&gt;&#10;                    &lt;guid&gt;AE877AE2B06943E18CF640126D7D9AB3&lt;/guid&gt;&#10;                    &lt;answertext&gt;The response variable goes up by 1 if the explanatory variable goes up by 3.  &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7.xml><?xml version="1.0" encoding="utf-8"?>
<p:tagLst xmlns:a="http://schemas.openxmlformats.org/drawingml/2006/main" xmlns:r="http://schemas.openxmlformats.org/officeDocument/2006/relationships" xmlns:p="http://schemas.openxmlformats.org/presentationml/2006/main">
  <p:tag name="ZEROBASED" val="False"/>
</p:tagLst>
</file>

<file path=ppt/tags/tag28.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65F383021A42426F934BE13266FAECBA&lt;/guid&gt;&#10;        &lt;description /&gt;&#10;        &lt;date&gt;6/12/2017 10:46:35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2B76AB967F2747A2857C506578D7FE90&lt;/guid&gt;&#10;            &lt;repollguid&gt;A4F6E4A804C34FEBAD3084A2AD8E18D5&lt;/repollguid&gt;&#10;            &lt;sourceid&gt;B29323A75C154C88A8E36A912E46F55A&lt;/sourceid&gt;&#10;            &lt;questiontext&gt;For a certain course, the regression line to predict grade G on the final based on number of hours studying H isWe can interpret the intercept in context to mean that:&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A44D90F74FCC40F79087E238A162F1A3&lt;/guid&gt;&#10;                    &lt;answertext&gt;If a person does not study at all, the predicted grade will be 50.&lt;/answertext&gt;&#10;                    &lt;valuetype&gt;0&lt;/valuetype&gt;&#10;                &lt;/answer&gt;&#10;                &lt;answer&gt;&#10;                    &lt;guid&gt;5874699173764906870657EC6482BF20&lt;/guid&gt;&#10;                    &lt;answertext&gt;A predicted grade of zero goes with studying 50 hours. &lt;/answertext&gt;&#10;                    &lt;valuetype&gt;0&lt;/valuetype&gt;&#10;                &lt;/answer&gt;&#10;                &lt;answer&gt;&#10;                    &lt;guid&gt;FF504391000E408A8CF69461B6954BE5&lt;/guid&gt;&#10;                    &lt;answertext&gt;The more someone studies, the higher the predicted grade.&lt;/answertext&gt;&#10;                    &lt;valuetype&gt;0&lt;/valuetype&gt;&#10;                &lt;/answer&gt;&#10;                &lt;answer&gt;&#10;                    &lt;guid&gt;F74FA8CC31514C408E8B2FCE04A5067D&lt;/guid&gt;&#10;                    &lt;answertext&gt;The line crosses the axis at 50.&lt;/answertext&gt;&#10;                    &lt;valuetype&gt;0&lt;/valuetype&gt;&#10;                &lt;/answer&gt;&#10;                &lt;answer&gt;&#10;                    &lt;guid&gt;B686C7B2E41444AB8C9A3E5EAA2EA623&lt;/guid&gt;&#10;                    &lt;answertext&gt;The response variable is 50 if the explanatory variable is 0.&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9.xml><?xml version="1.0" encoding="utf-8"?>
<p:tagLst xmlns:a="http://schemas.openxmlformats.org/drawingml/2006/main" xmlns:r="http://schemas.openxmlformats.org/officeDocument/2006/relationships" xmlns:p="http://schemas.openxmlformats.org/presentationml/2006/main">
  <p:tag name="ZEROBASED" val="False"/>
</p:tagLst>
</file>

<file path=ppt/tags/tag30.xml><?xml version="1.0" encoding="utf-8"?>
<p:tagLst xmlns:a="http://schemas.openxmlformats.org/drawingml/2006/main" xmlns:r="http://schemas.openxmlformats.org/officeDocument/2006/relationships" xmlns:p="http://schemas.openxmlformats.org/presentationml/2006/main">
  <p:tag name="NOPREFERENCE" val="False"/>
  <p:tag name="DEMOGRAPHIC" val="False"/>
  <p:tag name="SPEEDSCORING" val="False"/>
  <p:tag name="CORRECTPOINTVALUE" val="100"/>
  <p:tag name="INCORRECTPOINTVALUE" val="0"/>
  <p:tag name="ZEROBASED" val="False"/>
  <p:tag name="VALUEFORMAT" val="0%"/>
  <p:tag name="SLIDEGUID" val="678539CEBA9B441B800E768403D80681"/>
  <p:tag name="SLIDEID" val="678539CEBA9B441B800E768403D80681"/>
  <p:tag name="SLIDEORDER" val="1"/>
  <p:tag name="SLIDETYPE" val="Q"/>
  <p:tag name="QUESTIONALIAS" val=" 𝑇𝑒𝑚𝑝 =37.68+0.23𝐶ℎ𝑖𝑟𝑝𝑠 The intercept tells us that the predicted temperature when the crickets are not chirping at all is 37.68.  Do you think this is a good prediction?"/>
  <p:tag name="ANSWERSALIAS" val="Yes|smicln|No"/>
  <p:tag name="DELIMITERS" val="3.1"/>
  <p:tag name="RESPONSESGATHERED" val="False"/>
  <p:tag name="VALUES" val="No Value|smicln|No Value"/>
  <p:tag name="TOTALRESPONSES" val="0"/>
  <p:tag name="ANONYMOUSTEMP" val="False"/>
  <p:tag name="TYPE" val="MultiChoiceSlide"/>
  <p:tag name="TPQUESTIONXML" val="﻿&lt;?xml version=&quot;1.0&quot; encoding=&quot;utf-8&quot;?&gt;&#10;&lt;questionlist&gt;&#10;    &lt;properties&gt;&#10;        &lt;guid&gt;0F2F2E88F3B046A9A43EA7BAA9E4A2C1&lt;/guid&gt;&#10;        &lt;description /&gt;&#10;        &lt;date&gt;6/18/2015 6:27:1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2BD695F58299407ABDA69A5D6A8CFC4D&lt;/guid&gt;&#10;            &lt;repollguid&gt;378CB731E105402CAE898323FF90D04F&lt;/repollguid&gt;&#10;            &lt;sourceid&gt;0CFD59C0963441B888FD7CA992A123C4&lt;/sourceid&gt;&#10;            &lt;questiontext&gt; $$$$$$$$ =37.68+0.23$$ℎ$$$$$$$$The intercept tells us that the predicted temperature when the crickets are not chirping at all is 37.68.  Do you think this is a good prediction?&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7FA48CCF2D8441EEA317F47F1DA39CEE&lt;/guid&gt;&#10;                    &lt;answertext&gt;Yes&lt;/answertext&gt;&#10;                    &lt;valuetype&gt;0&lt;/valuetype&gt;&#10;                &lt;/answer&gt;&#10;                &lt;answer&gt;&#10;                    &lt;guid&gt;D2D29E646968473FB05EF1B74A7BA433&lt;/guid&gt;&#10;                    &lt;answertext&gt;No&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1.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6"/>
  <p:tag name="FONTSIZE" val="32"/>
  <p:tag name="BULLETTYPE" val="ppBulletArabicPeriod"/>
  <p:tag name="ANSWERTEXT" val="Yes&#10;No"/>
  <p:tag name="ZEROBASED" val="False"/>
</p:tagLst>
</file>

<file path=ppt/tags/tag32.xml><?xml version="1.0" encoding="utf-8"?>
<p:tagLst xmlns:a="http://schemas.openxmlformats.org/drawingml/2006/main" xmlns:r="http://schemas.openxmlformats.org/officeDocument/2006/relationships" xmlns:p="http://schemas.openxmlformats.org/presentationml/2006/main">
  <p:tag name="NOPREFERENCE" val="False"/>
</p:tagLst>
</file>

<file path=ppt/tags/tag33.xml><?xml version="1.0" encoding="utf-8"?>
<p:tagLst xmlns:a="http://schemas.openxmlformats.org/drawingml/2006/main" xmlns:r="http://schemas.openxmlformats.org/officeDocument/2006/relationships" xmlns:p="http://schemas.openxmlformats.org/presentationml/2006/main">
  <p:tag name="NOPREFERENCE" val="False"/>
  <p:tag name="SLIDEGUID" val="FC5FDC64A9AC412C929A31506862F67A"/>
  <p:tag name="SLIDEID" val="FC5FDC64A9AC412C929A31506862F67A"/>
  <p:tag name="SLIDEORDER" val="1"/>
  <p:tag name="SLIDETYPE" val="Q"/>
  <p:tag name="DEMOGRAPHIC" val="False"/>
  <p:tag name="SPEEDSCORING" val="False"/>
  <p:tag name="CORRECTPOINTVALUE" val="100"/>
  <p:tag name="INCORRECTPOINTVALUE" val="0"/>
  <p:tag name="ZEROBASED" val="False"/>
  <p:tag name="VALUEFORMAT" val="0%"/>
  <p:tag name="QUESTIONALIAS" val="In this sample of 200 patients following admission to an adult ICU, are the heart rates and systolic blood pressure measurements: "/>
  <p:tag name="ANSWERSALIAS" val="positively associated|smicln|negatively associated|smicln|not associated|smicln|other"/>
  <p:tag name="DELIMITERS" val="3.1"/>
  <p:tag name="RESPONSESGATHERED" val="False"/>
  <p:tag name="VALUES" val="No Value|smicln|No Value|smicln|No Value|smicln|No Value"/>
  <p:tag name="TOTALRESPONSES" val="0"/>
  <p:tag name="ANONYMOUSTEMP" val="False"/>
  <p:tag name="TYPE" val="MultiChoiceSlide"/>
  <p:tag name="TPQUESTIONXML" val="﻿&lt;?xml version=&quot;1.0&quot; encoding=&quot;utf-8&quot;?&gt;&#10;&lt;questionlist&gt;&#10;    &lt;properties&gt;&#10;        &lt;guid&gt;470C90F6F2D84B0FAE9415C88D620646&lt;/guid&gt;&#10;        &lt;description /&gt;&#10;        &lt;date&gt;6/18/2015 6:27:1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15E516521BD9480CAC50A67675846C04&lt;/guid&gt;&#10;            &lt;repollguid&gt;741BCEEA3B4C4900A1F9B6AAFE1C3963&lt;/repollguid&gt;&#10;            &lt;sourceid&gt;F33566E8EC6F4996846A580169A4BED1&lt;/sourceid&gt;&#10;            &lt;questiontext&gt;In this sample of 200 patients following admission to an adult ICU, the heart rates and systolic blood pressure measurements are: &lt;/questiontext&gt;&#10;            &lt;showresults&gt;True&lt;/showresults&gt;&#10;            &lt;responsegrid&gt;0&lt;/responsegrid&gt;&#10;            &lt;countdowntimer&gt;False&lt;/countdowntimer&gt;&#10;            &lt;correctvalue&gt;100&lt;/correctvalue&gt;&#10;            &lt;incorrectvalue&gt;0&lt;/incorrectvalue&gt;&#10;            &lt;responselimit&gt;1&lt;/responselimit&gt;&#10;            &lt;bulletstyle&gt;3&lt;/bulletstyle&gt;&#10;            &lt;answers&gt;&#10;                &lt;answer&gt;&#10;                    &lt;guid&gt;2FD8A5EF13244EB68BA0D704E615F31A&lt;/guid&gt;&#10;                    &lt;answertext&gt;positively associated&lt;/answertext&gt;&#10;                    &lt;valuetype&gt;0&lt;/valuetype&gt;&#10;                &lt;/answer&gt;&#10;                &lt;answer&gt;&#10;                    &lt;guid&gt;F7883E61EC1044CB92E058FFBDC2EAF9&lt;/guid&gt;&#10;                    &lt;answertext&gt;negatively associated&lt;/answertext&gt;&#10;                    &lt;valuetype&gt;0&lt;/valuetype&gt;&#10;                &lt;/answer&gt;&#10;                &lt;answer&gt;&#10;                    &lt;guid&gt;92EE3DE739F84705996AEF1DEF8789AC&lt;/guid&gt;&#10;                    &lt;answertext&gt;not associated&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4.xml><?xml version="1.0" encoding="utf-8"?>
<p:tagLst xmlns:a="http://schemas.openxmlformats.org/drawingml/2006/main" xmlns:r="http://schemas.openxmlformats.org/officeDocument/2006/relationships" xmlns:p="http://schemas.openxmlformats.org/presentationml/2006/main">
  <p:tag name="ANSWERBULLETS" val="9"/>
  <p:tag name="OLDNUMANSWERS" val="4"/>
  <p:tag name="TEXTLENGTH" val="64"/>
  <p:tag name="FONTSIZE" val="32"/>
  <p:tag name="BULLETTYPE" val="ppBulletAlphaLCParenRight"/>
  <p:tag name="ANSWERTEXT" val="positively associated&#10;negatively associated&#10;not associated&#10;other"/>
  <p:tag name="ZEROBASED" val="False"/>
</p:tagLst>
</file>

<file path=ppt/tags/tag35.xml><?xml version="1.0" encoding="utf-8"?>
<p:tagLst xmlns:a="http://schemas.openxmlformats.org/drawingml/2006/main" xmlns:r="http://schemas.openxmlformats.org/officeDocument/2006/relationships" xmlns:p="http://schemas.openxmlformats.org/presentationml/2006/main">
  <p:tag name="NOPREFERENCE" val="False"/>
</p:tagLst>
</file>

<file path=ppt/tags/tag36.xml><?xml version="1.0" encoding="utf-8"?>
<p:tagLst xmlns:a="http://schemas.openxmlformats.org/drawingml/2006/main" xmlns:r="http://schemas.openxmlformats.org/officeDocument/2006/relationships" xmlns:p="http://schemas.openxmlformats.org/presentationml/2006/main">
  <p:tag name="NOPREFERENCE" val="False"/>
</p:tagLst>
</file>

<file path=ppt/tags/tag37.xml><?xml version="1.0" encoding="utf-8"?>
<p:tagLst xmlns:a="http://schemas.openxmlformats.org/drawingml/2006/main" xmlns:r="http://schemas.openxmlformats.org/officeDocument/2006/relationships" xmlns:p="http://schemas.openxmlformats.org/presentationml/2006/main">
  <p:tag name="NOPREFERENCE" val="False"/>
</p:tagLst>
</file>

<file path=ppt/tags/tag38.xml><?xml version="1.0" encoding="utf-8"?>
<p:tagLst xmlns:a="http://schemas.openxmlformats.org/drawingml/2006/main" xmlns:r="http://schemas.openxmlformats.org/officeDocument/2006/relationships" xmlns:p="http://schemas.openxmlformats.org/presentationml/2006/main">
  <p:tag name="NOPREFERENCE" val="False"/>
</p:tagLst>
</file>

<file path=ppt/tags/tag39.xml><?xml version="1.0" encoding="utf-8"?>
<p:tagLst xmlns:a="http://schemas.openxmlformats.org/drawingml/2006/main" xmlns:r="http://schemas.openxmlformats.org/officeDocument/2006/relationships" xmlns:p="http://schemas.openxmlformats.org/presentationml/2006/main">
  <p:tag name="NOPREFERENCE" val="False"/>
</p:tagLst>
</file>

<file path=ppt/tags/tag4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1.xml><?xml version="1.0" encoding="utf-8"?>
<p:tagLst xmlns:a="http://schemas.openxmlformats.org/drawingml/2006/main" xmlns:r="http://schemas.openxmlformats.org/officeDocument/2006/relationships" xmlns:p="http://schemas.openxmlformats.org/presentationml/2006/main">
  <p:tag name="NOPREFERENCE" val="False"/>
</p:tagLst>
</file>

<file path=ppt/tags/tag4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4.xml><?xml version="1.0" encoding="utf-8"?>
<p:tagLst xmlns:a="http://schemas.openxmlformats.org/drawingml/2006/main" xmlns:r="http://schemas.openxmlformats.org/officeDocument/2006/relationships" xmlns:p="http://schemas.openxmlformats.org/presentationml/2006/main">
  <p:tag name="NOPREFERENCE" val="False"/>
</p:tagLst>
</file>

<file path=ppt/tags/tag4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8.xml><?xml version="1.0" encoding="utf-8"?>
<p:tagLst xmlns:a="http://schemas.openxmlformats.org/drawingml/2006/main" xmlns:r="http://schemas.openxmlformats.org/officeDocument/2006/relationships" xmlns:p="http://schemas.openxmlformats.org/presentationml/2006/main">
  <p:tag name="DELIMITERS" val="3.1"/>
</p:tagLst>
</file>

<file path=ppt/tags/tag49.xml><?xml version="1.0" encoding="utf-8"?>
<p:tagLst xmlns:a="http://schemas.openxmlformats.org/drawingml/2006/main" xmlns:r="http://schemas.openxmlformats.org/officeDocument/2006/relationships" xmlns:p="http://schemas.openxmlformats.org/presentationml/2006/main">
  <p:tag name="DELIMITERS" val="3.1"/>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5759</TotalTime>
  <Words>1552</Words>
  <Application>Microsoft Office PowerPoint</Application>
  <PresentationFormat>On-screen Show (4:3)</PresentationFormat>
  <Paragraphs>229</Paragraphs>
  <Slides>41</Slides>
  <Notes>4</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3" baseType="lpstr">
      <vt:lpstr>Median</vt:lpstr>
      <vt:lpstr>Equation</vt:lpstr>
      <vt:lpstr>PowerPoint Presentation</vt:lpstr>
      <vt:lpstr>PowerPoint Presentation</vt:lpstr>
      <vt:lpstr>PowerPoint Presentation</vt:lpstr>
      <vt:lpstr>Regression</vt:lpstr>
      <vt:lpstr>Equation of the Regression Line</vt:lpstr>
      <vt:lpstr>PowerPoint Presentation</vt:lpstr>
      <vt:lpstr>PowerPoint Presentation</vt:lpstr>
      <vt:lpstr>If the crickets are chirping about 180 times per minute, your best guess at the temperature is</vt:lpstr>
      <vt:lpstr>PowerPoint Presentation</vt:lpstr>
      <vt:lpstr>PowerPoint Presentation</vt:lpstr>
      <vt:lpstr>PowerPoint Presentation</vt:lpstr>
      <vt:lpstr>Residual</vt:lpstr>
      <vt:lpstr>PowerPoint Presentation</vt:lpstr>
      <vt:lpstr>Regression Line</vt:lpstr>
      <vt:lpstr>Least Squares Line</vt:lpstr>
      <vt:lpstr>PowerPoint Presentation</vt:lpstr>
      <vt:lpstr>Regression in StatKey</vt:lpstr>
      <vt:lpstr>PowerPoint Presentation</vt:lpstr>
      <vt:lpstr>Which is a correct interpretation?</vt:lpstr>
      <vt:lpstr>For a certain course, the regression line to predict grade G on the final exam based on number of hours studying H is   One person studied 10 hours and received a 88 on the final.  The predicted grade for this person is:</vt:lpstr>
      <vt:lpstr>For a certain course, the regression line to predict grade G on the final exam based on number of hours studying H is   One person studied 10 hours and received an 88 on the final.  The residual for this person is:</vt:lpstr>
      <vt:lpstr>For a certain course, the regression line to predict grade G on the final based on number of hours studying H is  We can interpret the slope in context to mean that:</vt:lpstr>
      <vt:lpstr>For a certain course, the regression line to predict grade G on the final based on number of hours studying H is  We can interpret the intercept in context to mean that:</vt:lpstr>
      <vt:lpstr>(Temp) ̂=37.68+0.23Chirps The intercept tells us that the predicted temperature when the crickets are not chirping at all is 37.68.  Do you think this is a good prediction?</vt:lpstr>
      <vt:lpstr>PowerPoint Presentation</vt:lpstr>
      <vt:lpstr>In this sample of 200 patients following admission to an adult ICU, the heart rates and systolic blood pressure measurements are: </vt:lpstr>
      <vt:lpstr>PowerPoint Presentation</vt:lpstr>
      <vt:lpstr>PowerPoint Presentation</vt:lpstr>
      <vt:lpstr>PowerPoint Presentation</vt:lpstr>
      <vt:lpstr>Example: Concentration of CO2 in the Atmosphere</vt:lpstr>
      <vt:lpstr>Example: Concentration of CO2 in the Atmosphere</vt:lpstr>
      <vt:lpstr>Example: Concentration of CO2 in the Atmosphere</vt:lpstr>
      <vt:lpstr>Example: Concentration of CO2 in the Atmosphere</vt:lpstr>
      <vt:lpstr>Example: Concentration of CO2 in the Atmosphere</vt:lpstr>
      <vt:lpstr>Example: Concentration of CO2 in the Atmosphere</vt:lpstr>
      <vt:lpstr>Example: Concentration of CO2 in the Atmosphere</vt:lpstr>
      <vt:lpstr>Example: Concentration of CO2 in the Atmosphere</vt:lpstr>
      <vt:lpstr>Example: Concentration of CO2 in the Atmosphere</vt:lpstr>
      <vt:lpstr>Example: Concentration of CO2 in the Atmosphere</vt:lpstr>
      <vt:lpstr>Summary: Least Squares Regression</vt:lpstr>
      <vt:lpstr>Summary: Regression Cautions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Leed</dc:creator>
  <cp:lastModifiedBy>Kathryn Dobeck</cp:lastModifiedBy>
  <cp:revision>92</cp:revision>
  <cp:lastPrinted>2015-06-23T18:11:24Z</cp:lastPrinted>
  <dcterms:created xsi:type="dcterms:W3CDTF">2012-12-21T19:07:13Z</dcterms:created>
  <dcterms:modified xsi:type="dcterms:W3CDTF">2017-06-28T19:12:11Z</dcterms:modified>
</cp:coreProperties>
</file>