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1.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2.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3.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notesSlides/notesSlide4.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notesSlides/notesSlide5.xml" ContentType="application/vnd.openxmlformats-officedocument.presentationml.notesSlide+xml"/>
  <Override PartName="/ppt/tags/tag4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handoutMasterIdLst>
    <p:handoutMasterId r:id="rId36"/>
  </p:handoutMasterIdLst>
  <p:sldIdLst>
    <p:sldId id="308"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5" r:id="rId19"/>
    <p:sldId id="277" r:id="rId20"/>
    <p:sldId id="278" r:id="rId21"/>
    <p:sldId id="279" r:id="rId22"/>
    <p:sldId id="280" r:id="rId23"/>
    <p:sldId id="281" r:id="rId24"/>
    <p:sldId id="282" r:id="rId25"/>
    <p:sldId id="283" r:id="rId26"/>
    <p:sldId id="284" r:id="rId27"/>
    <p:sldId id="285" r:id="rId28"/>
    <p:sldId id="309" r:id="rId29"/>
    <p:sldId id="314" r:id="rId30"/>
    <p:sldId id="315" r:id="rId31"/>
    <p:sldId id="316" r:id="rId32"/>
    <p:sldId id="317" r:id="rId33"/>
    <p:sldId id="303" r:id="rId34"/>
  </p:sldIdLst>
  <p:sldSz cx="9144000" cy="6858000" type="screen4x3"/>
  <p:notesSz cx="9296400" cy="7010400"/>
  <p:custDataLst>
    <p:tags r:id="rId3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1392" y="-62"/>
      </p:cViewPr>
      <p:guideLst>
        <p:guide orient="horz" pos="2160"/>
        <p:guide pos="2880"/>
      </p:guideLst>
    </p:cSldViewPr>
  </p:slideViewPr>
  <p:notesTextViewPr>
    <p:cViewPr>
      <p:scale>
        <a:sx n="1" d="1"/>
        <a:sy n="1" d="1"/>
      </p:scale>
      <p:origin x="0" y="0"/>
    </p:cViewPr>
  </p:notesTextViewPr>
  <p:notesViewPr>
    <p:cSldViewPr>
      <p:cViewPr varScale="1">
        <p:scale>
          <a:sx n="75" d="100"/>
          <a:sy n="75" d="100"/>
        </p:scale>
        <p:origin x="-1668" y="-84"/>
      </p:cViewPr>
      <p:guideLst>
        <p:guide orient="horz" pos="2208"/>
        <p:guide pos="292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view3D>
      <c:rotX val="15"/>
      <c:rotY val="20"/>
      <c:rAngAx val="0"/>
      <c:perspective val="30"/>
    </c:view3D>
    <c:floor>
      <c:thickness val="0"/>
    </c:floor>
    <c:sideWall>
      <c:thickness val="0"/>
    </c:sideWall>
    <c:backWall>
      <c:thickness val="0"/>
    </c:backWall>
    <c:plotArea>
      <c:layout/>
      <c:bar3DChart>
        <c:barDir val="col"/>
        <c:grouping val="standard"/>
        <c:varyColors val="0"/>
        <c:ser>
          <c:idx val="0"/>
          <c:order val="0"/>
          <c:tx>
            <c:strRef>
              <c:f>Sheet1!$B$1</c:f>
              <c:strCache>
                <c:ptCount val="1"/>
                <c:pt idx="0">
                  <c:v>Series 1</c:v>
                </c:pt>
              </c:strCache>
            </c:strRef>
          </c:tx>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ser>
        <c:ser>
          <c:idx val="1"/>
          <c:order val="1"/>
          <c:tx>
            <c:strRef>
              <c:f>Sheet1!$C$1</c:f>
              <c:strCache>
                <c:ptCount val="1"/>
                <c:pt idx="0">
                  <c:v>Series 2</c:v>
                </c:pt>
              </c:strCache>
            </c:strRef>
          </c:tx>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ser>
        <c:ser>
          <c:idx val="2"/>
          <c:order val="2"/>
          <c:tx>
            <c:strRef>
              <c:f>Sheet1!$D$1</c:f>
              <c:strCache>
                <c:ptCount val="1"/>
                <c:pt idx="0">
                  <c:v>Series 3</c:v>
                </c:pt>
              </c:strCache>
            </c:strRef>
          </c:tx>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ser>
        <c:dLbls>
          <c:showLegendKey val="0"/>
          <c:showVal val="0"/>
          <c:showCatName val="0"/>
          <c:showSerName val="0"/>
          <c:showPercent val="0"/>
          <c:showBubbleSize val="0"/>
        </c:dLbls>
        <c:gapWidth val="150"/>
        <c:shape val="box"/>
        <c:axId val="190786944"/>
        <c:axId val="190788736"/>
        <c:axId val="143985280"/>
      </c:bar3DChart>
      <c:catAx>
        <c:axId val="190786944"/>
        <c:scaling>
          <c:orientation val="minMax"/>
        </c:scaling>
        <c:delete val="0"/>
        <c:axPos val="b"/>
        <c:majorTickMark val="out"/>
        <c:minorTickMark val="none"/>
        <c:tickLblPos val="nextTo"/>
        <c:crossAx val="190788736"/>
        <c:crosses val="autoZero"/>
        <c:auto val="1"/>
        <c:lblAlgn val="ctr"/>
        <c:lblOffset val="100"/>
        <c:noMultiLvlLbl val="0"/>
      </c:catAx>
      <c:valAx>
        <c:axId val="190788736"/>
        <c:scaling>
          <c:orientation val="minMax"/>
        </c:scaling>
        <c:delete val="0"/>
        <c:axPos val="l"/>
        <c:majorGridlines/>
        <c:numFmt formatCode="General" sourceLinked="1"/>
        <c:majorTickMark val="out"/>
        <c:minorTickMark val="none"/>
        <c:tickLblPos val="nextTo"/>
        <c:crossAx val="190786944"/>
        <c:crosses val="autoZero"/>
        <c:crossBetween val="between"/>
      </c:valAx>
      <c:serAx>
        <c:axId val="143985280"/>
        <c:scaling>
          <c:orientation val="minMax"/>
        </c:scaling>
        <c:delete val="0"/>
        <c:axPos val="b"/>
        <c:majorTickMark val="out"/>
        <c:minorTickMark val="none"/>
        <c:tickLblPos val="nextTo"/>
        <c:crossAx val="190788736"/>
        <c:crosses val="autoZero"/>
      </c:ser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image" Target="../media/image12.wmf"/><Relationship Id="rId7" Type="http://schemas.openxmlformats.org/officeDocument/2006/relationships/image" Target="../media/image16.wmf"/><Relationship Id="rId2" Type="http://schemas.openxmlformats.org/officeDocument/2006/relationships/image" Target="../media/image11.wmf"/><Relationship Id="rId1" Type="http://schemas.openxmlformats.org/officeDocument/2006/relationships/image" Target="../media/image10.wmf"/><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6.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4.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 Id="rId5" Type="http://schemas.openxmlformats.org/officeDocument/2006/relationships/image" Target="../media/image41.wmf"/><Relationship Id="rId4" Type="http://schemas.openxmlformats.org/officeDocument/2006/relationships/image" Target="../media/image40.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35.wmf"/><Relationship Id="rId4" Type="http://schemas.openxmlformats.org/officeDocument/2006/relationships/image" Target="../media/image50.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image" Target="../media/image51.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 Id="rId4" Type="http://schemas.openxmlformats.org/officeDocument/2006/relationships/image" Target="../media/image55.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6.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image" Target="../media/image5.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5265809" y="6658664"/>
            <a:ext cx="4028440" cy="350520"/>
          </a:xfrm>
          <a:prstGeom prst="rect">
            <a:avLst/>
          </a:prstGeom>
        </p:spPr>
        <p:txBody>
          <a:bodyPr vert="horz" lIns="93177" tIns="46589" rIns="93177" bIns="46589" rtlCol="0" anchor="b"/>
          <a:lstStyle>
            <a:lvl1pPr algn="r">
              <a:defRPr sz="1200"/>
            </a:lvl1pPr>
          </a:lstStyle>
          <a:p>
            <a:fld id="{EC5A6351-3C4C-4EA4-B65D-D5283D2A134A}" type="slidenum">
              <a:rPr lang="en-US" smtClean="0"/>
              <a:t>‹#›</a:t>
            </a:fld>
            <a:endParaRPr lang="en-US"/>
          </a:p>
        </p:txBody>
      </p:sp>
    </p:spTree>
    <p:extLst>
      <p:ext uri="{BB962C8B-B14F-4D97-AF65-F5344CB8AC3E}">
        <p14:creationId xmlns:p14="http://schemas.microsoft.com/office/powerpoint/2010/main" val="22715485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9075" cy="3508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265738" y="0"/>
            <a:ext cx="4029075" cy="350838"/>
          </a:xfrm>
          <a:prstGeom prst="rect">
            <a:avLst/>
          </a:prstGeom>
        </p:spPr>
        <p:txBody>
          <a:bodyPr vert="horz" lIns="91440" tIns="45720" rIns="91440" bIns="45720" rtlCol="0"/>
          <a:lstStyle>
            <a:lvl1pPr algn="r">
              <a:defRPr sz="1200"/>
            </a:lvl1pPr>
          </a:lstStyle>
          <a:p>
            <a:fld id="{39B196AA-F9A5-43AF-A9C0-00E934726825}" type="datetimeFigureOut">
              <a:rPr lang="en-US" smtClean="0"/>
              <a:t>8/1/2017</a:t>
            </a:fld>
            <a:endParaRPr lang="en-US"/>
          </a:p>
        </p:txBody>
      </p:sp>
      <p:sp>
        <p:nvSpPr>
          <p:cNvPr id="4" name="Slide Image Placeholder 3"/>
          <p:cNvSpPr>
            <a:spLocks noGrp="1" noRot="1" noChangeAspect="1"/>
          </p:cNvSpPr>
          <p:nvPr>
            <p:ph type="sldImg" idx="2"/>
          </p:nvPr>
        </p:nvSpPr>
        <p:spPr>
          <a:xfrm>
            <a:off x="2895600" y="525463"/>
            <a:ext cx="3505200" cy="2628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30275" y="3330575"/>
            <a:ext cx="7435850" cy="3154363"/>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657975"/>
            <a:ext cx="4029075" cy="3508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265738" y="6657975"/>
            <a:ext cx="4029075" cy="350838"/>
          </a:xfrm>
          <a:prstGeom prst="rect">
            <a:avLst/>
          </a:prstGeom>
        </p:spPr>
        <p:txBody>
          <a:bodyPr vert="horz" lIns="91440" tIns="45720" rIns="91440" bIns="45720" rtlCol="0" anchor="b"/>
          <a:lstStyle>
            <a:lvl1pPr algn="r">
              <a:defRPr sz="1200"/>
            </a:lvl1pPr>
          </a:lstStyle>
          <a:p>
            <a:fld id="{0E968231-B483-4F2A-965B-FA3184E2F6B4}" type="slidenum">
              <a:rPr lang="en-US" smtClean="0"/>
              <a:t>‹#›</a:t>
            </a:fld>
            <a:endParaRPr lang="en-US"/>
          </a:p>
        </p:txBody>
      </p:sp>
    </p:spTree>
    <p:extLst>
      <p:ext uri="{BB962C8B-B14F-4D97-AF65-F5344CB8AC3E}">
        <p14:creationId xmlns:p14="http://schemas.microsoft.com/office/powerpoint/2010/main" val="4022747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endParaRPr lang="en-US"/>
          </a:p>
        </p:txBody>
      </p:sp>
      <p:sp>
        <p:nvSpPr>
          <p:cNvPr id="5" name="Slide Number Placeholder 4"/>
          <p:cNvSpPr>
            <a:spLocks noGrp="1"/>
          </p:cNvSpPr>
          <p:nvPr>
            <p:ph type="sldNum" sz="quarter" idx="11"/>
          </p:nvPr>
        </p:nvSpPr>
        <p:spPr/>
        <p:txBody>
          <a:bodyPr/>
          <a:lstStyle/>
          <a:p>
            <a:fld id="{5A1F48E1-058B-4963-8D55-C60E043110E3}" type="slidenum">
              <a:rPr lang="en-US" smtClean="0"/>
              <a:pPr/>
              <a:t>28</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endParaRPr lang="en-US"/>
          </a:p>
        </p:txBody>
      </p:sp>
      <p:sp>
        <p:nvSpPr>
          <p:cNvPr id="5" name="Slide Number Placeholder 4"/>
          <p:cNvSpPr>
            <a:spLocks noGrp="1"/>
          </p:cNvSpPr>
          <p:nvPr>
            <p:ph type="sldNum" sz="quarter" idx="11"/>
          </p:nvPr>
        </p:nvSpPr>
        <p:spPr/>
        <p:txBody>
          <a:bodyPr/>
          <a:lstStyle/>
          <a:p>
            <a:fld id="{5A1F48E1-058B-4963-8D55-C60E043110E3}" type="slidenum">
              <a:rPr lang="en-US" smtClean="0"/>
              <a:pPr/>
              <a:t>29</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endParaRPr lang="en-US"/>
          </a:p>
        </p:txBody>
      </p:sp>
      <p:sp>
        <p:nvSpPr>
          <p:cNvPr id="5" name="Slide Number Placeholder 4"/>
          <p:cNvSpPr>
            <a:spLocks noGrp="1"/>
          </p:cNvSpPr>
          <p:nvPr>
            <p:ph type="sldNum" sz="quarter" idx="11"/>
          </p:nvPr>
        </p:nvSpPr>
        <p:spPr/>
        <p:txBody>
          <a:bodyPr/>
          <a:lstStyle/>
          <a:p>
            <a:fld id="{5A1F48E1-058B-4963-8D55-C60E043110E3}" type="slidenum">
              <a:rPr lang="en-US" smtClean="0"/>
              <a:pPr/>
              <a:t>30</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endParaRPr lang="en-US"/>
          </a:p>
        </p:txBody>
      </p:sp>
      <p:sp>
        <p:nvSpPr>
          <p:cNvPr id="5" name="Slide Number Placeholder 4"/>
          <p:cNvSpPr>
            <a:spLocks noGrp="1"/>
          </p:cNvSpPr>
          <p:nvPr>
            <p:ph type="sldNum" sz="quarter" idx="11"/>
          </p:nvPr>
        </p:nvSpPr>
        <p:spPr/>
        <p:txBody>
          <a:bodyPr/>
          <a:lstStyle/>
          <a:p>
            <a:fld id="{5A1F48E1-058B-4963-8D55-C60E043110E3}" type="slidenum">
              <a:rPr lang="en-US" smtClean="0"/>
              <a:pPr/>
              <a:t>31</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endParaRPr lang="en-US"/>
          </a:p>
        </p:txBody>
      </p:sp>
      <p:sp>
        <p:nvSpPr>
          <p:cNvPr id="5" name="Slide Number Placeholder 4"/>
          <p:cNvSpPr>
            <a:spLocks noGrp="1"/>
          </p:cNvSpPr>
          <p:nvPr>
            <p:ph type="sldNum" sz="quarter" idx="11"/>
          </p:nvPr>
        </p:nvSpPr>
        <p:spPr/>
        <p:txBody>
          <a:bodyPr/>
          <a:lstStyle/>
          <a:p>
            <a:fld id="{5A1F48E1-058B-4963-8D55-C60E043110E3}" type="slidenum">
              <a:rPr lang="en-US" smtClean="0"/>
              <a:pPr/>
              <a:t>32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F88BA975-1F24-4E55-8951-75216687F3E1}" type="datetimeFigureOut">
              <a:rPr lang="en-US" smtClean="0"/>
              <a:t>8/1/2017</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D687C0F5-0938-484D-9E40-0118D0F3F12B}"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F88BA975-1F24-4E55-8951-75216687F3E1}" type="datetimeFigureOut">
              <a:rPr lang="en-US" smtClean="0"/>
              <a:t>8/1/2017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D687C0F5-0938-484D-9E40-0118D0F3F12B}" type="slidenum">
              <a:rPr lang="en-US" smtClean="0"/>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F88BA975-1F24-4E55-8951-75216687F3E1}" type="datetimeFigureOut">
              <a:rPr lang="en-US" smtClean="0"/>
              <a:t>8/1/2017</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D687C0F5-0938-484D-9E40-0118D0F3F12B}" type="slidenum">
              <a:rPr lang="en-US" smtClean="0"/>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F88BA975-1F24-4E55-8951-75216687F3E1}" type="datetimeFigureOut">
              <a:rPr lang="en-US" smtClean="0"/>
              <a:t>8/1/2017</a:t>
            </a:fld>
            <a:endParaRPr lang="en-US"/>
          </a:p>
        </p:txBody>
      </p:sp>
      <p:sp>
        <p:nvSpPr>
          <p:cNvPr id="10" name="Slide Number Placeholder 9"/>
          <p:cNvSpPr>
            <a:spLocks noGrp="1"/>
          </p:cNvSpPr>
          <p:nvPr>
            <p:ph type="sldNum" sz="quarter" idx="16"/>
          </p:nvPr>
        </p:nvSpPr>
        <p:spPr/>
        <p:txBody>
          <a:bodyPr rtlCol="0"/>
          <a:lstStyle/>
          <a:p>
            <a:fld id="{D687C0F5-0938-484D-9E40-0118D0F3F12B}" type="slidenum">
              <a:rPr lang="en-US" smtClean="0"/>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F88BA975-1F24-4E55-8951-75216687F3E1}" type="datetimeFigureOut">
              <a:rPr lang="en-US" smtClean="0"/>
              <a:t>8/1/2017</a:t>
            </a:fld>
            <a:endParaRPr lang="en-US"/>
          </a:p>
        </p:txBody>
      </p:sp>
      <p:sp>
        <p:nvSpPr>
          <p:cNvPr id="12" name="Slide Number Placeholder 11"/>
          <p:cNvSpPr>
            <a:spLocks noGrp="1"/>
          </p:cNvSpPr>
          <p:nvPr>
            <p:ph type="sldNum" sz="quarter" idx="16"/>
          </p:nvPr>
        </p:nvSpPr>
        <p:spPr/>
        <p:txBody>
          <a:bodyPr rtlCol="0"/>
          <a:lstStyle/>
          <a:p>
            <a:fld id="{D687C0F5-0938-484D-9E40-0118D0F3F12B}" type="slidenum">
              <a:rPr lang="en-US" smtClean="0"/>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F88BA975-1F24-4E55-8951-75216687F3E1}" type="datetimeFigureOut">
              <a:rPr lang="en-US" smtClean="0"/>
              <a:t>8/1/2017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D687C0F5-0938-484D-9E40-0118D0F3F12B}"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8BA975-1F24-4E55-8951-75216687F3E1}" type="datetimeFigureOut">
              <a:rPr lang="en-US" smtClean="0"/>
              <a:t>8/1/2017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D687C0F5-0938-484D-9E40-0118D0F3F12B}" type="slidenum">
              <a:rPr lang="en-US" smtClean="0"/>
              <a:t>‹#›</a:t>
            </a:fld>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F88BA975-1F24-4E55-8951-75216687F3E1}" type="datetimeFigureOut">
              <a:rPr lang="en-US" smtClean="0"/>
              <a:t>8/1/2017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D687C0F5-0938-484D-9E40-0118D0F3F12B}" type="slidenum">
              <a:rPr lang="en-US" smtClean="0"/>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F88BA975-1F24-4E55-8951-75216687F3E1}" type="datetimeFigureOut">
              <a:rPr lang="en-US" smtClean="0"/>
              <a:t>8/1/2017</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D687C0F5-0938-484D-9E40-0118D0F3F12B}" type="slidenum">
              <a:rPr lang="en-US" smtClean="0"/>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88BA975-1F24-4E55-8951-75216687F3E1}" type="datetimeFigureOut">
              <a:rPr lang="en-US" smtClean="0"/>
              <a:t>8/1/2017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87C0F5-0938-484D-9E40-0118D0F3F1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F88BA975-1F24-4E55-8951-75216687F3E1}" type="datetimeFigureOut">
              <a:rPr lang="en-US" smtClean="0"/>
              <a:t>8/1/2017</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D687C0F5-0938-484D-9E40-0118D0F3F12B}"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POnTheFly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88BA975-1F24-4E55-8951-75216687F3E1}" type="datetimeFigureOut">
              <a:rPr lang="en-US" smtClean="0"/>
              <a:t>8/1/2017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87C0F5-0938-484D-9E40-0118D0F3F12B}" type="slidenum">
              <a:rPr lang="en-US" smtClean="0"/>
              <a:t>‹#›</a:t>
            </a:fld>
            <a:endParaRPr lang="en-US"/>
          </a:p>
        </p:txBody>
      </p:sp>
      <p:graphicFrame>
        <p:nvGraphicFramePr>
          <p:cNvPr id="6" name="TPChart" hidden="1"/>
          <p:cNvGraphicFramePr/>
          <p:nvPr userDrawn="1">
            <p:extLst>
              <p:ext uri="{D42A27DB-BD31-4B8C-83A1-F6EECF244321}">
                <p14:modId xmlns:p14="http://schemas.microsoft.com/office/powerpoint/2010/main" val="3926677084"/>
              </p:ext>
            </p:extLst>
          </p:nvPr>
        </p:nvGraphicFramePr>
        <p:xfrm>
          <a:off x="6350000" y="1600200"/>
          <a:ext cx="2540000" cy="254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12578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F88BA975-1F24-4E55-8951-75216687F3E1}" type="datetimeFigureOut">
              <a:rPr lang="en-US" smtClean="0"/>
              <a:t>8/1/2017</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D687C0F5-0938-484D-9E40-0118D0F3F1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par>
    </p:tnLst>
  </p:timing>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vmlDrawing" Target="../drawings/vmlDrawing1.vml"/><Relationship Id="rId5" Type="http://schemas.openxmlformats.org/officeDocument/2006/relationships/image" Target="../media/image4.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vmlDrawing" Target="../drawings/vmlDrawing2.vml"/><Relationship Id="rId5" Type="http://schemas.openxmlformats.org/officeDocument/2006/relationships/image" Target="../media/image5.w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vmlDrawing" Target="../drawings/vmlDrawing3.vml"/><Relationship Id="rId5" Type="http://schemas.openxmlformats.org/officeDocument/2006/relationships/image" Target="../media/image6.wmf"/><Relationship Id="rId4"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vmlDrawing" Target="../drawings/vmlDrawing4.vml"/><Relationship Id="rId5" Type="http://schemas.openxmlformats.org/officeDocument/2006/relationships/image" Target="../media/image7.wmf"/><Relationship Id="rId4"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3" Type="http://schemas.openxmlformats.org/officeDocument/2006/relationships/hyperlink" Target="http://www.lock5stat.com/statkey" TargetMode="External"/><Relationship Id="rId2" Type="http://schemas.openxmlformats.org/officeDocument/2006/relationships/slideLayout" Target="../slideLayouts/slideLayout7.xml"/><Relationship Id="rId1" Type="http://schemas.openxmlformats.org/officeDocument/2006/relationships/tags" Target="../tags/tag1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xml"/><Relationship Id="rId1" Type="http://schemas.openxmlformats.org/officeDocument/2006/relationships/vmlDrawing" Target="../drawings/vmlDrawing5.vml"/><Relationship Id="rId5" Type="http://schemas.openxmlformats.org/officeDocument/2006/relationships/image" Target="../media/image9.wmf"/><Relationship Id="rId4" Type="http://schemas.openxmlformats.org/officeDocument/2006/relationships/oleObject" Target="../embeddings/oleObject5.bin"/></Relationships>
</file>

<file path=ppt/slides/_rels/slide11.x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oleObject" Target="../embeddings/oleObject10.bin"/><Relationship Id="rId18" Type="http://schemas.openxmlformats.org/officeDocument/2006/relationships/image" Target="../media/image19.emf"/><Relationship Id="rId26" Type="http://schemas.openxmlformats.org/officeDocument/2006/relationships/image" Target="../media/image25.emf"/><Relationship Id="rId3" Type="http://schemas.openxmlformats.org/officeDocument/2006/relationships/slideLayout" Target="../slideLayouts/slideLayout7.xml"/><Relationship Id="rId21" Type="http://schemas.openxmlformats.org/officeDocument/2006/relationships/image" Target="../media/image22.emf"/><Relationship Id="rId34" Type="http://schemas.openxmlformats.org/officeDocument/2006/relationships/image" Target="../media/image31.emf"/><Relationship Id="rId7" Type="http://schemas.openxmlformats.org/officeDocument/2006/relationships/oleObject" Target="../embeddings/oleObject7.bin"/><Relationship Id="rId12" Type="http://schemas.openxmlformats.org/officeDocument/2006/relationships/image" Target="../media/image13.wmf"/><Relationship Id="rId17" Type="http://schemas.openxmlformats.org/officeDocument/2006/relationships/image" Target="../media/image15.wmf"/><Relationship Id="rId25" Type="http://schemas.openxmlformats.org/officeDocument/2006/relationships/image" Target="../media/image24.emf"/><Relationship Id="rId33" Type="http://schemas.openxmlformats.org/officeDocument/2006/relationships/image" Target="../media/image30.emf"/><Relationship Id="rId2" Type="http://schemas.openxmlformats.org/officeDocument/2006/relationships/tags" Target="../tags/tag13.xml"/><Relationship Id="rId16" Type="http://schemas.openxmlformats.org/officeDocument/2006/relationships/oleObject" Target="../embeddings/oleObject11.bin"/><Relationship Id="rId20" Type="http://schemas.openxmlformats.org/officeDocument/2006/relationships/image" Target="../media/image21.emf"/><Relationship Id="rId29" Type="http://schemas.openxmlformats.org/officeDocument/2006/relationships/image" Target="../media/image28.emf"/><Relationship Id="rId1" Type="http://schemas.openxmlformats.org/officeDocument/2006/relationships/vmlDrawing" Target="../drawings/vmlDrawing6.vml"/><Relationship Id="rId6" Type="http://schemas.openxmlformats.org/officeDocument/2006/relationships/image" Target="../media/image10.wmf"/><Relationship Id="rId11" Type="http://schemas.openxmlformats.org/officeDocument/2006/relationships/oleObject" Target="../embeddings/oleObject9.bin"/><Relationship Id="rId24" Type="http://schemas.openxmlformats.org/officeDocument/2006/relationships/image" Target="../media/image23.emf"/><Relationship Id="rId32" Type="http://schemas.openxmlformats.org/officeDocument/2006/relationships/image" Target="../media/image29.emf"/><Relationship Id="rId5" Type="http://schemas.openxmlformats.org/officeDocument/2006/relationships/oleObject" Target="../embeddings/oleObject6.bin"/><Relationship Id="rId15" Type="http://schemas.openxmlformats.org/officeDocument/2006/relationships/image" Target="../media/image18.emf"/><Relationship Id="rId23" Type="http://schemas.openxmlformats.org/officeDocument/2006/relationships/image" Target="../media/image16.wmf"/><Relationship Id="rId28" Type="http://schemas.openxmlformats.org/officeDocument/2006/relationships/image" Target="../media/image27.emf"/><Relationship Id="rId10" Type="http://schemas.openxmlformats.org/officeDocument/2006/relationships/image" Target="../media/image12.wmf"/><Relationship Id="rId19" Type="http://schemas.openxmlformats.org/officeDocument/2006/relationships/image" Target="../media/image20.emf"/><Relationship Id="rId31" Type="http://schemas.openxmlformats.org/officeDocument/2006/relationships/image" Target="../media/image17.wmf"/><Relationship Id="rId4" Type="http://schemas.openxmlformats.org/officeDocument/2006/relationships/image" Target="../media/image19.png"/><Relationship Id="rId9" Type="http://schemas.openxmlformats.org/officeDocument/2006/relationships/oleObject" Target="../embeddings/oleObject8.bin"/><Relationship Id="rId14" Type="http://schemas.openxmlformats.org/officeDocument/2006/relationships/image" Target="../media/image14.wmf"/><Relationship Id="rId22" Type="http://schemas.openxmlformats.org/officeDocument/2006/relationships/oleObject" Target="../embeddings/oleObject12.bin"/><Relationship Id="rId27" Type="http://schemas.openxmlformats.org/officeDocument/2006/relationships/image" Target="../media/image26.emf"/><Relationship Id="rId30" Type="http://schemas.openxmlformats.org/officeDocument/2006/relationships/oleObject" Target="../embeddings/oleObject13.bin"/><Relationship Id="rId35" Type="http://schemas.openxmlformats.org/officeDocument/2006/relationships/image" Target="../media/image32.emf"/></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vmlDrawing" Target="../drawings/vmlDrawing7.vml"/><Relationship Id="rId5" Type="http://schemas.openxmlformats.org/officeDocument/2006/relationships/image" Target="../media/image33.wmf"/><Relationship Id="rId4" Type="http://schemas.openxmlformats.org/officeDocument/2006/relationships/oleObject" Target="../embeddings/oleObject14.bin"/></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4.wmf"/><Relationship Id="rId2" Type="http://schemas.openxmlformats.org/officeDocument/2006/relationships/tags" Target="../tags/tag15.xml"/><Relationship Id="rId1" Type="http://schemas.openxmlformats.org/officeDocument/2006/relationships/vmlDrawing" Target="../drawings/vmlDrawing8.vml"/><Relationship Id="rId6" Type="http://schemas.openxmlformats.org/officeDocument/2006/relationships/oleObject" Target="../embeddings/oleObject16.bin"/><Relationship Id="rId5" Type="http://schemas.openxmlformats.org/officeDocument/2006/relationships/image" Target="../media/image6.wmf"/><Relationship Id="rId4" Type="http://schemas.openxmlformats.org/officeDocument/2006/relationships/oleObject" Target="../embeddings/oleObject15.bin"/></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5.wmf"/><Relationship Id="rId2" Type="http://schemas.openxmlformats.org/officeDocument/2006/relationships/tags" Target="../tags/tag16.xml"/><Relationship Id="rId1" Type="http://schemas.openxmlformats.org/officeDocument/2006/relationships/vmlDrawing" Target="../drawings/vmlDrawing9.vml"/><Relationship Id="rId6" Type="http://schemas.openxmlformats.org/officeDocument/2006/relationships/oleObject" Target="../embeddings/oleObject18.bin"/><Relationship Id="rId5" Type="http://schemas.openxmlformats.org/officeDocument/2006/relationships/image" Target="../media/image4.wmf"/><Relationship Id="rId4" Type="http://schemas.openxmlformats.org/officeDocument/2006/relationships/oleObject" Target="../embeddings/oleObject17.bin"/></Relationships>
</file>

<file path=ppt/slides/_rels/slide15.xml.rels><?xml version="1.0" encoding="UTF-8" standalone="yes"?>
<Relationships xmlns="http://schemas.openxmlformats.org/package/2006/relationships"><Relationship Id="rId3" Type="http://schemas.openxmlformats.org/officeDocument/2006/relationships/hyperlink" Target="http://www.rasmussenreports.com/public_content/politics/elections/election_2012/election_2012_presidential_election/north_carolina/election_2012_north_carolina_president" TargetMode="External"/><Relationship Id="rId2" Type="http://schemas.openxmlformats.org/officeDocument/2006/relationships/slideLayout" Target="../slideLayouts/slideLayout7.xml"/><Relationship Id="rId1" Type="http://schemas.openxmlformats.org/officeDocument/2006/relationships/tags" Target="../tags/tag17.xml"/><Relationship Id="rId4" Type="http://schemas.openxmlformats.org/officeDocument/2006/relationships/image" Target="../media/image36.jpeg"/></Relationships>
</file>

<file path=ppt/slides/_rels/slide16.x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oleObject" Target="../embeddings/oleObject23.bin"/><Relationship Id="rId3" Type="http://schemas.openxmlformats.org/officeDocument/2006/relationships/slideLayout" Target="../slideLayouts/slideLayout7.xml"/><Relationship Id="rId7" Type="http://schemas.openxmlformats.org/officeDocument/2006/relationships/oleObject" Target="../embeddings/oleObject20.bin"/><Relationship Id="rId12" Type="http://schemas.openxmlformats.org/officeDocument/2006/relationships/image" Target="../media/image40.wmf"/><Relationship Id="rId2" Type="http://schemas.openxmlformats.org/officeDocument/2006/relationships/tags" Target="../tags/tag18.xml"/><Relationship Id="rId1" Type="http://schemas.openxmlformats.org/officeDocument/2006/relationships/vmlDrawing" Target="../drawings/vmlDrawing10.vml"/><Relationship Id="rId6" Type="http://schemas.openxmlformats.org/officeDocument/2006/relationships/image" Target="../media/image37.wmf"/><Relationship Id="rId11" Type="http://schemas.openxmlformats.org/officeDocument/2006/relationships/oleObject" Target="../embeddings/oleObject22.bin"/><Relationship Id="rId5" Type="http://schemas.openxmlformats.org/officeDocument/2006/relationships/oleObject" Target="../embeddings/oleObject19.bin"/><Relationship Id="rId10" Type="http://schemas.openxmlformats.org/officeDocument/2006/relationships/image" Target="../media/image39.wmf"/><Relationship Id="rId4" Type="http://schemas.openxmlformats.org/officeDocument/2006/relationships/image" Target="../media/image42.png"/><Relationship Id="rId9" Type="http://schemas.openxmlformats.org/officeDocument/2006/relationships/oleObject" Target="../embeddings/oleObject21.bin"/><Relationship Id="rId14" Type="http://schemas.openxmlformats.org/officeDocument/2006/relationships/image" Target="../media/image41.wmf"/></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18.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slideLayout" Target="../slideLayouts/slideLayout7.xml"/><Relationship Id="rId7" Type="http://schemas.openxmlformats.org/officeDocument/2006/relationships/oleObject" Target="../embeddings/oleObject25.bin"/><Relationship Id="rId2" Type="http://schemas.openxmlformats.org/officeDocument/2006/relationships/tags" Target="../tags/tag20.xml"/><Relationship Id="rId1" Type="http://schemas.openxmlformats.org/officeDocument/2006/relationships/vmlDrawing" Target="../drawings/vmlDrawing11.vml"/><Relationship Id="rId6" Type="http://schemas.openxmlformats.org/officeDocument/2006/relationships/image" Target="../media/image44.wmf"/><Relationship Id="rId5" Type="http://schemas.openxmlformats.org/officeDocument/2006/relationships/oleObject" Target="../embeddings/oleObject24.bin"/><Relationship Id="rId10" Type="http://schemas.openxmlformats.org/officeDocument/2006/relationships/image" Target="../media/image47.png"/><Relationship Id="rId4" Type="http://schemas.openxmlformats.org/officeDocument/2006/relationships/hyperlink" Target="http://www.lock5stat.com/statkey" TargetMode="External"/><Relationship Id="rId9" Type="http://schemas.openxmlformats.org/officeDocument/2006/relationships/image" Target="../media/image46.png"/></Relationships>
</file>

<file path=ppt/slides/_rels/slide19.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tags" Target="../tags/tag22.xml"/><Relationship Id="rId7" Type="http://schemas.openxmlformats.org/officeDocument/2006/relationships/oleObject" Target="../embeddings/oleObject27.bin"/><Relationship Id="rId12" Type="http://schemas.openxmlformats.org/officeDocument/2006/relationships/image" Target="../media/image50.wmf"/><Relationship Id="rId2" Type="http://schemas.openxmlformats.org/officeDocument/2006/relationships/tags" Target="../tags/tag21.xml"/><Relationship Id="rId1" Type="http://schemas.openxmlformats.org/officeDocument/2006/relationships/vmlDrawing" Target="../drawings/vmlDrawing12.vml"/><Relationship Id="rId6" Type="http://schemas.openxmlformats.org/officeDocument/2006/relationships/image" Target="../media/image35.wmf"/><Relationship Id="rId11" Type="http://schemas.openxmlformats.org/officeDocument/2006/relationships/oleObject" Target="../embeddings/oleObject29.bin"/><Relationship Id="rId5" Type="http://schemas.openxmlformats.org/officeDocument/2006/relationships/oleObject" Target="../embeddings/oleObject26.bin"/><Relationship Id="rId10" Type="http://schemas.openxmlformats.org/officeDocument/2006/relationships/image" Target="../media/image49.wmf"/><Relationship Id="rId4" Type="http://schemas.openxmlformats.org/officeDocument/2006/relationships/slideLayout" Target="../slideLayouts/slideLayout7.xml"/><Relationship Id="rId9" Type="http://schemas.openxmlformats.org/officeDocument/2006/relationships/oleObject" Target="../embeddings/oleObject28.bin"/></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52.wmf"/><Relationship Id="rId2" Type="http://schemas.openxmlformats.org/officeDocument/2006/relationships/tags" Target="../tags/tag23.xml"/><Relationship Id="rId1" Type="http://schemas.openxmlformats.org/officeDocument/2006/relationships/vmlDrawing" Target="../drawings/vmlDrawing13.vml"/><Relationship Id="rId6" Type="http://schemas.openxmlformats.org/officeDocument/2006/relationships/oleObject" Target="../embeddings/oleObject31.bin"/><Relationship Id="rId5" Type="http://schemas.openxmlformats.org/officeDocument/2006/relationships/image" Target="../media/image51.wmf"/><Relationship Id="rId4" Type="http://schemas.openxmlformats.org/officeDocument/2006/relationships/oleObject" Target="../embeddings/oleObject30.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slideLayout" Target="../slideLayouts/slideLayout7.xml"/><Relationship Id="rId7" Type="http://schemas.openxmlformats.org/officeDocument/2006/relationships/image" Target="../media/image53.wmf"/><Relationship Id="rId2" Type="http://schemas.openxmlformats.org/officeDocument/2006/relationships/tags" Target="../tags/tag24.xml"/><Relationship Id="rId1" Type="http://schemas.openxmlformats.org/officeDocument/2006/relationships/vmlDrawing" Target="../drawings/vmlDrawing14.vml"/><Relationship Id="rId6" Type="http://schemas.openxmlformats.org/officeDocument/2006/relationships/oleObject" Target="../embeddings/oleObject33.bin"/><Relationship Id="rId11" Type="http://schemas.openxmlformats.org/officeDocument/2006/relationships/image" Target="../media/image55.wmf"/><Relationship Id="rId5" Type="http://schemas.openxmlformats.org/officeDocument/2006/relationships/image" Target="../media/image52.wmf"/><Relationship Id="rId10" Type="http://schemas.openxmlformats.org/officeDocument/2006/relationships/oleObject" Target="../embeddings/oleObject35.bin"/><Relationship Id="rId4" Type="http://schemas.openxmlformats.org/officeDocument/2006/relationships/oleObject" Target="../embeddings/oleObject32.bin"/><Relationship Id="rId9" Type="http://schemas.openxmlformats.org/officeDocument/2006/relationships/image" Target="../media/image54.wmf"/></Relationships>
</file>

<file path=ppt/slides/_rels/slide22.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vmlDrawing" Target="../drawings/vmlDrawing15.vml"/><Relationship Id="rId6" Type="http://schemas.openxmlformats.org/officeDocument/2006/relationships/image" Target="../media/image55.wmf"/><Relationship Id="rId5" Type="http://schemas.openxmlformats.org/officeDocument/2006/relationships/oleObject" Target="../embeddings/oleObject36.bin"/><Relationship Id="rId4"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6.wmf"/><Relationship Id="rId2" Type="http://schemas.openxmlformats.org/officeDocument/2006/relationships/tags" Target="../tags/tag27.xml"/><Relationship Id="rId1" Type="http://schemas.openxmlformats.org/officeDocument/2006/relationships/vmlDrawing" Target="../drawings/vmlDrawing16.vml"/><Relationship Id="rId6" Type="http://schemas.openxmlformats.org/officeDocument/2006/relationships/oleObject" Target="../embeddings/oleObject38.bin"/><Relationship Id="rId5" Type="http://schemas.openxmlformats.org/officeDocument/2006/relationships/image" Target="../media/image56.wmf"/><Relationship Id="rId4" Type="http://schemas.openxmlformats.org/officeDocument/2006/relationships/oleObject" Target="../embeddings/oleObject37.bin"/></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57.wmf"/><Relationship Id="rId2" Type="http://schemas.openxmlformats.org/officeDocument/2006/relationships/tags" Target="../tags/tag28.xml"/><Relationship Id="rId1" Type="http://schemas.openxmlformats.org/officeDocument/2006/relationships/vmlDrawing" Target="../drawings/vmlDrawing17.vml"/><Relationship Id="rId6" Type="http://schemas.openxmlformats.org/officeDocument/2006/relationships/oleObject" Target="../embeddings/oleObject40.bin"/><Relationship Id="rId5" Type="http://schemas.openxmlformats.org/officeDocument/2006/relationships/image" Target="../media/image5.wmf"/><Relationship Id="rId4" Type="http://schemas.openxmlformats.org/officeDocument/2006/relationships/oleObject" Target="../embeddings/oleObject39.bin"/></Relationships>
</file>

<file path=ppt/slides/_rels/slide25.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26.xml.rels><?xml version="1.0" encoding="UTF-8" standalone="yes"?>
<Relationships xmlns="http://schemas.openxmlformats.org/package/2006/relationships"><Relationship Id="rId8" Type="http://schemas.openxmlformats.org/officeDocument/2006/relationships/image" Target="../media/image60.wmf"/><Relationship Id="rId3" Type="http://schemas.openxmlformats.org/officeDocument/2006/relationships/slideLayout" Target="../slideLayouts/slideLayout7.xml"/><Relationship Id="rId7" Type="http://schemas.openxmlformats.org/officeDocument/2006/relationships/oleObject" Target="../embeddings/oleObject42.bin"/><Relationship Id="rId2" Type="http://schemas.openxmlformats.org/officeDocument/2006/relationships/tags" Target="../tags/tag30.xml"/><Relationship Id="rId1" Type="http://schemas.openxmlformats.org/officeDocument/2006/relationships/vmlDrawing" Target="../drawings/vmlDrawing18.vml"/><Relationship Id="rId6" Type="http://schemas.openxmlformats.org/officeDocument/2006/relationships/image" Target="../media/image59.wmf"/><Relationship Id="rId11" Type="http://schemas.openxmlformats.org/officeDocument/2006/relationships/image" Target="../media/image62.png"/><Relationship Id="rId5" Type="http://schemas.openxmlformats.org/officeDocument/2006/relationships/oleObject" Target="../embeddings/oleObject41.bin"/><Relationship Id="rId10" Type="http://schemas.openxmlformats.org/officeDocument/2006/relationships/image" Target="../media/image61.wmf"/><Relationship Id="rId4" Type="http://schemas.openxmlformats.org/officeDocument/2006/relationships/image" Target="../media/image42.png"/><Relationship Id="rId9" Type="http://schemas.openxmlformats.org/officeDocument/2006/relationships/oleObject" Target="../embeddings/oleObject43.bin"/></Relationships>
</file>

<file path=ppt/slides/_rels/slide27.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slideLayout" Target="../slideLayouts/slideLayout7.xml"/><Relationship Id="rId1" Type="http://schemas.openxmlformats.org/officeDocument/2006/relationships/tags" Target="../tags/tag31.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3.xml"/><Relationship Id="rId1" Type="http://schemas.openxmlformats.org/officeDocument/2006/relationships/tags" Target="../tags/tag32.xml"/><Relationship Id="rId4" Type="http://schemas.openxmlformats.org/officeDocument/2006/relationships/notesSlide" Target="../notesSlides/notesSlide1.xml"/></Relationships>
</file>

<file path=ppt/slides/_rels/slide29.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image" Target="../media/image6.wmf"/><Relationship Id="rId2" Type="http://schemas.openxmlformats.org/officeDocument/2006/relationships/tags" Target="../tags/tag34.xml"/><Relationship Id="rId1" Type="http://schemas.openxmlformats.org/officeDocument/2006/relationships/vmlDrawing" Target="../drawings/vmlDrawing19.vml"/><Relationship Id="rId6" Type="http://schemas.openxmlformats.org/officeDocument/2006/relationships/oleObject" Target="../embeddings/oleObject44.bin"/><Relationship Id="rId5" Type="http://schemas.openxmlformats.org/officeDocument/2006/relationships/notesSlide" Target="../notesSlides/notesSlide2.xml"/><Relationship Id="rId4"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tags" Target="../tags/tag37.xml"/><Relationship Id="rId7" Type="http://schemas.openxmlformats.org/officeDocument/2006/relationships/image" Target="../media/image57.wmf"/><Relationship Id="rId2" Type="http://schemas.openxmlformats.org/officeDocument/2006/relationships/tags" Target="../tags/tag36.xml"/><Relationship Id="rId1" Type="http://schemas.openxmlformats.org/officeDocument/2006/relationships/vmlDrawing" Target="../drawings/vmlDrawing20.vml"/><Relationship Id="rId6" Type="http://schemas.openxmlformats.org/officeDocument/2006/relationships/oleObject" Target="../embeddings/oleObject45.bin"/><Relationship Id="rId5" Type="http://schemas.openxmlformats.org/officeDocument/2006/relationships/notesSlide" Target="../notesSlides/notesSlide3.xml"/><Relationship Id="rId4"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hyperlink" Target="http://www.lock5stat.com/StatKey/theoretical_distribution/theoretical_distribution.html#normal" TargetMode="External"/><Relationship Id="rId4" Type="http://schemas.openxmlformats.org/officeDocument/2006/relationships/notesSlide" Target="../notesSlides/notesSlide4.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notesSlide" Target="../notesSlides/notesSlide5.xml"/></Relationships>
</file>

<file path=ppt/slides/_rels/slide3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slideLayout" Target="../slideLayouts/slideLayout2.xml"/><Relationship Id="rId1" Type="http://schemas.openxmlformats.org/officeDocument/2006/relationships/tags" Target="../tags/tag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1"/>
          <p:cNvSpPr txBox="1">
            <a:spLocks/>
          </p:cNvSpPr>
          <p:nvPr/>
        </p:nvSpPr>
        <p:spPr>
          <a:xfrm>
            <a:off x="2102427" y="1981200"/>
            <a:ext cx="7010400" cy="1905000"/>
          </a:xfrm>
          <a:prstGeom prst="rect">
            <a:avLst/>
          </a:prstGeom>
        </p:spPr>
        <p:txBody>
          <a:bodyPr vert="horz" lIns="91440" tIns="45720" rIns="91440" bIns="45720" rtlCol="0">
            <a:normAutofit/>
          </a:bodyPr>
          <a:lstStyle/>
          <a:p>
            <a:pPr>
              <a:spcBef>
                <a:spcPct val="20000"/>
              </a:spcBef>
              <a:defRPr/>
            </a:pPr>
            <a:r>
              <a:rPr lang="en-US" sz="3200" dirty="0">
                <a:solidFill>
                  <a:srgbClr val="EBDDC3"/>
                </a:solidFill>
              </a:rPr>
              <a:t>Section </a:t>
            </a:r>
            <a:r>
              <a:rPr lang="en-US" sz="3200" dirty="0" smtClean="0">
                <a:solidFill>
                  <a:srgbClr val="EBDDC3"/>
                </a:solidFill>
              </a:rPr>
              <a:t>6.1:</a:t>
            </a:r>
            <a:endParaRPr lang="en-US" sz="3200" dirty="0">
              <a:solidFill>
                <a:srgbClr val="EBDDC3"/>
              </a:solidFill>
            </a:endParaRPr>
          </a:p>
          <a:p>
            <a:pPr>
              <a:spcBef>
                <a:spcPct val="20000"/>
              </a:spcBef>
              <a:defRPr/>
            </a:pPr>
            <a:r>
              <a:rPr lang="en-US" sz="4000" b="1" dirty="0" smtClean="0">
                <a:solidFill>
                  <a:srgbClr val="EBDDC3"/>
                </a:solidFill>
              </a:rPr>
              <a:t>Inference for a Proportion</a:t>
            </a:r>
            <a:endParaRPr lang="en-US" sz="4000" b="1" dirty="0">
              <a:solidFill>
                <a:srgbClr val="EBDDC3"/>
              </a:solidFill>
            </a:endParaRPr>
          </a:p>
        </p:txBody>
      </p:sp>
      <p:sp>
        <p:nvSpPr>
          <p:cNvPr id="3" name="TextBox 2"/>
          <p:cNvSpPr txBox="1"/>
          <p:nvPr/>
        </p:nvSpPr>
        <p:spPr>
          <a:xfrm>
            <a:off x="2362086" y="4137434"/>
            <a:ext cx="6526427" cy="1384995"/>
          </a:xfrm>
          <a:prstGeom prst="rect">
            <a:avLst/>
          </a:prstGeom>
          <a:noFill/>
        </p:spPr>
        <p:txBody>
          <a:bodyPr wrap="square" rtlCol="0">
            <a:spAutoFit/>
          </a:bodyPr>
          <a:lstStyle/>
          <a:p>
            <a:r>
              <a:rPr lang="en-US" sz="2400" dirty="0">
                <a:solidFill>
                  <a:srgbClr val="EBDDC3"/>
                </a:solidFill>
              </a:rPr>
              <a:t>To accompany</a:t>
            </a:r>
          </a:p>
          <a:p>
            <a:r>
              <a:rPr lang="en-US" sz="3200" b="1" i="1" u="sng" dirty="0">
                <a:solidFill>
                  <a:srgbClr val="EBDDC3"/>
                </a:solidFill>
              </a:rPr>
              <a:t>Statistics: Unlocking the Power of Data</a:t>
            </a:r>
            <a:r>
              <a:rPr lang="en-US" sz="3200" b="1" dirty="0">
                <a:solidFill>
                  <a:srgbClr val="EBDDC3"/>
                </a:solidFill>
              </a:rPr>
              <a:t> </a:t>
            </a:r>
          </a:p>
          <a:p>
            <a:r>
              <a:rPr lang="en-US" sz="2800" dirty="0">
                <a:solidFill>
                  <a:srgbClr val="EBDDC3"/>
                </a:solidFill>
              </a:rPr>
              <a:t>by Lock, Lock, Lock, Lock, and Lock</a:t>
            </a:r>
          </a:p>
        </p:txBody>
      </p:sp>
      <p:sp>
        <p:nvSpPr>
          <p:cNvPr id="4" name="TextBox 3"/>
          <p:cNvSpPr txBox="1"/>
          <p:nvPr/>
        </p:nvSpPr>
        <p:spPr>
          <a:xfrm>
            <a:off x="2362200" y="6159819"/>
            <a:ext cx="6490854" cy="492443"/>
          </a:xfrm>
          <a:prstGeom prst="rect">
            <a:avLst/>
          </a:prstGeom>
          <a:noFill/>
        </p:spPr>
        <p:txBody>
          <a:bodyPr wrap="square" rtlCol="0">
            <a:spAutoFit/>
          </a:bodyPr>
          <a:lstStyle/>
          <a:p>
            <a:r>
              <a:rPr lang="en-US" sz="2600" dirty="0">
                <a:solidFill>
                  <a:schemeClr val="accent6">
                    <a:lumMod val="20000"/>
                    <a:lumOff val="80000"/>
                  </a:schemeClr>
                </a:solidFill>
              </a:rPr>
              <a:t>Video by: Professor Kathryn Dobeck</a:t>
            </a:r>
          </a:p>
        </p:txBody>
      </p:sp>
      <p:pic>
        <p:nvPicPr>
          <p:cNvPr id="5" name="Picture 4" descr="WILEY_LOGO_2012.eps"/>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7848600" y="6286513"/>
            <a:ext cx="1143000" cy="239059"/>
          </a:xfrm>
          <a:prstGeom prst="rect">
            <a:avLst/>
          </a:prstGeom>
        </p:spPr>
      </p:pic>
    </p:spTree>
    <p:custDataLst>
      <p:tags r:id="rId1"/>
    </p:custDataLst>
    <p:extLst>
      <p:ext uri="{BB962C8B-B14F-4D97-AF65-F5344CB8AC3E}">
        <p14:creationId xmlns:p14="http://schemas.microsoft.com/office/powerpoint/2010/main" val="23113643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PAnswers"/>
          <p:cNvSpPr>
            <a:spLocks noGrp="1"/>
          </p:cNvSpPr>
          <p:nvPr>
            <p:ph sz="quarter" idx="1"/>
            <p:custDataLst>
              <p:tags r:id="rId2"/>
            </p:custDataLst>
          </p:nvPr>
        </p:nvSpPr>
        <p:spPr>
          <a:xfrm>
            <a:off x="76200" y="1752600"/>
            <a:ext cx="3581400" cy="2971800"/>
          </a:xfrm>
        </p:spPr>
        <p:txBody>
          <a:bodyPr>
            <a:noAutofit/>
          </a:bodyPr>
          <a:lstStyle/>
          <a:p>
            <a:pPr marL="914400" lvl="1" indent="-514350">
              <a:spcBef>
                <a:spcPct val="20000"/>
              </a:spcBef>
              <a:buFont typeface="+mj-lt"/>
              <a:buAutoNum type="arabicPeriod"/>
              <a:defRPr/>
            </a:pPr>
            <a:r>
              <a:rPr lang="en-US" sz="3200" kern="0" dirty="0">
                <a:solidFill>
                  <a:srgbClr val="000000"/>
                </a:solidFill>
              </a:rPr>
              <a:t>statistic</a:t>
            </a:r>
          </a:p>
          <a:p>
            <a:pPr marL="914400" lvl="1" indent="-514350">
              <a:spcBef>
                <a:spcPct val="20000"/>
              </a:spcBef>
              <a:buFont typeface="+mj-lt"/>
              <a:buAutoNum type="arabicPeriod"/>
              <a:defRPr/>
            </a:pPr>
            <a:r>
              <a:rPr lang="en-US" sz="3200" kern="0" dirty="0">
                <a:solidFill>
                  <a:srgbClr val="000000"/>
                </a:solidFill>
              </a:rPr>
              <a:t>parameter</a:t>
            </a:r>
          </a:p>
          <a:p>
            <a:pPr marL="914400" lvl="1" indent="-514350">
              <a:spcBef>
                <a:spcPct val="20000"/>
              </a:spcBef>
              <a:buFont typeface="+mj-lt"/>
              <a:buAutoNum type="arabicPeriod"/>
              <a:defRPr/>
            </a:pPr>
            <a:r>
              <a:rPr lang="en-US" sz="3200" kern="0" dirty="0">
                <a:solidFill>
                  <a:srgbClr val="000000"/>
                </a:solidFill>
              </a:rPr>
              <a:t>null value</a:t>
            </a:r>
          </a:p>
          <a:p>
            <a:pPr marL="914400" lvl="1" indent="-514350">
              <a:spcBef>
                <a:spcPct val="20000"/>
              </a:spcBef>
              <a:buFont typeface="+mj-lt"/>
              <a:buAutoNum type="arabicPeriod"/>
              <a:defRPr/>
            </a:pPr>
            <a:r>
              <a:rPr lang="en-US" sz="3200" kern="0" dirty="0">
                <a:solidFill>
                  <a:srgbClr val="000000"/>
                </a:solidFill>
              </a:rPr>
              <a:t>data</a:t>
            </a:r>
          </a:p>
          <a:p>
            <a:pPr marL="914400" lvl="1" indent="-514350">
              <a:spcBef>
                <a:spcPct val="20000"/>
              </a:spcBef>
              <a:buFont typeface="+mj-lt"/>
              <a:buAutoNum type="arabicPeriod"/>
              <a:defRPr/>
            </a:pPr>
            <a:r>
              <a:rPr lang="en-US" sz="3200" kern="0" dirty="0">
                <a:solidFill>
                  <a:srgbClr val="000000"/>
                </a:solidFill>
              </a:rPr>
              <a:t>standard </a:t>
            </a:r>
            <a:r>
              <a:rPr lang="en-US" sz="3200" kern="0" dirty="0" smtClean="0">
                <a:solidFill>
                  <a:srgbClr val="000000"/>
                </a:solidFill>
              </a:rPr>
              <a:t>error</a:t>
            </a:r>
            <a:endParaRPr lang="en-US" sz="3600" kern="0" dirty="0">
              <a:solidFill>
                <a:srgbClr val="000000"/>
              </a:solidFill>
            </a:endParaRPr>
          </a:p>
        </p:txBody>
      </p:sp>
      <p:sp>
        <p:nvSpPr>
          <p:cNvPr id="7" name="TPQuestion"/>
          <p:cNvSpPr>
            <a:spLocks noGrp="1"/>
          </p:cNvSpPr>
          <p:nvPr>
            <p:ph type="title"/>
          </p:nvPr>
        </p:nvSpPr>
        <p:spPr>
          <a:xfrm>
            <a:off x="152400" y="152400"/>
            <a:ext cx="8763000" cy="990600"/>
          </a:xfrm>
        </p:spPr>
        <p:txBody>
          <a:bodyPr>
            <a:noAutofit/>
          </a:bodyPr>
          <a:lstStyle/>
          <a:p>
            <a:pPr lvl="0"/>
            <a:r>
              <a:rPr lang="en-US" sz="4000" b="1" dirty="0">
                <a:latin typeface="+mn-lt"/>
                <a:ea typeface="+mn-ea"/>
                <a:cs typeface="+mn-cs"/>
              </a:rPr>
              <a:t>The Central Limit Theorem applies to the distribution of the</a:t>
            </a:r>
          </a:p>
        </p:txBody>
      </p:sp>
    </p:spTree>
    <p:custDataLst>
      <p:tags r:id="rId1"/>
    </p:custDataLst>
    <p:extLst>
      <p:ext uri="{BB962C8B-B14F-4D97-AF65-F5344CB8AC3E}">
        <p14:creationId xmlns:p14="http://schemas.microsoft.com/office/powerpoint/2010/main" val="1140462159"/>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tx2"/>
                </a:solidFill>
              </a:rPr>
              <a:t>Central Limit Theorem!</a:t>
            </a:r>
            <a:endParaRPr lang="en-US" sz="4000" b="1" dirty="0">
              <a:solidFill>
                <a:schemeClr val="tx2"/>
              </a:solidFill>
            </a:endParaRPr>
          </a:p>
        </p:txBody>
      </p:sp>
      <p:sp>
        <p:nvSpPr>
          <p:cNvPr id="4" name="Content Placeholder 3"/>
          <p:cNvSpPr>
            <a:spLocks noGrp="1"/>
          </p:cNvSpPr>
          <p:nvPr>
            <p:ph sz="quarter" idx="1"/>
          </p:nvPr>
        </p:nvSpPr>
        <p:spPr>
          <a:xfrm>
            <a:off x="6926" y="1607126"/>
            <a:ext cx="9137073" cy="5174673"/>
          </a:xfrm>
        </p:spPr>
        <p:txBody>
          <a:bodyPr>
            <a:normAutofit/>
          </a:bodyPr>
          <a:lstStyle/>
          <a:p>
            <a:pPr marL="0" indent="0" algn="ctr">
              <a:spcAft>
                <a:spcPts val="1800"/>
              </a:spcAft>
              <a:buNone/>
            </a:pPr>
            <a:r>
              <a:rPr lang="en-US" sz="3600" b="1" dirty="0">
                <a:solidFill>
                  <a:schemeClr val="accent6">
                    <a:lumMod val="50000"/>
                  </a:schemeClr>
                </a:solidFill>
                <a:cs typeface="Times New Roman" pitchFamily="18" charset="0"/>
              </a:rPr>
              <a:t>For a </a:t>
            </a:r>
            <a:r>
              <a:rPr lang="en-US" sz="3600" b="1" i="1" dirty="0">
                <a:solidFill>
                  <a:schemeClr val="accent5">
                    <a:lumMod val="75000"/>
                  </a:schemeClr>
                </a:solidFill>
                <a:cs typeface="Times New Roman" pitchFamily="18" charset="0"/>
              </a:rPr>
              <a:t>sufficiently large sample size</a:t>
            </a:r>
            <a:r>
              <a:rPr lang="en-US" sz="3600" b="1" dirty="0">
                <a:solidFill>
                  <a:schemeClr val="accent6">
                    <a:lumMod val="50000"/>
                  </a:schemeClr>
                </a:solidFill>
                <a:cs typeface="Times New Roman" pitchFamily="18" charset="0"/>
              </a:rPr>
              <a:t>, the distribution of sample statistics for a mean or a proportion is normal</a:t>
            </a:r>
            <a:endParaRPr lang="en-US" sz="3600" dirty="0">
              <a:solidFill>
                <a:schemeClr val="accent6">
                  <a:lumMod val="50000"/>
                </a:schemeClr>
              </a:solidFill>
              <a:cs typeface="Times New Roman" pitchFamily="18" charset="0"/>
            </a:endParaRPr>
          </a:p>
        </p:txBody>
      </p:sp>
    </p:spTree>
    <p:custDataLst>
      <p:tags r:id="rId1"/>
    </p:custDataLst>
    <p:extLst>
      <p:ext uri="{BB962C8B-B14F-4D97-AF65-F5344CB8AC3E}">
        <p14:creationId xmlns:p14="http://schemas.microsoft.com/office/powerpoint/2010/main" val="3233271952"/>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90500" y="152400"/>
            <a:ext cx="8648700" cy="1219200"/>
          </a:xfrm>
          <a:prstGeom prst="rect">
            <a:avLst/>
          </a:prstGeom>
        </p:spPr>
        <p:txBody>
          <a:bodyPr/>
          <a:lstStyle/>
          <a:p>
            <a:pPr lvl="0" algn="ctr">
              <a:spcBef>
                <a:spcPct val="0"/>
              </a:spcBef>
              <a:defRPr/>
            </a:pPr>
            <a:r>
              <a:rPr lang="en-US" sz="4400" b="1" dirty="0" smtClean="0">
                <a:solidFill>
                  <a:schemeClr val="tx2"/>
                </a:solidFill>
              </a:rPr>
              <a:t>Interval Using N(0,1)</a:t>
            </a:r>
            <a:endParaRPr lang="en-US" sz="4000" b="1" dirty="0">
              <a:solidFill>
                <a:schemeClr val="tx2"/>
              </a:solidFill>
            </a:endParaRPr>
          </a:p>
        </p:txBody>
      </p:sp>
      <p:graphicFrame>
        <p:nvGraphicFramePr>
          <p:cNvPr id="196610" name="Object 2"/>
          <p:cNvGraphicFramePr>
            <a:graphicFrameLocks noChangeAspect="1"/>
          </p:cNvGraphicFramePr>
          <p:nvPr>
            <p:extLst>
              <p:ext uri="{D42A27DB-BD31-4B8C-83A1-F6EECF244321}">
                <p14:modId xmlns:p14="http://schemas.microsoft.com/office/powerpoint/2010/main" val="2221805425"/>
              </p:ext>
            </p:extLst>
          </p:nvPr>
        </p:nvGraphicFramePr>
        <p:xfrm>
          <a:off x="685800" y="3581400"/>
          <a:ext cx="7380588" cy="990600"/>
        </p:xfrm>
        <a:graphic>
          <a:graphicData uri="http://schemas.openxmlformats.org/presentationml/2006/ole">
            <mc:AlternateContent xmlns:mc="http://schemas.openxmlformats.org/markup-compatibility/2006">
              <mc:Choice xmlns:v="urn:schemas-microsoft-com:vml" Requires="v">
                <p:oleObj spid="_x0000_s2064" name="Equation" r:id="rId4" imgW="1701720" imgH="228600" progId="Equation.DSMT4">
                  <p:embed/>
                </p:oleObj>
              </mc:Choice>
              <mc:Fallback>
                <p:oleObj name="Equation" r:id="rId4" imgW="1701720" imgH="228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3581400"/>
                        <a:ext cx="7380588" cy="9906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Content Placeholder 2"/>
          <p:cNvSpPr>
            <a:spLocks noGrp="1"/>
          </p:cNvSpPr>
          <p:nvPr>
            <p:ph sz="quarter" idx="1"/>
          </p:nvPr>
        </p:nvSpPr>
        <p:spPr>
          <a:xfrm>
            <a:off x="6926" y="1600200"/>
            <a:ext cx="9137073" cy="4800600"/>
          </a:xfrm>
        </p:spPr>
        <p:txBody>
          <a:bodyPr>
            <a:normAutofit lnSpcReduction="10000"/>
          </a:bodyPr>
          <a:lstStyle/>
          <a:p>
            <a:r>
              <a:rPr lang="en-US" sz="4000" b="1" i="1" dirty="0">
                <a:solidFill>
                  <a:schemeClr val="accent5">
                    <a:lumMod val="75000"/>
                  </a:schemeClr>
                </a:solidFill>
              </a:rPr>
              <a:t>IF SAMPLE SIZES ARE LARGE…</a:t>
            </a:r>
          </a:p>
          <a:p>
            <a:endParaRPr lang="en-US" sz="2000" dirty="0"/>
          </a:p>
          <a:p>
            <a:r>
              <a:rPr lang="en-US" sz="3200" dirty="0"/>
              <a:t>A </a:t>
            </a:r>
            <a:r>
              <a:rPr lang="en-US" sz="3200" b="1" i="1" dirty="0">
                <a:solidFill>
                  <a:schemeClr val="accent5">
                    <a:lumMod val="75000"/>
                  </a:schemeClr>
                </a:solidFill>
              </a:rPr>
              <a:t>confidence interval</a:t>
            </a:r>
            <a:r>
              <a:rPr lang="en-US" sz="3200" b="1" dirty="0"/>
              <a:t> </a:t>
            </a:r>
            <a:r>
              <a:rPr lang="en-US" sz="3200" dirty="0"/>
              <a:t>can be calculated by</a:t>
            </a:r>
          </a:p>
          <a:p>
            <a:endParaRPr lang="en-US" sz="3200" dirty="0"/>
          </a:p>
          <a:p>
            <a:endParaRPr lang="en-US" sz="3200" dirty="0"/>
          </a:p>
          <a:p>
            <a:endParaRPr lang="en-US" sz="3200" dirty="0"/>
          </a:p>
          <a:p>
            <a:endParaRPr lang="en-US" sz="3200" dirty="0"/>
          </a:p>
          <a:p>
            <a:r>
              <a:rPr lang="en-US" sz="3200" dirty="0"/>
              <a:t>where </a:t>
            </a:r>
            <a:r>
              <a:rPr lang="en-US" sz="3200" i="1" dirty="0"/>
              <a:t>z</a:t>
            </a:r>
            <a:r>
              <a:rPr lang="en-US" sz="3200" i="1" baseline="30000" dirty="0"/>
              <a:t>*</a:t>
            </a:r>
            <a:r>
              <a:rPr lang="en-US" sz="3200" i="1" dirty="0"/>
              <a:t> </a:t>
            </a:r>
            <a:r>
              <a:rPr lang="en-US" sz="3200" dirty="0"/>
              <a:t>is a N(0,1) percentile depending on the level of confidence. </a:t>
            </a:r>
          </a:p>
          <a:p>
            <a:endParaRPr lang="en-US" dirty="0"/>
          </a:p>
        </p:txBody>
      </p:sp>
    </p:spTree>
    <p:custDataLst>
      <p:tags r:id="rId2"/>
    </p:custDataLst>
    <p:extLst>
      <p:ext uri="{BB962C8B-B14F-4D97-AF65-F5344CB8AC3E}">
        <p14:creationId xmlns:p14="http://schemas.microsoft.com/office/powerpoint/2010/main" val="3320894427"/>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495300" y="152400"/>
            <a:ext cx="8153400" cy="1219200"/>
          </a:xfrm>
          <a:prstGeom prst="rect">
            <a:avLst/>
          </a:prstGeom>
        </p:spPr>
        <p:txBody>
          <a:bodyPr/>
          <a:lstStyle/>
          <a:p>
            <a:pPr lvl="0" algn="ctr">
              <a:spcBef>
                <a:spcPct val="0"/>
              </a:spcBef>
              <a:defRPr/>
            </a:pPr>
            <a:r>
              <a:rPr lang="en-US" sz="4400" b="1" dirty="0" smtClean="0">
                <a:solidFill>
                  <a:schemeClr val="accent6">
                    <a:lumMod val="75000"/>
                  </a:schemeClr>
                </a:solidFill>
              </a:rPr>
              <a:t> </a:t>
            </a:r>
            <a:r>
              <a:rPr lang="en-US" sz="4400" b="1" dirty="0" smtClean="0">
                <a:solidFill>
                  <a:schemeClr val="tx2"/>
                </a:solidFill>
              </a:rPr>
              <a:t>Tests Using N(0,1)</a:t>
            </a:r>
            <a:endParaRPr lang="en-US" sz="4000" b="1" dirty="0">
              <a:solidFill>
                <a:schemeClr val="tx2"/>
              </a:solidFill>
            </a:endParaRPr>
          </a:p>
        </p:txBody>
      </p:sp>
      <p:graphicFrame>
        <p:nvGraphicFramePr>
          <p:cNvPr id="210947" name="Object 3"/>
          <p:cNvGraphicFramePr>
            <a:graphicFrameLocks noChangeAspect="1"/>
          </p:cNvGraphicFramePr>
          <p:nvPr/>
        </p:nvGraphicFramePr>
        <p:xfrm>
          <a:off x="990600" y="3962400"/>
          <a:ext cx="6946902" cy="1371600"/>
        </p:xfrm>
        <a:graphic>
          <a:graphicData uri="http://schemas.openxmlformats.org/presentationml/2006/ole">
            <mc:AlternateContent xmlns:mc="http://schemas.openxmlformats.org/markup-compatibility/2006">
              <mc:Choice xmlns:v="urn:schemas-microsoft-com:vml" Requires="v">
                <p:oleObj spid="_x0000_s3089" name="Equation" r:id="rId4" imgW="1993680" imgH="393480" progId="Equation.DSMT4">
                  <p:embed/>
                </p:oleObj>
              </mc:Choice>
              <mc:Fallback>
                <p:oleObj name="Equation" r:id="rId4" imgW="1993680" imgH="39348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3962400"/>
                        <a:ext cx="6946902" cy="13716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Content Placeholder 2"/>
          <p:cNvSpPr>
            <a:spLocks noGrp="1"/>
          </p:cNvSpPr>
          <p:nvPr>
            <p:ph sz="quarter" idx="1"/>
          </p:nvPr>
        </p:nvSpPr>
        <p:spPr>
          <a:xfrm>
            <a:off x="27708" y="1524000"/>
            <a:ext cx="9040091" cy="5105400"/>
          </a:xfrm>
        </p:spPr>
        <p:txBody>
          <a:bodyPr/>
          <a:lstStyle/>
          <a:p>
            <a:pPr lvl="0"/>
            <a:r>
              <a:rPr lang="en-US" sz="4000" b="1" i="1" dirty="0">
                <a:solidFill>
                  <a:schemeClr val="accent5">
                    <a:lumMod val="75000"/>
                  </a:schemeClr>
                </a:solidFill>
              </a:rPr>
              <a:t>IF SAMPLE SIZES ARE </a:t>
            </a:r>
            <a:r>
              <a:rPr lang="en-US" sz="4000" b="1" i="1" dirty="0" smtClean="0">
                <a:solidFill>
                  <a:schemeClr val="accent5">
                    <a:lumMod val="75000"/>
                  </a:schemeClr>
                </a:solidFill>
              </a:rPr>
              <a:t>LARGE…</a:t>
            </a:r>
            <a:endParaRPr lang="en-US" dirty="0"/>
          </a:p>
          <a:p>
            <a:endParaRPr lang="en-US" sz="1400" dirty="0"/>
          </a:p>
          <a:p>
            <a:r>
              <a:rPr lang="en-US" sz="3200" dirty="0"/>
              <a:t>A </a:t>
            </a:r>
            <a:r>
              <a:rPr lang="en-US" sz="3200" b="1" i="1" dirty="0">
                <a:solidFill>
                  <a:schemeClr val="accent5">
                    <a:lumMod val="75000"/>
                  </a:schemeClr>
                </a:solidFill>
              </a:rPr>
              <a:t>p-value</a:t>
            </a:r>
            <a:r>
              <a:rPr lang="en-US" sz="3200" dirty="0"/>
              <a:t> is the area in the tail(s) of a N(0,1) beyond</a:t>
            </a:r>
          </a:p>
          <a:p>
            <a:endParaRPr lang="en-US" dirty="0"/>
          </a:p>
        </p:txBody>
      </p:sp>
    </p:spTree>
    <p:custDataLst>
      <p:tags r:id="rId2"/>
    </p:custDataLst>
    <p:extLst>
      <p:ext uri="{BB962C8B-B14F-4D97-AF65-F5344CB8AC3E}">
        <p14:creationId xmlns:p14="http://schemas.microsoft.com/office/powerpoint/2010/main" val="4036085779"/>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tx2"/>
                </a:solidFill>
              </a:rPr>
              <a:t>Standard Errors</a:t>
            </a:r>
            <a:endParaRPr lang="en-US" sz="4000" b="1" dirty="0">
              <a:solidFill>
                <a:schemeClr val="tx2"/>
              </a:solidFill>
            </a:endParaRPr>
          </a:p>
        </p:txBody>
      </p:sp>
      <p:sp>
        <p:nvSpPr>
          <p:cNvPr id="5" name="Content Placeholder 4"/>
          <p:cNvSpPr>
            <a:spLocks noGrp="1"/>
          </p:cNvSpPr>
          <p:nvPr>
            <p:ph sz="quarter" idx="1"/>
          </p:nvPr>
        </p:nvSpPr>
        <p:spPr>
          <a:xfrm>
            <a:off x="34636" y="1600200"/>
            <a:ext cx="8956964" cy="4876800"/>
          </a:xfrm>
        </p:spPr>
        <p:txBody>
          <a:bodyPr>
            <a:normAutofit/>
          </a:bodyPr>
          <a:lstStyle/>
          <a:p>
            <a:r>
              <a:rPr lang="en-US" sz="3600" b="1" dirty="0">
                <a:solidFill>
                  <a:schemeClr val="accent6">
                    <a:lumMod val="50000"/>
                  </a:schemeClr>
                </a:solidFill>
                <a:cs typeface="Times New Roman" pitchFamily="18" charset="0"/>
              </a:rPr>
              <a:t>Today, we’ll learn formulas for the standard </a:t>
            </a:r>
            <a:r>
              <a:rPr lang="en-US" sz="3600" b="1" dirty="0" smtClean="0">
                <a:solidFill>
                  <a:schemeClr val="accent6">
                    <a:lumMod val="50000"/>
                  </a:schemeClr>
                </a:solidFill>
                <a:cs typeface="Times New Roman" pitchFamily="18" charset="0"/>
              </a:rPr>
              <a:t>errors!</a:t>
            </a:r>
            <a:endParaRPr lang="en-US" sz="3600" b="1" dirty="0">
              <a:solidFill>
                <a:schemeClr val="accent6">
                  <a:lumMod val="50000"/>
                </a:schemeClr>
              </a:solidFill>
            </a:endParaRPr>
          </a:p>
        </p:txBody>
      </p:sp>
    </p:spTree>
    <p:custDataLst>
      <p:tags r:id="rId1"/>
    </p:custDataLst>
    <p:extLst>
      <p:ext uri="{BB962C8B-B14F-4D97-AF65-F5344CB8AC3E}">
        <p14:creationId xmlns:p14="http://schemas.microsoft.com/office/powerpoint/2010/main" val="4037233596"/>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
          </p:nvPr>
        </p:nvSpPr>
        <p:spPr>
          <a:xfrm>
            <a:off x="34636" y="1600200"/>
            <a:ext cx="9109364" cy="4495800"/>
          </a:xfrm>
        </p:spPr>
        <p:txBody>
          <a:bodyPr/>
          <a:lstStyle/>
          <a:p>
            <a:pPr>
              <a:spcAft>
                <a:spcPts val="1800"/>
              </a:spcAft>
            </a:pPr>
            <a:r>
              <a:rPr lang="en-US" sz="3200" dirty="0">
                <a:solidFill>
                  <a:prstClr val="black"/>
                </a:solidFill>
                <a:cs typeface="Times New Roman" pitchFamily="18" charset="0"/>
              </a:rPr>
              <a:t>The standard error for a sample proportion can be calculated by</a:t>
            </a:r>
            <a:endParaRPr lang="en-US" sz="2800" dirty="0">
              <a:solidFill>
                <a:prstClr val="black"/>
              </a:solidFill>
              <a:cs typeface="Times New Roman" pitchFamily="18" charset="0"/>
            </a:endParaRPr>
          </a:p>
          <a:p>
            <a:pPr>
              <a:spcAft>
                <a:spcPts val="1800"/>
              </a:spcAft>
              <a:buFont typeface="Arial" pitchFamily="34" charset="0"/>
              <a:buChar char="•"/>
            </a:pPr>
            <a:endParaRPr lang="en-US" sz="2800" b="1" i="1" dirty="0">
              <a:solidFill>
                <a:srgbClr val="C00000"/>
              </a:solidFill>
              <a:cs typeface="Times New Roman" pitchFamily="18" charset="0"/>
            </a:endParaRPr>
          </a:p>
          <a:p>
            <a:pPr>
              <a:spcAft>
                <a:spcPts val="1800"/>
              </a:spcAft>
            </a:pPr>
            <a:endParaRPr lang="en-US" sz="2800" dirty="0">
              <a:solidFill>
                <a:srgbClr val="C00000"/>
              </a:solidFill>
              <a:cs typeface="Times New Roman" pitchFamily="18" charset="0"/>
            </a:endParaRPr>
          </a:p>
          <a:p>
            <a:pPr>
              <a:spcAft>
                <a:spcPts val="1800"/>
              </a:spcAft>
              <a:buFont typeface="Arial" pitchFamily="34" charset="0"/>
              <a:buChar char="•"/>
            </a:pPr>
            <a:endParaRPr lang="en-US" sz="2800" dirty="0">
              <a:solidFill>
                <a:prstClr val="black"/>
              </a:solidFill>
              <a:cs typeface="Times New Roman" pitchFamily="18" charset="0"/>
            </a:endParaRPr>
          </a:p>
          <a:p>
            <a:pPr>
              <a:spcAft>
                <a:spcPts val="1800"/>
              </a:spcAft>
            </a:pPr>
            <a:endParaRPr lang="en-US" sz="2400" dirty="0">
              <a:solidFill>
                <a:prstClr val="black"/>
              </a:solidFill>
              <a:cs typeface="Times New Roman" pitchFamily="18" charset="0"/>
            </a:endParaRPr>
          </a:p>
          <a:p>
            <a:endParaRPr lang="en-US" dirty="0"/>
          </a:p>
        </p:txBody>
      </p:sp>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tx2"/>
                </a:solidFill>
              </a:rPr>
              <a:t>SE of a Proportion</a:t>
            </a:r>
            <a:endParaRPr lang="en-US" sz="4000" b="1" dirty="0">
              <a:solidFill>
                <a:schemeClr val="tx2"/>
              </a:solidFill>
            </a:endParaRPr>
          </a:p>
        </p:txBody>
      </p:sp>
      <p:graphicFrame>
        <p:nvGraphicFramePr>
          <p:cNvPr id="5" name="Object 4"/>
          <p:cNvGraphicFramePr>
            <a:graphicFrameLocks noChangeAspect="1"/>
          </p:cNvGraphicFramePr>
          <p:nvPr/>
        </p:nvGraphicFramePr>
        <p:xfrm>
          <a:off x="2233749" y="2819400"/>
          <a:ext cx="4471851" cy="1981200"/>
        </p:xfrm>
        <a:graphic>
          <a:graphicData uri="http://schemas.openxmlformats.org/presentationml/2006/ole">
            <mc:AlternateContent xmlns:mc="http://schemas.openxmlformats.org/markup-compatibility/2006">
              <mc:Choice xmlns:v="urn:schemas-microsoft-com:vml" Requires="v">
                <p:oleObj spid="_x0000_s4115" name="Equation" r:id="rId4" imgW="1002960" imgH="444240" progId="Equation.DSMT4">
                  <p:embed/>
                </p:oleObj>
              </mc:Choice>
              <mc:Fallback>
                <p:oleObj name="Equation" r:id="rId4" imgW="1002960" imgH="44424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3749" y="2819400"/>
                        <a:ext cx="4471851" cy="19812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0" y="5257800"/>
            <a:ext cx="9144000" cy="1077218"/>
          </a:xfrm>
          <a:prstGeom prst="rect">
            <a:avLst/>
          </a:prstGeom>
          <a:noFill/>
        </p:spPr>
        <p:txBody>
          <a:bodyPr wrap="square" rtlCol="0">
            <a:spAutoFit/>
          </a:bodyPr>
          <a:lstStyle/>
          <a:p>
            <a:pPr>
              <a:spcAft>
                <a:spcPts val="1800"/>
              </a:spcAft>
            </a:pPr>
            <a:r>
              <a:rPr lang="en-US" sz="3200" dirty="0" smtClean="0">
                <a:solidFill>
                  <a:prstClr val="black"/>
                </a:solidFill>
                <a:cs typeface="Times New Roman" pitchFamily="18" charset="0"/>
              </a:rPr>
              <a:t>*Notice the sample size in the denominator… as the sample size increases, the standard error decreases</a:t>
            </a:r>
            <a:endParaRPr lang="en-US" sz="2800" dirty="0">
              <a:solidFill>
                <a:prstClr val="black"/>
              </a:solidFill>
              <a:cs typeface="Times New Roman" pitchFamily="18" charset="0"/>
            </a:endParaRPr>
          </a:p>
        </p:txBody>
      </p:sp>
    </p:spTree>
    <p:custDataLst>
      <p:tags r:id="rId2"/>
    </p:custDataLst>
    <p:extLst>
      <p:ext uri="{BB962C8B-B14F-4D97-AF65-F5344CB8AC3E}">
        <p14:creationId xmlns:p14="http://schemas.microsoft.com/office/powerpoint/2010/main" val="88078328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tx2"/>
                </a:solidFill>
              </a:rPr>
              <a:t>Paul the Octopus</a:t>
            </a:r>
            <a:endParaRPr lang="en-US" sz="4000" b="1" dirty="0">
              <a:solidFill>
                <a:schemeClr val="tx2"/>
              </a:solidFill>
            </a:endParaRPr>
          </a:p>
        </p:txBody>
      </p:sp>
      <p:graphicFrame>
        <p:nvGraphicFramePr>
          <p:cNvPr id="5" name="Object 4"/>
          <p:cNvGraphicFramePr>
            <a:graphicFrameLocks noChangeAspect="1"/>
          </p:cNvGraphicFramePr>
          <p:nvPr/>
        </p:nvGraphicFramePr>
        <p:xfrm>
          <a:off x="685800" y="3505200"/>
          <a:ext cx="7772400" cy="1409427"/>
        </p:xfrm>
        <a:graphic>
          <a:graphicData uri="http://schemas.openxmlformats.org/presentationml/2006/ole">
            <mc:AlternateContent xmlns:mc="http://schemas.openxmlformats.org/markup-compatibility/2006">
              <mc:Choice xmlns:v="urn:schemas-microsoft-com:vml" Requires="v">
                <p:oleObj spid="_x0000_s5137" name="Equation" r:id="rId4" imgW="2450880" imgH="444240" progId="Equation.DSMT4">
                  <p:embed/>
                </p:oleObj>
              </mc:Choice>
              <mc:Fallback>
                <p:oleObj name="Equation" r:id="rId4" imgW="2450880" imgH="44424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3505200"/>
                        <a:ext cx="7772400" cy="1409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sp>
        <p:nvSpPr>
          <p:cNvPr id="6" name="Content Placeholder 5"/>
          <p:cNvSpPr>
            <a:spLocks noGrp="1"/>
          </p:cNvSpPr>
          <p:nvPr>
            <p:ph sz="quarter" idx="1"/>
          </p:nvPr>
        </p:nvSpPr>
        <p:spPr>
          <a:xfrm>
            <a:off x="0" y="1600200"/>
            <a:ext cx="9144000" cy="4876800"/>
          </a:xfrm>
        </p:spPr>
        <p:txBody>
          <a:bodyPr/>
          <a:lstStyle/>
          <a:p>
            <a:r>
              <a:rPr lang="en-US" sz="3200" dirty="0">
                <a:solidFill>
                  <a:schemeClr val="accent6">
                    <a:lumMod val="50000"/>
                  </a:schemeClr>
                </a:solidFill>
                <a:cs typeface="Times New Roman" pitchFamily="18" charset="0"/>
              </a:rPr>
              <a:t>If he is truly guessing randomly, then </a:t>
            </a:r>
            <a:r>
              <a:rPr lang="en-US" sz="3200" i="1" dirty="0">
                <a:solidFill>
                  <a:schemeClr val="accent6">
                    <a:lumMod val="50000"/>
                  </a:schemeClr>
                </a:solidFill>
                <a:cs typeface="Times New Roman" pitchFamily="18" charset="0"/>
              </a:rPr>
              <a:t>p </a:t>
            </a:r>
            <a:r>
              <a:rPr lang="en-US" sz="3200" dirty="0">
                <a:solidFill>
                  <a:schemeClr val="accent6">
                    <a:lumMod val="50000"/>
                  </a:schemeClr>
                </a:solidFill>
                <a:cs typeface="Times New Roman" pitchFamily="18" charset="0"/>
              </a:rPr>
              <a:t>= 0.5 so the SE of his sample proportion correct out of 8 guesses is</a:t>
            </a:r>
            <a:endParaRPr lang="en-US" sz="2800" dirty="0">
              <a:solidFill>
                <a:schemeClr val="accent6">
                  <a:lumMod val="50000"/>
                </a:schemeClr>
              </a:solidFill>
              <a:cs typeface="Times New Roman" pitchFamily="18" charset="0"/>
            </a:endParaRPr>
          </a:p>
          <a:p>
            <a:pPr marL="0" indent="0">
              <a:buNone/>
            </a:pPr>
            <a:endParaRPr lang="en-US" dirty="0">
              <a:solidFill>
                <a:schemeClr val="accent6">
                  <a:lumMod val="50000"/>
                </a:schemeClr>
              </a:solidFill>
            </a:endParaRPr>
          </a:p>
        </p:txBody>
      </p:sp>
    </p:spTree>
    <p:custDataLst>
      <p:tags r:id="rId2"/>
    </p:custDataLst>
    <p:extLst>
      <p:ext uri="{BB962C8B-B14F-4D97-AF65-F5344CB8AC3E}">
        <p14:creationId xmlns:p14="http://schemas.microsoft.com/office/powerpoint/2010/main" val="42094157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124200" y="1752600"/>
            <a:ext cx="3886200" cy="461665"/>
          </a:xfrm>
          <a:prstGeom prst="rect">
            <a:avLst/>
          </a:prstGeom>
          <a:noFill/>
        </p:spPr>
        <p:txBody>
          <a:bodyPr wrap="square" rtlCol="0">
            <a:spAutoFit/>
          </a:bodyPr>
          <a:lstStyle/>
          <a:p>
            <a:r>
              <a:rPr lang="en-US" sz="2400" dirty="0" smtClean="0">
                <a:hlinkClick r:id="rId3"/>
              </a:rPr>
              <a:t>www.lock5stat.com/statkey</a:t>
            </a:r>
            <a:r>
              <a:rPr lang="en-US" dirty="0" smtClean="0"/>
              <a:t> </a:t>
            </a:r>
          </a:p>
        </p:txBody>
      </p:sp>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tx2"/>
                </a:solidFill>
              </a:rPr>
              <a:t>Paul the Octopus</a:t>
            </a:r>
            <a:endParaRPr lang="en-US" sz="4000" b="1" dirty="0">
              <a:solidFill>
                <a:schemeClr val="tx2"/>
              </a:solidFill>
            </a:endParaRPr>
          </a:p>
        </p:txBody>
      </p:sp>
      <p:pic>
        <p:nvPicPr>
          <p:cNvPr id="223235" name="Picture 3"/>
          <p:cNvPicPr>
            <a:picLocks noChangeAspect="1" noChangeArrowheads="1"/>
          </p:cNvPicPr>
          <p:nvPr/>
        </p:nvPicPr>
        <p:blipFill>
          <a:blip r:embed="rId4" cstate="print"/>
          <a:srcRect/>
          <a:stretch>
            <a:fillRect/>
          </a:stretch>
        </p:blipFill>
        <p:spPr bwMode="auto">
          <a:xfrm>
            <a:off x="1066800" y="2216727"/>
            <a:ext cx="6705600" cy="4477440"/>
          </a:xfrm>
          <a:prstGeom prst="rect">
            <a:avLst/>
          </a:prstGeom>
          <a:noFill/>
          <a:ln w="9525">
            <a:noFill/>
            <a:miter lim="800000"/>
            <a:headEnd/>
            <a:tailEnd/>
          </a:ln>
        </p:spPr>
      </p:pic>
      <p:sp>
        <p:nvSpPr>
          <p:cNvPr id="5" name="Oval 4"/>
          <p:cNvSpPr/>
          <p:nvPr/>
        </p:nvSpPr>
        <p:spPr>
          <a:xfrm>
            <a:off x="4038600" y="3048000"/>
            <a:ext cx="1295400" cy="381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34636" y="1179492"/>
            <a:ext cx="9033164" cy="1077218"/>
          </a:xfrm>
          <a:prstGeom prst="rect">
            <a:avLst/>
          </a:prstGeom>
          <a:noFill/>
        </p:spPr>
        <p:txBody>
          <a:bodyPr wrap="square" rtlCol="0">
            <a:spAutoFit/>
          </a:bodyPr>
          <a:lstStyle/>
          <a:p>
            <a:r>
              <a:rPr lang="en-US" sz="3200" dirty="0" smtClean="0"/>
              <a:t>This is the same value we get from a randomization distribution…</a:t>
            </a:r>
            <a:endParaRPr lang="en-US" sz="3200" dirty="0"/>
          </a:p>
        </p:txBody>
      </p:sp>
    </p:spTree>
    <p:custDataLst>
      <p:tags r:id="rId1"/>
    </p:custDataLst>
    <p:extLst>
      <p:ext uri="{BB962C8B-B14F-4D97-AF65-F5344CB8AC3E}">
        <p14:creationId xmlns:p14="http://schemas.microsoft.com/office/powerpoint/2010/main" val="464964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32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ppt_w</p:attrName>
                                        </p:attrNameLst>
                                      </p:cBhvr>
                                      <p:tavLst>
                                        <p:tav tm="0">
                                          <p:val>
                                            <p:fltVal val="0"/>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3400" y="1371600"/>
            <a:ext cx="8153400" cy="4585871"/>
          </a:xfrm>
          <a:prstGeom prst="rect">
            <a:avLst/>
          </a:prstGeom>
          <a:noFill/>
        </p:spPr>
        <p:txBody>
          <a:bodyPr wrap="square" rtlCol="0">
            <a:spAutoFit/>
          </a:bodyPr>
          <a:lstStyle/>
          <a:p>
            <a:pPr>
              <a:spcAft>
                <a:spcPts val="1800"/>
              </a:spcAft>
            </a:pPr>
            <a:r>
              <a:rPr lang="en-US" sz="3600" dirty="0" smtClean="0">
                <a:solidFill>
                  <a:prstClr val="black"/>
                </a:solidFill>
                <a:cs typeface="Times New Roman" pitchFamily="18" charset="0"/>
              </a:rPr>
              <a:t>If Paul really does have psychic powers, and can guess the correct team every time, then </a:t>
            </a:r>
            <a:r>
              <a:rPr lang="en-US" sz="3600" i="1" dirty="0" smtClean="0">
                <a:solidFill>
                  <a:prstClr val="black"/>
                </a:solidFill>
                <a:cs typeface="Times New Roman" pitchFamily="18" charset="0"/>
              </a:rPr>
              <a:t>p</a:t>
            </a:r>
            <a:r>
              <a:rPr lang="en-US" sz="3600" dirty="0" smtClean="0">
                <a:solidFill>
                  <a:prstClr val="black"/>
                </a:solidFill>
                <a:cs typeface="Times New Roman" pitchFamily="18" charset="0"/>
              </a:rPr>
              <a:t> = 1, and</a:t>
            </a:r>
            <a:endParaRPr lang="en-US" sz="3200" dirty="0" smtClean="0">
              <a:solidFill>
                <a:prstClr val="black"/>
              </a:solidFill>
              <a:cs typeface="Times New Roman" pitchFamily="18" charset="0"/>
            </a:endParaRPr>
          </a:p>
          <a:p>
            <a:pPr>
              <a:spcAft>
                <a:spcPts val="1800"/>
              </a:spcAft>
              <a:buFont typeface="Arial" pitchFamily="34" charset="0"/>
              <a:buChar char="•"/>
            </a:pPr>
            <a:endParaRPr lang="en-US" sz="3200" b="1" i="1" dirty="0" smtClean="0">
              <a:solidFill>
                <a:srgbClr val="C00000"/>
              </a:solidFill>
              <a:cs typeface="Times New Roman" pitchFamily="18" charset="0"/>
            </a:endParaRPr>
          </a:p>
          <a:p>
            <a:pPr>
              <a:spcAft>
                <a:spcPts val="1800"/>
              </a:spcAft>
            </a:pPr>
            <a:endParaRPr lang="en-US" sz="3200" dirty="0" smtClean="0">
              <a:solidFill>
                <a:srgbClr val="C00000"/>
              </a:solidFill>
              <a:cs typeface="Times New Roman" pitchFamily="18" charset="0"/>
            </a:endParaRPr>
          </a:p>
          <a:p>
            <a:pPr>
              <a:spcAft>
                <a:spcPts val="1800"/>
              </a:spcAft>
              <a:buFont typeface="Arial" pitchFamily="34" charset="0"/>
              <a:buChar char="•"/>
            </a:pPr>
            <a:endParaRPr lang="en-US" sz="3200" dirty="0" smtClean="0">
              <a:solidFill>
                <a:prstClr val="black"/>
              </a:solidFill>
              <a:cs typeface="Times New Roman" pitchFamily="18" charset="0"/>
            </a:endParaRPr>
          </a:p>
          <a:p>
            <a:pPr>
              <a:spcAft>
                <a:spcPts val="1800"/>
              </a:spcAft>
            </a:pPr>
            <a:endParaRPr lang="en-US" sz="2800" dirty="0">
              <a:solidFill>
                <a:prstClr val="black"/>
              </a:solidFill>
              <a:cs typeface="Times New Roman" pitchFamily="18" charset="0"/>
            </a:endParaRPr>
          </a:p>
        </p:txBody>
      </p:sp>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tx2"/>
                </a:solidFill>
              </a:rPr>
              <a:t>Paul the Octopus</a:t>
            </a:r>
            <a:endParaRPr lang="en-US" sz="4000" b="1" dirty="0">
              <a:solidFill>
                <a:schemeClr val="tx2"/>
              </a:solidFill>
            </a:endParaRPr>
          </a:p>
        </p:txBody>
      </p:sp>
      <p:graphicFrame>
        <p:nvGraphicFramePr>
          <p:cNvPr id="322563" name="Object 3"/>
          <p:cNvGraphicFramePr>
            <a:graphicFrameLocks noChangeAspect="1"/>
          </p:cNvGraphicFramePr>
          <p:nvPr/>
        </p:nvGraphicFramePr>
        <p:xfrm>
          <a:off x="2590800" y="3581400"/>
          <a:ext cx="3584575" cy="1409700"/>
        </p:xfrm>
        <a:graphic>
          <a:graphicData uri="http://schemas.openxmlformats.org/presentationml/2006/ole">
            <mc:AlternateContent xmlns:mc="http://schemas.openxmlformats.org/markup-compatibility/2006">
              <mc:Choice xmlns:v="urn:schemas-microsoft-com:vml" Requires="v">
                <p:oleObj spid="_x0000_s6160" name="Equation" r:id="rId4" imgW="1130040" imgH="444240" progId="Equation.DSMT4">
                  <p:embed/>
                </p:oleObj>
              </mc:Choice>
              <mc:Fallback>
                <p:oleObj name="Equation" r:id="rId4" imgW="1130040" imgH="44424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3581400"/>
                        <a:ext cx="3584575"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spTree>
    <p:custDataLst>
      <p:tags r:id="rId2"/>
    </p:custDataLst>
    <p:extLst>
      <p:ext uri="{BB962C8B-B14F-4D97-AF65-F5344CB8AC3E}">
        <p14:creationId xmlns:p14="http://schemas.microsoft.com/office/powerpoint/2010/main" val="33986759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25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itle 1"/>
              <p:cNvSpPr txBox="1">
                <a:spLocks/>
              </p:cNvSpPr>
              <p:nvPr/>
            </p:nvSpPr>
            <p:spPr>
              <a:xfrm>
                <a:off x="1600200" y="152400"/>
                <a:ext cx="5181600" cy="1219200"/>
              </a:xfrm>
              <a:prstGeom prst="rect">
                <a:avLst/>
              </a:prstGeom>
            </p:spPr>
            <p:txBody>
              <a:bodyPr/>
              <a:lstStyle/>
              <a:p>
                <a:pPr lvl="0" algn="ctr">
                  <a:spcBef>
                    <a:spcPct val="0"/>
                  </a:spcBef>
                  <a:defRPr/>
                </a:pPr>
                <a:r>
                  <a:rPr lang="en-US" sz="4400" b="1" dirty="0" smtClean="0">
                    <a:solidFill>
                      <a:schemeClr val="tx2"/>
                    </a:solidFill>
                  </a:rPr>
                  <a:t>Distribution of </a:t>
                </a:r>
                <a14:m>
                  <m:oMath xmlns:m="http://schemas.openxmlformats.org/officeDocument/2006/math">
                    <m:acc>
                      <m:accPr>
                        <m:chr m:val="̂"/>
                        <m:ctrlPr>
                          <a:rPr lang="en-US" sz="4400" b="1" i="1" smtClean="0">
                            <a:solidFill>
                              <a:schemeClr val="tx2"/>
                            </a:solidFill>
                            <a:latin typeface="Cambria Math"/>
                          </a:rPr>
                        </m:ctrlPr>
                      </m:accPr>
                      <m:e>
                        <m:r>
                          <a:rPr lang="en-US" sz="4400" b="1" i="1" smtClean="0">
                            <a:solidFill>
                              <a:schemeClr val="tx2"/>
                            </a:solidFill>
                            <a:latin typeface="Cambria Math"/>
                          </a:rPr>
                          <m:t>𝒑</m:t>
                        </m:r>
                      </m:e>
                    </m:acc>
                  </m:oMath>
                </a14:m>
                <a:r>
                  <a:rPr lang="en-US" sz="4400" b="1" dirty="0" smtClean="0">
                    <a:solidFill>
                      <a:schemeClr val="tx2"/>
                    </a:solidFill>
                  </a:rPr>
                  <a:t>     </a:t>
                </a:r>
                <a:endParaRPr lang="en-US" sz="4000" b="1" dirty="0">
                  <a:solidFill>
                    <a:schemeClr val="tx2"/>
                  </a:solidFill>
                </a:endParaRPr>
              </a:p>
            </p:txBody>
          </p:sp>
        </mc:Choice>
        <mc:Fallback xmlns="">
          <p:sp>
            <p:nvSpPr>
              <p:cNvPr id="4" name="Title 1"/>
              <p:cNvSpPr txBox="1">
                <a:spLocks noRot="1" noChangeAspect="1" noMove="1" noResize="1" noEditPoints="1" noAdjustHandles="1" noChangeArrowheads="1" noChangeShapeType="1" noTextEdit="1"/>
              </p:cNvSpPr>
              <p:nvPr/>
            </p:nvSpPr>
            <p:spPr>
              <a:xfrm>
                <a:off x="1600200" y="152400"/>
                <a:ext cx="5181600" cy="1219200"/>
              </a:xfrm>
              <a:prstGeom prst="rect">
                <a:avLst/>
              </a:prstGeom>
              <a:blipFill rotWithShape="1">
                <a:blip r:embed="rId4"/>
                <a:stretch>
                  <a:fillRect t="-10000"/>
                </a:stretch>
              </a:blipFill>
            </p:spPr>
            <p:txBody>
              <a:bodyPr/>
              <a:lstStyle/>
              <a:p>
                <a:r>
                  <a:rPr lang="en-US">
                    <a:noFill/>
                  </a:rPr>
                  <a:t> </a:t>
                </a:r>
              </a:p>
            </p:txBody>
          </p:sp>
        </mc:Fallback>
      </mc:AlternateContent>
      <p:graphicFrame>
        <p:nvGraphicFramePr>
          <p:cNvPr id="20" name="Object 19"/>
          <p:cNvGraphicFramePr>
            <a:graphicFrameLocks noChangeAspect="1"/>
          </p:cNvGraphicFramePr>
          <p:nvPr>
            <p:extLst>
              <p:ext uri="{D42A27DB-BD31-4B8C-83A1-F6EECF244321}">
                <p14:modId xmlns:p14="http://schemas.microsoft.com/office/powerpoint/2010/main" val="1964131539"/>
              </p:ext>
            </p:extLst>
          </p:nvPr>
        </p:nvGraphicFramePr>
        <p:xfrm>
          <a:off x="7404099" y="990600"/>
          <a:ext cx="990601" cy="355600"/>
        </p:xfrm>
        <a:graphic>
          <a:graphicData uri="http://schemas.openxmlformats.org/presentationml/2006/ole">
            <mc:AlternateContent xmlns:mc="http://schemas.openxmlformats.org/markup-compatibility/2006">
              <mc:Choice xmlns:v="urn:schemas-microsoft-com:vml" Requires="v">
                <p:oleObj spid="_x0000_s7282" name="Equation" r:id="rId5" imgW="495000" imgH="177480" progId="Equation.DSMT4">
                  <p:embed/>
                </p:oleObj>
              </mc:Choice>
              <mc:Fallback>
                <p:oleObj name="Equation" r:id="rId5" imgW="495000" imgH="1774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04099" y="990600"/>
                        <a:ext cx="990601"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8118" name="Object 6"/>
          <p:cNvGraphicFramePr>
            <a:graphicFrameLocks noChangeAspect="1"/>
          </p:cNvGraphicFramePr>
          <p:nvPr>
            <p:extLst>
              <p:ext uri="{D42A27DB-BD31-4B8C-83A1-F6EECF244321}">
                <p14:modId xmlns:p14="http://schemas.microsoft.com/office/powerpoint/2010/main" val="3412258199"/>
              </p:ext>
            </p:extLst>
          </p:nvPr>
        </p:nvGraphicFramePr>
        <p:xfrm>
          <a:off x="4813300" y="990600"/>
          <a:ext cx="863600" cy="355600"/>
        </p:xfrm>
        <a:graphic>
          <a:graphicData uri="http://schemas.openxmlformats.org/presentationml/2006/ole">
            <mc:AlternateContent xmlns:mc="http://schemas.openxmlformats.org/markup-compatibility/2006">
              <mc:Choice xmlns:v="urn:schemas-microsoft-com:vml" Requires="v">
                <p:oleObj spid="_x0000_s7283" name="Equation" r:id="rId7" imgW="431640" imgH="177480" progId="Equation.DSMT4">
                  <p:embed/>
                </p:oleObj>
              </mc:Choice>
              <mc:Fallback>
                <p:oleObj name="Equation" r:id="rId7" imgW="431640" imgH="17748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13300" y="990600"/>
                        <a:ext cx="8636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8120" name="Object 8"/>
          <p:cNvGraphicFramePr>
            <a:graphicFrameLocks noChangeAspect="1"/>
          </p:cNvGraphicFramePr>
          <p:nvPr>
            <p:extLst>
              <p:ext uri="{D42A27DB-BD31-4B8C-83A1-F6EECF244321}">
                <p14:modId xmlns:p14="http://schemas.microsoft.com/office/powerpoint/2010/main" val="402415971"/>
              </p:ext>
            </p:extLst>
          </p:nvPr>
        </p:nvGraphicFramePr>
        <p:xfrm>
          <a:off x="3441700" y="990600"/>
          <a:ext cx="838200" cy="355600"/>
        </p:xfrm>
        <a:graphic>
          <a:graphicData uri="http://schemas.openxmlformats.org/presentationml/2006/ole">
            <mc:AlternateContent xmlns:mc="http://schemas.openxmlformats.org/markup-compatibility/2006">
              <mc:Choice xmlns:v="urn:schemas-microsoft-com:vml" Requires="v">
                <p:oleObj spid="_x0000_s7284" name="Equation" r:id="rId9" imgW="419040" imgH="177480" progId="Equation.DSMT4">
                  <p:embed/>
                </p:oleObj>
              </mc:Choice>
              <mc:Fallback>
                <p:oleObj name="Equation" r:id="rId9" imgW="419040" imgH="17748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41700" y="990600"/>
                        <a:ext cx="8382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8121" name="Object 9"/>
          <p:cNvGraphicFramePr>
            <a:graphicFrameLocks noChangeAspect="1"/>
          </p:cNvGraphicFramePr>
          <p:nvPr>
            <p:extLst>
              <p:ext uri="{D42A27DB-BD31-4B8C-83A1-F6EECF244321}">
                <p14:modId xmlns:p14="http://schemas.microsoft.com/office/powerpoint/2010/main" val="934463437"/>
              </p:ext>
            </p:extLst>
          </p:nvPr>
        </p:nvGraphicFramePr>
        <p:xfrm>
          <a:off x="1993900" y="990600"/>
          <a:ext cx="660400" cy="355600"/>
        </p:xfrm>
        <a:graphic>
          <a:graphicData uri="http://schemas.openxmlformats.org/presentationml/2006/ole">
            <mc:AlternateContent xmlns:mc="http://schemas.openxmlformats.org/markup-compatibility/2006">
              <mc:Choice xmlns:v="urn:schemas-microsoft-com:vml" Requires="v">
                <p:oleObj spid="_x0000_s7285" name="Equation" r:id="rId11" imgW="330120" imgH="177480" progId="Equation.DSMT4">
                  <p:embed/>
                </p:oleObj>
              </mc:Choice>
              <mc:Fallback>
                <p:oleObj name="Equation" r:id="rId11" imgW="330120" imgH="17748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93900" y="990600"/>
                        <a:ext cx="6604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8122" name="Object 10"/>
          <p:cNvGraphicFramePr>
            <a:graphicFrameLocks noChangeAspect="1"/>
          </p:cNvGraphicFramePr>
          <p:nvPr>
            <p:extLst>
              <p:ext uri="{D42A27DB-BD31-4B8C-83A1-F6EECF244321}">
                <p14:modId xmlns:p14="http://schemas.microsoft.com/office/powerpoint/2010/main" val="38563983"/>
              </p:ext>
            </p:extLst>
          </p:nvPr>
        </p:nvGraphicFramePr>
        <p:xfrm>
          <a:off x="558800" y="1828800"/>
          <a:ext cx="965200" cy="406400"/>
        </p:xfrm>
        <a:graphic>
          <a:graphicData uri="http://schemas.openxmlformats.org/presentationml/2006/ole">
            <mc:AlternateContent xmlns:mc="http://schemas.openxmlformats.org/markup-compatibility/2006">
              <mc:Choice xmlns:v="urn:schemas-microsoft-com:vml" Requires="v">
                <p:oleObj spid="_x0000_s7286" name="Equation" r:id="rId13" imgW="482400" imgH="203040" progId="Equation.DSMT4">
                  <p:embed/>
                </p:oleObj>
              </mc:Choice>
              <mc:Fallback>
                <p:oleObj name="Equation" r:id="rId13" imgW="482400" imgH="203040" progId="Equation.DSMT4">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58800" y="1828800"/>
                        <a:ext cx="9652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18133" name="Picture 21"/>
          <p:cNvPicPr>
            <a:picLocks noChangeAspect="1" noChangeArrowheads="1"/>
          </p:cNvPicPr>
          <p:nvPr/>
        </p:nvPicPr>
        <p:blipFill>
          <a:blip r:embed="rId15" cstate="print"/>
          <a:srcRect/>
          <a:stretch>
            <a:fillRect/>
          </a:stretch>
        </p:blipFill>
        <p:spPr bwMode="auto">
          <a:xfrm>
            <a:off x="1689100" y="1447800"/>
            <a:ext cx="1295400" cy="1647825"/>
          </a:xfrm>
          <a:prstGeom prst="rect">
            <a:avLst/>
          </a:prstGeom>
          <a:noFill/>
          <a:ln w="9525">
            <a:noFill/>
            <a:miter lim="800000"/>
            <a:headEnd/>
            <a:tailEnd/>
          </a:ln>
          <a:effectLst/>
        </p:spPr>
      </p:pic>
      <p:graphicFrame>
        <p:nvGraphicFramePr>
          <p:cNvPr id="218134" name="Object 22"/>
          <p:cNvGraphicFramePr>
            <a:graphicFrameLocks noChangeAspect="1"/>
          </p:cNvGraphicFramePr>
          <p:nvPr>
            <p:extLst>
              <p:ext uri="{D42A27DB-BD31-4B8C-83A1-F6EECF244321}">
                <p14:modId xmlns:p14="http://schemas.microsoft.com/office/powerpoint/2010/main" val="3918067040"/>
              </p:ext>
            </p:extLst>
          </p:nvPr>
        </p:nvGraphicFramePr>
        <p:xfrm>
          <a:off x="6108700" y="990600"/>
          <a:ext cx="863600" cy="355600"/>
        </p:xfrm>
        <a:graphic>
          <a:graphicData uri="http://schemas.openxmlformats.org/presentationml/2006/ole">
            <mc:AlternateContent xmlns:mc="http://schemas.openxmlformats.org/markup-compatibility/2006">
              <mc:Choice xmlns:v="urn:schemas-microsoft-com:vml" Requires="v">
                <p:oleObj spid="_x0000_s7287" name="Equation" r:id="rId16" imgW="431640" imgH="177480" progId="Equation.DSMT4">
                  <p:embed/>
                </p:oleObj>
              </mc:Choice>
              <mc:Fallback>
                <p:oleObj name="Equation" r:id="rId16" imgW="431640" imgH="177480"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108700" y="990600"/>
                        <a:ext cx="86360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18135" name="Picture 23"/>
          <p:cNvPicPr>
            <a:picLocks noChangeAspect="1" noChangeArrowheads="1"/>
          </p:cNvPicPr>
          <p:nvPr/>
        </p:nvPicPr>
        <p:blipFill>
          <a:blip r:embed="rId18" cstate="print"/>
          <a:srcRect/>
          <a:stretch>
            <a:fillRect/>
          </a:stretch>
        </p:blipFill>
        <p:spPr bwMode="auto">
          <a:xfrm>
            <a:off x="3213100" y="1447800"/>
            <a:ext cx="1295400" cy="1647825"/>
          </a:xfrm>
          <a:prstGeom prst="rect">
            <a:avLst/>
          </a:prstGeom>
          <a:noFill/>
          <a:ln w="9525">
            <a:noFill/>
            <a:miter lim="800000"/>
            <a:headEnd/>
            <a:tailEnd/>
          </a:ln>
          <a:effectLst/>
        </p:spPr>
      </p:pic>
      <p:pic>
        <p:nvPicPr>
          <p:cNvPr id="218136" name="Picture 24"/>
          <p:cNvPicPr>
            <a:picLocks noChangeAspect="1" noChangeArrowheads="1"/>
          </p:cNvPicPr>
          <p:nvPr/>
        </p:nvPicPr>
        <p:blipFill>
          <a:blip r:embed="rId19" cstate="print"/>
          <a:srcRect/>
          <a:stretch>
            <a:fillRect/>
          </a:stretch>
        </p:blipFill>
        <p:spPr bwMode="auto">
          <a:xfrm>
            <a:off x="4584700" y="1447800"/>
            <a:ext cx="1295400" cy="1647825"/>
          </a:xfrm>
          <a:prstGeom prst="rect">
            <a:avLst/>
          </a:prstGeom>
          <a:noFill/>
          <a:ln w="9525">
            <a:noFill/>
            <a:miter lim="800000"/>
            <a:headEnd/>
            <a:tailEnd/>
          </a:ln>
          <a:effectLst/>
        </p:spPr>
      </p:pic>
      <p:pic>
        <p:nvPicPr>
          <p:cNvPr id="218137" name="Picture 25"/>
          <p:cNvPicPr>
            <a:picLocks noChangeAspect="1" noChangeArrowheads="1"/>
          </p:cNvPicPr>
          <p:nvPr/>
        </p:nvPicPr>
        <p:blipFill>
          <a:blip r:embed="rId20" cstate="print"/>
          <a:srcRect/>
          <a:stretch>
            <a:fillRect/>
          </a:stretch>
        </p:blipFill>
        <p:spPr bwMode="auto">
          <a:xfrm>
            <a:off x="5880100" y="1447800"/>
            <a:ext cx="1295400" cy="1647825"/>
          </a:xfrm>
          <a:prstGeom prst="rect">
            <a:avLst/>
          </a:prstGeom>
          <a:noFill/>
          <a:ln w="9525">
            <a:noFill/>
            <a:miter lim="800000"/>
            <a:headEnd/>
            <a:tailEnd/>
          </a:ln>
          <a:effectLst/>
        </p:spPr>
      </p:pic>
      <p:pic>
        <p:nvPicPr>
          <p:cNvPr id="218138" name="Picture 26"/>
          <p:cNvPicPr>
            <a:picLocks noChangeAspect="1" noChangeArrowheads="1"/>
          </p:cNvPicPr>
          <p:nvPr/>
        </p:nvPicPr>
        <p:blipFill>
          <a:blip r:embed="rId21" cstate="print"/>
          <a:srcRect/>
          <a:stretch>
            <a:fillRect/>
          </a:stretch>
        </p:blipFill>
        <p:spPr bwMode="auto">
          <a:xfrm>
            <a:off x="7327900" y="1447800"/>
            <a:ext cx="1295400" cy="1647825"/>
          </a:xfrm>
          <a:prstGeom prst="rect">
            <a:avLst/>
          </a:prstGeom>
          <a:noFill/>
          <a:ln w="9525">
            <a:noFill/>
            <a:miter lim="800000"/>
            <a:headEnd/>
            <a:tailEnd/>
          </a:ln>
          <a:effectLst/>
        </p:spPr>
      </p:pic>
      <p:graphicFrame>
        <p:nvGraphicFramePr>
          <p:cNvPr id="218139" name="Object 27"/>
          <p:cNvGraphicFramePr>
            <a:graphicFrameLocks noChangeAspect="1"/>
          </p:cNvGraphicFramePr>
          <p:nvPr>
            <p:extLst>
              <p:ext uri="{D42A27DB-BD31-4B8C-83A1-F6EECF244321}">
                <p14:modId xmlns:p14="http://schemas.microsoft.com/office/powerpoint/2010/main" val="1581800870"/>
              </p:ext>
            </p:extLst>
          </p:nvPr>
        </p:nvGraphicFramePr>
        <p:xfrm>
          <a:off x="457200" y="3476625"/>
          <a:ext cx="990600" cy="406400"/>
        </p:xfrm>
        <a:graphic>
          <a:graphicData uri="http://schemas.openxmlformats.org/presentationml/2006/ole">
            <mc:AlternateContent xmlns:mc="http://schemas.openxmlformats.org/markup-compatibility/2006">
              <mc:Choice xmlns:v="urn:schemas-microsoft-com:vml" Requires="v">
                <p:oleObj spid="_x0000_s7288" name="Equation" r:id="rId22" imgW="495000" imgH="203040" progId="Equation.DSMT4">
                  <p:embed/>
                </p:oleObj>
              </mc:Choice>
              <mc:Fallback>
                <p:oleObj name="Equation" r:id="rId22" imgW="495000" imgH="203040"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57200" y="3476625"/>
                        <a:ext cx="9906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18140" name="Picture 28"/>
          <p:cNvPicPr>
            <a:picLocks noChangeAspect="1" noChangeArrowheads="1"/>
          </p:cNvPicPr>
          <p:nvPr/>
        </p:nvPicPr>
        <p:blipFill>
          <a:blip r:embed="rId24" cstate="print"/>
          <a:srcRect/>
          <a:stretch>
            <a:fillRect/>
          </a:stretch>
        </p:blipFill>
        <p:spPr bwMode="auto">
          <a:xfrm>
            <a:off x="1689100" y="3048000"/>
            <a:ext cx="1295400" cy="1647825"/>
          </a:xfrm>
          <a:prstGeom prst="rect">
            <a:avLst/>
          </a:prstGeom>
          <a:noFill/>
          <a:ln w="9525">
            <a:noFill/>
            <a:miter lim="800000"/>
            <a:headEnd/>
            <a:tailEnd/>
          </a:ln>
          <a:effectLst/>
        </p:spPr>
      </p:pic>
      <p:pic>
        <p:nvPicPr>
          <p:cNvPr id="218141" name="Picture 29"/>
          <p:cNvPicPr>
            <a:picLocks noChangeAspect="1" noChangeArrowheads="1"/>
          </p:cNvPicPr>
          <p:nvPr/>
        </p:nvPicPr>
        <p:blipFill>
          <a:blip r:embed="rId25" cstate="print"/>
          <a:srcRect/>
          <a:stretch>
            <a:fillRect/>
          </a:stretch>
        </p:blipFill>
        <p:spPr bwMode="auto">
          <a:xfrm>
            <a:off x="3136900" y="3019425"/>
            <a:ext cx="1295400" cy="1647825"/>
          </a:xfrm>
          <a:prstGeom prst="rect">
            <a:avLst/>
          </a:prstGeom>
          <a:noFill/>
          <a:ln w="9525">
            <a:noFill/>
            <a:miter lim="800000"/>
            <a:headEnd/>
            <a:tailEnd/>
          </a:ln>
          <a:effectLst/>
        </p:spPr>
      </p:pic>
      <p:pic>
        <p:nvPicPr>
          <p:cNvPr id="218142" name="Picture 30"/>
          <p:cNvPicPr>
            <a:picLocks noChangeAspect="1" noChangeArrowheads="1"/>
          </p:cNvPicPr>
          <p:nvPr/>
        </p:nvPicPr>
        <p:blipFill>
          <a:blip r:embed="rId26" cstate="print"/>
          <a:srcRect/>
          <a:stretch>
            <a:fillRect/>
          </a:stretch>
        </p:blipFill>
        <p:spPr bwMode="auto">
          <a:xfrm>
            <a:off x="4584700" y="3019425"/>
            <a:ext cx="1295400" cy="1647825"/>
          </a:xfrm>
          <a:prstGeom prst="rect">
            <a:avLst/>
          </a:prstGeom>
          <a:noFill/>
          <a:ln w="9525">
            <a:noFill/>
            <a:miter lim="800000"/>
            <a:headEnd/>
            <a:tailEnd/>
          </a:ln>
          <a:effectLst/>
        </p:spPr>
      </p:pic>
      <p:pic>
        <p:nvPicPr>
          <p:cNvPr id="218143" name="Picture 31"/>
          <p:cNvPicPr>
            <a:picLocks noChangeAspect="1" noChangeArrowheads="1"/>
          </p:cNvPicPr>
          <p:nvPr/>
        </p:nvPicPr>
        <p:blipFill>
          <a:blip r:embed="rId27" cstate="print"/>
          <a:srcRect/>
          <a:stretch>
            <a:fillRect/>
          </a:stretch>
        </p:blipFill>
        <p:spPr bwMode="auto">
          <a:xfrm>
            <a:off x="5880100" y="3019425"/>
            <a:ext cx="1295400" cy="1647825"/>
          </a:xfrm>
          <a:prstGeom prst="rect">
            <a:avLst/>
          </a:prstGeom>
          <a:noFill/>
          <a:ln w="9525">
            <a:noFill/>
            <a:miter lim="800000"/>
            <a:headEnd/>
            <a:tailEnd/>
          </a:ln>
          <a:effectLst/>
        </p:spPr>
      </p:pic>
      <p:pic>
        <p:nvPicPr>
          <p:cNvPr id="218144" name="Picture 32"/>
          <p:cNvPicPr>
            <a:picLocks noChangeAspect="1" noChangeArrowheads="1"/>
          </p:cNvPicPr>
          <p:nvPr/>
        </p:nvPicPr>
        <p:blipFill>
          <a:blip r:embed="rId28" cstate="print"/>
          <a:srcRect/>
          <a:stretch>
            <a:fillRect/>
          </a:stretch>
        </p:blipFill>
        <p:spPr bwMode="auto">
          <a:xfrm>
            <a:off x="7327900" y="3048000"/>
            <a:ext cx="1295400" cy="1647825"/>
          </a:xfrm>
          <a:prstGeom prst="rect">
            <a:avLst/>
          </a:prstGeom>
          <a:noFill/>
          <a:ln w="9525">
            <a:noFill/>
            <a:miter lim="800000"/>
            <a:headEnd/>
            <a:tailEnd/>
          </a:ln>
          <a:effectLst/>
        </p:spPr>
      </p:pic>
      <p:pic>
        <p:nvPicPr>
          <p:cNvPr id="218145" name="Picture 33"/>
          <p:cNvPicPr>
            <a:picLocks noChangeAspect="1" noChangeArrowheads="1"/>
          </p:cNvPicPr>
          <p:nvPr/>
        </p:nvPicPr>
        <p:blipFill>
          <a:blip r:embed="rId29" cstate="print"/>
          <a:srcRect/>
          <a:stretch>
            <a:fillRect/>
          </a:stretch>
        </p:blipFill>
        <p:spPr bwMode="auto">
          <a:xfrm>
            <a:off x="1689100" y="4695825"/>
            <a:ext cx="1295400" cy="1647825"/>
          </a:xfrm>
          <a:prstGeom prst="rect">
            <a:avLst/>
          </a:prstGeom>
          <a:noFill/>
          <a:ln w="9525">
            <a:noFill/>
            <a:miter lim="800000"/>
            <a:headEnd/>
            <a:tailEnd/>
          </a:ln>
          <a:effectLst/>
        </p:spPr>
      </p:pic>
      <p:graphicFrame>
        <p:nvGraphicFramePr>
          <p:cNvPr id="218146" name="Object 34"/>
          <p:cNvGraphicFramePr>
            <a:graphicFrameLocks noChangeAspect="1"/>
          </p:cNvGraphicFramePr>
          <p:nvPr>
            <p:extLst>
              <p:ext uri="{D42A27DB-BD31-4B8C-83A1-F6EECF244321}">
                <p14:modId xmlns:p14="http://schemas.microsoft.com/office/powerpoint/2010/main" val="2237527332"/>
              </p:ext>
            </p:extLst>
          </p:nvPr>
        </p:nvGraphicFramePr>
        <p:xfrm>
          <a:off x="571500" y="5127625"/>
          <a:ext cx="939800" cy="406400"/>
        </p:xfrm>
        <a:graphic>
          <a:graphicData uri="http://schemas.openxmlformats.org/presentationml/2006/ole">
            <mc:AlternateContent xmlns:mc="http://schemas.openxmlformats.org/markup-compatibility/2006">
              <mc:Choice xmlns:v="urn:schemas-microsoft-com:vml" Requires="v">
                <p:oleObj spid="_x0000_s7289" name="Equation" r:id="rId30" imgW="469800" imgH="203040" progId="Equation.DSMT4">
                  <p:embed/>
                </p:oleObj>
              </mc:Choice>
              <mc:Fallback>
                <p:oleObj name="Equation" r:id="rId30" imgW="469800" imgH="203040" progId="Equation.DSMT4">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71500" y="5127625"/>
                        <a:ext cx="93980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18147" name="Picture 35"/>
          <p:cNvPicPr>
            <a:picLocks noChangeAspect="1" noChangeArrowheads="1"/>
          </p:cNvPicPr>
          <p:nvPr/>
        </p:nvPicPr>
        <p:blipFill>
          <a:blip r:embed="rId32" cstate="print"/>
          <a:srcRect/>
          <a:stretch>
            <a:fillRect/>
          </a:stretch>
        </p:blipFill>
        <p:spPr bwMode="auto">
          <a:xfrm>
            <a:off x="3136900" y="4695825"/>
            <a:ext cx="1295400" cy="1647825"/>
          </a:xfrm>
          <a:prstGeom prst="rect">
            <a:avLst/>
          </a:prstGeom>
          <a:noFill/>
          <a:ln w="9525">
            <a:noFill/>
            <a:miter lim="800000"/>
            <a:headEnd/>
            <a:tailEnd/>
          </a:ln>
          <a:effectLst/>
        </p:spPr>
      </p:pic>
      <p:pic>
        <p:nvPicPr>
          <p:cNvPr id="218148" name="Picture 36"/>
          <p:cNvPicPr>
            <a:picLocks noChangeAspect="1" noChangeArrowheads="1"/>
          </p:cNvPicPr>
          <p:nvPr/>
        </p:nvPicPr>
        <p:blipFill>
          <a:blip r:embed="rId33" cstate="print"/>
          <a:srcRect/>
          <a:stretch>
            <a:fillRect/>
          </a:stretch>
        </p:blipFill>
        <p:spPr bwMode="auto">
          <a:xfrm>
            <a:off x="4660900" y="4724400"/>
            <a:ext cx="1295400" cy="1647825"/>
          </a:xfrm>
          <a:prstGeom prst="rect">
            <a:avLst/>
          </a:prstGeom>
          <a:noFill/>
          <a:ln w="9525">
            <a:noFill/>
            <a:miter lim="800000"/>
            <a:headEnd/>
            <a:tailEnd/>
          </a:ln>
          <a:effectLst/>
        </p:spPr>
      </p:pic>
      <p:pic>
        <p:nvPicPr>
          <p:cNvPr id="218149" name="Picture 37"/>
          <p:cNvPicPr>
            <a:picLocks noChangeAspect="1" noChangeArrowheads="1"/>
          </p:cNvPicPr>
          <p:nvPr/>
        </p:nvPicPr>
        <p:blipFill>
          <a:blip r:embed="rId34" cstate="print"/>
          <a:srcRect/>
          <a:stretch>
            <a:fillRect/>
          </a:stretch>
        </p:blipFill>
        <p:spPr bwMode="auto">
          <a:xfrm>
            <a:off x="5956300" y="4724400"/>
            <a:ext cx="1295400" cy="1647825"/>
          </a:xfrm>
          <a:prstGeom prst="rect">
            <a:avLst/>
          </a:prstGeom>
          <a:noFill/>
          <a:ln w="9525">
            <a:noFill/>
            <a:miter lim="800000"/>
            <a:headEnd/>
            <a:tailEnd/>
          </a:ln>
          <a:effectLst/>
        </p:spPr>
      </p:pic>
      <p:pic>
        <p:nvPicPr>
          <p:cNvPr id="218150" name="Picture 38"/>
          <p:cNvPicPr>
            <a:picLocks noChangeAspect="1" noChangeArrowheads="1"/>
          </p:cNvPicPr>
          <p:nvPr/>
        </p:nvPicPr>
        <p:blipFill>
          <a:blip r:embed="rId35" cstate="print"/>
          <a:srcRect/>
          <a:stretch>
            <a:fillRect/>
          </a:stretch>
        </p:blipFill>
        <p:spPr bwMode="auto">
          <a:xfrm>
            <a:off x="7404100" y="4724400"/>
            <a:ext cx="1295400" cy="1647825"/>
          </a:xfrm>
          <a:prstGeom prst="rect">
            <a:avLst/>
          </a:prstGeom>
          <a:noFill/>
          <a:ln w="9525">
            <a:noFill/>
            <a:miter lim="800000"/>
            <a:headEnd/>
            <a:tailEnd/>
          </a:ln>
          <a:effectLst/>
        </p:spPr>
      </p:pic>
    </p:spTree>
    <p:custDataLst>
      <p:tags r:id="rId2"/>
    </p:custDataLst>
    <p:extLst>
      <p:ext uri="{BB962C8B-B14F-4D97-AF65-F5344CB8AC3E}">
        <p14:creationId xmlns:p14="http://schemas.microsoft.com/office/powerpoint/2010/main" val="26467957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812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218121"/>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21813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8120"/>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21813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18118"/>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nodeType="afterEffect">
                                  <p:stCondLst>
                                    <p:cond delay="0"/>
                                  </p:stCondLst>
                                  <p:childTnLst>
                                    <p:set>
                                      <p:cBhvr>
                                        <p:cTn id="26" dur="1" fill="hold">
                                          <p:stCondLst>
                                            <p:cond delay="0"/>
                                          </p:stCondLst>
                                        </p:cTn>
                                        <p:tgtEl>
                                          <p:spTgt spid="2181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8134"/>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218137"/>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20"/>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nodeType="afterEffect">
                                  <p:stCondLst>
                                    <p:cond delay="0"/>
                                  </p:stCondLst>
                                  <p:childTnLst>
                                    <p:set>
                                      <p:cBhvr>
                                        <p:cTn id="40" dur="1" fill="hold">
                                          <p:stCondLst>
                                            <p:cond delay="0"/>
                                          </p:stCondLst>
                                        </p:cTn>
                                        <p:tgtEl>
                                          <p:spTgt spid="21813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18139"/>
                                        </p:tgtEl>
                                        <p:attrNameLst>
                                          <p:attrName>style.visibility</p:attrName>
                                        </p:attrNameLst>
                                      </p:cBhvr>
                                      <p:to>
                                        <p:strVal val="visible"/>
                                      </p:to>
                                    </p:set>
                                  </p:childTnLst>
                                </p:cTn>
                              </p:par>
                            </p:childTnLst>
                          </p:cTn>
                        </p:par>
                        <p:par>
                          <p:cTn id="45" fill="hold">
                            <p:stCondLst>
                              <p:cond delay="0"/>
                            </p:stCondLst>
                            <p:childTnLst>
                              <p:par>
                                <p:cTn id="46" presetID="1" presetClass="entr" presetSubtype="0" fill="hold" nodeType="afterEffect">
                                  <p:stCondLst>
                                    <p:cond delay="0"/>
                                  </p:stCondLst>
                                  <p:childTnLst>
                                    <p:set>
                                      <p:cBhvr>
                                        <p:cTn id="47" dur="1" fill="hold">
                                          <p:stCondLst>
                                            <p:cond delay="0"/>
                                          </p:stCondLst>
                                        </p:cTn>
                                        <p:tgtEl>
                                          <p:spTgt spid="218140"/>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218141"/>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218142"/>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218143"/>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218144"/>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218146"/>
                                        </p:tgtEl>
                                        <p:attrNameLst>
                                          <p:attrName>style.visibility</p:attrName>
                                        </p:attrNameLst>
                                      </p:cBhvr>
                                      <p:to>
                                        <p:strVal val="visible"/>
                                      </p:to>
                                    </p:set>
                                  </p:childTnLst>
                                </p:cTn>
                              </p:par>
                            </p:childTnLst>
                          </p:cTn>
                        </p:par>
                        <p:par>
                          <p:cTn id="68" fill="hold">
                            <p:stCondLst>
                              <p:cond delay="0"/>
                            </p:stCondLst>
                            <p:childTnLst>
                              <p:par>
                                <p:cTn id="69" presetID="1" presetClass="entr" presetSubtype="0" fill="hold" nodeType="afterEffect">
                                  <p:stCondLst>
                                    <p:cond delay="0"/>
                                  </p:stCondLst>
                                  <p:childTnLst>
                                    <p:set>
                                      <p:cBhvr>
                                        <p:cTn id="70" dur="1" fill="hold">
                                          <p:stCondLst>
                                            <p:cond delay="0"/>
                                          </p:stCondLst>
                                        </p:cTn>
                                        <p:tgtEl>
                                          <p:spTgt spid="21814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1814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1814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1814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181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tx2"/>
                </a:solidFill>
              </a:rPr>
              <a:t>CLT for a Proportion</a:t>
            </a:r>
            <a:endParaRPr lang="en-US" sz="4000" b="1" dirty="0">
              <a:solidFill>
                <a:schemeClr val="tx2"/>
              </a:solidFill>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548588154"/>
              </p:ext>
            </p:extLst>
          </p:nvPr>
        </p:nvGraphicFramePr>
        <p:xfrm>
          <a:off x="1295400" y="2895600"/>
          <a:ext cx="5967824" cy="2209800"/>
        </p:xfrm>
        <a:graphic>
          <a:graphicData uri="http://schemas.openxmlformats.org/presentationml/2006/ole">
            <mc:AlternateContent xmlns:mc="http://schemas.openxmlformats.org/markup-compatibility/2006">
              <mc:Choice xmlns:v="urn:schemas-microsoft-com:vml" Requires="v">
                <p:oleObj spid="_x0000_s8211" name="Equation" r:id="rId4" imgW="1371600" imgH="507960" progId="Equation.DSMT4">
                  <p:embed/>
                </p:oleObj>
              </mc:Choice>
              <mc:Fallback>
                <p:oleObj name="Equation" r:id="rId4" imgW="1371600" imgH="50796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2895600"/>
                        <a:ext cx="5967824"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sp>
        <p:nvSpPr>
          <p:cNvPr id="5" name="Content Placeholder 4"/>
          <p:cNvSpPr>
            <a:spLocks noGrp="1"/>
          </p:cNvSpPr>
          <p:nvPr>
            <p:ph sz="quarter" idx="1"/>
          </p:nvPr>
        </p:nvSpPr>
        <p:spPr>
          <a:xfrm>
            <a:off x="6926" y="1627909"/>
            <a:ext cx="9060873" cy="1572492"/>
          </a:xfrm>
        </p:spPr>
        <p:txBody>
          <a:bodyPr/>
          <a:lstStyle/>
          <a:p>
            <a:r>
              <a:rPr lang="en-US" sz="3200" dirty="0">
                <a:solidFill>
                  <a:prstClr val="black"/>
                </a:solidFill>
                <a:cs typeface="Times New Roman" pitchFamily="18" charset="0"/>
              </a:rPr>
              <a:t>If counts for each category are at least 10 </a:t>
            </a:r>
            <a:endParaRPr lang="en-US" sz="3200" dirty="0" smtClean="0">
              <a:solidFill>
                <a:prstClr val="black"/>
              </a:solidFill>
              <a:cs typeface="Times New Roman" pitchFamily="18" charset="0"/>
            </a:endParaRPr>
          </a:p>
          <a:p>
            <a:pPr marL="0" indent="0">
              <a:buNone/>
            </a:pPr>
            <a:r>
              <a:rPr lang="en-US" sz="3200" dirty="0">
                <a:solidFill>
                  <a:prstClr val="black"/>
                </a:solidFill>
                <a:cs typeface="Times New Roman" pitchFamily="18" charset="0"/>
              </a:rPr>
              <a:t> </a:t>
            </a:r>
            <a:r>
              <a:rPr lang="en-US" sz="3200" dirty="0" smtClean="0">
                <a:solidFill>
                  <a:prstClr val="black"/>
                </a:solidFill>
                <a:cs typeface="Times New Roman" pitchFamily="18" charset="0"/>
              </a:rPr>
              <a:t>  (</a:t>
            </a:r>
            <a:r>
              <a:rPr lang="en-US" sz="3200" i="1" dirty="0" err="1">
                <a:solidFill>
                  <a:prstClr val="black"/>
                </a:solidFill>
                <a:cs typeface="Times New Roman" pitchFamily="18" charset="0"/>
              </a:rPr>
              <a:t>np</a:t>
            </a:r>
            <a:r>
              <a:rPr lang="en-US" sz="3200" dirty="0">
                <a:solidFill>
                  <a:prstClr val="black"/>
                </a:solidFill>
                <a:cs typeface="Times New Roman" pitchFamily="18" charset="0"/>
              </a:rPr>
              <a:t> ≥ 10 and n(1 – p) ≥ 10), then</a:t>
            </a:r>
            <a:endParaRPr lang="en-US" sz="3200" b="1" i="1" dirty="0">
              <a:solidFill>
                <a:srgbClr val="C00000"/>
              </a:solidFill>
              <a:cs typeface="Times New Roman" pitchFamily="18" charset="0"/>
            </a:endParaRPr>
          </a:p>
          <a:p>
            <a:endParaRPr lang="en-US" dirty="0"/>
          </a:p>
        </p:txBody>
      </p:sp>
    </p:spTree>
    <p:custDataLst>
      <p:tags r:id="rId2"/>
    </p:custDataLst>
    <p:extLst>
      <p:ext uri="{BB962C8B-B14F-4D97-AF65-F5344CB8AC3E}">
        <p14:creationId xmlns:p14="http://schemas.microsoft.com/office/powerpoint/2010/main" val="241304444"/>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tx2"/>
                </a:solidFill>
              </a:rPr>
              <a:t>Standard Error</a:t>
            </a:r>
            <a:endParaRPr lang="en-US" sz="4000" b="1" dirty="0">
              <a:solidFill>
                <a:schemeClr val="tx2"/>
              </a:solidFill>
            </a:endParaRPr>
          </a:p>
        </p:txBody>
      </p:sp>
      <p:graphicFrame>
        <p:nvGraphicFramePr>
          <p:cNvPr id="228355" name="Object 3"/>
          <p:cNvGraphicFramePr>
            <a:graphicFrameLocks noChangeAspect="1"/>
          </p:cNvGraphicFramePr>
          <p:nvPr>
            <p:extLst>
              <p:ext uri="{D42A27DB-BD31-4B8C-83A1-F6EECF244321}">
                <p14:modId xmlns:p14="http://schemas.microsoft.com/office/powerpoint/2010/main" val="464380342"/>
              </p:ext>
            </p:extLst>
          </p:nvPr>
        </p:nvGraphicFramePr>
        <p:xfrm>
          <a:off x="2907506" y="1600200"/>
          <a:ext cx="3328987" cy="1474823"/>
        </p:xfrm>
        <a:graphic>
          <a:graphicData uri="http://schemas.openxmlformats.org/presentationml/2006/ole">
            <mc:AlternateContent xmlns:mc="http://schemas.openxmlformats.org/markup-compatibility/2006">
              <mc:Choice xmlns:v="urn:schemas-microsoft-com:vml" Requires="v">
                <p:oleObj spid="_x0000_s9248" name="Equation" r:id="rId4" imgW="1002960" imgH="444240" progId="Equation.DSMT4">
                  <p:embed/>
                </p:oleObj>
              </mc:Choice>
              <mc:Fallback>
                <p:oleObj name="Equation" r:id="rId4" imgW="1002960" imgH="44424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7506" y="1600200"/>
                        <a:ext cx="3328987" cy="147482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507635705"/>
              </p:ext>
            </p:extLst>
          </p:nvPr>
        </p:nvGraphicFramePr>
        <p:xfrm>
          <a:off x="2743200" y="4953000"/>
          <a:ext cx="495300" cy="660400"/>
        </p:xfrm>
        <a:graphic>
          <a:graphicData uri="http://schemas.openxmlformats.org/presentationml/2006/ole">
            <mc:AlternateContent xmlns:mc="http://schemas.openxmlformats.org/markup-compatibility/2006">
              <mc:Choice xmlns:v="urn:schemas-microsoft-com:vml" Requires="v">
                <p:oleObj spid="_x0000_s9249" name="Equation" r:id="rId6" imgW="152280" imgH="203040" progId="Equation.DSMT4">
                  <p:embed/>
                </p:oleObj>
              </mc:Choice>
              <mc:Fallback>
                <p:oleObj name="Equation" r:id="rId6" imgW="152280" imgH="20304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43200" y="4953000"/>
                        <a:ext cx="495300" cy="66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Content Placeholder 4"/>
          <p:cNvSpPr>
            <a:spLocks noGrp="1"/>
          </p:cNvSpPr>
          <p:nvPr>
            <p:ph sz="quarter" idx="1"/>
          </p:nvPr>
        </p:nvSpPr>
        <p:spPr>
          <a:xfrm>
            <a:off x="27711" y="3200400"/>
            <a:ext cx="9116290" cy="2743200"/>
          </a:xfrm>
        </p:spPr>
        <p:txBody>
          <a:bodyPr>
            <a:normAutofit lnSpcReduction="10000"/>
          </a:bodyPr>
          <a:lstStyle/>
          <a:p>
            <a:pPr>
              <a:spcAft>
                <a:spcPts val="1800"/>
              </a:spcAft>
              <a:buFont typeface="Arial" pitchFamily="34" charset="0"/>
              <a:buChar char="•"/>
            </a:pPr>
            <a:r>
              <a:rPr lang="en-US" sz="3600" b="1" dirty="0">
                <a:solidFill>
                  <a:schemeClr val="accent5">
                    <a:lumMod val="50000"/>
                  </a:schemeClr>
                </a:solidFill>
                <a:cs typeface="Times New Roman" pitchFamily="18" charset="0"/>
              </a:rPr>
              <a:t>One small problem… if we are doing inference for </a:t>
            </a:r>
            <a:r>
              <a:rPr lang="en-US" sz="3600" b="1" i="1" dirty="0">
                <a:solidFill>
                  <a:schemeClr val="accent5">
                    <a:lumMod val="50000"/>
                  </a:schemeClr>
                </a:solidFill>
                <a:cs typeface="Times New Roman" pitchFamily="18" charset="0"/>
              </a:rPr>
              <a:t>p, </a:t>
            </a:r>
            <a:r>
              <a:rPr lang="en-US" sz="3600" b="1" dirty="0">
                <a:solidFill>
                  <a:schemeClr val="accent5">
                    <a:lumMod val="50000"/>
                  </a:schemeClr>
                </a:solidFill>
                <a:cs typeface="Times New Roman" pitchFamily="18" charset="0"/>
              </a:rPr>
              <a:t>we don’t know </a:t>
            </a:r>
            <a:r>
              <a:rPr lang="en-US" sz="3600" b="1" i="1" dirty="0">
                <a:solidFill>
                  <a:schemeClr val="accent5">
                    <a:lumMod val="50000"/>
                  </a:schemeClr>
                </a:solidFill>
                <a:cs typeface="Times New Roman" pitchFamily="18" charset="0"/>
              </a:rPr>
              <a:t>p</a:t>
            </a:r>
            <a:r>
              <a:rPr lang="en-US" sz="3600" b="1" dirty="0">
                <a:solidFill>
                  <a:schemeClr val="accent5">
                    <a:lumMod val="50000"/>
                  </a:schemeClr>
                </a:solidFill>
                <a:cs typeface="Times New Roman" pitchFamily="18" charset="0"/>
              </a:rPr>
              <a:t>!</a:t>
            </a:r>
          </a:p>
          <a:p>
            <a:pPr>
              <a:spcAft>
                <a:spcPts val="1800"/>
              </a:spcAft>
              <a:buFont typeface="Arial" pitchFamily="34" charset="0"/>
              <a:buChar char="•"/>
            </a:pPr>
            <a:r>
              <a:rPr lang="en-US" sz="3600" b="1" dirty="0">
                <a:solidFill>
                  <a:schemeClr val="accent5">
                    <a:lumMod val="50000"/>
                  </a:schemeClr>
                </a:solidFill>
                <a:cs typeface="Times New Roman" pitchFamily="18" charset="0"/>
              </a:rPr>
              <a:t> For confidence intervals, use your best guess for </a:t>
            </a:r>
            <a:r>
              <a:rPr lang="en-US" sz="3600" b="1" i="1" dirty="0">
                <a:solidFill>
                  <a:schemeClr val="accent5">
                    <a:lumMod val="50000"/>
                  </a:schemeClr>
                </a:solidFill>
                <a:cs typeface="Times New Roman" pitchFamily="18" charset="0"/>
              </a:rPr>
              <a:t>p: </a:t>
            </a:r>
          </a:p>
          <a:p>
            <a:endParaRPr lang="en-US" dirty="0"/>
          </a:p>
        </p:txBody>
      </p:sp>
    </p:spTree>
    <p:custDataLst>
      <p:tags r:id="rId2"/>
    </p:custDataLst>
    <p:extLst>
      <p:ext uri="{BB962C8B-B14F-4D97-AF65-F5344CB8AC3E}">
        <p14:creationId xmlns:p14="http://schemas.microsoft.com/office/powerpoint/2010/main" val="10199727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0" y="34636"/>
            <a:ext cx="9144000" cy="1219200"/>
          </a:xfrm>
          <a:prstGeom prst="rect">
            <a:avLst/>
          </a:prstGeom>
        </p:spPr>
        <p:txBody>
          <a:bodyPr/>
          <a:lstStyle/>
          <a:p>
            <a:pPr lvl="0" algn="ctr">
              <a:spcBef>
                <a:spcPct val="0"/>
              </a:spcBef>
              <a:defRPr/>
            </a:pPr>
            <a:r>
              <a:rPr lang="en-US" sz="4000" b="1" dirty="0" smtClean="0">
                <a:solidFill>
                  <a:schemeClr val="tx2"/>
                </a:solidFill>
              </a:rPr>
              <a:t>Confidence Interval for a Single Proportion</a:t>
            </a:r>
            <a:endParaRPr lang="en-US" sz="4000" b="1" dirty="0">
              <a:solidFill>
                <a:schemeClr val="tx2"/>
              </a:solidFill>
            </a:endParaRPr>
          </a:p>
        </p:txBody>
      </p:sp>
      <p:graphicFrame>
        <p:nvGraphicFramePr>
          <p:cNvPr id="227331" name="Object 3"/>
          <p:cNvGraphicFramePr>
            <a:graphicFrameLocks noChangeAspect="1"/>
          </p:cNvGraphicFramePr>
          <p:nvPr/>
        </p:nvGraphicFramePr>
        <p:xfrm>
          <a:off x="1524000" y="2163763"/>
          <a:ext cx="6019800" cy="808037"/>
        </p:xfrm>
        <a:graphic>
          <a:graphicData uri="http://schemas.openxmlformats.org/presentationml/2006/ole">
            <mc:AlternateContent xmlns:mc="http://schemas.openxmlformats.org/markup-compatibility/2006">
              <mc:Choice xmlns:v="urn:schemas-microsoft-com:vml" Requires="v">
                <p:oleObj spid="_x0000_s10273" name="Equation" r:id="rId4" imgW="1701720" imgH="228600" progId="Equation.DSMT4">
                  <p:embed/>
                </p:oleObj>
              </mc:Choice>
              <mc:Fallback>
                <p:oleObj name="Equation" r:id="rId4" imgW="1701720" imgH="228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2163763"/>
                        <a:ext cx="6019800" cy="80803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7332" name="Object 4"/>
          <p:cNvGraphicFramePr>
            <a:graphicFrameLocks noChangeAspect="1"/>
          </p:cNvGraphicFramePr>
          <p:nvPr>
            <p:extLst>
              <p:ext uri="{D42A27DB-BD31-4B8C-83A1-F6EECF244321}">
                <p14:modId xmlns:p14="http://schemas.microsoft.com/office/powerpoint/2010/main" val="1621700940"/>
              </p:ext>
            </p:extLst>
          </p:nvPr>
        </p:nvGraphicFramePr>
        <p:xfrm>
          <a:off x="2895600" y="3709987"/>
          <a:ext cx="4581525" cy="1571625"/>
        </p:xfrm>
        <a:graphic>
          <a:graphicData uri="http://schemas.openxmlformats.org/presentationml/2006/ole">
            <mc:AlternateContent xmlns:mc="http://schemas.openxmlformats.org/markup-compatibility/2006">
              <mc:Choice xmlns:v="urn:schemas-microsoft-com:vml" Requires="v">
                <p:oleObj spid="_x0000_s10274" name="Equation" r:id="rId6" imgW="1295280" imgH="444240" progId="Equation.DSMT4">
                  <p:embed/>
                </p:oleObj>
              </mc:Choice>
              <mc:Fallback>
                <p:oleObj name="Equation" r:id="rId6" imgW="1295280" imgH="44424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95600" y="3709987"/>
                        <a:ext cx="4581525" cy="15716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ight Arrow 1"/>
          <p:cNvSpPr/>
          <p:nvPr/>
        </p:nvSpPr>
        <p:spPr>
          <a:xfrm>
            <a:off x="1489364" y="4191000"/>
            <a:ext cx="1219200" cy="609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2"/>
    </p:custDataLst>
    <p:extLst>
      <p:ext uri="{BB962C8B-B14F-4D97-AF65-F5344CB8AC3E}">
        <p14:creationId xmlns:p14="http://schemas.microsoft.com/office/powerpoint/2010/main" val="320008615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227331"/>
                                        </p:tgtEl>
                                        <p:attrNameLst>
                                          <p:attrName>style.visibility</p:attrName>
                                        </p:attrNameLst>
                                      </p:cBhvr>
                                      <p:to>
                                        <p:strVal val="visible"/>
                                      </p:to>
                                    </p:set>
                                    <p:anim calcmode="lin" valueType="num">
                                      <p:cBhvr>
                                        <p:cTn id="7" dur="500" fill="hold"/>
                                        <p:tgtEl>
                                          <p:spTgt spid="227331"/>
                                        </p:tgtEl>
                                        <p:attrNameLst>
                                          <p:attrName>ppt_w</p:attrName>
                                        </p:attrNameLst>
                                      </p:cBhvr>
                                      <p:tavLst>
                                        <p:tav tm="0">
                                          <p:val>
                                            <p:fltVal val="0"/>
                                          </p:val>
                                        </p:tav>
                                        <p:tav tm="100000">
                                          <p:val>
                                            <p:strVal val="#ppt_w"/>
                                          </p:val>
                                        </p:tav>
                                      </p:tavLst>
                                    </p:anim>
                                    <p:anim calcmode="lin" valueType="num">
                                      <p:cBhvr>
                                        <p:cTn id="8" dur="500" fill="hold"/>
                                        <p:tgtEl>
                                          <p:spTgt spid="227331"/>
                                        </p:tgtEl>
                                        <p:attrNameLst>
                                          <p:attrName>ppt_h</p:attrName>
                                        </p:attrNameLst>
                                      </p:cBhvr>
                                      <p:tavLst>
                                        <p:tav tm="0">
                                          <p:val>
                                            <p:fltVal val="0"/>
                                          </p:val>
                                        </p:tav>
                                        <p:tav tm="100000">
                                          <p:val>
                                            <p:strVal val="#ppt_h"/>
                                          </p:val>
                                        </p:tav>
                                      </p:tavLst>
                                    </p:anim>
                                    <p:animEffect transition="in" filter="fade">
                                      <p:cBhvr>
                                        <p:cTn id="9" dur="500"/>
                                        <p:tgtEl>
                                          <p:spTgt spid="227331"/>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nodeType="clickEffect">
                                  <p:stCondLst>
                                    <p:cond delay="0"/>
                                  </p:stCondLst>
                                  <p:childTnLst>
                                    <p:set>
                                      <p:cBhvr>
                                        <p:cTn id="13" dur="1" fill="hold">
                                          <p:stCondLst>
                                            <p:cond delay="0"/>
                                          </p:stCondLst>
                                        </p:cTn>
                                        <p:tgtEl>
                                          <p:spTgt spid="227332"/>
                                        </p:tgtEl>
                                        <p:attrNameLst>
                                          <p:attrName>style.visibility</p:attrName>
                                        </p:attrNameLst>
                                      </p:cBhvr>
                                      <p:to>
                                        <p:strVal val="visible"/>
                                      </p:to>
                                    </p:set>
                                    <p:anim calcmode="lin" valueType="num">
                                      <p:cBhvr>
                                        <p:cTn id="14" dur="500" fill="hold"/>
                                        <p:tgtEl>
                                          <p:spTgt spid="227332"/>
                                        </p:tgtEl>
                                        <p:attrNameLst>
                                          <p:attrName>ppt_w</p:attrName>
                                        </p:attrNameLst>
                                      </p:cBhvr>
                                      <p:tavLst>
                                        <p:tav tm="0">
                                          <p:val>
                                            <p:fltVal val="0"/>
                                          </p:val>
                                        </p:tav>
                                        <p:tav tm="100000">
                                          <p:val>
                                            <p:strVal val="#ppt_w"/>
                                          </p:val>
                                        </p:tav>
                                      </p:tavLst>
                                    </p:anim>
                                    <p:anim calcmode="lin" valueType="num">
                                      <p:cBhvr>
                                        <p:cTn id="15" dur="500" fill="hold"/>
                                        <p:tgtEl>
                                          <p:spTgt spid="227332"/>
                                        </p:tgtEl>
                                        <p:attrNameLst>
                                          <p:attrName>ppt_h</p:attrName>
                                        </p:attrNameLst>
                                      </p:cBhvr>
                                      <p:tavLst>
                                        <p:tav tm="0">
                                          <p:val>
                                            <p:fltVal val="0"/>
                                          </p:val>
                                        </p:tav>
                                        <p:tav tm="100000">
                                          <p:val>
                                            <p:strVal val="#ppt_h"/>
                                          </p:val>
                                        </p:tav>
                                      </p:tavLst>
                                    </p:anim>
                                    <p:animEffect transition="in" filter="fade">
                                      <p:cBhvr>
                                        <p:cTn id="16" dur="500"/>
                                        <p:tgtEl>
                                          <p:spTgt spid="227332"/>
                                        </p:tgtEl>
                                      </p:cBhvr>
                                    </p:animEffect>
                                  </p:childTnLst>
                                </p:cTn>
                              </p:par>
                              <p:par>
                                <p:cTn id="17" presetID="1"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 y="990600"/>
            <a:ext cx="8686800" cy="5386090"/>
          </a:xfrm>
          <a:prstGeom prst="rect">
            <a:avLst/>
          </a:prstGeom>
          <a:noFill/>
        </p:spPr>
        <p:txBody>
          <a:bodyPr wrap="square" rtlCol="0">
            <a:spAutoFit/>
          </a:bodyPr>
          <a:lstStyle/>
          <a:p>
            <a:pPr>
              <a:spcAft>
                <a:spcPts val="1800"/>
              </a:spcAft>
            </a:pPr>
            <a:r>
              <a:rPr lang="en-US" sz="3200" dirty="0" smtClean="0">
                <a:solidFill>
                  <a:schemeClr val="accent6">
                    <a:lumMod val="50000"/>
                  </a:schemeClr>
                </a:solidFill>
                <a:cs typeface="Times New Roman" pitchFamily="18" charset="0"/>
              </a:rPr>
              <a:t>On 10/17/12, a random sample of 500 North Carolina likely voters were polled.  260 said they plan to vote for Mitt Romney.</a:t>
            </a:r>
          </a:p>
          <a:p>
            <a:pPr>
              <a:spcAft>
                <a:spcPts val="1800"/>
              </a:spcAft>
            </a:pPr>
            <a:r>
              <a:rPr lang="en-US" sz="3200" dirty="0" smtClean="0">
                <a:solidFill>
                  <a:schemeClr val="accent6">
                    <a:lumMod val="50000"/>
                  </a:schemeClr>
                </a:solidFill>
                <a:cs typeface="Times New Roman" pitchFamily="18" charset="0"/>
              </a:rPr>
              <a:t>Give a 95% CI for the proportion of likely voters in North Carolina that support Mitt Romney.  </a:t>
            </a:r>
          </a:p>
          <a:p>
            <a:pPr>
              <a:spcAft>
                <a:spcPts val="1800"/>
              </a:spcAft>
            </a:pPr>
            <a:endParaRPr lang="en-US" sz="3200" dirty="0">
              <a:solidFill>
                <a:schemeClr val="accent6">
                  <a:lumMod val="50000"/>
                </a:schemeClr>
              </a:solidFill>
              <a:cs typeface="Times New Roman" pitchFamily="18" charset="0"/>
            </a:endParaRPr>
          </a:p>
          <a:p>
            <a:pPr>
              <a:spcAft>
                <a:spcPts val="1800"/>
              </a:spcAft>
            </a:pPr>
            <a:endParaRPr lang="en-US" sz="3200" dirty="0" smtClean="0">
              <a:solidFill>
                <a:schemeClr val="accent6">
                  <a:lumMod val="50000"/>
                </a:schemeClr>
              </a:solidFill>
              <a:cs typeface="Times New Roman" pitchFamily="18" charset="0"/>
            </a:endParaRPr>
          </a:p>
          <a:p>
            <a:pPr>
              <a:spcAft>
                <a:spcPts val="1800"/>
              </a:spcAft>
            </a:pPr>
            <a:r>
              <a:rPr lang="en-US" sz="2000" dirty="0">
                <a:solidFill>
                  <a:schemeClr val="accent6">
                    <a:lumMod val="50000"/>
                  </a:schemeClr>
                </a:solidFill>
                <a:hlinkClick r:id="rId3"/>
              </a:rPr>
              <a:t>http://www.rasmussenreports.com/public_content/politics/elections/election_2012/election_2012_presidential_election/north_carolina/election_2012_north_carolina_president</a:t>
            </a:r>
            <a:endParaRPr lang="en-US" sz="2000" dirty="0" smtClean="0">
              <a:solidFill>
                <a:schemeClr val="accent6">
                  <a:lumMod val="50000"/>
                </a:schemeClr>
              </a:solidFill>
              <a:cs typeface="Times New Roman" pitchFamily="18" charset="0"/>
            </a:endParaRPr>
          </a:p>
        </p:txBody>
      </p:sp>
      <p:sp>
        <p:nvSpPr>
          <p:cNvPr id="3" name="Title 1"/>
          <p:cNvSpPr txBox="1">
            <a:spLocks/>
          </p:cNvSpPr>
          <p:nvPr/>
        </p:nvSpPr>
        <p:spPr>
          <a:xfrm>
            <a:off x="457200" y="228600"/>
            <a:ext cx="8153400" cy="1219200"/>
          </a:xfrm>
          <a:prstGeom prst="rect">
            <a:avLst/>
          </a:prstGeom>
        </p:spPr>
        <p:txBody>
          <a:bodyPr/>
          <a:lstStyle/>
          <a:p>
            <a:pPr lvl="0" algn="ctr">
              <a:spcBef>
                <a:spcPct val="0"/>
              </a:spcBef>
              <a:defRPr/>
            </a:pPr>
            <a:r>
              <a:rPr lang="en-US" sz="4400" b="1" dirty="0" smtClean="0">
                <a:solidFill>
                  <a:schemeClr val="tx2"/>
                </a:solidFill>
              </a:rPr>
              <a:t>Obama </a:t>
            </a:r>
            <a:r>
              <a:rPr lang="en-US" sz="4400" b="1" dirty="0" err="1" smtClean="0">
                <a:solidFill>
                  <a:schemeClr val="tx2"/>
                </a:solidFill>
              </a:rPr>
              <a:t>vs</a:t>
            </a:r>
            <a:r>
              <a:rPr lang="en-US" sz="4400" b="1" dirty="0" smtClean="0">
                <a:solidFill>
                  <a:schemeClr val="tx2"/>
                </a:solidFill>
              </a:rPr>
              <a:t> Romney</a:t>
            </a:r>
            <a:endParaRPr lang="en-US" sz="4000" b="1" dirty="0">
              <a:solidFill>
                <a:schemeClr val="tx2"/>
              </a:solidFill>
            </a:endParaRPr>
          </a:p>
        </p:txBody>
      </p:sp>
      <p:pic>
        <p:nvPicPr>
          <p:cNvPr id="11" name="Picture 2" descr="http://www.school-clipart.com/school_clipart_images/pencil_touching_lead_to_paper_0515-1007-2718-0955_SMU.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8601" y="228600"/>
            <a:ext cx="838200" cy="81864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0734908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52400" y="1143000"/>
            <a:ext cx="8763000" cy="1308050"/>
          </a:xfrm>
          <a:prstGeom prst="rect">
            <a:avLst/>
          </a:prstGeom>
          <a:noFill/>
        </p:spPr>
        <p:txBody>
          <a:bodyPr wrap="square" rtlCol="0">
            <a:spAutoFit/>
          </a:bodyPr>
          <a:lstStyle/>
          <a:p>
            <a:pPr>
              <a:spcAft>
                <a:spcPts val="1800"/>
              </a:spcAft>
            </a:pPr>
            <a:r>
              <a:rPr lang="en-US" sz="3200" dirty="0" smtClean="0">
                <a:solidFill>
                  <a:prstClr val="black"/>
                </a:solidFill>
                <a:cs typeface="Times New Roman" pitchFamily="18" charset="0"/>
              </a:rPr>
              <a:t>Counts are greater than 10 in each category</a:t>
            </a:r>
          </a:p>
          <a:p>
            <a:pPr>
              <a:spcAft>
                <a:spcPts val="1800"/>
              </a:spcAft>
            </a:pPr>
            <a:r>
              <a:rPr lang="en-US" sz="3200" dirty="0" smtClean="0">
                <a:solidFill>
                  <a:prstClr val="black"/>
                </a:solidFill>
                <a:cs typeface="Times New Roman" pitchFamily="18" charset="0"/>
              </a:rPr>
              <a:t>For a 95% confidence interval, </a:t>
            </a:r>
            <a:r>
              <a:rPr lang="en-US" sz="3200" i="1" dirty="0" smtClean="0">
                <a:solidFill>
                  <a:prstClr val="black"/>
                </a:solidFill>
                <a:cs typeface="Times New Roman" pitchFamily="18" charset="0"/>
              </a:rPr>
              <a:t>z</a:t>
            </a:r>
            <a:r>
              <a:rPr lang="en-US" sz="3200" i="1" baseline="30000" dirty="0" smtClean="0">
                <a:solidFill>
                  <a:prstClr val="black"/>
                </a:solidFill>
                <a:cs typeface="Times New Roman" pitchFamily="18" charset="0"/>
              </a:rPr>
              <a:t>*</a:t>
            </a:r>
            <a:r>
              <a:rPr lang="en-US" sz="3200" dirty="0" smtClean="0">
                <a:solidFill>
                  <a:prstClr val="black"/>
                </a:solidFill>
                <a:cs typeface="Times New Roman" pitchFamily="18" charset="0"/>
              </a:rPr>
              <a:t> = 1.96</a:t>
            </a:r>
          </a:p>
        </p:txBody>
      </p:sp>
      <p:pic>
        <p:nvPicPr>
          <p:cNvPr id="9" name="Picture 4" descr="C:\Users\Kari\AppData\Local\Microsoft\Windows\Temporary Internet Files\Content.IE5\8Y1BLIC5\MC900432601[1].png"/>
          <p:cNvPicPr>
            <a:picLocks noChangeAspect="1" noChangeArrowheads="1"/>
          </p:cNvPicPr>
          <p:nvPr/>
        </p:nvPicPr>
        <p:blipFill>
          <a:blip r:embed="rId4" cstate="print"/>
          <a:srcRect/>
          <a:stretch>
            <a:fillRect/>
          </a:stretch>
        </p:blipFill>
        <p:spPr bwMode="auto">
          <a:xfrm>
            <a:off x="7924800" y="990600"/>
            <a:ext cx="762000" cy="762000"/>
          </a:xfrm>
          <a:prstGeom prst="rect">
            <a:avLst/>
          </a:prstGeom>
          <a:noFill/>
        </p:spPr>
      </p:pic>
      <p:graphicFrame>
        <p:nvGraphicFramePr>
          <p:cNvPr id="323588" name="Object 4"/>
          <p:cNvGraphicFramePr>
            <a:graphicFrameLocks noChangeAspect="1"/>
          </p:cNvGraphicFramePr>
          <p:nvPr>
            <p:extLst>
              <p:ext uri="{D42A27DB-BD31-4B8C-83A1-F6EECF244321}">
                <p14:modId xmlns:p14="http://schemas.microsoft.com/office/powerpoint/2010/main" val="1436917844"/>
              </p:ext>
            </p:extLst>
          </p:nvPr>
        </p:nvGraphicFramePr>
        <p:xfrm>
          <a:off x="152400" y="2633008"/>
          <a:ext cx="3397250" cy="1165225"/>
        </p:xfrm>
        <a:graphic>
          <a:graphicData uri="http://schemas.openxmlformats.org/presentationml/2006/ole">
            <mc:AlternateContent xmlns:mc="http://schemas.openxmlformats.org/markup-compatibility/2006">
              <mc:Choice xmlns:v="urn:schemas-microsoft-com:vml" Requires="v">
                <p:oleObj spid="_x0000_s11346" name="Equation" r:id="rId5" imgW="1295280" imgH="444240" progId="Equation.DSMT4">
                  <p:embed/>
                </p:oleObj>
              </mc:Choice>
              <mc:Fallback>
                <p:oleObj name="Equation" r:id="rId5" imgW="1295280" imgH="4442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2633008"/>
                        <a:ext cx="3397250" cy="116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323589" name="Object 5"/>
          <p:cNvGraphicFramePr>
            <a:graphicFrameLocks noChangeAspect="1"/>
          </p:cNvGraphicFramePr>
          <p:nvPr>
            <p:extLst>
              <p:ext uri="{D42A27DB-BD31-4B8C-83A1-F6EECF244321}">
                <p14:modId xmlns:p14="http://schemas.microsoft.com/office/powerpoint/2010/main" val="2190258330"/>
              </p:ext>
            </p:extLst>
          </p:nvPr>
        </p:nvGraphicFramePr>
        <p:xfrm>
          <a:off x="103003" y="3733800"/>
          <a:ext cx="5062538" cy="1165225"/>
        </p:xfrm>
        <a:graphic>
          <a:graphicData uri="http://schemas.openxmlformats.org/presentationml/2006/ole">
            <mc:AlternateContent xmlns:mc="http://schemas.openxmlformats.org/markup-compatibility/2006">
              <mc:Choice xmlns:v="urn:schemas-microsoft-com:vml" Requires="v">
                <p:oleObj spid="_x0000_s11347" name="Equation" r:id="rId7" imgW="1930320" imgH="444240" progId="Equation.DSMT4">
                  <p:embed/>
                </p:oleObj>
              </mc:Choice>
              <mc:Fallback>
                <p:oleObj name="Equation" r:id="rId7" imgW="1930320" imgH="444240" progId="Equation.DSMT4">
                  <p:embed/>
                  <p:pic>
                    <p:nvPicPr>
                      <p:cNvPr id="0" name=""/>
                      <p:cNvPicPr>
                        <a:picLocks noChangeAspect="1" noChangeArrowheads="1"/>
                      </p:cNvPicPr>
                      <p:nvPr/>
                    </p:nvPicPr>
                    <p:blipFill>
                      <a:blip r:embed="rId8"/>
                      <a:srcRect/>
                      <a:stretch>
                        <a:fillRect/>
                      </a:stretch>
                    </p:blipFill>
                    <p:spPr bwMode="auto">
                      <a:xfrm>
                        <a:off x="103003" y="3733800"/>
                        <a:ext cx="5062538" cy="116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323590" name="Object 6"/>
          <p:cNvGraphicFramePr>
            <a:graphicFrameLocks noChangeAspect="1"/>
          </p:cNvGraphicFramePr>
          <p:nvPr>
            <p:extLst>
              <p:ext uri="{D42A27DB-BD31-4B8C-83A1-F6EECF244321}">
                <p14:modId xmlns:p14="http://schemas.microsoft.com/office/powerpoint/2010/main" val="498820171"/>
              </p:ext>
            </p:extLst>
          </p:nvPr>
        </p:nvGraphicFramePr>
        <p:xfrm>
          <a:off x="131618" y="5214859"/>
          <a:ext cx="3265488" cy="465137"/>
        </p:xfrm>
        <a:graphic>
          <a:graphicData uri="http://schemas.openxmlformats.org/presentationml/2006/ole">
            <mc:AlternateContent xmlns:mc="http://schemas.openxmlformats.org/markup-compatibility/2006">
              <mc:Choice xmlns:v="urn:schemas-microsoft-com:vml" Requires="v">
                <p:oleObj spid="_x0000_s11348" name="Equation" r:id="rId9" imgW="1244520" imgH="177480" progId="Equation.DSMT4">
                  <p:embed/>
                </p:oleObj>
              </mc:Choice>
              <mc:Fallback>
                <p:oleObj name="Equation" r:id="rId9" imgW="1244520" imgH="177480" progId="Equation.DSMT4">
                  <p:embed/>
                  <p:pic>
                    <p:nvPicPr>
                      <p:cNvPr id="0" name=""/>
                      <p:cNvPicPr>
                        <a:picLocks noChangeAspect="1" noChangeArrowheads="1"/>
                      </p:cNvPicPr>
                      <p:nvPr/>
                    </p:nvPicPr>
                    <p:blipFill>
                      <a:blip r:embed="rId10"/>
                      <a:srcRect/>
                      <a:stretch>
                        <a:fillRect/>
                      </a:stretch>
                    </p:blipFill>
                    <p:spPr bwMode="auto">
                      <a:xfrm>
                        <a:off x="131618" y="5214859"/>
                        <a:ext cx="3265488"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323591" name="Object 7"/>
          <p:cNvGraphicFramePr>
            <a:graphicFrameLocks noChangeAspect="1"/>
          </p:cNvGraphicFramePr>
          <p:nvPr>
            <p:extLst>
              <p:ext uri="{D42A27DB-BD31-4B8C-83A1-F6EECF244321}">
                <p14:modId xmlns:p14="http://schemas.microsoft.com/office/powerpoint/2010/main" val="54154830"/>
              </p:ext>
            </p:extLst>
          </p:nvPr>
        </p:nvGraphicFramePr>
        <p:xfrm>
          <a:off x="2879725" y="5867400"/>
          <a:ext cx="2363788" cy="665163"/>
        </p:xfrm>
        <a:graphic>
          <a:graphicData uri="http://schemas.openxmlformats.org/presentationml/2006/ole">
            <mc:AlternateContent xmlns:mc="http://schemas.openxmlformats.org/markup-compatibility/2006">
              <mc:Choice xmlns:v="urn:schemas-microsoft-com:vml" Requires="v">
                <p:oleObj spid="_x0000_s11349" name="Equation" r:id="rId11" imgW="901440" imgH="253800" progId="Equation.DSMT4">
                  <p:embed/>
                </p:oleObj>
              </mc:Choice>
              <mc:Fallback>
                <p:oleObj name="Equation" r:id="rId11" imgW="901440" imgH="253800" progId="Equation.DSMT4">
                  <p:embed/>
                  <p:pic>
                    <p:nvPicPr>
                      <p:cNvPr id="0" name=""/>
                      <p:cNvPicPr>
                        <a:picLocks noChangeAspect="1" noChangeArrowheads="1"/>
                      </p:cNvPicPr>
                      <p:nvPr/>
                    </p:nvPicPr>
                    <p:blipFill>
                      <a:blip r:embed="rId12"/>
                      <a:srcRect/>
                      <a:stretch>
                        <a:fillRect/>
                      </a:stretch>
                    </p:blipFill>
                    <p:spPr bwMode="auto">
                      <a:xfrm>
                        <a:off x="2879725" y="5867400"/>
                        <a:ext cx="2363788" cy="6651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itle 1"/>
          <p:cNvSpPr txBox="1">
            <a:spLocks/>
          </p:cNvSpPr>
          <p:nvPr/>
        </p:nvSpPr>
        <p:spPr>
          <a:xfrm>
            <a:off x="457200" y="228600"/>
            <a:ext cx="8153400" cy="1219200"/>
          </a:xfrm>
          <a:prstGeom prst="rect">
            <a:avLst/>
          </a:prstGeom>
        </p:spPr>
        <p:txBody>
          <a:bodyPr/>
          <a:lstStyle/>
          <a:p>
            <a:pPr lvl="0" algn="ctr">
              <a:spcBef>
                <a:spcPct val="0"/>
              </a:spcBef>
              <a:defRPr/>
            </a:pPr>
            <a:r>
              <a:rPr lang="en-US" sz="4400" b="1" dirty="0" smtClean="0">
                <a:solidFill>
                  <a:schemeClr val="tx2"/>
                </a:solidFill>
              </a:rPr>
              <a:t>Obama </a:t>
            </a:r>
            <a:r>
              <a:rPr lang="en-US" sz="4400" b="1" dirty="0" err="1" smtClean="0">
                <a:solidFill>
                  <a:schemeClr val="tx2"/>
                </a:solidFill>
              </a:rPr>
              <a:t>vs</a:t>
            </a:r>
            <a:r>
              <a:rPr lang="en-US" sz="4400" b="1" dirty="0" smtClean="0">
                <a:solidFill>
                  <a:schemeClr val="tx2"/>
                </a:solidFill>
              </a:rPr>
              <a:t> Romney</a:t>
            </a:r>
            <a:endParaRPr lang="en-US" sz="4000" b="1" dirty="0">
              <a:solidFill>
                <a:schemeClr val="tx2"/>
              </a:solidFill>
            </a:endParaRPr>
          </a:p>
        </p:txBody>
      </p:sp>
      <p:sp>
        <p:nvSpPr>
          <p:cNvPr id="13" name="TextBox 12"/>
          <p:cNvSpPr txBox="1"/>
          <p:nvPr/>
        </p:nvSpPr>
        <p:spPr>
          <a:xfrm>
            <a:off x="5165541" y="2633008"/>
            <a:ext cx="3950750" cy="3046988"/>
          </a:xfrm>
          <a:prstGeom prst="rect">
            <a:avLst/>
          </a:prstGeom>
          <a:noFill/>
        </p:spPr>
        <p:txBody>
          <a:bodyPr wrap="square" rtlCol="0">
            <a:spAutoFit/>
          </a:bodyPr>
          <a:lstStyle/>
          <a:p>
            <a:r>
              <a:rPr lang="en-US" sz="3200" b="1" dirty="0" smtClean="0">
                <a:latin typeface="Bradley Hand ITC" pitchFamily="66" charset="0"/>
              </a:rPr>
              <a:t>We are 95% confident that between 47.6% and 56.4% of likely voters in North Carolina support Romney.</a:t>
            </a:r>
            <a:endParaRPr lang="en-US" sz="3200" b="1" dirty="0">
              <a:latin typeface="Bradley Hand ITC" pitchFamily="66" charset="0"/>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2390054737"/>
              </p:ext>
            </p:extLst>
          </p:nvPr>
        </p:nvGraphicFramePr>
        <p:xfrm>
          <a:off x="173182" y="5943600"/>
          <a:ext cx="2098675" cy="465138"/>
        </p:xfrm>
        <a:graphic>
          <a:graphicData uri="http://schemas.openxmlformats.org/presentationml/2006/ole">
            <mc:AlternateContent xmlns:mc="http://schemas.openxmlformats.org/markup-compatibility/2006">
              <mc:Choice xmlns:v="urn:schemas-microsoft-com:vml" Requires="v">
                <p:oleObj spid="_x0000_s11350" name="Equation" r:id="rId13" imgW="799920" imgH="177480" progId="Equation.DSMT4">
                  <p:embed/>
                </p:oleObj>
              </mc:Choice>
              <mc:Fallback>
                <p:oleObj name="Equation" r:id="rId13" imgW="799920" imgH="177480" progId="Equation.DSMT4">
                  <p:embed/>
                  <p:pic>
                    <p:nvPicPr>
                      <p:cNvPr id="0" name=""/>
                      <p:cNvPicPr>
                        <a:picLocks noChangeAspect="1" noChangeArrowheads="1"/>
                      </p:cNvPicPr>
                      <p:nvPr/>
                    </p:nvPicPr>
                    <p:blipFill>
                      <a:blip r:embed="rId14"/>
                      <a:srcRect/>
                      <a:stretch>
                        <a:fillRect/>
                      </a:stretch>
                    </p:blipFill>
                    <p:spPr bwMode="auto">
                      <a:xfrm>
                        <a:off x="173182" y="5943600"/>
                        <a:ext cx="2098675"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spTree>
    <p:custDataLst>
      <p:tags r:id="rId2"/>
    </p:custDataLst>
    <p:extLst>
      <p:ext uri="{BB962C8B-B14F-4D97-AF65-F5344CB8AC3E}">
        <p14:creationId xmlns:p14="http://schemas.microsoft.com/office/powerpoint/2010/main" val="7331318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53" presetClass="entr" presetSubtype="0" fill="hold" nodeType="clickEffect">
                                  <p:stCondLst>
                                    <p:cond delay="0"/>
                                  </p:stCondLst>
                                  <p:childTnLst>
                                    <p:set>
                                      <p:cBhvr>
                                        <p:cTn id="18" dur="1" fill="hold">
                                          <p:stCondLst>
                                            <p:cond delay="0"/>
                                          </p:stCondLst>
                                        </p:cTn>
                                        <p:tgtEl>
                                          <p:spTgt spid="323588"/>
                                        </p:tgtEl>
                                        <p:attrNameLst>
                                          <p:attrName>style.visibility</p:attrName>
                                        </p:attrNameLst>
                                      </p:cBhvr>
                                      <p:to>
                                        <p:strVal val="visible"/>
                                      </p:to>
                                    </p:set>
                                    <p:anim calcmode="lin" valueType="num">
                                      <p:cBhvr>
                                        <p:cTn id="19" dur="500" fill="hold"/>
                                        <p:tgtEl>
                                          <p:spTgt spid="323588"/>
                                        </p:tgtEl>
                                        <p:attrNameLst>
                                          <p:attrName>ppt_w</p:attrName>
                                        </p:attrNameLst>
                                      </p:cBhvr>
                                      <p:tavLst>
                                        <p:tav tm="0">
                                          <p:val>
                                            <p:fltVal val="0"/>
                                          </p:val>
                                        </p:tav>
                                        <p:tav tm="100000">
                                          <p:val>
                                            <p:strVal val="#ppt_w"/>
                                          </p:val>
                                        </p:tav>
                                      </p:tavLst>
                                    </p:anim>
                                    <p:anim calcmode="lin" valueType="num">
                                      <p:cBhvr>
                                        <p:cTn id="20" dur="500" fill="hold"/>
                                        <p:tgtEl>
                                          <p:spTgt spid="323588"/>
                                        </p:tgtEl>
                                        <p:attrNameLst>
                                          <p:attrName>ppt_h</p:attrName>
                                        </p:attrNameLst>
                                      </p:cBhvr>
                                      <p:tavLst>
                                        <p:tav tm="0">
                                          <p:val>
                                            <p:fltVal val="0"/>
                                          </p:val>
                                        </p:tav>
                                        <p:tav tm="100000">
                                          <p:val>
                                            <p:strVal val="#ppt_h"/>
                                          </p:val>
                                        </p:tav>
                                      </p:tavLst>
                                    </p:anim>
                                    <p:animEffect transition="in" filter="fade">
                                      <p:cBhvr>
                                        <p:cTn id="21" dur="500"/>
                                        <p:tgtEl>
                                          <p:spTgt spid="323588"/>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0" fill="hold" nodeType="clickEffect">
                                  <p:stCondLst>
                                    <p:cond delay="0"/>
                                  </p:stCondLst>
                                  <p:childTnLst>
                                    <p:set>
                                      <p:cBhvr>
                                        <p:cTn id="25" dur="1" fill="hold">
                                          <p:stCondLst>
                                            <p:cond delay="0"/>
                                          </p:stCondLst>
                                        </p:cTn>
                                        <p:tgtEl>
                                          <p:spTgt spid="323589"/>
                                        </p:tgtEl>
                                        <p:attrNameLst>
                                          <p:attrName>style.visibility</p:attrName>
                                        </p:attrNameLst>
                                      </p:cBhvr>
                                      <p:to>
                                        <p:strVal val="visible"/>
                                      </p:to>
                                    </p:set>
                                    <p:anim calcmode="lin" valueType="num">
                                      <p:cBhvr>
                                        <p:cTn id="26" dur="500" fill="hold"/>
                                        <p:tgtEl>
                                          <p:spTgt spid="323589"/>
                                        </p:tgtEl>
                                        <p:attrNameLst>
                                          <p:attrName>ppt_w</p:attrName>
                                        </p:attrNameLst>
                                      </p:cBhvr>
                                      <p:tavLst>
                                        <p:tav tm="0">
                                          <p:val>
                                            <p:fltVal val="0"/>
                                          </p:val>
                                        </p:tav>
                                        <p:tav tm="100000">
                                          <p:val>
                                            <p:strVal val="#ppt_w"/>
                                          </p:val>
                                        </p:tav>
                                      </p:tavLst>
                                    </p:anim>
                                    <p:anim calcmode="lin" valueType="num">
                                      <p:cBhvr>
                                        <p:cTn id="27" dur="500" fill="hold"/>
                                        <p:tgtEl>
                                          <p:spTgt spid="323589"/>
                                        </p:tgtEl>
                                        <p:attrNameLst>
                                          <p:attrName>ppt_h</p:attrName>
                                        </p:attrNameLst>
                                      </p:cBhvr>
                                      <p:tavLst>
                                        <p:tav tm="0">
                                          <p:val>
                                            <p:fltVal val="0"/>
                                          </p:val>
                                        </p:tav>
                                        <p:tav tm="100000">
                                          <p:val>
                                            <p:strVal val="#ppt_h"/>
                                          </p:val>
                                        </p:tav>
                                      </p:tavLst>
                                    </p:anim>
                                    <p:animEffect transition="in" filter="fade">
                                      <p:cBhvr>
                                        <p:cTn id="28" dur="500"/>
                                        <p:tgtEl>
                                          <p:spTgt spid="323589"/>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0" fill="hold" nodeType="clickEffect">
                                  <p:stCondLst>
                                    <p:cond delay="0"/>
                                  </p:stCondLst>
                                  <p:childTnLst>
                                    <p:set>
                                      <p:cBhvr>
                                        <p:cTn id="32" dur="1" fill="hold">
                                          <p:stCondLst>
                                            <p:cond delay="0"/>
                                          </p:stCondLst>
                                        </p:cTn>
                                        <p:tgtEl>
                                          <p:spTgt spid="323590"/>
                                        </p:tgtEl>
                                        <p:attrNameLst>
                                          <p:attrName>style.visibility</p:attrName>
                                        </p:attrNameLst>
                                      </p:cBhvr>
                                      <p:to>
                                        <p:strVal val="visible"/>
                                      </p:to>
                                    </p:set>
                                    <p:anim calcmode="lin" valueType="num">
                                      <p:cBhvr>
                                        <p:cTn id="33" dur="500" fill="hold"/>
                                        <p:tgtEl>
                                          <p:spTgt spid="323590"/>
                                        </p:tgtEl>
                                        <p:attrNameLst>
                                          <p:attrName>ppt_w</p:attrName>
                                        </p:attrNameLst>
                                      </p:cBhvr>
                                      <p:tavLst>
                                        <p:tav tm="0">
                                          <p:val>
                                            <p:fltVal val="0"/>
                                          </p:val>
                                        </p:tav>
                                        <p:tav tm="100000">
                                          <p:val>
                                            <p:strVal val="#ppt_w"/>
                                          </p:val>
                                        </p:tav>
                                      </p:tavLst>
                                    </p:anim>
                                    <p:anim calcmode="lin" valueType="num">
                                      <p:cBhvr>
                                        <p:cTn id="34" dur="500" fill="hold"/>
                                        <p:tgtEl>
                                          <p:spTgt spid="323590"/>
                                        </p:tgtEl>
                                        <p:attrNameLst>
                                          <p:attrName>ppt_h</p:attrName>
                                        </p:attrNameLst>
                                      </p:cBhvr>
                                      <p:tavLst>
                                        <p:tav tm="0">
                                          <p:val>
                                            <p:fltVal val="0"/>
                                          </p:val>
                                        </p:tav>
                                        <p:tav tm="100000">
                                          <p:val>
                                            <p:strVal val="#ppt_h"/>
                                          </p:val>
                                        </p:tav>
                                      </p:tavLst>
                                    </p:anim>
                                    <p:animEffect transition="in" filter="fade">
                                      <p:cBhvr>
                                        <p:cTn id="35" dur="500"/>
                                        <p:tgtEl>
                                          <p:spTgt spid="323590"/>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0"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 calcmode="lin" valueType="num">
                                      <p:cBhvr>
                                        <p:cTn id="40" dur="500" fill="hold"/>
                                        <p:tgtEl>
                                          <p:spTgt spid="2"/>
                                        </p:tgtEl>
                                        <p:attrNameLst>
                                          <p:attrName>ppt_w</p:attrName>
                                        </p:attrNameLst>
                                      </p:cBhvr>
                                      <p:tavLst>
                                        <p:tav tm="0">
                                          <p:val>
                                            <p:fltVal val="0"/>
                                          </p:val>
                                        </p:tav>
                                        <p:tav tm="100000">
                                          <p:val>
                                            <p:strVal val="#ppt_w"/>
                                          </p:val>
                                        </p:tav>
                                      </p:tavLst>
                                    </p:anim>
                                    <p:anim calcmode="lin" valueType="num">
                                      <p:cBhvr>
                                        <p:cTn id="41" dur="500" fill="hold"/>
                                        <p:tgtEl>
                                          <p:spTgt spid="2"/>
                                        </p:tgtEl>
                                        <p:attrNameLst>
                                          <p:attrName>ppt_h</p:attrName>
                                        </p:attrNameLst>
                                      </p:cBhvr>
                                      <p:tavLst>
                                        <p:tav tm="0">
                                          <p:val>
                                            <p:fltVal val="0"/>
                                          </p:val>
                                        </p:tav>
                                        <p:tav tm="100000">
                                          <p:val>
                                            <p:strVal val="#ppt_h"/>
                                          </p:val>
                                        </p:tav>
                                      </p:tavLst>
                                    </p:anim>
                                    <p:animEffect transition="in" filter="fade">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0" fill="hold" nodeType="clickEffect">
                                  <p:stCondLst>
                                    <p:cond delay="0"/>
                                  </p:stCondLst>
                                  <p:childTnLst>
                                    <p:set>
                                      <p:cBhvr>
                                        <p:cTn id="46" dur="1" fill="hold">
                                          <p:stCondLst>
                                            <p:cond delay="0"/>
                                          </p:stCondLst>
                                        </p:cTn>
                                        <p:tgtEl>
                                          <p:spTgt spid="323591"/>
                                        </p:tgtEl>
                                        <p:attrNameLst>
                                          <p:attrName>style.visibility</p:attrName>
                                        </p:attrNameLst>
                                      </p:cBhvr>
                                      <p:to>
                                        <p:strVal val="visible"/>
                                      </p:to>
                                    </p:set>
                                    <p:anim calcmode="lin" valueType="num">
                                      <p:cBhvr>
                                        <p:cTn id="47" dur="500" fill="hold"/>
                                        <p:tgtEl>
                                          <p:spTgt spid="323591"/>
                                        </p:tgtEl>
                                        <p:attrNameLst>
                                          <p:attrName>ppt_w</p:attrName>
                                        </p:attrNameLst>
                                      </p:cBhvr>
                                      <p:tavLst>
                                        <p:tav tm="0">
                                          <p:val>
                                            <p:fltVal val="0"/>
                                          </p:val>
                                        </p:tav>
                                        <p:tav tm="100000">
                                          <p:val>
                                            <p:strVal val="#ppt_w"/>
                                          </p:val>
                                        </p:tav>
                                      </p:tavLst>
                                    </p:anim>
                                    <p:anim calcmode="lin" valueType="num">
                                      <p:cBhvr>
                                        <p:cTn id="48" dur="500" fill="hold"/>
                                        <p:tgtEl>
                                          <p:spTgt spid="323591"/>
                                        </p:tgtEl>
                                        <p:attrNameLst>
                                          <p:attrName>ppt_h</p:attrName>
                                        </p:attrNameLst>
                                      </p:cBhvr>
                                      <p:tavLst>
                                        <p:tav tm="0">
                                          <p:val>
                                            <p:fltVal val="0"/>
                                          </p:val>
                                        </p:tav>
                                        <p:tav tm="100000">
                                          <p:val>
                                            <p:strVal val="#ppt_h"/>
                                          </p:val>
                                        </p:tav>
                                      </p:tavLst>
                                    </p:anim>
                                    <p:animEffect transition="in" filter="fade">
                                      <p:cBhvr>
                                        <p:cTn id="49" dur="500"/>
                                        <p:tgtEl>
                                          <p:spTgt spid="323591"/>
                                        </p:tgtEl>
                                      </p:cBhvr>
                                    </p:animEffect>
                                  </p:childTnLst>
                                </p:cTn>
                              </p:par>
                            </p:childTnLst>
                          </p:cTn>
                        </p:par>
                      </p:childTnLst>
                    </p:cTn>
                  </p:par>
                  <p:par>
                    <p:cTn id="50" fill="hold">
                      <p:stCondLst>
                        <p:cond delay="indefinite"/>
                      </p:stCondLst>
                      <p:childTnLst>
                        <p:par>
                          <p:cTn id="51" fill="hold">
                            <p:stCondLst>
                              <p:cond delay="0"/>
                            </p:stCondLst>
                            <p:childTnLst>
                              <p:par>
                                <p:cTn id="52" presetID="27" presetClass="entr" presetSubtype="0" fill="hold" nodeType="clickEffect">
                                  <p:stCondLst>
                                    <p:cond delay="0"/>
                                  </p:stCondLst>
                                  <p:iterate type="lt">
                                    <p:tmPct val="50000"/>
                                  </p:iterate>
                                  <p:childTnLst>
                                    <p:set>
                                      <p:cBhvr>
                                        <p:cTn id="53" dur="1" fill="hold">
                                          <p:stCondLst>
                                            <p:cond delay="0"/>
                                          </p:stCondLst>
                                        </p:cTn>
                                        <p:tgtEl>
                                          <p:spTgt spid="13">
                                            <p:txEl>
                                              <p:pRg st="0" end="0"/>
                                            </p:txEl>
                                          </p:spTgt>
                                        </p:tgtEl>
                                        <p:attrNameLst>
                                          <p:attrName>style.visibility</p:attrName>
                                        </p:attrNameLst>
                                      </p:cBhvr>
                                      <p:to>
                                        <p:strVal val="visible"/>
                                      </p:to>
                                    </p:set>
                                    <p:anim calcmode="discrete" valueType="clr">
                                      <p:cBhvr override="childStyle">
                                        <p:cTn id="54" dur="80"/>
                                        <p:tgtEl>
                                          <p:spTgt spid="1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55" dur="80"/>
                                        <p:tgtEl>
                                          <p:spTgt spid="13">
                                            <p:txEl>
                                              <p:pRg st="0" end="0"/>
                                            </p:txEl>
                                          </p:spTgt>
                                        </p:tgtEl>
                                        <p:attrNameLst>
                                          <p:attrName>fillcolor</p:attrName>
                                        </p:attrNameLst>
                                      </p:cBhvr>
                                      <p:tavLst>
                                        <p:tav tm="0">
                                          <p:val>
                                            <p:clrVal>
                                              <a:schemeClr val="accent2"/>
                                            </p:clrVal>
                                          </p:val>
                                        </p:tav>
                                        <p:tav tm="50000">
                                          <p:val>
                                            <p:clrVal>
                                              <a:schemeClr val="hlink"/>
                                            </p:clrVal>
                                          </p:val>
                                        </p:tav>
                                      </p:tavLst>
                                    </p:anim>
                                    <p:set>
                                      <p:cBhvr>
                                        <p:cTn id="56" dur="80"/>
                                        <p:tgtEl>
                                          <p:spTgt spid="13">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7200" y="228600"/>
            <a:ext cx="8153400" cy="1219200"/>
          </a:xfrm>
          <a:prstGeom prst="rect">
            <a:avLst/>
          </a:prstGeom>
        </p:spPr>
        <p:txBody>
          <a:bodyPr/>
          <a:lstStyle/>
          <a:p>
            <a:pPr lvl="0" algn="ctr">
              <a:spcBef>
                <a:spcPct val="0"/>
              </a:spcBef>
              <a:defRPr/>
            </a:pPr>
            <a:r>
              <a:rPr lang="en-US" sz="4400" b="1" dirty="0" smtClean="0">
                <a:solidFill>
                  <a:schemeClr val="tx2"/>
                </a:solidFill>
              </a:rPr>
              <a:t>Obama </a:t>
            </a:r>
            <a:r>
              <a:rPr lang="en-US" sz="4400" b="1" dirty="0" err="1" smtClean="0">
                <a:solidFill>
                  <a:schemeClr val="tx2"/>
                </a:solidFill>
              </a:rPr>
              <a:t>vs</a:t>
            </a:r>
            <a:r>
              <a:rPr lang="en-US" sz="4400" b="1" dirty="0" smtClean="0">
                <a:solidFill>
                  <a:schemeClr val="tx2"/>
                </a:solidFill>
              </a:rPr>
              <a:t> Romney</a:t>
            </a:r>
            <a:endParaRPr lang="en-US" sz="4000" b="1" dirty="0">
              <a:solidFill>
                <a:schemeClr val="tx2"/>
              </a:solidFill>
            </a:endParaRPr>
          </a:p>
        </p:txBody>
      </p:sp>
      <p:pic>
        <p:nvPicPr>
          <p:cNvPr id="532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133600"/>
            <a:ext cx="9114503"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626592919"/>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57200" y="228600"/>
            <a:ext cx="8153400" cy="1219200"/>
          </a:xfrm>
          <a:prstGeom prst="rect">
            <a:avLst/>
          </a:prstGeom>
        </p:spPr>
        <p:txBody>
          <a:bodyPr/>
          <a:lstStyle/>
          <a:p>
            <a:pPr lvl="0" algn="ctr">
              <a:spcBef>
                <a:spcPct val="0"/>
              </a:spcBef>
              <a:defRPr/>
            </a:pPr>
            <a:r>
              <a:rPr lang="en-US" sz="4400" b="1" dirty="0" smtClean="0">
                <a:solidFill>
                  <a:schemeClr val="tx2"/>
                </a:solidFill>
              </a:rPr>
              <a:t>Other Levels of Confidence</a:t>
            </a:r>
            <a:endParaRPr lang="en-US" sz="4000" b="1" dirty="0">
              <a:solidFill>
                <a:schemeClr val="tx2"/>
              </a:solidFill>
            </a:endParaRPr>
          </a:p>
        </p:txBody>
      </p:sp>
      <p:sp>
        <p:nvSpPr>
          <p:cNvPr id="6" name="Rectangle 5"/>
          <p:cNvSpPr/>
          <p:nvPr/>
        </p:nvSpPr>
        <p:spPr>
          <a:xfrm>
            <a:off x="381000" y="990600"/>
            <a:ext cx="5105400" cy="369332"/>
          </a:xfrm>
          <a:prstGeom prst="rect">
            <a:avLst/>
          </a:prstGeom>
        </p:spPr>
        <p:txBody>
          <a:bodyPr wrap="square">
            <a:spAutoFit/>
          </a:bodyPr>
          <a:lstStyle/>
          <a:p>
            <a:r>
              <a:rPr lang="en-US" dirty="0" smtClean="0">
                <a:hlinkClick r:id="rId4"/>
              </a:rPr>
              <a:t>www.lock5stat.com/statkey</a:t>
            </a:r>
            <a:r>
              <a:rPr lang="en-US" dirty="0" smtClean="0"/>
              <a:t> </a:t>
            </a:r>
            <a:endParaRPr lang="en-US" dirty="0"/>
          </a:p>
        </p:txBody>
      </p:sp>
      <p:graphicFrame>
        <p:nvGraphicFramePr>
          <p:cNvPr id="7" name="Object 6"/>
          <p:cNvGraphicFramePr>
            <a:graphicFrameLocks noChangeAspect="1"/>
          </p:cNvGraphicFramePr>
          <p:nvPr>
            <p:extLst>
              <p:ext uri="{D42A27DB-BD31-4B8C-83A1-F6EECF244321}">
                <p14:modId xmlns:p14="http://schemas.microsoft.com/office/powerpoint/2010/main" val="1259709762"/>
              </p:ext>
            </p:extLst>
          </p:nvPr>
        </p:nvGraphicFramePr>
        <p:xfrm>
          <a:off x="914400" y="5334000"/>
          <a:ext cx="3200400" cy="1066800"/>
        </p:xfrm>
        <a:graphic>
          <a:graphicData uri="http://schemas.openxmlformats.org/presentationml/2006/ole">
            <mc:AlternateContent xmlns:mc="http://schemas.openxmlformats.org/markup-compatibility/2006">
              <mc:Choice xmlns:v="urn:schemas-microsoft-com:vml" Requires="v">
                <p:oleObj spid="_x0000_s12322" name="Equation" r:id="rId5" imgW="1066680" imgH="355320" progId="Equation.DSMT4">
                  <p:embed/>
                </p:oleObj>
              </mc:Choice>
              <mc:Fallback>
                <p:oleObj name="Equation" r:id="rId5" imgW="1066680" imgH="35532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4400" y="5334000"/>
                        <a:ext cx="3200400" cy="1066800"/>
                      </a:xfrm>
                      <a:prstGeom prst="rect">
                        <a:avLst/>
                      </a:prstGeom>
                      <a:noFill/>
                      <a:extLst/>
                    </p:spPr>
                  </p:pic>
                </p:oleObj>
              </mc:Fallback>
            </mc:AlternateContent>
          </a:graphicData>
        </a:graphic>
      </p:graphicFrame>
      <p:graphicFrame>
        <p:nvGraphicFramePr>
          <p:cNvPr id="328709" name="Object 5"/>
          <p:cNvGraphicFramePr>
            <a:graphicFrameLocks noChangeAspect="1"/>
          </p:cNvGraphicFramePr>
          <p:nvPr>
            <p:extLst>
              <p:ext uri="{D42A27DB-BD31-4B8C-83A1-F6EECF244321}">
                <p14:modId xmlns:p14="http://schemas.microsoft.com/office/powerpoint/2010/main" val="4208472728"/>
              </p:ext>
            </p:extLst>
          </p:nvPr>
        </p:nvGraphicFramePr>
        <p:xfrm>
          <a:off x="5358930" y="5334000"/>
          <a:ext cx="2895600" cy="965200"/>
        </p:xfrm>
        <a:graphic>
          <a:graphicData uri="http://schemas.openxmlformats.org/presentationml/2006/ole">
            <mc:AlternateContent xmlns:mc="http://schemas.openxmlformats.org/markup-compatibility/2006">
              <mc:Choice xmlns:v="urn:schemas-microsoft-com:vml" Requires="v">
                <p:oleObj spid="_x0000_s12323" name="Equation" r:id="rId7" imgW="1066680" imgH="355320" progId="Equation.DSMT4">
                  <p:embed/>
                </p:oleObj>
              </mc:Choice>
              <mc:Fallback>
                <p:oleObj name="Equation" r:id="rId7" imgW="1066680" imgH="35532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58930" y="5334000"/>
                        <a:ext cx="2895600" cy="965200"/>
                      </a:xfrm>
                      <a:prstGeom prst="rect">
                        <a:avLst/>
                      </a:prstGeom>
                      <a:noFill/>
                      <a:extLst/>
                    </p:spPr>
                  </p:pic>
                </p:oleObj>
              </mc:Fallback>
            </mc:AlternateContent>
          </a:graphicData>
        </a:graphic>
      </p:graphicFrame>
      <p:pic>
        <p:nvPicPr>
          <p:cNvPr id="29700" name="Picture 4"/>
          <p:cNvPicPr>
            <a:picLocks noChangeAspect="1" noChangeArrowheads="1"/>
          </p:cNvPicPr>
          <p:nvPr/>
        </p:nvPicPr>
        <p:blipFill rotWithShape="1">
          <a:blip r:embed="rId9">
            <a:extLst>
              <a:ext uri="{28A0092B-C50C-407E-A947-70E740481C1C}">
                <a14:useLocalDpi xmlns:a14="http://schemas.microsoft.com/office/drawing/2010/main" val="0"/>
              </a:ext>
            </a:extLst>
          </a:blip>
          <a:srcRect l="5625"/>
          <a:stretch/>
        </p:blipFill>
        <p:spPr bwMode="auto">
          <a:xfrm>
            <a:off x="66354" y="1346077"/>
            <a:ext cx="4602628" cy="3438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701"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69459" y="1346077"/>
            <a:ext cx="4674542" cy="3453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Oval 7"/>
          <p:cNvSpPr/>
          <p:nvPr/>
        </p:nvSpPr>
        <p:spPr>
          <a:xfrm>
            <a:off x="685800" y="5715000"/>
            <a:ext cx="2514600" cy="990600"/>
          </a:xfrm>
          <a:prstGeom prst="ellipse">
            <a:avLst/>
          </a:prstGeom>
          <a:no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7665027" y="4350327"/>
            <a:ext cx="990600" cy="658091"/>
          </a:xfrm>
          <a:prstGeom prst="ellipse">
            <a:avLst/>
          </a:prstGeom>
          <a:no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2810741" y="4343400"/>
            <a:ext cx="1028700" cy="609600"/>
          </a:xfrm>
          <a:prstGeom prst="ellipse">
            <a:avLst/>
          </a:prstGeom>
          <a:no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150427" y="5715000"/>
            <a:ext cx="2514600" cy="990600"/>
          </a:xfrm>
          <a:prstGeom prst="ellipse">
            <a:avLst/>
          </a:prstGeom>
          <a:no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2"/>
    </p:custDataLst>
    <p:extLst>
      <p:ext uri="{BB962C8B-B14F-4D97-AF65-F5344CB8AC3E}">
        <p14:creationId xmlns:p14="http://schemas.microsoft.com/office/powerpoint/2010/main" val="39474003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701"/>
                                        </p:tgtEl>
                                        <p:attrNameLst>
                                          <p:attrName>style.visibility</p:attrName>
                                        </p:attrNameLst>
                                      </p:cBhvr>
                                      <p:to>
                                        <p:strVal val="visible"/>
                                      </p:to>
                                    </p:set>
                                    <p:animEffect transition="in" filter="fade">
                                      <p:cBhvr>
                                        <p:cTn id="17" dur="500"/>
                                        <p:tgtEl>
                                          <p:spTgt spid="2970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2870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PAnswers"/>
          <p:cNvSpPr>
            <a:spLocks noGrp="1"/>
          </p:cNvSpPr>
          <p:nvPr>
            <p:ph sz="quarter" idx="4294967295"/>
            <p:custDataLst>
              <p:tags r:id="rId3"/>
            </p:custDataLst>
          </p:nvPr>
        </p:nvSpPr>
        <p:spPr>
          <a:xfrm>
            <a:off x="0" y="2882900"/>
            <a:ext cx="3733800" cy="3771900"/>
          </a:xfrm>
        </p:spPr>
        <p:txBody>
          <a:bodyPr>
            <a:noAutofit/>
          </a:bodyPr>
          <a:lstStyle/>
          <a:p>
            <a:pPr marL="1143000" indent="-742950">
              <a:spcBef>
                <a:spcPct val="20000"/>
              </a:spcBef>
              <a:buFont typeface="+mj-lt"/>
              <a:buAutoNum type="arabicPeriod"/>
            </a:pPr>
            <a:r>
              <a:rPr lang="en-US" sz="4000" dirty="0" smtClean="0">
                <a:cs typeface="Times New Roman" pitchFamily="18" charset="0"/>
              </a:rPr>
              <a:t> </a:t>
            </a:r>
            <a:endParaRPr lang="en-US" sz="4000" dirty="0">
              <a:cs typeface="Times New Roman" pitchFamily="18" charset="0"/>
            </a:endParaRPr>
          </a:p>
          <a:p>
            <a:pPr marL="1143000" indent="-742950">
              <a:spcBef>
                <a:spcPct val="20000"/>
              </a:spcBef>
              <a:buFont typeface="+mj-lt"/>
              <a:buAutoNum type="arabicPeriod"/>
            </a:pPr>
            <a:r>
              <a:rPr lang="en-US" sz="4000" dirty="0" smtClean="0">
                <a:cs typeface="Times New Roman" pitchFamily="18" charset="0"/>
              </a:rPr>
              <a:t> </a:t>
            </a:r>
            <a:endParaRPr lang="en-US" sz="4000" dirty="0">
              <a:cs typeface="Times New Roman" pitchFamily="18" charset="0"/>
            </a:endParaRPr>
          </a:p>
          <a:p>
            <a:pPr marL="1143000" indent="-742950">
              <a:spcBef>
                <a:spcPct val="20000"/>
              </a:spcBef>
              <a:buFont typeface="+mj-lt"/>
              <a:buAutoNum type="arabicPeriod"/>
            </a:pPr>
            <a:r>
              <a:rPr lang="en-US" sz="4000" dirty="0" smtClean="0">
                <a:cs typeface="Times New Roman" pitchFamily="18" charset="0"/>
              </a:rPr>
              <a:t> </a:t>
            </a:r>
            <a:endParaRPr lang="en-US" sz="4000" dirty="0">
              <a:cs typeface="Times New Roman" pitchFamily="18" charset="0"/>
            </a:endParaRPr>
          </a:p>
        </p:txBody>
      </p:sp>
      <p:graphicFrame>
        <p:nvGraphicFramePr>
          <p:cNvPr id="227332" name="Object 4"/>
          <p:cNvGraphicFramePr>
            <a:graphicFrameLocks noChangeAspect="1"/>
          </p:cNvGraphicFramePr>
          <p:nvPr>
            <p:extLst>
              <p:ext uri="{D42A27DB-BD31-4B8C-83A1-F6EECF244321}">
                <p14:modId xmlns:p14="http://schemas.microsoft.com/office/powerpoint/2010/main" val="2542674396"/>
              </p:ext>
            </p:extLst>
          </p:nvPr>
        </p:nvGraphicFramePr>
        <p:xfrm>
          <a:off x="2133600" y="609600"/>
          <a:ext cx="3505200" cy="1202408"/>
        </p:xfrm>
        <a:graphic>
          <a:graphicData uri="http://schemas.openxmlformats.org/presentationml/2006/ole">
            <mc:AlternateContent xmlns:mc="http://schemas.openxmlformats.org/markup-compatibility/2006">
              <mc:Choice xmlns:v="urn:schemas-microsoft-com:vml" Requires="v">
                <p:oleObj spid="_x0000_s13418" name="Equation" r:id="rId5" imgW="1295280" imgH="444240" progId="Equation.DSMT4">
                  <p:embed/>
                </p:oleObj>
              </mc:Choice>
              <mc:Fallback>
                <p:oleObj name="Equation" r:id="rId5" imgW="1295280" imgH="4442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600" y="609600"/>
                        <a:ext cx="3505200" cy="1202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1366652883"/>
              </p:ext>
            </p:extLst>
          </p:nvPr>
        </p:nvGraphicFramePr>
        <p:xfrm>
          <a:off x="1106384" y="2621254"/>
          <a:ext cx="1292432" cy="853492"/>
        </p:xfrm>
        <a:graphic>
          <a:graphicData uri="http://schemas.openxmlformats.org/presentationml/2006/ole">
            <mc:AlternateContent xmlns:mc="http://schemas.openxmlformats.org/markup-compatibility/2006">
              <mc:Choice xmlns:v="urn:schemas-microsoft-com:vml" Requires="v">
                <p:oleObj spid="_x0000_s13419" name="Equation" r:id="rId7" imgW="672840" imgH="444240" progId="Equation.DSMT4">
                  <p:embed/>
                </p:oleObj>
              </mc:Choice>
              <mc:Fallback>
                <p:oleObj name="Equation" r:id="rId7" imgW="672840" imgH="44424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6384" y="2621254"/>
                        <a:ext cx="1292432" cy="853492"/>
                      </a:xfrm>
                      <a:prstGeom prst="rect">
                        <a:avLst/>
                      </a:prstGeom>
                      <a:noFill/>
                      <a:extLst/>
                    </p:spPr>
                  </p:pic>
                </p:oleObj>
              </mc:Fallback>
            </mc:AlternateContent>
          </a:graphicData>
        </a:graphic>
      </p:graphicFrame>
      <p:graphicFrame>
        <p:nvGraphicFramePr>
          <p:cNvPr id="229382" name="Object 6"/>
          <p:cNvGraphicFramePr>
            <a:graphicFrameLocks noChangeAspect="1"/>
          </p:cNvGraphicFramePr>
          <p:nvPr>
            <p:extLst>
              <p:ext uri="{D42A27DB-BD31-4B8C-83A1-F6EECF244321}">
                <p14:modId xmlns:p14="http://schemas.microsoft.com/office/powerpoint/2010/main" val="1183384163"/>
              </p:ext>
            </p:extLst>
          </p:nvPr>
        </p:nvGraphicFramePr>
        <p:xfrm>
          <a:off x="1143000" y="3495848"/>
          <a:ext cx="1932670" cy="925830"/>
        </p:xfrm>
        <a:graphic>
          <a:graphicData uri="http://schemas.openxmlformats.org/presentationml/2006/ole">
            <mc:AlternateContent xmlns:mc="http://schemas.openxmlformats.org/markup-compatibility/2006">
              <mc:Choice xmlns:v="urn:schemas-microsoft-com:vml" Requires="v">
                <p:oleObj spid="_x0000_s13420" name="Equation" r:id="rId9" imgW="927000" imgH="444240" progId="Equation.DSMT4">
                  <p:embed/>
                </p:oleObj>
              </mc:Choice>
              <mc:Fallback>
                <p:oleObj name="Equation" r:id="rId9" imgW="927000" imgH="44424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43000" y="3495848"/>
                        <a:ext cx="1932670" cy="925830"/>
                      </a:xfrm>
                      <a:prstGeom prst="rect">
                        <a:avLst/>
                      </a:prstGeom>
                      <a:noFill/>
                      <a:extLst/>
                    </p:spPr>
                  </p:pic>
                </p:oleObj>
              </mc:Fallback>
            </mc:AlternateContent>
          </a:graphicData>
        </a:graphic>
      </p:graphicFrame>
      <p:graphicFrame>
        <p:nvGraphicFramePr>
          <p:cNvPr id="229383" name="Object 7"/>
          <p:cNvGraphicFramePr>
            <a:graphicFrameLocks noChangeAspect="1"/>
          </p:cNvGraphicFramePr>
          <p:nvPr>
            <p:extLst>
              <p:ext uri="{D42A27DB-BD31-4B8C-83A1-F6EECF244321}">
                <p14:modId xmlns:p14="http://schemas.microsoft.com/office/powerpoint/2010/main" val="1962211490"/>
              </p:ext>
            </p:extLst>
          </p:nvPr>
        </p:nvGraphicFramePr>
        <p:xfrm>
          <a:off x="1066800" y="4431030"/>
          <a:ext cx="2568939" cy="1021616"/>
        </p:xfrm>
        <a:graphic>
          <a:graphicData uri="http://schemas.openxmlformats.org/presentationml/2006/ole">
            <mc:AlternateContent xmlns:mc="http://schemas.openxmlformats.org/markup-compatibility/2006">
              <mc:Choice xmlns:v="urn:schemas-microsoft-com:vml" Requires="v">
                <p:oleObj spid="_x0000_s13421" name="Equation" r:id="rId11" imgW="1117440" imgH="444240" progId="Equation.DSMT4">
                  <p:embed/>
                </p:oleObj>
              </mc:Choice>
              <mc:Fallback>
                <p:oleObj name="Equation" r:id="rId11" imgW="1117440" imgH="44424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66800" y="4431030"/>
                        <a:ext cx="2568939" cy="1021616"/>
                      </a:xfrm>
                      <a:prstGeom prst="rect">
                        <a:avLst/>
                      </a:prstGeom>
                      <a:noFill/>
                      <a:extLst/>
                    </p:spPr>
                  </p:pic>
                </p:oleObj>
              </mc:Fallback>
            </mc:AlternateContent>
          </a:graphicData>
        </a:graphic>
      </p:graphicFrame>
      <p:sp>
        <p:nvSpPr>
          <p:cNvPr id="2" name="TPQuestion"/>
          <p:cNvSpPr>
            <a:spLocks noGrp="1"/>
          </p:cNvSpPr>
          <p:nvPr>
            <p:ph type="title" idx="4294967295"/>
          </p:nvPr>
        </p:nvSpPr>
        <p:spPr>
          <a:xfrm>
            <a:off x="0" y="6350"/>
            <a:ext cx="9144000" cy="1212850"/>
          </a:xfrm>
        </p:spPr>
        <p:txBody>
          <a:bodyPr>
            <a:normAutofit fontScale="90000"/>
          </a:bodyPr>
          <a:lstStyle/>
          <a:p>
            <a:r>
              <a:rPr lang="en-US" dirty="0">
                <a:solidFill>
                  <a:prstClr val="black"/>
                </a:solidFill>
                <a:cs typeface="Times New Roman" pitchFamily="18" charset="0"/>
              </a:rPr>
              <a:t>For a single proportion, what is the </a:t>
            </a:r>
            <a:r>
              <a:rPr lang="en-US" b="1" dirty="0">
                <a:cs typeface="Times New Roman" pitchFamily="18" charset="0"/>
              </a:rPr>
              <a:t>margin of error</a:t>
            </a:r>
            <a:r>
              <a:rPr lang="en-US" dirty="0" smtClean="0">
                <a:solidFill>
                  <a:schemeClr val="tx1"/>
                </a:solidFill>
                <a:cs typeface="Times New Roman" pitchFamily="18" charset="0"/>
              </a:rPr>
              <a:t>?</a:t>
            </a:r>
            <a:endParaRPr lang="en-US" dirty="0">
              <a:solidFill>
                <a:schemeClr val="tx1"/>
              </a:solidFill>
            </a:endParaRPr>
          </a:p>
        </p:txBody>
      </p:sp>
    </p:spTree>
    <p:custDataLst>
      <p:tags r:id="rId2"/>
    </p:custDataLst>
    <p:extLst>
      <p:ext uri="{BB962C8B-B14F-4D97-AF65-F5344CB8AC3E}">
        <p14:creationId xmlns:p14="http://schemas.microsoft.com/office/powerpoint/2010/main" val="1727645370"/>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tx2"/>
                </a:solidFill>
              </a:rPr>
              <a:t>Margin of Error and Sample Size</a:t>
            </a:r>
            <a:endParaRPr lang="en-US" sz="4000" b="1" dirty="0">
              <a:solidFill>
                <a:schemeClr val="tx2"/>
              </a:solidFill>
            </a:endParaRPr>
          </a:p>
        </p:txBody>
      </p:sp>
      <p:graphicFrame>
        <p:nvGraphicFramePr>
          <p:cNvPr id="227332" name="Object 4"/>
          <p:cNvGraphicFramePr>
            <a:graphicFrameLocks noChangeAspect="1"/>
          </p:cNvGraphicFramePr>
          <p:nvPr>
            <p:extLst>
              <p:ext uri="{D42A27DB-BD31-4B8C-83A1-F6EECF244321}">
                <p14:modId xmlns:p14="http://schemas.microsoft.com/office/powerpoint/2010/main" val="966451580"/>
              </p:ext>
            </p:extLst>
          </p:nvPr>
        </p:nvGraphicFramePr>
        <p:xfrm>
          <a:off x="2514600" y="1578321"/>
          <a:ext cx="1065213" cy="446088"/>
        </p:xfrm>
        <a:graphic>
          <a:graphicData uri="http://schemas.openxmlformats.org/presentationml/2006/ole">
            <mc:AlternateContent xmlns:mc="http://schemas.openxmlformats.org/markup-compatibility/2006">
              <mc:Choice xmlns:v="urn:schemas-microsoft-com:vml" Requires="v">
                <p:oleObj spid="_x0000_s14370" name="Equation" r:id="rId4" imgW="393480" imgH="164880" progId="Equation.DSMT4">
                  <p:embed/>
                </p:oleObj>
              </mc:Choice>
              <mc:Fallback>
                <p:oleObj name="Equation" r:id="rId4" imgW="393480" imgH="164880" progId="Equation.DSMT4">
                  <p:embed/>
                  <p:pic>
                    <p:nvPicPr>
                      <p:cNvPr id="0" name=""/>
                      <p:cNvPicPr>
                        <a:picLocks noChangeAspect="1" noChangeArrowheads="1"/>
                      </p:cNvPicPr>
                      <p:nvPr/>
                    </p:nvPicPr>
                    <p:blipFill>
                      <a:blip r:embed="rId5"/>
                      <a:srcRect/>
                      <a:stretch>
                        <a:fillRect/>
                      </a:stretch>
                    </p:blipFill>
                    <p:spPr bwMode="auto">
                      <a:xfrm>
                        <a:off x="2514600" y="1578321"/>
                        <a:ext cx="1065213"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sp>
        <p:nvSpPr>
          <p:cNvPr id="7" name="TextBox 6"/>
          <p:cNvSpPr txBox="1"/>
          <p:nvPr/>
        </p:nvSpPr>
        <p:spPr>
          <a:xfrm>
            <a:off x="457200" y="2438400"/>
            <a:ext cx="8305800" cy="3924151"/>
          </a:xfrm>
          <a:prstGeom prst="rect">
            <a:avLst/>
          </a:prstGeom>
          <a:noFill/>
        </p:spPr>
        <p:txBody>
          <a:bodyPr wrap="square" rtlCol="0">
            <a:spAutoFit/>
          </a:bodyPr>
          <a:lstStyle/>
          <a:p>
            <a:pPr>
              <a:spcAft>
                <a:spcPts val="1800"/>
              </a:spcAft>
            </a:pPr>
            <a:r>
              <a:rPr lang="en-US" sz="3600" dirty="0" smtClean="0">
                <a:solidFill>
                  <a:prstClr val="black"/>
                </a:solidFill>
                <a:cs typeface="Times New Roman" pitchFamily="18" charset="0"/>
              </a:rPr>
              <a:t>You can choose your sample size in advance, depending on your desired margin of error!</a:t>
            </a:r>
          </a:p>
          <a:p>
            <a:pPr>
              <a:spcAft>
                <a:spcPts val="1800"/>
              </a:spcAft>
            </a:pPr>
            <a:r>
              <a:rPr lang="en-US" sz="3600" dirty="0" smtClean="0">
                <a:solidFill>
                  <a:prstClr val="black"/>
                </a:solidFill>
                <a:cs typeface="Times New Roman" pitchFamily="18" charset="0"/>
              </a:rPr>
              <a:t>Given this formula for margin of error, solve for </a:t>
            </a:r>
            <a:r>
              <a:rPr lang="en-US" sz="3600" i="1" dirty="0" smtClean="0">
                <a:solidFill>
                  <a:prstClr val="black"/>
                </a:solidFill>
                <a:cs typeface="Times New Roman" pitchFamily="18" charset="0"/>
              </a:rPr>
              <a:t>n.</a:t>
            </a:r>
            <a:endParaRPr lang="en-US" sz="3200" dirty="0" smtClean="0">
              <a:solidFill>
                <a:srgbClr val="C00000"/>
              </a:solidFill>
              <a:cs typeface="Times New Roman" pitchFamily="18" charset="0"/>
            </a:endParaRPr>
          </a:p>
          <a:p>
            <a:pPr>
              <a:spcAft>
                <a:spcPts val="1800"/>
              </a:spcAft>
              <a:buFont typeface="Arial" pitchFamily="34" charset="0"/>
              <a:buChar char="•"/>
            </a:pPr>
            <a:endParaRPr lang="en-US" sz="3200" dirty="0" smtClean="0">
              <a:solidFill>
                <a:prstClr val="black"/>
              </a:solidFill>
              <a:cs typeface="Times New Roman" pitchFamily="18" charset="0"/>
            </a:endParaRPr>
          </a:p>
          <a:p>
            <a:pPr>
              <a:spcAft>
                <a:spcPts val="1800"/>
              </a:spcAft>
            </a:pPr>
            <a:endParaRPr lang="en-US" sz="2800" dirty="0">
              <a:solidFill>
                <a:prstClr val="black"/>
              </a:solidFill>
              <a:cs typeface="Times New Roman" pitchFamily="18" charset="0"/>
            </a:endParaRPr>
          </a:p>
        </p:txBody>
      </p:sp>
      <p:graphicFrame>
        <p:nvGraphicFramePr>
          <p:cNvPr id="247815" name="Object 7"/>
          <p:cNvGraphicFramePr>
            <a:graphicFrameLocks noChangeAspect="1"/>
          </p:cNvGraphicFramePr>
          <p:nvPr>
            <p:extLst>
              <p:ext uri="{D42A27DB-BD31-4B8C-83A1-F6EECF244321}">
                <p14:modId xmlns:p14="http://schemas.microsoft.com/office/powerpoint/2010/main" val="3270000250"/>
              </p:ext>
            </p:extLst>
          </p:nvPr>
        </p:nvGraphicFramePr>
        <p:xfrm>
          <a:off x="2362201" y="4867275"/>
          <a:ext cx="4300538" cy="1735868"/>
        </p:xfrm>
        <a:graphic>
          <a:graphicData uri="http://schemas.openxmlformats.org/presentationml/2006/ole">
            <mc:AlternateContent xmlns:mc="http://schemas.openxmlformats.org/markup-compatibility/2006">
              <mc:Choice xmlns:v="urn:schemas-microsoft-com:vml" Requires="v">
                <p:oleObj spid="_x0000_s14371" name="Equation" r:id="rId6" imgW="1257120" imgH="507960" progId="Equation.DSMT4">
                  <p:embed/>
                </p:oleObj>
              </mc:Choice>
              <mc:Fallback>
                <p:oleObj name="Equation" r:id="rId6" imgW="1257120" imgH="50796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2201" y="4867275"/>
                        <a:ext cx="4300538" cy="1735868"/>
                      </a:xfrm>
                      <a:prstGeom prst="rect">
                        <a:avLst/>
                      </a:prstGeom>
                      <a:noFill/>
                      <a:ln w="9525">
                        <a:solidFill>
                          <a:srgbClr val="FF0000"/>
                        </a:solidFill>
                        <a:miter lim="800000"/>
                        <a:headEnd/>
                        <a:tailEnd/>
                      </a:ln>
                      <a:extLst/>
                    </p:spPr>
                  </p:pic>
                </p:oleObj>
              </mc:Fallback>
            </mc:AlternateContent>
          </a:graphicData>
        </a:graphic>
      </p:graphicFrame>
      <p:sp>
        <p:nvSpPr>
          <p:cNvPr id="2" name="Rectangle 1"/>
          <p:cNvSpPr/>
          <p:nvPr/>
        </p:nvSpPr>
        <p:spPr>
          <a:xfrm>
            <a:off x="2209800" y="1143000"/>
            <a:ext cx="4419600" cy="1295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2"/>
    </p:custDataLst>
    <p:extLst>
      <p:ext uri="{BB962C8B-B14F-4D97-AF65-F5344CB8AC3E}">
        <p14:creationId xmlns:p14="http://schemas.microsoft.com/office/powerpoint/2010/main" val="14143110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0" fill="hold" nodeType="clickEffect">
                                  <p:stCondLst>
                                    <p:cond delay="0"/>
                                  </p:stCondLst>
                                  <p:childTnLst>
                                    <p:set>
                                      <p:cBhvr>
                                        <p:cTn id="14" dur="1" fill="hold">
                                          <p:stCondLst>
                                            <p:cond delay="0"/>
                                          </p:stCondLst>
                                        </p:cTn>
                                        <p:tgtEl>
                                          <p:spTgt spid="247815"/>
                                        </p:tgtEl>
                                        <p:attrNameLst>
                                          <p:attrName>style.visibility</p:attrName>
                                        </p:attrNameLst>
                                      </p:cBhvr>
                                      <p:to>
                                        <p:strVal val="visible"/>
                                      </p:to>
                                    </p:set>
                                    <p:anim calcmode="lin" valueType="num">
                                      <p:cBhvr>
                                        <p:cTn id="15" dur="500" fill="hold"/>
                                        <p:tgtEl>
                                          <p:spTgt spid="247815"/>
                                        </p:tgtEl>
                                        <p:attrNameLst>
                                          <p:attrName>ppt_w</p:attrName>
                                        </p:attrNameLst>
                                      </p:cBhvr>
                                      <p:tavLst>
                                        <p:tav tm="0">
                                          <p:val>
                                            <p:fltVal val="0"/>
                                          </p:val>
                                        </p:tav>
                                        <p:tav tm="100000">
                                          <p:val>
                                            <p:strVal val="#ppt_w"/>
                                          </p:val>
                                        </p:tav>
                                      </p:tavLst>
                                    </p:anim>
                                    <p:anim calcmode="lin" valueType="num">
                                      <p:cBhvr>
                                        <p:cTn id="16" dur="500" fill="hold"/>
                                        <p:tgtEl>
                                          <p:spTgt spid="247815"/>
                                        </p:tgtEl>
                                        <p:attrNameLst>
                                          <p:attrName>ppt_h</p:attrName>
                                        </p:attrNameLst>
                                      </p:cBhvr>
                                      <p:tavLst>
                                        <p:tav tm="0">
                                          <p:val>
                                            <p:fltVal val="0"/>
                                          </p:val>
                                        </p:tav>
                                        <p:tav tm="100000">
                                          <p:val>
                                            <p:strVal val="#ppt_h"/>
                                          </p:val>
                                        </p:tav>
                                      </p:tavLst>
                                    </p:anim>
                                    <p:animEffect transition="in" filter="fade">
                                      <p:cBhvr>
                                        <p:cTn id="17" dur="500"/>
                                        <p:tgtEl>
                                          <p:spTgt spid="2478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tx2"/>
                </a:solidFill>
              </a:rPr>
              <a:t>Margin of Error and Sample Size</a:t>
            </a:r>
            <a:endParaRPr lang="en-US" sz="4000" b="1" dirty="0">
              <a:solidFill>
                <a:schemeClr val="tx2"/>
              </a:solidFill>
            </a:endParaRPr>
          </a:p>
        </p:txBody>
      </p:sp>
      <p:graphicFrame>
        <p:nvGraphicFramePr>
          <p:cNvPr id="247815" name="Object 7"/>
          <p:cNvGraphicFramePr>
            <a:graphicFrameLocks noChangeAspect="1"/>
          </p:cNvGraphicFramePr>
          <p:nvPr/>
        </p:nvGraphicFramePr>
        <p:xfrm>
          <a:off x="2743200" y="1217612"/>
          <a:ext cx="3402013" cy="1373188"/>
        </p:xfrm>
        <a:graphic>
          <a:graphicData uri="http://schemas.openxmlformats.org/presentationml/2006/ole">
            <mc:AlternateContent xmlns:mc="http://schemas.openxmlformats.org/markup-compatibility/2006">
              <mc:Choice xmlns:v="urn:schemas-microsoft-com:vml" Requires="v">
                <p:oleObj spid="_x0000_s15426" name="Equation" r:id="rId4" imgW="1257120" imgH="507960" progId="Equation.DSMT4">
                  <p:embed/>
                </p:oleObj>
              </mc:Choice>
              <mc:Fallback>
                <p:oleObj name="Equation" r:id="rId4" imgW="1257120" imgH="50796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3200" y="1217612"/>
                        <a:ext cx="3402013"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248836" name="Object 4"/>
          <p:cNvGraphicFramePr>
            <a:graphicFrameLocks noChangeAspect="1"/>
          </p:cNvGraphicFramePr>
          <p:nvPr>
            <p:extLst>
              <p:ext uri="{D42A27DB-BD31-4B8C-83A1-F6EECF244321}">
                <p14:modId xmlns:p14="http://schemas.microsoft.com/office/powerpoint/2010/main" val="2056374232"/>
              </p:ext>
            </p:extLst>
          </p:nvPr>
        </p:nvGraphicFramePr>
        <p:xfrm>
          <a:off x="685800" y="2559050"/>
          <a:ext cx="7554399" cy="1327150"/>
        </p:xfrm>
        <a:graphic>
          <a:graphicData uri="http://schemas.openxmlformats.org/presentationml/2006/ole">
            <mc:AlternateContent xmlns:mc="http://schemas.openxmlformats.org/markup-compatibility/2006">
              <mc:Choice xmlns:v="urn:schemas-microsoft-com:vml" Requires="v">
                <p:oleObj spid="_x0000_s15427" name="Equation" r:id="rId6" imgW="2311200" imgH="406080" progId="Equation.DSMT4">
                  <p:embed/>
                </p:oleObj>
              </mc:Choice>
              <mc:Fallback>
                <p:oleObj name="Equation" r:id="rId6" imgW="2311200" imgH="40608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800" y="2559050"/>
                        <a:ext cx="7554399" cy="1327150"/>
                      </a:xfrm>
                      <a:prstGeom prst="rect">
                        <a:avLst/>
                      </a:prstGeom>
                      <a:noFill/>
                      <a:ln>
                        <a:noFill/>
                      </a:ln>
                      <a:extLst/>
                    </p:spPr>
                  </p:pic>
                </p:oleObj>
              </mc:Fallback>
            </mc:AlternateContent>
          </a:graphicData>
        </a:graphic>
      </p:graphicFrame>
      <p:graphicFrame>
        <p:nvGraphicFramePr>
          <p:cNvPr id="248837" name="Object 5"/>
          <p:cNvGraphicFramePr>
            <a:graphicFrameLocks noChangeAspect="1"/>
          </p:cNvGraphicFramePr>
          <p:nvPr>
            <p:extLst>
              <p:ext uri="{D42A27DB-BD31-4B8C-83A1-F6EECF244321}">
                <p14:modId xmlns:p14="http://schemas.microsoft.com/office/powerpoint/2010/main" val="413723731"/>
              </p:ext>
            </p:extLst>
          </p:nvPr>
        </p:nvGraphicFramePr>
        <p:xfrm>
          <a:off x="685800" y="3802064"/>
          <a:ext cx="7772400" cy="767571"/>
        </p:xfrm>
        <a:graphic>
          <a:graphicData uri="http://schemas.openxmlformats.org/presentationml/2006/ole">
            <mc:AlternateContent xmlns:mc="http://schemas.openxmlformats.org/markup-compatibility/2006">
              <mc:Choice xmlns:v="urn:schemas-microsoft-com:vml" Requires="v">
                <p:oleObj spid="_x0000_s15428" name="Equation" r:id="rId8" imgW="2311200" imgH="228600" progId="Equation.DSMT4">
                  <p:embed/>
                </p:oleObj>
              </mc:Choice>
              <mc:Fallback>
                <p:oleObj name="Equation" r:id="rId8" imgW="2311200" imgH="2286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5800" y="3802064"/>
                        <a:ext cx="7772400" cy="767571"/>
                      </a:xfrm>
                      <a:prstGeom prst="rect">
                        <a:avLst/>
                      </a:prstGeom>
                      <a:noFill/>
                      <a:ln>
                        <a:noFill/>
                      </a:ln>
                      <a:extLst/>
                    </p:spPr>
                  </p:pic>
                </p:oleObj>
              </mc:Fallback>
            </mc:AlternateContent>
          </a:graphicData>
        </a:graphic>
      </p:graphicFrame>
      <p:graphicFrame>
        <p:nvGraphicFramePr>
          <p:cNvPr id="248838" name="Object 6"/>
          <p:cNvGraphicFramePr>
            <a:graphicFrameLocks noChangeAspect="1"/>
          </p:cNvGraphicFramePr>
          <p:nvPr>
            <p:extLst>
              <p:ext uri="{D42A27DB-BD31-4B8C-83A1-F6EECF244321}">
                <p14:modId xmlns:p14="http://schemas.microsoft.com/office/powerpoint/2010/main" val="2063269079"/>
              </p:ext>
            </p:extLst>
          </p:nvPr>
        </p:nvGraphicFramePr>
        <p:xfrm>
          <a:off x="3352800" y="4724400"/>
          <a:ext cx="2286000" cy="1505840"/>
        </p:xfrm>
        <a:graphic>
          <a:graphicData uri="http://schemas.openxmlformats.org/presentationml/2006/ole">
            <mc:AlternateContent xmlns:mc="http://schemas.openxmlformats.org/markup-compatibility/2006">
              <mc:Choice xmlns:v="urn:schemas-microsoft-com:vml" Requires="v">
                <p:oleObj spid="_x0000_s15429" name="Equation" r:id="rId10" imgW="596880" imgH="393480" progId="Equation.DSMT4">
                  <p:embed/>
                </p:oleObj>
              </mc:Choice>
              <mc:Fallback>
                <p:oleObj name="Equation" r:id="rId10" imgW="596880" imgH="39348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52800" y="4724400"/>
                        <a:ext cx="2286000" cy="1505840"/>
                      </a:xfrm>
                      <a:prstGeom prst="rect">
                        <a:avLst/>
                      </a:prstGeom>
                      <a:noFill/>
                      <a:ln w="9525">
                        <a:solidFill>
                          <a:srgbClr val="FF0000"/>
                        </a:solidFill>
                        <a:miter lim="800000"/>
                        <a:headEnd/>
                        <a:tailEnd/>
                      </a:ln>
                      <a:extLst/>
                    </p:spPr>
                  </p:pic>
                </p:oleObj>
              </mc:Fallback>
            </mc:AlternateContent>
          </a:graphicData>
        </a:graphic>
      </p:graphicFrame>
    </p:spTree>
    <p:custDataLst>
      <p:tags r:id="rId2"/>
    </p:custDataLst>
    <p:extLst>
      <p:ext uri="{BB962C8B-B14F-4D97-AF65-F5344CB8AC3E}">
        <p14:creationId xmlns:p14="http://schemas.microsoft.com/office/powerpoint/2010/main" val="381370772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248836"/>
                                        </p:tgtEl>
                                        <p:attrNameLst>
                                          <p:attrName>style.visibility</p:attrName>
                                        </p:attrNameLst>
                                      </p:cBhvr>
                                      <p:to>
                                        <p:strVal val="visible"/>
                                      </p:to>
                                    </p:set>
                                    <p:anim calcmode="lin" valueType="num">
                                      <p:cBhvr>
                                        <p:cTn id="7" dur="500" fill="hold"/>
                                        <p:tgtEl>
                                          <p:spTgt spid="248836"/>
                                        </p:tgtEl>
                                        <p:attrNameLst>
                                          <p:attrName>ppt_w</p:attrName>
                                        </p:attrNameLst>
                                      </p:cBhvr>
                                      <p:tavLst>
                                        <p:tav tm="0">
                                          <p:val>
                                            <p:fltVal val="0"/>
                                          </p:val>
                                        </p:tav>
                                        <p:tav tm="100000">
                                          <p:val>
                                            <p:strVal val="#ppt_w"/>
                                          </p:val>
                                        </p:tav>
                                      </p:tavLst>
                                    </p:anim>
                                    <p:anim calcmode="lin" valueType="num">
                                      <p:cBhvr>
                                        <p:cTn id="8" dur="500" fill="hold"/>
                                        <p:tgtEl>
                                          <p:spTgt spid="248836"/>
                                        </p:tgtEl>
                                        <p:attrNameLst>
                                          <p:attrName>ppt_h</p:attrName>
                                        </p:attrNameLst>
                                      </p:cBhvr>
                                      <p:tavLst>
                                        <p:tav tm="0">
                                          <p:val>
                                            <p:fltVal val="0"/>
                                          </p:val>
                                        </p:tav>
                                        <p:tav tm="100000">
                                          <p:val>
                                            <p:strVal val="#ppt_h"/>
                                          </p:val>
                                        </p:tav>
                                      </p:tavLst>
                                    </p:anim>
                                    <p:animEffect transition="in" filter="fade">
                                      <p:cBhvr>
                                        <p:cTn id="9" dur="500"/>
                                        <p:tgtEl>
                                          <p:spTgt spid="24883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nodeType="clickEffect">
                                  <p:stCondLst>
                                    <p:cond delay="0"/>
                                  </p:stCondLst>
                                  <p:childTnLst>
                                    <p:set>
                                      <p:cBhvr>
                                        <p:cTn id="13" dur="1" fill="hold">
                                          <p:stCondLst>
                                            <p:cond delay="0"/>
                                          </p:stCondLst>
                                        </p:cTn>
                                        <p:tgtEl>
                                          <p:spTgt spid="248837"/>
                                        </p:tgtEl>
                                        <p:attrNameLst>
                                          <p:attrName>style.visibility</p:attrName>
                                        </p:attrNameLst>
                                      </p:cBhvr>
                                      <p:to>
                                        <p:strVal val="visible"/>
                                      </p:to>
                                    </p:set>
                                    <p:anim calcmode="lin" valueType="num">
                                      <p:cBhvr>
                                        <p:cTn id="14" dur="500" fill="hold"/>
                                        <p:tgtEl>
                                          <p:spTgt spid="248837"/>
                                        </p:tgtEl>
                                        <p:attrNameLst>
                                          <p:attrName>ppt_w</p:attrName>
                                        </p:attrNameLst>
                                      </p:cBhvr>
                                      <p:tavLst>
                                        <p:tav tm="0">
                                          <p:val>
                                            <p:fltVal val="0"/>
                                          </p:val>
                                        </p:tav>
                                        <p:tav tm="100000">
                                          <p:val>
                                            <p:strVal val="#ppt_w"/>
                                          </p:val>
                                        </p:tav>
                                      </p:tavLst>
                                    </p:anim>
                                    <p:anim calcmode="lin" valueType="num">
                                      <p:cBhvr>
                                        <p:cTn id="15" dur="500" fill="hold"/>
                                        <p:tgtEl>
                                          <p:spTgt spid="248837"/>
                                        </p:tgtEl>
                                        <p:attrNameLst>
                                          <p:attrName>ppt_h</p:attrName>
                                        </p:attrNameLst>
                                      </p:cBhvr>
                                      <p:tavLst>
                                        <p:tav tm="0">
                                          <p:val>
                                            <p:fltVal val="0"/>
                                          </p:val>
                                        </p:tav>
                                        <p:tav tm="100000">
                                          <p:val>
                                            <p:strVal val="#ppt_h"/>
                                          </p:val>
                                        </p:tav>
                                      </p:tavLst>
                                    </p:anim>
                                    <p:animEffect transition="in" filter="fade">
                                      <p:cBhvr>
                                        <p:cTn id="16" dur="500"/>
                                        <p:tgtEl>
                                          <p:spTgt spid="248837"/>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88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9862" name="Object 6"/>
          <p:cNvGraphicFramePr>
            <a:graphicFrameLocks noChangeAspect="1"/>
          </p:cNvGraphicFramePr>
          <p:nvPr>
            <p:extLst>
              <p:ext uri="{D42A27DB-BD31-4B8C-83A1-F6EECF244321}">
                <p14:modId xmlns:p14="http://schemas.microsoft.com/office/powerpoint/2010/main" val="3111197286"/>
              </p:ext>
            </p:extLst>
          </p:nvPr>
        </p:nvGraphicFramePr>
        <p:xfrm>
          <a:off x="6172200" y="685800"/>
          <a:ext cx="1897063" cy="1249363"/>
        </p:xfrm>
        <a:graphic>
          <a:graphicData uri="http://schemas.openxmlformats.org/presentationml/2006/ole">
            <mc:AlternateContent xmlns:mc="http://schemas.openxmlformats.org/markup-compatibility/2006">
              <mc:Choice xmlns:v="urn:schemas-microsoft-com:vml" Requires="v">
                <p:oleObj spid="_x0000_s16445" name="Equation" r:id="rId5" imgW="596880" imgH="393480" progId="Equation.DSMT4">
                  <p:embed/>
                </p:oleObj>
              </mc:Choice>
              <mc:Fallback>
                <p:oleObj name="Equation" r:id="rId5" imgW="596880" imgH="39348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72200" y="685800"/>
                        <a:ext cx="1897063" cy="124936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PQuestion"/>
          <p:cNvSpPr>
            <a:spLocks noGrp="1"/>
          </p:cNvSpPr>
          <p:nvPr>
            <p:ph type="title" idx="4294967295"/>
          </p:nvPr>
        </p:nvSpPr>
        <p:spPr>
          <a:xfrm>
            <a:off x="6927" y="0"/>
            <a:ext cx="5555673" cy="4038600"/>
          </a:xfrm>
        </p:spPr>
        <p:txBody>
          <a:bodyPr>
            <a:normAutofit fontScale="90000"/>
          </a:bodyPr>
          <a:lstStyle/>
          <a:p>
            <a:pPr>
              <a:spcAft>
                <a:spcPts val="1800"/>
              </a:spcAft>
            </a:pPr>
            <a:r>
              <a:rPr lang="en-US" dirty="0">
                <a:solidFill>
                  <a:prstClr val="black"/>
                </a:solidFill>
                <a:cs typeface="Times New Roman" pitchFamily="18" charset="0"/>
              </a:rPr>
              <a:t>Suppose we want to estimate a proportion with a margin of error of 0.03 with 95% confidence.</a:t>
            </a:r>
            <a:br>
              <a:rPr lang="en-US" dirty="0">
                <a:solidFill>
                  <a:prstClr val="black"/>
                </a:solidFill>
                <a:cs typeface="Times New Roman" pitchFamily="18" charset="0"/>
              </a:rPr>
            </a:br>
            <a:r>
              <a:rPr lang="en-US" dirty="0">
                <a:solidFill>
                  <a:prstClr val="black"/>
                </a:solidFill>
                <a:cs typeface="Times New Roman" pitchFamily="18" charset="0"/>
              </a:rPr>
              <a:t>How large a sample size do we need</a:t>
            </a:r>
            <a:r>
              <a:rPr lang="en-US" dirty="0" smtClean="0">
                <a:solidFill>
                  <a:prstClr val="black"/>
                </a:solidFill>
                <a:cs typeface="Times New Roman" pitchFamily="18" charset="0"/>
              </a:rPr>
              <a:t>?</a:t>
            </a:r>
            <a:endParaRPr lang="en-US" dirty="0"/>
          </a:p>
        </p:txBody>
      </p:sp>
      <p:sp>
        <p:nvSpPr>
          <p:cNvPr id="5" name="TPAnswers"/>
          <p:cNvSpPr>
            <a:spLocks noGrp="1"/>
          </p:cNvSpPr>
          <p:nvPr>
            <p:ph sz="quarter" idx="4294967295"/>
            <p:custDataLst>
              <p:tags r:id="rId3"/>
            </p:custDataLst>
          </p:nvPr>
        </p:nvSpPr>
        <p:spPr>
          <a:xfrm>
            <a:off x="0" y="4267200"/>
            <a:ext cx="3352800" cy="2514600"/>
          </a:xfrm>
        </p:spPr>
        <p:txBody>
          <a:bodyPr>
            <a:noAutofit/>
          </a:bodyPr>
          <a:lstStyle/>
          <a:p>
            <a:pPr marL="742950" indent="-742950">
              <a:spcBef>
                <a:spcPct val="20000"/>
              </a:spcBef>
              <a:buFont typeface="Wingdings"/>
              <a:buAutoNum type="arabicPeriod"/>
            </a:pPr>
            <a:r>
              <a:rPr lang="en-US" sz="3200" dirty="0">
                <a:solidFill>
                  <a:prstClr val="black"/>
                </a:solidFill>
                <a:cs typeface="Times New Roman" pitchFamily="18" charset="0"/>
              </a:rPr>
              <a:t>About 100</a:t>
            </a:r>
          </a:p>
          <a:p>
            <a:pPr marL="742950" indent="-742950">
              <a:spcBef>
                <a:spcPct val="20000"/>
              </a:spcBef>
              <a:buFont typeface="Wingdings"/>
              <a:buAutoNum type="arabicPeriod"/>
            </a:pPr>
            <a:r>
              <a:rPr lang="en-US" sz="3200" dirty="0">
                <a:solidFill>
                  <a:prstClr val="black"/>
                </a:solidFill>
                <a:cs typeface="Times New Roman" pitchFamily="18" charset="0"/>
              </a:rPr>
              <a:t>About  500</a:t>
            </a:r>
          </a:p>
          <a:p>
            <a:pPr marL="742950" indent="-742950">
              <a:spcBef>
                <a:spcPct val="20000"/>
              </a:spcBef>
              <a:buFont typeface="Wingdings"/>
              <a:buAutoNum type="arabicPeriod"/>
            </a:pPr>
            <a:r>
              <a:rPr lang="en-US" sz="3200" dirty="0">
                <a:solidFill>
                  <a:prstClr val="black"/>
                </a:solidFill>
                <a:cs typeface="Times New Roman" pitchFamily="18" charset="0"/>
              </a:rPr>
              <a:t>About 1000</a:t>
            </a:r>
          </a:p>
          <a:p>
            <a:pPr marL="742950" indent="-742950">
              <a:spcBef>
                <a:spcPct val="20000"/>
              </a:spcBef>
              <a:buFont typeface="Wingdings"/>
              <a:buAutoNum type="arabicPeriod"/>
            </a:pPr>
            <a:r>
              <a:rPr lang="en-US" sz="3200" dirty="0">
                <a:solidFill>
                  <a:prstClr val="black"/>
                </a:solidFill>
                <a:cs typeface="Times New Roman" pitchFamily="18" charset="0"/>
              </a:rPr>
              <a:t> About </a:t>
            </a:r>
            <a:r>
              <a:rPr lang="en-US" sz="3200" dirty="0" smtClean="0">
                <a:solidFill>
                  <a:prstClr val="black"/>
                </a:solidFill>
                <a:cs typeface="Times New Roman" pitchFamily="18" charset="0"/>
              </a:rPr>
              <a:t>5000</a:t>
            </a:r>
            <a:endParaRPr lang="en-US" dirty="0"/>
          </a:p>
        </p:txBody>
      </p:sp>
    </p:spTree>
    <p:custDataLst>
      <p:tags r:id="rId2"/>
    </p:custDataLst>
    <p:extLst>
      <p:ext uri="{BB962C8B-B14F-4D97-AF65-F5344CB8AC3E}">
        <p14:creationId xmlns:p14="http://schemas.microsoft.com/office/powerpoint/2010/main" val="3506968011"/>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tx2"/>
                </a:solidFill>
              </a:rPr>
              <a:t>Hypothesis Testing</a:t>
            </a:r>
            <a:endParaRPr lang="en-US" sz="4000" b="1" dirty="0">
              <a:solidFill>
                <a:schemeClr val="tx2"/>
              </a:solidFill>
            </a:endParaRPr>
          </a:p>
        </p:txBody>
      </p:sp>
      <p:graphicFrame>
        <p:nvGraphicFramePr>
          <p:cNvPr id="252933" name="Object 5"/>
          <p:cNvGraphicFramePr>
            <a:graphicFrameLocks noChangeAspect="1"/>
          </p:cNvGraphicFramePr>
          <p:nvPr>
            <p:extLst>
              <p:ext uri="{D42A27DB-BD31-4B8C-83A1-F6EECF244321}">
                <p14:modId xmlns:p14="http://schemas.microsoft.com/office/powerpoint/2010/main" val="78443006"/>
              </p:ext>
            </p:extLst>
          </p:nvPr>
        </p:nvGraphicFramePr>
        <p:xfrm>
          <a:off x="609600" y="3429000"/>
          <a:ext cx="2360612" cy="758825"/>
        </p:xfrm>
        <a:graphic>
          <a:graphicData uri="http://schemas.openxmlformats.org/presentationml/2006/ole">
            <mc:AlternateContent xmlns:mc="http://schemas.openxmlformats.org/markup-compatibility/2006">
              <mc:Choice xmlns:v="urn:schemas-microsoft-com:vml" Requires="v">
                <p:oleObj spid="_x0000_s17440" name="Equation" r:id="rId4" imgW="711000" imgH="228600" progId="Equation.DSMT4">
                  <p:embed/>
                </p:oleObj>
              </mc:Choice>
              <mc:Fallback>
                <p:oleObj name="Equation" r:id="rId4" imgW="711000" imgH="22860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3429000"/>
                        <a:ext cx="2360612"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252935" name="Object 7"/>
          <p:cNvGraphicFramePr>
            <a:graphicFrameLocks noChangeAspect="1"/>
          </p:cNvGraphicFramePr>
          <p:nvPr>
            <p:extLst>
              <p:ext uri="{D42A27DB-BD31-4B8C-83A1-F6EECF244321}">
                <p14:modId xmlns:p14="http://schemas.microsoft.com/office/powerpoint/2010/main" val="2174392403"/>
              </p:ext>
            </p:extLst>
          </p:nvPr>
        </p:nvGraphicFramePr>
        <p:xfrm>
          <a:off x="609600" y="4671076"/>
          <a:ext cx="3328988" cy="1474788"/>
        </p:xfrm>
        <a:graphic>
          <a:graphicData uri="http://schemas.openxmlformats.org/presentationml/2006/ole">
            <mc:AlternateContent xmlns:mc="http://schemas.openxmlformats.org/markup-compatibility/2006">
              <mc:Choice xmlns:v="urn:schemas-microsoft-com:vml" Requires="v">
                <p:oleObj spid="_x0000_s17441" name="Equation" r:id="rId6" imgW="1002960" imgH="444240" progId="Equation.DSMT4">
                  <p:embed/>
                </p:oleObj>
              </mc:Choice>
              <mc:Fallback>
                <p:oleObj name="Equation" r:id="rId6" imgW="1002960" imgH="44424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 y="4671076"/>
                        <a:ext cx="3328988"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sp>
        <p:nvSpPr>
          <p:cNvPr id="10" name="TextBox 9"/>
          <p:cNvSpPr txBox="1"/>
          <p:nvPr/>
        </p:nvSpPr>
        <p:spPr>
          <a:xfrm>
            <a:off x="4454237" y="4648200"/>
            <a:ext cx="4343400" cy="1754326"/>
          </a:xfrm>
          <a:prstGeom prst="rect">
            <a:avLst/>
          </a:prstGeom>
          <a:noFill/>
        </p:spPr>
        <p:txBody>
          <a:bodyPr wrap="square" rtlCol="0">
            <a:spAutoFit/>
          </a:bodyPr>
          <a:lstStyle/>
          <a:p>
            <a:pPr>
              <a:spcAft>
                <a:spcPts val="1800"/>
              </a:spcAft>
            </a:pPr>
            <a:r>
              <a:rPr lang="en-US" sz="3600" dirty="0" smtClean="0">
                <a:solidFill>
                  <a:prstClr val="black"/>
                </a:solidFill>
                <a:cs typeface="Times New Roman" pitchFamily="18" charset="0"/>
              </a:rPr>
              <a:t>What should we use for </a:t>
            </a:r>
            <a:r>
              <a:rPr lang="en-US" sz="3600" i="1" dirty="0" smtClean="0">
                <a:solidFill>
                  <a:prstClr val="black"/>
                </a:solidFill>
                <a:cs typeface="Times New Roman" pitchFamily="18" charset="0"/>
              </a:rPr>
              <a:t>p </a:t>
            </a:r>
            <a:r>
              <a:rPr lang="en-US" sz="3600" dirty="0" smtClean="0">
                <a:solidFill>
                  <a:prstClr val="black"/>
                </a:solidFill>
                <a:cs typeface="Times New Roman" pitchFamily="18" charset="0"/>
              </a:rPr>
              <a:t>when calculating the SE</a:t>
            </a:r>
            <a:r>
              <a:rPr lang="en-US" sz="3600" i="1" dirty="0" smtClean="0">
                <a:solidFill>
                  <a:prstClr val="black"/>
                </a:solidFill>
                <a:cs typeface="Times New Roman" pitchFamily="18" charset="0"/>
              </a:rPr>
              <a:t>?</a:t>
            </a:r>
            <a:endParaRPr lang="en-US" sz="3600" dirty="0" smtClean="0">
              <a:solidFill>
                <a:prstClr val="black"/>
              </a:solidFill>
              <a:cs typeface="Times New Roman" pitchFamily="18" charset="0"/>
            </a:endParaRPr>
          </a:p>
        </p:txBody>
      </p:sp>
      <p:sp>
        <p:nvSpPr>
          <p:cNvPr id="4" name="Content Placeholder 3"/>
          <p:cNvSpPr>
            <a:spLocks noGrp="1"/>
          </p:cNvSpPr>
          <p:nvPr>
            <p:ph sz="quarter" idx="1"/>
          </p:nvPr>
        </p:nvSpPr>
        <p:spPr>
          <a:xfrm>
            <a:off x="0" y="1600200"/>
            <a:ext cx="9144000" cy="1676400"/>
          </a:xfrm>
        </p:spPr>
        <p:txBody>
          <a:bodyPr>
            <a:normAutofit lnSpcReduction="10000"/>
          </a:bodyPr>
          <a:lstStyle/>
          <a:p>
            <a:r>
              <a:rPr lang="en-US" sz="3600" dirty="0">
                <a:solidFill>
                  <a:prstClr val="black"/>
                </a:solidFill>
                <a:cs typeface="Times New Roman" pitchFamily="18" charset="0"/>
              </a:rPr>
              <a:t>For hypothesis testing, we want the distribution of the sample proportion assuming the null hypothesis is </a:t>
            </a:r>
            <a:r>
              <a:rPr lang="en-US" sz="3600" dirty="0" smtClean="0">
                <a:solidFill>
                  <a:prstClr val="black"/>
                </a:solidFill>
                <a:cs typeface="Times New Roman" pitchFamily="18" charset="0"/>
              </a:rPr>
              <a:t>true</a:t>
            </a:r>
            <a:endParaRPr lang="en-US" sz="3600" dirty="0">
              <a:solidFill>
                <a:prstClr val="black"/>
              </a:solidFill>
              <a:cs typeface="Times New Roman" pitchFamily="18" charset="0"/>
            </a:endParaRPr>
          </a:p>
        </p:txBody>
      </p:sp>
    </p:spTree>
    <p:custDataLst>
      <p:tags r:id="rId2"/>
    </p:custDataLst>
    <p:extLst>
      <p:ext uri="{BB962C8B-B14F-4D97-AF65-F5344CB8AC3E}">
        <p14:creationId xmlns:p14="http://schemas.microsoft.com/office/powerpoint/2010/main" val="15005373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29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29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p:cTn id="15" dur="500" fill="hold"/>
                                        <p:tgtEl>
                                          <p:spTgt spid="10"/>
                                        </p:tgtEl>
                                        <p:attrNameLst>
                                          <p:attrName>ppt_w</p:attrName>
                                        </p:attrNameLst>
                                      </p:cBhvr>
                                      <p:tavLst>
                                        <p:tav tm="0">
                                          <p:val>
                                            <p:fltVal val="0"/>
                                          </p:val>
                                        </p:tav>
                                        <p:tav tm="100000">
                                          <p:val>
                                            <p:strVal val="#ppt_w"/>
                                          </p:val>
                                        </p:tav>
                                      </p:tavLst>
                                    </p:anim>
                                    <p:anim calcmode="lin" valueType="num">
                                      <p:cBhvr>
                                        <p:cTn id="16" dur="500" fill="hold"/>
                                        <p:tgtEl>
                                          <p:spTgt spid="10"/>
                                        </p:tgtEl>
                                        <p:attrNameLst>
                                          <p:attrName>ppt_h</p:attrName>
                                        </p:attrNameLst>
                                      </p:cBhvr>
                                      <p:tavLst>
                                        <p:tav tm="0">
                                          <p:val>
                                            <p:fltVal val="0"/>
                                          </p:val>
                                        </p:tav>
                                        <p:tav tm="100000">
                                          <p:val>
                                            <p:strVal val="#ppt_h"/>
                                          </p:val>
                                        </p:tav>
                                      </p:tavLst>
                                    </p:anim>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95300" y="381000"/>
            <a:ext cx="8153400" cy="1219200"/>
          </a:xfrm>
          <a:prstGeom prst="rect">
            <a:avLst/>
          </a:prstGeom>
        </p:spPr>
        <p:txBody>
          <a:bodyPr/>
          <a:lstStyle/>
          <a:p>
            <a:pPr lvl="0" algn="ctr">
              <a:spcBef>
                <a:spcPct val="0"/>
              </a:spcBef>
              <a:defRPr/>
            </a:pPr>
            <a:r>
              <a:rPr lang="en-US" sz="4400" b="1" dirty="0" smtClean="0">
                <a:solidFill>
                  <a:schemeClr val="tx2"/>
                </a:solidFill>
              </a:rPr>
              <a:t>Hypothesis Testing</a:t>
            </a:r>
            <a:endParaRPr lang="en-US" sz="4000" b="1" dirty="0">
              <a:solidFill>
                <a:schemeClr val="tx2"/>
              </a:solidFill>
            </a:endParaRPr>
          </a:p>
        </p:txBody>
      </p:sp>
      <p:graphicFrame>
        <p:nvGraphicFramePr>
          <p:cNvPr id="250884" name="Object 4"/>
          <p:cNvGraphicFramePr>
            <a:graphicFrameLocks noChangeAspect="1"/>
          </p:cNvGraphicFramePr>
          <p:nvPr>
            <p:extLst>
              <p:ext uri="{D42A27DB-BD31-4B8C-83A1-F6EECF244321}">
                <p14:modId xmlns:p14="http://schemas.microsoft.com/office/powerpoint/2010/main" val="2319400868"/>
              </p:ext>
            </p:extLst>
          </p:nvPr>
        </p:nvGraphicFramePr>
        <p:xfrm>
          <a:off x="1517650" y="1905000"/>
          <a:ext cx="6108700" cy="1206500"/>
        </p:xfrm>
        <a:graphic>
          <a:graphicData uri="http://schemas.openxmlformats.org/presentationml/2006/ole">
            <mc:AlternateContent xmlns:mc="http://schemas.openxmlformats.org/markup-compatibility/2006">
              <mc:Choice xmlns:v="urn:schemas-microsoft-com:vml" Requires="v">
                <p:oleObj spid="_x0000_s18465" name="Equation" r:id="rId4" imgW="1993680" imgH="393480" progId="Equation.DSMT4">
                  <p:embed/>
                </p:oleObj>
              </mc:Choice>
              <mc:Fallback>
                <p:oleObj name="Equation" r:id="rId4" imgW="1993680" imgH="393480"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17650" y="1905000"/>
                        <a:ext cx="6108700" cy="12065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0885" name="Object 5"/>
          <p:cNvGraphicFramePr>
            <a:graphicFrameLocks noChangeAspect="1"/>
          </p:cNvGraphicFramePr>
          <p:nvPr>
            <p:extLst>
              <p:ext uri="{D42A27DB-BD31-4B8C-83A1-F6EECF244321}">
                <p14:modId xmlns:p14="http://schemas.microsoft.com/office/powerpoint/2010/main" val="1715408411"/>
              </p:ext>
            </p:extLst>
          </p:nvPr>
        </p:nvGraphicFramePr>
        <p:xfrm>
          <a:off x="2895600" y="3429000"/>
          <a:ext cx="3151187" cy="1944688"/>
        </p:xfrm>
        <a:graphic>
          <a:graphicData uri="http://schemas.openxmlformats.org/presentationml/2006/ole">
            <mc:AlternateContent xmlns:mc="http://schemas.openxmlformats.org/markup-compatibility/2006">
              <mc:Choice xmlns:v="urn:schemas-microsoft-com:vml" Requires="v">
                <p:oleObj spid="_x0000_s18466" name="Equation" r:id="rId6" imgW="1028520" imgH="634680" progId="Equation.DSMT4">
                  <p:embed/>
                </p:oleObj>
              </mc:Choice>
              <mc:Fallback>
                <p:oleObj name="Equation" r:id="rId6" imgW="1028520" imgH="63468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95600" y="3429000"/>
                        <a:ext cx="3151187" cy="194468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76200" y="5496580"/>
            <a:ext cx="8991600" cy="553998"/>
          </a:xfrm>
          <a:prstGeom prst="rect">
            <a:avLst/>
          </a:prstGeom>
          <a:noFill/>
        </p:spPr>
        <p:txBody>
          <a:bodyPr wrap="square" rtlCol="0">
            <a:spAutoFit/>
          </a:bodyPr>
          <a:lstStyle/>
          <a:p>
            <a:r>
              <a:rPr lang="en-US" sz="3000" dirty="0" smtClean="0"/>
              <a:t>The p-value is the area in the tail(s) beyond </a:t>
            </a:r>
            <a:r>
              <a:rPr lang="en-US" sz="3000" i="1" dirty="0" smtClean="0"/>
              <a:t>z</a:t>
            </a:r>
            <a:r>
              <a:rPr lang="en-US" sz="3000" dirty="0" smtClean="0"/>
              <a:t> in a N(0,1)</a:t>
            </a:r>
            <a:endParaRPr lang="en-US" sz="3000" dirty="0"/>
          </a:p>
        </p:txBody>
      </p:sp>
    </p:spTree>
    <p:custDataLst>
      <p:tags r:id="rId2"/>
    </p:custDataLst>
    <p:extLst>
      <p:ext uri="{BB962C8B-B14F-4D97-AF65-F5344CB8AC3E}">
        <p14:creationId xmlns:p14="http://schemas.microsoft.com/office/powerpoint/2010/main" val="33687220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250884"/>
                                        </p:tgtEl>
                                        <p:attrNameLst>
                                          <p:attrName>style.visibility</p:attrName>
                                        </p:attrNameLst>
                                      </p:cBhvr>
                                      <p:to>
                                        <p:strVal val="visible"/>
                                      </p:to>
                                    </p:set>
                                    <p:anim calcmode="lin" valueType="num">
                                      <p:cBhvr>
                                        <p:cTn id="7" dur="500" fill="hold"/>
                                        <p:tgtEl>
                                          <p:spTgt spid="250884"/>
                                        </p:tgtEl>
                                        <p:attrNameLst>
                                          <p:attrName>ppt_w</p:attrName>
                                        </p:attrNameLst>
                                      </p:cBhvr>
                                      <p:tavLst>
                                        <p:tav tm="0">
                                          <p:val>
                                            <p:fltVal val="0"/>
                                          </p:val>
                                        </p:tav>
                                        <p:tav tm="100000">
                                          <p:val>
                                            <p:strVal val="#ppt_w"/>
                                          </p:val>
                                        </p:tav>
                                      </p:tavLst>
                                    </p:anim>
                                    <p:anim calcmode="lin" valueType="num">
                                      <p:cBhvr>
                                        <p:cTn id="8" dur="500" fill="hold"/>
                                        <p:tgtEl>
                                          <p:spTgt spid="250884"/>
                                        </p:tgtEl>
                                        <p:attrNameLst>
                                          <p:attrName>ppt_h</p:attrName>
                                        </p:attrNameLst>
                                      </p:cBhvr>
                                      <p:tavLst>
                                        <p:tav tm="0">
                                          <p:val>
                                            <p:fltVal val="0"/>
                                          </p:val>
                                        </p:tav>
                                        <p:tav tm="100000">
                                          <p:val>
                                            <p:strVal val="#ppt_h"/>
                                          </p:val>
                                        </p:tav>
                                      </p:tavLst>
                                    </p:anim>
                                    <p:animEffect transition="in" filter="fade">
                                      <p:cBhvr>
                                        <p:cTn id="9" dur="500"/>
                                        <p:tgtEl>
                                          <p:spTgt spid="25088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0" fill="hold" nodeType="clickEffect">
                                  <p:stCondLst>
                                    <p:cond delay="0"/>
                                  </p:stCondLst>
                                  <p:childTnLst>
                                    <p:set>
                                      <p:cBhvr>
                                        <p:cTn id="13" dur="1" fill="hold">
                                          <p:stCondLst>
                                            <p:cond delay="0"/>
                                          </p:stCondLst>
                                        </p:cTn>
                                        <p:tgtEl>
                                          <p:spTgt spid="250885"/>
                                        </p:tgtEl>
                                        <p:attrNameLst>
                                          <p:attrName>style.visibility</p:attrName>
                                        </p:attrNameLst>
                                      </p:cBhvr>
                                      <p:to>
                                        <p:strVal val="visible"/>
                                      </p:to>
                                    </p:set>
                                    <p:anim calcmode="lin" valueType="num">
                                      <p:cBhvr>
                                        <p:cTn id="14" dur="500" fill="hold"/>
                                        <p:tgtEl>
                                          <p:spTgt spid="250885"/>
                                        </p:tgtEl>
                                        <p:attrNameLst>
                                          <p:attrName>ppt_w</p:attrName>
                                        </p:attrNameLst>
                                      </p:cBhvr>
                                      <p:tavLst>
                                        <p:tav tm="0">
                                          <p:val>
                                            <p:fltVal val="0"/>
                                          </p:val>
                                        </p:tav>
                                        <p:tav tm="100000">
                                          <p:val>
                                            <p:strVal val="#ppt_w"/>
                                          </p:val>
                                        </p:tav>
                                      </p:tavLst>
                                    </p:anim>
                                    <p:anim calcmode="lin" valueType="num">
                                      <p:cBhvr>
                                        <p:cTn id="15" dur="500" fill="hold"/>
                                        <p:tgtEl>
                                          <p:spTgt spid="250885"/>
                                        </p:tgtEl>
                                        <p:attrNameLst>
                                          <p:attrName>ppt_h</p:attrName>
                                        </p:attrNameLst>
                                      </p:cBhvr>
                                      <p:tavLst>
                                        <p:tav tm="0">
                                          <p:val>
                                            <p:fltVal val="0"/>
                                          </p:val>
                                        </p:tav>
                                        <p:tav tm="100000">
                                          <p:val>
                                            <p:strVal val="#ppt_h"/>
                                          </p:val>
                                        </p:tav>
                                      </p:tavLst>
                                    </p:anim>
                                    <p:animEffect transition="in" filter="fade">
                                      <p:cBhvr>
                                        <p:cTn id="16" dur="500"/>
                                        <p:tgtEl>
                                          <p:spTgt spid="25088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4636" y="1524000"/>
            <a:ext cx="9178636" cy="3277820"/>
          </a:xfrm>
          <a:prstGeom prst="rect">
            <a:avLst/>
          </a:prstGeom>
          <a:noFill/>
        </p:spPr>
        <p:txBody>
          <a:bodyPr wrap="square" rtlCol="0">
            <a:spAutoFit/>
          </a:bodyPr>
          <a:lstStyle/>
          <a:p>
            <a:pPr>
              <a:spcAft>
                <a:spcPts val="1800"/>
              </a:spcAft>
            </a:pPr>
            <a:r>
              <a:rPr lang="en-US" sz="3200" dirty="0">
                <a:solidFill>
                  <a:prstClr val="black"/>
                </a:solidFill>
                <a:cs typeface="Times New Roman" pitchFamily="18" charset="0"/>
              </a:rPr>
              <a:t>Of the 2430 Major League Baseball (MLB) games played in 2009, the home team won in 54.9% of the games.  </a:t>
            </a:r>
          </a:p>
          <a:p>
            <a:pPr>
              <a:spcAft>
                <a:spcPts val="1800"/>
              </a:spcAft>
            </a:pPr>
            <a:r>
              <a:rPr lang="en-US" sz="3200" dirty="0">
                <a:solidFill>
                  <a:prstClr val="black"/>
                </a:solidFill>
                <a:cs typeface="Times New Roman" pitchFamily="18" charset="0"/>
              </a:rPr>
              <a:t>If we consider 2009 as a representative sample of all MLB games, is this evidence of a home field advantage in Major League Baseball?</a:t>
            </a:r>
          </a:p>
        </p:txBody>
      </p:sp>
      <p:pic>
        <p:nvPicPr>
          <p:cNvPr id="38921" name="Picture 9" descr="http://upload.wikimedia.org/wikipedia/commons/thumb/0/01/Fenway_from_Legend's_Box.jpg/275px-Fenway_from_Legend's_Box.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1396" y="4419600"/>
            <a:ext cx="3420932" cy="2276476"/>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p:cNvSpPr txBox="1">
            <a:spLocks/>
          </p:cNvSpPr>
          <p:nvPr/>
        </p:nvSpPr>
        <p:spPr>
          <a:xfrm>
            <a:off x="1143000" y="228600"/>
            <a:ext cx="7772400" cy="1219200"/>
          </a:xfrm>
          <a:prstGeom prst="rect">
            <a:avLst/>
          </a:prstGeom>
        </p:spPr>
        <p:txBody>
          <a:bodyPr/>
          <a:lstStyle/>
          <a:p>
            <a:pPr lvl="0" algn="ctr">
              <a:spcBef>
                <a:spcPct val="0"/>
              </a:spcBef>
              <a:defRPr/>
            </a:pPr>
            <a:r>
              <a:rPr lang="en-US" sz="4000" b="1" dirty="0" smtClean="0">
                <a:solidFill>
                  <a:schemeClr val="tx2"/>
                </a:solidFill>
              </a:rPr>
              <a:t>Baseball Home Field Advantage</a:t>
            </a:r>
            <a:endParaRPr lang="en-US" sz="3600" b="1" dirty="0">
              <a:solidFill>
                <a:schemeClr val="tx2"/>
              </a:solidFill>
            </a:endParaRPr>
          </a:p>
        </p:txBody>
      </p:sp>
    </p:spTree>
    <p:custDataLst>
      <p:tags r:id="rId1"/>
    </p:custDataLst>
    <p:extLst>
      <p:ext uri="{BB962C8B-B14F-4D97-AF65-F5344CB8AC3E}">
        <p14:creationId xmlns:p14="http://schemas.microsoft.com/office/powerpoint/2010/main" val="3718168807"/>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457200" y="228600"/>
            <a:ext cx="8305800" cy="1219200"/>
          </a:xfrm>
          <a:prstGeom prst="rect">
            <a:avLst/>
          </a:prstGeom>
        </p:spPr>
        <p:txBody>
          <a:bodyPr/>
          <a:lstStyle/>
          <a:p>
            <a:pPr lvl="0" algn="ctr">
              <a:spcBef>
                <a:spcPct val="0"/>
              </a:spcBef>
              <a:defRPr/>
            </a:pPr>
            <a:r>
              <a:rPr lang="en-US" sz="4400" b="1" dirty="0" smtClean="0">
                <a:solidFill>
                  <a:schemeClr val="tx2"/>
                </a:solidFill>
              </a:rPr>
              <a:t>Baseball Home Field Advantage</a:t>
            </a:r>
            <a:endParaRPr lang="en-US" sz="4000" b="1" dirty="0">
              <a:solidFill>
                <a:schemeClr val="tx2"/>
              </a:solidFill>
            </a:endParaRPr>
          </a:p>
        </p:txBody>
      </p:sp>
      <p:sp>
        <p:nvSpPr>
          <p:cNvPr id="7" name="TextBox 6"/>
          <p:cNvSpPr txBox="1"/>
          <p:nvPr/>
        </p:nvSpPr>
        <p:spPr>
          <a:xfrm>
            <a:off x="152400" y="990600"/>
            <a:ext cx="8763000" cy="584775"/>
          </a:xfrm>
          <a:prstGeom prst="rect">
            <a:avLst/>
          </a:prstGeom>
          <a:noFill/>
        </p:spPr>
        <p:txBody>
          <a:bodyPr wrap="square" rtlCol="0">
            <a:spAutoFit/>
          </a:bodyPr>
          <a:lstStyle/>
          <a:p>
            <a:pPr>
              <a:spcAft>
                <a:spcPts val="1800"/>
              </a:spcAft>
            </a:pPr>
            <a:r>
              <a:rPr lang="en-US" sz="3200" dirty="0" smtClean="0">
                <a:solidFill>
                  <a:prstClr val="black"/>
                </a:solidFill>
                <a:cs typeface="Times New Roman" pitchFamily="18" charset="0"/>
              </a:rPr>
              <a:t>Counts are greater than 10 in each category</a:t>
            </a:r>
          </a:p>
        </p:txBody>
      </p:sp>
      <p:pic>
        <p:nvPicPr>
          <p:cNvPr id="8" name="Picture 4" descr="C:\Users\Kari\AppData\Local\Microsoft\Windows\Temporary Internet Files\Content.IE5\8Y1BLIC5\MC900432601[1].png"/>
          <p:cNvPicPr>
            <a:picLocks noChangeAspect="1" noChangeArrowheads="1"/>
          </p:cNvPicPr>
          <p:nvPr/>
        </p:nvPicPr>
        <p:blipFill>
          <a:blip r:embed="rId4" cstate="print"/>
          <a:srcRect/>
          <a:stretch>
            <a:fillRect/>
          </a:stretch>
        </p:blipFill>
        <p:spPr bwMode="auto">
          <a:xfrm>
            <a:off x="7924800" y="990600"/>
            <a:ext cx="762000" cy="762000"/>
          </a:xfrm>
          <a:prstGeom prst="rect">
            <a:avLst/>
          </a:prstGeom>
          <a:noFill/>
        </p:spPr>
      </p:pic>
      <p:graphicFrame>
        <p:nvGraphicFramePr>
          <p:cNvPr id="343043" name="Object 3"/>
          <p:cNvGraphicFramePr>
            <a:graphicFrameLocks noChangeAspect="1"/>
          </p:cNvGraphicFramePr>
          <p:nvPr>
            <p:extLst>
              <p:ext uri="{D42A27DB-BD31-4B8C-83A1-F6EECF244321}">
                <p14:modId xmlns:p14="http://schemas.microsoft.com/office/powerpoint/2010/main" val="181235038"/>
              </p:ext>
            </p:extLst>
          </p:nvPr>
        </p:nvGraphicFramePr>
        <p:xfrm>
          <a:off x="714375" y="2667000"/>
          <a:ext cx="7637463" cy="1646238"/>
        </p:xfrm>
        <a:graphic>
          <a:graphicData uri="http://schemas.openxmlformats.org/presentationml/2006/ole">
            <mc:AlternateContent xmlns:mc="http://schemas.openxmlformats.org/markup-compatibility/2006">
              <mc:Choice xmlns:v="urn:schemas-microsoft-com:vml" Requires="v">
                <p:oleObj spid="_x0000_s19503" name="Equation" r:id="rId5" imgW="2946240" imgH="634680" progId="Equation.DSMT4">
                  <p:embed/>
                </p:oleObj>
              </mc:Choice>
              <mc:Fallback>
                <p:oleObj name="Equation" r:id="rId5" imgW="2946240" imgH="634680" progId="Equation.DSMT4">
                  <p:embed/>
                  <p:pic>
                    <p:nvPicPr>
                      <p:cNvPr id="0" name=""/>
                      <p:cNvPicPr>
                        <a:picLocks noChangeAspect="1" noChangeArrowheads="1"/>
                      </p:cNvPicPr>
                      <p:nvPr/>
                    </p:nvPicPr>
                    <p:blipFill>
                      <a:blip r:embed="rId6"/>
                      <a:srcRect/>
                      <a:stretch>
                        <a:fillRect/>
                      </a:stretch>
                    </p:blipFill>
                    <p:spPr bwMode="auto">
                      <a:xfrm>
                        <a:off x="714375" y="2667000"/>
                        <a:ext cx="7637463" cy="164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343047" name="Object 7"/>
          <p:cNvGraphicFramePr>
            <a:graphicFrameLocks noChangeAspect="1"/>
          </p:cNvGraphicFramePr>
          <p:nvPr>
            <p:extLst>
              <p:ext uri="{D42A27DB-BD31-4B8C-83A1-F6EECF244321}">
                <p14:modId xmlns:p14="http://schemas.microsoft.com/office/powerpoint/2010/main" val="885044743"/>
              </p:ext>
            </p:extLst>
          </p:nvPr>
        </p:nvGraphicFramePr>
        <p:xfrm>
          <a:off x="304800" y="1676400"/>
          <a:ext cx="1857375" cy="990600"/>
        </p:xfrm>
        <a:graphic>
          <a:graphicData uri="http://schemas.openxmlformats.org/presentationml/2006/ole">
            <mc:AlternateContent xmlns:mc="http://schemas.openxmlformats.org/markup-compatibility/2006">
              <mc:Choice xmlns:v="urn:schemas-microsoft-com:vml" Requires="v">
                <p:oleObj spid="_x0000_s19504" name="Equation" r:id="rId7" imgW="761760" imgH="406080" progId="Equation.DSMT4">
                  <p:embed/>
                </p:oleObj>
              </mc:Choice>
              <mc:Fallback>
                <p:oleObj name="Equation" r:id="rId7" imgW="761760" imgH="406080" progId="Equation.DSMT4">
                  <p:embed/>
                  <p:pic>
                    <p:nvPicPr>
                      <p:cNvPr id="0" name=""/>
                      <p:cNvPicPr>
                        <a:picLocks noChangeAspect="1" noChangeArrowheads="1"/>
                      </p:cNvPicPr>
                      <p:nvPr/>
                    </p:nvPicPr>
                    <p:blipFill>
                      <a:blip r:embed="rId8"/>
                      <a:srcRect/>
                      <a:stretch>
                        <a:fillRect/>
                      </a:stretch>
                    </p:blipFill>
                    <p:spPr bwMode="auto">
                      <a:xfrm>
                        <a:off x="304800" y="1676400"/>
                        <a:ext cx="185737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343048" name="Object 8"/>
          <p:cNvGraphicFramePr>
            <a:graphicFrameLocks noChangeAspect="1"/>
          </p:cNvGraphicFramePr>
          <p:nvPr>
            <p:extLst>
              <p:ext uri="{D42A27DB-BD31-4B8C-83A1-F6EECF244321}">
                <p14:modId xmlns:p14="http://schemas.microsoft.com/office/powerpoint/2010/main" val="622436507"/>
              </p:ext>
            </p:extLst>
          </p:nvPr>
        </p:nvGraphicFramePr>
        <p:xfrm>
          <a:off x="3505200" y="4419600"/>
          <a:ext cx="3392488" cy="592137"/>
        </p:xfrm>
        <a:graphic>
          <a:graphicData uri="http://schemas.openxmlformats.org/presentationml/2006/ole">
            <mc:AlternateContent xmlns:mc="http://schemas.openxmlformats.org/markup-compatibility/2006">
              <mc:Choice xmlns:v="urn:schemas-microsoft-com:vml" Requires="v">
                <p:oleObj spid="_x0000_s19505" name="Equation" r:id="rId9" imgW="1307880" imgH="228600" progId="Equation.DSMT4">
                  <p:embed/>
                </p:oleObj>
              </mc:Choice>
              <mc:Fallback>
                <p:oleObj name="Equation" r:id="rId9" imgW="1307880" imgH="228600" progId="Equation.DSMT4">
                  <p:embed/>
                  <p:pic>
                    <p:nvPicPr>
                      <p:cNvPr id="0" name=""/>
                      <p:cNvPicPr>
                        <a:picLocks noChangeAspect="1" noChangeArrowheads="1"/>
                      </p:cNvPicPr>
                      <p:nvPr/>
                    </p:nvPicPr>
                    <p:blipFill>
                      <a:blip r:embed="rId10"/>
                      <a:srcRect/>
                      <a:stretch>
                        <a:fillRect/>
                      </a:stretch>
                    </p:blipFill>
                    <p:spPr bwMode="auto">
                      <a:xfrm>
                        <a:off x="3505200" y="4419600"/>
                        <a:ext cx="3392488"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sp>
        <p:nvSpPr>
          <p:cNvPr id="14" name="TextBox 13"/>
          <p:cNvSpPr txBox="1"/>
          <p:nvPr/>
        </p:nvSpPr>
        <p:spPr>
          <a:xfrm>
            <a:off x="3482410" y="5105400"/>
            <a:ext cx="5432989" cy="1384995"/>
          </a:xfrm>
          <a:prstGeom prst="rect">
            <a:avLst/>
          </a:prstGeom>
          <a:noFill/>
        </p:spPr>
        <p:txBody>
          <a:bodyPr wrap="square" rtlCol="0">
            <a:spAutoFit/>
          </a:bodyPr>
          <a:lstStyle/>
          <a:p>
            <a:r>
              <a:rPr lang="en-US" sz="2800" b="1" dirty="0" smtClean="0">
                <a:latin typeface="Bradley Hand ITC" pitchFamily="66" charset="0"/>
              </a:rPr>
              <a:t>Based on this data, there is strong evidence of a home field advantage in major league baseball.</a:t>
            </a:r>
            <a:endParaRPr lang="en-US" sz="2800" b="1" dirty="0">
              <a:latin typeface="Bradley Hand ITC" pitchFamily="66" charset="0"/>
            </a:endParaRPr>
          </a:p>
        </p:txBody>
      </p:sp>
      <p:pic>
        <p:nvPicPr>
          <p:cNvPr id="39959" name="Picture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4291412"/>
            <a:ext cx="3346407" cy="2472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2"/>
    </p:custDataLst>
    <p:extLst>
      <p:ext uri="{BB962C8B-B14F-4D97-AF65-F5344CB8AC3E}">
        <p14:creationId xmlns:p14="http://schemas.microsoft.com/office/powerpoint/2010/main" val="16287479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0" fill="hold" nodeType="clickEffect">
                                  <p:stCondLst>
                                    <p:cond delay="0"/>
                                  </p:stCondLst>
                                  <p:childTnLst>
                                    <p:set>
                                      <p:cBhvr>
                                        <p:cTn id="14" dur="1" fill="hold">
                                          <p:stCondLst>
                                            <p:cond delay="0"/>
                                          </p:stCondLst>
                                        </p:cTn>
                                        <p:tgtEl>
                                          <p:spTgt spid="343047"/>
                                        </p:tgtEl>
                                        <p:attrNameLst>
                                          <p:attrName>style.visibility</p:attrName>
                                        </p:attrNameLst>
                                      </p:cBhvr>
                                      <p:to>
                                        <p:strVal val="visible"/>
                                      </p:to>
                                    </p:set>
                                    <p:anim calcmode="lin" valueType="num">
                                      <p:cBhvr>
                                        <p:cTn id="15" dur="500" fill="hold"/>
                                        <p:tgtEl>
                                          <p:spTgt spid="343047"/>
                                        </p:tgtEl>
                                        <p:attrNameLst>
                                          <p:attrName>ppt_w</p:attrName>
                                        </p:attrNameLst>
                                      </p:cBhvr>
                                      <p:tavLst>
                                        <p:tav tm="0">
                                          <p:val>
                                            <p:fltVal val="0"/>
                                          </p:val>
                                        </p:tav>
                                        <p:tav tm="100000">
                                          <p:val>
                                            <p:strVal val="#ppt_w"/>
                                          </p:val>
                                        </p:tav>
                                      </p:tavLst>
                                    </p:anim>
                                    <p:anim calcmode="lin" valueType="num">
                                      <p:cBhvr>
                                        <p:cTn id="16" dur="500" fill="hold"/>
                                        <p:tgtEl>
                                          <p:spTgt spid="343047"/>
                                        </p:tgtEl>
                                        <p:attrNameLst>
                                          <p:attrName>ppt_h</p:attrName>
                                        </p:attrNameLst>
                                      </p:cBhvr>
                                      <p:tavLst>
                                        <p:tav tm="0">
                                          <p:val>
                                            <p:fltVal val="0"/>
                                          </p:val>
                                        </p:tav>
                                        <p:tav tm="100000">
                                          <p:val>
                                            <p:strVal val="#ppt_h"/>
                                          </p:val>
                                        </p:tav>
                                      </p:tavLst>
                                    </p:anim>
                                    <p:animEffect transition="in" filter="fade">
                                      <p:cBhvr>
                                        <p:cTn id="17" dur="500"/>
                                        <p:tgtEl>
                                          <p:spTgt spid="343047"/>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0" fill="hold" nodeType="clickEffect">
                                  <p:stCondLst>
                                    <p:cond delay="0"/>
                                  </p:stCondLst>
                                  <p:childTnLst>
                                    <p:set>
                                      <p:cBhvr>
                                        <p:cTn id="21" dur="1" fill="hold">
                                          <p:stCondLst>
                                            <p:cond delay="0"/>
                                          </p:stCondLst>
                                        </p:cTn>
                                        <p:tgtEl>
                                          <p:spTgt spid="343043"/>
                                        </p:tgtEl>
                                        <p:attrNameLst>
                                          <p:attrName>style.visibility</p:attrName>
                                        </p:attrNameLst>
                                      </p:cBhvr>
                                      <p:to>
                                        <p:strVal val="visible"/>
                                      </p:to>
                                    </p:set>
                                    <p:anim calcmode="lin" valueType="num">
                                      <p:cBhvr>
                                        <p:cTn id="22" dur="500" fill="hold"/>
                                        <p:tgtEl>
                                          <p:spTgt spid="343043"/>
                                        </p:tgtEl>
                                        <p:attrNameLst>
                                          <p:attrName>ppt_w</p:attrName>
                                        </p:attrNameLst>
                                      </p:cBhvr>
                                      <p:tavLst>
                                        <p:tav tm="0">
                                          <p:val>
                                            <p:fltVal val="0"/>
                                          </p:val>
                                        </p:tav>
                                        <p:tav tm="100000">
                                          <p:val>
                                            <p:strVal val="#ppt_w"/>
                                          </p:val>
                                        </p:tav>
                                      </p:tavLst>
                                    </p:anim>
                                    <p:anim calcmode="lin" valueType="num">
                                      <p:cBhvr>
                                        <p:cTn id="23" dur="500" fill="hold"/>
                                        <p:tgtEl>
                                          <p:spTgt spid="343043"/>
                                        </p:tgtEl>
                                        <p:attrNameLst>
                                          <p:attrName>ppt_h</p:attrName>
                                        </p:attrNameLst>
                                      </p:cBhvr>
                                      <p:tavLst>
                                        <p:tav tm="0">
                                          <p:val>
                                            <p:fltVal val="0"/>
                                          </p:val>
                                        </p:tav>
                                        <p:tav tm="100000">
                                          <p:val>
                                            <p:strVal val="#ppt_h"/>
                                          </p:val>
                                        </p:tav>
                                      </p:tavLst>
                                    </p:anim>
                                    <p:animEffect transition="in" filter="fade">
                                      <p:cBhvr>
                                        <p:cTn id="24" dur="500"/>
                                        <p:tgtEl>
                                          <p:spTgt spid="343043"/>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995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53" presetClass="entr" presetSubtype="0" fill="hold" nodeType="clickEffect">
                                  <p:stCondLst>
                                    <p:cond delay="0"/>
                                  </p:stCondLst>
                                  <p:childTnLst>
                                    <p:set>
                                      <p:cBhvr>
                                        <p:cTn id="32" dur="1" fill="hold">
                                          <p:stCondLst>
                                            <p:cond delay="0"/>
                                          </p:stCondLst>
                                        </p:cTn>
                                        <p:tgtEl>
                                          <p:spTgt spid="343048"/>
                                        </p:tgtEl>
                                        <p:attrNameLst>
                                          <p:attrName>style.visibility</p:attrName>
                                        </p:attrNameLst>
                                      </p:cBhvr>
                                      <p:to>
                                        <p:strVal val="visible"/>
                                      </p:to>
                                    </p:set>
                                    <p:anim calcmode="lin" valueType="num">
                                      <p:cBhvr>
                                        <p:cTn id="33" dur="500" fill="hold"/>
                                        <p:tgtEl>
                                          <p:spTgt spid="343048"/>
                                        </p:tgtEl>
                                        <p:attrNameLst>
                                          <p:attrName>ppt_w</p:attrName>
                                        </p:attrNameLst>
                                      </p:cBhvr>
                                      <p:tavLst>
                                        <p:tav tm="0">
                                          <p:val>
                                            <p:fltVal val="0"/>
                                          </p:val>
                                        </p:tav>
                                        <p:tav tm="100000">
                                          <p:val>
                                            <p:strVal val="#ppt_w"/>
                                          </p:val>
                                        </p:tav>
                                      </p:tavLst>
                                    </p:anim>
                                    <p:anim calcmode="lin" valueType="num">
                                      <p:cBhvr>
                                        <p:cTn id="34" dur="500" fill="hold"/>
                                        <p:tgtEl>
                                          <p:spTgt spid="343048"/>
                                        </p:tgtEl>
                                        <p:attrNameLst>
                                          <p:attrName>ppt_h</p:attrName>
                                        </p:attrNameLst>
                                      </p:cBhvr>
                                      <p:tavLst>
                                        <p:tav tm="0">
                                          <p:val>
                                            <p:fltVal val="0"/>
                                          </p:val>
                                        </p:tav>
                                        <p:tav tm="100000">
                                          <p:val>
                                            <p:strVal val="#ppt_h"/>
                                          </p:val>
                                        </p:tav>
                                      </p:tavLst>
                                    </p:anim>
                                    <p:animEffect transition="in" filter="fade">
                                      <p:cBhvr>
                                        <p:cTn id="35" dur="500"/>
                                        <p:tgtEl>
                                          <p:spTgt spid="343048"/>
                                        </p:tgtEl>
                                      </p:cBhvr>
                                    </p:animEffect>
                                  </p:childTnLst>
                                </p:cTn>
                              </p:par>
                            </p:childTnLst>
                          </p:cTn>
                        </p:par>
                      </p:childTnLst>
                    </p:cTn>
                  </p:par>
                  <p:par>
                    <p:cTn id="36" fill="hold">
                      <p:stCondLst>
                        <p:cond delay="indefinite"/>
                      </p:stCondLst>
                      <p:childTnLst>
                        <p:par>
                          <p:cTn id="37" fill="hold">
                            <p:stCondLst>
                              <p:cond delay="0"/>
                            </p:stCondLst>
                            <p:childTnLst>
                              <p:par>
                                <p:cTn id="38" presetID="27" presetClass="entr" presetSubtype="0" fill="hold" nodeType="clickEffect">
                                  <p:stCondLst>
                                    <p:cond delay="0"/>
                                  </p:stCondLst>
                                  <p:iterate type="lt">
                                    <p:tmPct val="50000"/>
                                  </p:iterate>
                                  <p:childTnLst>
                                    <p:set>
                                      <p:cBhvr>
                                        <p:cTn id="39" dur="1" fill="hold">
                                          <p:stCondLst>
                                            <p:cond delay="0"/>
                                          </p:stCondLst>
                                        </p:cTn>
                                        <p:tgtEl>
                                          <p:spTgt spid="14">
                                            <p:txEl>
                                              <p:pRg st="0" end="0"/>
                                            </p:txEl>
                                          </p:spTgt>
                                        </p:tgtEl>
                                        <p:attrNameLst>
                                          <p:attrName>style.visibility</p:attrName>
                                        </p:attrNameLst>
                                      </p:cBhvr>
                                      <p:to>
                                        <p:strVal val="visible"/>
                                      </p:to>
                                    </p:set>
                                    <p:anim calcmode="discrete" valueType="clr">
                                      <p:cBhvr override="childStyle">
                                        <p:cTn id="40" dur="80"/>
                                        <p:tgtEl>
                                          <p:spTgt spid="14">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41" dur="80"/>
                                        <p:tgtEl>
                                          <p:spTgt spid="14">
                                            <p:txEl>
                                              <p:pRg st="0" end="0"/>
                                            </p:txEl>
                                          </p:spTgt>
                                        </p:tgtEl>
                                        <p:attrNameLst>
                                          <p:attrName>fillcolor</p:attrName>
                                        </p:attrNameLst>
                                      </p:cBhvr>
                                      <p:tavLst>
                                        <p:tav tm="0">
                                          <p:val>
                                            <p:clrVal>
                                              <a:schemeClr val="accent2"/>
                                            </p:clrVal>
                                          </p:val>
                                        </p:tav>
                                        <p:tav tm="50000">
                                          <p:val>
                                            <p:clrVal>
                                              <a:schemeClr val="hlink"/>
                                            </p:clrVal>
                                          </p:val>
                                        </p:tav>
                                      </p:tavLst>
                                    </p:anim>
                                    <p:set>
                                      <p:cBhvr>
                                        <p:cTn id="42" dur="80"/>
                                        <p:tgtEl>
                                          <p:spTgt spid="14">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457200" y="228600"/>
            <a:ext cx="8305800" cy="1219200"/>
          </a:xfrm>
          <a:prstGeom prst="rect">
            <a:avLst/>
          </a:prstGeom>
        </p:spPr>
        <p:txBody>
          <a:bodyPr/>
          <a:lstStyle/>
          <a:p>
            <a:pPr lvl="0" algn="ctr">
              <a:spcBef>
                <a:spcPct val="0"/>
              </a:spcBef>
              <a:defRPr/>
            </a:pPr>
            <a:r>
              <a:rPr lang="en-US" sz="4400" b="1" dirty="0" smtClean="0">
                <a:solidFill>
                  <a:schemeClr val="tx2"/>
                </a:solidFill>
              </a:rPr>
              <a:t>Baseball Home Field Advantage</a:t>
            </a:r>
            <a:endParaRPr lang="en-US" sz="4000" b="1" dirty="0">
              <a:solidFill>
                <a:schemeClr val="tx2"/>
              </a:solidFill>
            </a:endParaRPr>
          </a:p>
        </p:txBody>
      </p:sp>
      <p:pic>
        <p:nvPicPr>
          <p:cNvPr id="40968"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500188"/>
            <a:ext cx="6096000" cy="3857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408400989"/>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PQuestion"/>
          <p:cNvSpPr>
            <a:spLocks noGrp="1"/>
          </p:cNvSpPr>
          <p:nvPr>
            <p:ph type="title" idx="4294967295"/>
          </p:nvPr>
        </p:nvSpPr>
        <p:spPr>
          <a:xfrm>
            <a:off x="0" y="76200"/>
            <a:ext cx="9144000" cy="2286000"/>
          </a:xfrm>
        </p:spPr>
        <p:txBody>
          <a:bodyPr>
            <a:noAutofit/>
          </a:bodyPr>
          <a:lstStyle/>
          <a:p>
            <a:r>
              <a:rPr lang="en-US" sz="3200" b="1" dirty="0" smtClean="0"/>
              <a:t>In a random sample of 500 US citizens, 280 plan to vote in the upcoming election.  We want to test to see if this provides evidence that the proportion of US citizens who plan to vote is greater than half.  Is this test:  </a:t>
            </a:r>
            <a:endParaRPr lang="en-US" sz="3200" b="1" dirty="0"/>
          </a:p>
        </p:txBody>
      </p:sp>
      <p:sp>
        <p:nvSpPr>
          <p:cNvPr id="3" name="TPAnswers"/>
          <p:cNvSpPr>
            <a:spLocks noGrp="1"/>
          </p:cNvSpPr>
          <p:nvPr>
            <p:ph sz="quarter" idx="4294967295"/>
            <p:custDataLst>
              <p:tags r:id="rId2"/>
            </p:custDataLst>
          </p:nvPr>
        </p:nvSpPr>
        <p:spPr>
          <a:xfrm>
            <a:off x="0" y="2667000"/>
            <a:ext cx="4114800" cy="2819400"/>
          </a:xfrm>
        </p:spPr>
        <p:txBody>
          <a:bodyPr/>
          <a:lstStyle/>
          <a:p>
            <a:pPr marL="514350" indent="-514350">
              <a:buFont typeface="Wingdings"/>
              <a:buAutoNum type="alphaUcPeriod"/>
            </a:pPr>
            <a:r>
              <a:rPr lang="en-US" sz="3200" dirty="0" smtClean="0"/>
              <a:t>Right-tailed</a:t>
            </a:r>
            <a:endParaRPr lang="en-US" sz="3200" dirty="0"/>
          </a:p>
          <a:p>
            <a:pPr marL="514350" indent="-514350">
              <a:buFont typeface="Wingdings"/>
              <a:buAutoNum type="alphaUcPeriod"/>
            </a:pPr>
            <a:r>
              <a:rPr lang="en-US" sz="3200" dirty="0"/>
              <a:t>Left-tailed</a:t>
            </a:r>
          </a:p>
          <a:p>
            <a:pPr marL="514350" indent="-514350">
              <a:buFont typeface="Wingdings"/>
              <a:buAutoNum type="alphaUcPeriod"/>
            </a:pPr>
            <a:r>
              <a:rPr lang="en-US" sz="3200" dirty="0"/>
              <a:t>Two-tailed</a:t>
            </a:r>
          </a:p>
          <a:p>
            <a:pPr marL="514350" indent="-514350">
              <a:buFont typeface="Wingdings"/>
              <a:buAutoNum type="alphaUcPeriod"/>
            </a:pPr>
            <a:r>
              <a:rPr lang="en-US" sz="3200" dirty="0" smtClean="0"/>
              <a:t>No-tailed</a:t>
            </a:r>
            <a:endParaRPr lang="en-US" sz="3200" dirty="0"/>
          </a:p>
        </p:txBody>
      </p:sp>
    </p:spTree>
    <p:custDataLst>
      <p:tags r:id="rId1"/>
    </p:custDataLst>
    <p:extLst>
      <p:ext uri="{BB962C8B-B14F-4D97-AF65-F5344CB8AC3E}">
        <p14:creationId xmlns:p14="http://schemas.microsoft.com/office/powerpoint/2010/main" val="248457719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PAnswers"/>
          <p:cNvSpPr>
            <a:spLocks noGrp="1"/>
          </p:cNvSpPr>
          <p:nvPr>
            <p:ph sz="quarter" idx="4294967295"/>
            <p:custDataLst>
              <p:tags r:id="rId3"/>
            </p:custDataLst>
          </p:nvPr>
        </p:nvSpPr>
        <p:spPr>
          <a:xfrm>
            <a:off x="0" y="2667000"/>
            <a:ext cx="4114800" cy="2819400"/>
          </a:xfrm>
        </p:spPr>
        <p:txBody>
          <a:bodyPr>
            <a:normAutofit lnSpcReduction="10000"/>
          </a:bodyPr>
          <a:lstStyle/>
          <a:p>
            <a:pPr marL="514350" indent="-514350">
              <a:buAutoNum type="alphaUcPeriod"/>
            </a:pPr>
            <a:r>
              <a:rPr lang="en-US" sz="3200" dirty="0"/>
              <a:t>0.0222</a:t>
            </a:r>
          </a:p>
          <a:p>
            <a:pPr marL="514350" indent="-514350">
              <a:buAutoNum type="alphaUcPeriod"/>
            </a:pPr>
            <a:r>
              <a:rPr lang="en-US" sz="3200" dirty="0"/>
              <a:t>0.0365</a:t>
            </a:r>
          </a:p>
          <a:p>
            <a:pPr marL="514350" indent="-514350">
              <a:buAutoNum type="alphaUcPeriod"/>
            </a:pPr>
            <a:r>
              <a:rPr lang="en-US" sz="3200" dirty="0"/>
              <a:t>0.02236</a:t>
            </a:r>
          </a:p>
          <a:p>
            <a:pPr marL="514350" indent="-514350">
              <a:buAutoNum type="alphaUcPeriod"/>
            </a:pPr>
            <a:r>
              <a:rPr lang="en-US" sz="3200" dirty="0"/>
              <a:t>0.04</a:t>
            </a:r>
          </a:p>
          <a:p>
            <a:pPr marL="514350" indent="-514350">
              <a:buAutoNum type="alphaUcPeriod"/>
            </a:pPr>
            <a:r>
              <a:rPr lang="en-US" sz="3200" dirty="0"/>
              <a:t>0.06329</a:t>
            </a:r>
          </a:p>
        </p:txBody>
      </p:sp>
      <p:sp>
        <p:nvSpPr>
          <p:cNvPr id="2" name="TPQuestion"/>
          <p:cNvSpPr>
            <a:spLocks noGrp="1"/>
          </p:cNvSpPr>
          <p:nvPr>
            <p:ph type="title" idx="4294967295"/>
          </p:nvPr>
        </p:nvSpPr>
        <p:spPr>
          <a:xfrm>
            <a:off x="0" y="76200"/>
            <a:ext cx="9144000" cy="2286000"/>
          </a:xfrm>
        </p:spPr>
        <p:txBody>
          <a:bodyPr>
            <a:noAutofit/>
          </a:bodyPr>
          <a:lstStyle/>
          <a:p>
            <a:r>
              <a:rPr lang="en-US" sz="3200" b="1" dirty="0"/>
              <a:t>In a random sample of 500 US citizens, 280 plan to vote in the upcoming election.  We want to test to see if this provides evidence that the proportion of US citizens who plan to vote is greater than half.  What is the standard error for the test?</a:t>
            </a:r>
            <a:r>
              <a:rPr lang="en-US" sz="3200" b="1" dirty="0" smtClean="0"/>
              <a:t>  </a:t>
            </a:r>
            <a:endParaRPr lang="en-US" sz="3200" b="1" dirty="0"/>
          </a:p>
        </p:txBody>
      </p:sp>
      <p:graphicFrame>
        <p:nvGraphicFramePr>
          <p:cNvPr id="4" name="Object 3"/>
          <p:cNvGraphicFramePr>
            <a:graphicFrameLocks noChangeAspect="1"/>
          </p:cNvGraphicFramePr>
          <p:nvPr>
            <p:extLst>
              <p:ext uri="{D42A27DB-BD31-4B8C-83A1-F6EECF244321}">
                <p14:modId xmlns:p14="http://schemas.microsoft.com/office/powerpoint/2010/main" val="1640907672"/>
              </p:ext>
            </p:extLst>
          </p:nvPr>
        </p:nvGraphicFramePr>
        <p:xfrm>
          <a:off x="3276600" y="2618824"/>
          <a:ext cx="2438400" cy="1080271"/>
        </p:xfrm>
        <a:graphic>
          <a:graphicData uri="http://schemas.openxmlformats.org/presentationml/2006/ole">
            <mc:AlternateContent xmlns:mc="http://schemas.openxmlformats.org/markup-compatibility/2006">
              <mc:Choice xmlns:v="urn:schemas-microsoft-com:vml" Requires="v">
                <p:oleObj spid="_x0000_s32782" name="Equation" r:id="rId6" imgW="1002865" imgH="444307" progId="Equation.DSMT4">
                  <p:embed/>
                </p:oleObj>
              </mc:Choice>
              <mc:Fallback>
                <p:oleObj name="Equation" r:id="rId6" imgW="1002865" imgH="444307"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618824"/>
                        <a:ext cx="2438400" cy="1080271"/>
                      </a:xfrm>
                      <a:prstGeom prst="rect">
                        <a:avLst/>
                      </a:prstGeom>
                      <a:noFill/>
                      <a:ln w="25400">
                        <a:solidFill>
                          <a:schemeClr val="accent2">
                            <a:lumMod val="75000"/>
                          </a:schemeClr>
                        </a:solidFill>
                        <a:miter lim="800000"/>
                        <a:headEnd/>
                        <a:tailEnd/>
                      </a:ln>
                    </p:spPr>
                  </p:pic>
                </p:oleObj>
              </mc:Fallback>
            </mc:AlternateContent>
          </a:graphicData>
        </a:graphic>
      </p:graphicFrame>
    </p:spTree>
    <p:custDataLst>
      <p:tags r:id="rId2"/>
    </p:custDataLst>
    <p:extLst>
      <p:ext uri="{BB962C8B-B14F-4D97-AF65-F5344CB8AC3E}">
        <p14:creationId xmlns:p14="http://schemas.microsoft.com/office/powerpoint/2010/main" val="259245210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PAnswers"/>
          <p:cNvSpPr>
            <a:spLocks noGrp="1"/>
          </p:cNvSpPr>
          <p:nvPr>
            <p:ph sz="quarter" idx="4294967295"/>
            <p:custDataLst>
              <p:tags r:id="rId3"/>
            </p:custDataLst>
          </p:nvPr>
        </p:nvSpPr>
        <p:spPr>
          <a:xfrm>
            <a:off x="0" y="2667000"/>
            <a:ext cx="4114800" cy="2819400"/>
          </a:xfrm>
        </p:spPr>
        <p:txBody>
          <a:bodyPr>
            <a:normAutofit lnSpcReduction="10000"/>
          </a:bodyPr>
          <a:lstStyle/>
          <a:p>
            <a:pPr marL="514350" indent="-514350">
              <a:buAutoNum type="alphaUcPeriod"/>
            </a:pPr>
            <a:r>
              <a:rPr lang="en-US" sz="3200" dirty="0"/>
              <a:t>2.703</a:t>
            </a:r>
          </a:p>
          <a:p>
            <a:pPr marL="514350" indent="-514350">
              <a:buAutoNum type="alphaUcPeriod"/>
            </a:pPr>
            <a:r>
              <a:rPr lang="en-US" sz="3200" dirty="0"/>
              <a:t>25.225</a:t>
            </a:r>
          </a:p>
          <a:p>
            <a:pPr marL="514350" indent="-514350">
              <a:buAutoNum type="alphaUcPeriod"/>
            </a:pPr>
            <a:r>
              <a:rPr lang="en-US" sz="3200" dirty="0"/>
              <a:t>25.045</a:t>
            </a:r>
          </a:p>
          <a:p>
            <a:pPr marL="514350" indent="-514350">
              <a:buAutoNum type="alphaUcPeriod"/>
            </a:pPr>
            <a:r>
              <a:rPr lang="en-US" sz="3200" dirty="0"/>
              <a:t>2.683</a:t>
            </a:r>
          </a:p>
          <a:p>
            <a:pPr marL="514350" indent="-514350">
              <a:buAutoNum type="alphaUcPeriod"/>
            </a:pPr>
            <a:r>
              <a:rPr lang="en-US" sz="3200" dirty="0" smtClean="0"/>
              <a:t>0.05</a:t>
            </a:r>
            <a:endParaRPr lang="en-US" sz="3200" dirty="0"/>
          </a:p>
        </p:txBody>
      </p:sp>
      <p:sp>
        <p:nvSpPr>
          <p:cNvPr id="2" name="TPQuestion"/>
          <p:cNvSpPr>
            <a:spLocks noGrp="1"/>
          </p:cNvSpPr>
          <p:nvPr>
            <p:ph type="title" idx="4294967295"/>
          </p:nvPr>
        </p:nvSpPr>
        <p:spPr>
          <a:xfrm>
            <a:off x="0" y="76200"/>
            <a:ext cx="9144000" cy="2286000"/>
          </a:xfrm>
        </p:spPr>
        <p:txBody>
          <a:bodyPr>
            <a:noAutofit/>
          </a:bodyPr>
          <a:lstStyle/>
          <a:p>
            <a:r>
              <a:rPr lang="en-US" sz="3200" b="1" dirty="0"/>
              <a:t>In a random sample of 500 US citizens, 280 plan to vote in the upcoming election.  We want to test to see if this provides evidence that the proportion of US citizens who plan to vote is greater than half.  What is the test statistic?</a:t>
            </a:r>
            <a:r>
              <a:rPr lang="en-US" sz="3200" b="1" dirty="0" smtClean="0"/>
              <a:t>  </a:t>
            </a:r>
            <a:endParaRPr lang="en-US" sz="3200" b="1" dirty="0"/>
          </a:p>
        </p:txBody>
      </p:sp>
      <p:graphicFrame>
        <p:nvGraphicFramePr>
          <p:cNvPr id="5" name="Object 4"/>
          <p:cNvGraphicFramePr>
            <a:graphicFrameLocks noChangeAspect="1"/>
          </p:cNvGraphicFramePr>
          <p:nvPr>
            <p:extLst>
              <p:ext uri="{D42A27DB-BD31-4B8C-83A1-F6EECF244321}">
                <p14:modId xmlns:p14="http://schemas.microsoft.com/office/powerpoint/2010/main" val="714116264"/>
              </p:ext>
            </p:extLst>
          </p:nvPr>
        </p:nvGraphicFramePr>
        <p:xfrm>
          <a:off x="3048000" y="2621318"/>
          <a:ext cx="2667000" cy="1645882"/>
        </p:xfrm>
        <a:graphic>
          <a:graphicData uri="http://schemas.openxmlformats.org/presentationml/2006/ole">
            <mc:AlternateContent xmlns:mc="http://schemas.openxmlformats.org/markup-compatibility/2006">
              <mc:Choice xmlns:v="urn:schemas-microsoft-com:vml" Requires="v">
                <p:oleObj spid="_x0000_s33806" name="Equation" r:id="rId6" imgW="1028254" imgH="634725" progId="Equation.DSMT4">
                  <p:embed/>
                </p:oleObj>
              </mc:Choice>
              <mc:Fallback>
                <p:oleObj name="Equation" r:id="rId6" imgW="1028254" imgH="634725"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0" y="2621318"/>
                        <a:ext cx="2667000" cy="1645882"/>
                      </a:xfrm>
                      <a:prstGeom prst="rect">
                        <a:avLst/>
                      </a:prstGeom>
                      <a:noFill/>
                      <a:ln w="25400">
                        <a:solidFill>
                          <a:schemeClr val="accent2">
                            <a:lumMod val="75000"/>
                          </a:schemeClr>
                        </a:solidFill>
                        <a:miter lim="800000"/>
                        <a:headEnd/>
                        <a:tailEnd/>
                      </a:ln>
                    </p:spPr>
                  </p:pic>
                </p:oleObj>
              </mc:Fallback>
            </mc:AlternateContent>
          </a:graphicData>
        </a:graphic>
      </p:graphicFrame>
    </p:spTree>
    <p:custDataLst>
      <p:tags r:id="rId2"/>
    </p:custDataLst>
    <p:extLst>
      <p:ext uri="{BB962C8B-B14F-4D97-AF65-F5344CB8AC3E}">
        <p14:creationId xmlns:p14="http://schemas.microsoft.com/office/powerpoint/2010/main" val="308163707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PAnswers"/>
          <p:cNvSpPr>
            <a:spLocks noGrp="1"/>
          </p:cNvSpPr>
          <p:nvPr>
            <p:ph sz="quarter" idx="4294967295"/>
            <p:custDataLst>
              <p:tags r:id="rId2"/>
            </p:custDataLst>
          </p:nvPr>
        </p:nvSpPr>
        <p:spPr>
          <a:xfrm>
            <a:off x="61111" y="2438400"/>
            <a:ext cx="2377289" cy="2819400"/>
          </a:xfrm>
        </p:spPr>
        <p:txBody>
          <a:bodyPr>
            <a:normAutofit lnSpcReduction="10000"/>
          </a:bodyPr>
          <a:lstStyle/>
          <a:p>
            <a:pPr marL="514350" indent="-514350">
              <a:buAutoNum type="alphaUcPeriod"/>
            </a:pPr>
            <a:r>
              <a:rPr lang="en-US" sz="3200" dirty="0"/>
              <a:t>0.0072</a:t>
            </a:r>
          </a:p>
          <a:p>
            <a:pPr marL="514350" indent="-514350">
              <a:buAutoNum type="alphaUcPeriod"/>
            </a:pPr>
            <a:r>
              <a:rPr lang="en-US" sz="3200" dirty="0"/>
              <a:t>0.0036</a:t>
            </a:r>
          </a:p>
          <a:p>
            <a:pPr marL="514350" indent="-514350">
              <a:buAutoNum type="alphaUcPeriod"/>
            </a:pPr>
            <a:r>
              <a:rPr lang="en-US" sz="3200" dirty="0"/>
              <a:t>0.036</a:t>
            </a:r>
          </a:p>
          <a:p>
            <a:pPr marL="514350" indent="-514350">
              <a:buAutoNum type="alphaUcPeriod"/>
            </a:pPr>
            <a:r>
              <a:rPr lang="en-US" sz="3200" dirty="0"/>
              <a:t>0.072</a:t>
            </a:r>
          </a:p>
          <a:p>
            <a:pPr marL="514350" indent="-514350">
              <a:buAutoNum type="alphaUcPeriod"/>
            </a:pPr>
            <a:r>
              <a:rPr lang="en-US" sz="3200" dirty="0"/>
              <a:t>0.05</a:t>
            </a:r>
          </a:p>
        </p:txBody>
      </p:sp>
      <p:sp>
        <p:nvSpPr>
          <p:cNvPr id="2" name="TPQuestion"/>
          <p:cNvSpPr>
            <a:spLocks noGrp="1"/>
          </p:cNvSpPr>
          <p:nvPr>
            <p:ph type="title" idx="4294967295"/>
          </p:nvPr>
        </p:nvSpPr>
        <p:spPr>
          <a:xfrm>
            <a:off x="0" y="76200"/>
            <a:ext cx="9144000" cy="2286000"/>
          </a:xfrm>
        </p:spPr>
        <p:txBody>
          <a:bodyPr>
            <a:noAutofit/>
          </a:bodyPr>
          <a:lstStyle/>
          <a:p>
            <a:r>
              <a:rPr lang="en-US" sz="3200" b="1" dirty="0"/>
              <a:t>In a random sample of 500 US citizens, 280 plan to vote in the upcoming election.  We want to test to see if this provides evidence that the proportion of US citizens who plan to vote is greater than half.  The test statistic is </a:t>
            </a:r>
            <a:r>
              <a:rPr lang="en-US" sz="3200" b="1" i="1" dirty="0"/>
              <a:t>z</a:t>
            </a:r>
            <a:r>
              <a:rPr lang="en-US" sz="3200" b="1" i="1" dirty="0" smtClean="0"/>
              <a:t>=          </a:t>
            </a:r>
            <a:r>
              <a:rPr lang="en-US" sz="3200" b="1" dirty="0" smtClean="0"/>
              <a:t>. </a:t>
            </a:r>
            <a:r>
              <a:rPr lang="en-US" sz="3200" b="1" dirty="0"/>
              <a:t>What is the p-value?</a:t>
            </a:r>
            <a:r>
              <a:rPr lang="en-US" sz="3200" b="1" dirty="0" smtClean="0"/>
              <a:t> </a:t>
            </a:r>
            <a:endParaRPr lang="en-US" sz="3200" b="1" dirty="0"/>
          </a:p>
        </p:txBody>
      </p:sp>
      <p:sp>
        <p:nvSpPr>
          <p:cNvPr id="4" name="TextBox 3"/>
          <p:cNvSpPr txBox="1"/>
          <p:nvPr/>
        </p:nvSpPr>
        <p:spPr>
          <a:xfrm>
            <a:off x="3429000" y="2574202"/>
            <a:ext cx="1676400" cy="584775"/>
          </a:xfrm>
          <a:prstGeom prst="rect">
            <a:avLst/>
          </a:prstGeom>
          <a:noFill/>
        </p:spPr>
        <p:txBody>
          <a:bodyPr wrap="square" rtlCol="0">
            <a:spAutoFit/>
          </a:bodyPr>
          <a:lstStyle/>
          <a:p>
            <a:pPr algn="ctr"/>
            <a:r>
              <a:rPr lang="en-US" sz="3200" dirty="0" err="1" smtClean="0">
                <a:hlinkClick r:id="rId5"/>
              </a:rPr>
              <a:t>StatKey</a:t>
            </a:r>
            <a:endParaRPr lang="en-US" sz="3200" dirty="0"/>
          </a:p>
        </p:txBody>
      </p:sp>
    </p:spTree>
    <p:custDataLst>
      <p:tags r:id="rId1"/>
    </p:custDataLst>
    <p:extLst>
      <p:ext uri="{BB962C8B-B14F-4D97-AF65-F5344CB8AC3E}">
        <p14:creationId xmlns:p14="http://schemas.microsoft.com/office/powerpoint/2010/main" val="139642151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PAnswers"/>
          <p:cNvSpPr>
            <a:spLocks noGrp="1"/>
          </p:cNvSpPr>
          <p:nvPr>
            <p:ph sz="quarter" idx="4294967295"/>
            <p:custDataLst>
              <p:tags r:id="rId2"/>
            </p:custDataLst>
          </p:nvPr>
        </p:nvSpPr>
        <p:spPr>
          <a:xfrm>
            <a:off x="-6789" y="2401808"/>
            <a:ext cx="6490580" cy="4456191"/>
          </a:xfrm>
        </p:spPr>
        <p:txBody>
          <a:bodyPr>
            <a:noAutofit/>
          </a:bodyPr>
          <a:lstStyle/>
          <a:p>
            <a:pPr marL="514350" indent="-514350">
              <a:buAutoNum type="alphaUcPeriod"/>
            </a:pPr>
            <a:r>
              <a:rPr lang="en-US" sz="2700" dirty="0"/>
              <a:t>Reject H</a:t>
            </a:r>
            <a:r>
              <a:rPr lang="en-US" sz="2700" baseline="-25000" dirty="0"/>
              <a:t>0</a:t>
            </a:r>
            <a:r>
              <a:rPr lang="en-US" sz="2700" dirty="0"/>
              <a:t> and conclude that more than half of US citizens plan to vote.</a:t>
            </a:r>
          </a:p>
          <a:p>
            <a:pPr marL="514350" indent="-514350">
              <a:buAutoNum type="alphaUcPeriod"/>
            </a:pPr>
            <a:r>
              <a:rPr lang="en-US" sz="2700" dirty="0"/>
              <a:t>Reject H</a:t>
            </a:r>
            <a:r>
              <a:rPr lang="en-US" sz="2700" baseline="-25000" dirty="0"/>
              <a:t>0</a:t>
            </a:r>
            <a:r>
              <a:rPr lang="en-US" sz="2700" dirty="0"/>
              <a:t> and conclude that it is not true that more than half of US citizens plan to vote.</a:t>
            </a:r>
          </a:p>
          <a:p>
            <a:pPr marL="514350" indent="-514350">
              <a:buAutoNum type="alphaUcPeriod"/>
            </a:pPr>
            <a:r>
              <a:rPr lang="en-US" sz="2700" dirty="0"/>
              <a:t>Do not reject H</a:t>
            </a:r>
            <a:r>
              <a:rPr lang="en-US" sz="2700" baseline="-25000" dirty="0"/>
              <a:t>0</a:t>
            </a:r>
            <a:r>
              <a:rPr lang="en-US" sz="2700" dirty="0"/>
              <a:t> and conclude that more than half of US citizens plan to vote.  </a:t>
            </a:r>
          </a:p>
          <a:p>
            <a:pPr marL="514350" indent="-514350">
              <a:buFontTx/>
              <a:buAutoNum type="alphaUcPeriod"/>
            </a:pPr>
            <a:r>
              <a:rPr lang="en-US" sz="2700" dirty="0"/>
              <a:t>Do not reject H</a:t>
            </a:r>
            <a:r>
              <a:rPr lang="en-US" sz="2700" baseline="-25000" dirty="0"/>
              <a:t>0</a:t>
            </a:r>
            <a:r>
              <a:rPr lang="en-US" sz="2700" dirty="0"/>
              <a:t> and conclude that it is not true that more than half of US citizens plan to vote</a:t>
            </a:r>
            <a:r>
              <a:rPr lang="en-US" sz="2700" dirty="0" smtClean="0"/>
              <a:t>.</a:t>
            </a:r>
            <a:endParaRPr lang="en-US" sz="2700" dirty="0"/>
          </a:p>
        </p:txBody>
      </p:sp>
      <p:sp>
        <p:nvSpPr>
          <p:cNvPr id="2" name="TPQuestion"/>
          <p:cNvSpPr>
            <a:spLocks noGrp="1"/>
          </p:cNvSpPr>
          <p:nvPr>
            <p:ph type="title" idx="4294967295"/>
          </p:nvPr>
        </p:nvSpPr>
        <p:spPr>
          <a:xfrm>
            <a:off x="0" y="76200"/>
            <a:ext cx="9144000" cy="2286000"/>
          </a:xfrm>
        </p:spPr>
        <p:txBody>
          <a:bodyPr>
            <a:noAutofit/>
          </a:bodyPr>
          <a:lstStyle/>
          <a:p>
            <a:r>
              <a:rPr lang="en-US" sz="3200" b="1" dirty="0"/>
              <a:t>In a random sample of 500 US citizens, 280 plan to vote in the upcoming election.  We want to test to see if this provides evidence that the proportion of US citizens who plan to vote is greater than half.  What is the conclusion at a 5% level?</a:t>
            </a:r>
            <a:r>
              <a:rPr lang="en-US" sz="3200" b="1" dirty="0" smtClean="0"/>
              <a:t>  </a:t>
            </a:r>
            <a:endParaRPr lang="en-US" sz="3200" b="1" dirty="0"/>
          </a:p>
        </p:txBody>
      </p:sp>
    </p:spTree>
    <p:custDataLst>
      <p:tags r:id="rId1"/>
    </p:custDataLst>
    <p:extLst>
      <p:ext uri="{BB962C8B-B14F-4D97-AF65-F5344CB8AC3E}">
        <p14:creationId xmlns:p14="http://schemas.microsoft.com/office/powerpoint/2010/main" val="247513845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0" y="1524000"/>
                <a:ext cx="9144000" cy="5334000"/>
              </a:xfrm>
            </p:spPr>
            <p:txBody>
              <a:bodyPr/>
              <a:lstStyle/>
              <a:p>
                <a:r>
                  <a:rPr lang="en-US" sz="2800" b="1" dirty="0" smtClean="0">
                    <a:solidFill>
                      <a:schemeClr val="accent5">
                        <a:lumMod val="75000"/>
                      </a:schemeClr>
                    </a:solidFill>
                  </a:rPr>
                  <a:t>Standard error </a:t>
                </a:r>
                <a:r>
                  <a:rPr lang="en-US" sz="2800" dirty="0" smtClean="0"/>
                  <a:t>for a sample proportion: </a:t>
                </a:r>
                <a14:m>
                  <m:oMath xmlns:m="http://schemas.openxmlformats.org/officeDocument/2006/math">
                    <m:rad>
                      <m:radPr>
                        <m:degHide m:val="on"/>
                        <m:ctrlPr>
                          <a:rPr lang="en-US" sz="2800" i="1" smtClean="0">
                            <a:latin typeface="Cambria Math"/>
                          </a:rPr>
                        </m:ctrlPr>
                      </m:radPr>
                      <m:deg/>
                      <m:e>
                        <m:f>
                          <m:fPr>
                            <m:ctrlPr>
                              <a:rPr lang="en-US" sz="2800" i="1" smtClean="0">
                                <a:latin typeface="Cambria Math"/>
                              </a:rPr>
                            </m:ctrlPr>
                          </m:fPr>
                          <m:num>
                            <m:r>
                              <a:rPr lang="en-US" sz="2800" b="0" i="1" smtClean="0">
                                <a:latin typeface="Cambria Math"/>
                              </a:rPr>
                              <m:t>𝑝</m:t>
                            </m:r>
                            <m:d>
                              <m:dPr>
                                <m:ctrlPr>
                                  <a:rPr lang="en-US" sz="2800" b="0" i="1" smtClean="0">
                                    <a:latin typeface="Cambria Math"/>
                                  </a:rPr>
                                </m:ctrlPr>
                              </m:dPr>
                              <m:e>
                                <m:r>
                                  <a:rPr lang="en-US" sz="2800" b="0" i="1" smtClean="0">
                                    <a:latin typeface="Cambria Math"/>
                                  </a:rPr>
                                  <m:t>1−</m:t>
                                </m:r>
                                <m:r>
                                  <a:rPr lang="en-US" sz="2800" b="0" i="1" smtClean="0">
                                    <a:latin typeface="Cambria Math"/>
                                  </a:rPr>
                                  <m:t>𝑝</m:t>
                                </m:r>
                              </m:e>
                            </m:d>
                          </m:num>
                          <m:den>
                            <m:r>
                              <a:rPr lang="en-US" sz="2800" b="0" i="1" smtClean="0">
                                <a:latin typeface="Cambria Math"/>
                              </a:rPr>
                              <m:t>𝑛</m:t>
                            </m:r>
                          </m:den>
                        </m:f>
                      </m:e>
                    </m:rad>
                  </m:oMath>
                </a14:m>
                <a:endParaRPr lang="en-US" sz="2800" dirty="0" smtClean="0"/>
              </a:p>
              <a:p>
                <a:r>
                  <a:rPr lang="en-US" sz="2800" b="1" dirty="0" smtClean="0">
                    <a:solidFill>
                      <a:schemeClr val="accent5">
                        <a:lumMod val="75000"/>
                      </a:schemeClr>
                    </a:solidFill>
                  </a:rPr>
                  <a:t>Central </a:t>
                </a:r>
                <a:r>
                  <a:rPr lang="en-US" sz="2800" b="1" dirty="0">
                    <a:solidFill>
                      <a:schemeClr val="accent5">
                        <a:lumMod val="75000"/>
                      </a:schemeClr>
                    </a:solidFill>
                  </a:rPr>
                  <a:t>Limit Theorem for </a:t>
                </a:r>
                <a:r>
                  <a:rPr lang="en-US" sz="2800" b="1" dirty="0" smtClean="0">
                    <a:solidFill>
                      <a:schemeClr val="accent5">
                        <a:lumMod val="75000"/>
                      </a:schemeClr>
                    </a:solidFill>
                  </a:rPr>
                  <a:t>a proportion:</a:t>
                </a:r>
                <a:r>
                  <a:rPr lang="en-US" sz="2800" dirty="0" smtClean="0"/>
                  <a:t>  </a:t>
                </a:r>
                <a:r>
                  <a:rPr lang="en-US" sz="2800" dirty="0" smtClean="0">
                    <a:solidFill>
                      <a:prstClr val="black"/>
                    </a:solidFill>
                    <a:cs typeface="Times New Roman" pitchFamily="18" charset="0"/>
                  </a:rPr>
                  <a:t>If </a:t>
                </a:r>
                <a:r>
                  <a:rPr lang="en-US" sz="2800" dirty="0">
                    <a:solidFill>
                      <a:prstClr val="black"/>
                    </a:solidFill>
                    <a:cs typeface="Times New Roman" pitchFamily="18" charset="0"/>
                  </a:rPr>
                  <a:t>counts for each category are at least 10 </a:t>
                </a:r>
                <a:r>
                  <a:rPr lang="en-US" sz="2800" dirty="0" smtClean="0">
                    <a:solidFill>
                      <a:prstClr val="black"/>
                    </a:solidFill>
                    <a:cs typeface="Times New Roman" pitchFamily="18" charset="0"/>
                  </a:rPr>
                  <a:t>(meaning </a:t>
                </a:r>
                <a:r>
                  <a:rPr lang="en-US" sz="2800" i="1" dirty="0" smtClean="0">
                    <a:solidFill>
                      <a:prstClr val="black"/>
                    </a:solidFill>
                    <a:cs typeface="Times New Roman" pitchFamily="18" charset="0"/>
                  </a:rPr>
                  <a:t>np</a:t>
                </a:r>
                <a:r>
                  <a:rPr lang="en-US" sz="2800" dirty="0" smtClean="0">
                    <a:solidFill>
                      <a:prstClr val="black"/>
                    </a:solidFill>
                    <a:cs typeface="Times New Roman" pitchFamily="18" charset="0"/>
                  </a:rPr>
                  <a:t> </a:t>
                </a:r>
                <a:r>
                  <a:rPr lang="en-US" sz="2800" dirty="0">
                    <a:solidFill>
                      <a:prstClr val="black"/>
                    </a:solidFill>
                    <a:cs typeface="Times New Roman" pitchFamily="18" charset="0"/>
                  </a:rPr>
                  <a:t>≥ 10 and n(1 – p) ≥ 10), </a:t>
                </a:r>
                <a:r>
                  <a:rPr lang="en-US" sz="2800" dirty="0" smtClean="0">
                    <a:solidFill>
                      <a:prstClr val="black"/>
                    </a:solidFill>
                    <a:cs typeface="Times New Roman" pitchFamily="18" charset="0"/>
                  </a:rPr>
                  <a:t>then </a:t>
                </a:r>
                <a14:m>
                  <m:oMath xmlns:m="http://schemas.openxmlformats.org/officeDocument/2006/math">
                    <m:acc>
                      <m:accPr>
                        <m:chr m:val="̂"/>
                        <m:ctrlPr>
                          <a:rPr lang="en-US" sz="2800" i="1" smtClean="0">
                            <a:solidFill>
                              <a:prstClr val="black"/>
                            </a:solidFill>
                            <a:latin typeface="Cambria Math"/>
                            <a:cs typeface="Times New Roman" pitchFamily="18" charset="0"/>
                          </a:rPr>
                        </m:ctrlPr>
                      </m:accPr>
                      <m:e>
                        <m:r>
                          <a:rPr lang="en-US" sz="2800" b="0" i="1" smtClean="0">
                            <a:solidFill>
                              <a:prstClr val="black"/>
                            </a:solidFill>
                            <a:latin typeface="Cambria Math"/>
                            <a:cs typeface="Times New Roman" pitchFamily="18" charset="0"/>
                          </a:rPr>
                          <m:t>𝑝</m:t>
                        </m:r>
                      </m:e>
                    </m:acc>
                    <m:r>
                      <a:rPr lang="en-US" sz="2800" i="1" smtClean="0">
                        <a:solidFill>
                          <a:prstClr val="black"/>
                        </a:solidFill>
                        <a:latin typeface="Cambria Math"/>
                        <a:ea typeface="Cambria Math"/>
                        <a:cs typeface="Times New Roman" pitchFamily="18" charset="0"/>
                      </a:rPr>
                      <m:t>≈</m:t>
                    </m:r>
                    <m:r>
                      <a:rPr lang="en-US" sz="2800" b="0" i="1" smtClean="0">
                        <a:solidFill>
                          <a:prstClr val="black"/>
                        </a:solidFill>
                        <a:latin typeface="Cambria Math"/>
                        <a:ea typeface="Cambria Math"/>
                        <a:cs typeface="Times New Roman" pitchFamily="18" charset="0"/>
                      </a:rPr>
                      <m:t>𝑁</m:t>
                    </m:r>
                    <m:d>
                      <m:dPr>
                        <m:ctrlPr>
                          <a:rPr lang="en-US" sz="2800" b="0" i="1" smtClean="0">
                            <a:solidFill>
                              <a:prstClr val="black"/>
                            </a:solidFill>
                            <a:latin typeface="Cambria Math"/>
                            <a:ea typeface="Cambria Math"/>
                            <a:cs typeface="Times New Roman" pitchFamily="18" charset="0"/>
                          </a:rPr>
                        </m:ctrlPr>
                      </m:dPr>
                      <m:e>
                        <m:r>
                          <a:rPr lang="en-US" sz="2800" b="0" i="1" smtClean="0">
                            <a:solidFill>
                              <a:prstClr val="black"/>
                            </a:solidFill>
                            <a:latin typeface="Cambria Math"/>
                            <a:ea typeface="Cambria Math"/>
                            <a:cs typeface="Times New Roman" pitchFamily="18" charset="0"/>
                          </a:rPr>
                          <m:t>𝑝</m:t>
                        </m:r>
                        <m:r>
                          <a:rPr lang="en-US" sz="2800" b="0" i="1" smtClean="0">
                            <a:solidFill>
                              <a:prstClr val="black"/>
                            </a:solidFill>
                            <a:latin typeface="Cambria Math"/>
                            <a:ea typeface="Cambria Math"/>
                            <a:cs typeface="Times New Roman" pitchFamily="18" charset="0"/>
                          </a:rPr>
                          <m:t>,</m:t>
                        </m:r>
                        <m:rad>
                          <m:radPr>
                            <m:degHide m:val="on"/>
                            <m:ctrlPr>
                              <a:rPr lang="en-US" sz="2800" b="0" i="1" smtClean="0">
                                <a:solidFill>
                                  <a:prstClr val="black"/>
                                </a:solidFill>
                                <a:latin typeface="Cambria Math"/>
                                <a:ea typeface="Cambria Math"/>
                                <a:cs typeface="Times New Roman" pitchFamily="18" charset="0"/>
                              </a:rPr>
                            </m:ctrlPr>
                          </m:radPr>
                          <m:deg/>
                          <m:e>
                            <m:f>
                              <m:fPr>
                                <m:ctrlPr>
                                  <a:rPr lang="en-US" sz="2800" b="0" i="1" smtClean="0">
                                    <a:solidFill>
                                      <a:prstClr val="black"/>
                                    </a:solidFill>
                                    <a:latin typeface="Cambria Math"/>
                                    <a:ea typeface="Cambria Math"/>
                                    <a:cs typeface="Times New Roman" pitchFamily="18" charset="0"/>
                                  </a:rPr>
                                </m:ctrlPr>
                              </m:fPr>
                              <m:num>
                                <m:r>
                                  <a:rPr lang="en-US" sz="2800" b="0" i="1" smtClean="0">
                                    <a:solidFill>
                                      <a:prstClr val="black"/>
                                    </a:solidFill>
                                    <a:latin typeface="Cambria Math"/>
                                    <a:ea typeface="Cambria Math"/>
                                    <a:cs typeface="Times New Roman" pitchFamily="18" charset="0"/>
                                  </a:rPr>
                                  <m:t>𝑝</m:t>
                                </m:r>
                                <m:d>
                                  <m:dPr>
                                    <m:ctrlPr>
                                      <a:rPr lang="en-US" sz="2800" b="0" i="1" smtClean="0">
                                        <a:solidFill>
                                          <a:prstClr val="black"/>
                                        </a:solidFill>
                                        <a:latin typeface="Cambria Math"/>
                                        <a:ea typeface="Cambria Math"/>
                                        <a:cs typeface="Times New Roman" pitchFamily="18" charset="0"/>
                                      </a:rPr>
                                    </m:ctrlPr>
                                  </m:dPr>
                                  <m:e>
                                    <m:r>
                                      <a:rPr lang="en-US" sz="2800" b="0" i="1" smtClean="0">
                                        <a:solidFill>
                                          <a:prstClr val="black"/>
                                        </a:solidFill>
                                        <a:latin typeface="Cambria Math"/>
                                        <a:ea typeface="Cambria Math"/>
                                        <a:cs typeface="Times New Roman" pitchFamily="18" charset="0"/>
                                      </a:rPr>
                                      <m:t>1−</m:t>
                                    </m:r>
                                    <m:r>
                                      <a:rPr lang="en-US" sz="2800" b="0" i="1" smtClean="0">
                                        <a:solidFill>
                                          <a:prstClr val="black"/>
                                        </a:solidFill>
                                        <a:latin typeface="Cambria Math"/>
                                        <a:ea typeface="Cambria Math"/>
                                        <a:cs typeface="Times New Roman" pitchFamily="18" charset="0"/>
                                      </a:rPr>
                                      <m:t>𝑝</m:t>
                                    </m:r>
                                  </m:e>
                                </m:d>
                              </m:num>
                              <m:den>
                                <m:r>
                                  <a:rPr lang="en-US" sz="2800" b="0" i="1" smtClean="0">
                                    <a:solidFill>
                                      <a:prstClr val="black"/>
                                    </a:solidFill>
                                    <a:latin typeface="Cambria Math"/>
                                    <a:ea typeface="Cambria Math"/>
                                    <a:cs typeface="Times New Roman" pitchFamily="18" charset="0"/>
                                  </a:rPr>
                                  <m:t>𝑛</m:t>
                                </m:r>
                              </m:den>
                            </m:f>
                          </m:e>
                        </m:rad>
                      </m:e>
                    </m:d>
                  </m:oMath>
                </a14:m>
                <a:r>
                  <a:rPr lang="en-US" sz="2800" dirty="0">
                    <a:solidFill>
                      <a:prstClr val="black"/>
                    </a:solidFill>
                    <a:cs typeface="Times New Roman" pitchFamily="18" charset="0"/>
                  </a:rPr>
                  <a:t>.</a:t>
                </a:r>
              </a:p>
              <a:p>
                <a:pPr lvl="1"/>
                <a:r>
                  <a:rPr lang="en-US" sz="2800" b="1" dirty="0" smtClean="0">
                    <a:solidFill>
                      <a:schemeClr val="accent5">
                        <a:lumMod val="75000"/>
                      </a:schemeClr>
                    </a:solidFill>
                    <a:cs typeface="Times New Roman" pitchFamily="18" charset="0"/>
                  </a:rPr>
                  <a:t>For a CI</a:t>
                </a:r>
                <a:r>
                  <a:rPr lang="en-US" sz="2800" dirty="0" smtClean="0">
                    <a:solidFill>
                      <a:prstClr val="black"/>
                    </a:solidFill>
                    <a:cs typeface="Times New Roman" pitchFamily="18" charset="0"/>
                  </a:rPr>
                  <a:t>, use </a:t>
                </a:r>
                <a14:m>
                  <m:oMath xmlns:m="http://schemas.openxmlformats.org/officeDocument/2006/math">
                    <m:acc>
                      <m:accPr>
                        <m:chr m:val="̂"/>
                        <m:ctrlPr>
                          <a:rPr lang="en-US" sz="2800" i="1" smtClean="0">
                            <a:solidFill>
                              <a:prstClr val="black"/>
                            </a:solidFill>
                            <a:latin typeface="Cambria Math"/>
                            <a:cs typeface="Times New Roman" pitchFamily="18" charset="0"/>
                          </a:rPr>
                        </m:ctrlPr>
                      </m:accPr>
                      <m:e>
                        <m:r>
                          <a:rPr lang="en-US" sz="2800" b="0" i="1" smtClean="0">
                            <a:solidFill>
                              <a:prstClr val="black"/>
                            </a:solidFill>
                            <a:latin typeface="Cambria Math"/>
                            <a:cs typeface="Times New Roman" pitchFamily="18" charset="0"/>
                          </a:rPr>
                          <m:t>𝑝</m:t>
                        </m:r>
                      </m:e>
                    </m:acc>
                  </m:oMath>
                </a14:m>
                <a:r>
                  <a:rPr lang="en-US" sz="2800" dirty="0" smtClean="0"/>
                  <a:t> in place of p:	       </a:t>
                </a:r>
                <a14:m>
                  <m:oMath xmlns:m="http://schemas.openxmlformats.org/officeDocument/2006/math">
                    <m:acc>
                      <m:accPr>
                        <m:chr m:val="̂"/>
                        <m:ctrlPr>
                          <a:rPr lang="en-US" sz="2800" i="1" smtClean="0">
                            <a:latin typeface="Cambria Math"/>
                          </a:rPr>
                        </m:ctrlPr>
                      </m:accPr>
                      <m:e>
                        <m:r>
                          <a:rPr lang="en-US" sz="2800" b="0" i="1" smtClean="0">
                            <a:latin typeface="Cambria Math"/>
                          </a:rPr>
                          <m:t>𝑝</m:t>
                        </m:r>
                      </m:e>
                    </m:acc>
                    <m:r>
                      <a:rPr lang="en-US" sz="2800" i="1" smtClean="0">
                        <a:latin typeface="Cambria Math"/>
                        <a:ea typeface="Cambria Math"/>
                      </a:rPr>
                      <m:t>±</m:t>
                    </m:r>
                    <m:sSup>
                      <m:sSupPr>
                        <m:ctrlPr>
                          <a:rPr lang="en-US" sz="2800" i="1" smtClean="0">
                            <a:latin typeface="Cambria Math"/>
                            <a:ea typeface="Cambria Math"/>
                          </a:rPr>
                        </m:ctrlPr>
                      </m:sSupPr>
                      <m:e>
                        <m:r>
                          <a:rPr lang="en-US" sz="2800" b="0" i="1" smtClean="0">
                            <a:latin typeface="Cambria Math"/>
                            <a:ea typeface="Cambria Math"/>
                          </a:rPr>
                          <m:t>𝑧</m:t>
                        </m:r>
                      </m:e>
                      <m:sup>
                        <m:r>
                          <a:rPr lang="en-US" sz="2800" b="0" i="1" smtClean="0">
                            <a:latin typeface="Cambria Math"/>
                            <a:ea typeface="Cambria Math"/>
                          </a:rPr>
                          <m:t>∗</m:t>
                        </m:r>
                      </m:sup>
                    </m:sSup>
                    <m:r>
                      <a:rPr lang="en-US" sz="2800" i="1" smtClean="0">
                        <a:latin typeface="Cambria Math"/>
                        <a:ea typeface="Cambria Math"/>
                      </a:rPr>
                      <m:t>×</m:t>
                    </m:r>
                    <m:rad>
                      <m:radPr>
                        <m:degHide m:val="on"/>
                        <m:ctrlPr>
                          <a:rPr lang="en-US" sz="2800" i="1" smtClean="0">
                            <a:latin typeface="Cambria Math"/>
                            <a:ea typeface="Cambria Math"/>
                          </a:rPr>
                        </m:ctrlPr>
                      </m:radPr>
                      <m:deg/>
                      <m:e>
                        <m:f>
                          <m:fPr>
                            <m:ctrlPr>
                              <a:rPr lang="en-US" sz="2800" i="1" smtClean="0">
                                <a:latin typeface="Cambria Math"/>
                                <a:ea typeface="Cambria Math"/>
                              </a:rPr>
                            </m:ctrlPr>
                          </m:fPr>
                          <m:num>
                            <m:acc>
                              <m:accPr>
                                <m:chr m:val="̂"/>
                                <m:ctrlPr>
                                  <a:rPr lang="en-US" sz="2800" i="1" smtClean="0">
                                    <a:latin typeface="Cambria Math"/>
                                    <a:ea typeface="Cambria Math"/>
                                  </a:rPr>
                                </m:ctrlPr>
                              </m:accPr>
                              <m:e>
                                <m:r>
                                  <a:rPr lang="en-US" sz="2800" b="0" i="1" smtClean="0">
                                    <a:latin typeface="Cambria Math"/>
                                    <a:ea typeface="Cambria Math"/>
                                  </a:rPr>
                                  <m:t>𝑝</m:t>
                                </m:r>
                              </m:e>
                            </m:acc>
                            <m:d>
                              <m:dPr>
                                <m:ctrlPr>
                                  <a:rPr lang="en-US" sz="2800" i="1" smtClean="0">
                                    <a:latin typeface="Cambria Math"/>
                                  </a:rPr>
                                </m:ctrlPr>
                              </m:dPr>
                              <m:e>
                                <m:r>
                                  <a:rPr lang="en-US" sz="2800" b="0" i="1" smtClean="0">
                                    <a:latin typeface="Cambria Math"/>
                                  </a:rPr>
                                  <m:t>1−</m:t>
                                </m:r>
                                <m:acc>
                                  <m:accPr>
                                    <m:chr m:val="̂"/>
                                    <m:ctrlPr>
                                      <a:rPr lang="en-US" sz="2800" b="0" i="1" smtClean="0">
                                        <a:latin typeface="Cambria Math"/>
                                      </a:rPr>
                                    </m:ctrlPr>
                                  </m:accPr>
                                  <m:e>
                                    <m:r>
                                      <a:rPr lang="en-US" sz="2800" b="0" i="1" smtClean="0">
                                        <a:latin typeface="Cambria Math"/>
                                      </a:rPr>
                                      <m:t>𝑝</m:t>
                                    </m:r>
                                  </m:e>
                                </m:acc>
                              </m:e>
                            </m:d>
                          </m:num>
                          <m:den>
                            <m:r>
                              <a:rPr lang="en-US" sz="2800" b="0" i="1" smtClean="0">
                                <a:latin typeface="Cambria Math"/>
                                <a:ea typeface="Cambria Math"/>
                              </a:rPr>
                              <m:t>𝑛</m:t>
                            </m:r>
                          </m:den>
                        </m:f>
                      </m:e>
                    </m:rad>
                  </m:oMath>
                </a14:m>
                <a:endParaRPr lang="en-US" sz="2800" dirty="0" smtClean="0"/>
              </a:p>
              <a:p>
                <a:pPr lvl="1"/>
                <a:r>
                  <a:rPr lang="en-US" sz="2800" b="1" dirty="0" smtClean="0">
                    <a:solidFill>
                      <a:schemeClr val="accent5">
                        <a:lumMod val="75000"/>
                      </a:schemeClr>
                    </a:solidFill>
                  </a:rPr>
                  <a:t>For a Hypothesis Test</a:t>
                </a:r>
                <a:r>
                  <a:rPr lang="en-US" sz="2800" dirty="0" smtClean="0"/>
                  <a:t>, use </a:t>
                </a:r>
                <a14:m>
                  <m:oMath xmlns:m="http://schemas.openxmlformats.org/officeDocument/2006/math">
                    <m:sSub>
                      <m:sSubPr>
                        <m:ctrlPr>
                          <a:rPr lang="en-US" sz="2800" i="1" smtClean="0">
                            <a:latin typeface="Cambria Math"/>
                          </a:rPr>
                        </m:ctrlPr>
                      </m:sSubPr>
                      <m:e>
                        <m:r>
                          <a:rPr lang="en-US" sz="2800" b="0" i="1" smtClean="0">
                            <a:latin typeface="Cambria Math"/>
                          </a:rPr>
                          <m:t>𝑝</m:t>
                        </m:r>
                      </m:e>
                      <m:sub>
                        <m:r>
                          <a:rPr lang="en-US" sz="2800" b="0" i="1" smtClean="0">
                            <a:latin typeface="Cambria Math"/>
                          </a:rPr>
                          <m:t>0</m:t>
                        </m:r>
                      </m:sub>
                    </m:sSub>
                  </m:oMath>
                </a14:m>
                <a:r>
                  <a:rPr lang="en-US" sz="2800" dirty="0" smtClean="0"/>
                  <a:t> in place of p when calculating the standardized statistic:   </a:t>
                </a:r>
                <a14:m>
                  <m:oMath xmlns:m="http://schemas.openxmlformats.org/officeDocument/2006/math">
                    <m:r>
                      <a:rPr lang="en-US" sz="2800" b="0" i="1" smtClean="0">
                        <a:latin typeface="Cambria Math"/>
                      </a:rPr>
                      <m:t>𝑧</m:t>
                    </m:r>
                    <m:r>
                      <a:rPr lang="en-US" sz="2800" b="0" i="0" smtClean="0">
                        <a:latin typeface="Cambria Math"/>
                      </a:rPr>
                      <m:t>=</m:t>
                    </m:r>
                    <m:f>
                      <m:fPr>
                        <m:ctrlPr>
                          <a:rPr lang="en-US" sz="2800" i="1" smtClean="0">
                            <a:latin typeface="Cambria Math"/>
                          </a:rPr>
                        </m:ctrlPr>
                      </m:fPr>
                      <m:num>
                        <m:acc>
                          <m:accPr>
                            <m:chr m:val="̂"/>
                            <m:ctrlPr>
                              <a:rPr lang="en-US" sz="2800" i="1" smtClean="0">
                                <a:latin typeface="Cambria Math"/>
                              </a:rPr>
                            </m:ctrlPr>
                          </m:accPr>
                          <m:e>
                            <m:r>
                              <a:rPr lang="en-US" sz="2800" b="0" i="1" smtClean="0">
                                <a:latin typeface="Cambria Math"/>
                              </a:rPr>
                              <m:t>𝑝</m:t>
                            </m:r>
                          </m:e>
                        </m:acc>
                        <m:r>
                          <a:rPr lang="en-US" sz="2800" b="0" i="1" smtClean="0">
                            <a:latin typeface="Cambria Math"/>
                          </a:rPr>
                          <m:t>−</m:t>
                        </m:r>
                        <m:sSub>
                          <m:sSubPr>
                            <m:ctrlPr>
                              <a:rPr lang="en-US" sz="2800" b="0" i="1" smtClean="0">
                                <a:latin typeface="Cambria Math"/>
                              </a:rPr>
                            </m:ctrlPr>
                          </m:sSubPr>
                          <m:e>
                            <m:r>
                              <a:rPr lang="en-US" sz="2800" b="0" i="1" smtClean="0">
                                <a:latin typeface="Cambria Math"/>
                              </a:rPr>
                              <m:t>𝑝</m:t>
                            </m:r>
                          </m:e>
                          <m:sub>
                            <m:r>
                              <a:rPr lang="en-US" sz="2800" b="0" i="1" smtClean="0">
                                <a:latin typeface="Cambria Math"/>
                              </a:rPr>
                              <m:t>0</m:t>
                            </m:r>
                          </m:sub>
                        </m:sSub>
                      </m:num>
                      <m:den>
                        <m:rad>
                          <m:radPr>
                            <m:degHide m:val="on"/>
                            <m:ctrlPr>
                              <a:rPr lang="en-US" sz="2800" i="1" smtClean="0">
                                <a:latin typeface="Cambria Math"/>
                              </a:rPr>
                            </m:ctrlPr>
                          </m:radPr>
                          <m:deg/>
                          <m:e>
                            <m:f>
                              <m:fPr>
                                <m:ctrlPr>
                                  <a:rPr lang="en-US" sz="2800" i="1" smtClean="0">
                                    <a:latin typeface="Cambria Math"/>
                                  </a:rPr>
                                </m:ctrlPr>
                              </m:fPr>
                              <m:num>
                                <m:sSub>
                                  <m:sSubPr>
                                    <m:ctrlPr>
                                      <a:rPr lang="en-US" sz="2800" i="1" smtClean="0">
                                        <a:latin typeface="Cambria Math"/>
                                      </a:rPr>
                                    </m:ctrlPr>
                                  </m:sSubPr>
                                  <m:e>
                                    <m:r>
                                      <a:rPr lang="en-US" sz="2800" b="0" i="1" smtClean="0">
                                        <a:latin typeface="Cambria Math"/>
                                      </a:rPr>
                                      <m:t>𝑝</m:t>
                                    </m:r>
                                  </m:e>
                                  <m:sub>
                                    <m:r>
                                      <a:rPr lang="en-US" sz="2800" b="0" i="1" smtClean="0">
                                        <a:latin typeface="Cambria Math"/>
                                      </a:rPr>
                                      <m:t>0</m:t>
                                    </m:r>
                                  </m:sub>
                                </m:sSub>
                                <m:d>
                                  <m:dPr>
                                    <m:ctrlPr>
                                      <a:rPr lang="en-US" sz="2800" i="1" smtClean="0">
                                        <a:latin typeface="Cambria Math"/>
                                      </a:rPr>
                                    </m:ctrlPr>
                                  </m:dPr>
                                  <m:e>
                                    <m:r>
                                      <a:rPr lang="en-US" sz="2800" b="0" i="1" smtClean="0">
                                        <a:latin typeface="Cambria Math"/>
                                      </a:rPr>
                                      <m:t>1−</m:t>
                                    </m:r>
                                    <m:sSub>
                                      <m:sSubPr>
                                        <m:ctrlPr>
                                          <a:rPr lang="en-US" sz="2800" b="0" i="1" smtClean="0">
                                            <a:latin typeface="Cambria Math"/>
                                          </a:rPr>
                                        </m:ctrlPr>
                                      </m:sSubPr>
                                      <m:e>
                                        <m:r>
                                          <a:rPr lang="en-US" sz="2800" b="0" i="1" smtClean="0">
                                            <a:latin typeface="Cambria Math"/>
                                          </a:rPr>
                                          <m:t>𝑝</m:t>
                                        </m:r>
                                      </m:e>
                                      <m:sub>
                                        <m:r>
                                          <a:rPr lang="en-US" sz="2800" b="0" i="1" smtClean="0">
                                            <a:latin typeface="Cambria Math"/>
                                          </a:rPr>
                                          <m:t>0</m:t>
                                        </m:r>
                                      </m:sub>
                                    </m:sSub>
                                  </m:e>
                                </m:d>
                              </m:num>
                              <m:den>
                                <m:r>
                                  <a:rPr lang="en-US" sz="2800" b="0" i="1" smtClean="0">
                                    <a:latin typeface="Cambria Math"/>
                                  </a:rPr>
                                  <m:t>𝑛</m:t>
                                </m:r>
                              </m:den>
                            </m:f>
                          </m:e>
                        </m:rad>
                      </m:den>
                    </m:f>
                  </m:oMath>
                </a14:m>
                <a:endParaRPr lang="en-US" sz="2800"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0" y="1524000"/>
                <a:ext cx="9144000" cy="5334000"/>
              </a:xfrm>
              <a:blipFill rotWithShape="1">
                <a:blip r:embed="rId3"/>
                <a:stretch>
                  <a:fillRect l="-267"/>
                </a:stretch>
              </a:blipFill>
            </p:spPr>
            <p:txBody>
              <a:bodyPr/>
              <a:lstStyle/>
              <a:p>
                <a:r>
                  <a:rPr lang="en-US">
                    <a:noFill/>
                  </a:rPr>
                  <a:t> </a:t>
                </a:r>
              </a:p>
            </p:txBody>
          </p:sp>
        </mc:Fallback>
      </mc:AlternateContent>
      <p:sp>
        <p:nvSpPr>
          <p:cNvPr id="2" name="Title 1"/>
          <p:cNvSpPr>
            <a:spLocks noGrp="1"/>
          </p:cNvSpPr>
          <p:nvPr>
            <p:ph type="title"/>
          </p:nvPr>
        </p:nvSpPr>
        <p:spPr>
          <a:xfrm>
            <a:off x="609600" y="286693"/>
            <a:ext cx="8153400" cy="990600"/>
          </a:xfrm>
        </p:spPr>
        <p:txBody>
          <a:bodyPr>
            <a:normAutofit/>
          </a:bodyPr>
          <a:lstStyle/>
          <a:p>
            <a:pPr lvl="0"/>
            <a:r>
              <a:rPr lang="en-US" b="1" dirty="0" smtClean="0"/>
              <a:t>Summary</a:t>
            </a:r>
            <a:endParaRPr lang="en-US" dirty="0"/>
          </a:p>
        </p:txBody>
      </p:sp>
    </p:spTree>
    <p:custDataLst>
      <p:tags r:id="rId1"/>
    </p:custDataLst>
    <p:extLst>
      <p:ext uri="{BB962C8B-B14F-4D97-AF65-F5344CB8AC3E}">
        <p14:creationId xmlns:p14="http://schemas.microsoft.com/office/powerpoint/2010/main" val="41773790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POWERPOINTVERSION" val="14.0"/>
  <p:tag name="PPVERSION" val="14.0"/>
  <p:tag name="DELIMITERS" val="3.1"/>
  <p:tag name="TASKPANEKEY" val="2c8b635c-af51-4353-889e-16ff1785ad44"/>
  <p:tag name="SHOWBARVISIBLE" val="True"/>
  <p:tag name="USESECONDARYMONITOR" val="True"/>
  <p:tag name="SAVECSVWITHSESSION" val="True"/>
  <p:tag name="CSVFORMAT" val="0"/>
  <p:tag name="BULLETTYPE" val="3"/>
  <p:tag name="ANSWERNOWSTYLE" val="-1"/>
  <p:tag name="ANSWERNOWTEXT" val="Answer Now"/>
  <p:tag name="COUNTDOWNSTYLE" val="-1"/>
  <p:tag name="RESPCOUNTERSTYLE" val="-1"/>
  <p:tag name="RESPCOUNTERFORMAT" val="0"/>
  <p:tag name="RESPTABLESTYLE" val="-1"/>
  <p:tag name="COUNTDOWNSECONDS" val="10"/>
  <p:tag name="INPUTSOURCE" val="1"/>
  <p:tag name="NUMRESPONSES" val="1"/>
  <p:tag name="ALLOWDUPLICATES" val="False"/>
  <p:tag name="BACKUPSESSIONS" val="True"/>
  <p:tag name="BACKUPMAINTENANCE" val="7"/>
  <p:tag name="CHARTVALUEFORMAT" val="0%"/>
  <p:tag name="AUTOADVANCE" val="False"/>
  <p:tag name="REVIEWONLY" val="False"/>
  <p:tag name="ROTATIONINTERVAL" val="2"/>
  <p:tag name="AUTOUPDATEALIASES" val="True"/>
  <p:tag name="STDCHART" val="1"/>
  <p:tag name="RACEENDPOINTS" val="100"/>
  <p:tag name="RACERSMAXDISPLAYED" val="5"/>
  <p:tag name="RACEANIMATIONSPEED" val="3"/>
  <p:tag name="SKIPREMAININGRACESLIDES" val="True"/>
  <p:tag name="PARTICIPANTSINLEADERBOARD" val="5"/>
  <p:tag name="TEAMSINLEADERBOARD" val="5"/>
  <p:tag name="MAXRESPONDERS" val="5"/>
  <p:tag name="BUBBLENAMEVISIBLE" val="True"/>
  <p:tag name="BUBBLESIZEVISIBLE" val="True"/>
  <p:tag name="BUBBLEVALUEFORMAT" val="0.0"/>
  <p:tag name="BUBBLEGROUPING" val="3"/>
  <p:tag name="DEFAULTNUMTEAMS" val="5"/>
  <p:tag name="CUSTOMGRIDBACKCOLOR" val="-2830136"/>
  <p:tag name="CUSTOMCELLFORECOLOR" val="-16777216"/>
  <p:tag name="CUSTOMCELLBACKCOLOR1" val="-657956"/>
  <p:tag name="CUSTOMCELLBACKCOLOR2" val="-13395457"/>
  <p:tag name="CUSTOMCELLBACKCOLOR3" val="-268652"/>
  <p:tag name="CUSTOMCELLBACKCOLOR4" val="-8355712"/>
  <p:tag name="USESCHEMECOLORS" val="True"/>
  <p:tag name="DISPLAYNAME" val="True"/>
  <p:tag name="DISPLAYDEVICENUMBER" val="True"/>
  <p:tag name="DISPLAYDEVICEID" val="True"/>
  <p:tag name="GRIDOPACITY" val="90"/>
  <p:tag name="GRIDROTATIONINTERVAL" val="2"/>
  <p:tag name="AUTOSIZEGRID" val="True"/>
  <p:tag name="GRIDSIZE" val="{Width=800, Height=600}"/>
  <p:tag name="GRIDPOSITION" val="1"/>
  <p:tag name="GRIDFONTSIZE" val="12"/>
  <p:tag name="POLLINGCYCLE" val="2"/>
  <p:tag name="CHARTCOLORS" val="0"/>
  <p:tag name="CHARTLABELS" val="0"/>
  <p:tag name="RESETCHARTS" val="True"/>
  <p:tag name="INCLUDENONRESPONDERS" val="False"/>
  <p:tag name="MULTIRESPDIVISOR" val="1"/>
  <p:tag name="INCLUDEPPT" val="True"/>
  <p:tag name="ALLOWUSERFEEDBACK" val="True"/>
  <p:tag name="CORRECTPOINTVALUE" val="100"/>
  <p:tag name="INCORRECTPOINTVALUE" val="0"/>
  <p:tag name="REALTIMEBACKUP" val="False"/>
  <p:tag name="REALTIMEBACKUPPATH" val="(None)"/>
  <p:tag name="ZEROBASED" val="False"/>
  <p:tag name="AUTOADJUSTPARTRANGE" val="True"/>
  <p:tag name="CHARTSCALE" val="True"/>
  <p:tag name="ADVANCEDSETTINGSVIEW" val="False"/>
  <p:tag name="FIBDISPLAYRESULTS" val="True"/>
  <p:tag name="FIBNUMRESULTS" val="5"/>
  <p:tag name="FIBINCLUDEOTHER" val="True"/>
  <p:tag name="FIBDISPLAYKEYWORDS" val="True"/>
  <p:tag name="PRRESPONSE1" val="10"/>
  <p:tag name="PRRESPONSE2" val="9"/>
  <p:tag name="PRRESPONSE3" val="8"/>
  <p:tag name="PRRESPONSE4" val="7"/>
  <p:tag name="PRRESPONSE5" val="6"/>
  <p:tag name="PRRESPONSE6" val="5"/>
  <p:tag name="PRRESPONSE7" val="4"/>
  <p:tag name="PRRESPONSE8" val="3"/>
  <p:tag name="PRRESPONSE9" val="2"/>
  <p:tag name="PRRESPONSE10" val="1"/>
  <p:tag name="SHOWFLASHWARNING" val="True"/>
  <p:tag name="ALWAYSOPENPOLL" val="False"/>
  <p:tag name="INCLUDESESSION" val="True"/>
  <p:tag name="EXPANDSHOWBAR" val="True"/>
  <p:tag name="TPPRESENTATIONGUID" val="87c1a612-9234-4bb0-b51b-c50e1a311c60"/>
  <p:tag name="WASPOLLED" val="0419E026E5BA4C40BC833A391A67F497"/>
  <p:tag name="TPVERSION" val="6"/>
  <p:tag name="TPFULLVERSION" val="7.4.0.111"/>
  <p:tag name="PPTVERSION" val="14"/>
  <p:tag name="TPOS" val="2"/>
  <p:tag name="TPLASTSAVEVERSION" val="6.2 PC"/>
</p:tagLst>
</file>

<file path=ppt/tags/tag2.xml><?xml version="1.0" encoding="utf-8"?>
<p:tagLst xmlns:a="http://schemas.openxmlformats.org/drawingml/2006/main" xmlns:r="http://schemas.openxmlformats.org/officeDocument/2006/relationships" xmlns:p="http://schemas.openxmlformats.org/presentationml/2006/main">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 name="DELIMITERS" val="3.1"/>
  <p:tag name="SLIDEGUID" val="260B202CCE6047A69EA90FFBE6C1BE38"/>
  <p:tag name="SLIDEID" val="260B202CCE6047A69EA90FFBE6C1BE38"/>
  <p:tag name="SLIDEORDER" val="1"/>
  <p:tag name="SLIDETYPE" val="Q"/>
  <p:tag name="DEMOGRAPHIC" val="False"/>
  <p:tag name="SPEEDSCORING" val="False"/>
  <p:tag name="CORRECTPOINTVALUE" val="100"/>
  <p:tag name="INCORRECTPOINTVALUE" val="0"/>
  <p:tag name="ZEROBASED" val="False"/>
  <p:tag name="QUESTIONALIAS" val="The Central Limit Theorem applies to the distribution of the"/>
  <p:tag name="VALUEFORMAT" val="0%"/>
  <p:tag name="ANSWERSALIAS" val="statistic|smicln|parameter|smicln|null value|smicln|data|smicln|standard error"/>
  <p:tag name="VALUES" val="No Value|smicln|No Value|smicln|No Value|smicln|No Value|smicln|No Value"/>
  <p:tag name="TOTALRESPONSES" val="0"/>
  <p:tag name="RESPONSESGATHERED" val="False"/>
  <p:tag name="ANONYMOUSTEMP" val="False"/>
  <p:tag name="TYPE" val="MultiChoiceSlide"/>
  <p:tag name="TPQUESTIONXML" val="﻿&lt;?xml version=&quot;1.0&quot; encoding=&quot;utf-8&quot;?&gt;&#10;&lt;questionlist&gt;&#10;    &lt;properties&gt;&#10;        &lt;guid&gt;A311B02F5D834748B8D523F82268D1B0&lt;/guid&gt;&#10;        &lt;description /&gt;&#10;        &lt;date&gt;8/1/2017 8:27:15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724F6570ACC74069939D1DA0ED388BC6&lt;/guid&gt;&#10;            &lt;repollguid&gt;C1B4E069AEFE490683B643506BDFC79D&lt;/repollguid&gt;&#10;            &lt;sourceid&gt;FDA0C99FD4F447309F8783617C5F447A&lt;/sourceid&gt;&#10;            &lt;questiontext&gt;The Central Limit Theorem applies to the distribution of the&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E800E3729C2944BC9BD7A88CEB9B522D&lt;/guid&gt;&#10;                    &lt;answertext&gt;statistic&lt;/answertext&gt;&#10;                    &lt;valuetype&gt;0&lt;/valuetype&gt;&#10;                &lt;/answer&gt;&#10;                &lt;answer&gt;&#10;                    &lt;guid&gt;709D898D64CA441EB58239575CB698F0&lt;/guid&gt;&#10;                    &lt;answertext&gt;parameter&lt;/answertext&gt;&#10;                    &lt;valuetype&gt;0&lt;/valuetype&gt;&#10;                &lt;/answer&gt;&#10;                &lt;answer&gt;&#10;                    &lt;guid&gt;184986BC9FDF4DF48043EF85E077A627&lt;/guid&gt;&#10;                    &lt;answertext&gt;null value&lt;/answertext&gt;&#10;                    &lt;valuetype&gt;0&lt;/valuetype&gt;&#10;                &lt;/answer&gt;&#10;                &lt;answer&gt;&#10;                    &lt;guid&gt;624F5F36815B486E86D65A29BE11E9B2&lt;/guid&gt;&#10;                    &lt;answertext&gt;data&lt;/answertext&gt;&#10;                    &lt;valuetype&gt;0&lt;/valuetype&gt;&#10;                &lt;/answer&gt;&#10;                &lt;answer&gt;&#10;                    &lt;guid&gt;0BBB4925EE35455F999609F19C674574&lt;/guid&gt;&#10;                    &lt;answertext&gt;standard error&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4.xml><?xml version="1.0" encoding="utf-8"?>
<p:tagLst xmlns:a="http://schemas.openxmlformats.org/drawingml/2006/main" xmlns:r="http://schemas.openxmlformats.org/officeDocument/2006/relationships" xmlns:p="http://schemas.openxmlformats.org/presentationml/2006/main">
  <p:tag name="ANSWERBULLETS" val="3"/>
  <p:tag name="OLDNUMANSWERS" val="5"/>
  <p:tag name="TEXTLENGTH" val="50"/>
  <p:tag name="FONTSIZE" val="32"/>
  <p:tag name="BULLETTYPE" val="ppBulletArabicPeriod"/>
  <p:tag name="ANSWERTEXT" val="statistic&#10;parameter&#10;null value&#10;data&#10;standard error"/>
  <p:tag name="ZEROBASED" val="False"/>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5.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6.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1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1.xml><?xml version="1.0" encoding="utf-8"?>
<p:tagLst xmlns:a="http://schemas.openxmlformats.org/drawingml/2006/main" xmlns:r="http://schemas.openxmlformats.org/officeDocument/2006/relationships" xmlns:p="http://schemas.openxmlformats.org/presentationml/2006/main">
  <p:tag name="NOPREFERENCE" val="False"/>
  <p:tag name="DELIMITERS" val="3.1"/>
  <p:tag name="SLIDEGUID" val="C7698A8DC1A640AAB30C40EFD6E5260F"/>
  <p:tag name="SLIDEID" val="C7698A8DC1A640AAB30C40EFD6E5260F"/>
  <p:tag name="SLIDEORDER" val="1"/>
  <p:tag name="SLIDETYPE" val="Q"/>
  <p:tag name="DEMOGRAPHIC" val="False"/>
  <p:tag name="SPEEDSCORING" val="False"/>
  <p:tag name="CORRECTPOINTVALUE" val="100"/>
  <p:tag name="INCORRECTPOINTVALUE" val="0"/>
  <p:tag name="ZEROBASED" val="False"/>
  <p:tag name="QUESTIONALIAS" val="For a single proportion, what is the margin of error?"/>
  <p:tag name="VALUEFORMAT" val="0%"/>
  <p:tag name="ANSWERSALIAS" val=" |smicln| |smicln| "/>
  <p:tag name="VALUES" val="No Value|smicln|No Value|smicln|No Value"/>
  <p:tag name="TOTALRESPONSES" val="0"/>
  <p:tag name="RESPONSESGATHERED" val="False"/>
  <p:tag name="ANONYMOUSTEMP" val="False"/>
  <p:tag name="TYPE" val="MultiChoiceSlide"/>
  <p:tag name="TPQUESTIONXML" val="﻿&lt;?xml version=&quot;1.0&quot; encoding=&quot;utf-8&quot;?&gt;&#10;&lt;questionlist&gt;&#10;    &lt;properties&gt;&#10;        &lt;guid&gt;20081CFCD999459880FC07E447C8FA01&lt;/guid&gt;&#10;        &lt;description /&gt;&#10;        &lt;date&gt;8/1/2017 8:27:15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6A3EF660FC3F4108AED4E514437B100E&lt;/guid&gt;&#10;            &lt;repollguid&gt;CEC581C629DE43CE989C77923AB1D921&lt;/repollguid&gt;&#10;            &lt;sourceid&gt;6E5E6B745D1C4D27B309ED9E8CA57B5D&lt;/sourceid&gt;&#10;            &lt;questiontext&gt;For a single proportion, what is the margin of error?&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5D74B3DB13A74AF8A890A5B9C521D7B8&lt;/guid&gt;&#10;                    &lt;answertext&gt;  &lt;/answertext&gt;&#10;                    &lt;valuetype&gt;0&lt;/valuetype&gt;&#10;                &lt;/answer&gt;&#10;                &lt;answer&gt;&#10;                    &lt;guid&gt;445BE754797D441198AC52AE3C1FAF5B&lt;/guid&gt;&#10;                    &lt;answertext&gt;  &lt;/answertext&gt;&#10;                    &lt;valuetype&gt;0&lt;/valuetype&gt;&#10;                &lt;/answer&gt;&#10;                &lt;answer&gt;&#10;                    &lt;guid&gt;EDF2C17876A048C291C70C8591FB0161&lt;/guid&gt;&#10;                    &lt;answertext&gt; &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22.xml><?xml version="1.0" encoding="utf-8"?>
<p:tagLst xmlns:a="http://schemas.openxmlformats.org/drawingml/2006/main" xmlns:r="http://schemas.openxmlformats.org/officeDocument/2006/relationships" xmlns:p="http://schemas.openxmlformats.org/presentationml/2006/main">
  <p:tag name="ANSWERBULLETS" val="3"/>
  <p:tag name="OLDNUMANSWERS" val="3"/>
  <p:tag name="TEXTLENGTH" val="5"/>
  <p:tag name="FONTSIZE" val="40"/>
  <p:tag name="BULLETTYPE" val="ppBulletArabicPeriod"/>
  <p:tag name="ANSWERTEXT" val=" &#10; &#10; "/>
  <p:tag name="ZEROBASED" val="False"/>
</p:tagLst>
</file>

<file path=ppt/tags/tag23.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4.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5.xml><?xml version="1.0" encoding="utf-8"?>
<p:tagLst xmlns:a="http://schemas.openxmlformats.org/drawingml/2006/main" xmlns:r="http://schemas.openxmlformats.org/officeDocument/2006/relationships" xmlns:p="http://schemas.openxmlformats.org/presentationml/2006/main">
  <p:tag name="NOPREFERENCE" val="False"/>
  <p:tag name="DELIMITERS" val="3.1"/>
  <p:tag name="SLIDEGUID" val="74FABCBC24064329A372F62DAFBF641A"/>
  <p:tag name="SLIDEID" val="74FABCBC24064329A372F62DAFBF641A"/>
  <p:tag name="SLIDEORDER" val="1"/>
  <p:tag name="SLIDETYPE" val="Q"/>
  <p:tag name="DEMOGRAPHIC" val="False"/>
  <p:tag name="SPEEDSCORING" val="False"/>
  <p:tag name="CORRECTPOINTVALUE" val="100"/>
  <p:tag name="INCORRECTPOINTVALUE" val="0"/>
  <p:tag name="ZEROBASED" val="False"/>
  <p:tag name="VALUEFORMAT" val="0%"/>
  <p:tag name="QUESTIONALIAS" val="Suppose we want to estimate a proportion with a margin of error of 0.03 with 95% confidence. How large a sample size do we need?"/>
  <p:tag name="ANSWERSALIAS" val="About 100|smicln|About  500|smicln|About 1000|smicln| About 5000"/>
  <p:tag name="VALUES" val="No Value|smicln|No Value|smicln|No Value|smicln|No Value"/>
  <p:tag name="TOTALRESPONSES" val="0"/>
  <p:tag name="RESPONSESGATHERED" val="False"/>
  <p:tag name="ANONYMOUSTEMP" val="False"/>
  <p:tag name="TYPE" val="MultiChoiceSlide"/>
  <p:tag name="TPQUESTIONXML" val="﻿&lt;?xml version=&quot;1.0&quot; encoding=&quot;utf-8&quot;?&gt;&#10;&lt;questionlist&gt;&#10;    &lt;properties&gt;&#10;        &lt;guid&gt;0C4001640AD44ED1B058DC403E3172E8&lt;/guid&gt;&#10;        &lt;description /&gt;&#10;        &lt;date&gt;8/1/2017 8:27:15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5D754AE291654A5CB1409A63ED5861C3&lt;/guid&gt;&#10;            &lt;repollguid&gt;BE96ECDC4CFF4A16AC1E1FEA626A49F3&lt;/repollguid&gt;&#10;            &lt;sourceid&gt;19066E5739FC4A0E9935E5CDDC706D51&lt;/sourceid&gt;&#10;            &lt;questiontext&gt;Suppose we want to estimate a proportion with a margin of error of 0.03 with 95% confidence.How large a sample size do we need?&lt;/questiontext&gt;&#10;            &lt;showresults&gt;True&lt;/showresults&gt;&#10;            &lt;responsegrid&gt;0&lt;/responsegrid&gt;&#10;            &lt;countdowntimer&gt;False&lt;/countdowntimer&gt;&#10;            &lt;correctvalue&gt;100&lt;/correctvalue&gt;&#10;            &lt;incorrectvalue&gt;0&lt;/incorrectvalue&gt;&#10;            &lt;responselimit&gt;1&lt;/responselimit&gt;&#10;            &lt;bulletstyle&gt;0&lt;/bulletstyle&gt;&#10;            &lt;answers&gt;&#10;                &lt;answer&gt;&#10;                    &lt;guid&gt;FA8723C514C84E39A79D55A3C500AB4A&lt;/guid&gt;&#10;                    &lt;answertext&gt;About 100 &lt;/answertext&gt;&#10;                    &lt;valuetype&gt;0&lt;/valuetype&gt;&#10;                &lt;/answer&gt;&#10;                &lt;answer&gt;&#10;                    &lt;guid&gt;C8D194604D20459DAA43ADD0722D2036&lt;/guid&gt;&#10;                    &lt;answertext&gt;About  500 &lt;/answertext&gt;&#10;                    &lt;valuetype&gt;0&lt;/valuetype&gt;&#10;                &lt;/answer&gt;&#10;                &lt;answer&gt;&#10;                    &lt;guid&gt;74DFFB26A2924A718930DEC36BE81FBB&lt;/guid&gt;&#10;                    &lt;answertext&gt;About 1000 &lt;/answertext&gt;&#10;                    &lt;valuetype&gt;0&lt;/valuetype&gt;&#10;                &lt;/answer&gt;&#10;                &lt;answer&gt;&#10;                    &lt;guid&gt;9933ECD749F64163A3C33524AD39D68B&lt;/guid&gt;&#10;                    &lt;answertext&gt; About 5000&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26.xml><?xml version="1.0" encoding="utf-8"?>
<p:tagLst xmlns:a="http://schemas.openxmlformats.org/drawingml/2006/main" xmlns:r="http://schemas.openxmlformats.org/officeDocument/2006/relationships" xmlns:p="http://schemas.openxmlformats.org/presentationml/2006/main">
  <p:tag name="ANSWERBULLETS" val="3"/>
  <p:tag name="OLDNUMANSWERS" val="4"/>
  <p:tag name="TEXTLENGTH" val="43"/>
  <p:tag name="FONTSIZE" val="32"/>
  <p:tag name="BULLETTYPE" val="ppBulletArabicPeriod"/>
  <p:tag name="ANSWERTEXT" val="About 100&#10;About  500&#10;About 1000&#10; About 5000"/>
  <p:tag name="ZEROBASED" val="False"/>
</p:tagLst>
</file>

<file path=ppt/tags/tag27.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8.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9.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0.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2.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7629AB1708D04C60B44AA693DADEBA0B&lt;/guid&gt;&#10;        &lt;description /&gt;&#10;        &lt;date&gt;8/1/2017 8:49:36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56D1733F4D6D4778B1174AA305D0D56C&lt;/guid&gt;&#10;            &lt;repollguid&gt;5D8CFFE22E0A42CBA0173B6D8B5F0B3B&lt;/repollguid&gt;&#10;            &lt;sourceid&gt;FC76AE0C116649A8BFE00FA7C91B4379&lt;/sourceid&gt;&#10;            &lt;questiontext&gt;In a random sample of 500 US citizens, 280 plan to vote in the upcoming election.  We want to test to see if this provides evidence that the proportion of US citizens who plan to vote is greater than half.  Is this test:  &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3D2CFCD7C2D84E90882AB0B709650A23&lt;/guid&gt;&#10;                    &lt;answertext&gt;Right-tailed &lt;/answertext&gt;&#10;                    &lt;valuetype&gt;0&lt;/valuetype&gt;&#10;                &lt;/answer&gt;&#10;                &lt;answer&gt;&#10;                    &lt;guid&gt;A66C00EFBE8E43E2B9B4BD4B97DE84C8&lt;/guid&gt;&#10;                    &lt;answertext&gt;Left-tailed &lt;/answertext&gt;&#10;                    &lt;valuetype&gt;0&lt;/valuetype&gt;&#10;                &lt;/answer&gt;&#10;                &lt;answer&gt;&#10;                    &lt;guid&gt;C3DD7492486A40D481EBD920E3E1F730&lt;/guid&gt;&#10;                    &lt;answertext&gt;Two-tailed &lt;/answertext&gt;&#10;                    &lt;valuetype&gt;0&lt;/valuetype&gt;&#10;                &lt;/answer&gt;&#10;                &lt;answer&gt;&#10;                    &lt;guid&gt;33761325F68B4BC8875CF06F13105D36&lt;/guid&gt;&#10;                    &lt;answertext&gt;No-tailed&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33.xml><?xml version="1.0" encoding="utf-8"?>
<p:tagLst xmlns:a="http://schemas.openxmlformats.org/drawingml/2006/main" xmlns:r="http://schemas.openxmlformats.org/officeDocument/2006/relationships" xmlns:p="http://schemas.openxmlformats.org/presentationml/2006/main">
  <p:tag name="ZEROBASED" val="False"/>
</p:tagLst>
</file>

<file path=ppt/tags/tag34.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7629AB1708D04C60B44AA693DADEBA0B&lt;/guid&gt;&#10;        &lt;description /&gt;&#10;        &lt;date&gt;8/1/2017 8:49:36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3DB2A86F89124FADB4E8A6BB215F1D89&lt;/guid&gt;&#10;            &lt;repollguid&gt;5D8CFFE22E0A42CBA0173B6D8B5F0B3B&lt;/repollguid&gt;&#10;            &lt;sourceid&gt;FC76AE0C116649A8BFE00FA7C91B4379&lt;/sourceid&gt;&#10;            &lt;questiontext&gt;In a random sample of 500 US citizens, 280 plan to vote in the upcoming election.  We want to test to see if this provides evidence that the proportion of US citizens who plan to vote is greater than half.  What is the standard error for the test?  &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3D2CFCD7C2D84E90882AB0B709650A23&lt;/guid&gt;&#10;                    &lt;answertext&gt;0.0222&lt;/answertext&gt;&#10;                    &lt;valuetype&gt;0&lt;/valuetype&gt;&#10;                &lt;/answer&gt;&#10;                &lt;answer&gt;&#10;                    &lt;guid&gt;A66C00EFBE8E43E2B9B4BD4B97DE84C8&lt;/guid&gt;&#10;                    &lt;answertext&gt;0.0365&lt;/answertext&gt;&#10;                    &lt;valuetype&gt;0&lt;/valuetype&gt;&#10;                &lt;/answer&gt;&#10;                &lt;answer&gt;&#10;                    &lt;guid&gt;C3DD7492486A40D481EBD920E3E1F730&lt;/guid&gt;&#10;                    &lt;answertext&gt;0.02236&lt;/answertext&gt;&#10;                    &lt;valuetype&gt;0&lt;/valuetype&gt;&#10;                &lt;/answer&gt;&#10;                &lt;answer&gt;&#10;                    &lt;guid&gt;33761325F68B4BC8875CF06F13105D36&lt;/guid&gt;&#10;                    &lt;answertext&gt;0.04&lt;/answertext&gt;&#10;                    &lt;valuetype&gt;0&lt;/valuetype&gt;&#10;                &lt;/answer&gt;&#10;                &lt;answer&gt;&#10;                    &lt;guid&gt;63D58706B8F64D1A823BCE913334560F&lt;/guid&gt;&#10;                    &lt;answertext&gt;0.06329&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35.xml><?xml version="1.0" encoding="utf-8"?>
<p:tagLst xmlns:a="http://schemas.openxmlformats.org/drawingml/2006/main" xmlns:r="http://schemas.openxmlformats.org/officeDocument/2006/relationships" xmlns:p="http://schemas.openxmlformats.org/presentationml/2006/main">
  <p:tag name="ZEROBASED" val="False"/>
</p:tagLst>
</file>

<file path=ppt/tags/tag36.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7629AB1708D04C60B44AA693DADEBA0B&lt;/guid&gt;&#10;        &lt;description /&gt;&#10;        &lt;date&gt;8/1/2017 8:49:36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42AD6042964D4D9EA32FFBBC84E2D51E&lt;/guid&gt;&#10;            &lt;repollguid&gt;5D8CFFE22E0A42CBA0173B6D8B5F0B3B&lt;/repollguid&gt;&#10;            &lt;sourceid&gt;FC76AE0C116649A8BFE00FA7C91B4379&lt;/sourceid&gt;&#10;            &lt;questiontext&gt;In a random sample of 500 US citizens, 280 plan to vote in the upcoming election.  We want to test to see if this provides evidence that the proportion of US citizens who plan to vote is greater than half.  What is the test statistic?  &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3D2CFCD7C2D84E90882AB0B709650A23&lt;/guid&gt;&#10;                    &lt;answertext&gt;2.703&lt;/answertext&gt;&#10;                    &lt;valuetype&gt;0&lt;/valuetype&gt;&#10;                &lt;/answer&gt;&#10;                &lt;answer&gt;&#10;                    &lt;guid&gt;A66C00EFBE8E43E2B9B4BD4B97DE84C8&lt;/guid&gt;&#10;                    &lt;answertext&gt;25.225&lt;/answertext&gt;&#10;                    &lt;valuetype&gt;0&lt;/valuetype&gt;&#10;                &lt;/answer&gt;&#10;                &lt;answer&gt;&#10;                    &lt;guid&gt;C3DD7492486A40D481EBD920E3E1F730&lt;/guid&gt;&#10;                    &lt;answertext&gt;25.045&lt;/answertext&gt;&#10;                    &lt;valuetype&gt;0&lt;/valuetype&gt;&#10;                &lt;/answer&gt;&#10;                &lt;answer&gt;&#10;                    &lt;guid&gt;33761325F68B4BC8875CF06F13105D36&lt;/guid&gt;&#10;                    &lt;answertext&gt;2.683&lt;/answertext&gt;&#10;                    &lt;valuetype&gt;0&lt;/valuetype&gt;&#10;                &lt;/answer&gt;&#10;                &lt;answer&gt;&#10;                    &lt;guid&gt;63D58706B8F64D1A823BCE913334560F&lt;/guid&gt;&#10;                    &lt;answertext&gt;0.05&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37.xml><?xml version="1.0" encoding="utf-8"?>
<p:tagLst xmlns:a="http://schemas.openxmlformats.org/drawingml/2006/main" xmlns:r="http://schemas.openxmlformats.org/officeDocument/2006/relationships" xmlns:p="http://schemas.openxmlformats.org/presentationml/2006/main">
  <p:tag name="ZEROBASED" val="False"/>
</p:tagLst>
</file>

<file path=ppt/tags/tag38.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7629AB1708D04C60B44AA693DADEBA0B&lt;/guid&gt;&#10;        &lt;description /&gt;&#10;        &lt;date&gt;8/1/2017 8:49:36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864866E36B8B416F918130F32CE6DE36&lt;/guid&gt;&#10;            &lt;repollguid&gt;5D8CFFE22E0A42CBA0173B6D8B5F0B3B&lt;/repollguid&gt;&#10;            &lt;sourceid&gt;FC76AE0C116649A8BFE00FA7C91B4379&lt;/sourceid&gt;&#10;            &lt;questiontext&gt;In a random sample of 500 US citizens, 280 plan to vote in the upcoming election.  We want to test to see if this provides evidence that the proportion of US citizens who plan to vote is greater than half.  The test statistic is z=2.683. What is the p-value? &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3D2CFCD7C2D84E90882AB0B709650A23&lt;/guid&gt;&#10;                    &lt;answertext&gt;0.0072&lt;/answertext&gt;&#10;                    &lt;valuetype&gt;0&lt;/valuetype&gt;&#10;                &lt;/answer&gt;&#10;                &lt;answer&gt;&#10;                    &lt;guid&gt;A66C00EFBE8E43E2B9B4BD4B97DE84C8&lt;/guid&gt;&#10;                    &lt;answertext&gt;0.0036&lt;/answertext&gt;&#10;                    &lt;valuetype&gt;0&lt;/valuetype&gt;&#10;                &lt;/answer&gt;&#10;                &lt;answer&gt;&#10;                    &lt;guid&gt;C3DD7492486A40D481EBD920E3E1F730&lt;/guid&gt;&#10;                    &lt;answertext&gt;0.036&lt;/answertext&gt;&#10;                    &lt;valuetype&gt;0&lt;/valuetype&gt;&#10;                &lt;/answer&gt;&#10;                &lt;answer&gt;&#10;                    &lt;guid&gt;33761325F68B4BC8875CF06F13105D36&lt;/guid&gt;&#10;                    &lt;answertext&gt;0.072&lt;/answertext&gt;&#10;                    &lt;valuetype&gt;0&lt;/valuetype&gt;&#10;                &lt;/answer&gt;&#10;                &lt;answer&gt;&#10;                    &lt;guid&gt;63D58706B8F64D1A823BCE913334560F&lt;/guid&gt;&#10;                    &lt;answertext&gt;0.05&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39.xml><?xml version="1.0" encoding="utf-8"?>
<p:tagLst xmlns:a="http://schemas.openxmlformats.org/drawingml/2006/main" xmlns:r="http://schemas.openxmlformats.org/officeDocument/2006/relationships" xmlns:p="http://schemas.openxmlformats.org/presentationml/2006/main">
  <p:tag name="ZEROBASED" val="False"/>
</p:tagLst>
</file>

<file path=ppt/tags/tag40.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7629AB1708D04C60B44AA693DADEBA0B&lt;/guid&gt;&#10;        &lt;description /&gt;&#10;        &lt;date&gt;8/1/2017 8:49:36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F2B570C5EB3141A79619462D9BFCBA55&lt;/guid&gt;&#10;            &lt;repollguid&gt;5D8CFFE22E0A42CBA0173B6D8B5F0B3B&lt;/repollguid&gt;&#10;            &lt;sourceid&gt;FC76AE0C116649A8BFE00FA7C91B4379&lt;/sourceid&gt;&#10;            &lt;questiontext&gt;In a random sample of 500 US citizens, 280 plan to vote in the upcoming election.  We want to test to see if this provides evidence that the proportion of US citizens who plan to vote is greater than half.  What is the conclusion at a 5% level?  &lt;/questiontext&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answers&gt;&#10;                &lt;answer&gt;&#10;                    &lt;guid&gt;3D2CFCD7C2D84E90882AB0B709650A23&lt;/guid&gt;&#10;                    &lt;answertext&gt;Reject H0 and conclude that more than half of US citizens plan to vote.&lt;/answertext&gt;&#10;                    &lt;valuetype&gt;0&lt;/valuetype&gt;&#10;                &lt;/answer&gt;&#10;                &lt;answer&gt;&#10;                    &lt;guid&gt;A66C00EFBE8E43E2B9B4BD4B97DE84C8&lt;/guid&gt;&#10;                    &lt;answertext&gt;Reject H0 and conclude that it is not true that more than half of US citizens plan to vote.&lt;/answertext&gt;&#10;                    &lt;valuetype&gt;0&lt;/valuetype&gt;&#10;                &lt;/answer&gt;&#10;                &lt;answer&gt;&#10;                    &lt;guid&gt;C3DD7492486A40D481EBD920E3E1F730&lt;/guid&gt;&#10;                    &lt;answertext&gt;Do not reject H0 and conclude that more than half of US citizens plan to vote.  &lt;/answertext&gt;&#10;                    &lt;valuetype&gt;0&lt;/valuetype&gt;&#10;                &lt;/answer&gt;&#10;                &lt;answer&gt;&#10;                    &lt;guid&gt;33761325F68B4BC8875CF06F13105D36&lt;/guid&gt;&#10;                    &lt;answertext&gt;Do not reject H0 and conclude that it is not true that more than half of US citizens plan to vote.&lt;/answertext&gt;&#10;                    &lt;valuetype&gt;0&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HASRESULTS" val="False"/>
</p:tagLst>
</file>

<file path=ppt/tags/tag41.xml><?xml version="1.0" encoding="utf-8"?>
<p:tagLst xmlns:a="http://schemas.openxmlformats.org/drawingml/2006/main" xmlns:r="http://schemas.openxmlformats.org/officeDocument/2006/relationships" xmlns:p="http://schemas.openxmlformats.org/presentationml/2006/main">
  <p:tag name="ZEROBASED" val="False"/>
</p:tagLst>
</file>

<file path=ppt/tags/tag4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477</TotalTime>
  <Words>1069</Words>
  <Application>Microsoft Office PowerPoint</Application>
  <PresentationFormat>On-screen Show (4:3)</PresentationFormat>
  <Paragraphs>129</Paragraphs>
  <Slides>33</Slides>
  <Notes>5</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33</vt:i4>
      </vt:variant>
    </vt:vector>
  </HeadingPairs>
  <TitlesOfParts>
    <vt:vector size="36" baseType="lpstr">
      <vt:lpstr>Median</vt:lpstr>
      <vt:lpstr>Equation</vt:lpstr>
      <vt:lpstr>MathType 6.0 Equation</vt:lpstr>
      <vt:lpstr>PowerPoint Presentation</vt:lpstr>
      <vt:lpstr>The Central Limit Theorem applies to the distribution of the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 a single proportion, what is the margin of error?</vt:lpstr>
      <vt:lpstr>PowerPoint Presentation</vt:lpstr>
      <vt:lpstr>PowerPoint Presentation</vt:lpstr>
      <vt:lpstr>Suppose we want to estimate a proportion with a margin of error of 0.03 with 95% confidence. How large a sample size do we need?</vt:lpstr>
      <vt:lpstr>PowerPoint Presentation</vt:lpstr>
      <vt:lpstr>PowerPoint Presentation</vt:lpstr>
      <vt:lpstr>PowerPoint Presentation</vt:lpstr>
      <vt:lpstr>PowerPoint Presentation</vt:lpstr>
      <vt:lpstr>PowerPoint Presentation</vt:lpstr>
      <vt:lpstr>In a random sample of 500 US citizens, 280 plan to vote in the upcoming election.  We want to test to see if this provides evidence that the proportion of US citizens who plan to vote is greater than half.  Is this test:  </vt:lpstr>
      <vt:lpstr>In a random sample of 500 US citizens, 280 plan to vote in the upcoming election.  We want to test to see if this provides evidence that the proportion of US citizens who plan to vote is greater than half.  What is the standard error for the test?  </vt:lpstr>
      <vt:lpstr>In a random sample of 500 US citizens, 280 plan to vote in the upcoming election.  We want to test to see if this provides evidence that the proportion of US citizens who plan to vote is greater than half.  What is the test statistic?  </vt:lpstr>
      <vt:lpstr>In a random sample of 500 US citizens, 280 plan to vote in the upcoming election.  We want to test to see if this provides evidence that the proportion of US citizens who plan to vote is greater than half.  The test statistic is z=          . What is the p-value? </vt:lpstr>
      <vt:lpstr>In a random sample of 500 US citizens, 280 plan to vote in the upcoming election.  We want to test to see if this provides evidence that the proportion of US citizens who plan to vote is greater than half.  What is the conclusion at a 5% level?  </vt:lpstr>
      <vt:lpstr>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Kathryn Dobeck</dc:creator>
  <cp:lastModifiedBy>Kathryn Dobeck</cp:lastModifiedBy>
  <cp:revision>35</cp:revision>
  <cp:lastPrinted>2015-07-16T18:43:06Z</cp:lastPrinted>
  <dcterms:created xsi:type="dcterms:W3CDTF">2013-04-14T20:24:07Z</dcterms:created>
  <dcterms:modified xsi:type="dcterms:W3CDTF">2017-08-01T15:39:17Z</dcterms:modified>
</cp:coreProperties>
</file>