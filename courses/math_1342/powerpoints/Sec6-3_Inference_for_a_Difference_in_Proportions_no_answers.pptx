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5"/>
  </p:handoutMasterIdLst>
  <p:sldIdLst>
    <p:sldId id="308" r:id="rId2"/>
    <p:sldId id="287" r:id="rId3"/>
    <p:sldId id="309" r:id="rId4"/>
    <p:sldId id="316" r:id="rId5"/>
    <p:sldId id="317" r:id="rId6"/>
    <p:sldId id="31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14" r:id="rId21"/>
    <p:sldId id="313" r:id="rId22"/>
    <p:sldId id="315" r:id="rId23"/>
    <p:sldId id="319" r:id="rId24"/>
  </p:sldIdLst>
  <p:sldSz cx="9144000" cy="6858000" type="screen4x3"/>
  <p:notesSz cx="9296400" cy="70104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940" autoAdjust="0"/>
    <p:restoredTop sz="94660"/>
  </p:normalViewPr>
  <p:slideViewPr>
    <p:cSldViewPr>
      <p:cViewPr>
        <p:scale>
          <a:sx n="75" d="100"/>
          <a:sy n="75" d="100"/>
        </p:scale>
        <p:origin x="-1507" y="-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1668" y="-84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1846016"/>
        <c:axId val="181847552"/>
        <c:axId val="52365056"/>
      </c:bar3DChart>
      <c:catAx>
        <c:axId val="181846016"/>
        <c:scaling>
          <c:orientation val="minMax"/>
        </c:scaling>
        <c:delete val="0"/>
        <c:axPos val="b"/>
        <c:majorTickMark val="out"/>
        <c:minorTickMark val="none"/>
        <c:tickLblPos val="nextTo"/>
        <c:crossAx val="181847552"/>
        <c:crosses val="autoZero"/>
        <c:auto val="1"/>
        <c:lblAlgn val="ctr"/>
        <c:lblOffset val="100"/>
        <c:noMultiLvlLbl val="0"/>
      </c:catAx>
      <c:valAx>
        <c:axId val="1818475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1846016"/>
        <c:crosses val="autoZero"/>
        <c:crossBetween val="between"/>
      </c:valAx>
      <c:serAx>
        <c:axId val="52365056"/>
        <c:scaling>
          <c:orientation val="minMax"/>
        </c:scaling>
        <c:delete val="0"/>
        <c:axPos val="b"/>
        <c:majorTickMark val="out"/>
        <c:minorTickMark val="none"/>
        <c:tickLblPos val="nextTo"/>
        <c:crossAx val="181847552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C5A6351-3C4C-4EA4-B65D-D5283D2A1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48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648902474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788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88BA975-1F24-4E55-8951-75216687F3E1}" type="datetimeFigureOut">
              <a:rPr lang="en-US" smtClean="0"/>
              <a:t>8/1/2017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687C0F5-0938-484D-9E40-0118D0F3F1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9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slideLayout" Target="../slideLayouts/slideLayout6.xml"/><Relationship Id="rId7" Type="http://schemas.openxmlformats.org/officeDocument/2006/relationships/oleObject" Target="../embeddings/oleObject3.bin"/><Relationship Id="rId2" Type="http://schemas.openxmlformats.org/officeDocument/2006/relationships/tags" Target="../tags/tag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73.png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4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9.bin"/><Relationship Id="rId2" Type="http://schemas.openxmlformats.org/officeDocument/2006/relationships/tags" Target="../tags/tag1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8.jpeg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Relationship Id="rId1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ck5stat.com/statkey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5" Type="http://schemas.openxmlformats.org/officeDocument/2006/relationships/image" Target="../media/image16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7.wmf"/><Relationship Id="rId2" Type="http://schemas.openxmlformats.org/officeDocument/2006/relationships/tags" Target="../tags/tag1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wmf"/><Relationship Id="rId2" Type="http://schemas.openxmlformats.org/officeDocument/2006/relationships/tags" Target="../tags/tag1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2.wmf"/><Relationship Id="rId2" Type="http://schemas.openxmlformats.org/officeDocument/2006/relationships/tags" Target="../tags/tag19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5.wmf"/><Relationship Id="rId2" Type="http://schemas.openxmlformats.org/officeDocument/2006/relationships/tags" Target="../tags/tag2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7.wmf"/><Relationship Id="rId2" Type="http://schemas.openxmlformats.org/officeDocument/2006/relationships/tags" Target="../tags/tag2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7.wmf"/><Relationship Id="rId2" Type="http://schemas.openxmlformats.org/officeDocument/2006/relationships/tags" Target="../tags/tag23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9.png"/><Relationship Id="rId4" Type="http://schemas.openxmlformats.org/officeDocument/2006/relationships/hyperlink" Target="http://www.lock5stat.com/statkey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3.bin"/><Relationship Id="rId4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hyperlink" Target="http://www.lock5stat.com/StatKey/theoretical_distribution/theoretical_distribution.html#norma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</a:t>
            </a:r>
            <a:r>
              <a:rPr lang="en-US" sz="3200" dirty="0" smtClean="0">
                <a:solidFill>
                  <a:srgbClr val="EBDDC3"/>
                </a:solidFill>
              </a:rPr>
              <a:t>6.3</a:t>
            </a:r>
            <a:r>
              <a:rPr lang="en-US" sz="3200" dirty="0">
                <a:solidFill>
                  <a:srgbClr val="EBDDC3"/>
                </a:solidFill>
              </a:rPr>
              <a:t>:</a:t>
            </a:r>
          </a:p>
          <a:p>
            <a:pPr>
              <a:spcBef>
                <a:spcPct val="20000"/>
              </a:spcBef>
              <a:defRPr/>
            </a:pPr>
            <a:r>
              <a:rPr lang="en-US" sz="4000" b="1" dirty="0" smtClean="0">
                <a:solidFill>
                  <a:srgbClr val="EBDDC3"/>
                </a:solidFill>
              </a:rPr>
              <a:t>Inference for a Difference in Proportions</a:t>
            </a:r>
            <a:endParaRPr lang="en-US" sz="4000" b="1" dirty="0">
              <a:solidFill>
                <a:srgbClr val="EBDDC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28651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012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One Proportion or Two?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1616316"/>
            <a:ext cx="8839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 Two proportions: there are two separate categorical variables</a:t>
            </a:r>
          </a:p>
          <a:p>
            <a:pPr marL="914400" lvl="1" indent="-457200">
              <a:buFont typeface="Wingdings" pitchFamily="2" charset="2"/>
              <a:buChar char="§"/>
            </a:pP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 One proportion: there is only one categorical variable</a:t>
            </a:r>
          </a:p>
          <a:p>
            <a:pPr>
              <a:spcAft>
                <a:spcPts val="1800"/>
              </a:spcAft>
            </a:pP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64041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2133600"/>
          </a:xfrm>
        </p:spPr>
        <p:txBody>
          <a:bodyPr>
            <a:noAutofit/>
          </a:bodyPr>
          <a:lstStyle/>
          <a:p>
            <a:pPr>
              <a:spcAft>
                <a:spcPts val="1800"/>
              </a:spcAft>
            </a:pPr>
            <a:r>
              <a:rPr lang="en-US" sz="3600" b="1" dirty="0">
                <a:cs typeface="Times New Roman" pitchFamily="18" charset="0"/>
              </a:rPr>
              <a:t>You want </a:t>
            </a:r>
            <a:r>
              <a:rPr lang="en-US" sz="3600" b="1" dirty="0" smtClean="0">
                <a:cs typeface="Times New Roman" pitchFamily="18" charset="0"/>
              </a:rPr>
              <a:t>to compare </a:t>
            </a:r>
            <a:r>
              <a:rPr lang="en-US" sz="3600" b="1" dirty="0">
                <a:cs typeface="Times New Roman" pitchFamily="18" charset="0"/>
              </a:rPr>
              <a:t>the proportion of students who use a Windows-based PC to the proportion who use a </a:t>
            </a:r>
            <a:r>
              <a:rPr lang="en-US" sz="3600" b="1" dirty="0" smtClean="0">
                <a:cs typeface="Times New Roman" pitchFamily="18" charset="0"/>
              </a:rPr>
              <a:t>Mac. This is:</a:t>
            </a:r>
            <a:r>
              <a:rPr lang="en-US" sz="3600" b="1" dirty="0">
                <a:cs typeface="Times New Roman" pitchFamily="18" charset="0"/>
              </a:rPr>
              <a:t/>
            </a:r>
            <a:br>
              <a:rPr lang="en-US" sz="3600" b="1" dirty="0">
                <a:cs typeface="Times New Roman" pitchFamily="18" charset="0"/>
              </a:rPr>
            </a:br>
            <a:endParaRPr lang="en-US" sz="3600" b="1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057400"/>
            <a:ext cx="5867400" cy="1503363"/>
          </a:xfrm>
        </p:spPr>
        <p:txBody>
          <a:bodyPr/>
          <a:lstStyle/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Inference for one proportion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Inference for two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proportions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7053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2133600"/>
          </a:xfrm>
        </p:spPr>
        <p:txBody>
          <a:bodyPr>
            <a:noAutofit/>
          </a:bodyPr>
          <a:lstStyle/>
          <a:p>
            <a:pPr>
              <a:spcAft>
                <a:spcPts val="1800"/>
              </a:spcAft>
            </a:pPr>
            <a:r>
              <a:rPr lang="en-US" sz="3600" b="1" dirty="0">
                <a:cs typeface="Times New Roman" pitchFamily="18" charset="0"/>
              </a:rPr>
              <a:t>You want </a:t>
            </a:r>
            <a:r>
              <a:rPr lang="en-US" sz="3600" b="1" dirty="0" smtClean="0">
                <a:cs typeface="Times New Roman" pitchFamily="18" charset="0"/>
              </a:rPr>
              <a:t>to compare </a:t>
            </a:r>
            <a:r>
              <a:rPr lang="en-US" sz="3600" b="1" dirty="0">
                <a:cs typeface="Times New Roman" pitchFamily="18" charset="0"/>
              </a:rPr>
              <a:t>the proportion of students who study abroad between those attending public universities and those at private </a:t>
            </a:r>
            <a:r>
              <a:rPr lang="en-US" sz="3600" b="1" dirty="0" smtClean="0">
                <a:cs typeface="Times New Roman" pitchFamily="18" charset="0"/>
              </a:rPr>
              <a:t>universities.  This is:</a:t>
            </a:r>
            <a:endParaRPr lang="en-US" sz="3600" b="1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286000"/>
            <a:ext cx="5867400" cy="1503363"/>
          </a:xfrm>
        </p:spPr>
        <p:txBody>
          <a:bodyPr/>
          <a:lstStyle/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Inference for one proportion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Inference for two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proportions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97550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2133600"/>
          </a:xfrm>
        </p:spPr>
        <p:txBody>
          <a:bodyPr>
            <a:noAutofit/>
          </a:bodyPr>
          <a:lstStyle/>
          <a:p>
            <a:pPr>
              <a:spcAft>
                <a:spcPts val="1800"/>
              </a:spcAft>
            </a:pPr>
            <a:r>
              <a:rPr lang="en-US" sz="3600" b="1" dirty="0">
                <a:cs typeface="Times New Roman" pitchFamily="18" charset="0"/>
              </a:rPr>
              <a:t>You want </a:t>
            </a:r>
            <a:r>
              <a:rPr lang="en-US" sz="3600" b="1" dirty="0" smtClean="0">
                <a:cs typeface="Times New Roman" pitchFamily="18" charset="0"/>
              </a:rPr>
              <a:t>to compare </a:t>
            </a:r>
            <a:r>
              <a:rPr lang="en-US" sz="3600" b="1" dirty="0">
                <a:cs typeface="Times New Roman" pitchFamily="18" charset="0"/>
              </a:rPr>
              <a:t>the proportion of in-state students at a university to the proportion from outside the </a:t>
            </a:r>
            <a:r>
              <a:rPr lang="en-US" sz="3600" b="1" dirty="0" smtClean="0">
                <a:cs typeface="Times New Roman" pitchFamily="18" charset="0"/>
              </a:rPr>
              <a:t>state. This is:</a:t>
            </a:r>
            <a:endParaRPr lang="en-US" sz="3600" b="1" dirty="0">
              <a:cs typeface="Times New Roman" pitchFamily="18" charset="0"/>
            </a:endParaRP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286000"/>
            <a:ext cx="5867400" cy="1503363"/>
          </a:xfrm>
        </p:spPr>
        <p:txBody>
          <a:bodyPr/>
          <a:lstStyle/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Inference for one proportion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Inference for two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proportions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25102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2133600"/>
          </a:xfrm>
        </p:spPr>
        <p:txBody>
          <a:bodyPr>
            <a:noAutofit/>
          </a:bodyPr>
          <a:lstStyle/>
          <a:p>
            <a:pPr>
              <a:spcAft>
                <a:spcPts val="1800"/>
              </a:spcAft>
            </a:pPr>
            <a:r>
              <a:rPr lang="en-US" sz="3600" b="1" dirty="0">
                <a:cs typeface="Times New Roman" pitchFamily="18" charset="0"/>
              </a:rPr>
              <a:t>You want </a:t>
            </a:r>
            <a:r>
              <a:rPr lang="en-US" sz="3600" b="1" dirty="0" smtClean="0">
                <a:cs typeface="Times New Roman" pitchFamily="18" charset="0"/>
              </a:rPr>
              <a:t>to compare </a:t>
            </a:r>
            <a:r>
              <a:rPr lang="en-US" sz="3600" b="1" dirty="0">
                <a:cs typeface="Times New Roman" pitchFamily="18" charset="0"/>
              </a:rPr>
              <a:t>the proportion of in-state students who get financial aid to the proportion of out-of-state students who get financial </a:t>
            </a:r>
            <a:r>
              <a:rPr lang="en-US" sz="3600" b="1" dirty="0" smtClean="0">
                <a:cs typeface="Times New Roman" pitchFamily="18" charset="0"/>
              </a:rPr>
              <a:t>aid. This is:</a:t>
            </a:r>
            <a:endParaRPr lang="en-US" sz="3600" b="1" dirty="0"/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2286000"/>
            <a:ext cx="5867400" cy="1503363"/>
          </a:xfrm>
        </p:spPr>
        <p:txBody>
          <a:bodyPr/>
          <a:lstStyle/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Inference for one proportion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  <a:p>
            <a:pPr marL="971550" lvl="1" indent="-514350">
              <a:buClr>
                <a:schemeClr val="accent2">
                  <a:lumMod val="75000"/>
                </a:schemeClr>
              </a:buClr>
              <a:buFont typeface="+mj-lt"/>
              <a:buAutoNum type="alphaUcPeriod"/>
            </a:pPr>
            <a:r>
              <a:rPr lang="en-US" sz="3200" dirty="0">
                <a:solidFill>
                  <a:prstClr val="black"/>
                </a:solidFill>
                <a:cs typeface="Times New Roman" pitchFamily="18" charset="0"/>
              </a:rPr>
              <a:t>Inference for two </a:t>
            </a: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proportions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7988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533400" y="381000"/>
                <a:ext cx="7620000" cy="762000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>
                  <a:spcBef>
                    <a:spcPct val="0"/>
                  </a:spcBef>
                  <a:defRPr/>
                </a:pPr>
                <a:r>
                  <a:rPr lang="en-US" sz="4400" b="1" dirty="0" smtClean="0">
                    <a:solidFill>
                      <a:schemeClr val="tx2"/>
                    </a:solidFill>
                  </a:rPr>
                  <a:t>Standard Error 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4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4000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</m:acc>
                      </m:e>
                      <m:sub>
                        <m:r>
                          <a:rPr lang="en-US" sz="4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4000" b="1" i="1" smtClean="0">
                        <a:solidFill>
                          <a:schemeClr val="tx2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4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4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4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</m:acc>
                      </m:e>
                      <m:sub>
                        <m:r>
                          <a:rPr lang="en-US" sz="4000" b="1" i="1" smtClean="0">
                            <a:solidFill>
                              <a:schemeClr val="tx2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en-US" sz="40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81000"/>
                <a:ext cx="7620000" cy="762000"/>
              </a:xfrm>
              <a:prstGeom prst="rect">
                <a:avLst/>
              </a:prstGeom>
              <a:blipFill rotWithShape="1">
                <a:blip r:embed="rId4"/>
                <a:stretch>
                  <a:fillRect t="-16000" b="-37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4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196435"/>
              </p:ext>
            </p:extLst>
          </p:nvPr>
        </p:nvGraphicFramePr>
        <p:xfrm>
          <a:off x="852863" y="1828800"/>
          <a:ext cx="6981074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Equation" r:id="rId5" imgW="1841400" imgH="482400" progId="Equation.DSMT4">
                  <p:embed/>
                </p:oleObj>
              </mc:Choice>
              <mc:Fallback>
                <p:oleObj name="Equation" r:id="rId5" imgW="1841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863" y="1828800"/>
                        <a:ext cx="6981074" cy="18288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630162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/>
              <p:cNvSpPr txBox="1">
                <a:spLocks/>
              </p:cNvSpPr>
              <p:nvPr/>
            </p:nvSpPr>
            <p:spPr>
              <a:xfrm>
                <a:off x="838200" y="381000"/>
                <a:ext cx="6362700" cy="762000"/>
              </a:xfrm>
              <a:prstGeom prst="rect">
                <a:avLst/>
              </a:prstGeom>
            </p:spPr>
            <p:txBody>
              <a:bodyPr/>
              <a:lstStyle/>
              <a:p>
                <a:pPr lvl="0" algn="ctr">
                  <a:spcBef>
                    <a:spcPct val="0"/>
                  </a:spcBef>
                  <a:defRPr/>
                </a:pPr>
                <a:r>
                  <a:rPr lang="en-US" sz="4400" b="1" dirty="0" smtClean="0">
                    <a:solidFill>
                      <a:schemeClr val="tx2"/>
                    </a:solidFill>
                  </a:rPr>
                  <a:t>CLT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4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4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</m:acc>
                      </m:e>
                      <m:sub>
                        <m:r>
                          <a:rPr lang="en-US" sz="4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4000" b="1" i="1">
                        <a:solidFill>
                          <a:schemeClr val="tx2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4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4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sz="4000" b="1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</m:acc>
                      </m:e>
                      <m:sub>
                        <m:r>
                          <a:rPr lang="en-US" sz="40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endParaRPr lang="en-US" sz="40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1000"/>
                <a:ext cx="6362700" cy="762000"/>
              </a:xfrm>
              <a:prstGeom prst="rect">
                <a:avLst/>
              </a:prstGeom>
              <a:blipFill rotWithShape="1">
                <a:blip r:embed="rId4"/>
                <a:stretch>
                  <a:fillRect t="-16000" b="-37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47251"/>
              </p:ext>
            </p:extLst>
          </p:nvPr>
        </p:nvGraphicFramePr>
        <p:xfrm>
          <a:off x="228600" y="1828800"/>
          <a:ext cx="339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Equation" r:id="rId5" imgW="1130040" imgH="228600" progId="Equation.DSMT4">
                  <p:embed/>
                </p:oleObj>
              </mc:Choice>
              <mc:Fallback>
                <p:oleObj name="Equation" r:id="rId5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28800"/>
                        <a:ext cx="3390900" cy="685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425322"/>
              </p:ext>
            </p:extLst>
          </p:nvPr>
        </p:nvGraphicFramePr>
        <p:xfrm>
          <a:off x="228600" y="2667000"/>
          <a:ext cx="8804564" cy="665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3" name="Equation" r:id="rId7" imgW="3022560" imgH="228600" progId="Equation.DSMT4">
                  <p:embed/>
                </p:oleObj>
              </mc:Choice>
              <mc:Fallback>
                <p:oleObj name="Equation" r:id="rId7" imgW="3022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8804564" cy="66589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71564"/>
              </p:ext>
            </p:extLst>
          </p:nvPr>
        </p:nvGraphicFramePr>
        <p:xfrm>
          <a:off x="732773" y="5105400"/>
          <a:ext cx="775465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4" name="Equation" r:id="rId9" imgW="2869920" imgH="507960" progId="Equation.DSMT4">
                  <p:embed/>
                </p:oleObj>
              </mc:Choice>
              <mc:Fallback>
                <p:oleObj name="Equation" r:id="rId9" imgW="28699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73" y="5105400"/>
                        <a:ext cx="7754653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2400" y="3621107"/>
            <a:ext cx="8707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If counts within each category (each cell of the two-way table) are at least 10</a:t>
            </a:r>
            <a:endParaRPr lang="en-US" sz="3200" dirty="0">
              <a:solidFill>
                <a:prstClr val="black"/>
              </a:solidFill>
              <a:cs typeface="Times New Roman" pitchFamily="18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186864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1524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745" y="4315691"/>
            <a:ext cx="6172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Give a 90% confidence interval for the difference in proportions.</a:t>
            </a:r>
          </a:p>
          <a:p>
            <a:endParaRPr lang="en-US" sz="14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Source: </a:t>
            </a:r>
            <a:r>
              <a:rPr lang="en-US" sz="2000" dirty="0" err="1" smtClean="0">
                <a:solidFill>
                  <a:prstClr val="black"/>
                </a:solidFill>
                <a:cs typeface="Times New Roman" pitchFamily="18" charset="0"/>
              </a:rPr>
              <a:t>Saraux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, et. al. (2011).  “Reliability of flipper-banded penguins as indicators of climate change,” </a:t>
            </a:r>
            <a:r>
              <a:rPr lang="en-US" sz="2000" i="1" dirty="0" smtClean="0">
                <a:solidFill>
                  <a:prstClr val="black"/>
                </a:solidFill>
                <a:cs typeface="Times New Roman" pitchFamily="18" charset="0"/>
              </a:rPr>
              <a:t>Nature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, </a:t>
            </a:r>
            <a:r>
              <a:rPr lang="en-US" sz="2000" b="1" dirty="0" smtClean="0">
                <a:solidFill>
                  <a:prstClr val="black"/>
                </a:solidFill>
                <a:cs typeface="Times New Roman" pitchFamily="18" charset="0"/>
              </a:rPr>
              <a:t>469</a:t>
            </a:r>
            <a:r>
              <a:rPr lang="en-US" sz="2000" dirty="0" smtClean="0">
                <a:solidFill>
                  <a:prstClr val="black"/>
                </a:solidFill>
                <a:cs typeface="Times New Roman" pitchFamily="18" charset="0"/>
              </a:rPr>
              <a:t>, 203-206.</a:t>
            </a: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338946" name="Picture 2" descr="http://www.ecoworld.com/wp-content/uploads/2011/01/tagged-penguins-401x5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855226"/>
            <a:ext cx="2286000" cy="285037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14745" y="1143000"/>
            <a:ext cx="86868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Are metal tags detrimental to penguins?  A study looked at the 10 year survival rate of penguins tagged either with a metal tag or an electronic tag.  20% of the 167 metal tagged penguins survived, compared to 36% of the 189 electronic tagged penguins.</a:t>
            </a:r>
          </a:p>
          <a:p>
            <a:endParaRPr lang="en-US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8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07036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1524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74434" name="Object 2"/>
          <p:cNvGraphicFramePr>
            <a:graphicFrameLocks noChangeAspect="1"/>
          </p:cNvGraphicFramePr>
          <p:nvPr/>
        </p:nvGraphicFramePr>
        <p:xfrm>
          <a:off x="381000" y="2017713"/>
          <a:ext cx="6923087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" name="Equation" r:id="rId4" imgW="2323800" imgH="482400" progId="Equation.DSMT4">
                  <p:embed/>
                </p:oleObj>
              </mc:Choice>
              <mc:Fallback>
                <p:oleObj name="Equation" r:id="rId4" imgW="2323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017713"/>
                        <a:ext cx="6923087" cy="1436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336631"/>
              </p:ext>
            </p:extLst>
          </p:nvPr>
        </p:nvGraphicFramePr>
        <p:xfrm>
          <a:off x="304800" y="3449205"/>
          <a:ext cx="7662863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" name="Equation" r:id="rId6" imgW="2997000" imgH="444240" progId="Equation.DSMT4">
                  <p:embed/>
                </p:oleObj>
              </mc:Choice>
              <mc:Fallback>
                <p:oleObj name="Equation" r:id="rId6" imgW="2997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449205"/>
                        <a:ext cx="7662863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6" name="Object 4"/>
          <p:cNvGraphicFramePr>
            <a:graphicFrameLocks noChangeAspect="1"/>
          </p:cNvGraphicFramePr>
          <p:nvPr/>
        </p:nvGraphicFramePr>
        <p:xfrm>
          <a:off x="838200" y="4760913"/>
          <a:ext cx="33766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2" name="Equation" r:id="rId8" imgW="1320480" imgH="177480" progId="Equation.DSMT4">
                  <p:embed/>
                </p:oleObj>
              </mc:Choice>
              <mc:Fallback>
                <p:oleObj name="Equation" r:id="rId8" imgW="13204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760913"/>
                        <a:ext cx="337661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688164"/>
              </p:ext>
            </p:extLst>
          </p:nvPr>
        </p:nvGraphicFramePr>
        <p:xfrm>
          <a:off x="901700" y="5370513"/>
          <a:ext cx="253206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3" name="Equation" r:id="rId10" imgW="990360" imgH="253800" progId="Equation.DSMT4">
                  <p:embed/>
                </p:oleObj>
              </mc:Choice>
              <mc:Fallback>
                <p:oleObj name="Equation" r:id="rId10" imgW="990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5370513"/>
                        <a:ext cx="2532063" cy="6492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8" name="Object 6"/>
          <p:cNvGraphicFramePr>
            <a:graphicFrameLocks noChangeAspect="1"/>
          </p:cNvGraphicFramePr>
          <p:nvPr/>
        </p:nvGraphicFramePr>
        <p:xfrm>
          <a:off x="381000" y="1371600"/>
          <a:ext cx="53562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4" name="Equation" r:id="rId12" imgW="2095200" imgH="203040" progId="Equation.DSMT4">
                  <p:embed/>
                </p:oleObj>
              </mc:Choice>
              <mc:Fallback>
                <p:oleObj name="Equation" r:id="rId12" imgW="2095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53562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4" descr="C:\Users\Kari\AppData\Local\Microsoft\Windows\Temporary Internet Files\Content.IE5\8Y1BLIC5\MC900432601[1]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1219200"/>
            <a:ext cx="609372" cy="60937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343400" y="4572000"/>
            <a:ext cx="465201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Bradley Hand ITC" pitchFamily="66" charset="0"/>
              </a:rPr>
              <a:t>We are 90% confident that the survival rate is between 8.3% and 23.7% lower for metal tagged penguins, as opposed to electronically tagged.</a:t>
            </a:r>
            <a:endParaRPr lang="en-US" sz="2600" dirty="0">
              <a:latin typeface="Bradley Hand ITC" pitchFamily="66" charset="0"/>
            </a:endParaRPr>
          </a:p>
        </p:txBody>
      </p:sp>
      <p:pic>
        <p:nvPicPr>
          <p:cNvPr id="10" name="Picture 2" descr="http://www.ecoworld.com/wp-content/uploads/2011/01/tagged-penguins-401x500.jp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467600" y="1143000"/>
            <a:ext cx="1527810" cy="1905000"/>
          </a:xfrm>
          <a:prstGeom prst="rect">
            <a:avLst/>
          </a:prstGeom>
          <a:noFill/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4397349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1524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19400" y="2590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3"/>
              </a:rPr>
              <a:t>www.lock5stat.com/statkey</a:t>
            </a:r>
            <a:r>
              <a:rPr lang="en-US" dirty="0" smtClean="0"/>
              <a:t> </a:t>
            </a:r>
          </a:p>
        </p:txBody>
      </p:sp>
      <p:pic>
        <p:nvPicPr>
          <p:cNvPr id="5" name="Picture 2" descr="http://www.ecoworld.com/wp-content/uploads/2011/01/tagged-penguins-401x50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4419600"/>
            <a:ext cx="1527810" cy="1905000"/>
          </a:xfrm>
          <a:prstGeom prst="rect">
            <a:avLst/>
          </a:prstGeom>
          <a:noFill/>
        </p:spPr>
      </p:pic>
      <p:pic>
        <p:nvPicPr>
          <p:cNvPr id="339969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81199" y="1219200"/>
            <a:ext cx="6999387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78909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048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Hypothesis Testing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811802"/>
              </p:ext>
            </p:extLst>
          </p:nvPr>
        </p:nvGraphicFramePr>
        <p:xfrm>
          <a:off x="1828800" y="1905000"/>
          <a:ext cx="5486400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9" name="Equation" r:id="rId4" imgW="1841400" imgH="482400" progId="Equation.DSMT4">
                  <p:embed/>
                </p:oleObj>
              </mc:Choice>
              <mc:Fallback>
                <p:oleObj name="Equation" r:id="rId4" imgW="1841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05000"/>
                        <a:ext cx="5486400" cy="14366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258002"/>
              </p:ext>
            </p:extLst>
          </p:nvPr>
        </p:nvGraphicFramePr>
        <p:xfrm>
          <a:off x="3436938" y="4006850"/>
          <a:ext cx="2268537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0" name="Equation" r:id="rId6" imgW="761760" imgH="228600" progId="Equation.DSMT4">
                  <p:embed/>
                </p:oleObj>
              </mc:Choice>
              <mc:Fallback>
                <p:oleObj name="Equation" r:id="rId6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4006850"/>
                        <a:ext cx="2268537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5029200"/>
            <a:ext cx="8610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prstClr val="black"/>
                </a:solidFill>
                <a:cs typeface="Times New Roman" pitchFamily="18" charset="0"/>
              </a:rPr>
              <a:t>What should we use for </a:t>
            </a:r>
            <a:r>
              <a:rPr lang="en-US" sz="3000" i="1" dirty="0" smtClean="0">
                <a:solidFill>
                  <a:prstClr val="black"/>
                </a:solidFill>
                <a:cs typeface="Times New Roman" pitchFamily="18" charset="0"/>
              </a:rPr>
              <a:t>p</a:t>
            </a:r>
            <a:r>
              <a:rPr lang="en-US" sz="3000" baseline="-25000" dirty="0" smtClean="0">
                <a:solidFill>
                  <a:prstClr val="black"/>
                </a:solidFill>
                <a:cs typeface="Times New Roman" pitchFamily="18" charset="0"/>
              </a:rPr>
              <a:t>1</a:t>
            </a:r>
            <a:r>
              <a:rPr lang="en-US" sz="3000" dirty="0" smtClean="0">
                <a:solidFill>
                  <a:prstClr val="black"/>
                </a:solidFill>
                <a:cs typeface="Times New Roman" pitchFamily="18" charset="0"/>
              </a:rPr>
              <a:t> and </a:t>
            </a:r>
            <a:r>
              <a:rPr lang="en-US" sz="3000" i="1" dirty="0" smtClean="0">
                <a:solidFill>
                  <a:prstClr val="black"/>
                </a:solidFill>
                <a:cs typeface="Times New Roman" pitchFamily="18" charset="0"/>
              </a:rPr>
              <a:t>p</a:t>
            </a:r>
            <a:r>
              <a:rPr lang="en-US" sz="3000" baseline="-25000" dirty="0" smtClean="0">
                <a:solidFill>
                  <a:prstClr val="black"/>
                </a:solidFill>
                <a:cs typeface="Times New Roman" pitchFamily="18" charset="0"/>
              </a:rPr>
              <a:t>2</a:t>
            </a:r>
            <a:r>
              <a:rPr lang="en-US" sz="3000" dirty="0" smtClean="0">
                <a:solidFill>
                  <a:prstClr val="black"/>
                </a:solidFill>
                <a:cs typeface="Times New Roman" pitchFamily="18" charset="0"/>
              </a:rPr>
              <a:t> in the formula for SE for hypothesis testing?</a:t>
            </a: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  <a:p>
            <a:pPr>
              <a:spcAft>
                <a:spcPts val="1800"/>
              </a:spcAft>
            </a:pPr>
            <a:endParaRPr lang="en-US" sz="3200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pic>
        <p:nvPicPr>
          <p:cNvPr id="8" name="Picture 2" descr="http://www.isaac-online.org/cgi-bin/symbol.cgi/committeediscus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8600" y="462394"/>
            <a:ext cx="1047750" cy="571501"/>
          </a:xfrm>
          <a:prstGeom prst="rect">
            <a:avLst/>
          </a:prstGeom>
          <a:noFill/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31104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2286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Pooled Proportion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67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047965"/>
              </p:ext>
            </p:extLst>
          </p:nvPr>
        </p:nvGraphicFramePr>
        <p:xfrm>
          <a:off x="2819400" y="1303337"/>
          <a:ext cx="2951162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1" name="Equation" r:id="rId4" imgW="990360" imgH="431640" progId="Equation.DSMT4">
                  <p:embed/>
                </p:oleObj>
              </mc:Choice>
              <mc:Fallback>
                <p:oleObj name="Equation" r:id="rId4" imgW="9903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03337"/>
                        <a:ext cx="2951162" cy="128746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accent1">
                            <a:lumMod val="75000"/>
                          </a:schemeClr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012596"/>
              </p:ext>
            </p:extLst>
          </p:nvPr>
        </p:nvGraphicFramePr>
        <p:xfrm>
          <a:off x="762000" y="4195096"/>
          <a:ext cx="7391400" cy="2462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2" name="Equation" r:id="rId6" imgW="3047760" imgH="1015920" progId="Equation.DSMT4">
                  <p:embed/>
                </p:oleObj>
              </mc:Choice>
              <mc:Fallback>
                <p:oleObj name="Equation" r:id="rId6" imgW="3047760" imgH="1015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95096"/>
                        <a:ext cx="7391400" cy="2462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2400" y="2895600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Overall sample proportion across both groups.  It will be in between the two observed sample proportions.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5106130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Hypothesis Testing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1511300" y="1460500"/>
          <a:ext cx="61087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5" name="Equation" r:id="rId4" imgW="1993680" imgH="393480" progId="Equation.DSMT4">
                  <p:embed/>
                </p:oleObj>
              </mc:Choice>
              <mc:Fallback>
                <p:oleObj name="Equation" r:id="rId4" imgW="1993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1460500"/>
                        <a:ext cx="6108700" cy="1206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5" name="Object 5"/>
          <p:cNvGraphicFramePr>
            <a:graphicFrameLocks noChangeAspect="1"/>
          </p:cNvGraphicFramePr>
          <p:nvPr/>
        </p:nvGraphicFramePr>
        <p:xfrm>
          <a:off x="2157413" y="3084513"/>
          <a:ext cx="4629150" cy="217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Equation" r:id="rId6" imgW="1511280" imgH="711000" progId="Equation.DSMT4">
                  <p:embed/>
                </p:oleObj>
              </mc:Choice>
              <mc:Fallback>
                <p:oleObj name="Equation" r:id="rId6" imgW="15112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3084513"/>
                        <a:ext cx="4629150" cy="2178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463615"/>
            <a:ext cx="777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The p-value is the area in the tail(s) beyond </a:t>
            </a:r>
            <a:r>
              <a:rPr lang="en-US" sz="3200" i="1" dirty="0" smtClean="0"/>
              <a:t>z</a:t>
            </a:r>
            <a:r>
              <a:rPr lang="en-US" sz="3200" dirty="0" smtClean="0"/>
              <a:t> in a N(0,1)</a:t>
            </a:r>
            <a:endParaRPr lang="en-US" sz="32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642048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4114800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</a:rPr>
              <a:t>Are metal tags detrimental to penguins?</a:t>
            </a:r>
          </a:p>
        </p:txBody>
      </p:sp>
      <p:pic>
        <p:nvPicPr>
          <p:cNvPr id="8" name="Picture 2" descr="http://www.ecoworld.com/wp-content/uploads/2011/01/tagged-penguins-401x50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50050" y="1447800"/>
            <a:ext cx="2041550" cy="2545574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152400" y="1506141"/>
            <a:ext cx="6934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prstClr val="black"/>
                </a:solidFill>
                <a:cs typeface="Times New Roman" pitchFamily="18" charset="0"/>
              </a:rPr>
              <a:t>20% of the 167 metal tagged penguins survived, compared to 36% of the 189 electronic tagged penguins.</a:t>
            </a:r>
          </a:p>
          <a:p>
            <a:endParaRPr lang="en-US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878412"/>
              </p:ext>
            </p:extLst>
          </p:nvPr>
        </p:nvGraphicFramePr>
        <p:xfrm>
          <a:off x="2971800" y="4953000"/>
          <a:ext cx="2268537" cy="136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5" imgW="761760" imgH="457200" progId="Equation.DSMT4">
                  <p:embed/>
                </p:oleObj>
              </mc:Choice>
              <mc:Fallback>
                <p:oleObj name="Equation" r:id="rId5" imgW="76176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0"/>
                        <a:ext cx="2268537" cy="1362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77284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300" y="1143000"/>
            <a:ext cx="83058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 smtClean="0">
                <a:solidFill>
                  <a:prstClr val="black"/>
                </a:solidFill>
                <a:cs typeface="Times New Roman" pitchFamily="18" charset="0"/>
              </a:rPr>
              <a:t>Are metal tags detrimental to penguins?  </a:t>
            </a:r>
          </a:p>
          <a:p>
            <a:pPr>
              <a:spcAft>
                <a:spcPts val="1800"/>
              </a:spcAft>
            </a:pPr>
            <a:endParaRPr lang="en-US" sz="3400" dirty="0" smtClean="0">
              <a:solidFill>
                <a:prstClr val="black"/>
              </a:solidFill>
              <a:cs typeface="Times New Roman" pitchFamily="18" charset="0"/>
            </a:endParaRPr>
          </a:p>
        </p:txBody>
      </p:sp>
      <p:graphicFrame>
        <p:nvGraphicFramePr>
          <p:cNvPr id="279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323330"/>
              </p:ext>
            </p:extLst>
          </p:nvPr>
        </p:nvGraphicFramePr>
        <p:xfrm>
          <a:off x="147901" y="4800600"/>
          <a:ext cx="8843699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2" name="Equation" r:id="rId4" imgW="3187440" imgH="672840" progId="Equation.DSMT4">
                  <p:embed/>
                </p:oleObj>
              </mc:Choice>
              <mc:Fallback>
                <p:oleObj name="Equation" r:id="rId4" imgW="318744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01" y="4800600"/>
                        <a:ext cx="8843699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740167"/>
              </p:ext>
            </p:extLst>
          </p:nvPr>
        </p:nvGraphicFramePr>
        <p:xfrm>
          <a:off x="381000" y="3733800"/>
          <a:ext cx="374400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3" name="Equation" r:id="rId6" imgW="1384200" imgH="393480" progId="Equation.DSMT4">
                  <p:embed/>
                </p:oleObj>
              </mc:Choice>
              <mc:Fallback>
                <p:oleObj name="Equation" r:id="rId6" imgW="138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33800"/>
                        <a:ext cx="374400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741733"/>
              </p:ext>
            </p:extLst>
          </p:nvPr>
        </p:nvGraphicFramePr>
        <p:xfrm>
          <a:off x="2438400" y="1912471"/>
          <a:ext cx="3557587" cy="1673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4" name="Equation" r:id="rId8" imgW="1511280" imgH="711000" progId="Equation.DSMT4">
                  <p:embed/>
                </p:oleObj>
              </mc:Choice>
              <mc:Fallback>
                <p:oleObj name="Equation" r:id="rId8" imgW="15112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12471"/>
                        <a:ext cx="3557587" cy="167387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6968904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aphicFrame>
        <p:nvGraphicFramePr>
          <p:cNvPr id="279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087128"/>
              </p:ext>
            </p:extLst>
          </p:nvPr>
        </p:nvGraphicFramePr>
        <p:xfrm>
          <a:off x="509155" y="60198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Equation" r:id="rId4" imgW="622080" imgH="177480" progId="Equation.DSMT4">
                  <p:embed/>
                </p:oleObj>
              </mc:Choice>
              <mc:Fallback>
                <p:oleObj name="Equation" r:id="rId4" imgW="6220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55" y="6019800"/>
                        <a:ext cx="160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741628"/>
              </p:ext>
            </p:extLst>
          </p:nvPr>
        </p:nvGraphicFramePr>
        <p:xfrm>
          <a:off x="5444836" y="2286000"/>
          <a:ext cx="30368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Equation" r:id="rId6" imgW="1180800" imgH="203040" progId="Equation.DSMT4">
                  <p:embed/>
                </p:oleObj>
              </mc:Choice>
              <mc:Fallback>
                <p:oleObj name="Equation" r:id="rId6" imgW="1180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836" y="2286000"/>
                        <a:ext cx="3036888" cy="522288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chemeClr val="accent1">
                            <a:lumMod val="75000"/>
                          </a:schemeClr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10200" y="2971800"/>
            <a:ext cx="3581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Segoe Print" pitchFamily="2" charset="0"/>
              </a:rPr>
              <a:t>This is very strong evidence that metal tags are detrimental to penguins.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Segoe Print" pitchFamily="2" charset="0"/>
            </a:endParaRPr>
          </a:p>
        </p:txBody>
      </p:sp>
      <p:pic>
        <p:nvPicPr>
          <p:cNvPr id="49160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32" y="2286000"/>
            <a:ext cx="5130668" cy="3584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6755820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Metal Tags and Penguins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19400" y="2590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4"/>
              </a:rPr>
              <a:t>www.lock5stat.com/statkey</a:t>
            </a:r>
            <a:r>
              <a:rPr lang="en-US" dirty="0" smtClean="0"/>
              <a:t> </a:t>
            </a:r>
          </a:p>
        </p:txBody>
      </p:sp>
      <p:pic>
        <p:nvPicPr>
          <p:cNvPr id="2836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529" y="1295400"/>
            <a:ext cx="8037071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81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6201629"/>
              </p:ext>
            </p:extLst>
          </p:nvPr>
        </p:nvGraphicFramePr>
        <p:xfrm>
          <a:off x="3352800" y="5638800"/>
          <a:ext cx="30368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6" imgW="1180800" imgH="203040" progId="Equation.DSMT4">
                  <p:embed/>
                </p:oleObj>
              </mc:Choice>
              <mc:Fallback>
                <p:oleObj name="Equation" r:id="rId6" imgW="1180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638800"/>
                        <a:ext cx="3036888" cy="522288"/>
                      </a:xfrm>
                      <a:prstGeom prst="rect">
                        <a:avLst/>
                      </a:prstGeom>
                      <a:noFill/>
                      <a:ln w="31750">
                        <a:solidFill>
                          <a:schemeClr val="accent1">
                            <a:lumMod val="75000"/>
                          </a:schemeClr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622083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953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 smtClean="0">
                <a:solidFill>
                  <a:schemeClr val="tx2"/>
                </a:solidFill>
              </a:rPr>
              <a:t>Accuracy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13856" y="1447800"/>
            <a:ext cx="915785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3200" dirty="0" smtClean="0">
                <a:solidFill>
                  <a:prstClr val="black"/>
                </a:solidFill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The accuracy of intervals and p-values generated using simulation methods (bootstrapping and randomization) depends on the number of simulations (more simulations = more accurate)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  The accuracy of intervals and p-values generated using formulas and the normal distribution depends on the sample size (larger sample size = more accurate)</a:t>
            </a:r>
          </a:p>
          <a:p>
            <a:pPr>
              <a:spcAft>
                <a:spcPts val="1800"/>
              </a:spcAft>
              <a:buFont typeface="Arial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  <a:cs typeface="Times New Roman" pitchFamily="18" charset="0"/>
              </a:rPr>
              <a:t> If the distribution of the statistic is truly normal and you have generated many simulated randomizations, the p-values should be very close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1316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259080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In a </a:t>
            </a:r>
            <a:r>
              <a:rPr lang="en-US" sz="3200" b="1" dirty="0" smtClean="0"/>
              <a:t>randomized double-blind experiment, a </a:t>
            </a:r>
            <a:r>
              <a:rPr lang="en-US" sz="3200" b="1" dirty="0"/>
              <a:t>sample of </a:t>
            </a:r>
            <a:r>
              <a:rPr lang="en-US" sz="3200" b="1" dirty="0" smtClean="0"/>
              <a:t>150 patients were either given a treatment or a placebo.  </a:t>
            </a:r>
            <a:r>
              <a:rPr lang="en-US" sz="3200" b="1" dirty="0"/>
              <a:t>We want to test to see if </a:t>
            </a:r>
            <a:r>
              <a:rPr lang="en-US" sz="3200" b="1" dirty="0" smtClean="0"/>
              <a:t>the treatment is significantly better than a placebo at relieving pain. Using the data in the two-way table below, calculate the pooled proportion of patients that experienced pain relief.</a:t>
            </a:r>
            <a:endParaRPr lang="en-US" sz="3200" b="1" dirty="0"/>
          </a:p>
        </p:txBody>
      </p:sp>
      <p:sp>
        <p:nvSpPr>
          <p:cNvPr id="6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152400" y="4648200"/>
            <a:ext cx="2057400" cy="21992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0.212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0.38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0.5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060032"/>
              </p:ext>
            </p:extLst>
          </p:nvPr>
        </p:nvGraphicFramePr>
        <p:xfrm>
          <a:off x="152400" y="2819400"/>
          <a:ext cx="60960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Treatment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Placebo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Relieved pain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Did not relieve pain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54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082952"/>
              </p:ext>
            </p:extLst>
          </p:nvPr>
        </p:nvGraphicFramePr>
        <p:xfrm>
          <a:off x="6439277" y="2438400"/>
          <a:ext cx="2438400" cy="1063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Equation" r:id="rId5" imgW="990170" imgH="431613" progId="Equation.DSMT4">
                  <p:embed/>
                </p:oleObj>
              </mc:Choice>
              <mc:Fallback>
                <p:oleObj name="Equation" r:id="rId5" imgW="990170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9277" y="2438400"/>
                        <a:ext cx="2438400" cy="1063766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73714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2286000"/>
          </a:xfrm>
        </p:spPr>
        <p:txBody>
          <a:bodyPr>
            <a:noAutofit/>
          </a:bodyPr>
          <a:lstStyle/>
          <a:p>
            <a:r>
              <a:rPr lang="en-US" sz="3000" b="1" dirty="0"/>
              <a:t>In a </a:t>
            </a:r>
            <a:r>
              <a:rPr lang="en-US" sz="3000" b="1" dirty="0" smtClean="0"/>
              <a:t>randomized double-blind experiment, a </a:t>
            </a:r>
            <a:r>
              <a:rPr lang="en-US" sz="3000" b="1" dirty="0"/>
              <a:t>sample of </a:t>
            </a:r>
            <a:r>
              <a:rPr lang="en-US" sz="3000" b="1" dirty="0" smtClean="0"/>
              <a:t>150 patients were either given a treatment or a placebo.  </a:t>
            </a:r>
            <a:r>
              <a:rPr lang="en-US" sz="3000" b="1" dirty="0"/>
              <a:t>We want to test to see if </a:t>
            </a:r>
            <a:r>
              <a:rPr lang="en-US" sz="3000" b="1" dirty="0" smtClean="0"/>
              <a:t>the treatment is significantly better than a placebo at relieving pain. Calculate the test statistic. (Group 1 = Treatment, Group 2 = Placebo).</a:t>
            </a:r>
            <a:endParaRPr lang="en-US" sz="3000" b="1" dirty="0"/>
          </a:p>
        </p:txBody>
      </p:sp>
      <p:sp>
        <p:nvSpPr>
          <p:cNvPr id="6" name="TPAnswers"/>
          <p:cNvSpPr>
            <a:spLocks noGrp="1"/>
          </p:cNvSpPr>
          <p:nvPr>
            <p:ph sz="quarter" idx="4294967295"/>
            <p:custDataLst>
              <p:tags r:id="rId3"/>
            </p:custDataLst>
          </p:nvPr>
        </p:nvSpPr>
        <p:spPr>
          <a:xfrm>
            <a:off x="152400" y="4648200"/>
            <a:ext cx="2057400" cy="21992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1.57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1.65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1.96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2.52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07384"/>
              </p:ext>
            </p:extLst>
          </p:nvPr>
        </p:nvGraphicFramePr>
        <p:xfrm>
          <a:off x="76200" y="2438400"/>
          <a:ext cx="60960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Treatment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Placebo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Relieved pain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Did not relieve pain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54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65023"/>
              </p:ext>
            </p:extLst>
          </p:nvPr>
        </p:nvGraphicFramePr>
        <p:xfrm>
          <a:off x="6172200" y="2286000"/>
          <a:ext cx="2895600" cy="1362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9" name="Equation" r:id="rId5" imgW="1511300" imgH="711200" progId="Equation.DSMT4">
                  <p:embed/>
                </p:oleObj>
              </mc:Choice>
              <mc:Fallback>
                <p:oleObj name="Equation" r:id="rId5" imgW="1511300" imgH="71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286000"/>
                        <a:ext cx="2895600" cy="13624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9023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76200"/>
            <a:ext cx="9144000" cy="2209800"/>
          </a:xfrm>
        </p:spPr>
        <p:txBody>
          <a:bodyPr>
            <a:noAutofit/>
          </a:bodyPr>
          <a:lstStyle/>
          <a:p>
            <a:r>
              <a:rPr lang="en-US" sz="2800" b="1" dirty="0"/>
              <a:t>In a </a:t>
            </a:r>
            <a:r>
              <a:rPr lang="en-US" sz="2800" b="1" dirty="0" smtClean="0"/>
              <a:t>randomized double-blind experiment, a </a:t>
            </a:r>
            <a:r>
              <a:rPr lang="en-US" sz="2800" b="1" dirty="0"/>
              <a:t>sample of </a:t>
            </a:r>
            <a:r>
              <a:rPr lang="en-US" sz="2800" b="1" dirty="0" smtClean="0"/>
              <a:t>150 patients were either given a treatment or a placebo.  </a:t>
            </a:r>
            <a:r>
              <a:rPr lang="en-US" sz="2800" b="1" dirty="0"/>
              <a:t>We want to test to see if </a:t>
            </a:r>
            <a:r>
              <a:rPr lang="en-US" sz="2800" b="1" dirty="0" smtClean="0"/>
              <a:t>the treatment is significantly better than a placebo at relieving pain. What is the p-value? (Group 1 = Treatment, Group 2 = Placebo).</a:t>
            </a:r>
            <a:endParaRPr lang="en-US" sz="2800" b="1" dirty="0"/>
          </a:p>
        </p:txBody>
      </p:sp>
      <p:sp>
        <p:nvSpPr>
          <p:cNvPr id="6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152400" y="4648200"/>
            <a:ext cx="2057400" cy="21992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0.0059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0.059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0.05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0.842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444868"/>
              </p:ext>
            </p:extLst>
          </p:nvPr>
        </p:nvGraphicFramePr>
        <p:xfrm>
          <a:off x="76200" y="2438400"/>
          <a:ext cx="6096000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Treatment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Placebo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Relieved pain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Did not relieve pain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54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Total</a:t>
                      </a:r>
                      <a:endParaRPr lang="en-US" b="1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58824" y="1792586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hlinkClick r:id="rId4"/>
              </a:rPr>
              <a:t>StatKey</a:t>
            </a:r>
            <a:endParaRPr lang="en-US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264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>
                <a:noAutofit/>
              </a:bodyPr>
              <a:lstStyle/>
              <a:p>
                <a:r>
                  <a:rPr lang="en-US" sz="25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Standard error </a:t>
                </a:r>
                <a:r>
                  <a:rPr lang="en-US" sz="2500" dirty="0" smtClean="0"/>
                  <a:t>for a difference in proportions: 					SE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500" i="1" smtClean="0">
                            <a:latin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500" i="1" smtClean="0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25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5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500" b="0" i="1" smtClean="0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500" i="1"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5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sz="2500" b="1" dirty="0" smtClean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US" sz="25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Central </a:t>
                </a:r>
                <a:r>
                  <a:rPr lang="en-US" sz="2500" b="1" dirty="0">
                    <a:solidFill>
                      <a:schemeClr val="accent5">
                        <a:lumMod val="75000"/>
                      </a:schemeClr>
                    </a:solidFill>
                  </a:rPr>
                  <a:t>Limit Theorem for </a:t>
                </a:r>
                <a:r>
                  <a:rPr lang="en-US" sz="25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a difference in proportions:</a:t>
                </a:r>
                <a:r>
                  <a:rPr lang="en-US" sz="2500" dirty="0" smtClean="0"/>
                  <a:t>  </a:t>
                </a:r>
                <a:r>
                  <a:rPr lang="en-US" sz="2500" dirty="0">
                    <a:solidFill>
                      <a:prstClr val="black"/>
                    </a:solidFill>
                    <a:cs typeface="Times New Roman" pitchFamily="18" charset="0"/>
                  </a:rPr>
                  <a:t>If counts within each category (each cell of the two-way table) are at least </a:t>
                </a:r>
                <a:r>
                  <a:rPr lang="en-US" sz="2500" dirty="0" smtClean="0">
                    <a:solidFill>
                      <a:prstClr val="black"/>
                    </a:solidFill>
                    <a:cs typeface="Times New Roman" pitchFamily="18" charset="0"/>
                  </a:rPr>
                  <a:t>10,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50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≈</m:t>
                    </m:r>
                    <m:r>
                      <a:rPr lang="en-US" sz="2500" b="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𝑁</m:t>
                    </m:r>
                    <m:d>
                      <m:dPr>
                        <m:ctrlP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US" sz="25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25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500" i="1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5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500" i="1">
                                <a:latin typeface="Cambria Math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25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500" i="1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5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sz="2500" dirty="0">
                    <a:solidFill>
                      <a:prstClr val="black"/>
                    </a:solidFill>
                    <a:cs typeface="Times New Roman" pitchFamily="18" charset="0"/>
                  </a:rPr>
                  <a:t>.</a:t>
                </a:r>
              </a:p>
              <a:p>
                <a:pPr lvl="1"/>
                <a:r>
                  <a:rPr lang="en-US" sz="2500" b="1" dirty="0" smtClean="0">
                    <a:solidFill>
                      <a:schemeClr val="accent5">
                        <a:lumMod val="75000"/>
                      </a:schemeClr>
                    </a:solidFill>
                    <a:cs typeface="Times New Roman" pitchFamily="18" charset="0"/>
                  </a:rPr>
                  <a:t>For a CI</a:t>
                </a:r>
                <a:r>
                  <a:rPr lang="en-US" sz="2500" dirty="0" smtClean="0">
                    <a:solidFill>
                      <a:prstClr val="black"/>
                    </a:solidFill>
                    <a:cs typeface="Times New Roman" pitchFamily="18" charset="0"/>
                  </a:rPr>
                  <a:t>,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 smtClean="0">
                            <a:solidFill>
                              <a:prstClr val="black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500" i="1" smtClean="0">
                                <a:solidFill>
                                  <a:prstClr val="black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prstClr val="black"/>
                        </a:solidFill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500" dirty="0"/>
                      <m:t>in</m:t>
                    </m:r>
                    <m:r>
                      <m:rPr>
                        <m:nor/>
                      </m:rPr>
                      <a:rPr lang="en-US" sz="2500" dirty="0"/>
                      <m:t> </m:t>
                    </m:r>
                    <m:r>
                      <m:rPr>
                        <m:nor/>
                      </m:rPr>
                      <a:rPr lang="en-US" sz="2500" dirty="0"/>
                      <m:t>place</m:t>
                    </m:r>
                    <m:r>
                      <m:rPr>
                        <m:nor/>
                      </m:rPr>
                      <a:rPr lang="en-US" sz="2500" dirty="0"/>
                      <m:t> </m:t>
                    </m:r>
                    <m:r>
                      <m:rPr>
                        <m:nor/>
                      </m:rPr>
                      <a:rPr lang="en-US" sz="2500" dirty="0"/>
                      <m:t>of</m:t>
                    </m:r>
                    <m:r>
                      <m:rPr>
                        <m:nor/>
                      </m:rPr>
                      <a:rPr lang="en-US" sz="2500" dirty="0"/>
                      <m:t> </m:t>
                    </m:r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500" b="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 </m:t>
                    </m:r>
                    <m:r>
                      <a:rPr lang="en-US" sz="2500" b="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𝑎𝑛𝑑</m:t>
                    </m:r>
                    <m:r>
                      <a:rPr lang="en-US" sz="2500" b="0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500" b="0" i="1" smtClean="0">
                                <a:solidFill>
                                  <a:prstClr val="black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500" b="0" i="1" smtClean="0">
                            <a:solidFill>
                              <a:prstClr val="black"/>
                            </a:solidFill>
                            <a:latin typeface="Cambria Math"/>
                            <a:cs typeface="Times New Roman" pitchFamily="18" charset="0"/>
                          </a:rPr>
                          <m:t>2 </m:t>
                        </m:r>
                      </m:sub>
                    </m:sSub>
                  </m:oMath>
                </a14:m>
                <a:r>
                  <a:rPr lang="en-US" sz="2500" dirty="0" smtClean="0"/>
                  <a:t>in place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500" dirty="0" smtClean="0"/>
                  <a:t>:</a:t>
                </a:r>
              </a:p>
              <a:p>
                <a:pPr marL="365760" lvl="1" indent="0">
                  <a:buNone/>
                </a:pPr>
                <a:r>
                  <a:rPr lang="en-US" sz="2500" dirty="0"/>
                  <a:t>	</a:t>
                </a:r>
                <a:r>
                  <a:rPr lang="en-US" sz="2500" dirty="0" smtClean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500" i="1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sz="2500" i="1" smtClean="0">
                        <a:latin typeface="Cambria Math"/>
                        <a:ea typeface="Cambria Math"/>
                      </a:rPr>
                      <m:t>±</m:t>
                    </m:r>
                    <m:sSup>
                      <m:sSupPr>
                        <m:ctrlPr>
                          <a:rPr lang="en-US" sz="250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/>
                            <a:ea typeface="Cambria Math"/>
                          </a:rPr>
                          <m:t>𝑧</m:t>
                        </m:r>
                      </m:e>
                      <m:sup>
                        <m:r>
                          <a:rPr lang="en-US" sz="2500" b="0" i="1" smtClean="0">
                            <a:latin typeface="Cambria Math"/>
                            <a:ea typeface="Cambria Math"/>
                          </a:rPr>
                          <m:t>∗</m:t>
                        </m:r>
                      </m:sup>
                    </m:sSup>
                    <m:r>
                      <a:rPr lang="en-US" sz="2500" i="1" smtClean="0">
                        <a:latin typeface="Cambria Math"/>
                        <a:ea typeface="Cambria Math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sz="250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50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50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5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  <a:ea typeface="Cambria Math"/>
                                            <a:cs typeface="Times New Roman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5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  <a:ea typeface="Cambria Math"/>
                                            <a:cs typeface="Times New Roman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2500" b="0" i="1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US" sz="2500" i="1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500" b="0" i="1" smtClean="0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sz="2500" i="1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5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  <a:ea typeface="Cambria Math"/>
                                            <a:cs typeface="Times New Roman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500" i="1">
                                            <a:solidFill>
                                              <a:prstClr val="black"/>
                                            </a:solidFill>
                                            <a:latin typeface="Cambria Math"/>
                                            <a:ea typeface="Cambria Math"/>
                                            <a:cs typeface="Times New Roman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500" b="0" i="1" smtClean="0">
                                        <a:solidFill>
                                          <a:prstClr val="black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sz="2500" dirty="0" smtClean="0"/>
              </a:p>
              <a:p>
                <a:pPr lvl="1"/>
                <a:r>
                  <a:rPr lang="en-US" sz="2500" b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For a Hypothesis Test</a:t>
                </a:r>
                <a:r>
                  <a:rPr lang="en-US" sz="2500" dirty="0" smtClean="0"/>
                  <a:t>, use the </a:t>
                </a:r>
                <a:r>
                  <a:rPr lang="en-US" sz="2500" b="1" i="1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pooled proportion</a:t>
                </a:r>
                <a:r>
                  <a:rPr lang="en-US" sz="2500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5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500" b="0" i="1" smtClean="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lang="en-US" sz="2500" dirty="0" smtClean="0"/>
                  <a:t>, in place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5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500" dirty="0" smtClean="0"/>
                  <a:t>when calculating the standardized statistic:   </a:t>
                </a:r>
              </a:p>
              <a:p>
                <a:pPr marL="365760" lvl="1" indent="0">
                  <a:buNone/>
                </a:pPr>
                <a:r>
                  <a:rPr lang="en-US" sz="2500" b="0" dirty="0" smtClean="0"/>
                  <a:t>   </a:t>
                </a:r>
                <a14:m>
                  <m:oMath xmlns:m="http://schemas.openxmlformats.org/officeDocument/2006/math">
                    <m:r>
                      <a:rPr lang="en-US" sz="2500" b="0" i="0" smtClean="0">
                        <a:latin typeface="Cambria Math"/>
                      </a:rPr>
                      <m:t>   </m:t>
                    </m:r>
                    <m:r>
                      <a:rPr lang="en-US" sz="2500" b="0" i="1" smtClean="0">
                        <a:latin typeface="Cambria Math"/>
                      </a:rPr>
                      <m:t>𝑧</m:t>
                    </m:r>
                    <m:r>
                      <a:rPr lang="en-US" sz="25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500" i="1">
                            <a:latin typeface="Cambria Math"/>
                          </a:rPr>
                          <m:t>−0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500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500" i="1"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500" i="1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500" i="1">
                                <a:latin typeface="Cambria Math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1−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500" i="1">
                                            <a:latin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500" i="1">
                                            <a:latin typeface="Cambria Math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25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5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  <m:r>
                      <a:rPr lang="en-US" sz="25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5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500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5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500" i="1">
                                <a:solidFill>
                                  <a:prstClr val="black"/>
                                </a:solidFill>
                                <a:latin typeface="Cambria Math"/>
                                <a:ea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/>
                          </a:rPr>
                          <m:t>−0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500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acc>
                              <m:accPr>
                                <m:chr m:val="̂"/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1−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2500" b="0" i="1" smtClean="0">
                                        <a:latin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500" b="0" i="1" smtClean="0">
                                        <a:latin typeface="Cambria Math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5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5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5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500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500" b="0" i="1" smtClean="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5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5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5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500" b="0" i="1" smtClean="0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2500" b="0" i="1" smtClean="0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r>
                  <a:rPr lang="en-US" sz="2500" dirty="0" smtClean="0"/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5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2500" b="0" i="1" smtClean="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sz="25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5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500" b="0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500" b="0" i="1" smtClean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500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5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500" i="1" smtClean="0">
                                <a:latin typeface="Cambria Math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500" i="1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sz="2500" i="1">
                                    <a:latin typeface="Cambria Math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5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5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500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5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500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5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3"/>
                <a:stretch>
                  <a:fillRect l="-133" t="-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pPr lvl="0" algn="ctr"/>
            <a:r>
              <a:rPr lang="en-US" b="1" dirty="0" smtClean="0"/>
              <a:t>Summary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4342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POINTVERSION" val="14.0"/>
  <p:tag name="PPVERSION" val="14.0"/>
  <p:tag name="DELIMITERS" val="3.1"/>
  <p:tag name="TASKPANEKEY" val="2c8b635c-af51-4353-889e-16ff1785ad44"/>
  <p:tag name="SHOWBARVISIBLE" val="True"/>
  <p:tag name="USESECONDARYMONITOR" val="True"/>
  <p:tag name="SAVECSVWITHSESSION" val="True"/>
  <p:tag name="CSVFORMAT" val="0"/>
  <p:tag name="BULLETTYPE" val="3"/>
  <p:tag name="ANSWERNOWSTYLE" val="-1"/>
  <p:tag name="ANSWERNOWTEXT" val="Answer Now"/>
  <p:tag name="COUNTDOWNSTYLE" val="-1"/>
  <p:tag name="RESPCOUNTERSTYLE" val="-1"/>
  <p:tag name="RESPCOUNTERFORMAT" val="0"/>
  <p:tag name="RESPTABLESTYLE" val="-1"/>
  <p:tag name="COUNTDOWNSECONDS" val="10"/>
  <p:tag name="INPUTSOURCE" val="1"/>
  <p:tag name="NUMRESPONSES" val="1"/>
  <p:tag name="ALLOWDUPLICATES" val="False"/>
  <p:tag name="BACKUPSESSIONS" val="True"/>
  <p:tag name="BACKUPMAINTENANCE" val="7"/>
  <p:tag name="CHARTVALUEFORMAT" val="0%"/>
  <p:tag name="AUTOADVANCE" val="False"/>
  <p:tag name="REVIEWONLY" val="False"/>
  <p:tag name="ROTATIONINTERVAL" val="2"/>
  <p:tag name="AUTOUPDATEALIASES" val="True"/>
  <p:tag name="STDCHART" val="1"/>
  <p:tag name="RACEENDPOINTS" val="100"/>
  <p:tag name="RACERSMAXDISPLAYED" val="5"/>
  <p:tag name="RACEANIMATIONSPEED" val="3"/>
  <p:tag name="SKIPREMAININGRACESLIDES" val="True"/>
  <p:tag name="PARTICIPANTSINLEADERBOARD" val="5"/>
  <p:tag name="TEAMSINLEADERBOARD" val="5"/>
  <p:tag name="MAXRESPONDERS" val="5"/>
  <p:tag name="BUBBLENAMEVISIBLE" val="True"/>
  <p:tag name="BUBBLESIZEVISIBLE" val="True"/>
  <p:tag name="BUBBLEVALUEFORMAT" val="0.0"/>
  <p:tag name="BUBBLEGROUPING" val="3"/>
  <p:tag name="DEFAULTNUMTEAMS" val="5"/>
  <p:tag name="CUSTOMGRIDBACKCOLOR" val="-2830136"/>
  <p:tag name="CUSTOMCELLFORECOLOR" val="-16777216"/>
  <p:tag name="CUSTOMCELLBACKCOLOR1" val="-657956"/>
  <p:tag name="CUSTOMCELLBACKCOLOR2" val="-13395457"/>
  <p:tag name="CUSTOMCELLBACKCOLOR3" val="-268652"/>
  <p:tag name="CUSTOMCELLBACKCOLOR4" val="-8355712"/>
  <p:tag name="USESCHEMECOLORS" val="True"/>
  <p:tag name="DISPLAYNAME" val="True"/>
  <p:tag name="DISPLAYDEVICENUMBER" val="True"/>
  <p:tag name="DISPLAYDEVICEID" val="True"/>
  <p:tag name="GRIDOPACITY" val="90"/>
  <p:tag name="GRIDROTATIONINTERVAL" val="2"/>
  <p:tag name="AUTOSIZEGRID" val="True"/>
  <p:tag name="GRIDSIZE" val="{Width=800, Height=600}"/>
  <p:tag name="GRIDPOSITION" val="1"/>
  <p:tag name="GRIDFONTSIZE" val="12"/>
  <p:tag name="POLLINGCYCLE" val="2"/>
  <p:tag name="CHARTCOLORS" val="0"/>
  <p:tag name="CHARTLABELS" val="0"/>
  <p:tag name="RESETCHARTS" val="True"/>
  <p:tag name="INCLUDENONRESPONDERS" val="False"/>
  <p:tag name="MULTIRESPDIVISOR" val="1"/>
  <p:tag name="INCLUDEPPT" val="True"/>
  <p:tag name="ALLOWUSERFEEDBACK" val="True"/>
  <p:tag name="CORRECTPOINTVALUE" val="100"/>
  <p:tag name="INCORRECTPOINTVALUE" val="0"/>
  <p:tag name="REALTIMEBACKUP" val="False"/>
  <p:tag name="REALTIMEBACKUPPATH" val="(None)"/>
  <p:tag name="ZEROBASED" val="False"/>
  <p:tag name="AUTOADJUSTPARTRANGE" val="True"/>
  <p:tag name="CHARTSCALE" val="True"/>
  <p:tag name="ADVANCEDSETTINGSVIEW" val="False"/>
  <p:tag name="FIBDISPLAYRESULTS" val="True"/>
  <p:tag name="FIBNUMRESULTS" val="5"/>
  <p:tag name="FIBINCLUDEOTHER" val="True"/>
  <p:tag name="FIBDISPLAYKEYWORDS" val="True"/>
  <p:tag name="PRRESPONSE1" val="10"/>
  <p:tag name="PRRESPONSE2" val="9"/>
  <p:tag name="PRRESPONSE3" val="8"/>
  <p:tag name="PRRESPONSE4" val="7"/>
  <p:tag name="PRRESPONSE5" val="6"/>
  <p:tag name="PRRESPONSE6" val="5"/>
  <p:tag name="PRRESPONSE7" val="4"/>
  <p:tag name="PRRESPONSE8" val="3"/>
  <p:tag name="PRRESPONSE9" val="2"/>
  <p:tag name="PRRESPONSE10" val="1"/>
  <p:tag name="SHOWFLASHWARNING" val="True"/>
  <p:tag name="ALWAYSOPENPOLL" val="False"/>
  <p:tag name="INCLUDESESSION" val="True"/>
  <p:tag name="EXPANDSHOWBAR" val="True"/>
  <p:tag name="TPPRESENTATIONGUID" val="b5cd044f-f56f-4e96-b68d-42a5e700c32f"/>
  <p:tag name="WASPOLLED" val="6FA5227D5EE846F7B8800CC9366B4CA6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673549ACDC4B4986AC3DA370E0BEF5AA&lt;/guid&gt;&#10;        &lt;description /&gt;&#10;        &lt;date&gt;8/1/2017 4:57:1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16E5430C98744E31A4939780336C731B&lt;/guid&gt;&#10;            &lt;repollguid&gt;349CD5F093B746F5B678F600C75D5BE8&lt;/repollguid&gt;&#10;            &lt;sourceid&gt;9C0E04209CBA43C2B5C51A3AEE5FD4C8&lt;/sourceid&gt;&#10;            &lt;questiontext&gt;You want to compare the proportion of students who use a Windows-based PC to the proportion who use a Mac. This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F3FC473DEE2D4AA7877AD0D49D2BDE36&lt;/guid&gt;&#10;                    &lt;answertext&gt;Inference for one proportion &lt;/answertext&gt;&#10;                    &lt;valuetype&gt;0&lt;/valuetype&gt;&#10;                &lt;/answer&gt;&#10;                &lt;answer&gt;&#10;                    &lt;guid&gt;32532C18293B4B969F0FBEADC15C40F5&lt;/guid&gt;&#10;                    &lt;answertext&gt;Inference for two proportion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C48B9A6925DE4C2080F8245113926831&lt;/guid&gt;&#10;        &lt;description /&gt;&#10;        &lt;date&gt;8/1/2017 4:57:4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B8E47BE64404363A222E62C70B2EEDA&lt;/guid&gt;&#10;            &lt;repollguid&gt;047020C6C5F4478395E9253DCB5315E2&lt;/repollguid&gt;&#10;            &lt;sourceid&gt;D84557E0C59B4248A5D7B0A78AD8E93F&lt;/sourceid&gt;&#10;            &lt;questiontext&gt;You want to compare the proportion of students who study abroad between those attending public universities and those at private universities.  This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6FB207B085D4415B89055ACDE0AB2728&lt;/guid&gt;&#10;                    &lt;answertext&gt;Inference for one proportion&lt;/answertext&gt;&#10;                    &lt;valuetype&gt;0&lt;/valuetype&gt;&#10;                &lt;/answer&gt;&#10;                &lt;answer&gt;&#10;                    &lt;guid&gt;9EB4FAAD06244CC183B6044783CA36B2&lt;/guid&gt;&#10;                    &lt;answertext&gt;Inference for two proportion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28E236FE34E64A4FA3483850471F2A86&lt;/guid&gt;&#10;        &lt;description /&gt;&#10;        &lt;date&gt;8/1/2017 4:58:1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249712DD7BFC40109298ED7C07005DA8&lt;/guid&gt;&#10;            &lt;repollguid&gt;C35CC5B908B7478BBA97803E4DC90C27&lt;/repollguid&gt;&#10;            &lt;sourceid&gt;FE6CE20CE8F34AA09FB9EA60B346A324&lt;/sourceid&gt;&#10;            &lt;questiontext&gt;You want to compare the proportion of in-state students at a university to the proportion from outside the state. This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58D47355E24C4A9F8CA6821FA7BD24EB&lt;/guid&gt;&#10;                    &lt;answertext&gt;Inference for one proportion &lt;/answertext&gt;&#10;                    &lt;valuetype&gt;0&lt;/valuetype&gt;&#10;                &lt;/answer&gt;&#10;                &lt;answer&gt;&#10;                    &lt;guid&gt;CFB81B9AB02148F496CA7AFFB53DF7E9&lt;/guid&gt;&#10;                    &lt;answertext&gt;Inference for two proportion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  <p:tag name="TYPE" val="MultiChoiceSlide"/>
  <p:tag name="TPQUESTIONXML" val="﻿&lt;?xml version=&quot;1.0&quot; encoding=&quot;utf-8&quot;?&gt;&#10;&lt;questionlist&gt;&#10;    &lt;properties&gt;&#10;        &lt;guid&gt;69035C9F3B9C4095B025D73E31BF2B7A&lt;/guid&gt;&#10;        &lt;description /&gt;&#10;        &lt;date&gt;8/1/2017 4:59:52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4EDC7F83AE0D43519F279E84ADBC9C18&lt;/guid&gt;&#10;            &lt;repollguid&gt;7EB3AC99ED5C4A8B95E726C982E5F57C&lt;/repollguid&gt;&#10;            &lt;sourceid&gt;24F3F75D2BD646BFA3247585CA02FC1B&lt;/sourceid&gt;&#10;            &lt;questiontext&gt;You want to compare the proportion of in-state students who get financial aid to the proportion of out-of-state students who get financial aid. This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318D68A22BBE49D5810CE914EF332846&lt;/guid&gt;&#10;                    &lt;answertext&gt;Inference for one proportion &lt;/answertext&gt;&#10;                    &lt;valuetype&gt;0&lt;/valuetype&gt;&#10;                &lt;/answer&gt;&#10;                &lt;answer&gt;&#10;                    &lt;guid&gt;85BF5F540B6A4201963B56BAFFD7F41C&lt;/guid&gt;&#10;                    &lt;answertext&gt;Inference for two proportion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AF40B4026974FA09F7265C5F6AA9BD8&lt;/guid&gt;&#10;        &lt;description /&gt;&#10;        &lt;date&gt;8/1/2017 2:06:5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1511BD70AD54D478A7A62246F59A089&lt;/guid&gt;&#10;            &lt;repollguid&gt;AE2AD96EC4B345EBB3EADCE54A684957&lt;/repollguid&gt;&#10;            &lt;sourceid&gt;BE8D61E47C164EDD8AB3F9C4E626ED27&lt;/sourceid&gt;&#10;            &lt;questiontext&gt;In a randomized double-blind experiment, a sample of 150 patients were either given a treatment or a placebo.  We want to test to see if the treatment is significantly better than a placebo at relieving pain. Using the data in the two-way table below, calculate the pooled proportion of patients that experienced pain relief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9A6B8B2D3301489B942463C0270D46D4&lt;/guid&gt;&#10;                    &lt;answertext&gt;0.2&lt;/answertext&gt;&#10;                    &lt;valuetype&gt;0&lt;/valuetype&gt;&#10;                &lt;/answer&gt;&#10;                &lt;answer&gt;&#10;                    &lt;guid&gt;15D12BFEC44441BFB93898DA06556204&lt;/guid&gt;&#10;                    &lt;answertext&gt;0.212&lt;/answertext&gt;&#10;                    &lt;valuetype&gt;0&lt;/valuetype&gt;&#10;                &lt;/answer&gt;&#10;                &lt;answer&gt;&#10;                    &lt;guid&gt;61CE2AAEF3C34BB69FC2EE48871D99E0&lt;/guid&gt;&#10;                    &lt;answertext&gt;0.38&lt;/answertext&gt;&#10;                    &lt;valuetype&gt;0&lt;/valuetype&gt;&#10;                &lt;/answer&gt;&#10;                &lt;answer&gt;&#10;                    &lt;guid&gt;5A68AFE1AD504261B57502D043A4565A&lt;/guid&gt;&#10;                    &lt;answertext&gt;0.5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AF40B4026974FA09F7265C5F6AA9BD8&lt;/guid&gt;&#10;        &lt;description /&gt;&#10;        &lt;date&gt;8/1/2017 2:06:5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05D42C92C4041C6AEFC5765108A45A4&lt;/guid&gt;&#10;            &lt;repollguid&gt;AE2AD96EC4B345EBB3EADCE54A684957&lt;/repollguid&gt;&#10;            &lt;sourceid&gt;BE8D61E47C164EDD8AB3F9C4E626ED27&lt;/sourceid&gt;&#10;            &lt;questiontext&gt;In a randomized double-blind experiment, a sample of 150 patients were either given a treatment or a placebo.  We want to test to see if the treatment is significantly better than a placebo at relieving pain. Calculate the test statistic. (Group 1 = Treatment, Group 2 = Placebo)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9A6B8B2D3301489B942463C0270D46D4&lt;/guid&gt;&#10;                    &lt;answertext&gt;1.57&lt;/answertext&gt;&#10;                    &lt;valuetype&gt;0&lt;/valuetype&gt;&#10;                &lt;/answer&gt;&#10;                &lt;answer&gt;&#10;                    &lt;guid&gt;15D12BFEC44441BFB93898DA06556204&lt;/guid&gt;&#10;                    &lt;answertext&gt;1.65&lt;/answertext&gt;&#10;                    &lt;valuetype&gt;0&lt;/valuetype&gt;&#10;                &lt;/answer&gt;&#10;                &lt;answer&gt;&#10;                    &lt;guid&gt;61CE2AAEF3C34BB69FC2EE48871D99E0&lt;/guid&gt;&#10;                    &lt;answertext&gt;1.96&lt;/answertext&gt;&#10;                    &lt;valuetype&gt;0&lt;/valuetype&gt;&#10;                &lt;/answer&gt;&#10;                &lt;answer&gt;&#10;                    &lt;guid&gt;5A68AFE1AD504261B57502D043A4565A&lt;/guid&gt;&#10;                    &lt;answertext&gt;2.52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AF40B4026974FA09F7265C5F6AA9BD8&lt;/guid&gt;&#10;        &lt;description /&gt;&#10;        &lt;date&gt;8/1/2017 2:06:5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5A051D9EB5484F2DA56401798C291860&lt;/guid&gt;&#10;            &lt;repollguid&gt;AE2AD96EC4B345EBB3EADCE54A684957&lt;/repollguid&gt;&#10;            &lt;sourceid&gt;BE8D61E47C164EDD8AB3F9C4E626ED27&lt;/sourceid&gt;&#10;            &lt;questiontext&gt;In a randomized double-blind experiment, a sample of 150 patients were either given a treatment or a placebo.  We want to test to see if the treatment is significantly better than a placebo at relieving pain. What is the p-value? (Group 1 = Treatment, Group 2 = Placebo)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9A6B8B2D3301489B942463C0270D46D4&lt;/guid&gt;&#10;                    &lt;answertext&gt;0.0059&lt;/answertext&gt;&#10;                    &lt;valuetype&gt;0&lt;/valuetype&gt;&#10;                &lt;/answer&gt;&#10;                &lt;answer&gt;&#10;                    &lt;guid&gt;15D12BFEC44441BFB93898DA06556204&lt;/guid&gt;&#10;                    &lt;answertext&gt;0.059&lt;/answertext&gt;&#10;                    &lt;valuetype&gt;0&lt;/valuetype&gt;&#10;                &lt;/answer&gt;&#10;                &lt;answer&gt;&#10;                    &lt;guid&gt;61CE2AAEF3C34BB69FC2EE48871D99E0&lt;/guid&gt;&#10;                    &lt;answertext&gt;0.05&lt;/answertext&gt;&#10;                    &lt;valuetype&gt;0&lt;/valuetype&gt;&#10;                &lt;/answer&gt;&#10;                &lt;answer&gt;&#10;                    &lt;guid&gt;5A68AFE1AD504261B57502D043A4565A&lt;/guid&gt;&#10;                    &lt;answertext&gt;0.842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</TotalTime>
  <Words>816</Words>
  <Application>Microsoft Office PowerPoint</Application>
  <PresentationFormat>On-screen Show (4:3)</PresentationFormat>
  <Paragraphs>121</Paragraphs>
  <Slides>23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Median</vt:lpstr>
      <vt:lpstr>Equation</vt:lpstr>
      <vt:lpstr>PowerPoint Presentation</vt:lpstr>
      <vt:lpstr>PowerPoint Presentation</vt:lpstr>
      <vt:lpstr>You want to compare the proportion of students who use a Windows-based PC to the proportion who use a Mac. This is: </vt:lpstr>
      <vt:lpstr>You want to compare the proportion of students who study abroad between those attending public universities and those at private universities.  This is:</vt:lpstr>
      <vt:lpstr>You want to compare the proportion of in-state students at a university to the proportion from outside the state. This is:</vt:lpstr>
      <vt:lpstr>You want to compare the proportion of in-state students who get financial aid to the proportion of out-of-state students who get financial aid. This is: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a randomized double-blind experiment, a sample of 150 patients were either given a treatment or a placebo.  We want to test to see if the treatment is significantly better than a placebo at relieving pain. Using the data in the two-way table below, calculate the pooled proportion of patients that experienced pain relief.</vt:lpstr>
      <vt:lpstr>In a randomized double-blind experiment, a sample of 150 patients were either given a treatment or a placebo.  We want to test to see if the treatment is significantly better than a placebo at relieving pain. Calculate the test statistic. (Group 1 = Treatment, Group 2 = Placebo).</vt:lpstr>
      <vt:lpstr>In a randomized double-blind experiment, a sample of 150 patients were either given a treatment or a placebo.  We want to test to see if the treatment is significantly better than a placebo at relieving pain. What is the p-value? (Group 1 = Treatment, Group 2 = Placebo).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Kathryn Dobeck</cp:lastModifiedBy>
  <cp:revision>41</cp:revision>
  <cp:lastPrinted>2015-07-16T18:43:06Z</cp:lastPrinted>
  <dcterms:created xsi:type="dcterms:W3CDTF">2013-04-14T20:24:07Z</dcterms:created>
  <dcterms:modified xsi:type="dcterms:W3CDTF">2017-08-02T00:38:07Z</dcterms:modified>
</cp:coreProperties>
</file>