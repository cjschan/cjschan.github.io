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304" r:id="rId2"/>
    <p:sldId id="305" r:id="rId3"/>
    <p:sldId id="303" r:id="rId4"/>
    <p:sldId id="258" r:id="rId5"/>
    <p:sldId id="306" r:id="rId6"/>
    <p:sldId id="307" r:id="rId7"/>
    <p:sldId id="30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2" r:id="rId21"/>
    <p:sldId id="273" r:id="rId22"/>
    <p:sldId id="274" r:id="rId23"/>
    <p:sldId id="310" r:id="rId24"/>
    <p:sldId id="275" r:id="rId25"/>
    <p:sldId id="276" r:id="rId26"/>
    <p:sldId id="278" r:id="rId27"/>
    <p:sldId id="279" r:id="rId28"/>
    <p:sldId id="280" r:id="rId29"/>
    <p:sldId id="281" r:id="rId30"/>
    <p:sldId id="282" r:id="rId31"/>
    <p:sldId id="283" r:id="rId32"/>
    <p:sldId id="284" r:id="rId33"/>
    <p:sldId id="285" r:id="rId34"/>
    <p:sldId id="286" r:id="rId35"/>
    <p:sldId id="311" r:id="rId36"/>
    <p:sldId id="287" r:id="rId37"/>
    <p:sldId id="288" r:id="rId38"/>
    <p:sldId id="289" r:id="rId39"/>
    <p:sldId id="290" r:id="rId40"/>
    <p:sldId id="300" r:id="rId41"/>
  </p:sldIdLst>
  <p:sldSz cx="9144000" cy="6858000" type="screen4x3"/>
  <p:notesSz cx="9296400" cy="70104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208">
          <p15:clr>
            <a:srgbClr val="A4A3A4"/>
          </p15:clr>
        </p15:guide>
        <p15:guide id="2" pos="29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4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604" y="80"/>
      </p:cViewPr>
      <p:guideLst>
        <p:guide orient="horz" pos="2160"/>
        <p:guide pos="2880"/>
      </p:guideLst>
    </p:cSldViewPr>
  </p:slideViewPr>
  <p:notesTextViewPr>
    <p:cViewPr>
      <p:scale>
        <a:sx n="1" d="1"/>
        <a:sy n="1" d="1"/>
      </p:scale>
      <p:origin x="0" y="0"/>
    </p:cViewPr>
  </p:notesTextViewPr>
  <p:notesViewPr>
    <p:cSldViewPr>
      <p:cViewPr varScale="1">
        <p:scale>
          <a:sx n="75" d="100"/>
          <a:sy n="75" d="100"/>
        </p:scale>
        <p:origin x="-1668" y="-84"/>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1F-4728-BE38-9301FC9FBBE0}"/>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1F-4728-BE38-9301FC9FBBE0}"/>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1F-4728-BE38-9301FC9FBBE0}"/>
            </c:ext>
          </c:extLst>
        </c:ser>
        <c:dLbls>
          <c:showLegendKey val="0"/>
          <c:showVal val="0"/>
          <c:showCatName val="0"/>
          <c:showSerName val="0"/>
          <c:showPercent val="0"/>
          <c:showBubbleSize val="0"/>
        </c:dLbls>
        <c:gapWidth val="150"/>
        <c:shape val="box"/>
        <c:axId val="194768896"/>
        <c:axId val="194770432"/>
        <c:axId val="155256576"/>
      </c:bar3DChart>
      <c:catAx>
        <c:axId val="194768896"/>
        <c:scaling>
          <c:orientation val="minMax"/>
        </c:scaling>
        <c:delete val="0"/>
        <c:axPos val="b"/>
        <c:numFmt formatCode="General" sourceLinked="0"/>
        <c:majorTickMark val="out"/>
        <c:minorTickMark val="none"/>
        <c:tickLblPos val="nextTo"/>
        <c:crossAx val="194770432"/>
        <c:crosses val="autoZero"/>
        <c:auto val="1"/>
        <c:lblAlgn val="ctr"/>
        <c:lblOffset val="100"/>
        <c:noMultiLvlLbl val="0"/>
      </c:catAx>
      <c:valAx>
        <c:axId val="194770432"/>
        <c:scaling>
          <c:orientation val="minMax"/>
        </c:scaling>
        <c:delete val="0"/>
        <c:axPos val="l"/>
        <c:majorGridlines/>
        <c:numFmt formatCode="General" sourceLinked="1"/>
        <c:majorTickMark val="out"/>
        <c:minorTickMark val="none"/>
        <c:tickLblPos val="nextTo"/>
        <c:crossAx val="194768896"/>
        <c:crosses val="autoZero"/>
        <c:crossBetween val="between"/>
      </c:valAx>
      <c:serAx>
        <c:axId val="155256576"/>
        <c:scaling>
          <c:orientation val="minMax"/>
        </c:scaling>
        <c:delete val="0"/>
        <c:axPos val="b"/>
        <c:majorTickMark val="out"/>
        <c:minorTickMark val="none"/>
        <c:tickLblPos val="nextTo"/>
        <c:crossAx val="194770432"/>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116813A9-5F13-4BA6-877C-1D7958C8F2D0}" type="slidenum">
              <a:rPr lang="en-US" smtClean="0"/>
              <a:t>‹#›</a:t>
            </a:fld>
            <a:endParaRPr lang="en-US"/>
          </a:p>
        </p:txBody>
      </p:sp>
    </p:spTree>
    <p:extLst>
      <p:ext uri="{BB962C8B-B14F-4D97-AF65-F5344CB8AC3E}">
        <p14:creationId xmlns:p14="http://schemas.microsoft.com/office/powerpoint/2010/main" val="38323547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1D81428B-B9DC-40BA-BCE9-93F0083B7B00}" type="datetimeFigureOut">
              <a:rPr lang="en-US" smtClean="0"/>
              <a:t>11/21/2017</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337795C2-C477-4E06-A802-13F6A165FF6E}" type="slidenum">
              <a:rPr lang="en-US" smtClean="0"/>
              <a:t>‹#›</a:t>
            </a:fld>
            <a:endParaRPr lang="en-US"/>
          </a:p>
        </p:txBody>
      </p:sp>
    </p:spTree>
    <p:extLst>
      <p:ext uri="{BB962C8B-B14F-4D97-AF65-F5344CB8AC3E}">
        <p14:creationId xmlns:p14="http://schemas.microsoft.com/office/powerpoint/2010/main" val="414702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
            </a:r>
            <a:r>
              <a:rPr lang="en-US" baseline="0" dirty="0"/>
              <a:t> = 0.5 shows the most evidence and p = 0.005 shows the most evidence.  Idea to get across:  Sample statistics far out in the tail show the most evidence against the null, so small p-values show the most evidence.</a:t>
            </a:r>
            <a:endParaRPr lang="en-US" dirty="0"/>
          </a:p>
        </p:txBody>
      </p:sp>
      <p:sp>
        <p:nvSpPr>
          <p:cNvPr id="4" name="Slide Number Placeholder 3"/>
          <p:cNvSpPr>
            <a:spLocks noGrp="1"/>
          </p:cNvSpPr>
          <p:nvPr>
            <p:ph type="sldNum" sz="quarter" idx="10"/>
          </p:nvPr>
        </p:nvSpPr>
        <p:spPr/>
        <p:txBody>
          <a:bodyPr/>
          <a:lstStyle/>
          <a:p>
            <a:fld id="{2F7D279E-38B8-463E-AAE3-2440270A9EBB}" type="slidenum">
              <a:rPr lang="en-US" smtClean="0"/>
              <a:pPr/>
              <a:t>3</a:t>
            </a:fld>
            <a:endParaRPr lang="en-US"/>
          </a:p>
        </p:txBody>
      </p:sp>
    </p:spTree>
    <p:extLst>
      <p:ext uri="{BB962C8B-B14F-4D97-AF65-F5344CB8AC3E}">
        <p14:creationId xmlns:p14="http://schemas.microsoft.com/office/powerpoint/2010/main" val="18583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C67CD8-04EF-463A-B90E-8D87BD4170A8}" type="slidenum">
              <a:rPr lang="en-US" smtClean="0"/>
              <a:t>28</a:t>
            </a:fld>
            <a:endParaRPr lang="en-US"/>
          </a:p>
        </p:txBody>
      </p:sp>
    </p:spTree>
    <p:extLst>
      <p:ext uri="{BB962C8B-B14F-4D97-AF65-F5344CB8AC3E}">
        <p14:creationId xmlns:p14="http://schemas.microsoft.com/office/powerpoint/2010/main" val="2820979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a:prstGeom prst="rect">
            <a:avLst/>
          </a:prstGeo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11/21/2017</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a:prstGeom prst="rect">
            <a:avLst/>
          </a:prstGeo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dirty="0"/>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11/21/2017</a:t>
            </a:fld>
            <a:endParaRPr lang="en-US"/>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11/21/2017</a:t>
            </a:fld>
            <a:endParaRPr lang="en-US"/>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pPr eaLnBrk="1" latinLnBrk="0" hangingPunct="1"/>
            <a:fld id="{23A271A1-F6D6-438B-A432-4747EE7ECD40}" type="datetimeFigureOut">
              <a:rPr lang="en-US" smtClean="0"/>
              <a:pPr eaLnBrk="1" latinLnBrk="0" hangingPunct="1"/>
              <a:t>11/21/2017</a:t>
            </a:fld>
            <a:endParaRPr lang="en-US"/>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pPr eaLnBrk="1" latinLnBrk="0" hangingPunct="1"/>
            <a:fld id="{23A271A1-F6D6-438B-A432-4747EE7ECD40}" type="datetimeFigureOut">
              <a:rPr lang="en-US" smtClean="0"/>
              <a:pPr eaLnBrk="1" latinLnBrk="0" hangingPunct="1"/>
              <a:t>11/21/2017</a:t>
            </a:fld>
            <a:endParaRPr lang="en-US" dirty="0"/>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Tree>
    <p:extLst>
      <p:ext uri="{BB962C8B-B14F-4D97-AF65-F5344CB8AC3E}">
        <p14:creationId xmlns:p14="http://schemas.microsoft.com/office/powerpoint/2010/main" val="3321600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aphicFrame>
        <p:nvGraphicFramePr>
          <p:cNvPr id="3" name="TPChart" hidden="1"/>
          <p:cNvGraphicFramePr/>
          <p:nvPr userDrawn="1">
            <p:extLst>
              <p:ext uri="{D42A27DB-BD31-4B8C-83A1-F6EECF244321}">
                <p14:modId xmlns:p14="http://schemas.microsoft.com/office/powerpoint/2010/main" val="1876635655"/>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55217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a:t>Click to edit Master title style</a:t>
            </a:r>
          </a:p>
        </p:txBody>
      </p:sp>
      <p:sp>
        <p:nvSpPr>
          <p:cNvPr id="13" name="Text Placeholder 12"/>
          <p:cNvSpPr>
            <a:spLocks noGrp="1"/>
          </p:cNvSpPr>
          <p:nvPr>
            <p:ph type="body" idx="1"/>
          </p:nvPr>
        </p:nvSpPr>
        <p:spPr>
          <a:xfrm>
            <a:off x="0" y="1508760"/>
            <a:ext cx="9144000" cy="534924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accent6">
              <a:lumMod val="50000"/>
            </a:schemeClr>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accent6">
              <a:lumMod val="50000"/>
            </a:schemeClr>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hyperlink" Target="http://www.lock5stat.com/statkey" TargetMode="Externa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3" Type="http://schemas.openxmlformats.org/officeDocument/2006/relationships/hyperlink" Target="http://www.lock5stat.com/statkey" TargetMode="External"/><Relationship Id="rId2" Type="http://schemas.openxmlformats.org/officeDocument/2006/relationships/slideLayout" Target="../slideLayouts/slideLayout7.xml"/><Relationship Id="rId1" Type="http://schemas.openxmlformats.org/officeDocument/2006/relationships/tags" Target="../tags/tag23.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13.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14.jpeg"/><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14.jpeg"/><Relationship Id="rId4" Type="http://schemas.openxmlformats.org/officeDocument/2006/relationships/image" Target="../media/image13.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4.jpeg"/><Relationship Id="rId4" Type="http://schemas.openxmlformats.org/officeDocument/2006/relationships/image" Target="../media/image1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7.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1.xml"/><Relationship Id="rId1" Type="http://schemas.openxmlformats.org/officeDocument/2006/relationships/tags" Target="../tags/tag40.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3.xml"/><Relationship Id="rId1" Type="http://schemas.openxmlformats.org/officeDocument/2006/relationships/tags" Target="../tags/tag4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slideLayout" Target="../slideLayouts/slideLayout7.xml"/><Relationship Id="rId7" Type="http://schemas.openxmlformats.org/officeDocument/2006/relationships/image" Target="../media/image17.wmf"/><Relationship Id="rId2" Type="http://schemas.openxmlformats.org/officeDocument/2006/relationships/tags" Target="../tags/tag44.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20.jpeg"/><Relationship Id="rId4" Type="http://schemas.openxmlformats.org/officeDocument/2006/relationships/image" Target="../media/image19.jpeg"/><Relationship Id="rId9" Type="http://schemas.openxmlformats.org/officeDocument/2006/relationships/image" Target="../media/image18.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lnSpcReduction="10000"/>
          </a:bodyPr>
          <a:lstStyle/>
          <a:p>
            <a:pPr>
              <a:spcBef>
                <a:spcPct val="20000"/>
              </a:spcBef>
              <a:defRPr/>
            </a:pPr>
            <a:r>
              <a:rPr lang="en-US" sz="3200" dirty="0">
                <a:solidFill>
                  <a:srgbClr val="EBDDC3"/>
                </a:solidFill>
              </a:rPr>
              <a:t>Section 4.3:</a:t>
            </a:r>
          </a:p>
          <a:p>
            <a:pPr>
              <a:spcBef>
                <a:spcPct val="20000"/>
              </a:spcBef>
              <a:defRPr/>
            </a:pPr>
            <a:r>
              <a:rPr lang="en-US" sz="4000" b="1" dirty="0">
                <a:solidFill>
                  <a:srgbClr val="EBDDC3"/>
                </a:solidFill>
              </a:rPr>
              <a:t>Determining Statistical Significance</a:t>
            </a: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145084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PQuestion"/>
              <p:cNvSpPr>
                <a:spLocks noGrp="1"/>
              </p:cNvSpPr>
              <p:nvPr>
                <p:ph type="title" idx="4294967295"/>
              </p:nvPr>
            </p:nvSpPr>
            <p:spPr>
              <a:xfrm>
                <a:off x="-16598" y="29424"/>
                <a:ext cx="9160598" cy="1418376"/>
              </a:xfrm>
            </p:spPr>
            <p:txBody>
              <a:bodyPr>
                <a:noAutofit/>
              </a:bodyPr>
              <a:lstStyle/>
              <a:p>
                <a:r>
                  <a:rPr lang="en-US" sz="3100" dirty="0"/>
                  <a:t>In testing H</a:t>
                </a:r>
                <a:r>
                  <a:rPr lang="en-US" sz="3100" baseline="-25000" dirty="0"/>
                  <a:t>0</a:t>
                </a:r>
                <a:r>
                  <a:rPr lang="en-US" sz="3100" dirty="0"/>
                  <a:t>: </a:t>
                </a:r>
                <a:r>
                  <a:rPr lang="en-US" sz="3100" i="1" dirty="0"/>
                  <a:t>p</a:t>
                </a:r>
                <a:r>
                  <a:rPr lang="en-US" sz="3100" dirty="0"/>
                  <a:t> = 0.5 versus H</a:t>
                </a:r>
                <a:r>
                  <a:rPr lang="en-US" sz="3100" baseline="-25000" dirty="0"/>
                  <a:t>a</a:t>
                </a:r>
                <a:r>
                  <a:rPr lang="en-US" sz="3100" dirty="0"/>
                  <a:t>: </a:t>
                </a:r>
                <a:r>
                  <a:rPr lang="en-US" sz="3100" i="1" dirty="0"/>
                  <a:t>p</a:t>
                </a:r>
                <a:r>
                  <a:rPr lang="en-US" sz="3100" dirty="0"/>
                  <a:t> &lt; 0.5, the observed sample proportion is </a:t>
                </a:r>
                <a14:m>
                  <m:oMath xmlns:m="http://schemas.openxmlformats.org/officeDocument/2006/math">
                    <m:acc>
                      <m:accPr>
                        <m:chr m:val="̂"/>
                        <m:ctrlPr>
                          <a:rPr lang="en-US" sz="3100" i="1">
                            <a:latin typeface="Cambria Math" panose="02040503050406030204" pitchFamily="18" charset="0"/>
                          </a:rPr>
                        </m:ctrlPr>
                      </m:accPr>
                      <m:e>
                        <m:r>
                          <a:rPr lang="en-US" sz="3100" b="0" i="1">
                            <a:latin typeface="Cambria Math" charset="0"/>
                          </a:rPr>
                          <m:t>𝑝</m:t>
                        </m:r>
                      </m:e>
                    </m:acc>
                    <m:r>
                      <a:rPr lang="en-US" sz="3100" b="0" i="1">
                        <a:latin typeface="Cambria Math" charset="0"/>
                      </a:rPr>
                      <m:t>=0.</m:t>
                    </m:r>
                    <m:r>
                      <a:rPr lang="en-US" sz="3100" b="0" i="1" smtClean="0">
                        <a:latin typeface="Cambria Math"/>
                      </a:rPr>
                      <m:t>3</m:t>
                    </m:r>
                    <m:r>
                      <a:rPr lang="en-US" sz="3100" b="0" i="1">
                        <a:latin typeface="Cambria Math" charset="0"/>
                      </a:rPr>
                      <m:t>5.</m:t>
                    </m:r>
                  </m:oMath>
                </a14:m>
                <a:r>
                  <a:rPr lang="en-US" sz="3100" dirty="0"/>
                  <a:t>  Based on the randomization distribution below, the p-value is</a:t>
                </a:r>
                <a:r>
                  <a:rPr lang="is-IS" sz="3100" dirty="0"/>
                  <a:t>…</a:t>
                </a:r>
                <a:endParaRPr lang="en-US" sz="3100" dirty="0"/>
              </a:p>
            </p:txBody>
          </p:sp>
        </mc:Choice>
        <mc:Fallback xmlns="">
          <p:sp>
            <p:nvSpPr>
              <p:cNvPr id="2" name="TPQuestion"/>
              <p:cNvSpPr>
                <a:spLocks noGrp="1" noRot="1" noChangeAspect="1" noMove="1" noResize="1" noEditPoints="1" noAdjustHandles="1" noChangeArrowheads="1" noChangeShapeType="1" noTextEdit="1"/>
              </p:cNvSpPr>
              <p:nvPr>
                <p:ph type="title" idx="4294967295"/>
              </p:nvPr>
            </p:nvSpPr>
            <p:spPr>
              <a:xfrm>
                <a:off x="-16598" y="29424"/>
                <a:ext cx="9160598" cy="1418376"/>
              </a:xfrm>
              <a:blipFill rotWithShape="1">
                <a:blip r:embed="rId4"/>
                <a:stretch>
                  <a:fillRect l="-1597" t="-9013" r="-266" b="-16309"/>
                </a:stretch>
              </a:blipFill>
            </p:spPr>
            <p:txBody>
              <a:bodyPr/>
              <a:lstStyle/>
              <a:p>
                <a:r>
                  <a:rPr lang="en-US">
                    <a:noFill/>
                  </a:rPr>
                  <a:t> </a:t>
                </a:r>
              </a:p>
            </p:txBody>
          </p:sp>
        </mc:Fallback>
      </mc:AlternateContent>
      <p:sp>
        <p:nvSpPr>
          <p:cNvPr id="4" name="TPAnswers"/>
          <p:cNvSpPr>
            <a:spLocks noGrp="1"/>
          </p:cNvSpPr>
          <p:nvPr>
            <p:ph sz="quarter" idx="4294967295"/>
            <p:custDataLst>
              <p:tags r:id="rId2"/>
            </p:custDataLst>
          </p:nvPr>
        </p:nvSpPr>
        <p:spPr>
          <a:xfrm>
            <a:off x="1452325" y="4572000"/>
            <a:ext cx="2833688" cy="2286000"/>
          </a:xfrm>
        </p:spPr>
        <p:txBody>
          <a:bodyPr>
            <a:normAutofit fontScale="92500" lnSpcReduction="10000"/>
          </a:bodyPr>
          <a:lstStyle/>
          <a:p>
            <a:pPr marL="514350" indent="-514350">
              <a:buFont typeface="+mj-lt"/>
              <a:buAutoNum type="alphaUcPeriod"/>
            </a:pPr>
            <a:r>
              <a:rPr lang="en-US" sz="2800" dirty="0"/>
              <a:t>0.000008</a:t>
            </a:r>
          </a:p>
          <a:p>
            <a:pPr marL="514350" indent="-514350">
              <a:buFont typeface="+mj-lt"/>
              <a:buAutoNum type="alphaUcPeriod"/>
            </a:pPr>
            <a:r>
              <a:rPr lang="en-US" sz="2800" dirty="0"/>
              <a:t>0.001</a:t>
            </a:r>
          </a:p>
          <a:p>
            <a:pPr marL="514350" indent="-514350">
              <a:buFont typeface="+mj-lt"/>
              <a:buAutoNum type="alphaUcPeriod"/>
            </a:pPr>
            <a:r>
              <a:rPr lang="en-US" sz="2800" dirty="0"/>
              <a:t>0.3</a:t>
            </a:r>
          </a:p>
          <a:p>
            <a:pPr marL="514350" indent="-514350">
              <a:buFont typeface="+mj-lt"/>
              <a:buAutoNum type="alphaUcPeriod"/>
            </a:pPr>
            <a:r>
              <a:rPr lang="en-US" sz="2800" dirty="0"/>
              <a:t>0.45</a:t>
            </a:r>
          </a:p>
          <a:p>
            <a:pPr marL="514350" indent="-514350">
              <a:buFont typeface="+mj-lt"/>
              <a:buAutoNum type="alphaUcPeriod"/>
            </a:pPr>
            <a:r>
              <a:rPr lang="en-US" sz="2800" dirty="0"/>
              <a:t>0.7</a:t>
            </a:r>
          </a:p>
        </p:txBody>
      </p:sp>
      <p:pic>
        <p:nvPicPr>
          <p:cNvPr id="9" name="Picture 8"/>
          <p:cNvPicPr>
            <a:picLocks noChangeAspect="1"/>
          </p:cNvPicPr>
          <p:nvPr/>
        </p:nvPicPr>
        <p:blipFill>
          <a:blip r:embed="rId5"/>
          <a:stretch>
            <a:fillRect/>
          </a:stretch>
        </p:blipFill>
        <p:spPr>
          <a:xfrm>
            <a:off x="1657161" y="1539466"/>
            <a:ext cx="7010400" cy="3087914"/>
          </a:xfrm>
          <a:prstGeom prst="rect">
            <a:avLst/>
          </a:prstGeom>
        </p:spPr>
      </p:pic>
    </p:spTree>
    <p:custDataLst>
      <p:tags r:id="rId1"/>
    </p:custDataLst>
    <p:extLst>
      <p:ext uri="{BB962C8B-B14F-4D97-AF65-F5344CB8AC3E}">
        <p14:creationId xmlns:p14="http://schemas.microsoft.com/office/powerpoint/2010/main" val="3024601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33039"/>
            <a:ext cx="8153400" cy="990600"/>
          </a:xfrm>
        </p:spPr>
        <p:txBody>
          <a:bodyPr/>
          <a:lstStyle/>
          <a:p>
            <a:r>
              <a:rPr lang="en-US" dirty="0"/>
              <a:t>p-value</a:t>
            </a:r>
          </a:p>
        </p:txBody>
      </p:sp>
      <p:pic>
        <p:nvPicPr>
          <p:cNvPr id="4" name="Picture 2"/>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l="3676" t="9783"/>
          <a:stretch/>
        </p:blipFill>
        <p:spPr bwMode="auto">
          <a:xfrm>
            <a:off x="893826" y="4038600"/>
            <a:ext cx="7356348" cy="274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txBox="1">
            <a:spLocks/>
          </p:cNvSpPr>
          <p:nvPr/>
        </p:nvSpPr>
        <p:spPr>
          <a:xfrm>
            <a:off x="0" y="1524000"/>
            <a:ext cx="9144000" cy="2514600"/>
          </a:xfrm>
          <a:prstGeom prst="rect">
            <a:avLst/>
          </a:prstGeom>
        </p:spPr>
        <p:txBody>
          <a:bodyPr vert="horz">
            <a:noAutofit/>
          </a:bodyPr>
          <a:lstStyle>
            <a:lvl1pPr marL="274320" indent="-274320" algn="l" rtl="0" eaLnBrk="1" latinLnBrk="0" hangingPunct="1">
              <a:spcBef>
                <a:spcPts val="0"/>
              </a:spcBef>
              <a:spcAft>
                <a:spcPts val="1800"/>
              </a:spcAft>
              <a:buClr>
                <a:schemeClr val="accent1"/>
              </a:buClr>
              <a:buSzPct val="85000"/>
              <a:buFont typeface="Wingdings 2"/>
              <a:buChar char=""/>
              <a:defRPr kumimoji="0" sz="3200" kern="1200">
                <a:solidFill>
                  <a:schemeClr val="tx1"/>
                </a:solidFill>
                <a:latin typeface="+mn-lt"/>
                <a:ea typeface="+mn-ea"/>
                <a:cs typeface="+mn-cs"/>
              </a:defRPr>
            </a:lvl1pPr>
            <a:lvl2pPr marL="548640" indent="-274320" algn="l" rtl="0" eaLnBrk="1" latinLnBrk="0" hangingPunct="1">
              <a:spcBef>
                <a:spcPts val="0"/>
              </a:spcBef>
              <a:spcAft>
                <a:spcPts val="180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180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180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18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spcAft>
                <a:spcPts val="0"/>
              </a:spcAft>
              <a:buNone/>
            </a:pPr>
            <a:r>
              <a:rPr lang="en-US" sz="2800" dirty="0"/>
              <a:t>Using the randomization distribution below to test</a:t>
            </a:r>
          </a:p>
          <a:p>
            <a:pPr marL="0" indent="0">
              <a:spcAft>
                <a:spcPts val="0"/>
              </a:spcAft>
              <a:buNone/>
            </a:pPr>
            <a:r>
              <a:rPr lang="en-US" sz="2800" dirty="0"/>
              <a:t>	 H</a:t>
            </a:r>
            <a:r>
              <a:rPr lang="en-US" sz="2800" baseline="-25000" dirty="0"/>
              <a:t>0</a:t>
            </a:r>
            <a:r>
              <a:rPr lang="en-US" sz="2800" dirty="0"/>
              <a:t> : </a:t>
            </a:r>
            <a:r>
              <a:rPr lang="en-US" sz="2800" i="1" dirty="0">
                <a:sym typeface="Symbol"/>
              </a:rPr>
              <a:t></a:t>
            </a:r>
            <a:r>
              <a:rPr lang="en-US" sz="2800" dirty="0">
                <a:sym typeface="Symbol"/>
              </a:rPr>
              <a:t> = 0     </a:t>
            </a:r>
            <a:r>
              <a:rPr lang="en-US" sz="2800" dirty="0" err="1">
                <a:sym typeface="Symbol"/>
              </a:rPr>
              <a:t>vs</a:t>
            </a:r>
            <a:r>
              <a:rPr lang="en-US" sz="2800" dirty="0">
                <a:sym typeface="Symbol"/>
              </a:rPr>
              <a:t>    H</a:t>
            </a:r>
            <a:r>
              <a:rPr lang="en-US" sz="2800" baseline="-25000" dirty="0">
                <a:sym typeface="Symbol"/>
              </a:rPr>
              <a:t>a</a:t>
            </a:r>
            <a:r>
              <a:rPr lang="en-US" sz="2800" dirty="0">
                <a:sym typeface="Symbol"/>
              </a:rPr>
              <a:t> : </a:t>
            </a:r>
            <a:r>
              <a:rPr lang="en-US" sz="2800" i="1" dirty="0">
                <a:sym typeface="Symbol"/>
              </a:rPr>
              <a:t></a:t>
            </a:r>
            <a:r>
              <a:rPr lang="en-US" sz="2800" dirty="0">
                <a:sym typeface="Symbol"/>
              </a:rPr>
              <a:t> &gt; 0</a:t>
            </a:r>
            <a:r>
              <a:rPr lang="en-US" sz="2800" baseline="-25000" dirty="0">
                <a:sym typeface="Symbol"/>
              </a:rPr>
              <a:t>      </a:t>
            </a:r>
            <a:endParaRPr lang="en-US" sz="2800" dirty="0"/>
          </a:p>
          <a:p>
            <a:pPr marL="0" indent="0">
              <a:spcAft>
                <a:spcPts val="0"/>
              </a:spcAft>
              <a:buNone/>
            </a:pPr>
            <a:r>
              <a:rPr lang="en-US" sz="2800" dirty="0"/>
              <a:t>Which sample statistic shows the most evidence </a:t>
            </a:r>
            <a:r>
              <a:rPr lang="en-US" sz="2800" b="1" dirty="0">
                <a:solidFill>
                  <a:schemeClr val="accent5">
                    <a:lumMod val="75000"/>
                  </a:schemeClr>
                </a:solidFill>
              </a:rPr>
              <a:t>for the alternative</a:t>
            </a:r>
            <a:r>
              <a:rPr lang="en-US" sz="2800" dirty="0">
                <a:solidFill>
                  <a:schemeClr val="accent5">
                    <a:lumMod val="75000"/>
                  </a:schemeClr>
                </a:solidFill>
              </a:rPr>
              <a:t> </a:t>
            </a:r>
            <a:r>
              <a:rPr lang="en-US" sz="2800" dirty="0"/>
              <a:t>hypothesis?            r = 0.1,   r = 0.3, or   r = 0.5</a:t>
            </a:r>
          </a:p>
          <a:p>
            <a:pPr marL="0" indent="0">
              <a:spcAft>
                <a:spcPts val="0"/>
              </a:spcAft>
              <a:buNone/>
            </a:pPr>
            <a:r>
              <a:rPr lang="en-US" sz="2800" dirty="0"/>
              <a:t>Therefore, which p-value shows the most evidence </a:t>
            </a:r>
            <a:r>
              <a:rPr lang="en-US" sz="2800" b="1" dirty="0">
                <a:solidFill>
                  <a:schemeClr val="accent5">
                    <a:lumMod val="75000"/>
                  </a:schemeClr>
                </a:solidFill>
              </a:rPr>
              <a:t>for the alternative</a:t>
            </a:r>
            <a:r>
              <a:rPr lang="en-US" sz="2800" dirty="0"/>
              <a:t> hypothesis?     0.35,        0.15,     or     0.005 </a:t>
            </a:r>
            <a:endParaRPr lang="en-US" sz="2000" dirty="0"/>
          </a:p>
        </p:txBody>
      </p:sp>
      <p:pic>
        <p:nvPicPr>
          <p:cNvPr id="8" name="Picture 2" descr="http://www.school-clipart.com/school_clipart_images/pencil_touching_lead_to_paper_0515-1007-2718-0955_SMU.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9600" y="381000"/>
            <a:ext cx="761999" cy="694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13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152400" y="304800"/>
            <a:ext cx="7596187" cy="762000"/>
          </a:xfrm>
        </p:spPr>
        <p:txBody>
          <a:bodyPr/>
          <a:lstStyle/>
          <a:p>
            <a:r>
              <a:rPr lang="en-US" dirty="0"/>
              <a:t>The smaller the p-value the </a:t>
            </a:r>
          </a:p>
        </p:txBody>
      </p:sp>
      <p:sp>
        <p:nvSpPr>
          <p:cNvPr id="3" name="TPAnswers"/>
          <p:cNvSpPr>
            <a:spLocks noGrp="1"/>
          </p:cNvSpPr>
          <p:nvPr>
            <p:ph idx="4294967295"/>
            <p:custDataLst>
              <p:tags r:id="rId2"/>
            </p:custDataLst>
          </p:nvPr>
        </p:nvSpPr>
        <p:spPr>
          <a:xfrm>
            <a:off x="0" y="1447800"/>
            <a:ext cx="8534400" cy="2209800"/>
          </a:xfrm>
        </p:spPr>
        <p:txBody>
          <a:bodyPr>
            <a:noAutofit/>
          </a:bodyPr>
          <a:lstStyle/>
          <a:p>
            <a:pPr marL="1668780" indent="-514350">
              <a:spcBef>
                <a:spcPct val="20000"/>
              </a:spcBef>
              <a:buFont typeface="Wingdings"/>
              <a:buAutoNum type="arabicPeriod"/>
            </a:pPr>
            <a:r>
              <a:rPr lang="en-US" dirty="0"/>
              <a:t>stronger the evidence against the null hypothesis</a:t>
            </a:r>
          </a:p>
          <a:p>
            <a:pPr marL="1668780" indent="-514350">
              <a:spcBef>
                <a:spcPct val="20000"/>
              </a:spcBef>
              <a:buFont typeface="Wingdings"/>
              <a:buAutoNum type="arabicPeriod"/>
            </a:pPr>
            <a:r>
              <a:rPr lang="en-US" dirty="0"/>
              <a:t> stronger the evidence for the null hypothesis</a:t>
            </a:r>
          </a:p>
        </p:txBody>
      </p:sp>
    </p:spTree>
    <p:custDataLst>
      <p:tags r:id="rId1"/>
    </p:custDataLst>
    <p:extLst>
      <p:ext uri="{BB962C8B-B14F-4D97-AF65-F5344CB8AC3E}">
        <p14:creationId xmlns:p14="http://schemas.microsoft.com/office/powerpoint/2010/main" val="1172475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p-value and H</a:t>
            </a:r>
            <a:r>
              <a:rPr lang="en-US" baseline="-25000" dirty="0"/>
              <a:t>0</a:t>
            </a:r>
            <a:endParaRPr lang="en-US" dirty="0"/>
          </a:p>
        </p:txBody>
      </p:sp>
      <p:sp>
        <p:nvSpPr>
          <p:cNvPr id="4" name="Content Placeholder 3"/>
          <p:cNvSpPr>
            <a:spLocks noGrp="1"/>
          </p:cNvSpPr>
          <p:nvPr>
            <p:ph idx="10"/>
          </p:nvPr>
        </p:nvSpPr>
        <p:spPr>
          <a:xfrm>
            <a:off x="0" y="1524000"/>
            <a:ext cx="9144000" cy="5334000"/>
          </a:xfrm>
        </p:spPr>
        <p:txBody>
          <a:bodyPr>
            <a:normAutofit/>
          </a:bodyPr>
          <a:lstStyle/>
          <a:p>
            <a:r>
              <a:rPr lang="en-US" dirty="0"/>
              <a:t>If the p-value is small, then a statistic as extreme as that observed would be unlikely if the null hypothesis were true, providing strong evidence against H</a:t>
            </a:r>
            <a:r>
              <a:rPr lang="en-US" baseline="-25000" dirty="0"/>
              <a:t>0</a:t>
            </a:r>
            <a:endParaRPr lang="en-US" dirty="0"/>
          </a:p>
          <a:p>
            <a:r>
              <a:rPr lang="en-US" dirty="0"/>
              <a:t>The </a:t>
            </a:r>
            <a:r>
              <a:rPr lang="en-US" b="1" i="1" dirty="0">
                <a:solidFill>
                  <a:srgbClr val="CC6600"/>
                </a:solidFill>
              </a:rPr>
              <a:t>smaller</a:t>
            </a:r>
            <a:r>
              <a:rPr lang="en-US" dirty="0"/>
              <a:t> the p-value, the stronger the evidence </a:t>
            </a:r>
            <a:r>
              <a:rPr lang="en-US" b="1" u="sng" dirty="0">
                <a:solidFill>
                  <a:srgbClr val="CC6600"/>
                </a:solidFill>
              </a:rPr>
              <a:t>against the null hypothesis </a:t>
            </a:r>
            <a:r>
              <a:rPr lang="en-US" dirty="0"/>
              <a:t>and </a:t>
            </a:r>
            <a:r>
              <a:rPr lang="en-US" b="1" u="sng" dirty="0">
                <a:solidFill>
                  <a:schemeClr val="accent5">
                    <a:lumMod val="50000"/>
                  </a:schemeClr>
                </a:solidFill>
              </a:rPr>
              <a:t>in favor of the alternative hypothesis</a:t>
            </a:r>
          </a:p>
        </p:txBody>
      </p:sp>
    </p:spTree>
    <p:custDataLst>
      <p:tags r:id="rId1"/>
    </p:custDataLst>
    <p:extLst>
      <p:ext uri="{BB962C8B-B14F-4D97-AF65-F5344CB8AC3E}">
        <p14:creationId xmlns:p14="http://schemas.microsoft.com/office/powerpoint/2010/main" val="332198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533400" y="152400"/>
            <a:ext cx="8153400" cy="1219200"/>
          </a:xfrm>
          <a:prstGeom prst="rect">
            <a:avLst/>
          </a:prstGeom>
        </p:spPr>
        <p:txBody>
          <a:bodyPr/>
          <a:lstStyle/>
          <a:p>
            <a:endParaRPr lang="en-US" sz="4400" dirty="0">
              <a:solidFill>
                <a:prstClr val="black"/>
              </a:solidFill>
              <a:latin typeface="Cambria" pitchFamily="18" charset="0"/>
              <a:cs typeface="Times New Roman" pitchFamily="18" charset="0"/>
            </a:endParaRPr>
          </a:p>
        </p:txBody>
      </p:sp>
      <p:sp>
        <p:nvSpPr>
          <p:cNvPr id="5" name="TPQuestion"/>
          <p:cNvSpPr>
            <a:spLocks noGrp="1"/>
          </p:cNvSpPr>
          <p:nvPr>
            <p:ph type="title" idx="4294967295"/>
          </p:nvPr>
        </p:nvSpPr>
        <p:spPr>
          <a:xfrm>
            <a:off x="0" y="152400"/>
            <a:ext cx="9144000" cy="1752600"/>
          </a:xfrm>
        </p:spPr>
        <p:txBody>
          <a:bodyPr>
            <a:normAutofit/>
          </a:bodyPr>
          <a:lstStyle/>
          <a:p>
            <a:r>
              <a:rPr lang="en-US" dirty="0"/>
              <a:t>Which of the following p-values gives the strongest evidence </a:t>
            </a:r>
            <a:r>
              <a:rPr lang="en-US" i="1" u="sng" dirty="0"/>
              <a:t>against</a:t>
            </a:r>
            <a:r>
              <a:rPr lang="en-US" dirty="0">
                <a:solidFill>
                  <a:prstClr val="black"/>
                </a:solidFill>
                <a:latin typeface="Cambria" pitchFamily="18" charset="0"/>
                <a:cs typeface="Times New Roman" pitchFamily="18" charset="0"/>
              </a:rPr>
              <a:t> H</a:t>
            </a:r>
            <a:r>
              <a:rPr lang="en-US" baseline="-25000" dirty="0">
                <a:solidFill>
                  <a:prstClr val="black"/>
                </a:solidFill>
                <a:latin typeface="Cambria" pitchFamily="18" charset="0"/>
                <a:cs typeface="Times New Roman" pitchFamily="18" charset="0"/>
              </a:rPr>
              <a:t>0</a:t>
            </a:r>
            <a:r>
              <a:rPr lang="en-US" dirty="0">
                <a:solidFill>
                  <a:prstClr val="black"/>
                </a:solidFill>
                <a:latin typeface="Cambria" pitchFamily="18" charset="0"/>
                <a:cs typeface="Times New Roman" pitchFamily="18" charset="0"/>
              </a:rPr>
              <a:t>?</a:t>
            </a:r>
          </a:p>
        </p:txBody>
      </p:sp>
      <p:sp>
        <p:nvSpPr>
          <p:cNvPr id="6" name="TPAnswers"/>
          <p:cNvSpPr>
            <a:spLocks noGrp="1"/>
          </p:cNvSpPr>
          <p:nvPr>
            <p:ph sz="quarter" idx="4294967295"/>
            <p:custDataLst>
              <p:tags r:id="rId2"/>
            </p:custDataLst>
          </p:nvPr>
        </p:nvSpPr>
        <p:spPr>
          <a:xfrm>
            <a:off x="-37407" y="1802501"/>
            <a:ext cx="4572000" cy="2205038"/>
          </a:xfrm>
        </p:spPr>
        <p:txBody>
          <a:bodyPr>
            <a:noAutofit/>
          </a:bodyPr>
          <a:lstStyle/>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0.005</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0.1</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0.32</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0.56</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0.94</a:t>
            </a:r>
            <a:endParaRPr lang="en-US" sz="2800" dirty="0">
              <a:solidFill>
                <a:prstClr val="black"/>
              </a:solidFill>
              <a:cs typeface="Times New Roman" pitchFamily="18" charset="0"/>
            </a:endParaRPr>
          </a:p>
        </p:txBody>
      </p:sp>
    </p:spTree>
    <p:custDataLst>
      <p:tags r:id="rId1"/>
    </p:custDataLst>
    <p:extLst>
      <p:ext uri="{BB962C8B-B14F-4D97-AF65-F5344CB8AC3E}">
        <p14:creationId xmlns:p14="http://schemas.microsoft.com/office/powerpoint/2010/main" val="1615729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PQuestion"/>
          <p:cNvSpPr>
            <a:spLocks noGrp="1"/>
          </p:cNvSpPr>
          <p:nvPr>
            <p:ph type="title" idx="4294967295"/>
          </p:nvPr>
        </p:nvSpPr>
        <p:spPr>
          <a:xfrm>
            <a:off x="0" y="152400"/>
            <a:ext cx="9144000" cy="1676400"/>
          </a:xfrm>
        </p:spPr>
        <p:txBody>
          <a:bodyPr>
            <a:normAutofit/>
          </a:bodyPr>
          <a:lstStyle/>
          <a:p>
            <a:r>
              <a:rPr lang="en-US" dirty="0"/>
              <a:t>Which of the following p-values gives the strongest evidence </a:t>
            </a:r>
            <a:r>
              <a:rPr lang="en-US" i="1" u="sng" dirty="0"/>
              <a:t>against</a:t>
            </a:r>
            <a:r>
              <a:rPr lang="en-US" dirty="0">
                <a:solidFill>
                  <a:prstClr val="black"/>
                </a:solidFill>
                <a:latin typeface="Cambria" pitchFamily="18" charset="0"/>
                <a:cs typeface="Times New Roman" pitchFamily="18" charset="0"/>
              </a:rPr>
              <a:t> H</a:t>
            </a:r>
            <a:r>
              <a:rPr lang="en-US" baseline="-25000" dirty="0">
                <a:solidFill>
                  <a:prstClr val="black"/>
                </a:solidFill>
                <a:latin typeface="Cambria" pitchFamily="18" charset="0"/>
                <a:cs typeface="Times New Roman" pitchFamily="18" charset="0"/>
              </a:rPr>
              <a:t>0</a:t>
            </a:r>
            <a:r>
              <a:rPr lang="en-US" dirty="0">
                <a:solidFill>
                  <a:prstClr val="black"/>
                </a:solidFill>
                <a:latin typeface="Cambria" pitchFamily="18" charset="0"/>
                <a:cs typeface="Times New Roman" pitchFamily="18" charset="0"/>
              </a:rPr>
              <a:t>?</a:t>
            </a:r>
            <a:endParaRPr lang="en-US" dirty="0"/>
          </a:p>
        </p:txBody>
      </p:sp>
      <p:sp>
        <p:nvSpPr>
          <p:cNvPr id="6" name="TPAnswers"/>
          <p:cNvSpPr>
            <a:spLocks noGrp="1"/>
          </p:cNvSpPr>
          <p:nvPr>
            <p:ph sz="quarter" idx="4294967295"/>
            <p:custDataLst>
              <p:tags r:id="rId2"/>
            </p:custDataLst>
          </p:nvPr>
        </p:nvSpPr>
        <p:spPr>
          <a:xfrm>
            <a:off x="33251" y="1676400"/>
            <a:ext cx="4038600" cy="3305175"/>
          </a:xfrm>
        </p:spPr>
        <p:txBody>
          <a:bodyPr>
            <a:noAutofit/>
          </a:bodyPr>
          <a:lstStyle/>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0.22</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0.45</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0.03</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0.8</a:t>
            </a:r>
          </a:p>
          <a:p>
            <a:pPr marL="1108710" indent="-514350">
              <a:spcBef>
                <a:spcPct val="20000"/>
              </a:spcBef>
              <a:buClr>
                <a:schemeClr val="accent1"/>
              </a:buClr>
              <a:buFont typeface="+mj-lt"/>
              <a:buAutoNum type="alphaLcPeriod"/>
            </a:pPr>
            <a:r>
              <a:rPr lang="en-US" dirty="0">
                <a:solidFill>
                  <a:prstClr val="black"/>
                </a:solidFill>
                <a:latin typeface="Cambria" pitchFamily="18" charset="0"/>
                <a:cs typeface="Times New Roman" pitchFamily="18" charset="0"/>
              </a:rPr>
              <a:t> 0.71</a:t>
            </a:r>
            <a:endParaRPr lang="en-US" sz="2800" dirty="0">
              <a:solidFill>
                <a:prstClr val="black"/>
              </a:solidFill>
              <a:cs typeface="Times New Roman" pitchFamily="18" charset="0"/>
            </a:endParaRPr>
          </a:p>
        </p:txBody>
      </p:sp>
    </p:spTree>
    <p:custDataLst>
      <p:tags r:id="rId1"/>
    </p:custDataLst>
    <p:extLst>
      <p:ext uri="{BB962C8B-B14F-4D97-AF65-F5344CB8AC3E}">
        <p14:creationId xmlns:p14="http://schemas.microsoft.com/office/powerpoint/2010/main" val="2331929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Randomization Distributions</a:t>
            </a:r>
          </a:p>
        </p:txBody>
      </p:sp>
      <p:sp>
        <p:nvSpPr>
          <p:cNvPr id="3" name="Content Placeholder 2"/>
          <p:cNvSpPr>
            <a:spLocks noGrp="1"/>
          </p:cNvSpPr>
          <p:nvPr>
            <p:ph idx="1"/>
          </p:nvPr>
        </p:nvSpPr>
        <p:spPr>
          <a:xfrm>
            <a:off x="32824" y="1524000"/>
            <a:ext cx="9111175" cy="5334000"/>
          </a:xfrm>
        </p:spPr>
        <p:txBody>
          <a:bodyPr/>
          <a:lstStyle/>
          <a:p>
            <a:r>
              <a:rPr lang="en-US" dirty="0"/>
              <a:t>p-values can be calculated from randomization distributions:</a:t>
            </a:r>
          </a:p>
          <a:p>
            <a:pPr lvl="1">
              <a:spcAft>
                <a:spcPts val="0"/>
              </a:spcAft>
            </a:pPr>
            <a:r>
              <a:rPr lang="en-US" dirty="0">
                <a:solidFill>
                  <a:schemeClr val="tx1"/>
                </a:solidFill>
              </a:rPr>
              <a:t>simulate samples, assuming H</a:t>
            </a:r>
            <a:r>
              <a:rPr lang="en-US" baseline="-25000" dirty="0">
                <a:solidFill>
                  <a:schemeClr val="tx1"/>
                </a:solidFill>
              </a:rPr>
              <a:t>0</a:t>
            </a:r>
            <a:r>
              <a:rPr lang="en-US" dirty="0">
                <a:solidFill>
                  <a:schemeClr val="tx1"/>
                </a:solidFill>
              </a:rPr>
              <a:t> is true</a:t>
            </a:r>
          </a:p>
          <a:p>
            <a:pPr lvl="1">
              <a:spcAft>
                <a:spcPts val="0"/>
              </a:spcAft>
            </a:pPr>
            <a:r>
              <a:rPr lang="en-US" dirty="0">
                <a:solidFill>
                  <a:schemeClr val="tx1"/>
                </a:solidFill>
              </a:rPr>
              <a:t>calculate the statistic of interest for each sample</a:t>
            </a:r>
          </a:p>
          <a:p>
            <a:pPr lvl="1"/>
            <a:r>
              <a:rPr lang="en-US" dirty="0">
                <a:solidFill>
                  <a:schemeClr val="tx1"/>
                </a:solidFill>
              </a:rPr>
              <a:t>find the p-value as the proportion of simulated statistics at least as extreme as the observed statistic </a:t>
            </a:r>
          </a:p>
        </p:txBody>
      </p:sp>
    </p:spTree>
    <p:custDataLst>
      <p:tags r:id="rId1"/>
    </p:custDataLst>
    <p:extLst>
      <p:ext uri="{BB962C8B-B14F-4D97-AF65-F5344CB8AC3E}">
        <p14:creationId xmlns:p14="http://schemas.microsoft.com/office/powerpoint/2010/main" val="313529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475" y="762000"/>
            <a:ext cx="9144000" cy="5632311"/>
          </a:xfrm>
          <a:prstGeom prst="rect">
            <a:avLst/>
          </a:prstGeom>
          <a:noFill/>
        </p:spPr>
        <p:txBody>
          <a:bodyPr wrap="square" rtlCol="0">
            <a:spAutoFit/>
          </a:bodyPr>
          <a:lstStyle/>
          <a:p>
            <a:pPr marL="514350" indent="-514350">
              <a:buClr>
                <a:schemeClr val="accent1"/>
              </a:buClr>
              <a:buFont typeface="Arial" pitchFamily="34" charset="0"/>
              <a:buChar char="•"/>
            </a:pPr>
            <a:r>
              <a:rPr lang="en-US" sz="3200" dirty="0">
                <a:solidFill>
                  <a:prstClr val="black"/>
                </a:solidFill>
                <a:cs typeface="Times New Roman" pitchFamily="18" charset="0"/>
              </a:rPr>
              <a:t>In a randomized experiment on treating cocaine addiction, 48 people were randomly assigned to take either </a:t>
            </a:r>
            <a:r>
              <a:rPr lang="en-US" sz="3200" dirty="0" err="1">
                <a:solidFill>
                  <a:prstClr val="black"/>
                </a:solidFill>
                <a:cs typeface="Times New Roman" pitchFamily="18" charset="0"/>
              </a:rPr>
              <a:t>Desipramine</a:t>
            </a:r>
            <a:r>
              <a:rPr lang="en-US" sz="3200" dirty="0">
                <a:solidFill>
                  <a:prstClr val="black"/>
                </a:solidFill>
                <a:cs typeface="Times New Roman" pitchFamily="18" charset="0"/>
              </a:rPr>
              <a:t> (a new drug), or Lithium (an existing drug), and then followed to see who relapsed</a:t>
            </a:r>
          </a:p>
          <a:p>
            <a:pPr marL="514350" indent="-514350">
              <a:buClr>
                <a:schemeClr val="accent1"/>
              </a:buClr>
              <a:buFont typeface="Arial" pitchFamily="34" charset="0"/>
              <a:buChar char="•"/>
            </a:pPr>
            <a:r>
              <a:rPr lang="en-US" sz="3200" dirty="0">
                <a:solidFill>
                  <a:prstClr val="black"/>
                </a:solidFill>
                <a:cs typeface="Times New Roman" pitchFamily="18" charset="0"/>
              </a:rPr>
              <a:t>Question of interest:</a:t>
            </a:r>
          </a:p>
          <a:p>
            <a:pPr marL="514350" indent="-514350">
              <a:buClr>
                <a:schemeClr val="accent1"/>
              </a:buClr>
              <a:buFont typeface="Arial" pitchFamily="34" charset="0"/>
              <a:buChar char="•"/>
            </a:pPr>
            <a:endParaRPr lang="en-US" sz="2800" dirty="0">
              <a:solidFill>
                <a:schemeClr val="accent1">
                  <a:lumMod val="50000"/>
                </a:schemeClr>
              </a:solidFill>
              <a:latin typeface="Segoe Print" pitchFamily="2" charset="0"/>
              <a:cs typeface="Times New Roman" pitchFamily="18" charset="0"/>
            </a:endParaRPr>
          </a:p>
          <a:p>
            <a:pPr marL="457200" indent="-457200">
              <a:buClr>
                <a:schemeClr val="accent1"/>
              </a:buClr>
              <a:buFont typeface="Arial" pitchFamily="34" charset="0"/>
              <a:buChar char="•"/>
            </a:pPr>
            <a:r>
              <a:rPr lang="en-US" sz="2800" dirty="0">
                <a:solidFill>
                  <a:prstClr val="black"/>
                </a:solidFill>
                <a:cs typeface="Times New Roman" pitchFamily="18" charset="0"/>
              </a:rPr>
              <a:t>What are the variables? </a:t>
            </a:r>
          </a:p>
          <a:p>
            <a:pPr algn="ctr">
              <a:buClr>
                <a:schemeClr val="accent1"/>
              </a:buClr>
            </a:pPr>
            <a:endParaRPr lang="en-US" sz="2800" dirty="0">
              <a:solidFill>
                <a:schemeClr val="accent1">
                  <a:lumMod val="50000"/>
                </a:schemeClr>
              </a:solidFill>
              <a:latin typeface="Segoe Print" pitchFamily="2" charset="0"/>
              <a:cs typeface="Times New Roman" pitchFamily="18" charset="0"/>
            </a:endParaRPr>
          </a:p>
          <a:p>
            <a:pPr algn="ctr">
              <a:buClr>
                <a:schemeClr val="accent1"/>
              </a:buClr>
            </a:pPr>
            <a:endParaRPr lang="en-US" sz="2800" dirty="0">
              <a:solidFill>
                <a:schemeClr val="accent1">
                  <a:lumMod val="50000"/>
                </a:schemeClr>
              </a:solidFill>
              <a:latin typeface="Segoe Print" pitchFamily="2" charset="0"/>
              <a:cs typeface="Times New Roman" pitchFamily="18" charset="0"/>
            </a:endParaRPr>
          </a:p>
          <a:p>
            <a:pPr marL="457200" indent="-457200">
              <a:buClr>
                <a:schemeClr val="accent1"/>
              </a:buClr>
              <a:buFont typeface="Arial" pitchFamily="34" charset="0"/>
              <a:buChar char="•"/>
            </a:pPr>
            <a:r>
              <a:rPr lang="en-US" sz="2800" dirty="0">
                <a:solidFill>
                  <a:prstClr val="black"/>
                </a:solidFill>
                <a:cs typeface="Times New Roman" pitchFamily="18" charset="0"/>
              </a:rPr>
              <a:t>What is the parameter of interest?</a:t>
            </a:r>
          </a:p>
          <a:p>
            <a:pPr algn="ctr">
              <a:buClr>
                <a:schemeClr val="accent1"/>
              </a:buClr>
            </a:pPr>
            <a:r>
              <a:rPr lang="en-US" sz="2800" dirty="0">
                <a:solidFill>
                  <a:prstClr val="black"/>
                </a:solidFill>
                <a:cs typeface="Times New Roman" pitchFamily="18" charset="0"/>
              </a:rPr>
              <a:t>	</a:t>
            </a:r>
          </a:p>
        </p:txBody>
      </p:sp>
      <p:sp>
        <p:nvSpPr>
          <p:cNvPr id="3" name="Title 1"/>
          <p:cNvSpPr txBox="1">
            <a:spLocks/>
          </p:cNvSpPr>
          <p:nvPr/>
        </p:nvSpPr>
        <p:spPr>
          <a:xfrm>
            <a:off x="533400" y="152400"/>
            <a:ext cx="8153400" cy="1219200"/>
          </a:xfrm>
          <a:prstGeom prst="rect">
            <a:avLst/>
          </a:prstGeom>
        </p:spPr>
        <p:txBody>
          <a:bodyPr/>
          <a:lstStyle/>
          <a:p>
            <a:pPr lvl="0" algn="ctr">
              <a:spcBef>
                <a:spcPct val="0"/>
              </a:spcBef>
              <a:defRPr/>
            </a:pPr>
            <a:r>
              <a:rPr lang="en-US" sz="4400" b="1" dirty="0">
                <a:solidFill>
                  <a:schemeClr val="tx2"/>
                </a:solidFill>
                <a:latin typeface="+mj-lt"/>
              </a:rPr>
              <a:t>Cocaine Addiction</a:t>
            </a:r>
            <a:endParaRPr lang="en-US" sz="4000" b="1" dirty="0">
              <a:solidFill>
                <a:schemeClr val="tx2"/>
              </a:solidFill>
              <a:latin typeface="+mj-lt"/>
            </a:endParaRPr>
          </a:p>
        </p:txBody>
      </p:sp>
    </p:spTree>
    <p:custDataLst>
      <p:tags r:id="rId1"/>
    </p:custDataLst>
    <p:extLst>
      <p:ext uri="{BB962C8B-B14F-4D97-AF65-F5344CB8AC3E}">
        <p14:creationId xmlns:p14="http://schemas.microsoft.com/office/powerpoint/2010/main" val="251289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066800"/>
            <a:ext cx="8763000" cy="4062651"/>
          </a:xfrm>
          <a:prstGeom prst="rect">
            <a:avLst/>
          </a:prstGeom>
          <a:noFill/>
        </p:spPr>
        <p:txBody>
          <a:bodyPr wrap="square" rtlCol="0">
            <a:spAutoFit/>
          </a:bodyPr>
          <a:lstStyle/>
          <a:p>
            <a:pPr marL="91440" indent="-274320">
              <a:buClr>
                <a:schemeClr val="accent1"/>
              </a:buClr>
              <a:buFont typeface="Arial" pitchFamily="34" charset="0"/>
              <a:buChar char="•"/>
            </a:pPr>
            <a:r>
              <a:rPr lang="en-US" sz="3200" dirty="0">
                <a:solidFill>
                  <a:prstClr val="black"/>
                </a:solidFill>
                <a:cs typeface="Times New Roman" pitchFamily="18" charset="0"/>
              </a:rPr>
              <a:t>What are the null and alternative hypotheses?</a:t>
            </a:r>
          </a:p>
          <a:p>
            <a:pPr marL="91440" indent="-274320">
              <a:buClr>
                <a:schemeClr val="accent1"/>
              </a:buClr>
              <a:buFont typeface="Arial" pitchFamily="34" charset="0"/>
              <a:buChar char="•"/>
            </a:pPr>
            <a:endParaRPr lang="en-US" sz="5400" dirty="0">
              <a:solidFill>
                <a:prstClr val="black"/>
              </a:solidFill>
              <a:latin typeface="Cambria" pitchFamily="18" charset="0"/>
              <a:cs typeface="Times New Roman" pitchFamily="18" charset="0"/>
            </a:endParaRPr>
          </a:p>
          <a:p>
            <a:pPr marL="91440" indent="-274320">
              <a:buClr>
                <a:schemeClr val="accent1"/>
              </a:buClr>
              <a:buFont typeface="Arial" pitchFamily="34" charset="0"/>
              <a:buChar char="•"/>
            </a:pPr>
            <a:endParaRPr lang="en-US" sz="3200" dirty="0">
              <a:solidFill>
                <a:prstClr val="black"/>
              </a:solidFill>
              <a:latin typeface="Cambria" pitchFamily="18" charset="0"/>
              <a:cs typeface="Times New Roman" pitchFamily="18" charset="0"/>
            </a:endParaRPr>
          </a:p>
          <a:p>
            <a:pPr marL="91440" indent="-274320">
              <a:buClr>
                <a:schemeClr val="accent1"/>
              </a:buClr>
              <a:buFont typeface="Arial" pitchFamily="34" charset="0"/>
              <a:buChar char="•"/>
            </a:pPr>
            <a:endParaRPr lang="en-US" sz="4800" dirty="0">
              <a:solidFill>
                <a:prstClr val="black"/>
              </a:solidFill>
              <a:latin typeface="Cambria" pitchFamily="18" charset="0"/>
              <a:cs typeface="Times New Roman" pitchFamily="18" charset="0"/>
            </a:endParaRPr>
          </a:p>
          <a:p>
            <a:pPr lvl="0">
              <a:buClr>
                <a:schemeClr val="accent1"/>
              </a:buClr>
            </a:pPr>
            <a:endParaRPr lang="en-US" sz="3200" dirty="0">
              <a:solidFill>
                <a:prstClr val="black"/>
              </a:solidFill>
              <a:latin typeface="Cambria" pitchFamily="18" charset="0"/>
              <a:cs typeface="Times New Roman" pitchFamily="18" charset="0"/>
            </a:endParaRPr>
          </a:p>
          <a:p>
            <a:pPr marL="91440" lvl="0" indent="-274320">
              <a:buClr>
                <a:schemeClr val="accent1"/>
              </a:buClr>
              <a:buFont typeface="Arial" pitchFamily="34" charset="0"/>
              <a:buChar char="•"/>
            </a:pPr>
            <a:r>
              <a:rPr lang="en-US" sz="3200" dirty="0">
                <a:solidFill>
                  <a:prstClr val="black"/>
                </a:solidFill>
                <a:cs typeface="Times New Roman" pitchFamily="18" charset="0"/>
              </a:rPr>
              <a:t>What are the possible conclusions?</a:t>
            </a:r>
            <a:endParaRPr lang="en-US" sz="2800" dirty="0">
              <a:solidFill>
                <a:prstClr val="black"/>
              </a:solidFill>
              <a:cs typeface="Times New Roman" pitchFamily="18" charset="0"/>
            </a:endParaRPr>
          </a:p>
          <a:p>
            <a:pPr marL="91440" indent="-274320">
              <a:buClr>
                <a:schemeClr val="accent1"/>
              </a:buClr>
              <a:buFont typeface="Arial" pitchFamily="34" charset="0"/>
              <a:buChar char="•"/>
            </a:pPr>
            <a:endParaRPr lang="en-US" sz="2800" dirty="0">
              <a:solidFill>
                <a:prstClr val="black"/>
              </a:solidFill>
              <a:cs typeface="Times New Roman" pitchFamily="18" charset="0"/>
            </a:endParaRPr>
          </a:p>
        </p:txBody>
      </p:sp>
      <p:sp>
        <p:nvSpPr>
          <p:cNvPr id="3" name="Title 1"/>
          <p:cNvSpPr txBox="1">
            <a:spLocks/>
          </p:cNvSpPr>
          <p:nvPr/>
        </p:nvSpPr>
        <p:spPr>
          <a:xfrm>
            <a:off x="533400" y="152400"/>
            <a:ext cx="8153400" cy="1219200"/>
          </a:xfrm>
          <a:prstGeom prst="rect">
            <a:avLst/>
          </a:prstGeom>
        </p:spPr>
        <p:txBody>
          <a:bodyPr/>
          <a:lstStyle/>
          <a:p>
            <a:pPr lvl="0" algn="ctr">
              <a:spcBef>
                <a:spcPct val="0"/>
              </a:spcBef>
              <a:defRPr/>
            </a:pPr>
            <a:r>
              <a:rPr lang="en-US" sz="4400" b="1" dirty="0">
                <a:solidFill>
                  <a:schemeClr val="tx2"/>
                </a:solidFill>
                <a:latin typeface="+mj-lt"/>
              </a:rPr>
              <a:t>Cocaine Addiction</a:t>
            </a:r>
          </a:p>
        </p:txBody>
      </p:sp>
      <p:pic>
        <p:nvPicPr>
          <p:cNvPr id="6" name="Picture 2" descr="http://www.school-clipart.com/school_clipart_images/pencil_touching_lead_to_paper_0515-1007-2718-0955_SM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1" y="228600"/>
            <a:ext cx="761999" cy="69467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2896" y="1676400"/>
            <a:ext cx="9111175" cy="954107"/>
          </a:xfrm>
          <a:prstGeom prst="rect">
            <a:avLst/>
          </a:prstGeom>
          <a:noFill/>
        </p:spPr>
        <p:txBody>
          <a:bodyPr wrap="square" rtlCol="0">
            <a:spAutoFit/>
          </a:bodyPr>
          <a:lstStyle/>
          <a:p>
            <a:pPr>
              <a:spcAft>
                <a:spcPts val="1200"/>
              </a:spcAft>
            </a:pPr>
            <a:r>
              <a:rPr lang="en-US" sz="2800" dirty="0" err="1">
                <a:solidFill>
                  <a:schemeClr val="accent1">
                    <a:lumMod val="50000"/>
                  </a:schemeClr>
                </a:solidFill>
                <a:latin typeface="Segoe Print" pitchFamily="2" charset="0"/>
              </a:rPr>
              <a:t>p</a:t>
            </a:r>
            <a:r>
              <a:rPr lang="en-US" sz="2800" baseline="-25000" dirty="0" err="1">
                <a:solidFill>
                  <a:schemeClr val="accent1">
                    <a:lumMod val="50000"/>
                  </a:schemeClr>
                </a:solidFill>
                <a:latin typeface="Segoe Print" pitchFamily="2" charset="0"/>
              </a:rPr>
              <a:t>D</a:t>
            </a:r>
            <a:r>
              <a:rPr lang="en-US" sz="2800" dirty="0">
                <a:solidFill>
                  <a:schemeClr val="accent1">
                    <a:lumMod val="50000"/>
                  </a:schemeClr>
                </a:solidFill>
                <a:latin typeface="Segoe Print" pitchFamily="2" charset="0"/>
              </a:rPr>
              <a:t>, </a:t>
            </a:r>
            <a:r>
              <a:rPr lang="en-US" sz="2800" dirty="0" err="1">
                <a:solidFill>
                  <a:schemeClr val="accent1">
                    <a:lumMod val="50000"/>
                  </a:schemeClr>
                </a:solidFill>
                <a:latin typeface="Segoe Print" pitchFamily="2" charset="0"/>
              </a:rPr>
              <a:t>p</a:t>
            </a:r>
            <a:r>
              <a:rPr lang="en-US" sz="2800" baseline="-25000" dirty="0" err="1">
                <a:solidFill>
                  <a:schemeClr val="accent1">
                    <a:lumMod val="50000"/>
                  </a:schemeClr>
                </a:solidFill>
                <a:latin typeface="Segoe Print" pitchFamily="2" charset="0"/>
              </a:rPr>
              <a:t>L</a:t>
            </a:r>
            <a:r>
              <a:rPr lang="en-US" sz="2800" dirty="0">
                <a:solidFill>
                  <a:schemeClr val="accent1">
                    <a:lumMod val="50000"/>
                  </a:schemeClr>
                </a:solidFill>
                <a:latin typeface="Segoe Print" pitchFamily="2" charset="0"/>
              </a:rPr>
              <a:t>: proportion of cocaine</a:t>
            </a:r>
            <a:r>
              <a:rPr lang="en-US" sz="2800" dirty="0">
                <a:solidFill>
                  <a:schemeClr val="accent1">
                    <a:lumMod val="50000"/>
                  </a:schemeClr>
                </a:solidFill>
              </a:rPr>
              <a:t> </a:t>
            </a:r>
            <a:r>
              <a:rPr lang="en-US" sz="2800" dirty="0">
                <a:solidFill>
                  <a:schemeClr val="accent1">
                    <a:lumMod val="50000"/>
                  </a:schemeClr>
                </a:solidFill>
                <a:latin typeface="Segoe Print" pitchFamily="2" charset="0"/>
              </a:rPr>
              <a:t>addicts who relapse after taking </a:t>
            </a:r>
            <a:r>
              <a:rPr lang="en-US" sz="2800" dirty="0" err="1">
                <a:solidFill>
                  <a:schemeClr val="accent1">
                    <a:lumMod val="50000"/>
                  </a:schemeClr>
                </a:solidFill>
                <a:latin typeface="Segoe Print" pitchFamily="2" charset="0"/>
              </a:rPr>
              <a:t>Desipramine</a:t>
            </a:r>
            <a:r>
              <a:rPr lang="en-US" sz="2800" dirty="0">
                <a:solidFill>
                  <a:schemeClr val="accent1">
                    <a:lumMod val="50000"/>
                  </a:schemeClr>
                </a:solidFill>
                <a:latin typeface="Segoe Print" pitchFamily="2" charset="0"/>
              </a:rPr>
              <a:t> or Lithium, respectively</a:t>
            </a:r>
          </a:p>
        </p:txBody>
      </p:sp>
    </p:spTree>
    <p:custDataLst>
      <p:tags r:id="rId1"/>
    </p:custDataLst>
    <p:extLst>
      <p:ext uri="{BB962C8B-B14F-4D97-AF65-F5344CB8AC3E}">
        <p14:creationId xmlns:p14="http://schemas.microsoft.com/office/powerpoint/2010/main" val="91990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8288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54" name="Oval 53"/>
          <p:cNvSpPr/>
          <p:nvPr/>
        </p:nvSpPr>
        <p:spPr>
          <a:xfrm>
            <a:off x="22860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55" name="Oval 54"/>
          <p:cNvSpPr/>
          <p:nvPr/>
        </p:nvSpPr>
        <p:spPr>
          <a:xfrm>
            <a:off x="27432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1" name="Oval 60"/>
          <p:cNvSpPr/>
          <p:nvPr/>
        </p:nvSpPr>
        <p:spPr>
          <a:xfrm>
            <a:off x="32004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3" name="Oval 62"/>
          <p:cNvSpPr/>
          <p:nvPr/>
        </p:nvSpPr>
        <p:spPr>
          <a:xfrm>
            <a:off x="36576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4" name="Oval 63"/>
          <p:cNvSpPr/>
          <p:nvPr/>
        </p:nvSpPr>
        <p:spPr>
          <a:xfrm>
            <a:off x="41148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5" name="Oval 64"/>
          <p:cNvSpPr/>
          <p:nvPr/>
        </p:nvSpPr>
        <p:spPr>
          <a:xfrm>
            <a:off x="18288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7" name="Oval 66"/>
          <p:cNvSpPr/>
          <p:nvPr/>
        </p:nvSpPr>
        <p:spPr>
          <a:xfrm>
            <a:off x="22860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8" name="Oval 67"/>
          <p:cNvSpPr/>
          <p:nvPr/>
        </p:nvSpPr>
        <p:spPr>
          <a:xfrm>
            <a:off x="27432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69" name="Oval 68"/>
          <p:cNvSpPr/>
          <p:nvPr/>
        </p:nvSpPr>
        <p:spPr>
          <a:xfrm>
            <a:off x="32004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0" name="Oval 69"/>
          <p:cNvSpPr/>
          <p:nvPr/>
        </p:nvSpPr>
        <p:spPr>
          <a:xfrm>
            <a:off x="36576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1" name="Oval 70"/>
          <p:cNvSpPr/>
          <p:nvPr/>
        </p:nvSpPr>
        <p:spPr>
          <a:xfrm>
            <a:off x="41148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2" name="Oval 71"/>
          <p:cNvSpPr/>
          <p:nvPr/>
        </p:nvSpPr>
        <p:spPr>
          <a:xfrm>
            <a:off x="18288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3" name="Oval 72"/>
          <p:cNvSpPr/>
          <p:nvPr/>
        </p:nvSpPr>
        <p:spPr>
          <a:xfrm>
            <a:off x="22860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4" name="Oval 73"/>
          <p:cNvSpPr/>
          <p:nvPr/>
        </p:nvSpPr>
        <p:spPr>
          <a:xfrm>
            <a:off x="27432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5" name="Oval 74"/>
          <p:cNvSpPr/>
          <p:nvPr/>
        </p:nvSpPr>
        <p:spPr>
          <a:xfrm>
            <a:off x="32004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6" name="Oval 75"/>
          <p:cNvSpPr/>
          <p:nvPr/>
        </p:nvSpPr>
        <p:spPr>
          <a:xfrm>
            <a:off x="36576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7" name="Oval 76"/>
          <p:cNvSpPr/>
          <p:nvPr/>
        </p:nvSpPr>
        <p:spPr>
          <a:xfrm>
            <a:off x="41148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8" name="Oval 77"/>
          <p:cNvSpPr/>
          <p:nvPr/>
        </p:nvSpPr>
        <p:spPr>
          <a:xfrm>
            <a:off x="18288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79" name="Oval 78"/>
          <p:cNvSpPr/>
          <p:nvPr/>
        </p:nvSpPr>
        <p:spPr>
          <a:xfrm>
            <a:off x="22860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0" name="Oval 79"/>
          <p:cNvSpPr/>
          <p:nvPr/>
        </p:nvSpPr>
        <p:spPr>
          <a:xfrm>
            <a:off x="27432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1" name="Oval 80"/>
          <p:cNvSpPr/>
          <p:nvPr/>
        </p:nvSpPr>
        <p:spPr>
          <a:xfrm>
            <a:off x="32004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2" name="Oval 81"/>
          <p:cNvSpPr/>
          <p:nvPr/>
        </p:nvSpPr>
        <p:spPr>
          <a:xfrm>
            <a:off x="36576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3" name="Oval 82"/>
          <p:cNvSpPr/>
          <p:nvPr/>
        </p:nvSpPr>
        <p:spPr>
          <a:xfrm>
            <a:off x="41148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4" name="Oval 83"/>
          <p:cNvSpPr/>
          <p:nvPr/>
        </p:nvSpPr>
        <p:spPr>
          <a:xfrm>
            <a:off x="45720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5" name="Oval 84"/>
          <p:cNvSpPr/>
          <p:nvPr/>
        </p:nvSpPr>
        <p:spPr>
          <a:xfrm>
            <a:off x="50292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6" name="Oval 85"/>
          <p:cNvSpPr/>
          <p:nvPr/>
        </p:nvSpPr>
        <p:spPr>
          <a:xfrm>
            <a:off x="54864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7" name="Oval 86"/>
          <p:cNvSpPr/>
          <p:nvPr/>
        </p:nvSpPr>
        <p:spPr>
          <a:xfrm>
            <a:off x="59436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8" name="Oval 87"/>
          <p:cNvSpPr/>
          <p:nvPr/>
        </p:nvSpPr>
        <p:spPr>
          <a:xfrm>
            <a:off x="64008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89" name="Oval 88"/>
          <p:cNvSpPr/>
          <p:nvPr/>
        </p:nvSpPr>
        <p:spPr>
          <a:xfrm>
            <a:off x="6858000" y="533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0" name="Oval 89"/>
          <p:cNvSpPr/>
          <p:nvPr/>
        </p:nvSpPr>
        <p:spPr>
          <a:xfrm>
            <a:off x="45720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1" name="Oval 90"/>
          <p:cNvSpPr/>
          <p:nvPr/>
        </p:nvSpPr>
        <p:spPr>
          <a:xfrm>
            <a:off x="50292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2" name="Oval 91"/>
          <p:cNvSpPr/>
          <p:nvPr/>
        </p:nvSpPr>
        <p:spPr>
          <a:xfrm>
            <a:off x="54864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3" name="Oval 92"/>
          <p:cNvSpPr/>
          <p:nvPr/>
        </p:nvSpPr>
        <p:spPr>
          <a:xfrm>
            <a:off x="59436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4" name="Oval 93"/>
          <p:cNvSpPr/>
          <p:nvPr/>
        </p:nvSpPr>
        <p:spPr>
          <a:xfrm>
            <a:off x="64008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5" name="Oval 94"/>
          <p:cNvSpPr/>
          <p:nvPr/>
        </p:nvSpPr>
        <p:spPr>
          <a:xfrm>
            <a:off x="6858000" y="9906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6" name="Oval 95"/>
          <p:cNvSpPr/>
          <p:nvPr/>
        </p:nvSpPr>
        <p:spPr>
          <a:xfrm>
            <a:off x="45720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7" name="Oval 96"/>
          <p:cNvSpPr/>
          <p:nvPr/>
        </p:nvSpPr>
        <p:spPr>
          <a:xfrm>
            <a:off x="50292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8" name="Oval 97"/>
          <p:cNvSpPr/>
          <p:nvPr/>
        </p:nvSpPr>
        <p:spPr>
          <a:xfrm>
            <a:off x="54864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99" name="Oval 98"/>
          <p:cNvSpPr/>
          <p:nvPr/>
        </p:nvSpPr>
        <p:spPr>
          <a:xfrm>
            <a:off x="59436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0" name="Oval 99"/>
          <p:cNvSpPr/>
          <p:nvPr/>
        </p:nvSpPr>
        <p:spPr>
          <a:xfrm>
            <a:off x="64008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1" name="Oval 100"/>
          <p:cNvSpPr/>
          <p:nvPr/>
        </p:nvSpPr>
        <p:spPr>
          <a:xfrm>
            <a:off x="6858000" y="1447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2" name="Oval 101"/>
          <p:cNvSpPr/>
          <p:nvPr/>
        </p:nvSpPr>
        <p:spPr>
          <a:xfrm>
            <a:off x="45720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3" name="Oval 102"/>
          <p:cNvSpPr/>
          <p:nvPr/>
        </p:nvSpPr>
        <p:spPr>
          <a:xfrm>
            <a:off x="50292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4" name="Oval 103"/>
          <p:cNvSpPr/>
          <p:nvPr/>
        </p:nvSpPr>
        <p:spPr>
          <a:xfrm>
            <a:off x="54864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5" name="Oval 104"/>
          <p:cNvSpPr/>
          <p:nvPr/>
        </p:nvSpPr>
        <p:spPr>
          <a:xfrm>
            <a:off x="59436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6" name="Oval 105"/>
          <p:cNvSpPr/>
          <p:nvPr/>
        </p:nvSpPr>
        <p:spPr>
          <a:xfrm>
            <a:off x="64008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07" name="Oval 106"/>
          <p:cNvSpPr/>
          <p:nvPr/>
        </p:nvSpPr>
        <p:spPr>
          <a:xfrm>
            <a:off x="6858000" y="1905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cxnSp>
        <p:nvCxnSpPr>
          <p:cNvPr id="109" name="Straight Arrow Connector 108"/>
          <p:cNvCxnSpPr/>
          <p:nvPr/>
        </p:nvCxnSpPr>
        <p:spPr>
          <a:xfrm rot="10800000" flipV="1">
            <a:off x="2057400" y="2514600"/>
            <a:ext cx="2514600" cy="1219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a:off x="4572000" y="2514600"/>
            <a:ext cx="2590800" cy="1295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6" name="Oval 115"/>
          <p:cNvSpPr/>
          <p:nvPr/>
        </p:nvSpPr>
        <p:spPr>
          <a:xfrm>
            <a:off x="18288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17" name="Oval 116"/>
          <p:cNvSpPr/>
          <p:nvPr/>
        </p:nvSpPr>
        <p:spPr>
          <a:xfrm>
            <a:off x="22860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18" name="Oval 117"/>
          <p:cNvSpPr/>
          <p:nvPr/>
        </p:nvSpPr>
        <p:spPr>
          <a:xfrm>
            <a:off x="27432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19" name="Oval 118"/>
          <p:cNvSpPr/>
          <p:nvPr/>
        </p:nvSpPr>
        <p:spPr>
          <a:xfrm>
            <a:off x="32004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0" name="Oval 119"/>
          <p:cNvSpPr/>
          <p:nvPr/>
        </p:nvSpPr>
        <p:spPr>
          <a:xfrm>
            <a:off x="9144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1" name="Oval 120"/>
          <p:cNvSpPr/>
          <p:nvPr/>
        </p:nvSpPr>
        <p:spPr>
          <a:xfrm>
            <a:off x="13716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2" name="Oval 121"/>
          <p:cNvSpPr/>
          <p:nvPr/>
        </p:nvSpPr>
        <p:spPr>
          <a:xfrm>
            <a:off x="18288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3" name="Oval 122"/>
          <p:cNvSpPr/>
          <p:nvPr/>
        </p:nvSpPr>
        <p:spPr>
          <a:xfrm>
            <a:off x="22860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4" name="Oval 123"/>
          <p:cNvSpPr/>
          <p:nvPr/>
        </p:nvSpPr>
        <p:spPr>
          <a:xfrm>
            <a:off x="27432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5" name="Oval 124"/>
          <p:cNvSpPr/>
          <p:nvPr/>
        </p:nvSpPr>
        <p:spPr>
          <a:xfrm>
            <a:off x="32004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6" name="Oval 125"/>
          <p:cNvSpPr/>
          <p:nvPr/>
        </p:nvSpPr>
        <p:spPr>
          <a:xfrm>
            <a:off x="9144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7" name="Oval 126"/>
          <p:cNvSpPr/>
          <p:nvPr/>
        </p:nvSpPr>
        <p:spPr>
          <a:xfrm>
            <a:off x="13716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8" name="Oval 127"/>
          <p:cNvSpPr/>
          <p:nvPr/>
        </p:nvSpPr>
        <p:spPr>
          <a:xfrm>
            <a:off x="18288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29" name="Oval 128"/>
          <p:cNvSpPr/>
          <p:nvPr/>
        </p:nvSpPr>
        <p:spPr>
          <a:xfrm>
            <a:off x="22860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0" name="Oval 129"/>
          <p:cNvSpPr/>
          <p:nvPr/>
        </p:nvSpPr>
        <p:spPr>
          <a:xfrm>
            <a:off x="27432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1" name="Oval 130"/>
          <p:cNvSpPr/>
          <p:nvPr/>
        </p:nvSpPr>
        <p:spPr>
          <a:xfrm>
            <a:off x="32004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2" name="Oval 131"/>
          <p:cNvSpPr/>
          <p:nvPr/>
        </p:nvSpPr>
        <p:spPr>
          <a:xfrm>
            <a:off x="9144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3" name="Oval 132"/>
          <p:cNvSpPr/>
          <p:nvPr/>
        </p:nvSpPr>
        <p:spPr>
          <a:xfrm>
            <a:off x="13716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4" name="Oval 133"/>
          <p:cNvSpPr/>
          <p:nvPr/>
        </p:nvSpPr>
        <p:spPr>
          <a:xfrm>
            <a:off x="18288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5" name="Oval 134"/>
          <p:cNvSpPr/>
          <p:nvPr/>
        </p:nvSpPr>
        <p:spPr>
          <a:xfrm>
            <a:off x="22860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6" name="Oval 135"/>
          <p:cNvSpPr/>
          <p:nvPr/>
        </p:nvSpPr>
        <p:spPr>
          <a:xfrm>
            <a:off x="27432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7" name="Oval 136"/>
          <p:cNvSpPr/>
          <p:nvPr/>
        </p:nvSpPr>
        <p:spPr>
          <a:xfrm>
            <a:off x="32004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8" name="Oval 137"/>
          <p:cNvSpPr/>
          <p:nvPr/>
        </p:nvSpPr>
        <p:spPr>
          <a:xfrm>
            <a:off x="65532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39" name="Oval 138"/>
          <p:cNvSpPr/>
          <p:nvPr/>
        </p:nvSpPr>
        <p:spPr>
          <a:xfrm>
            <a:off x="70104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0" name="Oval 139"/>
          <p:cNvSpPr/>
          <p:nvPr/>
        </p:nvSpPr>
        <p:spPr>
          <a:xfrm>
            <a:off x="74676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1" name="Oval 140"/>
          <p:cNvSpPr/>
          <p:nvPr/>
        </p:nvSpPr>
        <p:spPr>
          <a:xfrm>
            <a:off x="7924800" y="41148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2" name="Oval 141"/>
          <p:cNvSpPr/>
          <p:nvPr/>
        </p:nvSpPr>
        <p:spPr>
          <a:xfrm>
            <a:off x="56388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3" name="Oval 142"/>
          <p:cNvSpPr/>
          <p:nvPr/>
        </p:nvSpPr>
        <p:spPr>
          <a:xfrm>
            <a:off x="60960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4" name="Oval 143"/>
          <p:cNvSpPr/>
          <p:nvPr/>
        </p:nvSpPr>
        <p:spPr>
          <a:xfrm>
            <a:off x="65532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5" name="Oval 144"/>
          <p:cNvSpPr/>
          <p:nvPr/>
        </p:nvSpPr>
        <p:spPr>
          <a:xfrm>
            <a:off x="70104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6" name="Oval 145"/>
          <p:cNvSpPr/>
          <p:nvPr/>
        </p:nvSpPr>
        <p:spPr>
          <a:xfrm>
            <a:off x="74676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7" name="Oval 146"/>
          <p:cNvSpPr/>
          <p:nvPr/>
        </p:nvSpPr>
        <p:spPr>
          <a:xfrm>
            <a:off x="7924800" y="45720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8" name="Oval 147"/>
          <p:cNvSpPr/>
          <p:nvPr/>
        </p:nvSpPr>
        <p:spPr>
          <a:xfrm>
            <a:off x="56388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49" name="Oval 148"/>
          <p:cNvSpPr/>
          <p:nvPr/>
        </p:nvSpPr>
        <p:spPr>
          <a:xfrm>
            <a:off x="60960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0" name="Oval 149"/>
          <p:cNvSpPr/>
          <p:nvPr/>
        </p:nvSpPr>
        <p:spPr>
          <a:xfrm>
            <a:off x="65532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1" name="Oval 150"/>
          <p:cNvSpPr/>
          <p:nvPr/>
        </p:nvSpPr>
        <p:spPr>
          <a:xfrm>
            <a:off x="70104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2" name="Oval 151"/>
          <p:cNvSpPr/>
          <p:nvPr/>
        </p:nvSpPr>
        <p:spPr>
          <a:xfrm>
            <a:off x="74676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3" name="Oval 152"/>
          <p:cNvSpPr/>
          <p:nvPr/>
        </p:nvSpPr>
        <p:spPr>
          <a:xfrm>
            <a:off x="7924800" y="50292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4" name="Oval 153"/>
          <p:cNvSpPr/>
          <p:nvPr/>
        </p:nvSpPr>
        <p:spPr>
          <a:xfrm>
            <a:off x="56388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5" name="Oval 154"/>
          <p:cNvSpPr/>
          <p:nvPr/>
        </p:nvSpPr>
        <p:spPr>
          <a:xfrm>
            <a:off x="60960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6" name="Oval 155"/>
          <p:cNvSpPr/>
          <p:nvPr/>
        </p:nvSpPr>
        <p:spPr>
          <a:xfrm>
            <a:off x="65532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7" name="Oval 156"/>
          <p:cNvSpPr/>
          <p:nvPr/>
        </p:nvSpPr>
        <p:spPr>
          <a:xfrm>
            <a:off x="70104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8" name="Oval 157"/>
          <p:cNvSpPr/>
          <p:nvPr/>
        </p:nvSpPr>
        <p:spPr>
          <a:xfrm>
            <a:off x="74676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59" name="Oval 158"/>
          <p:cNvSpPr/>
          <p:nvPr/>
        </p:nvSpPr>
        <p:spPr>
          <a:xfrm>
            <a:off x="7924800" y="5486400"/>
            <a:ext cx="457200" cy="45720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R</a:t>
            </a:r>
          </a:p>
        </p:txBody>
      </p:sp>
      <p:sp>
        <p:nvSpPr>
          <p:cNvPr id="164" name="TextBox 163"/>
          <p:cNvSpPr txBox="1"/>
          <p:nvPr/>
        </p:nvSpPr>
        <p:spPr>
          <a:xfrm>
            <a:off x="152400" y="3499170"/>
            <a:ext cx="1865086" cy="461665"/>
          </a:xfrm>
          <a:prstGeom prst="rect">
            <a:avLst/>
          </a:prstGeom>
          <a:noFill/>
        </p:spPr>
        <p:txBody>
          <a:bodyPr wrap="square" rtlCol="0">
            <a:spAutoFit/>
          </a:bodyPr>
          <a:lstStyle/>
          <a:p>
            <a:r>
              <a:rPr lang="en-US" sz="2400" i="1" dirty="0" err="1">
                <a:solidFill>
                  <a:srgbClr val="002676"/>
                </a:solidFill>
              </a:rPr>
              <a:t>Desipramine</a:t>
            </a:r>
            <a:endParaRPr lang="en-US" sz="2400" i="1" dirty="0">
              <a:solidFill>
                <a:srgbClr val="002676"/>
              </a:solidFill>
            </a:endParaRPr>
          </a:p>
        </p:txBody>
      </p:sp>
      <p:sp>
        <p:nvSpPr>
          <p:cNvPr id="165" name="TextBox 164"/>
          <p:cNvSpPr txBox="1"/>
          <p:nvPr/>
        </p:nvSpPr>
        <p:spPr>
          <a:xfrm>
            <a:off x="6934200" y="3593068"/>
            <a:ext cx="1524000" cy="461665"/>
          </a:xfrm>
          <a:prstGeom prst="rect">
            <a:avLst/>
          </a:prstGeom>
          <a:noFill/>
        </p:spPr>
        <p:txBody>
          <a:bodyPr wrap="square" rtlCol="0">
            <a:spAutoFit/>
          </a:bodyPr>
          <a:lstStyle/>
          <a:p>
            <a:pPr algn="r"/>
            <a:r>
              <a:rPr lang="en-US" sz="2400" i="1" dirty="0">
                <a:solidFill>
                  <a:srgbClr val="002676"/>
                </a:solidFill>
              </a:rPr>
              <a:t>Lithium</a:t>
            </a:r>
          </a:p>
        </p:txBody>
      </p:sp>
      <p:sp>
        <p:nvSpPr>
          <p:cNvPr id="108" name="TextBox 107"/>
          <p:cNvSpPr txBox="1"/>
          <p:nvPr/>
        </p:nvSpPr>
        <p:spPr>
          <a:xfrm>
            <a:off x="2971800" y="3200400"/>
            <a:ext cx="3276600" cy="830997"/>
          </a:xfrm>
          <a:prstGeom prst="rect">
            <a:avLst/>
          </a:prstGeom>
          <a:noFill/>
        </p:spPr>
        <p:txBody>
          <a:bodyPr wrap="square" rtlCol="0">
            <a:spAutoFit/>
          </a:bodyPr>
          <a:lstStyle/>
          <a:p>
            <a:r>
              <a:rPr lang="en-US" sz="2400" dirty="0">
                <a:solidFill>
                  <a:prstClr val="black"/>
                </a:solidFill>
              </a:rPr>
              <a:t>1. Randomly assign units to treatment groups</a:t>
            </a:r>
          </a:p>
        </p:txBody>
      </p:sp>
    </p:spTree>
    <p:custDataLst>
      <p:tags r:id="rId1"/>
    </p:custDataLst>
    <p:extLst>
      <p:ext uri="{BB962C8B-B14F-4D97-AF65-F5344CB8AC3E}">
        <p14:creationId xmlns:p14="http://schemas.microsoft.com/office/powerpoint/2010/main" val="81813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09"/>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1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6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65"/>
                                        </p:tgtEl>
                                        <p:attrNameLst>
                                          <p:attrName>style.visibility</p:attrName>
                                        </p:attrNameLst>
                                      </p:cBhvr>
                                      <p:to>
                                        <p:strVal val="visible"/>
                                      </p:to>
                                    </p:set>
                                  </p:childTnLst>
                                </p:cTn>
                              </p:par>
                            </p:childTnLst>
                          </p:cTn>
                        </p:par>
                        <p:par>
                          <p:cTn id="16" fill="hold">
                            <p:stCondLst>
                              <p:cond delay="0"/>
                            </p:stCondLst>
                            <p:childTnLst>
                              <p:par>
                                <p:cTn id="17" presetID="0" presetClass="path" presetSubtype="0" accel="50000" decel="50000" fill="hold" grpId="0" nodeType="afterEffect">
                                  <p:stCondLst>
                                    <p:cond delay="0"/>
                                  </p:stCondLst>
                                  <p:childTnLst>
                                    <p:animMotion origin="layout" path="M 0 1.85014E-8 L -0.35 0.38853 " pathEditMode="relative" rAng="0" ptsTypes="AA">
                                      <p:cBhvr>
                                        <p:cTn id="18" dur="2000" fill="hold"/>
                                        <p:tgtEl>
                                          <p:spTgt spid="77"/>
                                        </p:tgtEl>
                                        <p:attrNameLst>
                                          <p:attrName>ppt_x</p:attrName>
                                          <p:attrName>ppt_y</p:attrName>
                                        </p:attrNameLst>
                                      </p:cBhvr>
                                      <p:rCtr x="-17500" y="19400"/>
                                    </p:animMotion>
                                  </p:childTnLst>
                                </p:cTn>
                              </p:par>
                            </p:childTnLst>
                          </p:cTn>
                        </p:par>
                        <p:par>
                          <p:cTn id="19" fill="hold">
                            <p:stCondLst>
                              <p:cond delay="2000"/>
                            </p:stCondLst>
                            <p:childTnLst>
                              <p:par>
                                <p:cTn id="20" presetID="0" presetClass="path" presetSubtype="0" accel="50000" decel="50000" fill="hold" grpId="0" nodeType="afterEffect">
                                  <p:stCondLst>
                                    <p:cond delay="0"/>
                                  </p:stCondLst>
                                  <p:childTnLst>
                                    <p:animMotion origin="layout" path="M -0.025 9.25069E-9 L 0.36667 0.52174 " pathEditMode="relative" rAng="0" ptsTypes="AA">
                                      <p:cBhvr>
                                        <p:cTn id="21" dur="2000" fill="hold"/>
                                        <p:tgtEl>
                                          <p:spTgt spid="54"/>
                                        </p:tgtEl>
                                        <p:attrNameLst>
                                          <p:attrName>ppt_x</p:attrName>
                                          <p:attrName>ppt_y</p:attrName>
                                        </p:attrNameLst>
                                      </p:cBhvr>
                                      <p:rCtr x="19600" y="26100"/>
                                    </p:animMotion>
                                  </p:childTnLst>
                                </p:cTn>
                              </p:par>
                            </p:childTnLst>
                          </p:cTn>
                        </p:par>
                        <p:par>
                          <p:cTn id="22" fill="hold">
                            <p:stCondLst>
                              <p:cond delay="4000"/>
                            </p:stCondLst>
                            <p:childTnLst>
                              <p:par>
                                <p:cTn id="23" presetID="0" presetClass="path" presetSubtype="0" accel="50000" decel="50000" fill="hold" grpId="0" nodeType="afterEffect">
                                  <p:stCondLst>
                                    <p:cond delay="0"/>
                                  </p:stCondLst>
                                  <p:childTnLst>
                                    <p:animMotion origin="layout" path="M 0 9.25069E-9 L -0.35 0.52174 " pathEditMode="relative" rAng="0" ptsTypes="AA">
                                      <p:cBhvr>
                                        <p:cTn id="24" dur="2000" fill="hold"/>
                                        <p:tgtEl>
                                          <p:spTgt spid="84"/>
                                        </p:tgtEl>
                                        <p:attrNameLst>
                                          <p:attrName>ppt_x</p:attrName>
                                          <p:attrName>ppt_y</p:attrName>
                                        </p:attrNameLst>
                                      </p:cBhvr>
                                      <p:rCtr x="-17500" y="26100"/>
                                    </p:animMotion>
                                  </p:childTnLst>
                                </p:cTn>
                              </p:par>
                            </p:childTnLst>
                          </p:cTn>
                        </p:par>
                        <p:par>
                          <p:cTn id="25" fill="hold">
                            <p:stCondLst>
                              <p:cond delay="6000"/>
                            </p:stCondLst>
                            <p:childTnLst>
                              <p:par>
                                <p:cTn id="26" presetID="0" presetClass="path" presetSubtype="0" accel="50000" decel="50000" fill="hold" grpId="0" nodeType="afterEffect">
                                  <p:stCondLst>
                                    <p:cond delay="0"/>
                                  </p:stCondLst>
                                  <p:childTnLst>
                                    <p:animMotion origin="layout" path="M -0.025 -4.98612E-6 L 0.01667 0.45514 " pathEditMode="relative" rAng="0" ptsTypes="AA">
                                      <p:cBhvr>
                                        <p:cTn id="27" dur="2000" fill="hold"/>
                                        <p:tgtEl>
                                          <p:spTgt spid="93"/>
                                        </p:tgtEl>
                                        <p:attrNameLst>
                                          <p:attrName>ppt_x</p:attrName>
                                          <p:attrName>ppt_y</p:attrName>
                                        </p:attrNameLst>
                                      </p:cBhvr>
                                      <p:rCtr x="2100" y="22800"/>
                                    </p:animMotion>
                                  </p:childTnLst>
                                </p:cTn>
                              </p:par>
                            </p:childTnLst>
                          </p:cTn>
                        </p:par>
                        <p:par>
                          <p:cTn id="28" fill="hold">
                            <p:stCondLst>
                              <p:cond delay="8000"/>
                            </p:stCondLst>
                            <p:childTnLst>
                              <p:par>
                                <p:cTn id="29" presetID="9" presetClass="entr" presetSubtype="0" fill="hold" grpId="0" nodeType="afterEffect">
                                  <p:stCondLst>
                                    <p:cond delay="0"/>
                                  </p:stCondLst>
                                  <p:childTnLst>
                                    <p:set>
                                      <p:cBhvr>
                                        <p:cTn id="30" dur="1" fill="hold">
                                          <p:stCondLst>
                                            <p:cond delay="0"/>
                                          </p:stCondLst>
                                        </p:cTn>
                                        <p:tgtEl>
                                          <p:spTgt spid="116"/>
                                        </p:tgtEl>
                                        <p:attrNameLst>
                                          <p:attrName>style.visibility</p:attrName>
                                        </p:attrNameLst>
                                      </p:cBhvr>
                                      <p:to>
                                        <p:strVal val="visible"/>
                                      </p:to>
                                    </p:set>
                                    <p:animEffect transition="in" filter="dissolve">
                                      <p:cBhvr>
                                        <p:cTn id="31" dur="2000"/>
                                        <p:tgtEl>
                                          <p:spTgt spid="11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7"/>
                                        </p:tgtEl>
                                        <p:attrNameLst>
                                          <p:attrName>style.visibility</p:attrName>
                                        </p:attrNameLst>
                                      </p:cBhvr>
                                      <p:to>
                                        <p:strVal val="visible"/>
                                      </p:to>
                                    </p:set>
                                    <p:animEffect transition="in" filter="dissolve">
                                      <p:cBhvr>
                                        <p:cTn id="34" dur="2000"/>
                                        <p:tgtEl>
                                          <p:spTgt spid="11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18"/>
                                        </p:tgtEl>
                                        <p:attrNameLst>
                                          <p:attrName>style.visibility</p:attrName>
                                        </p:attrNameLst>
                                      </p:cBhvr>
                                      <p:to>
                                        <p:strVal val="visible"/>
                                      </p:to>
                                    </p:set>
                                    <p:animEffect transition="in" filter="dissolve">
                                      <p:cBhvr>
                                        <p:cTn id="37" dur="2000"/>
                                        <p:tgtEl>
                                          <p:spTgt spid="11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19"/>
                                        </p:tgtEl>
                                        <p:attrNameLst>
                                          <p:attrName>style.visibility</p:attrName>
                                        </p:attrNameLst>
                                      </p:cBhvr>
                                      <p:to>
                                        <p:strVal val="visible"/>
                                      </p:to>
                                    </p:set>
                                    <p:animEffect transition="in" filter="dissolve">
                                      <p:cBhvr>
                                        <p:cTn id="40" dur="2000"/>
                                        <p:tgtEl>
                                          <p:spTgt spid="11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20"/>
                                        </p:tgtEl>
                                        <p:attrNameLst>
                                          <p:attrName>style.visibility</p:attrName>
                                        </p:attrNameLst>
                                      </p:cBhvr>
                                      <p:to>
                                        <p:strVal val="visible"/>
                                      </p:to>
                                    </p:set>
                                    <p:animEffect transition="in" filter="dissolve">
                                      <p:cBhvr>
                                        <p:cTn id="43" dur="2000"/>
                                        <p:tgtEl>
                                          <p:spTgt spid="120"/>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21"/>
                                        </p:tgtEl>
                                        <p:attrNameLst>
                                          <p:attrName>style.visibility</p:attrName>
                                        </p:attrNameLst>
                                      </p:cBhvr>
                                      <p:to>
                                        <p:strVal val="visible"/>
                                      </p:to>
                                    </p:set>
                                    <p:animEffect transition="in" filter="dissolve">
                                      <p:cBhvr>
                                        <p:cTn id="46" dur="2000"/>
                                        <p:tgtEl>
                                          <p:spTgt spid="12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22"/>
                                        </p:tgtEl>
                                        <p:attrNameLst>
                                          <p:attrName>style.visibility</p:attrName>
                                        </p:attrNameLst>
                                      </p:cBhvr>
                                      <p:to>
                                        <p:strVal val="visible"/>
                                      </p:to>
                                    </p:set>
                                    <p:animEffect transition="in" filter="dissolve">
                                      <p:cBhvr>
                                        <p:cTn id="49" dur="2000"/>
                                        <p:tgtEl>
                                          <p:spTgt spid="12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23"/>
                                        </p:tgtEl>
                                        <p:attrNameLst>
                                          <p:attrName>style.visibility</p:attrName>
                                        </p:attrNameLst>
                                      </p:cBhvr>
                                      <p:to>
                                        <p:strVal val="visible"/>
                                      </p:to>
                                    </p:set>
                                    <p:animEffect transition="in" filter="dissolve">
                                      <p:cBhvr>
                                        <p:cTn id="52" dur="2000"/>
                                        <p:tgtEl>
                                          <p:spTgt spid="123"/>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24"/>
                                        </p:tgtEl>
                                        <p:attrNameLst>
                                          <p:attrName>style.visibility</p:attrName>
                                        </p:attrNameLst>
                                      </p:cBhvr>
                                      <p:to>
                                        <p:strVal val="visible"/>
                                      </p:to>
                                    </p:set>
                                    <p:animEffect transition="in" filter="dissolve">
                                      <p:cBhvr>
                                        <p:cTn id="55" dur="2000"/>
                                        <p:tgtEl>
                                          <p:spTgt spid="12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25"/>
                                        </p:tgtEl>
                                        <p:attrNameLst>
                                          <p:attrName>style.visibility</p:attrName>
                                        </p:attrNameLst>
                                      </p:cBhvr>
                                      <p:to>
                                        <p:strVal val="visible"/>
                                      </p:to>
                                    </p:set>
                                    <p:animEffect transition="in" filter="dissolve">
                                      <p:cBhvr>
                                        <p:cTn id="58" dur="2000"/>
                                        <p:tgtEl>
                                          <p:spTgt spid="125"/>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26"/>
                                        </p:tgtEl>
                                        <p:attrNameLst>
                                          <p:attrName>style.visibility</p:attrName>
                                        </p:attrNameLst>
                                      </p:cBhvr>
                                      <p:to>
                                        <p:strVal val="visible"/>
                                      </p:to>
                                    </p:set>
                                    <p:animEffect transition="in" filter="dissolve">
                                      <p:cBhvr>
                                        <p:cTn id="61" dur="2000"/>
                                        <p:tgtEl>
                                          <p:spTgt spid="126"/>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127"/>
                                        </p:tgtEl>
                                        <p:attrNameLst>
                                          <p:attrName>style.visibility</p:attrName>
                                        </p:attrNameLst>
                                      </p:cBhvr>
                                      <p:to>
                                        <p:strVal val="visible"/>
                                      </p:to>
                                    </p:set>
                                    <p:animEffect transition="in" filter="dissolve">
                                      <p:cBhvr>
                                        <p:cTn id="64" dur="2000"/>
                                        <p:tgtEl>
                                          <p:spTgt spid="127"/>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28"/>
                                        </p:tgtEl>
                                        <p:attrNameLst>
                                          <p:attrName>style.visibility</p:attrName>
                                        </p:attrNameLst>
                                      </p:cBhvr>
                                      <p:to>
                                        <p:strVal val="visible"/>
                                      </p:to>
                                    </p:set>
                                    <p:animEffect transition="in" filter="dissolve">
                                      <p:cBhvr>
                                        <p:cTn id="67" dur="2000"/>
                                        <p:tgtEl>
                                          <p:spTgt spid="128"/>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29"/>
                                        </p:tgtEl>
                                        <p:attrNameLst>
                                          <p:attrName>style.visibility</p:attrName>
                                        </p:attrNameLst>
                                      </p:cBhvr>
                                      <p:to>
                                        <p:strVal val="visible"/>
                                      </p:to>
                                    </p:set>
                                    <p:animEffect transition="in" filter="dissolve">
                                      <p:cBhvr>
                                        <p:cTn id="70" dur="2000"/>
                                        <p:tgtEl>
                                          <p:spTgt spid="129"/>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30"/>
                                        </p:tgtEl>
                                        <p:attrNameLst>
                                          <p:attrName>style.visibility</p:attrName>
                                        </p:attrNameLst>
                                      </p:cBhvr>
                                      <p:to>
                                        <p:strVal val="visible"/>
                                      </p:to>
                                    </p:set>
                                    <p:animEffect transition="in" filter="dissolve">
                                      <p:cBhvr>
                                        <p:cTn id="73" dur="2000"/>
                                        <p:tgtEl>
                                          <p:spTgt spid="130"/>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31"/>
                                        </p:tgtEl>
                                        <p:attrNameLst>
                                          <p:attrName>style.visibility</p:attrName>
                                        </p:attrNameLst>
                                      </p:cBhvr>
                                      <p:to>
                                        <p:strVal val="visible"/>
                                      </p:to>
                                    </p:set>
                                    <p:animEffect transition="in" filter="dissolve">
                                      <p:cBhvr>
                                        <p:cTn id="76" dur="2000"/>
                                        <p:tgtEl>
                                          <p:spTgt spid="131"/>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132"/>
                                        </p:tgtEl>
                                        <p:attrNameLst>
                                          <p:attrName>style.visibility</p:attrName>
                                        </p:attrNameLst>
                                      </p:cBhvr>
                                      <p:to>
                                        <p:strVal val="visible"/>
                                      </p:to>
                                    </p:set>
                                    <p:animEffect transition="in" filter="dissolve">
                                      <p:cBhvr>
                                        <p:cTn id="79" dur="2000"/>
                                        <p:tgtEl>
                                          <p:spTgt spid="132"/>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133"/>
                                        </p:tgtEl>
                                        <p:attrNameLst>
                                          <p:attrName>style.visibility</p:attrName>
                                        </p:attrNameLst>
                                      </p:cBhvr>
                                      <p:to>
                                        <p:strVal val="visible"/>
                                      </p:to>
                                    </p:set>
                                    <p:animEffect transition="in" filter="dissolve">
                                      <p:cBhvr>
                                        <p:cTn id="82" dur="2000"/>
                                        <p:tgtEl>
                                          <p:spTgt spid="133"/>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134"/>
                                        </p:tgtEl>
                                        <p:attrNameLst>
                                          <p:attrName>style.visibility</p:attrName>
                                        </p:attrNameLst>
                                      </p:cBhvr>
                                      <p:to>
                                        <p:strVal val="visible"/>
                                      </p:to>
                                    </p:set>
                                    <p:animEffect transition="in" filter="dissolve">
                                      <p:cBhvr>
                                        <p:cTn id="85" dur="2000"/>
                                        <p:tgtEl>
                                          <p:spTgt spid="134"/>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135"/>
                                        </p:tgtEl>
                                        <p:attrNameLst>
                                          <p:attrName>style.visibility</p:attrName>
                                        </p:attrNameLst>
                                      </p:cBhvr>
                                      <p:to>
                                        <p:strVal val="visible"/>
                                      </p:to>
                                    </p:set>
                                    <p:animEffect transition="in" filter="dissolve">
                                      <p:cBhvr>
                                        <p:cTn id="88" dur="2000"/>
                                        <p:tgtEl>
                                          <p:spTgt spid="135"/>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136"/>
                                        </p:tgtEl>
                                        <p:attrNameLst>
                                          <p:attrName>style.visibility</p:attrName>
                                        </p:attrNameLst>
                                      </p:cBhvr>
                                      <p:to>
                                        <p:strVal val="visible"/>
                                      </p:to>
                                    </p:set>
                                    <p:animEffect transition="in" filter="dissolve">
                                      <p:cBhvr>
                                        <p:cTn id="91" dur="2000"/>
                                        <p:tgtEl>
                                          <p:spTgt spid="136"/>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137"/>
                                        </p:tgtEl>
                                        <p:attrNameLst>
                                          <p:attrName>style.visibility</p:attrName>
                                        </p:attrNameLst>
                                      </p:cBhvr>
                                      <p:to>
                                        <p:strVal val="visible"/>
                                      </p:to>
                                    </p:set>
                                    <p:animEffect transition="in" filter="dissolve">
                                      <p:cBhvr>
                                        <p:cTn id="94" dur="2000"/>
                                        <p:tgtEl>
                                          <p:spTgt spid="137"/>
                                        </p:tgtEl>
                                      </p:cBhvr>
                                    </p:animEffect>
                                  </p:childTnLst>
                                </p:cTn>
                              </p:par>
                              <p:par>
                                <p:cTn id="95" presetID="9" presetClass="exit" presetSubtype="0" fill="hold" grpId="0" nodeType="withEffect">
                                  <p:stCondLst>
                                    <p:cond delay="0"/>
                                  </p:stCondLst>
                                  <p:childTnLst>
                                    <p:animEffect transition="out" filter="dissolve">
                                      <p:cBhvr>
                                        <p:cTn id="96" dur="2000"/>
                                        <p:tgtEl>
                                          <p:spTgt spid="4"/>
                                        </p:tgtEl>
                                      </p:cBhvr>
                                    </p:animEffect>
                                    <p:set>
                                      <p:cBhvr>
                                        <p:cTn id="97" dur="1" fill="hold">
                                          <p:stCondLst>
                                            <p:cond delay="1999"/>
                                          </p:stCondLst>
                                        </p:cTn>
                                        <p:tgtEl>
                                          <p:spTgt spid="4"/>
                                        </p:tgtEl>
                                        <p:attrNameLst>
                                          <p:attrName>style.visibility</p:attrName>
                                        </p:attrNameLst>
                                      </p:cBhvr>
                                      <p:to>
                                        <p:strVal val="hidden"/>
                                      </p:to>
                                    </p:set>
                                  </p:childTnLst>
                                </p:cTn>
                              </p:par>
                              <p:par>
                                <p:cTn id="98" presetID="9" presetClass="exit" presetSubtype="0" fill="hold" grpId="0" nodeType="withEffect">
                                  <p:stCondLst>
                                    <p:cond delay="0"/>
                                  </p:stCondLst>
                                  <p:childTnLst>
                                    <p:animEffect transition="out" filter="dissolve">
                                      <p:cBhvr>
                                        <p:cTn id="99" dur="2000"/>
                                        <p:tgtEl>
                                          <p:spTgt spid="55"/>
                                        </p:tgtEl>
                                      </p:cBhvr>
                                    </p:animEffect>
                                    <p:set>
                                      <p:cBhvr>
                                        <p:cTn id="100" dur="1" fill="hold">
                                          <p:stCondLst>
                                            <p:cond delay="1999"/>
                                          </p:stCondLst>
                                        </p:cTn>
                                        <p:tgtEl>
                                          <p:spTgt spid="55"/>
                                        </p:tgtEl>
                                        <p:attrNameLst>
                                          <p:attrName>style.visibility</p:attrName>
                                        </p:attrNameLst>
                                      </p:cBhvr>
                                      <p:to>
                                        <p:strVal val="hidden"/>
                                      </p:to>
                                    </p:set>
                                  </p:childTnLst>
                                </p:cTn>
                              </p:par>
                              <p:par>
                                <p:cTn id="101" presetID="9" presetClass="exit" presetSubtype="0" fill="hold" grpId="0" nodeType="withEffect">
                                  <p:stCondLst>
                                    <p:cond delay="0"/>
                                  </p:stCondLst>
                                  <p:childTnLst>
                                    <p:animEffect transition="out" filter="dissolve">
                                      <p:cBhvr>
                                        <p:cTn id="102" dur="2000"/>
                                        <p:tgtEl>
                                          <p:spTgt spid="61"/>
                                        </p:tgtEl>
                                      </p:cBhvr>
                                    </p:animEffect>
                                    <p:set>
                                      <p:cBhvr>
                                        <p:cTn id="103" dur="1" fill="hold">
                                          <p:stCondLst>
                                            <p:cond delay="1999"/>
                                          </p:stCondLst>
                                        </p:cTn>
                                        <p:tgtEl>
                                          <p:spTgt spid="61"/>
                                        </p:tgtEl>
                                        <p:attrNameLst>
                                          <p:attrName>style.visibility</p:attrName>
                                        </p:attrNameLst>
                                      </p:cBhvr>
                                      <p:to>
                                        <p:strVal val="hidden"/>
                                      </p:to>
                                    </p:set>
                                  </p:childTnLst>
                                </p:cTn>
                              </p:par>
                              <p:par>
                                <p:cTn id="104" presetID="9" presetClass="exit" presetSubtype="0" fill="hold" grpId="0" nodeType="withEffect">
                                  <p:stCondLst>
                                    <p:cond delay="0"/>
                                  </p:stCondLst>
                                  <p:childTnLst>
                                    <p:animEffect transition="out" filter="dissolve">
                                      <p:cBhvr>
                                        <p:cTn id="105" dur="2000"/>
                                        <p:tgtEl>
                                          <p:spTgt spid="63"/>
                                        </p:tgtEl>
                                      </p:cBhvr>
                                    </p:animEffect>
                                    <p:set>
                                      <p:cBhvr>
                                        <p:cTn id="106" dur="1" fill="hold">
                                          <p:stCondLst>
                                            <p:cond delay="1999"/>
                                          </p:stCondLst>
                                        </p:cTn>
                                        <p:tgtEl>
                                          <p:spTgt spid="63"/>
                                        </p:tgtEl>
                                        <p:attrNameLst>
                                          <p:attrName>style.visibility</p:attrName>
                                        </p:attrNameLst>
                                      </p:cBhvr>
                                      <p:to>
                                        <p:strVal val="hidden"/>
                                      </p:to>
                                    </p:set>
                                  </p:childTnLst>
                                </p:cTn>
                              </p:par>
                              <p:par>
                                <p:cTn id="107" presetID="9" presetClass="exit" presetSubtype="0" fill="hold" grpId="0" nodeType="withEffect">
                                  <p:stCondLst>
                                    <p:cond delay="0"/>
                                  </p:stCondLst>
                                  <p:childTnLst>
                                    <p:animEffect transition="out" filter="dissolve">
                                      <p:cBhvr>
                                        <p:cTn id="108" dur="2000"/>
                                        <p:tgtEl>
                                          <p:spTgt spid="64"/>
                                        </p:tgtEl>
                                      </p:cBhvr>
                                    </p:animEffect>
                                    <p:set>
                                      <p:cBhvr>
                                        <p:cTn id="109" dur="1" fill="hold">
                                          <p:stCondLst>
                                            <p:cond delay="1999"/>
                                          </p:stCondLst>
                                        </p:cTn>
                                        <p:tgtEl>
                                          <p:spTgt spid="64"/>
                                        </p:tgtEl>
                                        <p:attrNameLst>
                                          <p:attrName>style.visibility</p:attrName>
                                        </p:attrNameLst>
                                      </p:cBhvr>
                                      <p:to>
                                        <p:strVal val="hidden"/>
                                      </p:to>
                                    </p:set>
                                  </p:childTnLst>
                                </p:cTn>
                              </p:par>
                              <p:par>
                                <p:cTn id="110" presetID="9" presetClass="exit" presetSubtype="0" fill="hold" grpId="0" nodeType="withEffect">
                                  <p:stCondLst>
                                    <p:cond delay="0"/>
                                  </p:stCondLst>
                                  <p:childTnLst>
                                    <p:animEffect transition="out" filter="dissolve">
                                      <p:cBhvr>
                                        <p:cTn id="111" dur="2000"/>
                                        <p:tgtEl>
                                          <p:spTgt spid="65"/>
                                        </p:tgtEl>
                                      </p:cBhvr>
                                    </p:animEffect>
                                    <p:set>
                                      <p:cBhvr>
                                        <p:cTn id="112" dur="1" fill="hold">
                                          <p:stCondLst>
                                            <p:cond delay="1999"/>
                                          </p:stCondLst>
                                        </p:cTn>
                                        <p:tgtEl>
                                          <p:spTgt spid="65"/>
                                        </p:tgtEl>
                                        <p:attrNameLst>
                                          <p:attrName>style.visibility</p:attrName>
                                        </p:attrNameLst>
                                      </p:cBhvr>
                                      <p:to>
                                        <p:strVal val="hidden"/>
                                      </p:to>
                                    </p:set>
                                  </p:childTnLst>
                                </p:cTn>
                              </p:par>
                              <p:par>
                                <p:cTn id="113" presetID="9" presetClass="exit" presetSubtype="0" fill="hold" grpId="0" nodeType="withEffect">
                                  <p:stCondLst>
                                    <p:cond delay="0"/>
                                  </p:stCondLst>
                                  <p:childTnLst>
                                    <p:animEffect transition="out" filter="dissolve">
                                      <p:cBhvr>
                                        <p:cTn id="114" dur="2000"/>
                                        <p:tgtEl>
                                          <p:spTgt spid="67"/>
                                        </p:tgtEl>
                                      </p:cBhvr>
                                    </p:animEffect>
                                    <p:set>
                                      <p:cBhvr>
                                        <p:cTn id="115" dur="1" fill="hold">
                                          <p:stCondLst>
                                            <p:cond delay="1999"/>
                                          </p:stCondLst>
                                        </p:cTn>
                                        <p:tgtEl>
                                          <p:spTgt spid="67"/>
                                        </p:tgtEl>
                                        <p:attrNameLst>
                                          <p:attrName>style.visibility</p:attrName>
                                        </p:attrNameLst>
                                      </p:cBhvr>
                                      <p:to>
                                        <p:strVal val="hidden"/>
                                      </p:to>
                                    </p:set>
                                  </p:childTnLst>
                                </p:cTn>
                              </p:par>
                              <p:par>
                                <p:cTn id="116" presetID="9" presetClass="exit" presetSubtype="0" fill="hold" grpId="0" nodeType="withEffect">
                                  <p:stCondLst>
                                    <p:cond delay="0"/>
                                  </p:stCondLst>
                                  <p:childTnLst>
                                    <p:animEffect transition="out" filter="dissolve">
                                      <p:cBhvr>
                                        <p:cTn id="117" dur="2000"/>
                                        <p:tgtEl>
                                          <p:spTgt spid="68"/>
                                        </p:tgtEl>
                                      </p:cBhvr>
                                    </p:animEffect>
                                    <p:set>
                                      <p:cBhvr>
                                        <p:cTn id="118" dur="1" fill="hold">
                                          <p:stCondLst>
                                            <p:cond delay="1999"/>
                                          </p:stCondLst>
                                        </p:cTn>
                                        <p:tgtEl>
                                          <p:spTgt spid="68"/>
                                        </p:tgtEl>
                                        <p:attrNameLst>
                                          <p:attrName>style.visibility</p:attrName>
                                        </p:attrNameLst>
                                      </p:cBhvr>
                                      <p:to>
                                        <p:strVal val="hidden"/>
                                      </p:to>
                                    </p:set>
                                  </p:childTnLst>
                                </p:cTn>
                              </p:par>
                              <p:par>
                                <p:cTn id="119" presetID="9" presetClass="exit" presetSubtype="0" fill="hold" grpId="0" nodeType="withEffect">
                                  <p:stCondLst>
                                    <p:cond delay="0"/>
                                  </p:stCondLst>
                                  <p:childTnLst>
                                    <p:animEffect transition="out" filter="dissolve">
                                      <p:cBhvr>
                                        <p:cTn id="120" dur="2000"/>
                                        <p:tgtEl>
                                          <p:spTgt spid="69"/>
                                        </p:tgtEl>
                                      </p:cBhvr>
                                    </p:animEffect>
                                    <p:set>
                                      <p:cBhvr>
                                        <p:cTn id="121" dur="1" fill="hold">
                                          <p:stCondLst>
                                            <p:cond delay="1999"/>
                                          </p:stCondLst>
                                        </p:cTn>
                                        <p:tgtEl>
                                          <p:spTgt spid="69"/>
                                        </p:tgtEl>
                                        <p:attrNameLst>
                                          <p:attrName>style.visibility</p:attrName>
                                        </p:attrNameLst>
                                      </p:cBhvr>
                                      <p:to>
                                        <p:strVal val="hidden"/>
                                      </p:to>
                                    </p:set>
                                  </p:childTnLst>
                                </p:cTn>
                              </p:par>
                              <p:par>
                                <p:cTn id="122" presetID="9" presetClass="exit" presetSubtype="0" fill="hold" grpId="0" nodeType="withEffect">
                                  <p:stCondLst>
                                    <p:cond delay="0"/>
                                  </p:stCondLst>
                                  <p:childTnLst>
                                    <p:animEffect transition="out" filter="dissolve">
                                      <p:cBhvr>
                                        <p:cTn id="123" dur="2000"/>
                                        <p:tgtEl>
                                          <p:spTgt spid="70"/>
                                        </p:tgtEl>
                                      </p:cBhvr>
                                    </p:animEffect>
                                    <p:set>
                                      <p:cBhvr>
                                        <p:cTn id="124" dur="1" fill="hold">
                                          <p:stCondLst>
                                            <p:cond delay="1999"/>
                                          </p:stCondLst>
                                        </p:cTn>
                                        <p:tgtEl>
                                          <p:spTgt spid="70"/>
                                        </p:tgtEl>
                                        <p:attrNameLst>
                                          <p:attrName>style.visibility</p:attrName>
                                        </p:attrNameLst>
                                      </p:cBhvr>
                                      <p:to>
                                        <p:strVal val="hidden"/>
                                      </p:to>
                                    </p:set>
                                  </p:childTnLst>
                                </p:cTn>
                              </p:par>
                              <p:par>
                                <p:cTn id="125" presetID="9" presetClass="exit" presetSubtype="0" fill="hold" grpId="0" nodeType="withEffect">
                                  <p:stCondLst>
                                    <p:cond delay="0"/>
                                  </p:stCondLst>
                                  <p:childTnLst>
                                    <p:animEffect transition="out" filter="dissolve">
                                      <p:cBhvr>
                                        <p:cTn id="126" dur="2000"/>
                                        <p:tgtEl>
                                          <p:spTgt spid="71"/>
                                        </p:tgtEl>
                                      </p:cBhvr>
                                    </p:animEffect>
                                    <p:set>
                                      <p:cBhvr>
                                        <p:cTn id="127" dur="1" fill="hold">
                                          <p:stCondLst>
                                            <p:cond delay="1999"/>
                                          </p:stCondLst>
                                        </p:cTn>
                                        <p:tgtEl>
                                          <p:spTgt spid="71"/>
                                        </p:tgtEl>
                                        <p:attrNameLst>
                                          <p:attrName>style.visibility</p:attrName>
                                        </p:attrNameLst>
                                      </p:cBhvr>
                                      <p:to>
                                        <p:strVal val="hidden"/>
                                      </p:to>
                                    </p:set>
                                  </p:childTnLst>
                                </p:cTn>
                              </p:par>
                              <p:par>
                                <p:cTn id="128" presetID="9" presetClass="exit" presetSubtype="0" fill="hold" grpId="0" nodeType="withEffect">
                                  <p:stCondLst>
                                    <p:cond delay="0"/>
                                  </p:stCondLst>
                                  <p:childTnLst>
                                    <p:animEffect transition="out" filter="dissolve">
                                      <p:cBhvr>
                                        <p:cTn id="129" dur="2000"/>
                                        <p:tgtEl>
                                          <p:spTgt spid="72"/>
                                        </p:tgtEl>
                                      </p:cBhvr>
                                    </p:animEffect>
                                    <p:set>
                                      <p:cBhvr>
                                        <p:cTn id="130" dur="1" fill="hold">
                                          <p:stCondLst>
                                            <p:cond delay="1999"/>
                                          </p:stCondLst>
                                        </p:cTn>
                                        <p:tgtEl>
                                          <p:spTgt spid="72"/>
                                        </p:tgtEl>
                                        <p:attrNameLst>
                                          <p:attrName>style.visibility</p:attrName>
                                        </p:attrNameLst>
                                      </p:cBhvr>
                                      <p:to>
                                        <p:strVal val="hidden"/>
                                      </p:to>
                                    </p:set>
                                  </p:childTnLst>
                                </p:cTn>
                              </p:par>
                              <p:par>
                                <p:cTn id="131" presetID="9" presetClass="exit" presetSubtype="0" fill="hold" grpId="0" nodeType="withEffect">
                                  <p:stCondLst>
                                    <p:cond delay="0"/>
                                  </p:stCondLst>
                                  <p:childTnLst>
                                    <p:animEffect transition="out" filter="dissolve">
                                      <p:cBhvr>
                                        <p:cTn id="132" dur="2000"/>
                                        <p:tgtEl>
                                          <p:spTgt spid="73"/>
                                        </p:tgtEl>
                                      </p:cBhvr>
                                    </p:animEffect>
                                    <p:set>
                                      <p:cBhvr>
                                        <p:cTn id="133" dur="1" fill="hold">
                                          <p:stCondLst>
                                            <p:cond delay="1999"/>
                                          </p:stCondLst>
                                        </p:cTn>
                                        <p:tgtEl>
                                          <p:spTgt spid="73"/>
                                        </p:tgtEl>
                                        <p:attrNameLst>
                                          <p:attrName>style.visibility</p:attrName>
                                        </p:attrNameLst>
                                      </p:cBhvr>
                                      <p:to>
                                        <p:strVal val="hidden"/>
                                      </p:to>
                                    </p:set>
                                  </p:childTnLst>
                                </p:cTn>
                              </p:par>
                              <p:par>
                                <p:cTn id="134" presetID="9" presetClass="exit" presetSubtype="0" fill="hold" grpId="0" nodeType="withEffect">
                                  <p:stCondLst>
                                    <p:cond delay="0"/>
                                  </p:stCondLst>
                                  <p:childTnLst>
                                    <p:animEffect transition="out" filter="dissolve">
                                      <p:cBhvr>
                                        <p:cTn id="135" dur="2000"/>
                                        <p:tgtEl>
                                          <p:spTgt spid="74"/>
                                        </p:tgtEl>
                                      </p:cBhvr>
                                    </p:animEffect>
                                    <p:set>
                                      <p:cBhvr>
                                        <p:cTn id="136" dur="1" fill="hold">
                                          <p:stCondLst>
                                            <p:cond delay="1999"/>
                                          </p:stCondLst>
                                        </p:cTn>
                                        <p:tgtEl>
                                          <p:spTgt spid="74"/>
                                        </p:tgtEl>
                                        <p:attrNameLst>
                                          <p:attrName>style.visibility</p:attrName>
                                        </p:attrNameLst>
                                      </p:cBhvr>
                                      <p:to>
                                        <p:strVal val="hidden"/>
                                      </p:to>
                                    </p:set>
                                  </p:childTnLst>
                                </p:cTn>
                              </p:par>
                              <p:par>
                                <p:cTn id="137" presetID="9" presetClass="exit" presetSubtype="0" fill="hold" grpId="0" nodeType="withEffect">
                                  <p:stCondLst>
                                    <p:cond delay="0"/>
                                  </p:stCondLst>
                                  <p:childTnLst>
                                    <p:animEffect transition="out" filter="dissolve">
                                      <p:cBhvr>
                                        <p:cTn id="138" dur="2000"/>
                                        <p:tgtEl>
                                          <p:spTgt spid="75"/>
                                        </p:tgtEl>
                                      </p:cBhvr>
                                    </p:animEffect>
                                    <p:set>
                                      <p:cBhvr>
                                        <p:cTn id="139" dur="1" fill="hold">
                                          <p:stCondLst>
                                            <p:cond delay="1999"/>
                                          </p:stCondLst>
                                        </p:cTn>
                                        <p:tgtEl>
                                          <p:spTgt spid="75"/>
                                        </p:tgtEl>
                                        <p:attrNameLst>
                                          <p:attrName>style.visibility</p:attrName>
                                        </p:attrNameLst>
                                      </p:cBhvr>
                                      <p:to>
                                        <p:strVal val="hidden"/>
                                      </p:to>
                                    </p:set>
                                  </p:childTnLst>
                                </p:cTn>
                              </p:par>
                              <p:par>
                                <p:cTn id="140" presetID="9" presetClass="exit" presetSubtype="0" fill="hold" grpId="0" nodeType="withEffect">
                                  <p:stCondLst>
                                    <p:cond delay="0"/>
                                  </p:stCondLst>
                                  <p:childTnLst>
                                    <p:animEffect transition="out" filter="dissolve">
                                      <p:cBhvr>
                                        <p:cTn id="141" dur="2000"/>
                                        <p:tgtEl>
                                          <p:spTgt spid="76"/>
                                        </p:tgtEl>
                                      </p:cBhvr>
                                    </p:animEffect>
                                    <p:set>
                                      <p:cBhvr>
                                        <p:cTn id="142" dur="1" fill="hold">
                                          <p:stCondLst>
                                            <p:cond delay="1999"/>
                                          </p:stCondLst>
                                        </p:cTn>
                                        <p:tgtEl>
                                          <p:spTgt spid="76"/>
                                        </p:tgtEl>
                                        <p:attrNameLst>
                                          <p:attrName>style.visibility</p:attrName>
                                        </p:attrNameLst>
                                      </p:cBhvr>
                                      <p:to>
                                        <p:strVal val="hidden"/>
                                      </p:to>
                                    </p:set>
                                  </p:childTnLst>
                                </p:cTn>
                              </p:par>
                              <p:par>
                                <p:cTn id="143" presetID="9" presetClass="exit" presetSubtype="0" fill="hold" grpId="0" nodeType="withEffect">
                                  <p:stCondLst>
                                    <p:cond delay="0"/>
                                  </p:stCondLst>
                                  <p:childTnLst>
                                    <p:animEffect transition="out" filter="dissolve">
                                      <p:cBhvr>
                                        <p:cTn id="144" dur="2000"/>
                                        <p:tgtEl>
                                          <p:spTgt spid="78"/>
                                        </p:tgtEl>
                                      </p:cBhvr>
                                    </p:animEffect>
                                    <p:set>
                                      <p:cBhvr>
                                        <p:cTn id="145" dur="1" fill="hold">
                                          <p:stCondLst>
                                            <p:cond delay="1999"/>
                                          </p:stCondLst>
                                        </p:cTn>
                                        <p:tgtEl>
                                          <p:spTgt spid="78"/>
                                        </p:tgtEl>
                                        <p:attrNameLst>
                                          <p:attrName>style.visibility</p:attrName>
                                        </p:attrNameLst>
                                      </p:cBhvr>
                                      <p:to>
                                        <p:strVal val="hidden"/>
                                      </p:to>
                                    </p:set>
                                  </p:childTnLst>
                                </p:cTn>
                              </p:par>
                              <p:par>
                                <p:cTn id="146" presetID="9" presetClass="exit" presetSubtype="0" fill="hold" grpId="0" nodeType="withEffect">
                                  <p:stCondLst>
                                    <p:cond delay="0"/>
                                  </p:stCondLst>
                                  <p:childTnLst>
                                    <p:animEffect transition="out" filter="dissolve">
                                      <p:cBhvr>
                                        <p:cTn id="147" dur="2000"/>
                                        <p:tgtEl>
                                          <p:spTgt spid="79"/>
                                        </p:tgtEl>
                                      </p:cBhvr>
                                    </p:animEffect>
                                    <p:set>
                                      <p:cBhvr>
                                        <p:cTn id="148" dur="1" fill="hold">
                                          <p:stCondLst>
                                            <p:cond delay="1999"/>
                                          </p:stCondLst>
                                        </p:cTn>
                                        <p:tgtEl>
                                          <p:spTgt spid="79"/>
                                        </p:tgtEl>
                                        <p:attrNameLst>
                                          <p:attrName>style.visibility</p:attrName>
                                        </p:attrNameLst>
                                      </p:cBhvr>
                                      <p:to>
                                        <p:strVal val="hidden"/>
                                      </p:to>
                                    </p:set>
                                  </p:childTnLst>
                                </p:cTn>
                              </p:par>
                              <p:par>
                                <p:cTn id="149" presetID="9" presetClass="exit" presetSubtype="0" fill="hold" grpId="0" nodeType="withEffect">
                                  <p:stCondLst>
                                    <p:cond delay="0"/>
                                  </p:stCondLst>
                                  <p:childTnLst>
                                    <p:animEffect transition="out" filter="dissolve">
                                      <p:cBhvr>
                                        <p:cTn id="150" dur="2000"/>
                                        <p:tgtEl>
                                          <p:spTgt spid="80"/>
                                        </p:tgtEl>
                                      </p:cBhvr>
                                    </p:animEffect>
                                    <p:set>
                                      <p:cBhvr>
                                        <p:cTn id="151" dur="1" fill="hold">
                                          <p:stCondLst>
                                            <p:cond delay="1999"/>
                                          </p:stCondLst>
                                        </p:cTn>
                                        <p:tgtEl>
                                          <p:spTgt spid="80"/>
                                        </p:tgtEl>
                                        <p:attrNameLst>
                                          <p:attrName>style.visibility</p:attrName>
                                        </p:attrNameLst>
                                      </p:cBhvr>
                                      <p:to>
                                        <p:strVal val="hidden"/>
                                      </p:to>
                                    </p:set>
                                  </p:childTnLst>
                                </p:cTn>
                              </p:par>
                              <p:par>
                                <p:cTn id="152" presetID="9" presetClass="exit" presetSubtype="0" fill="hold" grpId="0" nodeType="withEffect">
                                  <p:stCondLst>
                                    <p:cond delay="0"/>
                                  </p:stCondLst>
                                  <p:childTnLst>
                                    <p:animEffect transition="out" filter="dissolve">
                                      <p:cBhvr>
                                        <p:cTn id="153" dur="2000"/>
                                        <p:tgtEl>
                                          <p:spTgt spid="81"/>
                                        </p:tgtEl>
                                      </p:cBhvr>
                                    </p:animEffect>
                                    <p:set>
                                      <p:cBhvr>
                                        <p:cTn id="154" dur="1" fill="hold">
                                          <p:stCondLst>
                                            <p:cond delay="1999"/>
                                          </p:stCondLst>
                                        </p:cTn>
                                        <p:tgtEl>
                                          <p:spTgt spid="81"/>
                                        </p:tgtEl>
                                        <p:attrNameLst>
                                          <p:attrName>style.visibility</p:attrName>
                                        </p:attrNameLst>
                                      </p:cBhvr>
                                      <p:to>
                                        <p:strVal val="hidden"/>
                                      </p:to>
                                    </p:set>
                                  </p:childTnLst>
                                </p:cTn>
                              </p:par>
                              <p:par>
                                <p:cTn id="155" presetID="9" presetClass="exit" presetSubtype="0" fill="hold" grpId="0" nodeType="withEffect">
                                  <p:stCondLst>
                                    <p:cond delay="0"/>
                                  </p:stCondLst>
                                  <p:childTnLst>
                                    <p:animEffect transition="out" filter="dissolve">
                                      <p:cBhvr>
                                        <p:cTn id="156" dur="2000"/>
                                        <p:tgtEl>
                                          <p:spTgt spid="82"/>
                                        </p:tgtEl>
                                      </p:cBhvr>
                                    </p:animEffect>
                                    <p:set>
                                      <p:cBhvr>
                                        <p:cTn id="157" dur="1" fill="hold">
                                          <p:stCondLst>
                                            <p:cond delay="1999"/>
                                          </p:stCondLst>
                                        </p:cTn>
                                        <p:tgtEl>
                                          <p:spTgt spid="82"/>
                                        </p:tgtEl>
                                        <p:attrNameLst>
                                          <p:attrName>style.visibility</p:attrName>
                                        </p:attrNameLst>
                                      </p:cBhvr>
                                      <p:to>
                                        <p:strVal val="hidden"/>
                                      </p:to>
                                    </p:set>
                                  </p:childTnLst>
                                </p:cTn>
                              </p:par>
                              <p:par>
                                <p:cTn id="158" presetID="9" presetClass="exit" presetSubtype="0" fill="hold" grpId="0" nodeType="withEffect">
                                  <p:stCondLst>
                                    <p:cond delay="0"/>
                                  </p:stCondLst>
                                  <p:childTnLst>
                                    <p:animEffect transition="out" filter="dissolve">
                                      <p:cBhvr>
                                        <p:cTn id="159" dur="2000"/>
                                        <p:tgtEl>
                                          <p:spTgt spid="83"/>
                                        </p:tgtEl>
                                      </p:cBhvr>
                                    </p:animEffect>
                                    <p:set>
                                      <p:cBhvr>
                                        <p:cTn id="160" dur="1" fill="hold">
                                          <p:stCondLst>
                                            <p:cond delay="1999"/>
                                          </p:stCondLst>
                                        </p:cTn>
                                        <p:tgtEl>
                                          <p:spTgt spid="83"/>
                                        </p:tgtEl>
                                        <p:attrNameLst>
                                          <p:attrName>style.visibility</p:attrName>
                                        </p:attrNameLst>
                                      </p:cBhvr>
                                      <p:to>
                                        <p:strVal val="hidden"/>
                                      </p:to>
                                    </p:set>
                                  </p:childTnLst>
                                </p:cTn>
                              </p:par>
                              <p:par>
                                <p:cTn id="161" presetID="9" presetClass="exit" presetSubtype="0" fill="hold" grpId="0" nodeType="withEffect">
                                  <p:stCondLst>
                                    <p:cond delay="0"/>
                                  </p:stCondLst>
                                  <p:childTnLst>
                                    <p:animEffect transition="out" filter="dissolve">
                                      <p:cBhvr>
                                        <p:cTn id="162" dur="2000"/>
                                        <p:tgtEl>
                                          <p:spTgt spid="85"/>
                                        </p:tgtEl>
                                      </p:cBhvr>
                                    </p:animEffect>
                                    <p:set>
                                      <p:cBhvr>
                                        <p:cTn id="163" dur="1" fill="hold">
                                          <p:stCondLst>
                                            <p:cond delay="1999"/>
                                          </p:stCondLst>
                                        </p:cTn>
                                        <p:tgtEl>
                                          <p:spTgt spid="85"/>
                                        </p:tgtEl>
                                        <p:attrNameLst>
                                          <p:attrName>style.visibility</p:attrName>
                                        </p:attrNameLst>
                                      </p:cBhvr>
                                      <p:to>
                                        <p:strVal val="hidden"/>
                                      </p:to>
                                    </p:set>
                                  </p:childTnLst>
                                </p:cTn>
                              </p:par>
                              <p:par>
                                <p:cTn id="164" presetID="9" presetClass="exit" presetSubtype="0" fill="hold" grpId="0" nodeType="withEffect">
                                  <p:stCondLst>
                                    <p:cond delay="0"/>
                                  </p:stCondLst>
                                  <p:childTnLst>
                                    <p:animEffect transition="out" filter="dissolve">
                                      <p:cBhvr>
                                        <p:cTn id="165" dur="2000"/>
                                        <p:tgtEl>
                                          <p:spTgt spid="86"/>
                                        </p:tgtEl>
                                      </p:cBhvr>
                                    </p:animEffect>
                                    <p:set>
                                      <p:cBhvr>
                                        <p:cTn id="166" dur="1" fill="hold">
                                          <p:stCondLst>
                                            <p:cond delay="1999"/>
                                          </p:stCondLst>
                                        </p:cTn>
                                        <p:tgtEl>
                                          <p:spTgt spid="86"/>
                                        </p:tgtEl>
                                        <p:attrNameLst>
                                          <p:attrName>style.visibility</p:attrName>
                                        </p:attrNameLst>
                                      </p:cBhvr>
                                      <p:to>
                                        <p:strVal val="hidden"/>
                                      </p:to>
                                    </p:set>
                                  </p:childTnLst>
                                </p:cTn>
                              </p:par>
                              <p:par>
                                <p:cTn id="167" presetID="9" presetClass="exit" presetSubtype="0" fill="hold" grpId="0" nodeType="withEffect">
                                  <p:stCondLst>
                                    <p:cond delay="0"/>
                                  </p:stCondLst>
                                  <p:childTnLst>
                                    <p:animEffect transition="out" filter="dissolve">
                                      <p:cBhvr>
                                        <p:cTn id="168" dur="2000"/>
                                        <p:tgtEl>
                                          <p:spTgt spid="87"/>
                                        </p:tgtEl>
                                      </p:cBhvr>
                                    </p:animEffect>
                                    <p:set>
                                      <p:cBhvr>
                                        <p:cTn id="169" dur="1" fill="hold">
                                          <p:stCondLst>
                                            <p:cond delay="1999"/>
                                          </p:stCondLst>
                                        </p:cTn>
                                        <p:tgtEl>
                                          <p:spTgt spid="87"/>
                                        </p:tgtEl>
                                        <p:attrNameLst>
                                          <p:attrName>style.visibility</p:attrName>
                                        </p:attrNameLst>
                                      </p:cBhvr>
                                      <p:to>
                                        <p:strVal val="hidden"/>
                                      </p:to>
                                    </p:set>
                                  </p:childTnLst>
                                </p:cTn>
                              </p:par>
                              <p:par>
                                <p:cTn id="170" presetID="9" presetClass="exit" presetSubtype="0" fill="hold" grpId="0" nodeType="withEffect">
                                  <p:stCondLst>
                                    <p:cond delay="0"/>
                                  </p:stCondLst>
                                  <p:childTnLst>
                                    <p:animEffect transition="out" filter="dissolve">
                                      <p:cBhvr>
                                        <p:cTn id="171" dur="2000"/>
                                        <p:tgtEl>
                                          <p:spTgt spid="88"/>
                                        </p:tgtEl>
                                      </p:cBhvr>
                                    </p:animEffect>
                                    <p:set>
                                      <p:cBhvr>
                                        <p:cTn id="172" dur="1" fill="hold">
                                          <p:stCondLst>
                                            <p:cond delay="1999"/>
                                          </p:stCondLst>
                                        </p:cTn>
                                        <p:tgtEl>
                                          <p:spTgt spid="88"/>
                                        </p:tgtEl>
                                        <p:attrNameLst>
                                          <p:attrName>style.visibility</p:attrName>
                                        </p:attrNameLst>
                                      </p:cBhvr>
                                      <p:to>
                                        <p:strVal val="hidden"/>
                                      </p:to>
                                    </p:set>
                                  </p:childTnLst>
                                </p:cTn>
                              </p:par>
                              <p:par>
                                <p:cTn id="173" presetID="9" presetClass="exit" presetSubtype="0" fill="hold" grpId="0" nodeType="withEffect">
                                  <p:stCondLst>
                                    <p:cond delay="0"/>
                                  </p:stCondLst>
                                  <p:childTnLst>
                                    <p:animEffect transition="out" filter="dissolve">
                                      <p:cBhvr>
                                        <p:cTn id="174" dur="2000"/>
                                        <p:tgtEl>
                                          <p:spTgt spid="89"/>
                                        </p:tgtEl>
                                      </p:cBhvr>
                                    </p:animEffect>
                                    <p:set>
                                      <p:cBhvr>
                                        <p:cTn id="175" dur="1" fill="hold">
                                          <p:stCondLst>
                                            <p:cond delay="1999"/>
                                          </p:stCondLst>
                                        </p:cTn>
                                        <p:tgtEl>
                                          <p:spTgt spid="89"/>
                                        </p:tgtEl>
                                        <p:attrNameLst>
                                          <p:attrName>style.visibility</p:attrName>
                                        </p:attrNameLst>
                                      </p:cBhvr>
                                      <p:to>
                                        <p:strVal val="hidden"/>
                                      </p:to>
                                    </p:set>
                                  </p:childTnLst>
                                </p:cTn>
                              </p:par>
                              <p:par>
                                <p:cTn id="176" presetID="9" presetClass="exit" presetSubtype="0" fill="hold" grpId="0" nodeType="withEffect">
                                  <p:stCondLst>
                                    <p:cond delay="0"/>
                                  </p:stCondLst>
                                  <p:childTnLst>
                                    <p:animEffect transition="out" filter="dissolve">
                                      <p:cBhvr>
                                        <p:cTn id="177" dur="2000"/>
                                        <p:tgtEl>
                                          <p:spTgt spid="90"/>
                                        </p:tgtEl>
                                      </p:cBhvr>
                                    </p:animEffect>
                                    <p:set>
                                      <p:cBhvr>
                                        <p:cTn id="178" dur="1" fill="hold">
                                          <p:stCondLst>
                                            <p:cond delay="1999"/>
                                          </p:stCondLst>
                                        </p:cTn>
                                        <p:tgtEl>
                                          <p:spTgt spid="90"/>
                                        </p:tgtEl>
                                        <p:attrNameLst>
                                          <p:attrName>style.visibility</p:attrName>
                                        </p:attrNameLst>
                                      </p:cBhvr>
                                      <p:to>
                                        <p:strVal val="hidden"/>
                                      </p:to>
                                    </p:set>
                                  </p:childTnLst>
                                </p:cTn>
                              </p:par>
                              <p:par>
                                <p:cTn id="179" presetID="9" presetClass="exit" presetSubtype="0" fill="hold" grpId="0" nodeType="withEffect">
                                  <p:stCondLst>
                                    <p:cond delay="0"/>
                                  </p:stCondLst>
                                  <p:childTnLst>
                                    <p:animEffect transition="out" filter="dissolve">
                                      <p:cBhvr>
                                        <p:cTn id="180" dur="2000"/>
                                        <p:tgtEl>
                                          <p:spTgt spid="91"/>
                                        </p:tgtEl>
                                      </p:cBhvr>
                                    </p:animEffect>
                                    <p:set>
                                      <p:cBhvr>
                                        <p:cTn id="181" dur="1" fill="hold">
                                          <p:stCondLst>
                                            <p:cond delay="1999"/>
                                          </p:stCondLst>
                                        </p:cTn>
                                        <p:tgtEl>
                                          <p:spTgt spid="91"/>
                                        </p:tgtEl>
                                        <p:attrNameLst>
                                          <p:attrName>style.visibility</p:attrName>
                                        </p:attrNameLst>
                                      </p:cBhvr>
                                      <p:to>
                                        <p:strVal val="hidden"/>
                                      </p:to>
                                    </p:set>
                                  </p:childTnLst>
                                </p:cTn>
                              </p:par>
                              <p:par>
                                <p:cTn id="182" presetID="9" presetClass="exit" presetSubtype="0" fill="hold" grpId="0" nodeType="withEffect">
                                  <p:stCondLst>
                                    <p:cond delay="0"/>
                                  </p:stCondLst>
                                  <p:childTnLst>
                                    <p:animEffect transition="out" filter="dissolve">
                                      <p:cBhvr>
                                        <p:cTn id="183" dur="2000"/>
                                        <p:tgtEl>
                                          <p:spTgt spid="92"/>
                                        </p:tgtEl>
                                      </p:cBhvr>
                                    </p:animEffect>
                                    <p:set>
                                      <p:cBhvr>
                                        <p:cTn id="184" dur="1" fill="hold">
                                          <p:stCondLst>
                                            <p:cond delay="1999"/>
                                          </p:stCondLst>
                                        </p:cTn>
                                        <p:tgtEl>
                                          <p:spTgt spid="92"/>
                                        </p:tgtEl>
                                        <p:attrNameLst>
                                          <p:attrName>style.visibility</p:attrName>
                                        </p:attrNameLst>
                                      </p:cBhvr>
                                      <p:to>
                                        <p:strVal val="hidden"/>
                                      </p:to>
                                    </p:set>
                                  </p:childTnLst>
                                </p:cTn>
                              </p:par>
                              <p:par>
                                <p:cTn id="185" presetID="9" presetClass="exit" presetSubtype="0" fill="hold" grpId="0" nodeType="withEffect">
                                  <p:stCondLst>
                                    <p:cond delay="0"/>
                                  </p:stCondLst>
                                  <p:childTnLst>
                                    <p:animEffect transition="out" filter="dissolve">
                                      <p:cBhvr>
                                        <p:cTn id="186" dur="2000"/>
                                        <p:tgtEl>
                                          <p:spTgt spid="94"/>
                                        </p:tgtEl>
                                      </p:cBhvr>
                                    </p:animEffect>
                                    <p:set>
                                      <p:cBhvr>
                                        <p:cTn id="187" dur="1" fill="hold">
                                          <p:stCondLst>
                                            <p:cond delay="1999"/>
                                          </p:stCondLst>
                                        </p:cTn>
                                        <p:tgtEl>
                                          <p:spTgt spid="94"/>
                                        </p:tgtEl>
                                        <p:attrNameLst>
                                          <p:attrName>style.visibility</p:attrName>
                                        </p:attrNameLst>
                                      </p:cBhvr>
                                      <p:to>
                                        <p:strVal val="hidden"/>
                                      </p:to>
                                    </p:set>
                                  </p:childTnLst>
                                </p:cTn>
                              </p:par>
                              <p:par>
                                <p:cTn id="188" presetID="9" presetClass="exit" presetSubtype="0" fill="hold" grpId="0" nodeType="withEffect">
                                  <p:stCondLst>
                                    <p:cond delay="0"/>
                                  </p:stCondLst>
                                  <p:childTnLst>
                                    <p:animEffect transition="out" filter="dissolve">
                                      <p:cBhvr>
                                        <p:cTn id="189" dur="2000"/>
                                        <p:tgtEl>
                                          <p:spTgt spid="95"/>
                                        </p:tgtEl>
                                      </p:cBhvr>
                                    </p:animEffect>
                                    <p:set>
                                      <p:cBhvr>
                                        <p:cTn id="190" dur="1" fill="hold">
                                          <p:stCondLst>
                                            <p:cond delay="1999"/>
                                          </p:stCondLst>
                                        </p:cTn>
                                        <p:tgtEl>
                                          <p:spTgt spid="95"/>
                                        </p:tgtEl>
                                        <p:attrNameLst>
                                          <p:attrName>style.visibility</p:attrName>
                                        </p:attrNameLst>
                                      </p:cBhvr>
                                      <p:to>
                                        <p:strVal val="hidden"/>
                                      </p:to>
                                    </p:set>
                                  </p:childTnLst>
                                </p:cTn>
                              </p:par>
                              <p:par>
                                <p:cTn id="191" presetID="9" presetClass="exit" presetSubtype="0" fill="hold" grpId="0" nodeType="withEffect">
                                  <p:stCondLst>
                                    <p:cond delay="0"/>
                                  </p:stCondLst>
                                  <p:childTnLst>
                                    <p:animEffect transition="out" filter="dissolve">
                                      <p:cBhvr>
                                        <p:cTn id="192" dur="2000"/>
                                        <p:tgtEl>
                                          <p:spTgt spid="96"/>
                                        </p:tgtEl>
                                      </p:cBhvr>
                                    </p:animEffect>
                                    <p:set>
                                      <p:cBhvr>
                                        <p:cTn id="193" dur="1" fill="hold">
                                          <p:stCondLst>
                                            <p:cond delay="1999"/>
                                          </p:stCondLst>
                                        </p:cTn>
                                        <p:tgtEl>
                                          <p:spTgt spid="96"/>
                                        </p:tgtEl>
                                        <p:attrNameLst>
                                          <p:attrName>style.visibility</p:attrName>
                                        </p:attrNameLst>
                                      </p:cBhvr>
                                      <p:to>
                                        <p:strVal val="hidden"/>
                                      </p:to>
                                    </p:set>
                                  </p:childTnLst>
                                </p:cTn>
                              </p:par>
                              <p:par>
                                <p:cTn id="194" presetID="9" presetClass="exit" presetSubtype="0" fill="hold" grpId="0" nodeType="withEffect">
                                  <p:stCondLst>
                                    <p:cond delay="0"/>
                                  </p:stCondLst>
                                  <p:childTnLst>
                                    <p:animEffect transition="out" filter="dissolve">
                                      <p:cBhvr>
                                        <p:cTn id="195" dur="2000"/>
                                        <p:tgtEl>
                                          <p:spTgt spid="97"/>
                                        </p:tgtEl>
                                      </p:cBhvr>
                                    </p:animEffect>
                                    <p:set>
                                      <p:cBhvr>
                                        <p:cTn id="196" dur="1" fill="hold">
                                          <p:stCondLst>
                                            <p:cond delay="1999"/>
                                          </p:stCondLst>
                                        </p:cTn>
                                        <p:tgtEl>
                                          <p:spTgt spid="97"/>
                                        </p:tgtEl>
                                        <p:attrNameLst>
                                          <p:attrName>style.visibility</p:attrName>
                                        </p:attrNameLst>
                                      </p:cBhvr>
                                      <p:to>
                                        <p:strVal val="hidden"/>
                                      </p:to>
                                    </p:set>
                                  </p:childTnLst>
                                </p:cTn>
                              </p:par>
                              <p:par>
                                <p:cTn id="197" presetID="9" presetClass="exit" presetSubtype="0" fill="hold" grpId="0" nodeType="withEffect">
                                  <p:stCondLst>
                                    <p:cond delay="0"/>
                                  </p:stCondLst>
                                  <p:childTnLst>
                                    <p:animEffect transition="out" filter="dissolve">
                                      <p:cBhvr>
                                        <p:cTn id="198" dur="2000"/>
                                        <p:tgtEl>
                                          <p:spTgt spid="98"/>
                                        </p:tgtEl>
                                      </p:cBhvr>
                                    </p:animEffect>
                                    <p:set>
                                      <p:cBhvr>
                                        <p:cTn id="199" dur="1" fill="hold">
                                          <p:stCondLst>
                                            <p:cond delay="1999"/>
                                          </p:stCondLst>
                                        </p:cTn>
                                        <p:tgtEl>
                                          <p:spTgt spid="98"/>
                                        </p:tgtEl>
                                        <p:attrNameLst>
                                          <p:attrName>style.visibility</p:attrName>
                                        </p:attrNameLst>
                                      </p:cBhvr>
                                      <p:to>
                                        <p:strVal val="hidden"/>
                                      </p:to>
                                    </p:set>
                                  </p:childTnLst>
                                </p:cTn>
                              </p:par>
                              <p:par>
                                <p:cTn id="200" presetID="9" presetClass="exit" presetSubtype="0" fill="hold" grpId="0" nodeType="withEffect">
                                  <p:stCondLst>
                                    <p:cond delay="0"/>
                                  </p:stCondLst>
                                  <p:childTnLst>
                                    <p:animEffect transition="out" filter="dissolve">
                                      <p:cBhvr>
                                        <p:cTn id="201" dur="2000"/>
                                        <p:tgtEl>
                                          <p:spTgt spid="99"/>
                                        </p:tgtEl>
                                      </p:cBhvr>
                                    </p:animEffect>
                                    <p:set>
                                      <p:cBhvr>
                                        <p:cTn id="202" dur="1" fill="hold">
                                          <p:stCondLst>
                                            <p:cond delay="1999"/>
                                          </p:stCondLst>
                                        </p:cTn>
                                        <p:tgtEl>
                                          <p:spTgt spid="99"/>
                                        </p:tgtEl>
                                        <p:attrNameLst>
                                          <p:attrName>style.visibility</p:attrName>
                                        </p:attrNameLst>
                                      </p:cBhvr>
                                      <p:to>
                                        <p:strVal val="hidden"/>
                                      </p:to>
                                    </p:set>
                                  </p:childTnLst>
                                </p:cTn>
                              </p:par>
                              <p:par>
                                <p:cTn id="203" presetID="9" presetClass="exit" presetSubtype="0" fill="hold" grpId="0" nodeType="withEffect">
                                  <p:stCondLst>
                                    <p:cond delay="0"/>
                                  </p:stCondLst>
                                  <p:childTnLst>
                                    <p:animEffect transition="out" filter="dissolve">
                                      <p:cBhvr>
                                        <p:cTn id="204" dur="2000"/>
                                        <p:tgtEl>
                                          <p:spTgt spid="100"/>
                                        </p:tgtEl>
                                      </p:cBhvr>
                                    </p:animEffect>
                                    <p:set>
                                      <p:cBhvr>
                                        <p:cTn id="205" dur="1" fill="hold">
                                          <p:stCondLst>
                                            <p:cond delay="1999"/>
                                          </p:stCondLst>
                                        </p:cTn>
                                        <p:tgtEl>
                                          <p:spTgt spid="100"/>
                                        </p:tgtEl>
                                        <p:attrNameLst>
                                          <p:attrName>style.visibility</p:attrName>
                                        </p:attrNameLst>
                                      </p:cBhvr>
                                      <p:to>
                                        <p:strVal val="hidden"/>
                                      </p:to>
                                    </p:set>
                                  </p:childTnLst>
                                </p:cTn>
                              </p:par>
                              <p:par>
                                <p:cTn id="206" presetID="9" presetClass="exit" presetSubtype="0" fill="hold" grpId="0" nodeType="withEffect">
                                  <p:stCondLst>
                                    <p:cond delay="0"/>
                                  </p:stCondLst>
                                  <p:childTnLst>
                                    <p:animEffect transition="out" filter="dissolve">
                                      <p:cBhvr>
                                        <p:cTn id="207" dur="2000"/>
                                        <p:tgtEl>
                                          <p:spTgt spid="101"/>
                                        </p:tgtEl>
                                      </p:cBhvr>
                                    </p:animEffect>
                                    <p:set>
                                      <p:cBhvr>
                                        <p:cTn id="208" dur="1" fill="hold">
                                          <p:stCondLst>
                                            <p:cond delay="1999"/>
                                          </p:stCondLst>
                                        </p:cTn>
                                        <p:tgtEl>
                                          <p:spTgt spid="101"/>
                                        </p:tgtEl>
                                        <p:attrNameLst>
                                          <p:attrName>style.visibility</p:attrName>
                                        </p:attrNameLst>
                                      </p:cBhvr>
                                      <p:to>
                                        <p:strVal val="hidden"/>
                                      </p:to>
                                    </p:set>
                                  </p:childTnLst>
                                </p:cTn>
                              </p:par>
                              <p:par>
                                <p:cTn id="209" presetID="9" presetClass="exit" presetSubtype="0" fill="hold" grpId="0" nodeType="withEffect">
                                  <p:stCondLst>
                                    <p:cond delay="0"/>
                                  </p:stCondLst>
                                  <p:childTnLst>
                                    <p:animEffect transition="out" filter="dissolve">
                                      <p:cBhvr>
                                        <p:cTn id="210" dur="2000"/>
                                        <p:tgtEl>
                                          <p:spTgt spid="102"/>
                                        </p:tgtEl>
                                      </p:cBhvr>
                                    </p:animEffect>
                                    <p:set>
                                      <p:cBhvr>
                                        <p:cTn id="211" dur="1" fill="hold">
                                          <p:stCondLst>
                                            <p:cond delay="1999"/>
                                          </p:stCondLst>
                                        </p:cTn>
                                        <p:tgtEl>
                                          <p:spTgt spid="102"/>
                                        </p:tgtEl>
                                        <p:attrNameLst>
                                          <p:attrName>style.visibility</p:attrName>
                                        </p:attrNameLst>
                                      </p:cBhvr>
                                      <p:to>
                                        <p:strVal val="hidden"/>
                                      </p:to>
                                    </p:set>
                                  </p:childTnLst>
                                </p:cTn>
                              </p:par>
                              <p:par>
                                <p:cTn id="212" presetID="9" presetClass="exit" presetSubtype="0" fill="hold" grpId="0" nodeType="withEffect">
                                  <p:stCondLst>
                                    <p:cond delay="0"/>
                                  </p:stCondLst>
                                  <p:childTnLst>
                                    <p:animEffect transition="out" filter="dissolve">
                                      <p:cBhvr>
                                        <p:cTn id="213" dur="2000"/>
                                        <p:tgtEl>
                                          <p:spTgt spid="103"/>
                                        </p:tgtEl>
                                      </p:cBhvr>
                                    </p:animEffect>
                                    <p:set>
                                      <p:cBhvr>
                                        <p:cTn id="214" dur="1" fill="hold">
                                          <p:stCondLst>
                                            <p:cond delay="1999"/>
                                          </p:stCondLst>
                                        </p:cTn>
                                        <p:tgtEl>
                                          <p:spTgt spid="103"/>
                                        </p:tgtEl>
                                        <p:attrNameLst>
                                          <p:attrName>style.visibility</p:attrName>
                                        </p:attrNameLst>
                                      </p:cBhvr>
                                      <p:to>
                                        <p:strVal val="hidden"/>
                                      </p:to>
                                    </p:set>
                                  </p:childTnLst>
                                </p:cTn>
                              </p:par>
                              <p:par>
                                <p:cTn id="215" presetID="9" presetClass="exit" presetSubtype="0" fill="hold" grpId="0" nodeType="withEffect">
                                  <p:stCondLst>
                                    <p:cond delay="0"/>
                                  </p:stCondLst>
                                  <p:childTnLst>
                                    <p:animEffect transition="out" filter="dissolve">
                                      <p:cBhvr>
                                        <p:cTn id="216" dur="2000"/>
                                        <p:tgtEl>
                                          <p:spTgt spid="104"/>
                                        </p:tgtEl>
                                      </p:cBhvr>
                                    </p:animEffect>
                                    <p:set>
                                      <p:cBhvr>
                                        <p:cTn id="217" dur="1" fill="hold">
                                          <p:stCondLst>
                                            <p:cond delay="1999"/>
                                          </p:stCondLst>
                                        </p:cTn>
                                        <p:tgtEl>
                                          <p:spTgt spid="104"/>
                                        </p:tgtEl>
                                        <p:attrNameLst>
                                          <p:attrName>style.visibility</p:attrName>
                                        </p:attrNameLst>
                                      </p:cBhvr>
                                      <p:to>
                                        <p:strVal val="hidden"/>
                                      </p:to>
                                    </p:set>
                                  </p:childTnLst>
                                </p:cTn>
                              </p:par>
                              <p:par>
                                <p:cTn id="218" presetID="9" presetClass="exit" presetSubtype="0" fill="hold" grpId="0" nodeType="withEffect">
                                  <p:stCondLst>
                                    <p:cond delay="0"/>
                                  </p:stCondLst>
                                  <p:childTnLst>
                                    <p:animEffect transition="out" filter="dissolve">
                                      <p:cBhvr>
                                        <p:cTn id="219" dur="2000"/>
                                        <p:tgtEl>
                                          <p:spTgt spid="105"/>
                                        </p:tgtEl>
                                      </p:cBhvr>
                                    </p:animEffect>
                                    <p:set>
                                      <p:cBhvr>
                                        <p:cTn id="220" dur="1" fill="hold">
                                          <p:stCondLst>
                                            <p:cond delay="1999"/>
                                          </p:stCondLst>
                                        </p:cTn>
                                        <p:tgtEl>
                                          <p:spTgt spid="105"/>
                                        </p:tgtEl>
                                        <p:attrNameLst>
                                          <p:attrName>style.visibility</p:attrName>
                                        </p:attrNameLst>
                                      </p:cBhvr>
                                      <p:to>
                                        <p:strVal val="hidden"/>
                                      </p:to>
                                    </p:set>
                                  </p:childTnLst>
                                </p:cTn>
                              </p:par>
                              <p:par>
                                <p:cTn id="221" presetID="9" presetClass="exit" presetSubtype="0" fill="hold" grpId="0" nodeType="withEffect">
                                  <p:stCondLst>
                                    <p:cond delay="0"/>
                                  </p:stCondLst>
                                  <p:childTnLst>
                                    <p:animEffect transition="out" filter="dissolve">
                                      <p:cBhvr>
                                        <p:cTn id="222" dur="2000"/>
                                        <p:tgtEl>
                                          <p:spTgt spid="106"/>
                                        </p:tgtEl>
                                      </p:cBhvr>
                                    </p:animEffect>
                                    <p:set>
                                      <p:cBhvr>
                                        <p:cTn id="223" dur="1" fill="hold">
                                          <p:stCondLst>
                                            <p:cond delay="1999"/>
                                          </p:stCondLst>
                                        </p:cTn>
                                        <p:tgtEl>
                                          <p:spTgt spid="106"/>
                                        </p:tgtEl>
                                        <p:attrNameLst>
                                          <p:attrName>style.visibility</p:attrName>
                                        </p:attrNameLst>
                                      </p:cBhvr>
                                      <p:to>
                                        <p:strVal val="hidden"/>
                                      </p:to>
                                    </p:set>
                                  </p:childTnLst>
                                </p:cTn>
                              </p:par>
                              <p:par>
                                <p:cTn id="224" presetID="9" presetClass="exit" presetSubtype="0" fill="hold" grpId="0" nodeType="withEffect">
                                  <p:stCondLst>
                                    <p:cond delay="0"/>
                                  </p:stCondLst>
                                  <p:childTnLst>
                                    <p:animEffect transition="out" filter="dissolve">
                                      <p:cBhvr>
                                        <p:cTn id="225" dur="2000"/>
                                        <p:tgtEl>
                                          <p:spTgt spid="107"/>
                                        </p:tgtEl>
                                      </p:cBhvr>
                                    </p:animEffect>
                                    <p:set>
                                      <p:cBhvr>
                                        <p:cTn id="226" dur="1" fill="hold">
                                          <p:stCondLst>
                                            <p:cond delay="1999"/>
                                          </p:stCondLst>
                                        </p:cTn>
                                        <p:tgtEl>
                                          <p:spTgt spid="107"/>
                                        </p:tgtEl>
                                        <p:attrNameLst>
                                          <p:attrName>style.visibility</p:attrName>
                                        </p:attrNameLst>
                                      </p:cBhvr>
                                      <p:to>
                                        <p:strVal val="hidden"/>
                                      </p:to>
                                    </p:set>
                                  </p:childTnLst>
                                </p:cTn>
                              </p:par>
                              <p:par>
                                <p:cTn id="227" presetID="9" presetClass="entr" presetSubtype="0" fill="hold" grpId="0" nodeType="withEffect">
                                  <p:stCondLst>
                                    <p:cond delay="0"/>
                                  </p:stCondLst>
                                  <p:childTnLst>
                                    <p:set>
                                      <p:cBhvr>
                                        <p:cTn id="228" dur="1" fill="hold">
                                          <p:stCondLst>
                                            <p:cond delay="0"/>
                                          </p:stCondLst>
                                        </p:cTn>
                                        <p:tgtEl>
                                          <p:spTgt spid="138"/>
                                        </p:tgtEl>
                                        <p:attrNameLst>
                                          <p:attrName>style.visibility</p:attrName>
                                        </p:attrNameLst>
                                      </p:cBhvr>
                                      <p:to>
                                        <p:strVal val="visible"/>
                                      </p:to>
                                    </p:set>
                                    <p:animEffect transition="in" filter="dissolve">
                                      <p:cBhvr>
                                        <p:cTn id="229" dur="2000"/>
                                        <p:tgtEl>
                                          <p:spTgt spid="138"/>
                                        </p:tgtEl>
                                      </p:cBhvr>
                                    </p:animEffect>
                                  </p:childTnLst>
                                </p:cTn>
                              </p:par>
                              <p:par>
                                <p:cTn id="230" presetID="9" presetClass="entr" presetSubtype="0" fill="hold" grpId="0" nodeType="withEffect">
                                  <p:stCondLst>
                                    <p:cond delay="0"/>
                                  </p:stCondLst>
                                  <p:childTnLst>
                                    <p:set>
                                      <p:cBhvr>
                                        <p:cTn id="231" dur="1" fill="hold">
                                          <p:stCondLst>
                                            <p:cond delay="0"/>
                                          </p:stCondLst>
                                        </p:cTn>
                                        <p:tgtEl>
                                          <p:spTgt spid="139"/>
                                        </p:tgtEl>
                                        <p:attrNameLst>
                                          <p:attrName>style.visibility</p:attrName>
                                        </p:attrNameLst>
                                      </p:cBhvr>
                                      <p:to>
                                        <p:strVal val="visible"/>
                                      </p:to>
                                    </p:set>
                                    <p:animEffect transition="in" filter="dissolve">
                                      <p:cBhvr>
                                        <p:cTn id="232" dur="2000"/>
                                        <p:tgtEl>
                                          <p:spTgt spid="139"/>
                                        </p:tgtEl>
                                      </p:cBhvr>
                                    </p:animEffect>
                                  </p:childTnLst>
                                </p:cTn>
                              </p:par>
                              <p:par>
                                <p:cTn id="233" presetID="9" presetClass="entr" presetSubtype="0" fill="hold" grpId="0" nodeType="withEffect">
                                  <p:stCondLst>
                                    <p:cond delay="0"/>
                                  </p:stCondLst>
                                  <p:childTnLst>
                                    <p:set>
                                      <p:cBhvr>
                                        <p:cTn id="234" dur="1" fill="hold">
                                          <p:stCondLst>
                                            <p:cond delay="0"/>
                                          </p:stCondLst>
                                        </p:cTn>
                                        <p:tgtEl>
                                          <p:spTgt spid="140"/>
                                        </p:tgtEl>
                                        <p:attrNameLst>
                                          <p:attrName>style.visibility</p:attrName>
                                        </p:attrNameLst>
                                      </p:cBhvr>
                                      <p:to>
                                        <p:strVal val="visible"/>
                                      </p:to>
                                    </p:set>
                                    <p:animEffect transition="in" filter="dissolve">
                                      <p:cBhvr>
                                        <p:cTn id="235" dur="2000"/>
                                        <p:tgtEl>
                                          <p:spTgt spid="140"/>
                                        </p:tgtEl>
                                      </p:cBhvr>
                                    </p:animEffect>
                                  </p:childTnLst>
                                </p:cTn>
                              </p:par>
                              <p:par>
                                <p:cTn id="236" presetID="9" presetClass="entr" presetSubtype="0" fill="hold" grpId="0" nodeType="withEffect">
                                  <p:stCondLst>
                                    <p:cond delay="0"/>
                                  </p:stCondLst>
                                  <p:childTnLst>
                                    <p:set>
                                      <p:cBhvr>
                                        <p:cTn id="237" dur="1" fill="hold">
                                          <p:stCondLst>
                                            <p:cond delay="0"/>
                                          </p:stCondLst>
                                        </p:cTn>
                                        <p:tgtEl>
                                          <p:spTgt spid="141"/>
                                        </p:tgtEl>
                                        <p:attrNameLst>
                                          <p:attrName>style.visibility</p:attrName>
                                        </p:attrNameLst>
                                      </p:cBhvr>
                                      <p:to>
                                        <p:strVal val="visible"/>
                                      </p:to>
                                    </p:set>
                                    <p:animEffect transition="in" filter="dissolve">
                                      <p:cBhvr>
                                        <p:cTn id="238" dur="2000"/>
                                        <p:tgtEl>
                                          <p:spTgt spid="141"/>
                                        </p:tgtEl>
                                      </p:cBhvr>
                                    </p:animEffect>
                                  </p:childTnLst>
                                </p:cTn>
                              </p:par>
                              <p:par>
                                <p:cTn id="239" presetID="9" presetClass="entr" presetSubtype="0" fill="hold" grpId="0" nodeType="withEffect">
                                  <p:stCondLst>
                                    <p:cond delay="0"/>
                                  </p:stCondLst>
                                  <p:childTnLst>
                                    <p:set>
                                      <p:cBhvr>
                                        <p:cTn id="240" dur="1" fill="hold">
                                          <p:stCondLst>
                                            <p:cond delay="0"/>
                                          </p:stCondLst>
                                        </p:cTn>
                                        <p:tgtEl>
                                          <p:spTgt spid="142"/>
                                        </p:tgtEl>
                                        <p:attrNameLst>
                                          <p:attrName>style.visibility</p:attrName>
                                        </p:attrNameLst>
                                      </p:cBhvr>
                                      <p:to>
                                        <p:strVal val="visible"/>
                                      </p:to>
                                    </p:set>
                                    <p:animEffect transition="in" filter="dissolve">
                                      <p:cBhvr>
                                        <p:cTn id="241" dur="2000"/>
                                        <p:tgtEl>
                                          <p:spTgt spid="142"/>
                                        </p:tgtEl>
                                      </p:cBhvr>
                                    </p:animEffect>
                                  </p:childTnLst>
                                </p:cTn>
                              </p:par>
                              <p:par>
                                <p:cTn id="242" presetID="9" presetClass="entr" presetSubtype="0" fill="hold" grpId="0" nodeType="withEffect">
                                  <p:stCondLst>
                                    <p:cond delay="0"/>
                                  </p:stCondLst>
                                  <p:childTnLst>
                                    <p:set>
                                      <p:cBhvr>
                                        <p:cTn id="243" dur="1" fill="hold">
                                          <p:stCondLst>
                                            <p:cond delay="0"/>
                                          </p:stCondLst>
                                        </p:cTn>
                                        <p:tgtEl>
                                          <p:spTgt spid="143"/>
                                        </p:tgtEl>
                                        <p:attrNameLst>
                                          <p:attrName>style.visibility</p:attrName>
                                        </p:attrNameLst>
                                      </p:cBhvr>
                                      <p:to>
                                        <p:strVal val="visible"/>
                                      </p:to>
                                    </p:set>
                                    <p:animEffect transition="in" filter="dissolve">
                                      <p:cBhvr>
                                        <p:cTn id="244" dur="2000"/>
                                        <p:tgtEl>
                                          <p:spTgt spid="143"/>
                                        </p:tgtEl>
                                      </p:cBhvr>
                                    </p:animEffect>
                                  </p:childTnLst>
                                </p:cTn>
                              </p:par>
                              <p:par>
                                <p:cTn id="245" presetID="9" presetClass="entr" presetSubtype="0" fill="hold" grpId="0" nodeType="withEffect">
                                  <p:stCondLst>
                                    <p:cond delay="0"/>
                                  </p:stCondLst>
                                  <p:childTnLst>
                                    <p:set>
                                      <p:cBhvr>
                                        <p:cTn id="246" dur="1" fill="hold">
                                          <p:stCondLst>
                                            <p:cond delay="0"/>
                                          </p:stCondLst>
                                        </p:cTn>
                                        <p:tgtEl>
                                          <p:spTgt spid="144"/>
                                        </p:tgtEl>
                                        <p:attrNameLst>
                                          <p:attrName>style.visibility</p:attrName>
                                        </p:attrNameLst>
                                      </p:cBhvr>
                                      <p:to>
                                        <p:strVal val="visible"/>
                                      </p:to>
                                    </p:set>
                                    <p:animEffect transition="in" filter="dissolve">
                                      <p:cBhvr>
                                        <p:cTn id="247" dur="2000"/>
                                        <p:tgtEl>
                                          <p:spTgt spid="144"/>
                                        </p:tgtEl>
                                      </p:cBhvr>
                                    </p:animEffect>
                                  </p:childTnLst>
                                </p:cTn>
                              </p:par>
                              <p:par>
                                <p:cTn id="248" presetID="9" presetClass="entr" presetSubtype="0" fill="hold" grpId="0" nodeType="withEffect">
                                  <p:stCondLst>
                                    <p:cond delay="0"/>
                                  </p:stCondLst>
                                  <p:childTnLst>
                                    <p:set>
                                      <p:cBhvr>
                                        <p:cTn id="249" dur="1" fill="hold">
                                          <p:stCondLst>
                                            <p:cond delay="0"/>
                                          </p:stCondLst>
                                        </p:cTn>
                                        <p:tgtEl>
                                          <p:spTgt spid="145"/>
                                        </p:tgtEl>
                                        <p:attrNameLst>
                                          <p:attrName>style.visibility</p:attrName>
                                        </p:attrNameLst>
                                      </p:cBhvr>
                                      <p:to>
                                        <p:strVal val="visible"/>
                                      </p:to>
                                    </p:set>
                                    <p:animEffect transition="in" filter="dissolve">
                                      <p:cBhvr>
                                        <p:cTn id="250" dur="2000"/>
                                        <p:tgtEl>
                                          <p:spTgt spid="145"/>
                                        </p:tgtEl>
                                      </p:cBhvr>
                                    </p:animEffect>
                                  </p:childTnLst>
                                </p:cTn>
                              </p:par>
                              <p:par>
                                <p:cTn id="251" presetID="9" presetClass="entr" presetSubtype="0" fill="hold" grpId="0" nodeType="withEffect">
                                  <p:stCondLst>
                                    <p:cond delay="0"/>
                                  </p:stCondLst>
                                  <p:childTnLst>
                                    <p:set>
                                      <p:cBhvr>
                                        <p:cTn id="252" dur="1" fill="hold">
                                          <p:stCondLst>
                                            <p:cond delay="0"/>
                                          </p:stCondLst>
                                        </p:cTn>
                                        <p:tgtEl>
                                          <p:spTgt spid="146"/>
                                        </p:tgtEl>
                                        <p:attrNameLst>
                                          <p:attrName>style.visibility</p:attrName>
                                        </p:attrNameLst>
                                      </p:cBhvr>
                                      <p:to>
                                        <p:strVal val="visible"/>
                                      </p:to>
                                    </p:set>
                                    <p:animEffect transition="in" filter="dissolve">
                                      <p:cBhvr>
                                        <p:cTn id="253" dur="2000"/>
                                        <p:tgtEl>
                                          <p:spTgt spid="146"/>
                                        </p:tgtEl>
                                      </p:cBhvr>
                                    </p:animEffect>
                                  </p:childTnLst>
                                </p:cTn>
                              </p:par>
                              <p:par>
                                <p:cTn id="254" presetID="9" presetClass="entr" presetSubtype="0" fill="hold" grpId="0" nodeType="withEffect">
                                  <p:stCondLst>
                                    <p:cond delay="0"/>
                                  </p:stCondLst>
                                  <p:childTnLst>
                                    <p:set>
                                      <p:cBhvr>
                                        <p:cTn id="255" dur="1" fill="hold">
                                          <p:stCondLst>
                                            <p:cond delay="0"/>
                                          </p:stCondLst>
                                        </p:cTn>
                                        <p:tgtEl>
                                          <p:spTgt spid="147"/>
                                        </p:tgtEl>
                                        <p:attrNameLst>
                                          <p:attrName>style.visibility</p:attrName>
                                        </p:attrNameLst>
                                      </p:cBhvr>
                                      <p:to>
                                        <p:strVal val="visible"/>
                                      </p:to>
                                    </p:set>
                                    <p:animEffect transition="in" filter="dissolve">
                                      <p:cBhvr>
                                        <p:cTn id="256" dur="2000"/>
                                        <p:tgtEl>
                                          <p:spTgt spid="147"/>
                                        </p:tgtEl>
                                      </p:cBhvr>
                                    </p:animEffect>
                                  </p:childTnLst>
                                </p:cTn>
                              </p:par>
                              <p:par>
                                <p:cTn id="257" presetID="9" presetClass="entr" presetSubtype="0" fill="hold" grpId="0" nodeType="withEffect">
                                  <p:stCondLst>
                                    <p:cond delay="0"/>
                                  </p:stCondLst>
                                  <p:childTnLst>
                                    <p:set>
                                      <p:cBhvr>
                                        <p:cTn id="258" dur="1" fill="hold">
                                          <p:stCondLst>
                                            <p:cond delay="0"/>
                                          </p:stCondLst>
                                        </p:cTn>
                                        <p:tgtEl>
                                          <p:spTgt spid="148"/>
                                        </p:tgtEl>
                                        <p:attrNameLst>
                                          <p:attrName>style.visibility</p:attrName>
                                        </p:attrNameLst>
                                      </p:cBhvr>
                                      <p:to>
                                        <p:strVal val="visible"/>
                                      </p:to>
                                    </p:set>
                                    <p:animEffect transition="in" filter="dissolve">
                                      <p:cBhvr>
                                        <p:cTn id="259" dur="2000"/>
                                        <p:tgtEl>
                                          <p:spTgt spid="148"/>
                                        </p:tgtEl>
                                      </p:cBhvr>
                                    </p:animEffect>
                                  </p:childTnLst>
                                </p:cTn>
                              </p:par>
                              <p:par>
                                <p:cTn id="260" presetID="9" presetClass="entr" presetSubtype="0" fill="hold" grpId="0" nodeType="withEffect">
                                  <p:stCondLst>
                                    <p:cond delay="0"/>
                                  </p:stCondLst>
                                  <p:childTnLst>
                                    <p:set>
                                      <p:cBhvr>
                                        <p:cTn id="261" dur="1" fill="hold">
                                          <p:stCondLst>
                                            <p:cond delay="0"/>
                                          </p:stCondLst>
                                        </p:cTn>
                                        <p:tgtEl>
                                          <p:spTgt spid="149"/>
                                        </p:tgtEl>
                                        <p:attrNameLst>
                                          <p:attrName>style.visibility</p:attrName>
                                        </p:attrNameLst>
                                      </p:cBhvr>
                                      <p:to>
                                        <p:strVal val="visible"/>
                                      </p:to>
                                    </p:set>
                                    <p:animEffect transition="in" filter="dissolve">
                                      <p:cBhvr>
                                        <p:cTn id="262" dur="2000"/>
                                        <p:tgtEl>
                                          <p:spTgt spid="149"/>
                                        </p:tgtEl>
                                      </p:cBhvr>
                                    </p:animEffect>
                                  </p:childTnLst>
                                </p:cTn>
                              </p:par>
                              <p:par>
                                <p:cTn id="263" presetID="9" presetClass="entr" presetSubtype="0" fill="hold" grpId="0" nodeType="withEffect">
                                  <p:stCondLst>
                                    <p:cond delay="0"/>
                                  </p:stCondLst>
                                  <p:childTnLst>
                                    <p:set>
                                      <p:cBhvr>
                                        <p:cTn id="264" dur="1" fill="hold">
                                          <p:stCondLst>
                                            <p:cond delay="0"/>
                                          </p:stCondLst>
                                        </p:cTn>
                                        <p:tgtEl>
                                          <p:spTgt spid="150"/>
                                        </p:tgtEl>
                                        <p:attrNameLst>
                                          <p:attrName>style.visibility</p:attrName>
                                        </p:attrNameLst>
                                      </p:cBhvr>
                                      <p:to>
                                        <p:strVal val="visible"/>
                                      </p:to>
                                    </p:set>
                                    <p:animEffect transition="in" filter="dissolve">
                                      <p:cBhvr>
                                        <p:cTn id="265" dur="2000"/>
                                        <p:tgtEl>
                                          <p:spTgt spid="150"/>
                                        </p:tgtEl>
                                      </p:cBhvr>
                                    </p:animEffect>
                                  </p:childTnLst>
                                </p:cTn>
                              </p:par>
                              <p:par>
                                <p:cTn id="266" presetID="9" presetClass="entr" presetSubtype="0" fill="hold" grpId="0" nodeType="withEffect">
                                  <p:stCondLst>
                                    <p:cond delay="0"/>
                                  </p:stCondLst>
                                  <p:childTnLst>
                                    <p:set>
                                      <p:cBhvr>
                                        <p:cTn id="267" dur="1" fill="hold">
                                          <p:stCondLst>
                                            <p:cond delay="0"/>
                                          </p:stCondLst>
                                        </p:cTn>
                                        <p:tgtEl>
                                          <p:spTgt spid="151"/>
                                        </p:tgtEl>
                                        <p:attrNameLst>
                                          <p:attrName>style.visibility</p:attrName>
                                        </p:attrNameLst>
                                      </p:cBhvr>
                                      <p:to>
                                        <p:strVal val="visible"/>
                                      </p:to>
                                    </p:set>
                                    <p:animEffect transition="in" filter="dissolve">
                                      <p:cBhvr>
                                        <p:cTn id="268" dur="2000"/>
                                        <p:tgtEl>
                                          <p:spTgt spid="151"/>
                                        </p:tgtEl>
                                      </p:cBhvr>
                                    </p:animEffect>
                                  </p:childTnLst>
                                </p:cTn>
                              </p:par>
                              <p:par>
                                <p:cTn id="269" presetID="9" presetClass="entr" presetSubtype="0" fill="hold" grpId="0" nodeType="withEffect">
                                  <p:stCondLst>
                                    <p:cond delay="0"/>
                                  </p:stCondLst>
                                  <p:childTnLst>
                                    <p:set>
                                      <p:cBhvr>
                                        <p:cTn id="270" dur="1" fill="hold">
                                          <p:stCondLst>
                                            <p:cond delay="0"/>
                                          </p:stCondLst>
                                        </p:cTn>
                                        <p:tgtEl>
                                          <p:spTgt spid="152"/>
                                        </p:tgtEl>
                                        <p:attrNameLst>
                                          <p:attrName>style.visibility</p:attrName>
                                        </p:attrNameLst>
                                      </p:cBhvr>
                                      <p:to>
                                        <p:strVal val="visible"/>
                                      </p:to>
                                    </p:set>
                                    <p:animEffect transition="in" filter="dissolve">
                                      <p:cBhvr>
                                        <p:cTn id="271" dur="2000"/>
                                        <p:tgtEl>
                                          <p:spTgt spid="152"/>
                                        </p:tgtEl>
                                      </p:cBhvr>
                                    </p:animEffect>
                                  </p:childTnLst>
                                </p:cTn>
                              </p:par>
                              <p:par>
                                <p:cTn id="272" presetID="9" presetClass="entr" presetSubtype="0" fill="hold" grpId="0" nodeType="withEffect">
                                  <p:stCondLst>
                                    <p:cond delay="0"/>
                                  </p:stCondLst>
                                  <p:childTnLst>
                                    <p:set>
                                      <p:cBhvr>
                                        <p:cTn id="273" dur="1" fill="hold">
                                          <p:stCondLst>
                                            <p:cond delay="0"/>
                                          </p:stCondLst>
                                        </p:cTn>
                                        <p:tgtEl>
                                          <p:spTgt spid="153"/>
                                        </p:tgtEl>
                                        <p:attrNameLst>
                                          <p:attrName>style.visibility</p:attrName>
                                        </p:attrNameLst>
                                      </p:cBhvr>
                                      <p:to>
                                        <p:strVal val="visible"/>
                                      </p:to>
                                    </p:set>
                                    <p:animEffect transition="in" filter="dissolve">
                                      <p:cBhvr>
                                        <p:cTn id="274" dur="2000"/>
                                        <p:tgtEl>
                                          <p:spTgt spid="153"/>
                                        </p:tgtEl>
                                      </p:cBhvr>
                                    </p:animEffect>
                                  </p:childTnLst>
                                </p:cTn>
                              </p:par>
                              <p:par>
                                <p:cTn id="275" presetID="9" presetClass="entr" presetSubtype="0" fill="hold" grpId="0" nodeType="withEffect">
                                  <p:stCondLst>
                                    <p:cond delay="0"/>
                                  </p:stCondLst>
                                  <p:childTnLst>
                                    <p:set>
                                      <p:cBhvr>
                                        <p:cTn id="276" dur="1" fill="hold">
                                          <p:stCondLst>
                                            <p:cond delay="0"/>
                                          </p:stCondLst>
                                        </p:cTn>
                                        <p:tgtEl>
                                          <p:spTgt spid="154"/>
                                        </p:tgtEl>
                                        <p:attrNameLst>
                                          <p:attrName>style.visibility</p:attrName>
                                        </p:attrNameLst>
                                      </p:cBhvr>
                                      <p:to>
                                        <p:strVal val="visible"/>
                                      </p:to>
                                    </p:set>
                                    <p:animEffect transition="in" filter="dissolve">
                                      <p:cBhvr>
                                        <p:cTn id="277" dur="2000"/>
                                        <p:tgtEl>
                                          <p:spTgt spid="154"/>
                                        </p:tgtEl>
                                      </p:cBhvr>
                                    </p:animEffect>
                                  </p:childTnLst>
                                </p:cTn>
                              </p:par>
                              <p:par>
                                <p:cTn id="278" presetID="9" presetClass="entr" presetSubtype="0" fill="hold" grpId="0" nodeType="withEffect">
                                  <p:stCondLst>
                                    <p:cond delay="0"/>
                                  </p:stCondLst>
                                  <p:childTnLst>
                                    <p:set>
                                      <p:cBhvr>
                                        <p:cTn id="279" dur="1" fill="hold">
                                          <p:stCondLst>
                                            <p:cond delay="0"/>
                                          </p:stCondLst>
                                        </p:cTn>
                                        <p:tgtEl>
                                          <p:spTgt spid="155"/>
                                        </p:tgtEl>
                                        <p:attrNameLst>
                                          <p:attrName>style.visibility</p:attrName>
                                        </p:attrNameLst>
                                      </p:cBhvr>
                                      <p:to>
                                        <p:strVal val="visible"/>
                                      </p:to>
                                    </p:set>
                                    <p:animEffect transition="in" filter="dissolve">
                                      <p:cBhvr>
                                        <p:cTn id="280" dur="2000"/>
                                        <p:tgtEl>
                                          <p:spTgt spid="155"/>
                                        </p:tgtEl>
                                      </p:cBhvr>
                                    </p:animEffect>
                                  </p:childTnLst>
                                </p:cTn>
                              </p:par>
                              <p:par>
                                <p:cTn id="281" presetID="9" presetClass="entr" presetSubtype="0" fill="hold" grpId="0" nodeType="withEffect">
                                  <p:stCondLst>
                                    <p:cond delay="0"/>
                                  </p:stCondLst>
                                  <p:childTnLst>
                                    <p:set>
                                      <p:cBhvr>
                                        <p:cTn id="282" dur="1" fill="hold">
                                          <p:stCondLst>
                                            <p:cond delay="0"/>
                                          </p:stCondLst>
                                        </p:cTn>
                                        <p:tgtEl>
                                          <p:spTgt spid="156"/>
                                        </p:tgtEl>
                                        <p:attrNameLst>
                                          <p:attrName>style.visibility</p:attrName>
                                        </p:attrNameLst>
                                      </p:cBhvr>
                                      <p:to>
                                        <p:strVal val="visible"/>
                                      </p:to>
                                    </p:set>
                                    <p:animEffect transition="in" filter="dissolve">
                                      <p:cBhvr>
                                        <p:cTn id="283" dur="2000"/>
                                        <p:tgtEl>
                                          <p:spTgt spid="156"/>
                                        </p:tgtEl>
                                      </p:cBhvr>
                                    </p:animEffect>
                                  </p:childTnLst>
                                </p:cTn>
                              </p:par>
                              <p:par>
                                <p:cTn id="284" presetID="9" presetClass="entr" presetSubtype="0" fill="hold" grpId="0" nodeType="withEffect">
                                  <p:stCondLst>
                                    <p:cond delay="0"/>
                                  </p:stCondLst>
                                  <p:childTnLst>
                                    <p:set>
                                      <p:cBhvr>
                                        <p:cTn id="285" dur="1" fill="hold">
                                          <p:stCondLst>
                                            <p:cond delay="0"/>
                                          </p:stCondLst>
                                        </p:cTn>
                                        <p:tgtEl>
                                          <p:spTgt spid="157"/>
                                        </p:tgtEl>
                                        <p:attrNameLst>
                                          <p:attrName>style.visibility</p:attrName>
                                        </p:attrNameLst>
                                      </p:cBhvr>
                                      <p:to>
                                        <p:strVal val="visible"/>
                                      </p:to>
                                    </p:set>
                                    <p:animEffect transition="in" filter="dissolve">
                                      <p:cBhvr>
                                        <p:cTn id="286" dur="2000"/>
                                        <p:tgtEl>
                                          <p:spTgt spid="157"/>
                                        </p:tgtEl>
                                      </p:cBhvr>
                                    </p:animEffect>
                                  </p:childTnLst>
                                </p:cTn>
                              </p:par>
                              <p:par>
                                <p:cTn id="287" presetID="9" presetClass="entr" presetSubtype="0" fill="hold" grpId="0" nodeType="withEffect">
                                  <p:stCondLst>
                                    <p:cond delay="0"/>
                                  </p:stCondLst>
                                  <p:childTnLst>
                                    <p:set>
                                      <p:cBhvr>
                                        <p:cTn id="288" dur="1" fill="hold">
                                          <p:stCondLst>
                                            <p:cond delay="0"/>
                                          </p:stCondLst>
                                        </p:cTn>
                                        <p:tgtEl>
                                          <p:spTgt spid="158"/>
                                        </p:tgtEl>
                                        <p:attrNameLst>
                                          <p:attrName>style.visibility</p:attrName>
                                        </p:attrNameLst>
                                      </p:cBhvr>
                                      <p:to>
                                        <p:strVal val="visible"/>
                                      </p:to>
                                    </p:set>
                                    <p:animEffect transition="in" filter="dissolve">
                                      <p:cBhvr>
                                        <p:cTn id="289" dur="2000"/>
                                        <p:tgtEl>
                                          <p:spTgt spid="158"/>
                                        </p:tgtEl>
                                      </p:cBhvr>
                                    </p:animEffect>
                                  </p:childTnLst>
                                </p:cTn>
                              </p:par>
                              <p:par>
                                <p:cTn id="290" presetID="9" presetClass="entr" presetSubtype="0" fill="hold" nodeType="withEffect">
                                  <p:stCondLst>
                                    <p:cond delay="0"/>
                                  </p:stCondLst>
                                  <p:childTnLst>
                                    <p:set>
                                      <p:cBhvr>
                                        <p:cTn id="291" dur="1" fill="hold">
                                          <p:stCondLst>
                                            <p:cond delay="0"/>
                                          </p:stCondLst>
                                        </p:cTn>
                                        <p:tgtEl>
                                          <p:spTgt spid="159"/>
                                        </p:tgtEl>
                                        <p:attrNameLst>
                                          <p:attrName>style.visibility</p:attrName>
                                        </p:attrNameLst>
                                      </p:cBhvr>
                                      <p:to>
                                        <p:strVal val="visible"/>
                                      </p:to>
                                    </p:set>
                                    <p:animEffect transition="in" filter="dissolve">
                                      <p:cBhvr>
                                        <p:cTn id="292" dur="20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4" grpId="0" animBg="1"/>
      <p:bldP spid="55" grpId="0" animBg="1"/>
      <p:bldP spid="61" grpId="0" animBg="1"/>
      <p:bldP spid="63" grpId="0" animBg="1"/>
      <p:bldP spid="64" grpId="0" animBg="1"/>
      <p:bldP spid="65"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0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Oval 108"/>
          <p:cNvSpPr/>
          <p:nvPr/>
        </p:nvSpPr>
        <p:spPr>
          <a:xfrm>
            <a:off x="65532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0" name="Oval 109"/>
          <p:cNvSpPr/>
          <p:nvPr/>
        </p:nvSpPr>
        <p:spPr>
          <a:xfrm>
            <a:off x="70104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1" name="Oval 110"/>
          <p:cNvSpPr/>
          <p:nvPr/>
        </p:nvSpPr>
        <p:spPr>
          <a:xfrm>
            <a:off x="74676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2" name="Oval 111"/>
          <p:cNvSpPr/>
          <p:nvPr/>
        </p:nvSpPr>
        <p:spPr>
          <a:xfrm>
            <a:off x="79248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3" name="Oval 112"/>
          <p:cNvSpPr/>
          <p:nvPr/>
        </p:nvSpPr>
        <p:spPr>
          <a:xfrm>
            <a:off x="56388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4" name="Oval 113"/>
          <p:cNvSpPr/>
          <p:nvPr/>
        </p:nvSpPr>
        <p:spPr>
          <a:xfrm>
            <a:off x="60960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5" name="Oval 114"/>
          <p:cNvSpPr/>
          <p:nvPr/>
        </p:nvSpPr>
        <p:spPr>
          <a:xfrm>
            <a:off x="65532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6" name="Oval 115"/>
          <p:cNvSpPr/>
          <p:nvPr/>
        </p:nvSpPr>
        <p:spPr>
          <a:xfrm>
            <a:off x="70104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7" name="Oval 116"/>
          <p:cNvSpPr/>
          <p:nvPr/>
        </p:nvSpPr>
        <p:spPr>
          <a:xfrm>
            <a:off x="74676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8" name="Oval 117"/>
          <p:cNvSpPr/>
          <p:nvPr/>
        </p:nvSpPr>
        <p:spPr>
          <a:xfrm>
            <a:off x="79248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9" name="Oval 118"/>
          <p:cNvSpPr/>
          <p:nvPr/>
        </p:nvSpPr>
        <p:spPr>
          <a:xfrm>
            <a:off x="56388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0" name="Oval 119"/>
          <p:cNvSpPr/>
          <p:nvPr/>
        </p:nvSpPr>
        <p:spPr>
          <a:xfrm>
            <a:off x="60960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1" name="Oval 120"/>
          <p:cNvSpPr/>
          <p:nvPr/>
        </p:nvSpPr>
        <p:spPr>
          <a:xfrm>
            <a:off x="65532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2" name="Oval 121"/>
          <p:cNvSpPr/>
          <p:nvPr/>
        </p:nvSpPr>
        <p:spPr>
          <a:xfrm>
            <a:off x="70104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3" name="Oval 122"/>
          <p:cNvSpPr/>
          <p:nvPr/>
        </p:nvSpPr>
        <p:spPr>
          <a:xfrm>
            <a:off x="74676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4" name="Oval 123"/>
          <p:cNvSpPr/>
          <p:nvPr/>
        </p:nvSpPr>
        <p:spPr>
          <a:xfrm>
            <a:off x="7924800" y="50291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5" name="Oval 124"/>
          <p:cNvSpPr/>
          <p:nvPr/>
        </p:nvSpPr>
        <p:spPr>
          <a:xfrm>
            <a:off x="56388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6" name="Oval 125"/>
          <p:cNvSpPr/>
          <p:nvPr/>
        </p:nvSpPr>
        <p:spPr>
          <a:xfrm>
            <a:off x="60960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7" name="Oval 126"/>
          <p:cNvSpPr/>
          <p:nvPr/>
        </p:nvSpPr>
        <p:spPr>
          <a:xfrm>
            <a:off x="65532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8" name="Oval 127"/>
          <p:cNvSpPr/>
          <p:nvPr/>
        </p:nvSpPr>
        <p:spPr>
          <a:xfrm>
            <a:off x="70104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9" name="Oval 128"/>
          <p:cNvSpPr/>
          <p:nvPr/>
        </p:nvSpPr>
        <p:spPr>
          <a:xfrm>
            <a:off x="74676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0" name="Oval 129"/>
          <p:cNvSpPr/>
          <p:nvPr/>
        </p:nvSpPr>
        <p:spPr>
          <a:xfrm>
            <a:off x="79248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1" name="Oval 130"/>
          <p:cNvSpPr/>
          <p:nvPr/>
        </p:nvSpPr>
        <p:spPr>
          <a:xfrm>
            <a:off x="60960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2" name="Oval 131"/>
          <p:cNvSpPr/>
          <p:nvPr/>
        </p:nvSpPr>
        <p:spPr>
          <a:xfrm>
            <a:off x="56388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3" name="Oval 132"/>
          <p:cNvSpPr/>
          <p:nvPr/>
        </p:nvSpPr>
        <p:spPr>
          <a:xfrm>
            <a:off x="18288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4" name="Oval 133"/>
          <p:cNvSpPr/>
          <p:nvPr/>
        </p:nvSpPr>
        <p:spPr>
          <a:xfrm>
            <a:off x="22860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5" name="Oval 134"/>
          <p:cNvSpPr/>
          <p:nvPr/>
        </p:nvSpPr>
        <p:spPr>
          <a:xfrm>
            <a:off x="27432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6" name="Oval 135"/>
          <p:cNvSpPr/>
          <p:nvPr/>
        </p:nvSpPr>
        <p:spPr>
          <a:xfrm>
            <a:off x="32004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7" name="Oval 136"/>
          <p:cNvSpPr/>
          <p:nvPr/>
        </p:nvSpPr>
        <p:spPr>
          <a:xfrm>
            <a:off x="9144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8" name="Oval 137"/>
          <p:cNvSpPr/>
          <p:nvPr/>
        </p:nvSpPr>
        <p:spPr>
          <a:xfrm>
            <a:off x="13716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9" name="Oval 138"/>
          <p:cNvSpPr/>
          <p:nvPr/>
        </p:nvSpPr>
        <p:spPr>
          <a:xfrm>
            <a:off x="18288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0" name="Oval 139"/>
          <p:cNvSpPr/>
          <p:nvPr/>
        </p:nvSpPr>
        <p:spPr>
          <a:xfrm>
            <a:off x="2286000" y="45719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1" name="Oval 140"/>
          <p:cNvSpPr/>
          <p:nvPr/>
        </p:nvSpPr>
        <p:spPr>
          <a:xfrm>
            <a:off x="2743200" y="45719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2" name="Oval 141"/>
          <p:cNvSpPr/>
          <p:nvPr/>
        </p:nvSpPr>
        <p:spPr>
          <a:xfrm>
            <a:off x="3200400" y="45719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3" name="Oval 142"/>
          <p:cNvSpPr/>
          <p:nvPr/>
        </p:nvSpPr>
        <p:spPr>
          <a:xfrm>
            <a:off x="9144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4" name="Oval 143"/>
          <p:cNvSpPr/>
          <p:nvPr/>
        </p:nvSpPr>
        <p:spPr>
          <a:xfrm>
            <a:off x="13716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5" name="Oval 144"/>
          <p:cNvSpPr/>
          <p:nvPr/>
        </p:nvSpPr>
        <p:spPr>
          <a:xfrm>
            <a:off x="18288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6" name="Oval 145"/>
          <p:cNvSpPr/>
          <p:nvPr/>
        </p:nvSpPr>
        <p:spPr>
          <a:xfrm>
            <a:off x="22860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7" name="Oval 146"/>
          <p:cNvSpPr/>
          <p:nvPr/>
        </p:nvSpPr>
        <p:spPr>
          <a:xfrm>
            <a:off x="27432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8" name="Oval 147"/>
          <p:cNvSpPr/>
          <p:nvPr/>
        </p:nvSpPr>
        <p:spPr>
          <a:xfrm>
            <a:off x="3200400" y="50291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9" name="Oval 148"/>
          <p:cNvSpPr/>
          <p:nvPr/>
        </p:nvSpPr>
        <p:spPr>
          <a:xfrm>
            <a:off x="13716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0" name="Oval 149"/>
          <p:cNvSpPr/>
          <p:nvPr/>
        </p:nvSpPr>
        <p:spPr>
          <a:xfrm>
            <a:off x="914400" y="4114799"/>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1" name="Oval 150"/>
          <p:cNvSpPr/>
          <p:nvPr/>
        </p:nvSpPr>
        <p:spPr>
          <a:xfrm>
            <a:off x="9144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2" name="Oval 151"/>
          <p:cNvSpPr/>
          <p:nvPr/>
        </p:nvSpPr>
        <p:spPr>
          <a:xfrm>
            <a:off x="13716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3" name="Oval 152"/>
          <p:cNvSpPr/>
          <p:nvPr/>
        </p:nvSpPr>
        <p:spPr>
          <a:xfrm>
            <a:off x="18288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4" name="Oval 153"/>
          <p:cNvSpPr/>
          <p:nvPr/>
        </p:nvSpPr>
        <p:spPr>
          <a:xfrm>
            <a:off x="22860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5" name="Oval 154"/>
          <p:cNvSpPr/>
          <p:nvPr/>
        </p:nvSpPr>
        <p:spPr>
          <a:xfrm>
            <a:off x="27432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6" name="Oval 155"/>
          <p:cNvSpPr/>
          <p:nvPr/>
        </p:nvSpPr>
        <p:spPr>
          <a:xfrm>
            <a:off x="3200400" y="5486399"/>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7" name="TextBox 156"/>
          <p:cNvSpPr txBox="1"/>
          <p:nvPr/>
        </p:nvSpPr>
        <p:spPr>
          <a:xfrm>
            <a:off x="6172200" y="1981199"/>
            <a:ext cx="2895600" cy="95410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rPr>
              <a:t>R = Relapse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349E"/>
                </a:solidFill>
                <a:effectLst/>
                <a:uLnTx/>
                <a:uFillTx/>
              </a:rPr>
              <a:t>N = No Relapse</a:t>
            </a:r>
          </a:p>
        </p:txBody>
      </p:sp>
      <p:sp>
        <p:nvSpPr>
          <p:cNvPr id="158" name="Oval 157"/>
          <p:cNvSpPr/>
          <p:nvPr/>
        </p:nvSpPr>
        <p:spPr>
          <a:xfrm>
            <a:off x="65532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9" name="Oval 158"/>
          <p:cNvSpPr/>
          <p:nvPr/>
        </p:nvSpPr>
        <p:spPr>
          <a:xfrm>
            <a:off x="70104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0" name="Oval 159"/>
          <p:cNvSpPr/>
          <p:nvPr/>
        </p:nvSpPr>
        <p:spPr>
          <a:xfrm>
            <a:off x="74676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1" name="Oval 160"/>
          <p:cNvSpPr/>
          <p:nvPr/>
        </p:nvSpPr>
        <p:spPr>
          <a:xfrm>
            <a:off x="79248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2" name="Oval 161"/>
          <p:cNvSpPr/>
          <p:nvPr/>
        </p:nvSpPr>
        <p:spPr>
          <a:xfrm>
            <a:off x="56388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3" name="Oval 162"/>
          <p:cNvSpPr/>
          <p:nvPr/>
        </p:nvSpPr>
        <p:spPr>
          <a:xfrm>
            <a:off x="60960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4" name="Oval 163"/>
          <p:cNvSpPr/>
          <p:nvPr/>
        </p:nvSpPr>
        <p:spPr>
          <a:xfrm>
            <a:off x="65532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5" name="Oval 164"/>
          <p:cNvSpPr/>
          <p:nvPr/>
        </p:nvSpPr>
        <p:spPr>
          <a:xfrm>
            <a:off x="70104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6" name="Oval 165"/>
          <p:cNvSpPr/>
          <p:nvPr/>
        </p:nvSpPr>
        <p:spPr>
          <a:xfrm>
            <a:off x="74676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7" name="Oval 166"/>
          <p:cNvSpPr/>
          <p:nvPr/>
        </p:nvSpPr>
        <p:spPr>
          <a:xfrm>
            <a:off x="79248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8" name="Oval 167"/>
          <p:cNvSpPr/>
          <p:nvPr/>
        </p:nvSpPr>
        <p:spPr>
          <a:xfrm>
            <a:off x="56388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9" name="Oval 168"/>
          <p:cNvSpPr/>
          <p:nvPr/>
        </p:nvSpPr>
        <p:spPr>
          <a:xfrm>
            <a:off x="60960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0" name="Oval 169"/>
          <p:cNvSpPr/>
          <p:nvPr/>
        </p:nvSpPr>
        <p:spPr>
          <a:xfrm>
            <a:off x="65532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1" name="Oval 170"/>
          <p:cNvSpPr/>
          <p:nvPr/>
        </p:nvSpPr>
        <p:spPr>
          <a:xfrm>
            <a:off x="70104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2" name="Oval 171"/>
          <p:cNvSpPr/>
          <p:nvPr/>
        </p:nvSpPr>
        <p:spPr>
          <a:xfrm>
            <a:off x="74676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3" name="Oval 172"/>
          <p:cNvSpPr/>
          <p:nvPr/>
        </p:nvSpPr>
        <p:spPr>
          <a:xfrm>
            <a:off x="79248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4" name="Oval 173"/>
          <p:cNvSpPr/>
          <p:nvPr/>
        </p:nvSpPr>
        <p:spPr>
          <a:xfrm>
            <a:off x="56388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5" name="Oval 174"/>
          <p:cNvSpPr/>
          <p:nvPr/>
        </p:nvSpPr>
        <p:spPr>
          <a:xfrm>
            <a:off x="60960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6" name="Oval 175"/>
          <p:cNvSpPr/>
          <p:nvPr/>
        </p:nvSpPr>
        <p:spPr>
          <a:xfrm>
            <a:off x="65532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7" name="Oval 176"/>
          <p:cNvSpPr/>
          <p:nvPr/>
        </p:nvSpPr>
        <p:spPr>
          <a:xfrm>
            <a:off x="70104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8" name="Oval 177"/>
          <p:cNvSpPr/>
          <p:nvPr/>
        </p:nvSpPr>
        <p:spPr>
          <a:xfrm>
            <a:off x="74676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9" name="Oval 178"/>
          <p:cNvSpPr/>
          <p:nvPr/>
        </p:nvSpPr>
        <p:spPr>
          <a:xfrm>
            <a:off x="79248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0" name="Oval 179"/>
          <p:cNvSpPr/>
          <p:nvPr/>
        </p:nvSpPr>
        <p:spPr>
          <a:xfrm>
            <a:off x="60960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1" name="Oval 180"/>
          <p:cNvSpPr/>
          <p:nvPr/>
        </p:nvSpPr>
        <p:spPr>
          <a:xfrm>
            <a:off x="56388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2" name="Oval 181"/>
          <p:cNvSpPr/>
          <p:nvPr/>
        </p:nvSpPr>
        <p:spPr>
          <a:xfrm>
            <a:off x="18288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3" name="Oval 182"/>
          <p:cNvSpPr/>
          <p:nvPr/>
        </p:nvSpPr>
        <p:spPr>
          <a:xfrm>
            <a:off x="22860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4" name="Oval 183"/>
          <p:cNvSpPr/>
          <p:nvPr/>
        </p:nvSpPr>
        <p:spPr>
          <a:xfrm>
            <a:off x="27432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5" name="Oval 184"/>
          <p:cNvSpPr/>
          <p:nvPr/>
        </p:nvSpPr>
        <p:spPr>
          <a:xfrm>
            <a:off x="32004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6" name="Oval 185"/>
          <p:cNvSpPr/>
          <p:nvPr/>
        </p:nvSpPr>
        <p:spPr>
          <a:xfrm>
            <a:off x="9144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7" name="Oval 186"/>
          <p:cNvSpPr/>
          <p:nvPr/>
        </p:nvSpPr>
        <p:spPr>
          <a:xfrm>
            <a:off x="13716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8" name="Oval 187"/>
          <p:cNvSpPr/>
          <p:nvPr/>
        </p:nvSpPr>
        <p:spPr>
          <a:xfrm>
            <a:off x="18288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9" name="Oval 188"/>
          <p:cNvSpPr/>
          <p:nvPr/>
        </p:nvSpPr>
        <p:spPr>
          <a:xfrm>
            <a:off x="22860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0" name="Oval 189"/>
          <p:cNvSpPr/>
          <p:nvPr/>
        </p:nvSpPr>
        <p:spPr>
          <a:xfrm>
            <a:off x="32004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1" name="Oval 190"/>
          <p:cNvSpPr/>
          <p:nvPr/>
        </p:nvSpPr>
        <p:spPr>
          <a:xfrm>
            <a:off x="2743200" y="45719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2" name="Oval 191"/>
          <p:cNvSpPr/>
          <p:nvPr/>
        </p:nvSpPr>
        <p:spPr>
          <a:xfrm>
            <a:off x="9144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3" name="Oval 192"/>
          <p:cNvSpPr/>
          <p:nvPr/>
        </p:nvSpPr>
        <p:spPr>
          <a:xfrm>
            <a:off x="13716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4" name="Oval 193"/>
          <p:cNvSpPr/>
          <p:nvPr/>
        </p:nvSpPr>
        <p:spPr>
          <a:xfrm>
            <a:off x="18288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5" name="Oval 194"/>
          <p:cNvSpPr/>
          <p:nvPr/>
        </p:nvSpPr>
        <p:spPr>
          <a:xfrm>
            <a:off x="22860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6" name="Oval 195"/>
          <p:cNvSpPr/>
          <p:nvPr/>
        </p:nvSpPr>
        <p:spPr>
          <a:xfrm>
            <a:off x="27432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7" name="Oval 196"/>
          <p:cNvSpPr/>
          <p:nvPr/>
        </p:nvSpPr>
        <p:spPr>
          <a:xfrm>
            <a:off x="3200400" y="50291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8" name="Oval 197"/>
          <p:cNvSpPr/>
          <p:nvPr/>
        </p:nvSpPr>
        <p:spPr>
          <a:xfrm>
            <a:off x="13716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9" name="Oval 198"/>
          <p:cNvSpPr/>
          <p:nvPr/>
        </p:nvSpPr>
        <p:spPr>
          <a:xfrm>
            <a:off x="914400" y="41147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200" name="Oval 199"/>
          <p:cNvSpPr/>
          <p:nvPr/>
        </p:nvSpPr>
        <p:spPr>
          <a:xfrm>
            <a:off x="9144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1" name="Oval 200"/>
          <p:cNvSpPr/>
          <p:nvPr/>
        </p:nvSpPr>
        <p:spPr>
          <a:xfrm>
            <a:off x="13716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2" name="Oval 201"/>
          <p:cNvSpPr/>
          <p:nvPr/>
        </p:nvSpPr>
        <p:spPr>
          <a:xfrm>
            <a:off x="18288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3" name="Oval 202"/>
          <p:cNvSpPr/>
          <p:nvPr/>
        </p:nvSpPr>
        <p:spPr>
          <a:xfrm>
            <a:off x="22860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4" name="Oval 203"/>
          <p:cNvSpPr/>
          <p:nvPr/>
        </p:nvSpPr>
        <p:spPr>
          <a:xfrm>
            <a:off x="27432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5" name="Oval 204"/>
          <p:cNvSpPr/>
          <p:nvPr/>
        </p:nvSpPr>
        <p:spPr>
          <a:xfrm>
            <a:off x="3200400" y="5486399"/>
            <a:ext cx="457200" cy="457200"/>
          </a:xfrm>
          <a:prstGeom prst="ellipse">
            <a:avLst/>
          </a:prstGeom>
          <a:solidFill>
            <a:sysClr val="window" lastClr="FFFFFF"/>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206" name="TextBox 205"/>
          <p:cNvSpPr txBox="1"/>
          <p:nvPr/>
        </p:nvSpPr>
        <p:spPr>
          <a:xfrm>
            <a:off x="1981200" y="872197"/>
            <a:ext cx="419100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accent6">
                    <a:lumMod val="50000"/>
                  </a:schemeClr>
                </a:solidFill>
                <a:effectLst/>
                <a:uLnTx/>
                <a:uFillTx/>
              </a:rPr>
              <a:t>2.  Conduct experiment</a:t>
            </a:r>
          </a:p>
        </p:txBody>
      </p:sp>
      <p:sp>
        <p:nvSpPr>
          <p:cNvPr id="207" name="TextBox 206"/>
          <p:cNvSpPr txBox="1"/>
          <p:nvPr/>
        </p:nvSpPr>
        <p:spPr>
          <a:xfrm>
            <a:off x="1981200" y="1418266"/>
            <a:ext cx="6172200"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accent6">
                    <a:lumMod val="50000"/>
                  </a:schemeClr>
                </a:solidFill>
                <a:effectLst/>
                <a:uLnTx/>
                <a:uFillTx/>
              </a:rPr>
              <a:t>3.  Observe relapse counts in each group</a:t>
            </a:r>
          </a:p>
        </p:txBody>
      </p:sp>
      <p:sp>
        <p:nvSpPr>
          <p:cNvPr id="208" name="TextBox 207"/>
          <p:cNvSpPr txBox="1"/>
          <p:nvPr/>
        </p:nvSpPr>
        <p:spPr>
          <a:xfrm>
            <a:off x="6934200" y="3593067"/>
            <a:ext cx="1524000" cy="461665"/>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a:ln>
                  <a:noFill/>
                </a:ln>
                <a:solidFill>
                  <a:srgbClr val="002676"/>
                </a:solidFill>
                <a:effectLst/>
                <a:uLnTx/>
                <a:uFillTx/>
              </a:rPr>
              <a:t>Lithium</a:t>
            </a:r>
          </a:p>
        </p:txBody>
      </p:sp>
      <p:cxnSp>
        <p:nvCxnSpPr>
          <p:cNvPr id="209" name="Straight Arrow Connector 208"/>
          <p:cNvCxnSpPr/>
          <p:nvPr/>
        </p:nvCxnSpPr>
        <p:spPr>
          <a:xfrm rot="10800000" flipV="1">
            <a:off x="2057400" y="2514599"/>
            <a:ext cx="2514600" cy="1219200"/>
          </a:xfrm>
          <a:prstGeom prst="straightConnector1">
            <a:avLst/>
          </a:prstGeom>
          <a:noFill/>
          <a:ln w="38100" cap="flat" cmpd="sng" algn="ctr">
            <a:solidFill>
              <a:srgbClr val="002676">
                <a:satMod val="150000"/>
              </a:srgbClr>
            </a:solidFill>
            <a:prstDash val="solid"/>
            <a:tailEnd type="arrow"/>
          </a:ln>
          <a:effectLst/>
        </p:spPr>
      </p:cxnSp>
      <p:cxnSp>
        <p:nvCxnSpPr>
          <p:cNvPr id="210" name="Straight Arrow Connector 209"/>
          <p:cNvCxnSpPr/>
          <p:nvPr/>
        </p:nvCxnSpPr>
        <p:spPr>
          <a:xfrm>
            <a:off x="4572000" y="2514599"/>
            <a:ext cx="2590800" cy="1295400"/>
          </a:xfrm>
          <a:prstGeom prst="straightConnector1">
            <a:avLst/>
          </a:prstGeom>
          <a:noFill/>
          <a:ln w="38100" cap="flat" cmpd="sng" algn="ctr">
            <a:solidFill>
              <a:srgbClr val="002676">
                <a:satMod val="150000"/>
              </a:srgbClr>
            </a:solidFill>
            <a:prstDash val="solid"/>
            <a:tailEnd type="arrow"/>
          </a:ln>
          <a:effectLst/>
        </p:spPr>
      </p:cxnSp>
      <p:sp>
        <p:nvSpPr>
          <p:cNvPr id="211" name="TextBox 210"/>
          <p:cNvSpPr txBox="1"/>
          <p:nvPr/>
        </p:nvSpPr>
        <p:spPr>
          <a:xfrm>
            <a:off x="304800" y="3516867"/>
            <a:ext cx="1905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err="1">
                <a:ln>
                  <a:noFill/>
                </a:ln>
                <a:solidFill>
                  <a:srgbClr val="002676"/>
                </a:solidFill>
                <a:effectLst/>
                <a:uLnTx/>
                <a:uFillTx/>
              </a:rPr>
              <a:t>Desipramine</a:t>
            </a:r>
            <a:endParaRPr kumimoji="0" lang="en-US" sz="2400" b="0" i="1" u="none" strike="noStrike" kern="0" cap="none" spc="0" normalizeH="0" baseline="0" noProof="0" dirty="0">
              <a:ln>
                <a:noFill/>
              </a:ln>
              <a:solidFill>
                <a:srgbClr val="002676"/>
              </a:solidFill>
              <a:effectLst/>
              <a:uLnTx/>
              <a:uFillTx/>
            </a:endParaRPr>
          </a:p>
        </p:txBody>
      </p:sp>
      <p:sp>
        <p:nvSpPr>
          <p:cNvPr id="212" name="TextBox 211"/>
          <p:cNvSpPr txBox="1"/>
          <p:nvPr/>
        </p:nvSpPr>
        <p:spPr>
          <a:xfrm>
            <a:off x="304800" y="5943599"/>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10 relapse, 14 no relapse</a:t>
            </a:r>
          </a:p>
        </p:txBody>
      </p:sp>
      <p:sp>
        <p:nvSpPr>
          <p:cNvPr id="213" name="TextBox 212"/>
          <p:cNvSpPr txBox="1"/>
          <p:nvPr/>
        </p:nvSpPr>
        <p:spPr>
          <a:xfrm>
            <a:off x="5486400" y="5943599"/>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18 relapse, 6 no relapse</a:t>
            </a:r>
          </a:p>
        </p:txBody>
      </p:sp>
      <p:sp>
        <p:nvSpPr>
          <p:cNvPr id="214" name="TextBox 213"/>
          <p:cNvSpPr txBox="1"/>
          <p:nvPr/>
        </p:nvSpPr>
        <p:spPr>
          <a:xfrm>
            <a:off x="2971800" y="3200399"/>
            <a:ext cx="327660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 Randomly assign units to treatment groups</a:t>
            </a:r>
          </a:p>
        </p:txBody>
      </p:sp>
      <p:graphicFrame>
        <p:nvGraphicFramePr>
          <p:cNvPr id="215" name="Object 2"/>
          <p:cNvGraphicFramePr>
            <a:graphicFrameLocks noChangeAspect="1"/>
          </p:cNvGraphicFramePr>
          <p:nvPr>
            <p:extLst>
              <p:ext uri="{D42A27DB-BD31-4B8C-83A1-F6EECF244321}">
                <p14:modId xmlns:p14="http://schemas.microsoft.com/office/powerpoint/2010/main" val="3723595481"/>
              </p:ext>
            </p:extLst>
          </p:nvPr>
        </p:nvGraphicFramePr>
        <p:xfrm>
          <a:off x="3806031" y="4571999"/>
          <a:ext cx="1734045" cy="2131182"/>
        </p:xfrm>
        <a:graphic>
          <a:graphicData uri="http://schemas.openxmlformats.org/presentationml/2006/ole">
            <mc:AlternateContent xmlns:mc="http://schemas.openxmlformats.org/markup-compatibility/2006">
              <mc:Choice xmlns:v="urn:schemas-microsoft-com:vml" Requires="v">
                <p:oleObj spid="_x0000_s1046" name="Equation" r:id="rId4" imgW="660240" imgH="812520" progId="Equation.DSMT4">
                  <p:embed/>
                </p:oleObj>
              </mc:Choice>
              <mc:Fallback>
                <p:oleObj name="Equation" r:id="rId4" imgW="660240" imgH="812520" progId="Equation.DSMT4">
                  <p:embed/>
                  <p:pic>
                    <p:nvPicPr>
                      <p:cNvPr id="0" name=""/>
                      <p:cNvPicPr>
                        <a:picLocks noChangeAspect="1" noChangeArrowheads="1"/>
                      </p:cNvPicPr>
                      <p:nvPr/>
                    </p:nvPicPr>
                    <p:blipFill>
                      <a:blip r:embed="rId5"/>
                      <a:srcRect/>
                      <a:stretch>
                        <a:fillRect/>
                      </a:stretch>
                    </p:blipFill>
                    <p:spPr bwMode="auto">
                      <a:xfrm>
                        <a:off x="3806031" y="4571999"/>
                        <a:ext cx="1734045" cy="2131182"/>
                      </a:xfrm>
                      <a:prstGeom prst="rect">
                        <a:avLst/>
                      </a:prstGeom>
                      <a:noFill/>
                      <a:extLst/>
                    </p:spPr>
                  </p:pic>
                </p:oleObj>
              </mc:Fallback>
            </mc:AlternateContent>
          </a:graphicData>
        </a:graphic>
      </p:graphicFrame>
    </p:spTree>
    <p:custDataLst>
      <p:tags r:id="rId2"/>
    </p:custDataLst>
    <p:extLst>
      <p:ext uri="{BB962C8B-B14F-4D97-AF65-F5344CB8AC3E}">
        <p14:creationId xmlns:p14="http://schemas.microsoft.com/office/powerpoint/2010/main" val="329866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p:cTn id="7" dur="500" fill="hold"/>
                                        <p:tgtEl>
                                          <p:spTgt spid="206"/>
                                        </p:tgtEl>
                                        <p:attrNameLst>
                                          <p:attrName>ppt_w</p:attrName>
                                        </p:attrNameLst>
                                      </p:cBhvr>
                                      <p:tavLst>
                                        <p:tav tm="0">
                                          <p:val>
                                            <p:fltVal val="0"/>
                                          </p:val>
                                        </p:tav>
                                        <p:tav tm="100000">
                                          <p:val>
                                            <p:strVal val="#ppt_w"/>
                                          </p:val>
                                        </p:tav>
                                      </p:tavLst>
                                    </p:anim>
                                    <p:anim calcmode="lin" valueType="num">
                                      <p:cBhvr>
                                        <p:cTn id="8" dur="500" fill="hold"/>
                                        <p:tgtEl>
                                          <p:spTgt spid="206"/>
                                        </p:tgtEl>
                                        <p:attrNameLst>
                                          <p:attrName>ppt_h</p:attrName>
                                        </p:attrNameLst>
                                      </p:cBhvr>
                                      <p:tavLst>
                                        <p:tav tm="0">
                                          <p:val>
                                            <p:fltVal val="0"/>
                                          </p:val>
                                        </p:tav>
                                        <p:tav tm="100000">
                                          <p:val>
                                            <p:strVal val="#ppt_h"/>
                                          </p:val>
                                        </p:tav>
                                      </p:tavLst>
                                    </p:anim>
                                    <p:animEffect transition="in" filter="fade">
                                      <p:cBhvr>
                                        <p:cTn id="9" dur="500"/>
                                        <p:tgtEl>
                                          <p:spTgt spid="20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207"/>
                                        </p:tgtEl>
                                        <p:attrNameLst>
                                          <p:attrName>style.visibility</p:attrName>
                                        </p:attrNameLst>
                                      </p:cBhvr>
                                      <p:to>
                                        <p:strVal val="visible"/>
                                      </p:to>
                                    </p:set>
                                    <p:anim calcmode="lin" valueType="num">
                                      <p:cBhvr>
                                        <p:cTn id="14" dur="500" fill="hold"/>
                                        <p:tgtEl>
                                          <p:spTgt spid="207"/>
                                        </p:tgtEl>
                                        <p:attrNameLst>
                                          <p:attrName>ppt_w</p:attrName>
                                        </p:attrNameLst>
                                      </p:cBhvr>
                                      <p:tavLst>
                                        <p:tav tm="0">
                                          <p:val>
                                            <p:fltVal val="0"/>
                                          </p:val>
                                        </p:tav>
                                        <p:tav tm="100000">
                                          <p:val>
                                            <p:strVal val="#ppt_w"/>
                                          </p:val>
                                        </p:tav>
                                      </p:tavLst>
                                    </p:anim>
                                    <p:anim calcmode="lin" valueType="num">
                                      <p:cBhvr>
                                        <p:cTn id="15" dur="500" fill="hold"/>
                                        <p:tgtEl>
                                          <p:spTgt spid="207"/>
                                        </p:tgtEl>
                                        <p:attrNameLst>
                                          <p:attrName>ppt_h</p:attrName>
                                        </p:attrNameLst>
                                      </p:cBhvr>
                                      <p:tavLst>
                                        <p:tav tm="0">
                                          <p:val>
                                            <p:fltVal val="0"/>
                                          </p:val>
                                        </p:tav>
                                        <p:tav tm="100000">
                                          <p:val>
                                            <p:strVal val="#ppt_h"/>
                                          </p:val>
                                        </p:tav>
                                      </p:tavLst>
                                    </p:anim>
                                    <p:animEffect transition="in" filter="fade">
                                      <p:cBhvr>
                                        <p:cTn id="16" dur="500"/>
                                        <p:tgtEl>
                                          <p:spTgt spid="207"/>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09"/>
                                        </p:tgtEl>
                                        <p:attrNameLst>
                                          <p:attrName>style.visibility</p:attrName>
                                        </p:attrNameLst>
                                      </p:cBhvr>
                                      <p:to>
                                        <p:strVal val="visible"/>
                                      </p:to>
                                    </p:set>
                                    <p:animEffect transition="in" filter="dissolve">
                                      <p:cBhvr>
                                        <p:cTn id="20" dur="500"/>
                                        <p:tgtEl>
                                          <p:spTgt spid="10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10"/>
                                        </p:tgtEl>
                                        <p:attrNameLst>
                                          <p:attrName>style.visibility</p:attrName>
                                        </p:attrNameLst>
                                      </p:cBhvr>
                                      <p:to>
                                        <p:strVal val="visible"/>
                                      </p:to>
                                    </p:set>
                                    <p:animEffect transition="in" filter="dissolve">
                                      <p:cBhvr>
                                        <p:cTn id="23" dur="500"/>
                                        <p:tgtEl>
                                          <p:spTgt spid="11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dissolve">
                                      <p:cBhvr>
                                        <p:cTn id="26" dur="500"/>
                                        <p:tgtEl>
                                          <p:spTgt spid="111"/>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2"/>
                                        </p:tgtEl>
                                        <p:attrNameLst>
                                          <p:attrName>style.visibility</p:attrName>
                                        </p:attrNameLst>
                                      </p:cBhvr>
                                      <p:to>
                                        <p:strVal val="visible"/>
                                      </p:to>
                                    </p:set>
                                    <p:animEffect transition="in" filter="dissolve">
                                      <p:cBhvr>
                                        <p:cTn id="29" dur="500"/>
                                        <p:tgtEl>
                                          <p:spTgt spid="11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13"/>
                                        </p:tgtEl>
                                        <p:attrNameLst>
                                          <p:attrName>style.visibility</p:attrName>
                                        </p:attrNameLst>
                                      </p:cBhvr>
                                      <p:to>
                                        <p:strVal val="visible"/>
                                      </p:to>
                                    </p:set>
                                    <p:animEffect transition="in" filter="dissolve">
                                      <p:cBhvr>
                                        <p:cTn id="32" dur="500"/>
                                        <p:tgtEl>
                                          <p:spTgt spid="113"/>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dissolve">
                                      <p:cBhvr>
                                        <p:cTn id="35" dur="500"/>
                                        <p:tgtEl>
                                          <p:spTgt spid="114"/>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15"/>
                                        </p:tgtEl>
                                        <p:attrNameLst>
                                          <p:attrName>style.visibility</p:attrName>
                                        </p:attrNameLst>
                                      </p:cBhvr>
                                      <p:to>
                                        <p:strVal val="visible"/>
                                      </p:to>
                                    </p:set>
                                    <p:animEffect transition="in" filter="dissolve">
                                      <p:cBhvr>
                                        <p:cTn id="38" dur="500"/>
                                        <p:tgtEl>
                                          <p:spTgt spid="115"/>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16"/>
                                        </p:tgtEl>
                                        <p:attrNameLst>
                                          <p:attrName>style.visibility</p:attrName>
                                        </p:attrNameLst>
                                      </p:cBhvr>
                                      <p:to>
                                        <p:strVal val="visible"/>
                                      </p:to>
                                    </p:set>
                                    <p:animEffect transition="in" filter="dissolve">
                                      <p:cBhvr>
                                        <p:cTn id="41" dur="500"/>
                                        <p:tgtEl>
                                          <p:spTgt spid="116"/>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17"/>
                                        </p:tgtEl>
                                        <p:attrNameLst>
                                          <p:attrName>style.visibility</p:attrName>
                                        </p:attrNameLst>
                                      </p:cBhvr>
                                      <p:to>
                                        <p:strVal val="visible"/>
                                      </p:to>
                                    </p:set>
                                    <p:animEffect transition="in" filter="dissolve">
                                      <p:cBhvr>
                                        <p:cTn id="44" dur="500"/>
                                        <p:tgtEl>
                                          <p:spTgt spid="117"/>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18"/>
                                        </p:tgtEl>
                                        <p:attrNameLst>
                                          <p:attrName>style.visibility</p:attrName>
                                        </p:attrNameLst>
                                      </p:cBhvr>
                                      <p:to>
                                        <p:strVal val="visible"/>
                                      </p:to>
                                    </p:set>
                                    <p:animEffect transition="in" filter="dissolve">
                                      <p:cBhvr>
                                        <p:cTn id="47" dur="500"/>
                                        <p:tgtEl>
                                          <p:spTgt spid="118"/>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19"/>
                                        </p:tgtEl>
                                        <p:attrNameLst>
                                          <p:attrName>style.visibility</p:attrName>
                                        </p:attrNameLst>
                                      </p:cBhvr>
                                      <p:to>
                                        <p:strVal val="visible"/>
                                      </p:to>
                                    </p:set>
                                    <p:animEffect transition="in" filter="dissolve">
                                      <p:cBhvr>
                                        <p:cTn id="50" dur="500"/>
                                        <p:tgtEl>
                                          <p:spTgt spid="119"/>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dissolve">
                                      <p:cBhvr>
                                        <p:cTn id="53" dur="500"/>
                                        <p:tgtEl>
                                          <p:spTgt spid="12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21"/>
                                        </p:tgtEl>
                                        <p:attrNameLst>
                                          <p:attrName>style.visibility</p:attrName>
                                        </p:attrNameLst>
                                      </p:cBhvr>
                                      <p:to>
                                        <p:strVal val="visible"/>
                                      </p:to>
                                    </p:set>
                                    <p:animEffect transition="in" filter="dissolve">
                                      <p:cBhvr>
                                        <p:cTn id="56" dur="500"/>
                                        <p:tgtEl>
                                          <p:spTgt spid="121"/>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22"/>
                                        </p:tgtEl>
                                        <p:attrNameLst>
                                          <p:attrName>style.visibility</p:attrName>
                                        </p:attrNameLst>
                                      </p:cBhvr>
                                      <p:to>
                                        <p:strVal val="visible"/>
                                      </p:to>
                                    </p:set>
                                    <p:animEffect transition="in" filter="dissolve">
                                      <p:cBhvr>
                                        <p:cTn id="59" dur="500"/>
                                        <p:tgtEl>
                                          <p:spTgt spid="122"/>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123"/>
                                        </p:tgtEl>
                                        <p:attrNameLst>
                                          <p:attrName>style.visibility</p:attrName>
                                        </p:attrNameLst>
                                      </p:cBhvr>
                                      <p:to>
                                        <p:strVal val="visible"/>
                                      </p:to>
                                    </p:set>
                                    <p:animEffect transition="in" filter="dissolve">
                                      <p:cBhvr>
                                        <p:cTn id="62" dur="500"/>
                                        <p:tgtEl>
                                          <p:spTgt spid="123"/>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124"/>
                                        </p:tgtEl>
                                        <p:attrNameLst>
                                          <p:attrName>style.visibility</p:attrName>
                                        </p:attrNameLst>
                                      </p:cBhvr>
                                      <p:to>
                                        <p:strVal val="visible"/>
                                      </p:to>
                                    </p:set>
                                    <p:animEffect transition="in" filter="dissolve">
                                      <p:cBhvr>
                                        <p:cTn id="65" dur="500"/>
                                        <p:tgtEl>
                                          <p:spTgt spid="124"/>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125"/>
                                        </p:tgtEl>
                                        <p:attrNameLst>
                                          <p:attrName>style.visibility</p:attrName>
                                        </p:attrNameLst>
                                      </p:cBhvr>
                                      <p:to>
                                        <p:strVal val="visible"/>
                                      </p:to>
                                    </p:set>
                                    <p:animEffect transition="in" filter="dissolve">
                                      <p:cBhvr>
                                        <p:cTn id="68" dur="500"/>
                                        <p:tgtEl>
                                          <p:spTgt spid="125"/>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126"/>
                                        </p:tgtEl>
                                        <p:attrNameLst>
                                          <p:attrName>style.visibility</p:attrName>
                                        </p:attrNameLst>
                                      </p:cBhvr>
                                      <p:to>
                                        <p:strVal val="visible"/>
                                      </p:to>
                                    </p:set>
                                    <p:animEffect transition="in" filter="dissolve">
                                      <p:cBhvr>
                                        <p:cTn id="71" dur="500"/>
                                        <p:tgtEl>
                                          <p:spTgt spid="126"/>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27"/>
                                        </p:tgtEl>
                                        <p:attrNameLst>
                                          <p:attrName>style.visibility</p:attrName>
                                        </p:attrNameLst>
                                      </p:cBhvr>
                                      <p:to>
                                        <p:strVal val="visible"/>
                                      </p:to>
                                    </p:set>
                                    <p:animEffect transition="in" filter="dissolve">
                                      <p:cBhvr>
                                        <p:cTn id="74" dur="500"/>
                                        <p:tgtEl>
                                          <p:spTgt spid="127"/>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128"/>
                                        </p:tgtEl>
                                        <p:attrNameLst>
                                          <p:attrName>style.visibility</p:attrName>
                                        </p:attrNameLst>
                                      </p:cBhvr>
                                      <p:to>
                                        <p:strVal val="visible"/>
                                      </p:to>
                                    </p:set>
                                    <p:animEffect transition="in" filter="dissolve">
                                      <p:cBhvr>
                                        <p:cTn id="77" dur="500"/>
                                        <p:tgtEl>
                                          <p:spTgt spid="128"/>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129"/>
                                        </p:tgtEl>
                                        <p:attrNameLst>
                                          <p:attrName>style.visibility</p:attrName>
                                        </p:attrNameLst>
                                      </p:cBhvr>
                                      <p:to>
                                        <p:strVal val="visible"/>
                                      </p:to>
                                    </p:set>
                                    <p:animEffect transition="in" filter="dissolve">
                                      <p:cBhvr>
                                        <p:cTn id="80" dur="500"/>
                                        <p:tgtEl>
                                          <p:spTgt spid="129"/>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30"/>
                                        </p:tgtEl>
                                        <p:attrNameLst>
                                          <p:attrName>style.visibility</p:attrName>
                                        </p:attrNameLst>
                                      </p:cBhvr>
                                      <p:to>
                                        <p:strVal val="visible"/>
                                      </p:to>
                                    </p:set>
                                    <p:animEffect transition="in" filter="dissolve">
                                      <p:cBhvr>
                                        <p:cTn id="83" dur="500"/>
                                        <p:tgtEl>
                                          <p:spTgt spid="130"/>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31"/>
                                        </p:tgtEl>
                                        <p:attrNameLst>
                                          <p:attrName>style.visibility</p:attrName>
                                        </p:attrNameLst>
                                      </p:cBhvr>
                                      <p:to>
                                        <p:strVal val="visible"/>
                                      </p:to>
                                    </p:set>
                                    <p:animEffect transition="in" filter="dissolve">
                                      <p:cBhvr>
                                        <p:cTn id="86" dur="500"/>
                                        <p:tgtEl>
                                          <p:spTgt spid="131"/>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132"/>
                                        </p:tgtEl>
                                        <p:attrNameLst>
                                          <p:attrName>style.visibility</p:attrName>
                                        </p:attrNameLst>
                                      </p:cBhvr>
                                      <p:to>
                                        <p:strVal val="visible"/>
                                      </p:to>
                                    </p:set>
                                    <p:animEffect transition="in" filter="dissolve">
                                      <p:cBhvr>
                                        <p:cTn id="89" dur="500"/>
                                        <p:tgtEl>
                                          <p:spTgt spid="132"/>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133"/>
                                        </p:tgtEl>
                                        <p:attrNameLst>
                                          <p:attrName>style.visibility</p:attrName>
                                        </p:attrNameLst>
                                      </p:cBhvr>
                                      <p:to>
                                        <p:strVal val="visible"/>
                                      </p:to>
                                    </p:set>
                                    <p:animEffect transition="in" filter="dissolve">
                                      <p:cBhvr>
                                        <p:cTn id="92" dur="500"/>
                                        <p:tgtEl>
                                          <p:spTgt spid="133"/>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134"/>
                                        </p:tgtEl>
                                        <p:attrNameLst>
                                          <p:attrName>style.visibility</p:attrName>
                                        </p:attrNameLst>
                                      </p:cBhvr>
                                      <p:to>
                                        <p:strVal val="visible"/>
                                      </p:to>
                                    </p:set>
                                    <p:animEffect transition="in" filter="dissolve">
                                      <p:cBhvr>
                                        <p:cTn id="95" dur="500"/>
                                        <p:tgtEl>
                                          <p:spTgt spid="134"/>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135"/>
                                        </p:tgtEl>
                                        <p:attrNameLst>
                                          <p:attrName>style.visibility</p:attrName>
                                        </p:attrNameLst>
                                      </p:cBhvr>
                                      <p:to>
                                        <p:strVal val="visible"/>
                                      </p:to>
                                    </p:set>
                                    <p:animEffect transition="in" filter="dissolve">
                                      <p:cBhvr>
                                        <p:cTn id="98" dur="500"/>
                                        <p:tgtEl>
                                          <p:spTgt spid="135"/>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136"/>
                                        </p:tgtEl>
                                        <p:attrNameLst>
                                          <p:attrName>style.visibility</p:attrName>
                                        </p:attrNameLst>
                                      </p:cBhvr>
                                      <p:to>
                                        <p:strVal val="visible"/>
                                      </p:to>
                                    </p:set>
                                    <p:animEffect transition="in" filter="dissolve">
                                      <p:cBhvr>
                                        <p:cTn id="101" dur="500"/>
                                        <p:tgtEl>
                                          <p:spTgt spid="136"/>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137"/>
                                        </p:tgtEl>
                                        <p:attrNameLst>
                                          <p:attrName>style.visibility</p:attrName>
                                        </p:attrNameLst>
                                      </p:cBhvr>
                                      <p:to>
                                        <p:strVal val="visible"/>
                                      </p:to>
                                    </p:set>
                                    <p:animEffect transition="in" filter="dissolve">
                                      <p:cBhvr>
                                        <p:cTn id="104" dur="500"/>
                                        <p:tgtEl>
                                          <p:spTgt spid="137"/>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138"/>
                                        </p:tgtEl>
                                        <p:attrNameLst>
                                          <p:attrName>style.visibility</p:attrName>
                                        </p:attrNameLst>
                                      </p:cBhvr>
                                      <p:to>
                                        <p:strVal val="visible"/>
                                      </p:to>
                                    </p:set>
                                    <p:animEffect transition="in" filter="dissolve">
                                      <p:cBhvr>
                                        <p:cTn id="107" dur="500"/>
                                        <p:tgtEl>
                                          <p:spTgt spid="138"/>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139"/>
                                        </p:tgtEl>
                                        <p:attrNameLst>
                                          <p:attrName>style.visibility</p:attrName>
                                        </p:attrNameLst>
                                      </p:cBhvr>
                                      <p:to>
                                        <p:strVal val="visible"/>
                                      </p:to>
                                    </p:set>
                                    <p:animEffect transition="in" filter="dissolve">
                                      <p:cBhvr>
                                        <p:cTn id="110" dur="500"/>
                                        <p:tgtEl>
                                          <p:spTgt spid="139"/>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140"/>
                                        </p:tgtEl>
                                        <p:attrNameLst>
                                          <p:attrName>style.visibility</p:attrName>
                                        </p:attrNameLst>
                                      </p:cBhvr>
                                      <p:to>
                                        <p:strVal val="visible"/>
                                      </p:to>
                                    </p:set>
                                    <p:animEffect transition="in" filter="dissolve">
                                      <p:cBhvr>
                                        <p:cTn id="113" dur="500"/>
                                        <p:tgtEl>
                                          <p:spTgt spid="140"/>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141"/>
                                        </p:tgtEl>
                                        <p:attrNameLst>
                                          <p:attrName>style.visibility</p:attrName>
                                        </p:attrNameLst>
                                      </p:cBhvr>
                                      <p:to>
                                        <p:strVal val="visible"/>
                                      </p:to>
                                    </p:set>
                                    <p:animEffect transition="in" filter="dissolve">
                                      <p:cBhvr>
                                        <p:cTn id="116" dur="500"/>
                                        <p:tgtEl>
                                          <p:spTgt spid="141"/>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142"/>
                                        </p:tgtEl>
                                        <p:attrNameLst>
                                          <p:attrName>style.visibility</p:attrName>
                                        </p:attrNameLst>
                                      </p:cBhvr>
                                      <p:to>
                                        <p:strVal val="visible"/>
                                      </p:to>
                                    </p:set>
                                    <p:animEffect transition="in" filter="dissolve">
                                      <p:cBhvr>
                                        <p:cTn id="119" dur="500"/>
                                        <p:tgtEl>
                                          <p:spTgt spid="142"/>
                                        </p:tgtEl>
                                      </p:cBhvr>
                                    </p:animEffect>
                                  </p:childTnLst>
                                </p:cTn>
                              </p:par>
                              <p:par>
                                <p:cTn id="120" presetID="9" presetClass="entr" presetSubtype="0" fill="hold" grpId="0" nodeType="withEffect">
                                  <p:stCondLst>
                                    <p:cond delay="0"/>
                                  </p:stCondLst>
                                  <p:childTnLst>
                                    <p:set>
                                      <p:cBhvr>
                                        <p:cTn id="121" dur="1" fill="hold">
                                          <p:stCondLst>
                                            <p:cond delay="0"/>
                                          </p:stCondLst>
                                        </p:cTn>
                                        <p:tgtEl>
                                          <p:spTgt spid="143"/>
                                        </p:tgtEl>
                                        <p:attrNameLst>
                                          <p:attrName>style.visibility</p:attrName>
                                        </p:attrNameLst>
                                      </p:cBhvr>
                                      <p:to>
                                        <p:strVal val="visible"/>
                                      </p:to>
                                    </p:set>
                                    <p:animEffect transition="in" filter="dissolve">
                                      <p:cBhvr>
                                        <p:cTn id="122" dur="500"/>
                                        <p:tgtEl>
                                          <p:spTgt spid="143"/>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144"/>
                                        </p:tgtEl>
                                        <p:attrNameLst>
                                          <p:attrName>style.visibility</p:attrName>
                                        </p:attrNameLst>
                                      </p:cBhvr>
                                      <p:to>
                                        <p:strVal val="visible"/>
                                      </p:to>
                                    </p:set>
                                    <p:animEffect transition="in" filter="dissolve">
                                      <p:cBhvr>
                                        <p:cTn id="125" dur="500"/>
                                        <p:tgtEl>
                                          <p:spTgt spid="144"/>
                                        </p:tgtEl>
                                      </p:cBhvr>
                                    </p:animEffect>
                                  </p:childTnLst>
                                </p:cTn>
                              </p:par>
                              <p:par>
                                <p:cTn id="126" presetID="9" presetClass="entr" presetSubtype="0" fill="hold" grpId="0" nodeType="withEffect">
                                  <p:stCondLst>
                                    <p:cond delay="0"/>
                                  </p:stCondLst>
                                  <p:childTnLst>
                                    <p:set>
                                      <p:cBhvr>
                                        <p:cTn id="127" dur="1" fill="hold">
                                          <p:stCondLst>
                                            <p:cond delay="0"/>
                                          </p:stCondLst>
                                        </p:cTn>
                                        <p:tgtEl>
                                          <p:spTgt spid="145"/>
                                        </p:tgtEl>
                                        <p:attrNameLst>
                                          <p:attrName>style.visibility</p:attrName>
                                        </p:attrNameLst>
                                      </p:cBhvr>
                                      <p:to>
                                        <p:strVal val="visible"/>
                                      </p:to>
                                    </p:set>
                                    <p:animEffect transition="in" filter="dissolve">
                                      <p:cBhvr>
                                        <p:cTn id="128" dur="500"/>
                                        <p:tgtEl>
                                          <p:spTgt spid="145"/>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146"/>
                                        </p:tgtEl>
                                        <p:attrNameLst>
                                          <p:attrName>style.visibility</p:attrName>
                                        </p:attrNameLst>
                                      </p:cBhvr>
                                      <p:to>
                                        <p:strVal val="visible"/>
                                      </p:to>
                                    </p:set>
                                    <p:animEffect transition="in" filter="dissolve">
                                      <p:cBhvr>
                                        <p:cTn id="131" dur="500"/>
                                        <p:tgtEl>
                                          <p:spTgt spid="146"/>
                                        </p:tgtEl>
                                      </p:cBhvr>
                                    </p:animEffect>
                                  </p:childTnLst>
                                </p:cTn>
                              </p:par>
                              <p:par>
                                <p:cTn id="132" presetID="9" presetClass="entr" presetSubtype="0" fill="hold" grpId="0" nodeType="withEffect">
                                  <p:stCondLst>
                                    <p:cond delay="0"/>
                                  </p:stCondLst>
                                  <p:childTnLst>
                                    <p:set>
                                      <p:cBhvr>
                                        <p:cTn id="133" dur="1" fill="hold">
                                          <p:stCondLst>
                                            <p:cond delay="0"/>
                                          </p:stCondLst>
                                        </p:cTn>
                                        <p:tgtEl>
                                          <p:spTgt spid="147"/>
                                        </p:tgtEl>
                                        <p:attrNameLst>
                                          <p:attrName>style.visibility</p:attrName>
                                        </p:attrNameLst>
                                      </p:cBhvr>
                                      <p:to>
                                        <p:strVal val="visible"/>
                                      </p:to>
                                    </p:set>
                                    <p:animEffect transition="in" filter="dissolve">
                                      <p:cBhvr>
                                        <p:cTn id="134" dur="500"/>
                                        <p:tgtEl>
                                          <p:spTgt spid="147"/>
                                        </p:tgtEl>
                                      </p:cBhvr>
                                    </p:animEffect>
                                  </p:childTnLst>
                                </p:cTn>
                              </p:par>
                              <p:par>
                                <p:cTn id="135" presetID="9" presetClass="entr" presetSubtype="0" fill="hold" grpId="0" nodeType="withEffect">
                                  <p:stCondLst>
                                    <p:cond delay="0"/>
                                  </p:stCondLst>
                                  <p:childTnLst>
                                    <p:set>
                                      <p:cBhvr>
                                        <p:cTn id="136" dur="1" fill="hold">
                                          <p:stCondLst>
                                            <p:cond delay="0"/>
                                          </p:stCondLst>
                                        </p:cTn>
                                        <p:tgtEl>
                                          <p:spTgt spid="148"/>
                                        </p:tgtEl>
                                        <p:attrNameLst>
                                          <p:attrName>style.visibility</p:attrName>
                                        </p:attrNameLst>
                                      </p:cBhvr>
                                      <p:to>
                                        <p:strVal val="visible"/>
                                      </p:to>
                                    </p:set>
                                    <p:animEffect transition="in" filter="dissolve">
                                      <p:cBhvr>
                                        <p:cTn id="137" dur="500"/>
                                        <p:tgtEl>
                                          <p:spTgt spid="148"/>
                                        </p:tgtEl>
                                      </p:cBhvr>
                                    </p:animEffect>
                                  </p:childTnLst>
                                </p:cTn>
                              </p:par>
                              <p:par>
                                <p:cTn id="138" presetID="9" presetClass="entr" presetSubtype="0" fill="hold" grpId="0" nodeType="withEffect">
                                  <p:stCondLst>
                                    <p:cond delay="0"/>
                                  </p:stCondLst>
                                  <p:childTnLst>
                                    <p:set>
                                      <p:cBhvr>
                                        <p:cTn id="139" dur="1" fill="hold">
                                          <p:stCondLst>
                                            <p:cond delay="0"/>
                                          </p:stCondLst>
                                        </p:cTn>
                                        <p:tgtEl>
                                          <p:spTgt spid="149"/>
                                        </p:tgtEl>
                                        <p:attrNameLst>
                                          <p:attrName>style.visibility</p:attrName>
                                        </p:attrNameLst>
                                      </p:cBhvr>
                                      <p:to>
                                        <p:strVal val="visible"/>
                                      </p:to>
                                    </p:set>
                                    <p:animEffect transition="in" filter="dissolve">
                                      <p:cBhvr>
                                        <p:cTn id="140" dur="500"/>
                                        <p:tgtEl>
                                          <p:spTgt spid="149"/>
                                        </p:tgtEl>
                                      </p:cBhvr>
                                    </p:animEffect>
                                  </p:childTnLst>
                                </p:cTn>
                              </p:par>
                              <p:par>
                                <p:cTn id="141" presetID="9" presetClass="entr" presetSubtype="0" fill="hold" grpId="0" nodeType="withEffect">
                                  <p:stCondLst>
                                    <p:cond delay="0"/>
                                  </p:stCondLst>
                                  <p:childTnLst>
                                    <p:set>
                                      <p:cBhvr>
                                        <p:cTn id="142" dur="1" fill="hold">
                                          <p:stCondLst>
                                            <p:cond delay="0"/>
                                          </p:stCondLst>
                                        </p:cTn>
                                        <p:tgtEl>
                                          <p:spTgt spid="150"/>
                                        </p:tgtEl>
                                        <p:attrNameLst>
                                          <p:attrName>style.visibility</p:attrName>
                                        </p:attrNameLst>
                                      </p:cBhvr>
                                      <p:to>
                                        <p:strVal val="visible"/>
                                      </p:to>
                                    </p:set>
                                    <p:animEffect transition="in" filter="dissolve">
                                      <p:cBhvr>
                                        <p:cTn id="143" dur="500"/>
                                        <p:tgtEl>
                                          <p:spTgt spid="150"/>
                                        </p:tgtEl>
                                      </p:cBhvr>
                                    </p:animEffect>
                                  </p:childTnLst>
                                </p:cTn>
                              </p:par>
                              <p:par>
                                <p:cTn id="144" presetID="9" presetClass="entr" presetSubtype="0" fill="hold" grpId="0" nodeType="withEffect">
                                  <p:stCondLst>
                                    <p:cond delay="0"/>
                                  </p:stCondLst>
                                  <p:childTnLst>
                                    <p:set>
                                      <p:cBhvr>
                                        <p:cTn id="145" dur="1" fill="hold">
                                          <p:stCondLst>
                                            <p:cond delay="0"/>
                                          </p:stCondLst>
                                        </p:cTn>
                                        <p:tgtEl>
                                          <p:spTgt spid="151"/>
                                        </p:tgtEl>
                                        <p:attrNameLst>
                                          <p:attrName>style.visibility</p:attrName>
                                        </p:attrNameLst>
                                      </p:cBhvr>
                                      <p:to>
                                        <p:strVal val="visible"/>
                                      </p:to>
                                    </p:set>
                                    <p:animEffect transition="in" filter="dissolve">
                                      <p:cBhvr>
                                        <p:cTn id="146" dur="500"/>
                                        <p:tgtEl>
                                          <p:spTgt spid="151"/>
                                        </p:tgtEl>
                                      </p:cBhvr>
                                    </p:animEffect>
                                  </p:childTnLst>
                                </p:cTn>
                              </p:par>
                              <p:par>
                                <p:cTn id="147" presetID="9" presetClass="entr" presetSubtype="0" fill="hold" grpId="0" nodeType="withEffect">
                                  <p:stCondLst>
                                    <p:cond delay="0"/>
                                  </p:stCondLst>
                                  <p:childTnLst>
                                    <p:set>
                                      <p:cBhvr>
                                        <p:cTn id="148" dur="1" fill="hold">
                                          <p:stCondLst>
                                            <p:cond delay="0"/>
                                          </p:stCondLst>
                                        </p:cTn>
                                        <p:tgtEl>
                                          <p:spTgt spid="152"/>
                                        </p:tgtEl>
                                        <p:attrNameLst>
                                          <p:attrName>style.visibility</p:attrName>
                                        </p:attrNameLst>
                                      </p:cBhvr>
                                      <p:to>
                                        <p:strVal val="visible"/>
                                      </p:to>
                                    </p:set>
                                    <p:animEffect transition="in" filter="dissolve">
                                      <p:cBhvr>
                                        <p:cTn id="149" dur="500"/>
                                        <p:tgtEl>
                                          <p:spTgt spid="152"/>
                                        </p:tgtEl>
                                      </p:cBhvr>
                                    </p:animEffect>
                                  </p:childTnLst>
                                </p:cTn>
                              </p:par>
                              <p:par>
                                <p:cTn id="150" presetID="9" presetClass="entr" presetSubtype="0" fill="hold" grpId="0" nodeType="withEffect">
                                  <p:stCondLst>
                                    <p:cond delay="0"/>
                                  </p:stCondLst>
                                  <p:childTnLst>
                                    <p:set>
                                      <p:cBhvr>
                                        <p:cTn id="151" dur="1" fill="hold">
                                          <p:stCondLst>
                                            <p:cond delay="0"/>
                                          </p:stCondLst>
                                        </p:cTn>
                                        <p:tgtEl>
                                          <p:spTgt spid="153"/>
                                        </p:tgtEl>
                                        <p:attrNameLst>
                                          <p:attrName>style.visibility</p:attrName>
                                        </p:attrNameLst>
                                      </p:cBhvr>
                                      <p:to>
                                        <p:strVal val="visible"/>
                                      </p:to>
                                    </p:set>
                                    <p:animEffect transition="in" filter="dissolve">
                                      <p:cBhvr>
                                        <p:cTn id="152" dur="500"/>
                                        <p:tgtEl>
                                          <p:spTgt spid="153"/>
                                        </p:tgtEl>
                                      </p:cBhvr>
                                    </p:animEffect>
                                  </p:childTnLst>
                                </p:cTn>
                              </p:par>
                              <p:par>
                                <p:cTn id="153" presetID="9" presetClass="entr" presetSubtype="0" fill="hold" grpId="0" nodeType="withEffect">
                                  <p:stCondLst>
                                    <p:cond delay="0"/>
                                  </p:stCondLst>
                                  <p:childTnLst>
                                    <p:set>
                                      <p:cBhvr>
                                        <p:cTn id="154" dur="1" fill="hold">
                                          <p:stCondLst>
                                            <p:cond delay="0"/>
                                          </p:stCondLst>
                                        </p:cTn>
                                        <p:tgtEl>
                                          <p:spTgt spid="154"/>
                                        </p:tgtEl>
                                        <p:attrNameLst>
                                          <p:attrName>style.visibility</p:attrName>
                                        </p:attrNameLst>
                                      </p:cBhvr>
                                      <p:to>
                                        <p:strVal val="visible"/>
                                      </p:to>
                                    </p:set>
                                    <p:animEffect transition="in" filter="dissolve">
                                      <p:cBhvr>
                                        <p:cTn id="155" dur="500"/>
                                        <p:tgtEl>
                                          <p:spTgt spid="154"/>
                                        </p:tgtEl>
                                      </p:cBhvr>
                                    </p:animEffect>
                                  </p:childTnLst>
                                </p:cTn>
                              </p:par>
                              <p:par>
                                <p:cTn id="156" presetID="9" presetClass="entr" presetSubtype="0" fill="hold" grpId="0" nodeType="withEffect">
                                  <p:stCondLst>
                                    <p:cond delay="0"/>
                                  </p:stCondLst>
                                  <p:childTnLst>
                                    <p:set>
                                      <p:cBhvr>
                                        <p:cTn id="157" dur="1" fill="hold">
                                          <p:stCondLst>
                                            <p:cond delay="0"/>
                                          </p:stCondLst>
                                        </p:cTn>
                                        <p:tgtEl>
                                          <p:spTgt spid="155"/>
                                        </p:tgtEl>
                                        <p:attrNameLst>
                                          <p:attrName>style.visibility</p:attrName>
                                        </p:attrNameLst>
                                      </p:cBhvr>
                                      <p:to>
                                        <p:strVal val="visible"/>
                                      </p:to>
                                    </p:set>
                                    <p:animEffect transition="in" filter="dissolve">
                                      <p:cBhvr>
                                        <p:cTn id="158" dur="500"/>
                                        <p:tgtEl>
                                          <p:spTgt spid="155"/>
                                        </p:tgtEl>
                                      </p:cBhvr>
                                    </p:animEffect>
                                  </p:childTnLst>
                                </p:cTn>
                              </p:par>
                              <p:par>
                                <p:cTn id="159" presetID="9" presetClass="entr" presetSubtype="0" fill="hold" grpId="0" nodeType="withEffect">
                                  <p:stCondLst>
                                    <p:cond delay="0"/>
                                  </p:stCondLst>
                                  <p:childTnLst>
                                    <p:set>
                                      <p:cBhvr>
                                        <p:cTn id="160" dur="1" fill="hold">
                                          <p:stCondLst>
                                            <p:cond delay="0"/>
                                          </p:stCondLst>
                                        </p:cTn>
                                        <p:tgtEl>
                                          <p:spTgt spid="156"/>
                                        </p:tgtEl>
                                        <p:attrNameLst>
                                          <p:attrName>style.visibility</p:attrName>
                                        </p:attrNameLst>
                                      </p:cBhvr>
                                      <p:to>
                                        <p:strVal val="visible"/>
                                      </p:to>
                                    </p:set>
                                    <p:animEffect transition="in" filter="dissolve">
                                      <p:cBhvr>
                                        <p:cTn id="161" dur="500"/>
                                        <p:tgtEl>
                                          <p:spTgt spid="156"/>
                                        </p:tgtEl>
                                      </p:cBhvr>
                                    </p:animEffect>
                                  </p:childTnLst>
                                </p:cTn>
                              </p:par>
                              <p:par>
                                <p:cTn id="162" presetID="9" presetClass="entr" presetSubtype="0" fill="hold" grpId="0" nodeType="withEffect">
                                  <p:stCondLst>
                                    <p:cond delay="0"/>
                                  </p:stCondLst>
                                  <p:childTnLst>
                                    <p:set>
                                      <p:cBhvr>
                                        <p:cTn id="163" dur="1" fill="hold">
                                          <p:stCondLst>
                                            <p:cond delay="0"/>
                                          </p:stCondLst>
                                        </p:cTn>
                                        <p:tgtEl>
                                          <p:spTgt spid="157"/>
                                        </p:tgtEl>
                                        <p:attrNameLst>
                                          <p:attrName>style.visibility</p:attrName>
                                        </p:attrNameLst>
                                      </p:cBhvr>
                                      <p:to>
                                        <p:strVal val="visible"/>
                                      </p:to>
                                    </p:set>
                                    <p:animEffect transition="in" filter="dissolve">
                                      <p:cBhvr>
                                        <p:cTn id="164" dur="500"/>
                                        <p:tgtEl>
                                          <p:spTgt spid="157"/>
                                        </p:tgtEl>
                                      </p:cBhvr>
                                    </p:animEffect>
                                  </p:childTnLst>
                                </p:cTn>
                              </p:par>
                              <p:par>
                                <p:cTn id="165" presetID="9" presetClass="exit" presetSubtype="0" fill="hold" grpId="0" nodeType="withEffect">
                                  <p:stCondLst>
                                    <p:cond delay="0"/>
                                  </p:stCondLst>
                                  <p:childTnLst>
                                    <p:animEffect transition="out" filter="dissolve">
                                      <p:cBhvr>
                                        <p:cTn id="166" dur="500"/>
                                        <p:tgtEl>
                                          <p:spTgt spid="158"/>
                                        </p:tgtEl>
                                      </p:cBhvr>
                                    </p:animEffect>
                                    <p:set>
                                      <p:cBhvr>
                                        <p:cTn id="167" dur="1" fill="hold">
                                          <p:stCondLst>
                                            <p:cond delay="499"/>
                                          </p:stCondLst>
                                        </p:cTn>
                                        <p:tgtEl>
                                          <p:spTgt spid="158"/>
                                        </p:tgtEl>
                                        <p:attrNameLst>
                                          <p:attrName>style.visibility</p:attrName>
                                        </p:attrNameLst>
                                      </p:cBhvr>
                                      <p:to>
                                        <p:strVal val="hidden"/>
                                      </p:to>
                                    </p:set>
                                  </p:childTnLst>
                                </p:cTn>
                              </p:par>
                              <p:par>
                                <p:cTn id="168" presetID="9" presetClass="exit" presetSubtype="0" fill="hold" grpId="0" nodeType="withEffect">
                                  <p:stCondLst>
                                    <p:cond delay="0"/>
                                  </p:stCondLst>
                                  <p:childTnLst>
                                    <p:animEffect transition="out" filter="dissolve">
                                      <p:cBhvr>
                                        <p:cTn id="169" dur="500"/>
                                        <p:tgtEl>
                                          <p:spTgt spid="159"/>
                                        </p:tgtEl>
                                      </p:cBhvr>
                                    </p:animEffect>
                                    <p:set>
                                      <p:cBhvr>
                                        <p:cTn id="170" dur="1" fill="hold">
                                          <p:stCondLst>
                                            <p:cond delay="499"/>
                                          </p:stCondLst>
                                        </p:cTn>
                                        <p:tgtEl>
                                          <p:spTgt spid="159"/>
                                        </p:tgtEl>
                                        <p:attrNameLst>
                                          <p:attrName>style.visibility</p:attrName>
                                        </p:attrNameLst>
                                      </p:cBhvr>
                                      <p:to>
                                        <p:strVal val="hidden"/>
                                      </p:to>
                                    </p:set>
                                  </p:childTnLst>
                                </p:cTn>
                              </p:par>
                              <p:par>
                                <p:cTn id="171" presetID="9" presetClass="exit" presetSubtype="0" fill="hold" grpId="0" nodeType="withEffect">
                                  <p:stCondLst>
                                    <p:cond delay="0"/>
                                  </p:stCondLst>
                                  <p:childTnLst>
                                    <p:animEffect transition="out" filter="dissolve">
                                      <p:cBhvr>
                                        <p:cTn id="172" dur="500"/>
                                        <p:tgtEl>
                                          <p:spTgt spid="160"/>
                                        </p:tgtEl>
                                      </p:cBhvr>
                                    </p:animEffect>
                                    <p:set>
                                      <p:cBhvr>
                                        <p:cTn id="173" dur="1" fill="hold">
                                          <p:stCondLst>
                                            <p:cond delay="499"/>
                                          </p:stCondLst>
                                        </p:cTn>
                                        <p:tgtEl>
                                          <p:spTgt spid="160"/>
                                        </p:tgtEl>
                                        <p:attrNameLst>
                                          <p:attrName>style.visibility</p:attrName>
                                        </p:attrNameLst>
                                      </p:cBhvr>
                                      <p:to>
                                        <p:strVal val="hidden"/>
                                      </p:to>
                                    </p:set>
                                  </p:childTnLst>
                                </p:cTn>
                              </p:par>
                              <p:par>
                                <p:cTn id="174" presetID="9" presetClass="exit" presetSubtype="0" fill="hold" grpId="0" nodeType="withEffect">
                                  <p:stCondLst>
                                    <p:cond delay="0"/>
                                  </p:stCondLst>
                                  <p:childTnLst>
                                    <p:animEffect transition="out" filter="dissolve">
                                      <p:cBhvr>
                                        <p:cTn id="175" dur="500"/>
                                        <p:tgtEl>
                                          <p:spTgt spid="161"/>
                                        </p:tgtEl>
                                      </p:cBhvr>
                                    </p:animEffect>
                                    <p:set>
                                      <p:cBhvr>
                                        <p:cTn id="176" dur="1" fill="hold">
                                          <p:stCondLst>
                                            <p:cond delay="499"/>
                                          </p:stCondLst>
                                        </p:cTn>
                                        <p:tgtEl>
                                          <p:spTgt spid="161"/>
                                        </p:tgtEl>
                                        <p:attrNameLst>
                                          <p:attrName>style.visibility</p:attrName>
                                        </p:attrNameLst>
                                      </p:cBhvr>
                                      <p:to>
                                        <p:strVal val="hidden"/>
                                      </p:to>
                                    </p:set>
                                  </p:childTnLst>
                                </p:cTn>
                              </p:par>
                              <p:par>
                                <p:cTn id="177" presetID="9" presetClass="exit" presetSubtype="0" fill="hold" grpId="0" nodeType="withEffect">
                                  <p:stCondLst>
                                    <p:cond delay="0"/>
                                  </p:stCondLst>
                                  <p:childTnLst>
                                    <p:animEffect transition="out" filter="dissolve">
                                      <p:cBhvr>
                                        <p:cTn id="178" dur="500"/>
                                        <p:tgtEl>
                                          <p:spTgt spid="162"/>
                                        </p:tgtEl>
                                      </p:cBhvr>
                                    </p:animEffect>
                                    <p:set>
                                      <p:cBhvr>
                                        <p:cTn id="179" dur="1" fill="hold">
                                          <p:stCondLst>
                                            <p:cond delay="499"/>
                                          </p:stCondLst>
                                        </p:cTn>
                                        <p:tgtEl>
                                          <p:spTgt spid="162"/>
                                        </p:tgtEl>
                                        <p:attrNameLst>
                                          <p:attrName>style.visibility</p:attrName>
                                        </p:attrNameLst>
                                      </p:cBhvr>
                                      <p:to>
                                        <p:strVal val="hidden"/>
                                      </p:to>
                                    </p:set>
                                  </p:childTnLst>
                                </p:cTn>
                              </p:par>
                              <p:par>
                                <p:cTn id="180" presetID="9" presetClass="exit" presetSubtype="0" fill="hold" grpId="0" nodeType="withEffect">
                                  <p:stCondLst>
                                    <p:cond delay="0"/>
                                  </p:stCondLst>
                                  <p:childTnLst>
                                    <p:animEffect transition="out" filter="dissolve">
                                      <p:cBhvr>
                                        <p:cTn id="181" dur="500"/>
                                        <p:tgtEl>
                                          <p:spTgt spid="163"/>
                                        </p:tgtEl>
                                      </p:cBhvr>
                                    </p:animEffect>
                                    <p:set>
                                      <p:cBhvr>
                                        <p:cTn id="182" dur="1" fill="hold">
                                          <p:stCondLst>
                                            <p:cond delay="499"/>
                                          </p:stCondLst>
                                        </p:cTn>
                                        <p:tgtEl>
                                          <p:spTgt spid="163"/>
                                        </p:tgtEl>
                                        <p:attrNameLst>
                                          <p:attrName>style.visibility</p:attrName>
                                        </p:attrNameLst>
                                      </p:cBhvr>
                                      <p:to>
                                        <p:strVal val="hidden"/>
                                      </p:to>
                                    </p:set>
                                  </p:childTnLst>
                                </p:cTn>
                              </p:par>
                              <p:par>
                                <p:cTn id="183" presetID="9" presetClass="exit" presetSubtype="0" fill="hold" grpId="0" nodeType="withEffect">
                                  <p:stCondLst>
                                    <p:cond delay="0"/>
                                  </p:stCondLst>
                                  <p:childTnLst>
                                    <p:animEffect transition="out" filter="dissolve">
                                      <p:cBhvr>
                                        <p:cTn id="184" dur="500"/>
                                        <p:tgtEl>
                                          <p:spTgt spid="164"/>
                                        </p:tgtEl>
                                      </p:cBhvr>
                                    </p:animEffect>
                                    <p:set>
                                      <p:cBhvr>
                                        <p:cTn id="185" dur="1" fill="hold">
                                          <p:stCondLst>
                                            <p:cond delay="499"/>
                                          </p:stCondLst>
                                        </p:cTn>
                                        <p:tgtEl>
                                          <p:spTgt spid="164"/>
                                        </p:tgtEl>
                                        <p:attrNameLst>
                                          <p:attrName>style.visibility</p:attrName>
                                        </p:attrNameLst>
                                      </p:cBhvr>
                                      <p:to>
                                        <p:strVal val="hidden"/>
                                      </p:to>
                                    </p:set>
                                  </p:childTnLst>
                                </p:cTn>
                              </p:par>
                              <p:par>
                                <p:cTn id="186" presetID="9" presetClass="exit" presetSubtype="0" fill="hold" grpId="0" nodeType="withEffect">
                                  <p:stCondLst>
                                    <p:cond delay="0"/>
                                  </p:stCondLst>
                                  <p:childTnLst>
                                    <p:animEffect transition="out" filter="dissolve">
                                      <p:cBhvr>
                                        <p:cTn id="187" dur="500"/>
                                        <p:tgtEl>
                                          <p:spTgt spid="165"/>
                                        </p:tgtEl>
                                      </p:cBhvr>
                                    </p:animEffect>
                                    <p:set>
                                      <p:cBhvr>
                                        <p:cTn id="188" dur="1" fill="hold">
                                          <p:stCondLst>
                                            <p:cond delay="499"/>
                                          </p:stCondLst>
                                        </p:cTn>
                                        <p:tgtEl>
                                          <p:spTgt spid="165"/>
                                        </p:tgtEl>
                                        <p:attrNameLst>
                                          <p:attrName>style.visibility</p:attrName>
                                        </p:attrNameLst>
                                      </p:cBhvr>
                                      <p:to>
                                        <p:strVal val="hidden"/>
                                      </p:to>
                                    </p:set>
                                  </p:childTnLst>
                                </p:cTn>
                              </p:par>
                              <p:par>
                                <p:cTn id="189" presetID="9" presetClass="exit" presetSubtype="0" fill="hold" grpId="0" nodeType="withEffect">
                                  <p:stCondLst>
                                    <p:cond delay="0"/>
                                  </p:stCondLst>
                                  <p:childTnLst>
                                    <p:animEffect transition="out" filter="dissolve">
                                      <p:cBhvr>
                                        <p:cTn id="190" dur="500"/>
                                        <p:tgtEl>
                                          <p:spTgt spid="166"/>
                                        </p:tgtEl>
                                      </p:cBhvr>
                                    </p:animEffect>
                                    <p:set>
                                      <p:cBhvr>
                                        <p:cTn id="191" dur="1" fill="hold">
                                          <p:stCondLst>
                                            <p:cond delay="499"/>
                                          </p:stCondLst>
                                        </p:cTn>
                                        <p:tgtEl>
                                          <p:spTgt spid="166"/>
                                        </p:tgtEl>
                                        <p:attrNameLst>
                                          <p:attrName>style.visibility</p:attrName>
                                        </p:attrNameLst>
                                      </p:cBhvr>
                                      <p:to>
                                        <p:strVal val="hidden"/>
                                      </p:to>
                                    </p:set>
                                  </p:childTnLst>
                                </p:cTn>
                              </p:par>
                              <p:par>
                                <p:cTn id="192" presetID="9" presetClass="exit" presetSubtype="0" fill="hold" grpId="0" nodeType="withEffect">
                                  <p:stCondLst>
                                    <p:cond delay="0"/>
                                  </p:stCondLst>
                                  <p:childTnLst>
                                    <p:animEffect transition="out" filter="dissolve">
                                      <p:cBhvr>
                                        <p:cTn id="193" dur="500"/>
                                        <p:tgtEl>
                                          <p:spTgt spid="167"/>
                                        </p:tgtEl>
                                      </p:cBhvr>
                                    </p:animEffect>
                                    <p:set>
                                      <p:cBhvr>
                                        <p:cTn id="194" dur="1" fill="hold">
                                          <p:stCondLst>
                                            <p:cond delay="499"/>
                                          </p:stCondLst>
                                        </p:cTn>
                                        <p:tgtEl>
                                          <p:spTgt spid="167"/>
                                        </p:tgtEl>
                                        <p:attrNameLst>
                                          <p:attrName>style.visibility</p:attrName>
                                        </p:attrNameLst>
                                      </p:cBhvr>
                                      <p:to>
                                        <p:strVal val="hidden"/>
                                      </p:to>
                                    </p:set>
                                  </p:childTnLst>
                                </p:cTn>
                              </p:par>
                              <p:par>
                                <p:cTn id="195" presetID="9" presetClass="exit" presetSubtype="0" fill="hold" grpId="0" nodeType="withEffect">
                                  <p:stCondLst>
                                    <p:cond delay="0"/>
                                  </p:stCondLst>
                                  <p:childTnLst>
                                    <p:animEffect transition="out" filter="dissolve">
                                      <p:cBhvr>
                                        <p:cTn id="196" dur="500"/>
                                        <p:tgtEl>
                                          <p:spTgt spid="168"/>
                                        </p:tgtEl>
                                      </p:cBhvr>
                                    </p:animEffect>
                                    <p:set>
                                      <p:cBhvr>
                                        <p:cTn id="197" dur="1" fill="hold">
                                          <p:stCondLst>
                                            <p:cond delay="499"/>
                                          </p:stCondLst>
                                        </p:cTn>
                                        <p:tgtEl>
                                          <p:spTgt spid="168"/>
                                        </p:tgtEl>
                                        <p:attrNameLst>
                                          <p:attrName>style.visibility</p:attrName>
                                        </p:attrNameLst>
                                      </p:cBhvr>
                                      <p:to>
                                        <p:strVal val="hidden"/>
                                      </p:to>
                                    </p:set>
                                  </p:childTnLst>
                                </p:cTn>
                              </p:par>
                              <p:par>
                                <p:cTn id="198" presetID="9" presetClass="exit" presetSubtype="0" fill="hold" grpId="0" nodeType="withEffect">
                                  <p:stCondLst>
                                    <p:cond delay="0"/>
                                  </p:stCondLst>
                                  <p:childTnLst>
                                    <p:animEffect transition="out" filter="dissolve">
                                      <p:cBhvr>
                                        <p:cTn id="199" dur="500"/>
                                        <p:tgtEl>
                                          <p:spTgt spid="169"/>
                                        </p:tgtEl>
                                      </p:cBhvr>
                                    </p:animEffect>
                                    <p:set>
                                      <p:cBhvr>
                                        <p:cTn id="200" dur="1" fill="hold">
                                          <p:stCondLst>
                                            <p:cond delay="499"/>
                                          </p:stCondLst>
                                        </p:cTn>
                                        <p:tgtEl>
                                          <p:spTgt spid="169"/>
                                        </p:tgtEl>
                                        <p:attrNameLst>
                                          <p:attrName>style.visibility</p:attrName>
                                        </p:attrNameLst>
                                      </p:cBhvr>
                                      <p:to>
                                        <p:strVal val="hidden"/>
                                      </p:to>
                                    </p:set>
                                  </p:childTnLst>
                                </p:cTn>
                              </p:par>
                              <p:par>
                                <p:cTn id="201" presetID="9" presetClass="exit" presetSubtype="0" fill="hold" grpId="0" nodeType="withEffect">
                                  <p:stCondLst>
                                    <p:cond delay="0"/>
                                  </p:stCondLst>
                                  <p:childTnLst>
                                    <p:animEffect transition="out" filter="dissolve">
                                      <p:cBhvr>
                                        <p:cTn id="202" dur="500"/>
                                        <p:tgtEl>
                                          <p:spTgt spid="170"/>
                                        </p:tgtEl>
                                      </p:cBhvr>
                                    </p:animEffect>
                                    <p:set>
                                      <p:cBhvr>
                                        <p:cTn id="203" dur="1" fill="hold">
                                          <p:stCondLst>
                                            <p:cond delay="499"/>
                                          </p:stCondLst>
                                        </p:cTn>
                                        <p:tgtEl>
                                          <p:spTgt spid="170"/>
                                        </p:tgtEl>
                                        <p:attrNameLst>
                                          <p:attrName>style.visibility</p:attrName>
                                        </p:attrNameLst>
                                      </p:cBhvr>
                                      <p:to>
                                        <p:strVal val="hidden"/>
                                      </p:to>
                                    </p:set>
                                  </p:childTnLst>
                                </p:cTn>
                              </p:par>
                              <p:par>
                                <p:cTn id="204" presetID="9" presetClass="exit" presetSubtype="0" fill="hold" grpId="0" nodeType="withEffect">
                                  <p:stCondLst>
                                    <p:cond delay="0"/>
                                  </p:stCondLst>
                                  <p:childTnLst>
                                    <p:animEffect transition="out" filter="dissolve">
                                      <p:cBhvr>
                                        <p:cTn id="205" dur="500"/>
                                        <p:tgtEl>
                                          <p:spTgt spid="171"/>
                                        </p:tgtEl>
                                      </p:cBhvr>
                                    </p:animEffect>
                                    <p:set>
                                      <p:cBhvr>
                                        <p:cTn id="206" dur="1" fill="hold">
                                          <p:stCondLst>
                                            <p:cond delay="499"/>
                                          </p:stCondLst>
                                        </p:cTn>
                                        <p:tgtEl>
                                          <p:spTgt spid="171"/>
                                        </p:tgtEl>
                                        <p:attrNameLst>
                                          <p:attrName>style.visibility</p:attrName>
                                        </p:attrNameLst>
                                      </p:cBhvr>
                                      <p:to>
                                        <p:strVal val="hidden"/>
                                      </p:to>
                                    </p:set>
                                  </p:childTnLst>
                                </p:cTn>
                              </p:par>
                              <p:par>
                                <p:cTn id="207" presetID="9" presetClass="exit" presetSubtype="0" fill="hold" grpId="0" nodeType="withEffect">
                                  <p:stCondLst>
                                    <p:cond delay="0"/>
                                  </p:stCondLst>
                                  <p:childTnLst>
                                    <p:animEffect transition="out" filter="dissolve">
                                      <p:cBhvr>
                                        <p:cTn id="208" dur="500"/>
                                        <p:tgtEl>
                                          <p:spTgt spid="172"/>
                                        </p:tgtEl>
                                      </p:cBhvr>
                                    </p:animEffect>
                                    <p:set>
                                      <p:cBhvr>
                                        <p:cTn id="209" dur="1" fill="hold">
                                          <p:stCondLst>
                                            <p:cond delay="499"/>
                                          </p:stCondLst>
                                        </p:cTn>
                                        <p:tgtEl>
                                          <p:spTgt spid="172"/>
                                        </p:tgtEl>
                                        <p:attrNameLst>
                                          <p:attrName>style.visibility</p:attrName>
                                        </p:attrNameLst>
                                      </p:cBhvr>
                                      <p:to>
                                        <p:strVal val="hidden"/>
                                      </p:to>
                                    </p:set>
                                  </p:childTnLst>
                                </p:cTn>
                              </p:par>
                              <p:par>
                                <p:cTn id="210" presetID="9" presetClass="exit" presetSubtype="0" fill="hold" grpId="0" nodeType="withEffect">
                                  <p:stCondLst>
                                    <p:cond delay="0"/>
                                  </p:stCondLst>
                                  <p:childTnLst>
                                    <p:animEffect transition="out" filter="dissolve">
                                      <p:cBhvr>
                                        <p:cTn id="211" dur="500"/>
                                        <p:tgtEl>
                                          <p:spTgt spid="173"/>
                                        </p:tgtEl>
                                      </p:cBhvr>
                                    </p:animEffect>
                                    <p:set>
                                      <p:cBhvr>
                                        <p:cTn id="212" dur="1" fill="hold">
                                          <p:stCondLst>
                                            <p:cond delay="499"/>
                                          </p:stCondLst>
                                        </p:cTn>
                                        <p:tgtEl>
                                          <p:spTgt spid="173"/>
                                        </p:tgtEl>
                                        <p:attrNameLst>
                                          <p:attrName>style.visibility</p:attrName>
                                        </p:attrNameLst>
                                      </p:cBhvr>
                                      <p:to>
                                        <p:strVal val="hidden"/>
                                      </p:to>
                                    </p:set>
                                  </p:childTnLst>
                                </p:cTn>
                              </p:par>
                              <p:par>
                                <p:cTn id="213" presetID="9" presetClass="exit" presetSubtype="0" fill="hold" grpId="0" nodeType="withEffect">
                                  <p:stCondLst>
                                    <p:cond delay="0"/>
                                  </p:stCondLst>
                                  <p:childTnLst>
                                    <p:animEffect transition="out" filter="dissolve">
                                      <p:cBhvr>
                                        <p:cTn id="214" dur="500"/>
                                        <p:tgtEl>
                                          <p:spTgt spid="174"/>
                                        </p:tgtEl>
                                      </p:cBhvr>
                                    </p:animEffect>
                                    <p:set>
                                      <p:cBhvr>
                                        <p:cTn id="215" dur="1" fill="hold">
                                          <p:stCondLst>
                                            <p:cond delay="499"/>
                                          </p:stCondLst>
                                        </p:cTn>
                                        <p:tgtEl>
                                          <p:spTgt spid="174"/>
                                        </p:tgtEl>
                                        <p:attrNameLst>
                                          <p:attrName>style.visibility</p:attrName>
                                        </p:attrNameLst>
                                      </p:cBhvr>
                                      <p:to>
                                        <p:strVal val="hidden"/>
                                      </p:to>
                                    </p:set>
                                  </p:childTnLst>
                                </p:cTn>
                              </p:par>
                              <p:par>
                                <p:cTn id="216" presetID="9" presetClass="exit" presetSubtype="0" fill="hold" grpId="0" nodeType="withEffect">
                                  <p:stCondLst>
                                    <p:cond delay="0"/>
                                  </p:stCondLst>
                                  <p:childTnLst>
                                    <p:animEffect transition="out" filter="dissolve">
                                      <p:cBhvr>
                                        <p:cTn id="217" dur="500"/>
                                        <p:tgtEl>
                                          <p:spTgt spid="175"/>
                                        </p:tgtEl>
                                      </p:cBhvr>
                                    </p:animEffect>
                                    <p:set>
                                      <p:cBhvr>
                                        <p:cTn id="218" dur="1" fill="hold">
                                          <p:stCondLst>
                                            <p:cond delay="499"/>
                                          </p:stCondLst>
                                        </p:cTn>
                                        <p:tgtEl>
                                          <p:spTgt spid="175"/>
                                        </p:tgtEl>
                                        <p:attrNameLst>
                                          <p:attrName>style.visibility</p:attrName>
                                        </p:attrNameLst>
                                      </p:cBhvr>
                                      <p:to>
                                        <p:strVal val="hidden"/>
                                      </p:to>
                                    </p:set>
                                  </p:childTnLst>
                                </p:cTn>
                              </p:par>
                              <p:par>
                                <p:cTn id="219" presetID="9" presetClass="exit" presetSubtype="0" fill="hold" grpId="0" nodeType="withEffect">
                                  <p:stCondLst>
                                    <p:cond delay="0"/>
                                  </p:stCondLst>
                                  <p:childTnLst>
                                    <p:animEffect transition="out" filter="dissolve">
                                      <p:cBhvr>
                                        <p:cTn id="220" dur="500"/>
                                        <p:tgtEl>
                                          <p:spTgt spid="176"/>
                                        </p:tgtEl>
                                      </p:cBhvr>
                                    </p:animEffect>
                                    <p:set>
                                      <p:cBhvr>
                                        <p:cTn id="221" dur="1" fill="hold">
                                          <p:stCondLst>
                                            <p:cond delay="499"/>
                                          </p:stCondLst>
                                        </p:cTn>
                                        <p:tgtEl>
                                          <p:spTgt spid="176"/>
                                        </p:tgtEl>
                                        <p:attrNameLst>
                                          <p:attrName>style.visibility</p:attrName>
                                        </p:attrNameLst>
                                      </p:cBhvr>
                                      <p:to>
                                        <p:strVal val="hidden"/>
                                      </p:to>
                                    </p:set>
                                  </p:childTnLst>
                                </p:cTn>
                              </p:par>
                              <p:par>
                                <p:cTn id="222" presetID="9" presetClass="exit" presetSubtype="0" fill="hold" grpId="0" nodeType="withEffect">
                                  <p:stCondLst>
                                    <p:cond delay="0"/>
                                  </p:stCondLst>
                                  <p:childTnLst>
                                    <p:animEffect transition="out" filter="dissolve">
                                      <p:cBhvr>
                                        <p:cTn id="223" dur="500"/>
                                        <p:tgtEl>
                                          <p:spTgt spid="177"/>
                                        </p:tgtEl>
                                      </p:cBhvr>
                                    </p:animEffect>
                                    <p:set>
                                      <p:cBhvr>
                                        <p:cTn id="224" dur="1" fill="hold">
                                          <p:stCondLst>
                                            <p:cond delay="499"/>
                                          </p:stCondLst>
                                        </p:cTn>
                                        <p:tgtEl>
                                          <p:spTgt spid="177"/>
                                        </p:tgtEl>
                                        <p:attrNameLst>
                                          <p:attrName>style.visibility</p:attrName>
                                        </p:attrNameLst>
                                      </p:cBhvr>
                                      <p:to>
                                        <p:strVal val="hidden"/>
                                      </p:to>
                                    </p:set>
                                  </p:childTnLst>
                                </p:cTn>
                              </p:par>
                              <p:par>
                                <p:cTn id="225" presetID="9" presetClass="exit" presetSubtype="0" fill="hold" grpId="0" nodeType="withEffect">
                                  <p:stCondLst>
                                    <p:cond delay="0"/>
                                  </p:stCondLst>
                                  <p:childTnLst>
                                    <p:animEffect transition="out" filter="dissolve">
                                      <p:cBhvr>
                                        <p:cTn id="226" dur="500"/>
                                        <p:tgtEl>
                                          <p:spTgt spid="178"/>
                                        </p:tgtEl>
                                      </p:cBhvr>
                                    </p:animEffect>
                                    <p:set>
                                      <p:cBhvr>
                                        <p:cTn id="227" dur="1" fill="hold">
                                          <p:stCondLst>
                                            <p:cond delay="499"/>
                                          </p:stCondLst>
                                        </p:cTn>
                                        <p:tgtEl>
                                          <p:spTgt spid="178"/>
                                        </p:tgtEl>
                                        <p:attrNameLst>
                                          <p:attrName>style.visibility</p:attrName>
                                        </p:attrNameLst>
                                      </p:cBhvr>
                                      <p:to>
                                        <p:strVal val="hidden"/>
                                      </p:to>
                                    </p:set>
                                  </p:childTnLst>
                                </p:cTn>
                              </p:par>
                              <p:par>
                                <p:cTn id="228" presetID="9" presetClass="exit" presetSubtype="0" fill="hold" grpId="0" nodeType="withEffect">
                                  <p:stCondLst>
                                    <p:cond delay="0"/>
                                  </p:stCondLst>
                                  <p:childTnLst>
                                    <p:animEffect transition="out" filter="dissolve">
                                      <p:cBhvr>
                                        <p:cTn id="229" dur="500"/>
                                        <p:tgtEl>
                                          <p:spTgt spid="179"/>
                                        </p:tgtEl>
                                      </p:cBhvr>
                                    </p:animEffect>
                                    <p:set>
                                      <p:cBhvr>
                                        <p:cTn id="230" dur="1" fill="hold">
                                          <p:stCondLst>
                                            <p:cond delay="499"/>
                                          </p:stCondLst>
                                        </p:cTn>
                                        <p:tgtEl>
                                          <p:spTgt spid="179"/>
                                        </p:tgtEl>
                                        <p:attrNameLst>
                                          <p:attrName>style.visibility</p:attrName>
                                        </p:attrNameLst>
                                      </p:cBhvr>
                                      <p:to>
                                        <p:strVal val="hidden"/>
                                      </p:to>
                                    </p:set>
                                  </p:childTnLst>
                                </p:cTn>
                              </p:par>
                              <p:par>
                                <p:cTn id="231" presetID="9" presetClass="exit" presetSubtype="0" fill="hold" grpId="0" nodeType="withEffect">
                                  <p:stCondLst>
                                    <p:cond delay="0"/>
                                  </p:stCondLst>
                                  <p:childTnLst>
                                    <p:animEffect transition="out" filter="dissolve">
                                      <p:cBhvr>
                                        <p:cTn id="232" dur="500"/>
                                        <p:tgtEl>
                                          <p:spTgt spid="180"/>
                                        </p:tgtEl>
                                      </p:cBhvr>
                                    </p:animEffect>
                                    <p:set>
                                      <p:cBhvr>
                                        <p:cTn id="233" dur="1" fill="hold">
                                          <p:stCondLst>
                                            <p:cond delay="499"/>
                                          </p:stCondLst>
                                        </p:cTn>
                                        <p:tgtEl>
                                          <p:spTgt spid="180"/>
                                        </p:tgtEl>
                                        <p:attrNameLst>
                                          <p:attrName>style.visibility</p:attrName>
                                        </p:attrNameLst>
                                      </p:cBhvr>
                                      <p:to>
                                        <p:strVal val="hidden"/>
                                      </p:to>
                                    </p:set>
                                  </p:childTnLst>
                                </p:cTn>
                              </p:par>
                              <p:par>
                                <p:cTn id="234" presetID="9" presetClass="exit" presetSubtype="0" fill="hold" grpId="0" nodeType="withEffect">
                                  <p:stCondLst>
                                    <p:cond delay="0"/>
                                  </p:stCondLst>
                                  <p:childTnLst>
                                    <p:animEffect transition="out" filter="dissolve">
                                      <p:cBhvr>
                                        <p:cTn id="235" dur="500"/>
                                        <p:tgtEl>
                                          <p:spTgt spid="181"/>
                                        </p:tgtEl>
                                      </p:cBhvr>
                                    </p:animEffect>
                                    <p:set>
                                      <p:cBhvr>
                                        <p:cTn id="236" dur="1" fill="hold">
                                          <p:stCondLst>
                                            <p:cond delay="499"/>
                                          </p:stCondLst>
                                        </p:cTn>
                                        <p:tgtEl>
                                          <p:spTgt spid="181"/>
                                        </p:tgtEl>
                                        <p:attrNameLst>
                                          <p:attrName>style.visibility</p:attrName>
                                        </p:attrNameLst>
                                      </p:cBhvr>
                                      <p:to>
                                        <p:strVal val="hidden"/>
                                      </p:to>
                                    </p:set>
                                  </p:childTnLst>
                                </p:cTn>
                              </p:par>
                              <p:par>
                                <p:cTn id="237" presetID="9" presetClass="exit" presetSubtype="0" fill="hold" grpId="0" nodeType="withEffect">
                                  <p:stCondLst>
                                    <p:cond delay="0"/>
                                  </p:stCondLst>
                                  <p:childTnLst>
                                    <p:animEffect transition="out" filter="dissolve">
                                      <p:cBhvr>
                                        <p:cTn id="238" dur="500"/>
                                        <p:tgtEl>
                                          <p:spTgt spid="182"/>
                                        </p:tgtEl>
                                      </p:cBhvr>
                                    </p:animEffect>
                                    <p:set>
                                      <p:cBhvr>
                                        <p:cTn id="239" dur="1" fill="hold">
                                          <p:stCondLst>
                                            <p:cond delay="499"/>
                                          </p:stCondLst>
                                        </p:cTn>
                                        <p:tgtEl>
                                          <p:spTgt spid="182"/>
                                        </p:tgtEl>
                                        <p:attrNameLst>
                                          <p:attrName>style.visibility</p:attrName>
                                        </p:attrNameLst>
                                      </p:cBhvr>
                                      <p:to>
                                        <p:strVal val="hidden"/>
                                      </p:to>
                                    </p:set>
                                  </p:childTnLst>
                                </p:cTn>
                              </p:par>
                              <p:par>
                                <p:cTn id="240" presetID="9" presetClass="exit" presetSubtype="0" fill="hold" grpId="0" nodeType="withEffect">
                                  <p:stCondLst>
                                    <p:cond delay="0"/>
                                  </p:stCondLst>
                                  <p:childTnLst>
                                    <p:animEffect transition="out" filter="dissolve">
                                      <p:cBhvr>
                                        <p:cTn id="241" dur="500"/>
                                        <p:tgtEl>
                                          <p:spTgt spid="183"/>
                                        </p:tgtEl>
                                      </p:cBhvr>
                                    </p:animEffect>
                                    <p:set>
                                      <p:cBhvr>
                                        <p:cTn id="242" dur="1" fill="hold">
                                          <p:stCondLst>
                                            <p:cond delay="499"/>
                                          </p:stCondLst>
                                        </p:cTn>
                                        <p:tgtEl>
                                          <p:spTgt spid="183"/>
                                        </p:tgtEl>
                                        <p:attrNameLst>
                                          <p:attrName>style.visibility</p:attrName>
                                        </p:attrNameLst>
                                      </p:cBhvr>
                                      <p:to>
                                        <p:strVal val="hidden"/>
                                      </p:to>
                                    </p:set>
                                  </p:childTnLst>
                                </p:cTn>
                              </p:par>
                              <p:par>
                                <p:cTn id="243" presetID="9" presetClass="exit" presetSubtype="0" fill="hold" grpId="0" nodeType="withEffect">
                                  <p:stCondLst>
                                    <p:cond delay="0"/>
                                  </p:stCondLst>
                                  <p:childTnLst>
                                    <p:animEffect transition="out" filter="dissolve">
                                      <p:cBhvr>
                                        <p:cTn id="244" dur="500"/>
                                        <p:tgtEl>
                                          <p:spTgt spid="184"/>
                                        </p:tgtEl>
                                      </p:cBhvr>
                                    </p:animEffect>
                                    <p:set>
                                      <p:cBhvr>
                                        <p:cTn id="245" dur="1" fill="hold">
                                          <p:stCondLst>
                                            <p:cond delay="499"/>
                                          </p:stCondLst>
                                        </p:cTn>
                                        <p:tgtEl>
                                          <p:spTgt spid="184"/>
                                        </p:tgtEl>
                                        <p:attrNameLst>
                                          <p:attrName>style.visibility</p:attrName>
                                        </p:attrNameLst>
                                      </p:cBhvr>
                                      <p:to>
                                        <p:strVal val="hidden"/>
                                      </p:to>
                                    </p:set>
                                  </p:childTnLst>
                                </p:cTn>
                              </p:par>
                              <p:par>
                                <p:cTn id="246" presetID="9" presetClass="exit" presetSubtype="0" fill="hold" grpId="0" nodeType="withEffect">
                                  <p:stCondLst>
                                    <p:cond delay="0"/>
                                  </p:stCondLst>
                                  <p:childTnLst>
                                    <p:animEffect transition="out" filter="dissolve">
                                      <p:cBhvr>
                                        <p:cTn id="247" dur="500"/>
                                        <p:tgtEl>
                                          <p:spTgt spid="185"/>
                                        </p:tgtEl>
                                      </p:cBhvr>
                                    </p:animEffect>
                                    <p:set>
                                      <p:cBhvr>
                                        <p:cTn id="248" dur="1" fill="hold">
                                          <p:stCondLst>
                                            <p:cond delay="499"/>
                                          </p:stCondLst>
                                        </p:cTn>
                                        <p:tgtEl>
                                          <p:spTgt spid="185"/>
                                        </p:tgtEl>
                                        <p:attrNameLst>
                                          <p:attrName>style.visibility</p:attrName>
                                        </p:attrNameLst>
                                      </p:cBhvr>
                                      <p:to>
                                        <p:strVal val="hidden"/>
                                      </p:to>
                                    </p:set>
                                  </p:childTnLst>
                                </p:cTn>
                              </p:par>
                              <p:par>
                                <p:cTn id="249" presetID="9" presetClass="exit" presetSubtype="0" fill="hold" grpId="0" nodeType="withEffect">
                                  <p:stCondLst>
                                    <p:cond delay="0"/>
                                  </p:stCondLst>
                                  <p:childTnLst>
                                    <p:animEffect transition="out" filter="dissolve">
                                      <p:cBhvr>
                                        <p:cTn id="250" dur="500"/>
                                        <p:tgtEl>
                                          <p:spTgt spid="186"/>
                                        </p:tgtEl>
                                      </p:cBhvr>
                                    </p:animEffect>
                                    <p:set>
                                      <p:cBhvr>
                                        <p:cTn id="251" dur="1" fill="hold">
                                          <p:stCondLst>
                                            <p:cond delay="499"/>
                                          </p:stCondLst>
                                        </p:cTn>
                                        <p:tgtEl>
                                          <p:spTgt spid="186"/>
                                        </p:tgtEl>
                                        <p:attrNameLst>
                                          <p:attrName>style.visibility</p:attrName>
                                        </p:attrNameLst>
                                      </p:cBhvr>
                                      <p:to>
                                        <p:strVal val="hidden"/>
                                      </p:to>
                                    </p:set>
                                  </p:childTnLst>
                                </p:cTn>
                              </p:par>
                              <p:par>
                                <p:cTn id="252" presetID="9" presetClass="exit" presetSubtype="0" fill="hold" grpId="0" nodeType="withEffect">
                                  <p:stCondLst>
                                    <p:cond delay="0"/>
                                  </p:stCondLst>
                                  <p:childTnLst>
                                    <p:animEffect transition="out" filter="dissolve">
                                      <p:cBhvr>
                                        <p:cTn id="253" dur="500"/>
                                        <p:tgtEl>
                                          <p:spTgt spid="187"/>
                                        </p:tgtEl>
                                      </p:cBhvr>
                                    </p:animEffect>
                                    <p:set>
                                      <p:cBhvr>
                                        <p:cTn id="254" dur="1" fill="hold">
                                          <p:stCondLst>
                                            <p:cond delay="499"/>
                                          </p:stCondLst>
                                        </p:cTn>
                                        <p:tgtEl>
                                          <p:spTgt spid="187"/>
                                        </p:tgtEl>
                                        <p:attrNameLst>
                                          <p:attrName>style.visibility</p:attrName>
                                        </p:attrNameLst>
                                      </p:cBhvr>
                                      <p:to>
                                        <p:strVal val="hidden"/>
                                      </p:to>
                                    </p:set>
                                  </p:childTnLst>
                                </p:cTn>
                              </p:par>
                              <p:par>
                                <p:cTn id="255" presetID="9" presetClass="exit" presetSubtype="0" fill="hold" grpId="0" nodeType="withEffect">
                                  <p:stCondLst>
                                    <p:cond delay="0"/>
                                  </p:stCondLst>
                                  <p:childTnLst>
                                    <p:animEffect transition="out" filter="dissolve">
                                      <p:cBhvr>
                                        <p:cTn id="256" dur="500"/>
                                        <p:tgtEl>
                                          <p:spTgt spid="188"/>
                                        </p:tgtEl>
                                      </p:cBhvr>
                                    </p:animEffect>
                                    <p:set>
                                      <p:cBhvr>
                                        <p:cTn id="257" dur="1" fill="hold">
                                          <p:stCondLst>
                                            <p:cond delay="499"/>
                                          </p:stCondLst>
                                        </p:cTn>
                                        <p:tgtEl>
                                          <p:spTgt spid="188"/>
                                        </p:tgtEl>
                                        <p:attrNameLst>
                                          <p:attrName>style.visibility</p:attrName>
                                        </p:attrNameLst>
                                      </p:cBhvr>
                                      <p:to>
                                        <p:strVal val="hidden"/>
                                      </p:to>
                                    </p:set>
                                  </p:childTnLst>
                                </p:cTn>
                              </p:par>
                              <p:par>
                                <p:cTn id="258" presetID="9" presetClass="exit" presetSubtype="0" fill="hold" grpId="0" nodeType="withEffect">
                                  <p:stCondLst>
                                    <p:cond delay="0"/>
                                  </p:stCondLst>
                                  <p:childTnLst>
                                    <p:animEffect transition="out" filter="dissolve">
                                      <p:cBhvr>
                                        <p:cTn id="259" dur="500"/>
                                        <p:tgtEl>
                                          <p:spTgt spid="189"/>
                                        </p:tgtEl>
                                      </p:cBhvr>
                                    </p:animEffect>
                                    <p:set>
                                      <p:cBhvr>
                                        <p:cTn id="260" dur="1" fill="hold">
                                          <p:stCondLst>
                                            <p:cond delay="499"/>
                                          </p:stCondLst>
                                        </p:cTn>
                                        <p:tgtEl>
                                          <p:spTgt spid="189"/>
                                        </p:tgtEl>
                                        <p:attrNameLst>
                                          <p:attrName>style.visibility</p:attrName>
                                        </p:attrNameLst>
                                      </p:cBhvr>
                                      <p:to>
                                        <p:strVal val="hidden"/>
                                      </p:to>
                                    </p:set>
                                  </p:childTnLst>
                                </p:cTn>
                              </p:par>
                              <p:par>
                                <p:cTn id="261" presetID="9" presetClass="exit" presetSubtype="0" fill="hold" grpId="0" nodeType="withEffect">
                                  <p:stCondLst>
                                    <p:cond delay="0"/>
                                  </p:stCondLst>
                                  <p:childTnLst>
                                    <p:animEffect transition="out" filter="dissolve">
                                      <p:cBhvr>
                                        <p:cTn id="262" dur="500"/>
                                        <p:tgtEl>
                                          <p:spTgt spid="190"/>
                                        </p:tgtEl>
                                      </p:cBhvr>
                                    </p:animEffect>
                                    <p:set>
                                      <p:cBhvr>
                                        <p:cTn id="263" dur="1" fill="hold">
                                          <p:stCondLst>
                                            <p:cond delay="499"/>
                                          </p:stCondLst>
                                        </p:cTn>
                                        <p:tgtEl>
                                          <p:spTgt spid="190"/>
                                        </p:tgtEl>
                                        <p:attrNameLst>
                                          <p:attrName>style.visibility</p:attrName>
                                        </p:attrNameLst>
                                      </p:cBhvr>
                                      <p:to>
                                        <p:strVal val="hidden"/>
                                      </p:to>
                                    </p:set>
                                  </p:childTnLst>
                                </p:cTn>
                              </p:par>
                              <p:par>
                                <p:cTn id="264" presetID="9" presetClass="exit" presetSubtype="0" fill="hold" grpId="0" nodeType="withEffect">
                                  <p:stCondLst>
                                    <p:cond delay="0"/>
                                  </p:stCondLst>
                                  <p:childTnLst>
                                    <p:animEffect transition="out" filter="dissolve">
                                      <p:cBhvr>
                                        <p:cTn id="265" dur="500"/>
                                        <p:tgtEl>
                                          <p:spTgt spid="191"/>
                                        </p:tgtEl>
                                      </p:cBhvr>
                                    </p:animEffect>
                                    <p:set>
                                      <p:cBhvr>
                                        <p:cTn id="266" dur="1" fill="hold">
                                          <p:stCondLst>
                                            <p:cond delay="499"/>
                                          </p:stCondLst>
                                        </p:cTn>
                                        <p:tgtEl>
                                          <p:spTgt spid="191"/>
                                        </p:tgtEl>
                                        <p:attrNameLst>
                                          <p:attrName>style.visibility</p:attrName>
                                        </p:attrNameLst>
                                      </p:cBhvr>
                                      <p:to>
                                        <p:strVal val="hidden"/>
                                      </p:to>
                                    </p:set>
                                  </p:childTnLst>
                                </p:cTn>
                              </p:par>
                              <p:par>
                                <p:cTn id="267" presetID="9" presetClass="exit" presetSubtype="0" fill="hold" grpId="0" nodeType="withEffect">
                                  <p:stCondLst>
                                    <p:cond delay="0"/>
                                  </p:stCondLst>
                                  <p:childTnLst>
                                    <p:animEffect transition="out" filter="dissolve">
                                      <p:cBhvr>
                                        <p:cTn id="268" dur="500"/>
                                        <p:tgtEl>
                                          <p:spTgt spid="192"/>
                                        </p:tgtEl>
                                      </p:cBhvr>
                                    </p:animEffect>
                                    <p:set>
                                      <p:cBhvr>
                                        <p:cTn id="269" dur="1" fill="hold">
                                          <p:stCondLst>
                                            <p:cond delay="499"/>
                                          </p:stCondLst>
                                        </p:cTn>
                                        <p:tgtEl>
                                          <p:spTgt spid="192"/>
                                        </p:tgtEl>
                                        <p:attrNameLst>
                                          <p:attrName>style.visibility</p:attrName>
                                        </p:attrNameLst>
                                      </p:cBhvr>
                                      <p:to>
                                        <p:strVal val="hidden"/>
                                      </p:to>
                                    </p:set>
                                  </p:childTnLst>
                                </p:cTn>
                              </p:par>
                              <p:par>
                                <p:cTn id="270" presetID="9" presetClass="exit" presetSubtype="0" fill="hold" grpId="0" nodeType="withEffect">
                                  <p:stCondLst>
                                    <p:cond delay="0"/>
                                  </p:stCondLst>
                                  <p:childTnLst>
                                    <p:animEffect transition="out" filter="dissolve">
                                      <p:cBhvr>
                                        <p:cTn id="271" dur="500"/>
                                        <p:tgtEl>
                                          <p:spTgt spid="193"/>
                                        </p:tgtEl>
                                      </p:cBhvr>
                                    </p:animEffect>
                                    <p:set>
                                      <p:cBhvr>
                                        <p:cTn id="272" dur="1" fill="hold">
                                          <p:stCondLst>
                                            <p:cond delay="499"/>
                                          </p:stCondLst>
                                        </p:cTn>
                                        <p:tgtEl>
                                          <p:spTgt spid="193"/>
                                        </p:tgtEl>
                                        <p:attrNameLst>
                                          <p:attrName>style.visibility</p:attrName>
                                        </p:attrNameLst>
                                      </p:cBhvr>
                                      <p:to>
                                        <p:strVal val="hidden"/>
                                      </p:to>
                                    </p:set>
                                  </p:childTnLst>
                                </p:cTn>
                              </p:par>
                              <p:par>
                                <p:cTn id="273" presetID="9" presetClass="exit" presetSubtype="0" fill="hold" grpId="0" nodeType="withEffect">
                                  <p:stCondLst>
                                    <p:cond delay="0"/>
                                  </p:stCondLst>
                                  <p:childTnLst>
                                    <p:animEffect transition="out" filter="dissolve">
                                      <p:cBhvr>
                                        <p:cTn id="274" dur="500"/>
                                        <p:tgtEl>
                                          <p:spTgt spid="194"/>
                                        </p:tgtEl>
                                      </p:cBhvr>
                                    </p:animEffect>
                                    <p:set>
                                      <p:cBhvr>
                                        <p:cTn id="275" dur="1" fill="hold">
                                          <p:stCondLst>
                                            <p:cond delay="499"/>
                                          </p:stCondLst>
                                        </p:cTn>
                                        <p:tgtEl>
                                          <p:spTgt spid="194"/>
                                        </p:tgtEl>
                                        <p:attrNameLst>
                                          <p:attrName>style.visibility</p:attrName>
                                        </p:attrNameLst>
                                      </p:cBhvr>
                                      <p:to>
                                        <p:strVal val="hidden"/>
                                      </p:to>
                                    </p:set>
                                  </p:childTnLst>
                                </p:cTn>
                              </p:par>
                              <p:par>
                                <p:cTn id="276" presetID="9" presetClass="exit" presetSubtype="0" fill="hold" grpId="0" nodeType="withEffect">
                                  <p:stCondLst>
                                    <p:cond delay="0"/>
                                  </p:stCondLst>
                                  <p:childTnLst>
                                    <p:animEffect transition="out" filter="dissolve">
                                      <p:cBhvr>
                                        <p:cTn id="277" dur="500"/>
                                        <p:tgtEl>
                                          <p:spTgt spid="195"/>
                                        </p:tgtEl>
                                      </p:cBhvr>
                                    </p:animEffect>
                                    <p:set>
                                      <p:cBhvr>
                                        <p:cTn id="278" dur="1" fill="hold">
                                          <p:stCondLst>
                                            <p:cond delay="499"/>
                                          </p:stCondLst>
                                        </p:cTn>
                                        <p:tgtEl>
                                          <p:spTgt spid="195"/>
                                        </p:tgtEl>
                                        <p:attrNameLst>
                                          <p:attrName>style.visibility</p:attrName>
                                        </p:attrNameLst>
                                      </p:cBhvr>
                                      <p:to>
                                        <p:strVal val="hidden"/>
                                      </p:to>
                                    </p:set>
                                  </p:childTnLst>
                                </p:cTn>
                              </p:par>
                              <p:par>
                                <p:cTn id="279" presetID="9" presetClass="exit" presetSubtype="0" fill="hold" grpId="0" nodeType="withEffect">
                                  <p:stCondLst>
                                    <p:cond delay="0"/>
                                  </p:stCondLst>
                                  <p:childTnLst>
                                    <p:animEffect transition="out" filter="dissolve">
                                      <p:cBhvr>
                                        <p:cTn id="280" dur="500"/>
                                        <p:tgtEl>
                                          <p:spTgt spid="196"/>
                                        </p:tgtEl>
                                      </p:cBhvr>
                                    </p:animEffect>
                                    <p:set>
                                      <p:cBhvr>
                                        <p:cTn id="281" dur="1" fill="hold">
                                          <p:stCondLst>
                                            <p:cond delay="499"/>
                                          </p:stCondLst>
                                        </p:cTn>
                                        <p:tgtEl>
                                          <p:spTgt spid="196"/>
                                        </p:tgtEl>
                                        <p:attrNameLst>
                                          <p:attrName>style.visibility</p:attrName>
                                        </p:attrNameLst>
                                      </p:cBhvr>
                                      <p:to>
                                        <p:strVal val="hidden"/>
                                      </p:to>
                                    </p:set>
                                  </p:childTnLst>
                                </p:cTn>
                              </p:par>
                              <p:par>
                                <p:cTn id="282" presetID="9" presetClass="exit" presetSubtype="0" fill="hold" grpId="0" nodeType="withEffect">
                                  <p:stCondLst>
                                    <p:cond delay="0"/>
                                  </p:stCondLst>
                                  <p:childTnLst>
                                    <p:animEffect transition="out" filter="dissolve">
                                      <p:cBhvr>
                                        <p:cTn id="283" dur="500"/>
                                        <p:tgtEl>
                                          <p:spTgt spid="197"/>
                                        </p:tgtEl>
                                      </p:cBhvr>
                                    </p:animEffect>
                                    <p:set>
                                      <p:cBhvr>
                                        <p:cTn id="284" dur="1" fill="hold">
                                          <p:stCondLst>
                                            <p:cond delay="499"/>
                                          </p:stCondLst>
                                        </p:cTn>
                                        <p:tgtEl>
                                          <p:spTgt spid="197"/>
                                        </p:tgtEl>
                                        <p:attrNameLst>
                                          <p:attrName>style.visibility</p:attrName>
                                        </p:attrNameLst>
                                      </p:cBhvr>
                                      <p:to>
                                        <p:strVal val="hidden"/>
                                      </p:to>
                                    </p:set>
                                  </p:childTnLst>
                                </p:cTn>
                              </p:par>
                              <p:par>
                                <p:cTn id="285" presetID="9" presetClass="exit" presetSubtype="0" fill="hold" grpId="0" nodeType="withEffect">
                                  <p:stCondLst>
                                    <p:cond delay="0"/>
                                  </p:stCondLst>
                                  <p:childTnLst>
                                    <p:animEffect transition="out" filter="dissolve">
                                      <p:cBhvr>
                                        <p:cTn id="286" dur="500"/>
                                        <p:tgtEl>
                                          <p:spTgt spid="198"/>
                                        </p:tgtEl>
                                      </p:cBhvr>
                                    </p:animEffect>
                                    <p:set>
                                      <p:cBhvr>
                                        <p:cTn id="287" dur="1" fill="hold">
                                          <p:stCondLst>
                                            <p:cond delay="499"/>
                                          </p:stCondLst>
                                        </p:cTn>
                                        <p:tgtEl>
                                          <p:spTgt spid="198"/>
                                        </p:tgtEl>
                                        <p:attrNameLst>
                                          <p:attrName>style.visibility</p:attrName>
                                        </p:attrNameLst>
                                      </p:cBhvr>
                                      <p:to>
                                        <p:strVal val="hidden"/>
                                      </p:to>
                                    </p:set>
                                  </p:childTnLst>
                                </p:cTn>
                              </p:par>
                              <p:par>
                                <p:cTn id="288" presetID="9" presetClass="exit" presetSubtype="0" fill="hold" grpId="0" nodeType="withEffect">
                                  <p:stCondLst>
                                    <p:cond delay="0"/>
                                  </p:stCondLst>
                                  <p:childTnLst>
                                    <p:animEffect transition="out" filter="dissolve">
                                      <p:cBhvr>
                                        <p:cTn id="289" dur="500"/>
                                        <p:tgtEl>
                                          <p:spTgt spid="199"/>
                                        </p:tgtEl>
                                      </p:cBhvr>
                                    </p:animEffect>
                                    <p:set>
                                      <p:cBhvr>
                                        <p:cTn id="290" dur="1" fill="hold">
                                          <p:stCondLst>
                                            <p:cond delay="499"/>
                                          </p:stCondLst>
                                        </p:cTn>
                                        <p:tgtEl>
                                          <p:spTgt spid="199"/>
                                        </p:tgtEl>
                                        <p:attrNameLst>
                                          <p:attrName>style.visibility</p:attrName>
                                        </p:attrNameLst>
                                      </p:cBhvr>
                                      <p:to>
                                        <p:strVal val="hidden"/>
                                      </p:to>
                                    </p:set>
                                  </p:childTnLst>
                                </p:cTn>
                              </p:par>
                              <p:par>
                                <p:cTn id="291" presetID="9" presetClass="exit" presetSubtype="0" fill="hold" grpId="0" nodeType="withEffect">
                                  <p:stCondLst>
                                    <p:cond delay="0"/>
                                  </p:stCondLst>
                                  <p:childTnLst>
                                    <p:animEffect transition="out" filter="dissolve">
                                      <p:cBhvr>
                                        <p:cTn id="292" dur="500"/>
                                        <p:tgtEl>
                                          <p:spTgt spid="200"/>
                                        </p:tgtEl>
                                      </p:cBhvr>
                                    </p:animEffect>
                                    <p:set>
                                      <p:cBhvr>
                                        <p:cTn id="293" dur="1" fill="hold">
                                          <p:stCondLst>
                                            <p:cond delay="499"/>
                                          </p:stCondLst>
                                        </p:cTn>
                                        <p:tgtEl>
                                          <p:spTgt spid="200"/>
                                        </p:tgtEl>
                                        <p:attrNameLst>
                                          <p:attrName>style.visibility</p:attrName>
                                        </p:attrNameLst>
                                      </p:cBhvr>
                                      <p:to>
                                        <p:strVal val="hidden"/>
                                      </p:to>
                                    </p:set>
                                  </p:childTnLst>
                                </p:cTn>
                              </p:par>
                              <p:par>
                                <p:cTn id="294" presetID="9" presetClass="exit" presetSubtype="0" fill="hold" grpId="0" nodeType="withEffect">
                                  <p:stCondLst>
                                    <p:cond delay="0"/>
                                  </p:stCondLst>
                                  <p:childTnLst>
                                    <p:animEffect transition="out" filter="dissolve">
                                      <p:cBhvr>
                                        <p:cTn id="295" dur="500"/>
                                        <p:tgtEl>
                                          <p:spTgt spid="201"/>
                                        </p:tgtEl>
                                      </p:cBhvr>
                                    </p:animEffect>
                                    <p:set>
                                      <p:cBhvr>
                                        <p:cTn id="296" dur="1" fill="hold">
                                          <p:stCondLst>
                                            <p:cond delay="499"/>
                                          </p:stCondLst>
                                        </p:cTn>
                                        <p:tgtEl>
                                          <p:spTgt spid="201"/>
                                        </p:tgtEl>
                                        <p:attrNameLst>
                                          <p:attrName>style.visibility</p:attrName>
                                        </p:attrNameLst>
                                      </p:cBhvr>
                                      <p:to>
                                        <p:strVal val="hidden"/>
                                      </p:to>
                                    </p:set>
                                  </p:childTnLst>
                                </p:cTn>
                              </p:par>
                              <p:par>
                                <p:cTn id="297" presetID="9" presetClass="exit" presetSubtype="0" fill="hold" grpId="0" nodeType="withEffect">
                                  <p:stCondLst>
                                    <p:cond delay="0"/>
                                  </p:stCondLst>
                                  <p:childTnLst>
                                    <p:animEffect transition="out" filter="dissolve">
                                      <p:cBhvr>
                                        <p:cTn id="298" dur="500"/>
                                        <p:tgtEl>
                                          <p:spTgt spid="202"/>
                                        </p:tgtEl>
                                      </p:cBhvr>
                                    </p:animEffect>
                                    <p:set>
                                      <p:cBhvr>
                                        <p:cTn id="299" dur="1" fill="hold">
                                          <p:stCondLst>
                                            <p:cond delay="499"/>
                                          </p:stCondLst>
                                        </p:cTn>
                                        <p:tgtEl>
                                          <p:spTgt spid="202"/>
                                        </p:tgtEl>
                                        <p:attrNameLst>
                                          <p:attrName>style.visibility</p:attrName>
                                        </p:attrNameLst>
                                      </p:cBhvr>
                                      <p:to>
                                        <p:strVal val="hidden"/>
                                      </p:to>
                                    </p:set>
                                  </p:childTnLst>
                                </p:cTn>
                              </p:par>
                              <p:par>
                                <p:cTn id="300" presetID="9" presetClass="exit" presetSubtype="0" fill="hold" grpId="0" nodeType="withEffect">
                                  <p:stCondLst>
                                    <p:cond delay="0"/>
                                  </p:stCondLst>
                                  <p:childTnLst>
                                    <p:animEffect transition="out" filter="dissolve">
                                      <p:cBhvr>
                                        <p:cTn id="301" dur="500"/>
                                        <p:tgtEl>
                                          <p:spTgt spid="203"/>
                                        </p:tgtEl>
                                      </p:cBhvr>
                                    </p:animEffect>
                                    <p:set>
                                      <p:cBhvr>
                                        <p:cTn id="302" dur="1" fill="hold">
                                          <p:stCondLst>
                                            <p:cond delay="499"/>
                                          </p:stCondLst>
                                        </p:cTn>
                                        <p:tgtEl>
                                          <p:spTgt spid="203"/>
                                        </p:tgtEl>
                                        <p:attrNameLst>
                                          <p:attrName>style.visibility</p:attrName>
                                        </p:attrNameLst>
                                      </p:cBhvr>
                                      <p:to>
                                        <p:strVal val="hidden"/>
                                      </p:to>
                                    </p:set>
                                  </p:childTnLst>
                                </p:cTn>
                              </p:par>
                              <p:par>
                                <p:cTn id="303" presetID="9" presetClass="exit" presetSubtype="0" fill="hold" grpId="0" nodeType="withEffect">
                                  <p:stCondLst>
                                    <p:cond delay="0"/>
                                  </p:stCondLst>
                                  <p:childTnLst>
                                    <p:animEffect transition="out" filter="dissolve">
                                      <p:cBhvr>
                                        <p:cTn id="304" dur="500"/>
                                        <p:tgtEl>
                                          <p:spTgt spid="204"/>
                                        </p:tgtEl>
                                      </p:cBhvr>
                                    </p:animEffect>
                                    <p:set>
                                      <p:cBhvr>
                                        <p:cTn id="305" dur="1" fill="hold">
                                          <p:stCondLst>
                                            <p:cond delay="499"/>
                                          </p:stCondLst>
                                        </p:cTn>
                                        <p:tgtEl>
                                          <p:spTgt spid="204"/>
                                        </p:tgtEl>
                                        <p:attrNameLst>
                                          <p:attrName>style.visibility</p:attrName>
                                        </p:attrNameLst>
                                      </p:cBhvr>
                                      <p:to>
                                        <p:strVal val="hidden"/>
                                      </p:to>
                                    </p:set>
                                  </p:childTnLst>
                                </p:cTn>
                              </p:par>
                              <p:par>
                                <p:cTn id="306" presetID="9" presetClass="exit" presetSubtype="0" fill="hold" grpId="0" nodeType="withEffect">
                                  <p:stCondLst>
                                    <p:cond delay="0"/>
                                  </p:stCondLst>
                                  <p:childTnLst>
                                    <p:animEffect transition="out" filter="dissolve">
                                      <p:cBhvr>
                                        <p:cTn id="307" dur="500"/>
                                        <p:tgtEl>
                                          <p:spTgt spid="205"/>
                                        </p:tgtEl>
                                      </p:cBhvr>
                                    </p:animEffect>
                                    <p:set>
                                      <p:cBhvr>
                                        <p:cTn id="308" dur="1" fill="hold">
                                          <p:stCondLst>
                                            <p:cond delay="499"/>
                                          </p:stCondLst>
                                        </p:cTn>
                                        <p:tgtEl>
                                          <p:spTgt spid="205"/>
                                        </p:tgtEl>
                                        <p:attrNameLst>
                                          <p:attrName>style.visibility</p:attrName>
                                        </p:attrNameLst>
                                      </p:cBhvr>
                                      <p:to>
                                        <p:strVal val="hidden"/>
                                      </p:to>
                                    </p:set>
                                  </p:childTnLst>
                                </p:cTn>
                              </p:par>
                            </p:childTnLst>
                          </p:cTn>
                        </p:par>
                        <p:par>
                          <p:cTn id="309" fill="hold">
                            <p:stCondLst>
                              <p:cond delay="1000"/>
                            </p:stCondLst>
                            <p:childTnLst>
                              <p:par>
                                <p:cTn id="310" presetID="53" presetClass="entr" presetSubtype="0" fill="hold" grpId="0" nodeType="afterEffect">
                                  <p:stCondLst>
                                    <p:cond delay="0"/>
                                  </p:stCondLst>
                                  <p:childTnLst>
                                    <p:set>
                                      <p:cBhvr>
                                        <p:cTn id="311" dur="1" fill="hold">
                                          <p:stCondLst>
                                            <p:cond delay="0"/>
                                          </p:stCondLst>
                                        </p:cTn>
                                        <p:tgtEl>
                                          <p:spTgt spid="213"/>
                                        </p:tgtEl>
                                        <p:attrNameLst>
                                          <p:attrName>style.visibility</p:attrName>
                                        </p:attrNameLst>
                                      </p:cBhvr>
                                      <p:to>
                                        <p:strVal val="visible"/>
                                      </p:to>
                                    </p:set>
                                    <p:anim calcmode="lin" valueType="num">
                                      <p:cBhvr>
                                        <p:cTn id="312" dur="500" fill="hold"/>
                                        <p:tgtEl>
                                          <p:spTgt spid="213"/>
                                        </p:tgtEl>
                                        <p:attrNameLst>
                                          <p:attrName>ppt_w</p:attrName>
                                        </p:attrNameLst>
                                      </p:cBhvr>
                                      <p:tavLst>
                                        <p:tav tm="0">
                                          <p:val>
                                            <p:fltVal val="0"/>
                                          </p:val>
                                        </p:tav>
                                        <p:tav tm="100000">
                                          <p:val>
                                            <p:strVal val="#ppt_w"/>
                                          </p:val>
                                        </p:tav>
                                      </p:tavLst>
                                    </p:anim>
                                    <p:anim calcmode="lin" valueType="num">
                                      <p:cBhvr>
                                        <p:cTn id="313" dur="500" fill="hold"/>
                                        <p:tgtEl>
                                          <p:spTgt spid="213"/>
                                        </p:tgtEl>
                                        <p:attrNameLst>
                                          <p:attrName>ppt_h</p:attrName>
                                        </p:attrNameLst>
                                      </p:cBhvr>
                                      <p:tavLst>
                                        <p:tav tm="0">
                                          <p:val>
                                            <p:fltVal val="0"/>
                                          </p:val>
                                        </p:tav>
                                        <p:tav tm="100000">
                                          <p:val>
                                            <p:strVal val="#ppt_h"/>
                                          </p:val>
                                        </p:tav>
                                      </p:tavLst>
                                    </p:anim>
                                    <p:animEffect transition="in" filter="fade">
                                      <p:cBhvr>
                                        <p:cTn id="314" dur="500"/>
                                        <p:tgtEl>
                                          <p:spTgt spid="213"/>
                                        </p:tgtEl>
                                      </p:cBhvr>
                                    </p:animEffect>
                                  </p:childTnLst>
                                </p:cTn>
                              </p:par>
                              <p:par>
                                <p:cTn id="315" presetID="53" presetClass="entr" presetSubtype="0" fill="hold" grpId="0" nodeType="withEffect">
                                  <p:stCondLst>
                                    <p:cond delay="0"/>
                                  </p:stCondLst>
                                  <p:childTnLst>
                                    <p:set>
                                      <p:cBhvr>
                                        <p:cTn id="316" dur="1" fill="hold">
                                          <p:stCondLst>
                                            <p:cond delay="0"/>
                                          </p:stCondLst>
                                        </p:cTn>
                                        <p:tgtEl>
                                          <p:spTgt spid="212"/>
                                        </p:tgtEl>
                                        <p:attrNameLst>
                                          <p:attrName>style.visibility</p:attrName>
                                        </p:attrNameLst>
                                      </p:cBhvr>
                                      <p:to>
                                        <p:strVal val="visible"/>
                                      </p:to>
                                    </p:set>
                                    <p:anim calcmode="lin" valueType="num">
                                      <p:cBhvr>
                                        <p:cTn id="317" dur="500" fill="hold"/>
                                        <p:tgtEl>
                                          <p:spTgt spid="212"/>
                                        </p:tgtEl>
                                        <p:attrNameLst>
                                          <p:attrName>ppt_w</p:attrName>
                                        </p:attrNameLst>
                                      </p:cBhvr>
                                      <p:tavLst>
                                        <p:tav tm="0">
                                          <p:val>
                                            <p:fltVal val="0"/>
                                          </p:val>
                                        </p:tav>
                                        <p:tav tm="100000">
                                          <p:val>
                                            <p:strVal val="#ppt_w"/>
                                          </p:val>
                                        </p:tav>
                                      </p:tavLst>
                                    </p:anim>
                                    <p:anim calcmode="lin" valueType="num">
                                      <p:cBhvr>
                                        <p:cTn id="318" dur="500" fill="hold"/>
                                        <p:tgtEl>
                                          <p:spTgt spid="212"/>
                                        </p:tgtEl>
                                        <p:attrNameLst>
                                          <p:attrName>ppt_h</p:attrName>
                                        </p:attrNameLst>
                                      </p:cBhvr>
                                      <p:tavLst>
                                        <p:tav tm="0">
                                          <p:val>
                                            <p:fltVal val="0"/>
                                          </p:val>
                                        </p:tav>
                                        <p:tav tm="100000">
                                          <p:val>
                                            <p:strVal val="#ppt_h"/>
                                          </p:val>
                                        </p:tav>
                                      </p:tavLst>
                                    </p:anim>
                                    <p:animEffect transition="in" filter="fade">
                                      <p:cBhvr>
                                        <p:cTn id="319" dur="500"/>
                                        <p:tgtEl>
                                          <p:spTgt spid="212"/>
                                        </p:tgtEl>
                                      </p:cBhvr>
                                    </p:animEffect>
                                  </p:childTnLst>
                                </p:cTn>
                              </p:par>
                            </p:childTnLst>
                          </p:cTn>
                        </p:par>
                      </p:childTnLst>
                    </p:cTn>
                  </p:par>
                  <p:par>
                    <p:cTn id="320" fill="hold">
                      <p:stCondLst>
                        <p:cond delay="indefinite"/>
                      </p:stCondLst>
                      <p:childTnLst>
                        <p:par>
                          <p:cTn id="321" fill="hold">
                            <p:stCondLst>
                              <p:cond delay="0"/>
                            </p:stCondLst>
                            <p:childTnLst>
                              <p:par>
                                <p:cTn id="322" presetID="1" presetClass="entr" presetSubtype="0" fill="hold" nodeType="clickEffect">
                                  <p:stCondLst>
                                    <p:cond delay="0"/>
                                  </p:stCondLst>
                                  <p:childTnLst>
                                    <p:set>
                                      <p:cBhvr>
                                        <p:cTn id="323"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p:bldP spid="207" grpId="0"/>
      <p:bldP spid="212" grpId="0"/>
      <p:bldP spid="2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1524000"/>
            <a:ext cx="8001000" cy="3908762"/>
          </a:xfrm>
          <a:prstGeom prst="rect">
            <a:avLst/>
          </a:prstGeom>
          <a:noFill/>
        </p:spPr>
        <p:txBody>
          <a:bodyPr wrap="square" rtlCol="0">
            <a:spAutoFit/>
          </a:bodyPr>
          <a:lstStyle/>
          <a:p>
            <a:pPr algn="ctr"/>
            <a:r>
              <a:rPr lang="en-US" sz="4400" dirty="0">
                <a:solidFill>
                  <a:prstClr val="black"/>
                </a:solidFill>
                <a:cs typeface="Times New Roman" pitchFamily="18" charset="0"/>
              </a:rPr>
              <a:t>To see if a statistic provides evidence against H</a:t>
            </a:r>
            <a:r>
              <a:rPr lang="en-US" sz="4400" baseline="-25000" dirty="0">
                <a:solidFill>
                  <a:prstClr val="black"/>
                </a:solidFill>
                <a:cs typeface="Times New Roman" pitchFamily="18" charset="0"/>
              </a:rPr>
              <a:t>0,</a:t>
            </a:r>
            <a:r>
              <a:rPr lang="en-US" sz="4400" dirty="0">
                <a:solidFill>
                  <a:prstClr val="black"/>
                </a:solidFill>
                <a:cs typeface="Times New Roman" pitchFamily="18" charset="0"/>
              </a:rPr>
              <a:t> we need to see what kind of sample statistics we would observe,  just </a:t>
            </a:r>
            <a:r>
              <a:rPr lang="en-US" sz="4400" b="1" i="1" dirty="0">
                <a:solidFill>
                  <a:schemeClr val="accent2"/>
                </a:solidFill>
                <a:cs typeface="Times New Roman" pitchFamily="18" charset="0"/>
              </a:rPr>
              <a:t>by random chance</a:t>
            </a:r>
            <a:r>
              <a:rPr lang="en-US" sz="4400" dirty="0">
                <a:solidFill>
                  <a:prstClr val="black"/>
                </a:solidFill>
                <a:cs typeface="Times New Roman" pitchFamily="18" charset="0"/>
              </a:rPr>
              <a:t>, </a:t>
            </a:r>
            <a:r>
              <a:rPr lang="en-US" sz="4400" b="1" i="1" dirty="0">
                <a:solidFill>
                  <a:schemeClr val="accent1"/>
                </a:solidFill>
                <a:cs typeface="Times New Roman" pitchFamily="18" charset="0"/>
              </a:rPr>
              <a:t>if H</a:t>
            </a:r>
            <a:r>
              <a:rPr lang="en-US" sz="4400" b="1" i="1" baseline="-25000" dirty="0">
                <a:solidFill>
                  <a:schemeClr val="accent1"/>
                </a:solidFill>
                <a:cs typeface="Times New Roman" pitchFamily="18" charset="0"/>
              </a:rPr>
              <a:t>0</a:t>
            </a:r>
            <a:r>
              <a:rPr lang="en-US" sz="4400" b="1" i="1" dirty="0">
                <a:solidFill>
                  <a:schemeClr val="accent1"/>
                </a:solidFill>
                <a:cs typeface="Times New Roman" pitchFamily="18" charset="0"/>
              </a:rPr>
              <a:t> were true</a:t>
            </a:r>
            <a:endParaRPr lang="en-US" sz="2800" dirty="0">
              <a:solidFill>
                <a:schemeClr val="accent1"/>
              </a:solidFill>
              <a:cs typeface="Times New Roman" pitchFamily="18" charset="0"/>
            </a:endParaRPr>
          </a:p>
          <a:p>
            <a:endParaRPr lang="en-US" sz="2800" dirty="0">
              <a:solidFill>
                <a:prstClr val="black"/>
              </a:solidFill>
              <a:cs typeface="Times New Roman" pitchFamily="18" charset="0"/>
            </a:endParaRPr>
          </a:p>
        </p:txBody>
      </p:sp>
      <p:sp>
        <p:nvSpPr>
          <p:cNvPr id="3" name="Title 1"/>
          <p:cNvSpPr txBox="1">
            <a:spLocks/>
          </p:cNvSpPr>
          <p:nvPr/>
        </p:nvSpPr>
        <p:spPr>
          <a:xfrm>
            <a:off x="533400" y="533400"/>
            <a:ext cx="8153400" cy="1219200"/>
          </a:xfrm>
          <a:prstGeom prst="rect">
            <a:avLst/>
          </a:prstGeom>
        </p:spPr>
        <p:txBody>
          <a:bodyPr/>
          <a:lstStyle/>
          <a:p>
            <a:pPr lvl="0" algn="ctr">
              <a:spcBef>
                <a:spcPct val="0"/>
              </a:spcBef>
              <a:defRPr/>
            </a:pPr>
            <a:r>
              <a:rPr lang="en-US" sz="4400" b="1" dirty="0">
                <a:solidFill>
                  <a:schemeClr val="tx2"/>
                </a:solidFill>
                <a:latin typeface="+mj-lt"/>
              </a:rPr>
              <a:t>Measuring Evidence against H</a:t>
            </a:r>
            <a:r>
              <a:rPr lang="en-US" sz="4400" b="1" baseline="-25000" dirty="0">
                <a:solidFill>
                  <a:schemeClr val="tx2"/>
                </a:solidFill>
                <a:latin typeface="+mj-lt"/>
              </a:rPr>
              <a:t>0</a:t>
            </a:r>
            <a:endParaRPr lang="en-US" sz="4000" b="1" dirty="0">
              <a:solidFill>
                <a:schemeClr val="tx2"/>
              </a:solidFill>
              <a:latin typeface="+mj-lt"/>
            </a:endParaRPr>
          </a:p>
        </p:txBody>
      </p:sp>
    </p:spTree>
    <p:custDataLst>
      <p:tags r:id="rId1"/>
    </p:custDataLst>
    <p:extLst>
      <p:ext uri="{BB962C8B-B14F-4D97-AF65-F5344CB8AC3E}">
        <p14:creationId xmlns:p14="http://schemas.microsoft.com/office/powerpoint/2010/main" val="32856367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068" y="1142998"/>
            <a:ext cx="9129932" cy="4924425"/>
          </a:xfrm>
          <a:prstGeom prst="rect">
            <a:avLst/>
          </a:prstGeom>
          <a:noFill/>
        </p:spPr>
        <p:txBody>
          <a:bodyPr wrap="square" rtlCol="0">
            <a:spAutoFit/>
          </a:bodyPr>
          <a:lstStyle/>
          <a:p>
            <a:pPr marL="274320" indent="-274320">
              <a:spcAft>
                <a:spcPts val="1800"/>
              </a:spcAft>
              <a:buClr>
                <a:schemeClr val="accent1"/>
              </a:buClr>
              <a:buFont typeface="Arial" pitchFamily="34" charset="0"/>
              <a:buChar char="•"/>
            </a:pPr>
            <a:r>
              <a:rPr lang="en-US" sz="3200" dirty="0">
                <a:solidFill>
                  <a:prstClr val="black"/>
                </a:solidFill>
                <a:cs typeface="Times New Roman" pitchFamily="18" charset="0"/>
              </a:rPr>
              <a:t>“</a:t>
            </a:r>
            <a:r>
              <a:rPr lang="en-US" sz="3200" b="1" i="1" dirty="0">
                <a:solidFill>
                  <a:schemeClr val="accent2"/>
                </a:solidFill>
                <a:cs typeface="Times New Roman" pitchFamily="18" charset="0"/>
              </a:rPr>
              <a:t>by random chance</a:t>
            </a:r>
            <a:r>
              <a:rPr lang="en-US" sz="3200" dirty="0">
                <a:solidFill>
                  <a:prstClr val="black"/>
                </a:solidFill>
                <a:cs typeface="Times New Roman" pitchFamily="18" charset="0"/>
              </a:rPr>
              <a:t>” means by the random assignment to the two treatment groups</a:t>
            </a:r>
          </a:p>
          <a:p>
            <a:pPr marL="274320" indent="-274320">
              <a:spcAft>
                <a:spcPts val="1800"/>
              </a:spcAft>
              <a:buClr>
                <a:schemeClr val="accent1"/>
              </a:buClr>
              <a:buFont typeface="Arial" pitchFamily="34" charset="0"/>
              <a:buChar char="•"/>
            </a:pPr>
            <a:r>
              <a:rPr lang="en-US" sz="3200" b="1" i="1" dirty="0">
                <a:solidFill>
                  <a:prstClr val="black"/>
                </a:solidFill>
                <a:cs typeface="Times New Roman" pitchFamily="18" charset="0"/>
              </a:rPr>
              <a:t>“</a:t>
            </a:r>
            <a:r>
              <a:rPr lang="en-US" sz="3200" b="1" i="1" dirty="0">
                <a:solidFill>
                  <a:schemeClr val="accent1"/>
                </a:solidFill>
                <a:cs typeface="Times New Roman" pitchFamily="18" charset="0"/>
              </a:rPr>
              <a:t>if H</a:t>
            </a:r>
            <a:r>
              <a:rPr lang="en-US" sz="3200" b="1" i="1" baseline="-25000" dirty="0">
                <a:solidFill>
                  <a:schemeClr val="accent1"/>
                </a:solidFill>
                <a:cs typeface="Times New Roman" pitchFamily="18" charset="0"/>
              </a:rPr>
              <a:t>0</a:t>
            </a:r>
            <a:r>
              <a:rPr lang="en-US" sz="3200" b="1" i="1" dirty="0">
                <a:solidFill>
                  <a:schemeClr val="accent1"/>
                </a:solidFill>
                <a:cs typeface="Times New Roman" pitchFamily="18" charset="0"/>
              </a:rPr>
              <a:t> were true</a:t>
            </a:r>
            <a:r>
              <a:rPr lang="en-US" sz="3200" b="1" i="1" dirty="0">
                <a:solidFill>
                  <a:prstClr val="black"/>
                </a:solidFill>
                <a:cs typeface="Times New Roman" pitchFamily="18" charset="0"/>
              </a:rPr>
              <a:t>” </a:t>
            </a:r>
            <a:r>
              <a:rPr lang="en-US" sz="3200" dirty="0">
                <a:solidFill>
                  <a:prstClr val="black"/>
                </a:solidFill>
                <a:cs typeface="Times New Roman" pitchFamily="18" charset="0"/>
              </a:rPr>
              <a:t>means if the two drugs were equally effective at preventing relapses (equivalently: whether a person relapses or not does not depend on which drug is taken)</a:t>
            </a:r>
          </a:p>
          <a:p>
            <a:pPr marL="274320" indent="-274320">
              <a:buClr>
                <a:schemeClr val="accent1"/>
              </a:buClr>
              <a:buFont typeface="Arial" pitchFamily="34" charset="0"/>
              <a:buChar char="•"/>
            </a:pPr>
            <a:r>
              <a:rPr lang="en-US" sz="3200" dirty="0">
                <a:solidFill>
                  <a:prstClr val="black"/>
                </a:solidFill>
                <a:cs typeface="Times New Roman" pitchFamily="18" charset="0"/>
              </a:rPr>
              <a:t>Simulate what would happen just by random chance, if H</a:t>
            </a:r>
            <a:r>
              <a:rPr lang="en-US" sz="3200" baseline="-25000" dirty="0">
                <a:solidFill>
                  <a:prstClr val="black"/>
                </a:solidFill>
                <a:cs typeface="Times New Roman" pitchFamily="18" charset="0"/>
              </a:rPr>
              <a:t>0</a:t>
            </a:r>
            <a:r>
              <a:rPr lang="en-US" sz="3200" dirty="0">
                <a:solidFill>
                  <a:prstClr val="black"/>
                </a:solidFill>
                <a:cs typeface="Times New Roman" pitchFamily="18" charset="0"/>
              </a:rPr>
              <a:t> were true…</a:t>
            </a:r>
          </a:p>
          <a:p>
            <a:pPr marL="274320" indent="-274320"/>
            <a:endParaRPr lang="en-US" sz="2800" dirty="0">
              <a:solidFill>
                <a:prstClr val="black"/>
              </a:solidFill>
              <a:cs typeface="Times New Roman" pitchFamily="18" charset="0"/>
            </a:endParaRPr>
          </a:p>
        </p:txBody>
      </p:sp>
      <p:sp>
        <p:nvSpPr>
          <p:cNvPr id="3" name="Title 1"/>
          <p:cNvSpPr txBox="1">
            <a:spLocks/>
          </p:cNvSpPr>
          <p:nvPr/>
        </p:nvSpPr>
        <p:spPr>
          <a:xfrm>
            <a:off x="533400" y="228600"/>
            <a:ext cx="8153400" cy="1219200"/>
          </a:xfrm>
          <a:prstGeom prst="rect">
            <a:avLst/>
          </a:prstGeom>
        </p:spPr>
        <p:txBody>
          <a:bodyPr/>
          <a:lstStyle/>
          <a:p>
            <a:pPr lvl="0" algn="ctr">
              <a:spcBef>
                <a:spcPct val="0"/>
              </a:spcBef>
              <a:defRPr/>
            </a:pPr>
            <a:r>
              <a:rPr lang="en-US" sz="4400" b="1" dirty="0">
                <a:solidFill>
                  <a:schemeClr val="tx2"/>
                </a:solidFill>
                <a:latin typeface="+mj-lt"/>
              </a:rPr>
              <a:t>Cocaine Addiction</a:t>
            </a:r>
            <a:endParaRPr lang="en-US" sz="4000" b="1" dirty="0">
              <a:solidFill>
                <a:schemeClr val="tx2"/>
              </a:solidFill>
              <a:latin typeface="+mj-lt"/>
            </a:endParaRPr>
          </a:p>
        </p:txBody>
      </p:sp>
    </p:spTree>
    <p:custDataLst>
      <p:tags r:id="rId1"/>
    </p:custDataLst>
    <p:extLst>
      <p:ext uri="{BB962C8B-B14F-4D97-AF65-F5344CB8AC3E}">
        <p14:creationId xmlns:p14="http://schemas.microsoft.com/office/powerpoint/2010/main" val="3037664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val 101"/>
          <p:cNvSpPr/>
          <p:nvPr/>
        </p:nvSpPr>
        <p:spPr>
          <a:xfrm>
            <a:off x="65532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3" name="Oval 102"/>
          <p:cNvSpPr/>
          <p:nvPr/>
        </p:nvSpPr>
        <p:spPr>
          <a:xfrm>
            <a:off x="70104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4" name="Oval 103"/>
          <p:cNvSpPr/>
          <p:nvPr/>
        </p:nvSpPr>
        <p:spPr>
          <a:xfrm>
            <a:off x="74676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5" name="Oval 104"/>
          <p:cNvSpPr/>
          <p:nvPr/>
        </p:nvSpPr>
        <p:spPr>
          <a:xfrm>
            <a:off x="79248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6" name="Oval 105"/>
          <p:cNvSpPr/>
          <p:nvPr/>
        </p:nvSpPr>
        <p:spPr>
          <a:xfrm>
            <a:off x="56388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7" name="Oval 106"/>
          <p:cNvSpPr/>
          <p:nvPr/>
        </p:nvSpPr>
        <p:spPr>
          <a:xfrm>
            <a:off x="60960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8" name="Oval 107"/>
          <p:cNvSpPr/>
          <p:nvPr/>
        </p:nvSpPr>
        <p:spPr>
          <a:xfrm>
            <a:off x="65532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9" name="Oval 108"/>
          <p:cNvSpPr/>
          <p:nvPr/>
        </p:nvSpPr>
        <p:spPr>
          <a:xfrm>
            <a:off x="70104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0" name="Oval 109"/>
          <p:cNvSpPr/>
          <p:nvPr/>
        </p:nvSpPr>
        <p:spPr>
          <a:xfrm>
            <a:off x="74676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1" name="Oval 110"/>
          <p:cNvSpPr/>
          <p:nvPr/>
        </p:nvSpPr>
        <p:spPr>
          <a:xfrm>
            <a:off x="79248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2" name="Oval 111"/>
          <p:cNvSpPr/>
          <p:nvPr/>
        </p:nvSpPr>
        <p:spPr>
          <a:xfrm>
            <a:off x="56388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3" name="Oval 112"/>
          <p:cNvSpPr/>
          <p:nvPr/>
        </p:nvSpPr>
        <p:spPr>
          <a:xfrm>
            <a:off x="60960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4" name="Oval 113"/>
          <p:cNvSpPr/>
          <p:nvPr/>
        </p:nvSpPr>
        <p:spPr>
          <a:xfrm>
            <a:off x="65532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5" name="Oval 114"/>
          <p:cNvSpPr/>
          <p:nvPr/>
        </p:nvSpPr>
        <p:spPr>
          <a:xfrm>
            <a:off x="70104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6" name="Oval 115"/>
          <p:cNvSpPr/>
          <p:nvPr/>
        </p:nvSpPr>
        <p:spPr>
          <a:xfrm>
            <a:off x="74676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7" name="Oval 116"/>
          <p:cNvSpPr/>
          <p:nvPr/>
        </p:nvSpPr>
        <p:spPr>
          <a:xfrm>
            <a:off x="79248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8" name="Oval 117"/>
          <p:cNvSpPr/>
          <p:nvPr/>
        </p:nvSpPr>
        <p:spPr>
          <a:xfrm>
            <a:off x="56388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9" name="Oval 118"/>
          <p:cNvSpPr/>
          <p:nvPr/>
        </p:nvSpPr>
        <p:spPr>
          <a:xfrm>
            <a:off x="60960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0" name="Oval 119"/>
          <p:cNvSpPr/>
          <p:nvPr/>
        </p:nvSpPr>
        <p:spPr>
          <a:xfrm>
            <a:off x="65532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1" name="Oval 120"/>
          <p:cNvSpPr/>
          <p:nvPr/>
        </p:nvSpPr>
        <p:spPr>
          <a:xfrm>
            <a:off x="70104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2" name="Oval 121"/>
          <p:cNvSpPr/>
          <p:nvPr/>
        </p:nvSpPr>
        <p:spPr>
          <a:xfrm>
            <a:off x="74676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3" name="Oval 122"/>
          <p:cNvSpPr/>
          <p:nvPr/>
        </p:nvSpPr>
        <p:spPr>
          <a:xfrm>
            <a:off x="79248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4" name="Oval 123"/>
          <p:cNvSpPr/>
          <p:nvPr/>
        </p:nvSpPr>
        <p:spPr>
          <a:xfrm>
            <a:off x="60960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5" name="Oval 124"/>
          <p:cNvSpPr/>
          <p:nvPr/>
        </p:nvSpPr>
        <p:spPr>
          <a:xfrm>
            <a:off x="56388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6" name="Oval 125"/>
          <p:cNvSpPr/>
          <p:nvPr/>
        </p:nvSpPr>
        <p:spPr>
          <a:xfrm>
            <a:off x="18288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7" name="Oval 126"/>
          <p:cNvSpPr/>
          <p:nvPr/>
        </p:nvSpPr>
        <p:spPr>
          <a:xfrm>
            <a:off x="22860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8" name="Oval 127"/>
          <p:cNvSpPr/>
          <p:nvPr/>
        </p:nvSpPr>
        <p:spPr>
          <a:xfrm>
            <a:off x="27432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9" name="Oval 128"/>
          <p:cNvSpPr/>
          <p:nvPr/>
        </p:nvSpPr>
        <p:spPr>
          <a:xfrm>
            <a:off x="32004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0" name="Oval 129"/>
          <p:cNvSpPr/>
          <p:nvPr/>
        </p:nvSpPr>
        <p:spPr>
          <a:xfrm>
            <a:off x="9144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1" name="Oval 130"/>
          <p:cNvSpPr/>
          <p:nvPr/>
        </p:nvSpPr>
        <p:spPr>
          <a:xfrm>
            <a:off x="13716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2" name="Oval 131"/>
          <p:cNvSpPr/>
          <p:nvPr/>
        </p:nvSpPr>
        <p:spPr>
          <a:xfrm>
            <a:off x="18288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3" name="Oval 132"/>
          <p:cNvSpPr/>
          <p:nvPr/>
        </p:nvSpPr>
        <p:spPr>
          <a:xfrm>
            <a:off x="22860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4" name="Oval 133"/>
          <p:cNvSpPr/>
          <p:nvPr/>
        </p:nvSpPr>
        <p:spPr>
          <a:xfrm>
            <a:off x="2743200" y="4419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5" name="Oval 134"/>
          <p:cNvSpPr/>
          <p:nvPr/>
        </p:nvSpPr>
        <p:spPr>
          <a:xfrm>
            <a:off x="3200400" y="4419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6" name="Oval 135"/>
          <p:cNvSpPr/>
          <p:nvPr/>
        </p:nvSpPr>
        <p:spPr>
          <a:xfrm>
            <a:off x="9144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7" name="Oval 136"/>
          <p:cNvSpPr/>
          <p:nvPr/>
        </p:nvSpPr>
        <p:spPr>
          <a:xfrm>
            <a:off x="13716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8" name="Oval 137"/>
          <p:cNvSpPr/>
          <p:nvPr/>
        </p:nvSpPr>
        <p:spPr>
          <a:xfrm>
            <a:off x="18288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39" name="Oval 138"/>
          <p:cNvSpPr/>
          <p:nvPr/>
        </p:nvSpPr>
        <p:spPr>
          <a:xfrm>
            <a:off x="22860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0" name="Oval 139"/>
          <p:cNvSpPr/>
          <p:nvPr/>
        </p:nvSpPr>
        <p:spPr>
          <a:xfrm>
            <a:off x="27432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1" name="Oval 140"/>
          <p:cNvSpPr/>
          <p:nvPr/>
        </p:nvSpPr>
        <p:spPr>
          <a:xfrm>
            <a:off x="32004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2" name="Oval 141"/>
          <p:cNvSpPr/>
          <p:nvPr/>
        </p:nvSpPr>
        <p:spPr>
          <a:xfrm>
            <a:off x="13716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3" name="Oval 142"/>
          <p:cNvSpPr/>
          <p:nvPr/>
        </p:nvSpPr>
        <p:spPr>
          <a:xfrm>
            <a:off x="9144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4" name="Oval 143"/>
          <p:cNvSpPr/>
          <p:nvPr/>
        </p:nvSpPr>
        <p:spPr>
          <a:xfrm>
            <a:off x="9144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5" name="Oval 144"/>
          <p:cNvSpPr/>
          <p:nvPr/>
        </p:nvSpPr>
        <p:spPr>
          <a:xfrm>
            <a:off x="13716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6" name="Oval 145"/>
          <p:cNvSpPr/>
          <p:nvPr/>
        </p:nvSpPr>
        <p:spPr>
          <a:xfrm>
            <a:off x="18288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7" name="Oval 146"/>
          <p:cNvSpPr/>
          <p:nvPr/>
        </p:nvSpPr>
        <p:spPr>
          <a:xfrm>
            <a:off x="22860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8" name="Oval 147"/>
          <p:cNvSpPr/>
          <p:nvPr/>
        </p:nvSpPr>
        <p:spPr>
          <a:xfrm>
            <a:off x="27432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9" name="Oval 148"/>
          <p:cNvSpPr/>
          <p:nvPr/>
        </p:nvSpPr>
        <p:spPr>
          <a:xfrm>
            <a:off x="32004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0" name="TextBox 149"/>
          <p:cNvSpPr txBox="1"/>
          <p:nvPr/>
        </p:nvSpPr>
        <p:spPr>
          <a:xfrm>
            <a:off x="228600" y="5867400"/>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10 relapse, 14 no relapse</a:t>
            </a:r>
          </a:p>
        </p:txBody>
      </p:sp>
      <p:sp>
        <p:nvSpPr>
          <p:cNvPr id="151" name="TextBox 150"/>
          <p:cNvSpPr txBox="1"/>
          <p:nvPr/>
        </p:nvSpPr>
        <p:spPr>
          <a:xfrm>
            <a:off x="5486400" y="5867400"/>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18 relapse, 6 no relapse</a:t>
            </a:r>
          </a:p>
        </p:txBody>
      </p:sp>
    </p:spTree>
    <p:custDataLst>
      <p:tags r:id="rId1"/>
    </p:custDataLst>
    <p:extLst>
      <p:ext uri="{BB962C8B-B14F-4D97-AF65-F5344CB8AC3E}">
        <p14:creationId xmlns:p14="http://schemas.microsoft.com/office/powerpoint/2010/main" val="12269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1 -0.51064 " pathEditMode="relative" ptsTypes="AA">
                                      <p:cBhvr>
                                        <p:cTn id="6" dur="2000" fill="hold"/>
                                        <p:tgtEl>
                                          <p:spTgt spid="126"/>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1 -0.51064 " pathEditMode="relative" ptsTypes="AA">
                                      <p:cBhvr>
                                        <p:cTn id="8" dur="2000" fill="hold"/>
                                        <p:tgtEl>
                                          <p:spTgt spid="127"/>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1 -0.51064 " pathEditMode="relative" ptsTypes="AA">
                                      <p:cBhvr>
                                        <p:cTn id="10" dur="2000" fill="hold"/>
                                        <p:tgtEl>
                                          <p:spTgt spid="128"/>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1 -0.51064 " pathEditMode="relative" ptsTypes="AA">
                                      <p:cBhvr>
                                        <p:cTn id="12" dur="2000" fill="hold"/>
                                        <p:tgtEl>
                                          <p:spTgt spid="129"/>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1 -0.51064 " pathEditMode="relative" ptsTypes="AA">
                                      <p:cBhvr>
                                        <p:cTn id="14" dur="2000" fill="hold"/>
                                        <p:tgtEl>
                                          <p:spTgt spid="130"/>
                                        </p:tgtEl>
                                        <p:attrNameLst>
                                          <p:attrName>ppt_x</p:attrName>
                                          <p:attrName>ppt_y</p:attrName>
                                        </p:attrNameLst>
                                      </p:cBhvr>
                                    </p:animMotion>
                                  </p:childTnLst>
                                </p:cTn>
                              </p:par>
                              <p:par>
                                <p:cTn id="15" presetID="0" presetClass="path" presetSubtype="0" accel="50000" decel="50000" fill="hold" grpId="0" nodeType="withEffect">
                                  <p:stCondLst>
                                    <p:cond delay="0"/>
                                  </p:stCondLst>
                                  <p:childTnLst>
                                    <p:animMotion origin="layout" path="M 0 0 L 0.1 -0.51064 " pathEditMode="relative" ptsTypes="AA">
                                      <p:cBhvr>
                                        <p:cTn id="16" dur="2000" fill="hold"/>
                                        <p:tgtEl>
                                          <p:spTgt spid="131"/>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 0 L 0.1 -0.51064 " pathEditMode="relative" ptsTypes="AA">
                                      <p:cBhvr>
                                        <p:cTn id="18" dur="2000" fill="hold"/>
                                        <p:tgtEl>
                                          <p:spTgt spid="132"/>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 0 L 0.1 -0.51064 " pathEditMode="relative" ptsTypes="AA">
                                      <p:cBhvr>
                                        <p:cTn id="20" dur="2000" fill="hold"/>
                                        <p:tgtEl>
                                          <p:spTgt spid="133"/>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0 0 L 0.1 -0.51064 " pathEditMode="relative" ptsTypes="AA">
                                      <p:cBhvr>
                                        <p:cTn id="22" dur="2000" fill="hold"/>
                                        <p:tgtEl>
                                          <p:spTgt spid="134"/>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1 -0.51064 " pathEditMode="relative" ptsTypes="AA">
                                      <p:cBhvr>
                                        <p:cTn id="24" dur="2000" fill="hold"/>
                                        <p:tgtEl>
                                          <p:spTgt spid="135"/>
                                        </p:tgtEl>
                                        <p:attrNameLst>
                                          <p:attrName>ppt_x</p:attrName>
                                          <p:attrName>ppt_y</p:attrName>
                                        </p:attrNameLst>
                                      </p:cBhvr>
                                    </p:animMotion>
                                  </p:childTnLst>
                                </p:cTn>
                              </p:par>
                              <p:par>
                                <p:cTn id="25" presetID="0" presetClass="path" presetSubtype="0" accel="50000" decel="50000" fill="hold" grpId="0" nodeType="withEffect">
                                  <p:stCondLst>
                                    <p:cond delay="0"/>
                                  </p:stCondLst>
                                  <p:childTnLst>
                                    <p:animMotion origin="layout" path="M 0 0 L 0.1 -0.51064 " pathEditMode="relative" ptsTypes="AA">
                                      <p:cBhvr>
                                        <p:cTn id="26" dur="2000" fill="hold"/>
                                        <p:tgtEl>
                                          <p:spTgt spid="136"/>
                                        </p:tgtEl>
                                        <p:attrNameLst>
                                          <p:attrName>ppt_x</p:attrName>
                                          <p:attrName>ppt_y</p:attrName>
                                        </p:attrNameLst>
                                      </p:cBhvr>
                                    </p:animMotion>
                                  </p:childTnLst>
                                </p:cTn>
                              </p:par>
                              <p:par>
                                <p:cTn id="27" presetID="0" presetClass="path" presetSubtype="0" accel="50000" decel="50000" fill="hold" grpId="0" nodeType="withEffect">
                                  <p:stCondLst>
                                    <p:cond delay="0"/>
                                  </p:stCondLst>
                                  <p:childTnLst>
                                    <p:animMotion origin="layout" path="M 0 0 L 0.1 -0.51064 " pathEditMode="relative" ptsTypes="AA">
                                      <p:cBhvr>
                                        <p:cTn id="28" dur="2000" fill="hold"/>
                                        <p:tgtEl>
                                          <p:spTgt spid="137"/>
                                        </p:tgtEl>
                                        <p:attrNameLst>
                                          <p:attrName>ppt_x</p:attrName>
                                          <p:attrName>ppt_y</p:attrName>
                                        </p:attrNameLst>
                                      </p:cBhvr>
                                    </p:animMotion>
                                  </p:childTnLst>
                                </p:cTn>
                              </p:par>
                              <p:par>
                                <p:cTn id="29" presetID="0" presetClass="path" presetSubtype="0" accel="50000" decel="50000" fill="hold" grpId="0" nodeType="withEffect">
                                  <p:stCondLst>
                                    <p:cond delay="0"/>
                                  </p:stCondLst>
                                  <p:childTnLst>
                                    <p:animMotion origin="layout" path="M 0 0 L 0.1 -0.51064 " pathEditMode="relative" ptsTypes="AA">
                                      <p:cBhvr>
                                        <p:cTn id="30" dur="2000" fill="hold"/>
                                        <p:tgtEl>
                                          <p:spTgt spid="138"/>
                                        </p:tgtEl>
                                        <p:attrNameLst>
                                          <p:attrName>ppt_x</p:attrName>
                                          <p:attrName>ppt_y</p:attrName>
                                        </p:attrNameLst>
                                      </p:cBhvr>
                                    </p:animMotion>
                                  </p:childTnLst>
                                </p:cTn>
                              </p:par>
                              <p:par>
                                <p:cTn id="31" presetID="0" presetClass="path" presetSubtype="0" accel="50000" decel="50000" fill="hold" grpId="0" nodeType="withEffect">
                                  <p:stCondLst>
                                    <p:cond delay="0"/>
                                  </p:stCondLst>
                                  <p:childTnLst>
                                    <p:animMotion origin="layout" path="M 0 0 L 0.1 -0.51064 " pathEditMode="relative" ptsTypes="AA">
                                      <p:cBhvr>
                                        <p:cTn id="32" dur="2000" fill="hold"/>
                                        <p:tgtEl>
                                          <p:spTgt spid="139"/>
                                        </p:tgtEl>
                                        <p:attrNameLst>
                                          <p:attrName>ppt_x</p:attrName>
                                          <p:attrName>ppt_y</p:attrName>
                                        </p:attrNameLst>
                                      </p:cBhvr>
                                    </p:animMotion>
                                  </p:childTnLst>
                                </p:cTn>
                              </p:par>
                              <p:par>
                                <p:cTn id="33" presetID="0" presetClass="path" presetSubtype="0" accel="50000" decel="50000" fill="hold" grpId="0" nodeType="withEffect">
                                  <p:stCondLst>
                                    <p:cond delay="0"/>
                                  </p:stCondLst>
                                  <p:childTnLst>
                                    <p:animMotion origin="layout" path="M 0 0 L 0.1 -0.51064 " pathEditMode="relative" ptsTypes="AA">
                                      <p:cBhvr>
                                        <p:cTn id="34" dur="2000" fill="hold"/>
                                        <p:tgtEl>
                                          <p:spTgt spid="140"/>
                                        </p:tgtEl>
                                        <p:attrNameLst>
                                          <p:attrName>ppt_x</p:attrName>
                                          <p:attrName>ppt_y</p:attrName>
                                        </p:attrNameLst>
                                      </p:cBhvr>
                                    </p:animMotion>
                                  </p:childTnLst>
                                </p:cTn>
                              </p:par>
                              <p:par>
                                <p:cTn id="35" presetID="0" presetClass="path" presetSubtype="0" accel="50000" decel="50000" fill="hold" grpId="0" nodeType="withEffect">
                                  <p:stCondLst>
                                    <p:cond delay="0"/>
                                  </p:stCondLst>
                                  <p:childTnLst>
                                    <p:animMotion origin="layout" path="M 0 0 L 0.1 -0.51064 " pathEditMode="relative" ptsTypes="AA">
                                      <p:cBhvr>
                                        <p:cTn id="36" dur="2000" fill="hold"/>
                                        <p:tgtEl>
                                          <p:spTgt spid="141"/>
                                        </p:tgtEl>
                                        <p:attrNameLst>
                                          <p:attrName>ppt_x</p:attrName>
                                          <p:attrName>ppt_y</p:attrName>
                                        </p:attrNameLst>
                                      </p:cBhvr>
                                    </p:animMotion>
                                  </p:childTnLst>
                                </p:cTn>
                              </p:par>
                              <p:par>
                                <p:cTn id="37" presetID="0" presetClass="path" presetSubtype="0" accel="50000" decel="50000" fill="hold" grpId="0" nodeType="withEffect">
                                  <p:stCondLst>
                                    <p:cond delay="0"/>
                                  </p:stCondLst>
                                  <p:childTnLst>
                                    <p:animMotion origin="layout" path="M 0 0 L 0.1 -0.51064 " pathEditMode="relative" ptsTypes="AA">
                                      <p:cBhvr>
                                        <p:cTn id="38" dur="2000" fill="hold"/>
                                        <p:tgtEl>
                                          <p:spTgt spid="142"/>
                                        </p:tgtEl>
                                        <p:attrNameLst>
                                          <p:attrName>ppt_x</p:attrName>
                                          <p:attrName>ppt_y</p:attrName>
                                        </p:attrNameLst>
                                      </p:cBhvr>
                                    </p:animMotion>
                                  </p:childTnLst>
                                </p:cTn>
                              </p:par>
                              <p:par>
                                <p:cTn id="39" presetID="0" presetClass="path" presetSubtype="0" accel="50000" decel="50000" fill="hold" grpId="0" nodeType="withEffect">
                                  <p:stCondLst>
                                    <p:cond delay="0"/>
                                  </p:stCondLst>
                                  <p:childTnLst>
                                    <p:animMotion origin="layout" path="M 0 0 L 0.1 -0.51064 " pathEditMode="relative" ptsTypes="AA">
                                      <p:cBhvr>
                                        <p:cTn id="40" dur="2000" fill="hold"/>
                                        <p:tgtEl>
                                          <p:spTgt spid="143"/>
                                        </p:tgtEl>
                                        <p:attrNameLst>
                                          <p:attrName>ppt_x</p:attrName>
                                          <p:attrName>ppt_y</p:attrName>
                                        </p:attrNameLst>
                                      </p:cBhvr>
                                    </p:animMotion>
                                  </p:childTnLst>
                                </p:cTn>
                              </p:par>
                              <p:par>
                                <p:cTn id="41" presetID="0" presetClass="path" presetSubtype="0" accel="50000" decel="50000" fill="hold" grpId="0" nodeType="withEffect">
                                  <p:stCondLst>
                                    <p:cond delay="0"/>
                                  </p:stCondLst>
                                  <p:childTnLst>
                                    <p:animMotion origin="layout" path="M 0 0 L 0.1 -0.51064 " pathEditMode="relative" ptsTypes="AA">
                                      <p:cBhvr>
                                        <p:cTn id="42" dur="2000" fill="hold"/>
                                        <p:tgtEl>
                                          <p:spTgt spid="144"/>
                                        </p:tgtEl>
                                        <p:attrNameLst>
                                          <p:attrName>ppt_x</p:attrName>
                                          <p:attrName>ppt_y</p:attrName>
                                        </p:attrNameLst>
                                      </p:cBhvr>
                                    </p:animMotion>
                                  </p:childTnLst>
                                </p:cTn>
                              </p:par>
                              <p:par>
                                <p:cTn id="43" presetID="0" presetClass="path" presetSubtype="0" accel="50000" decel="50000" fill="hold" grpId="0" nodeType="withEffect">
                                  <p:stCondLst>
                                    <p:cond delay="0"/>
                                  </p:stCondLst>
                                  <p:childTnLst>
                                    <p:animMotion origin="layout" path="M 0 0 L 0.1 -0.51064 " pathEditMode="relative" ptsTypes="AA">
                                      <p:cBhvr>
                                        <p:cTn id="44" dur="2000" fill="hold"/>
                                        <p:tgtEl>
                                          <p:spTgt spid="145"/>
                                        </p:tgtEl>
                                        <p:attrNameLst>
                                          <p:attrName>ppt_x</p:attrName>
                                          <p:attrName>ppt_y</p:attrName>
                                        </p:attrNameLst>
                                      </p:cBhvr>
                                    </p:animMotion>
                                  </p:childTnLst>
                                </p:cTn>
                              </p:par>
                              <p:par>
                                <p:cTn id="45" presetID="0" presetClass="path" presetSubtype="0" accel="50000" decel="50000" fill="hold" grpId="0" nodeType="withEffect">
                                  <p:stCondLst>
                                    <p:cond delay="0"/>
                                  </p:stCondLst>
                                  <p:childTnLst>
                                    <p:animMotion origin="layout" path="M 0 0 L 0.1 -0.51064 " pathEditMode="relative" ptsTypes="AA">
                                      <p:cBhvr>
                                        <p:cTn id="46" dur="2000" fill="hold"/>
                                        <p:tgtEl>
                                          <p:spTgt spid="146"/>
                                        </p:tgtEl>
                                        <p:attrNameLst>
                                          <p:attrName>ppt_x</p:attrName>
                                          <p:attrName>ppt_y</p:attrName>
                                        </p:attrNameLst>
                                      </p:cBhvr>
                                    </p:animMotion>
                                  </p:childTnLst>
                                </p:cTn>
                              </p:par>
                              <p:par>
                                <p:cTn id="47" presetID="0" presetClass="path" presetSubtype="0" accel="50000" decel="50000" fill="hold" grpId="0" nodeType="withEffect">
                                  <p:stCondLst>
                                    <p:cond delay="0"/>
                                  </p:stCondLst>
                                  <p:childTnLst>
                                    <p:animMotion origin="layout" path="M 0 0 L 0.1 -0.51064 " pathEditMode="relative" ptsTypes="AA">
                                      <p:cBhvr>
                                        <p:cTn id="48" dur="2000" fill="hold"/>
                                        <p:tgtEl>
                                          <p:spTgt spid="147"/>
                                        </p:tgtEl>
                                        <p:attrNameLst>
                                          <p:attrName>ppt_x</p:attrName>
                                          <p:attrName>ppt_y</p:attrName>
                                        </p:attrNameLst>
                                      </p:cBhvr>
                                    </p:animMotion>
                                  </p:childTnLst>
                                </p:cTn>
                              </p:par>
                              <p:par>
                                <p:cTn id="49" presetID="0" presetClass="path" presetSubtype="0" accel="50000" decel="50000" fill="hold" grpId="0" nodeType="withEffect">
                                  <p:stCondLst>
                                    <p:cond delay="0"/>
                                  </p:stCondLst>
                                  <p:childTnLst>
                                    <p:animMotion origin="layout" path="M 0 0 L 0.1 -0.51064 " pathEditMode="relative" ptsTypes="AA">
                                      <p:cBhvr>
                                        <p:cTn id="50" dur="2000" fill="hold"/>
                                        <p:tgtEl>
                                          <p:spTgt spid="148"/>
                                        </p:tgtEl>
                                        <p:attrNameLst>
                                          <p:attrName>ppt_x</p:attrName>
                                          <p:attrName>ppt_y</p:attrName>
                                        </p:attrNameLst>
                                      </p:cBhvr>
                                    </p:animMotion>
                                  </p:childTnLst>
                                </p:cTn>
                              </p:par>
                              <p:par>
                                <p:cTn id="51" presetID="0" presetClass="path" presetSubtype="0" accel="50000" decel="50000" fill="hold" grpId="0" nodeType="withEffect">
                                  <p:stCondLst>
                                    <p:cond delay="0"/>
                                  </p:stCondLst>
                                  <p:childTnLst>
                                    <p:animMotion origin="layout" path="M 0 0 L 0.1 -0.51064 " pathEditMode="relative" ptsTypes="AA">
                                      <p:cBhvr>
                                        <p:cTn id="52" dur="2000" fill="hold"/>
                                        <p:tgtEl>
                                          <p:spTgt spid="149"/>
                                        </p:tgtEl>
                                        <p:attrNameLst>
                                          <p:attrName>ppt_x</p:attrName>
                                          <p:attrName>ppt_y</p:attrName>
                                        </p:attrNameLst>
                                      </p:cBhvr>
                                    </p:animMotion>
                                  </p:childTnLst>
                                </p:cTn>
                              </p:par>
                              <p:par>
                                <p:cTn id="53" presetID="0" presetClass="path" presetSubtype="0" accel="50000" decel="50000" fill="hold" grpId="0" nodeType="withEffect">
                                  <p:stCondLst>
                                    <p:cond delay="0"/>
                                  </p:stCondLst>
                                  <p:childTnLst>
                                    <p:animMotion origin="layout" path="M 0 0 L -0.11667 -0.52174 " pathEditMode="relative" ptsTypes="AA">
                                      <p:cBhvr>
                                        <p:cTn id="54" dur="2000" fill="hold"/>
                                        <p:tgtEl>
                                          <p:spTgt spid="102"/>
                                        </p:tgtEl>
                                        <p:attrNameLst>
                                          <p:attrName>ppt_x</p:attrName>
                                          <p:attrName>ppt_y</p:attrName>
                                        </p:attrNameLst>
                                      </p:cBhvr>
                                    </p:animMotion>
                                  </p:childTnLst>
                                </p:cTn>
                              </p:par>
                              <p:par>
                                <p:cTn id="55" presetID="0" presetClass="path" presetSubtype="0" accel="50000" decel="50000" fill="hold" grpId="0" nodeType="withEffect">
                                  <p:stCondLst>
                                    <p:cond delay="0"/>
                                  </p:stCondLst>
                                  <p:childTnLst>
                                    <p:animMotion origin="layout" path="M 0 0 L -0.11667 -0.52174 " pathEditMode="relative" ptsTypes="AA">
                                      <p:cBhvr>
                                        <p:cTn id="56" dur="2000" fill="hold"/>
                                        <p:tgtEl>
                                          <p:spTgt spid="103"/>
                                        </p:tgtEl>
                                        <p:attrNameLst>
                                          <p:attrName>ppt_x</p:attrName>
                                          <p:attrName>ppt_y</p:attrName>
                                        </p:attrNameLst>
                                      </p:cBhvr>
                                    </p:animMotion>
                                  </p:childTnLst>
                                </p:cTn>
                              </p:par>
                              <p:par>
                                <p:cTn id="57" presetID="0" presetClass="path" presetSubtype="0" accel="50000" decel="50000" fill="hold" grpId="0" nodeType="withEffect">
                                  <p:stCondLst>
                                    <p:cond delay="0"/>
                                  </p:stCondLst>
                                  <p:childTnLst>
                                    <p:animMotion origin="layout" path="M 0 0 L -0.11667 -0.52174 " pathEditMode="relative" ptsTypes="AA">
                                      <p:cBhvr>
                                        <p:cTn id="58" dur="2000" fill="hold"/>
                                        <p:tgtEl>
                                          <p:spTgt spid="104"/>
                                        </p:tgtEl>
                                        <p:attrNameLst>
                                          <p:attrName>ppt_x</p:attrName>
                                          <p:attrName>ppt_y</p:attrName>
                                        </p:attrNameLst>
                                      </p:cBhvr>
                                    </p:animMotion>
                                  </p:childTnLst>
                                </p:cTn>
                              </p:par>
                              <p:par>
                                <p:cTn id="59" presetID="0" presetClass="path" presetSubtype="0" accel="50000" decel="50000" fill="hold" grpId="0" nodeType="withEffect">
                                  <p:stCondLst>
                                    <p:cond delay="0"/>
                                  </p:stCondLst>
                                  <p:childTnLst>
                                    <p:animMotion origin="layout" path="M 0 0 L -0.11667 -0.52174 " pathEditMode="relative" ptsTypes="AA">
                                      <p:cBhvr>
                                        <p:cTn id="60" dur="2000" fill="hold"/>
                                        <p:tgtEl>
                                          <p:spTgt spid="105"/>
                                        </p:tgtEl>
                                        <p:attrNameLst>
                                          <p:attrName>ppt_x</p:attrName>
                                          <p:attrName>ppt_y</p:attrName>
                                        </p:attrNameLst>
                                      </p:cBhvr>
                                    </p:animMotion>
                                  </p:childTnLst>
                                </p:cTn>
                              </p:par>
                              <p:par>
                                <p:cTn id="61" presetID="0" presetClass="path" presetSubtype="0" accel="50000" decel="50000" fill="hold" grpId="0" nodeType="withEffect">
                                  <p:stCondLst>
                                    <p:cond delay="0"/>
                                  </p:stCondLst>
                                  <p:childTnLst>
                                    <p:animMotion origin="layout" path="M 0 0 L -0.11667 -0.52174 " pathEditMode="relative" ptsTypes="AA">
                                      <p:cBhvr>
                                        <p:cTn id="62" dur="2000" fill="hold"/>
                                        <p:tgtEl>
                                          <p:spTgt spid="106"/>
                                        </p:tgtEl>
                                        <p:attrNameLst>
                                          <p:attrName>ppt_x</p:attrName>
                                          <p:attrName>ppt_y</p:attrName>
                                        </p:attrNameLst>
                                      </p:cBhvr>
                                    </p:animMotion>
                                  </p:childTnLst>
                                </p:cTn>
                              </p:par>
                              <p:par>
                                <p:cTn id="63" presetID="0" presetClass="path" presetSubtype="0" accel="50000" decel="50000" fill="hold" grpId="0" nodeType="withEffect">
                                  <p:stCondLst>
                                    <p:cond delay="0"/>
                                  </p:stCondLst>
                                  <p:childTnLst>
                                    <p:animMotion origin="layout" path="M 0 0 L -0.11667 -0.52174 " pathEditMode="relative" ptsTypes="AA">
                                      <p:cBhvr>
                                        <p:cTn id="64" dur="2000" fill="hold"/>
                                        <p:tgtEl>
                                          <p:spTgt spid="107"/>
                                        </p:tgtEl>
                                        <p:attrNameLst>
                                          <p:attrName>ppt_x</p:attrName>
                                          <p:attrName>ppt_y</p:attrName>
                                        </p:attrNameLst>
                                      </p:cBhvr>
                                    </p:animMotion>
                                  </p:childTnLst>
                                </p:cTn>
                              </p:par>
                              <p:par>
                                <p:cTn id="65" presetID="0" presetClass="path" presetSubtype="0" accel="50000" decel="50000" fill="hold" grpId="0" nodeType="withEffect">
                                  <p:stCondLst>
                                    <p:cond delay="0"/>
                                  </p:stCondLst>
                                  <p:childTnLst>
                                    <p:animMotion origin="layout" path="M 0 0 L -0.11667 -0.52174 " pathEditMode="relative" ptsTypes="AA">
                                      <p:cBhvr>
                                        <p:cTn id="66" dur="2000" fill="hold"/>
                                        <p:tgtEl>
                                          <p:spTgt spid="108"/>
                                        </p:tgtEl>
                                        <p:attrNameLst>
                                          <p:attrName>ppt_x</p:attrName>
                                          <p:attrName>ppt_y</p:attrName>
                                        </p:attrNameLst>
                                      </p:cBhvr>
                                    </p:animMotion>
                                  </p:childTnLst>
                                </p:cTn>
                              </p:par>
                              <p:par>
                                <p:cTn id="67" presetID="0" presetClass="path" presetSubtype="0" accel="50000" decel="50000" fill="hold" grpId="0" nodeType="withEffect">
                                  <p:stCondLst>
                                    <p:cond delay="0"/>
                                  </p:stCondLst>
                                  <p:childTnLst>
                                    <p:animMotion origin="layout" path="M 0 0 L -0.11667 -0.52174 " pathEditMode="relative" ptsTypes="AA">
                                      <p:cBhvr>
                                        <p:cTn id="68" dur="2000" fill="hold"/>
                                        <p:tgtEl>
                                          <p:spTgt spid="109"/>
                                        </p:tgtEl>
                                        <p:attrNameLst>
                                          <p:attrName>ppt_x</p:attrName>
                                          <p:attrName>ppt_y</p:attrName>
                                        </p:attrNameLst>
                                      </p:cBhvr>
                                    </p:animMotion>
                                  </p:childTnLst>
                                </p:cTn>
                              </p:par>
                              <p:par>
                                <p:cTn id="69" presetID="0" presetClass="path" presetSubtype="0" accel="50000" decel="50000" fill="hold" grpId="0" nodeType="withEffect">
                                  <p:stCondLst>
                                    <p:cond delay="0"/>
                                  </p:stCondLst>
                                  <p:childTnLst>
                                    <p:animMotion origin="layout" path="M 0 0 L -0.11667 -0.52174 " pathEditMode="relative" ptsTypes="AA">
                                      <p:cBhvr>
                                        <p:cTn id="70" dur="2000" fill="hold"/>
                                        <p:tgtEl>
                                          <p:spTgt spid="110"/>
                                        </p:tgtEl>
                                        <p:attrNameLst>
                                          <p:attrName>ppt_x</p:attrName>
                                          <p:attrName>ppt_y</p:attrName>
                                        </p:attrNameLst>
                                      </p:cBhvr>
                                    </p:animMotion>
                                  </p:childTnLst>
                                </p:cTn>
                              </p:par>
                              <p:par>
                                <p:cTn id="71" presetID="0" presetClass="path" presetSubtype="0" accel="50000" decel="50000" fill="hold" grpId="0" nodeType="withEffect">
                                  <p:stCondLst>
                                    <p:cond delay="0"/>
                                  </p:stCondLst>
                                  <p:childTnLst>
                                    <p:animMotion origin="layout" path="M 0 0 L -0.11667 -0.52174 " pathEditMode="relative" ptsTypes="AA">
                                      <p:cBhvr>
                                        <p:cTn id="72" dur="2000" fill="hold"/>
                                        <p:tgtEl>
                                          <p:spTgt spid="111"/>
                                        </p:tgtEl>
                                        <p:attrNameLst>
                                          <p:attrName>ppt_x</p:attrName>
                                          <p:attrName>ppt_y</p:attrName>
                                        </p:attrNameLst>
                                      </p:cBhvr>
                                    </p:animMotion>
                                  </p:childTnLst>
                                </p:cTn>
                              </p:par>
                              <p:par>
                                <p:cTn id="73" presetID="0" presetClass="path" presetSubtype="0" accel="50000" decel="50000" fill="hold" grpId="0" nodeType="withEffect">
                                  <p:stCondLst>
                                    <p:cond delay="0"/>
                                  </p:stCondLst>
                                  <p:childTnLst>
                                    <p:animMotion origin="layout" path="M 0 0 L -0.11667 -0.52174 " pathEditMode="relative" ptsTypes="AA">
                                      <p:cBhvr>
                                        <p:cTn id="74" dur="2000" fill="hold"/>
                                        <p:tgtEl>
                                          <p:spTgt spid="112"/>
                                        </p:tgtEl>
                                        <p:attrNameLst>
                                          <p:attrName>ppt_x</p:attrName>
                                          <p:attrName>ppt_y</p:attrName>
                                        </p:attrNameLst>
                                      </p:cBhvr>
                                    </p:animMotion>
                                  </p:childTnLst>
                                </p:cTn>
                              </p:par>
                              <p:par>
                                <p:cTn id="75" presetID="0" presetClass="path" presetSubtype="0" accel="50000" decel="50000" fill="hold" grpId="0" nodeType="withEffect">
                                  <p:stCondLst>
                                    <p:cond delay="0"/>
                                  </p:stCondLst>
                                  <p:childTnLst>
                                    <p:animMotion origin="layout" path="M 0 0 L -0.11667 -0.52174 " pathEditMode="relative" ptsTypes="AA">
                                      <p:cBhvr>
                                        <p:cTn id="76" dur="2000" fill="hold"/>
                                        <p:tgtEl>
                                          <p:spTgt spid="113"/>
                                        </p:tgtEl>
                                        <p:attrNameLst>
                                          <p:attrName>ppt_x</p:attrName>
                                          <p:attrName>ppt_y</p:attrName>
                                        </p:attrNameLst>
                                      </p:cBhvr>
                                    </p:animMotion>
                                  </p:childTnLst>
                                </p:cTn>
                              </p:par>
                              <p:par>
                                <p:cTn id="77" presetID="0" presetClass="path" presetSubtype="0" accel="50000" decel="50000" fill="hold" grpId="0" nodeType="withEffect">
                                  <p:stCondLst>
                                    <p:cond delay="0"/>
                                  </p:stCondLst>
                                  <p:childTnLst>
                                    <p:animMotion origin="layout" path="M 0 0 L -0.11667 -0.52174 " pathEditMode="relative" ptsTypes="AA">
                                      <p:cBhvr>
                                        <p:cTn id="78" dur="2000" fill="hold"/>
                                        <p:tgtEl>
                                          <p:spTgt spid="114"/>
                                        </p:tgtEl>
                                        <p:attrNameLst>
                                          <p:attrName>ppt_x</p:attrName>
                                          <p:attrName>ppt_y</p:attrName>
                                        </p:attrNameLst>
                                      </p:cBhvr>
                                    </p:animMotion>
                                  </p:childTnLst>
                                </p:cTn>
                              </p:par>
                              <p:par>
                                <p:cTn id="79" presetID="0" presetClass="path" presetSubtype="0" accel="50000" decel="50000" fill="hold" grpId="0" nodeType="withEffect">
                                  <p:stCondLst>
                                    <p:cond delay="0"/>
                                  </p:stCondLst>
                                  <p:childTnLst>
                                    <p:animMotion origin="layout" path="M 0 0 L -0.11667 -0.52174 " pathEditMode="relative" ptsTypes="AA">
                                      <p:cBhvr>
                                        <p:cTn id="80" dur="2000" fill="hold"/>
                                        <p:tgtEl>
                                          <p:spTgt spid="115"/>
                                        </p:tgtEl>
                                        <p:attrNameLst>
                                          <p:attrName>ppt_x</p:attrName>
                                          <p:attrName>ppt_y</p:attrName>
                                        </p:attrNameLst>
                                      </p:cBhvr>
                                    </p:animMotion>
                                  </p:childTnLst>
                                </p:cTn>
                              </p:par>
                              <p:par>
                                <p:cTn id="81" presetID="0" presetClass="path" presetSubtype="0" accel="50000" decel="50000" fill="hold" grpId="0" nodeType="withEffect">
                                  <p:stCondLst>
                                    <p:cond delay="0"/>
                                  </p:stCondLst>
                                  <p:childTnLst>
                                    <p:animMotion origin="layout" path="M 0 0 L -0.11667 -0.52174 " pathEditMode="relative" ptsTypes="AA">
                                      <p:cBhvr>
                                        <p:cTn id="82" dur="2000" fill="hold"/>
                                        <p:tgtEl>
                                          <p:spTgt spid="116"/>
                                        </p:tgtEl>
                                        <p:attrNameLst>
                                          <p:attrName>ppt_x</p:attrName>
                                          <p:attrName>ppt_y</p:attrName>
                                        </p:attrNameLst>
                                      </p:cBhvr>
                                    </p:animMotion>
                                  </p:childTnLst>
                                </p:cTn>
                              </p:par>
                              <p:par>
                                <p:cTn id="83" presetID="0" presetClass="path" presetSubtype="0" accel="50000" decel="50000" fill="hold" grpId="0" nodeType="withEffect">
                                  <p:stCondLst>
                                    <p:cond delay="0"/>
                                  </p:stCondLst>
                                  <p:childTnLst>
                                    <p:animMotion origin="layout" path="M 0 0 L -0.11667 -0.52174 " pathEditMode="relative" ptsTypes="AA">
                                      <p:cBhvr>
                                        <p:cTn id="84" dur="2000" fill="hold"/>
                                        <p:tgtEl>
                                          <p:spTgt spid="117"/>
                                        </p:tgtEl>
                                        <p:attrNameLst>
                                          <p:attrName>ppt_x</p:attrName>
                                          <p:attrName>ppt_y</p:attrName>
                                        </p:attrNameLst>
                                      </p:cBhvr>
                                    </p:animMotion>
                                  </p:childTnLst>
                                </p:cTn>
                              </p:par>
                              <p:par>
                                <p:cTn id="85" presetID="0" presetClass="path" presetSubtype="0" accel="50000" decel="50000" fill="hold" grpId="0" nodeType="withEffect">
                                  <p:stCondLst>
                                    <p:cond delay="0"/>
                                  </p:stCondLst>
                                  <p:childTnLst>
                                    <p:animMotion origin="layout" path="M 0 0 L -0.11667 -0.52174 " pathEditMode="relative" ptsTypes="AA">
                                      <p:cBhvr>
                                        <p:cTn id="86" dur="2000" fill="hold"/>
                                        <p:tgtEl>
                                          <p:spTgt spid="118"/>
                                        </p:tgtEl>
                                        <p:attrNameLst>
                                          <p:attrName>ppt_x</p:attrName>
                                          <p:attrName>ppt_y</p:attrName>
                                        </p:attrNameLst>
                                      </p:cBhvr>
                                    </p:animMotion>
                                  </p:childTnLst>
                                </p:cTn>
                              </p:par>
                              <p:par>
                                <p:cTn id="87" presetID="0" presetClass="path" presetSubtype="0" accel="50000" decel="50000" fill="hold" grpId="0" nodeType="withEffect">
                                  <p:stCondLst>
                                    <p:cond delay="0"/>
                                  </p:stCondLst>
                                  <p:childTnLst>
                                    <p:animMotion origin="layout" path="M 0 0 L -0.11667 -0.52174 " pathEditMode="relative" ptsTypes="AA">
                                      <p:cBhvr>
                                        <p:cTn id="88" dur="2000" fill="hold"/>
                                        <p:tgtEl>
                                          <p:spTgt spid="119"/>
                                        </p:tgtEl>
                                        <p:attrNameLst>
                                          <p:attrName>ppt_x</p:attrName>
                                          <p:attrName>ppt_y</p:attrName>
                                        </p:attrNameLst>
                                      </p:cBhvr>
                                    </p:animMotion>
                                  </p:childTnLst>
                                </p:cTn>
                              </p:par>
                              <p:par>
                                <p:cTn id="89" presetID="0" presetClass="path" presetSubtype="0" accel="50000" decel="50000" fill="hold" grpId="0" nodeType="withEffect">
                                  <p:stCondLst>
                                    <p:cond delay="0"/>
                                  </p:stCondLst>
                                  <p:childTnLst>
                                    <p:animMotion origin="layout" path="M 0 0 L -0.11667 -0.52174 " pathEditMode="relative" ptsTypes="AA">
                                      <p:cBhvr>
                                        <p:cTn id="90" dur="2000" fill="hold"/>
                                        <p:tgtEl>
                                          <p:spTgt spid="120"/>
                                        </p:tgtEl>
                                        <p:attrNameLst>
                                          <p:attrName>ppt_x</p:attrName>
                                          <p:attrName>ppt_y</p:attrName>
                                        </p:attrNameLst>
                                      </p:cBhvr>
                                    </p:animMotion>
                                  </p:childTnLst>
                                </p:cTn>
                              </p:par>
                              <p:par>
                                <p:cTn id="91" presetID="0" presetClass="path" presetSubtype="0" accel="50000" decel="50000" fill="hold" grpId="0" nodeType="withEffect">
                                  <p:stCondLst>
                                    <p:cond delay="0"/>
                                  </p:stCondLst>
                                  <p:childTnLst>
                                    <p:animMotion origin="layout" path="M 0 0 L -0.11667 -0.52174 " pathEditMode="relative" ptsTypes="AA">
                                      <p:cBhvr>
                                        <p:cTn id="92" dur="2000" fill="hold"/>
                                        <p:tgtEl>
                                          <p:spTgt spid="121"/>
                                        </p:tgtEl>
                                        <p:attrNameLst>
                                          <p:attrName>ppt_x</p:attrName>
                                          <p:attrName>ppt_y</p:attrName>
                                        </p:attrNameLst>
                                      </p:cBhvr>
                                    </p:animMotion>
                                  </p:childTnLst>
                                </p:cTn>
                              </p:par>
                              <p:par>
                                <p:cTn id="93" presetID="0" presetClass="path" presetSubtype="0" accel="50000" decel="50000" fill="hold" grpId="0" nodeType="withEffect">
                                  <p:stCondLst>
                                    <p:cond delay="0"/>
                                  </p:stCondLst>
                                  <p:childTnLst>
                                    <p:animMotion origin="layout" path="M 0 0 L -0.11667 -0.52174 " pathEditMode="relative" ptsTypes="AA">
                                      <p:cBhvr>
                                        <p:cTn id="94" dur="2000" fill="hold"/>
                                        <p:tgtEl>
                                          <p:spTgt spid="122"/>
                                        </p:tgtEl>
                                        <p:attrNameLst>
                                          <p:attrName>ppt_x</p:attrName>
                                          <p:attrName>ppt_y</p:attrName>
                                        </p:attrNameLst>
                                      </p:cBhvr>
                                    </p:animMotion>
                                  </p:childTnLst>
                                </p:cTn>
                              </p:par>
                              <p:par>
                                <p:cTn id="95" presetID="0" presetClass="path" presetSubtype="0" accel="50000" decel="50000" fill="hold" grpId="0" nodeType="withEffect">
                                  <p:stCondLst>
                                    <p:cond delay="0"/>
                                  </p:stCondLst>
                                  <p:childTnLst>
                                    <p:animMotion origin="layout" path="M 0 0 L -0.11667 -0.52174 " pathEditMode="relative" ptsTypes="AA">
                                      <p:cBhvr>
                                        <p:cTn id="96" dur="2000" fill="hold"/>
                                        <p:tgtEl>
                                          <p:spTgt spid="123"/>
                                        </p:tgtEl>
                                        <p:attrNameLst>
                                          <p:attrName>ppt_x</p:attrName>
                                          <p:attrName>ppt_y</p:attrName>
                                        </p:attrNameLst>
                                      </p:cBhvr>
                                    </p:animMotion>
                                  </p:childTnLst>
                                </p:cTn>
                              </p:par>
                              <p:par>
                                <p:cTn id="97" presetID="0" presetClass="path" presetSubtype="0" accel="50000" decel="50000" fill="hold" grpId="0" nodeType="withEffect">
                                  <p:stCondLst>
                                    <p:cond delay="0"/>
                                  </p:stCondLst>
                                  <p:childTnLst>
                                    <p:animMotion origin="layout" path="M 0 0 L -0.11667 -0.52174 " pathEditMode="relative" ptsTypes="AA">
                                      <p:cBhvr>
                                        <p:cTn id="98" dur="2000" fill="hold"/>
                                        <p:tgtEl>
                                          <p:spTgt spid="124"/>
                                        </p:tgtEl>
                                        <p:attrNameLst>
                                          <p:attrName>ppt_x</p:attrName>
                                          <p:attrName>ppt_y</p:attrName>
                                        </p:attrNameLst>
                                      </p:cBhvr>
                                    </p:animMotion>
                                  </p:childTnLst>
                                </p:cTn>
                              </p:par>
                              <p:par>
                                <p:cTn id="99" presetID="0" presetClass="path" presetSubtype="0" accel="50000" decel="50000" fill="hold" grpId="0" nodeType="withEffect">
                                  <p:stCondLst>
                                    <p:cond delay="0"/>
                                  </p:stCondLst>
                                  <p:childTnLst>
                                    <p:animMotion origin="layout" path="M 0 0 L -0.11667 -0.52174 " pathEditMode="relative" ptsTypes="AA">
                                      <p:cBhvr>
                                        <p:cTn id="100" dur="2000" fill="hold"/>
                                        <p:tgtEl>
                                          <p:spTgt spid="125"/>
                                        </p:tgtEl>
                                        <p:attrNameLst>
                                          <p:attrName>ppt_x</p:attrName>
                                          <p:attrName>ppt_y</p:attrName>
                                        </p:attrNameLst>
                                      </p:cBhvr>
                                    </p:animMotion>
                                  </p:childTnLst>
                                </p:cTn>
                              </p:par>
                              <p:par>
                                <p:cTn id="101" presetID="53" presetClass="exit" presetSubtype="0" fill="hold" grpId="0" nodeType="withEffect">
                                  <p:stCondLst>
                                    <p:cond delay="0"/>
                                  </p:stCondLst>
                                  <p:childTnLst>
                                    <p:anim calcmode="lin" valueType="num">
                                      <p:cBhvr>
                                        <p:cTn id="102" dur="500"/>
                                        <p:tgtEl>
                                          <p:spTgt spid="150"/>
                                        </p:tgtEl>
                                        <p:attrNameLst>
                                          <p:attrName>ppt_w</p:attrName>
                                        </p:attrNameLst>
                                      </p:cBhvr>
                                      <p:tavLst>
                                        <p:tav tm="0">
                                          <p:val>
                                            <p:strVal val="ppt_w"/>
                                          </p:val>
                                        </p:tav>
                                        <p:tav tm="100000">
                                          <p:val>
                                            <p:fltVal val="0"/>
                                          </p:val>
                                        </p:tav>
                                      </p:tavLst>
                                    </p:anim>
                                    <p:anim calcmode="lin" valueType="num">
                                      <p:cBhvr>
                                        <p:cTn id="103" dur="500"/>
                                        <p:tgtEl>
                                          <p:spTgt spid="150"/>
                                        </p:tgtEl>
                                        <p:attrNameLst>
                                          <p:attrName>ppt_h</p:attrName>
                                        </p:attrNameLst>
                                      </p:cBhvr>
                                      <p:tavLst>
                                        <p:tav tm="0">
                                          <p:val>
                                            <p:strVal val="ppt_h"/>
                                          </p:val>
                                        </p:tav>
                                        <p:tav tm="100000">
                                          <p:val>
                                            <p:fltVal val="0"/>
                                          </p:val>
                                        </p:tav>
                                      </p:tavLst>
                                    </p:anim>
                                    <p:animEffect transition="out" filter="fade">
                                      <p:cBhvr>
                                        <p:cTn id="104" dur="500"/>
                                        <p:tgtEl>
                                          <p:spTgt spid="150"/>
                                        </p:tgtEl>
                                      </p:cBhvr>
                                    </p:animEffect>
                                    <p:set>
                                      <p:cBhvr>
                                        <p:cTn id="105" dur="1" fill="hold">
                                          <p:stCondLst>
                                            <p:cond delay="499"/>
                                          </p:stCondLst>
                                        </p:cTn>
                                        <p:tgtEl>
                                          <p:spTgt spid="150"/>
                                        </p:tgtEl>
                                        <p:attrNameLst>
                                          <p:attrName>style.visibility</p:attrName>
                                        </p:attrNameLst>
                                      </p:cBhvr>
                                      <p:to>
                                        <p:strVal val="hidden"/>
                                      </p:to>
                                    </p:set>
                                  </p:childTnLst>
                                </p:cTn>
                              </p:par>
                              <p:par>
                                <p:cTn id="106" presetID="53" presetClass="exit" presetSubtype="0" fill="hold" grpId="0" nodeType="withEffect">
                                  <p:stCondLst>
                                    <p:cond delay="0"/>
                                  </p:stCondLst>
                                  <p:childTnLst>
                                    <p:anim calcmode="lin" valueType="num">
                                      <p:cBhvr>
                                        <p:cTn id="107" dur="500"/>
                                        <p:tgtEl>
                                          <p:spTgt spid="151"/>
                                        </p:tgtEl>
                                        <p:attrNameLst>
                                          <p:attrName>ppt_w</p:attrName>
                                        </p:attrNameLst>
                                      </p:cBhvr>
                                      <p:tavLst>
                                        <p:tav tm="0">
                                          <p:val>
                                            <p:strVal val="ppt_w"/>
                                          </p:val>
                                        </p:tav>
                                        <p:tav tm="100000">
                                          <p:val>
                                            <p:fltVal val="0"/>
                                          </p:val>
                                        </p:tav>
                                      </p:tavLst>
                                    </p:anim>
                                    <p:anim calcmode="lin" valueType="num">
                                      <p:cBhvr>
                                        <p:cTn id="108" dur="500"/>
                                        <p:tgtEl>
                                          <p:spTgt spid="151"/>
                                        </p:tgtEl>
                                        <p:attrNameLst>
                                          <p:attrName>ppt_h</p:attrName>
                                        </p:attrNameLst>
                                      </p:cBhvr>
                                      <p:tavLst>
                                        <p:tav tm="0">
                                          <p:val>
                                            <p:strVal val="ppt_h"/>
                                          </p:val>
                                        </p:tav>
                                        <p:tav tm="100000">
                                          <p:val>
                                            <p:fltVal val="0"/>
                                          </p:val>
                                        </p:tav>
                                      </p:tavLst>
                                    </p:anim>
                                    <p:animEffect transition="out" filter="fade">
                                      <p:cBhvr>
                                        <p:cTn id="109" dur="500"/>
                                        <p:tgtEl>
                                          <p:spTgt spid="151"/>
                                        </p:tgtEl>
                                      </p:cBhvr>
                                    </p:animEffect>
                                    <p:set>
                                      <p:cBhvr>
                                        <p:cTn id="110" dur="1" fill="hold">
                                          <p:stCondLst>
                                            <p:cond delay="499"/>
                                          </p:stCondLst>
                                        </p:cTn>
                                        <p:tgtEl>
                                          <p:spTgt spid="1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p:bldP spid="1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val 101"/>
          <p:cNvSpPr/>
          <p:nvPr/>
        </p:nvSpPr>
        <p:spPr>
          <a:xfrm>
            <a:off x="18288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3" name="Oval 102"/>
          <p:cNvSpPr/>
          <p:nvPr/>
        </p:nvSpPr>
        <p:spPr>
          <a:xfrm>
            <a:off x="22860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4" name="Oval 103"/>
          <p:cNvSpPr/>
          <p:nvPr/>
        </p:nvSpPr>
        <p:spPr>
          <a:xfrm>
            <a:off x="27432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5" name="Oval 104"/>
          <p:cNvSpPr/>
          <p:nvPr/>
        </p:nvSpPr>
        <p:spPr>
          <a:xfrm>
            <a:off x="32004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6" name="Oval 105"/>
          <p:cNvSpPr/>
          <p:nvPr/>
        </p:nvSpPr>
        <p:spPr>
          <a:xfrm>
            <a:off x="36576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7" name="Oval 106"/>
          <p:cNvSpPr/>
          <p:nvPr/>
        </p:nvSpPr>
        <p:spPr>
          <a:xfrm>
            <a:off x="41148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8" name="Oval 107"/>
          <p:cNvSpPr/>
          <p:nvPr/>
        </p:nvSpPr>
        <p:spPr>
          <a:xfrm>
            <a:off x="18288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9" name="Oval 108"/>
          <p:cNvSpPr/>
          <p:nvPr/>
        </p:nvSpPr>
        <p:spPr>
          <a:xfrm>
            <a:off x="22860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0" name="Oval 109"/>
          <p:cNvSpPr/>
          <p:nvPr/>
        </p:nvSpPr>
        <p:spPr>
          <a:xfrm>
            <a:off x="27432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1" name="Oval 110"/>
          <p:cNvSpPr/>
          <p:nvPr/>
        </p:nvSpPr>
        <p:spPr>
          <a:xfrm>
            <a:off x="32004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12" name="Oval 111"/>
          <p:cNvSpPr/>
          <p:nvPr/>
        </p:nvSpPr>
        <p:spPr>
          <a:xfrm>
            <a:off x="3657600" y="9144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3" name="Oval 112"/>
          <p:cNvSpPr/>
          <p:nvPr/>
        </p:nvSpPr>
        <p:spPr>
          <a:xfrm>
            <a:off x="4114800" y="9144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4" name="Oval 113"/>
          <p:cNvSpPr/>
          <p:nvPr/>
        </p:nvSpPr>
        <p:spPr>
          <a:xfrm>
            <a:off x="18288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5" name="Oval 114"/>
          <p:cNvSpPr/>
          <p:nvPr/>
        </p:nvSpPr>
        <p:spPr>
          <a:xfrm>
            <a:off x="22860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6" name="Oval 115"/>
          <p:cNvSpPr/>
          <p:nvPr/>
        </p:nvSpPr>
        <p:spPr>
          <a:xfrm>
            <a:off x="27432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7" name="Oval 116"/>
          <p:cNvSpPr/>
          <p:nvPr/>
        </p:nvSpPr>
        <p:spPr>
          <a:xfrm>
            <a:off x="32004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8" name="Oval 117"/>
          <p:cNvSpPr/>
          <p:nvPr/>
        </p:nvSpPr>
        <p:spPr>
          <a:xfrm>
            <a:off x="36576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19" name="Oval 118"/>
          <p:cNvSpPr/>
          <p:nvPr/>
        </p:nvSpPr>
        <p:spPr>
          <a:xfrm>
            <a:off x="4114800" y="1371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0" name="Oval 119"/>
          <p:cNvSpPr/>
          <p:nvPr/>
        </p:nvSpPr>
        <p:spPr>
          <a:xfrm>
            <a:off x="18288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1" name="Oval 120"/>
          <p:cNvSpPr/>
          <p:nvPr/>
        </p:nvSpPr>
        <p:spPr>
          <a:xfrm>
            <a:off x="22860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2" name="Oval 121"/>
          <p:cNvSpPr/>
          <p:nvPr/>
        </p:nvSpPr>
        <p:spPr>
          <a:xfrm>
            <a:off x="27432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3" name="Oval 122"/>
          <p:cNvSpPr/>
          <p:nvPr/>
        </p:nvSpPr>
        <p:spPr>
          <a:xfrm>
            <a:off x="32004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4" name="Oval 123"/>
          <p:cNvSpPr/>
          <p:nvPr/>
        </p:nvSpPr>
        <p:spPr>
          <a:xfrm>
            <a:off x="36576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5" name="Oval 124"/>
          <p:cNvSpPr/>
          <p:nvPr/>
        </p:nvSpPr>
        <p:spPr>
          <a:xfrm>
            <a:off x="41148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26" name="Oval 125"/>
          <p:cNvSpPr/>
          <p:nvPr/>
        </p:nvSpPr>
        <p:spPr>
          <a:xfrm>
            <a:off x="45720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7" name="Oval 126"/>
          <p:cNvSpPr/>
          <p:nvPr/>
        </p:nvSpPr>
        <p:spPr>
          <a:xfrm>
            <a:off x="50292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8" name="Oval 127"/>
          <p:cNvSpPr/>
          <p:nvPr/>
        </p:nvSpPr>
        <p:spPr>
          <a:xfrm>
            <a:off x="54864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29" name="Oval 128"/>
          <p:cNvSpPr/>
          <p:nvPr/>
        </p:nvSpPr>
        <p:spPr>
          <a:xfrm>
            <a:off x="59436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0" name="Oval 129"/>
          <p:cNvSpPr/>
          <p:nvPr/>
        </p:nvSpPr>
        <p:spPr>
          <a:xfrm>
            <a:off x="64008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1" name="Oval 130"/>
          <p:cNvSpPr/>
          <p:nvPr/>
        </p:nvSpPr>
        <p:spPr>
          <a:xfrm>
            <a:off x="6858000" y="457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2" name="Oval 131"/>
          <p:cNvSpPr/>
          <p:nvPr/>
        </p:nvSpPr>
        <p:spPr>
          <a:xfrm>
            <a:off x="45720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3" name="Oval 132"/>
          <p:cNvSpPr/>
          <p:nvPr/>
        </p:nvSpPr>
        <p:spPr>
          <a:xfrm>
            <a:off x="50292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4" name="Oval 133"/>
          <p:cNvSpPr/>
          <p:nvPr/>
        </p:nvSpPr>
        <p:spPr>
          <a:xfrm>
            <a:off x="54864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5" name="Oval 134"/>
          <p:cNvSpPr/>
          <p:nvPr/>
        </p:nvSpPr>
        <p:spPr>
          <a:xfrm>
            <a:off x="59436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6" name="Oval 135"/>
          <p:cNvSpPr/>
          <p:nvPr/>
        </p:nvSpPr>
        <p:spPr>
          <a:xfrm>
            <a:off x="64008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7" name="Oval 136"/>
          <p:cNvSpPr/>
          <p:nvPr/>
        </p:nvSpPr>
        <p:spPr>
          <a:xfrm>
            <a:off x="6858000" y="914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8" name="Oval 137"/>
          <p:cNvSpPr/>
          <p:nvPr/>
        </p:nvSpPr>
        <p:spPr>
          <a:xfrm>
            <a:off x="45720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39" name="Oval 138"/>
          <p:cNvSpPr/>
          <p:nvPr/>
        </p:nvSpPr>
        <p:spPr>
          <a:xfrm>
            <a:off x="50292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0" name="Oval 139"/>
          <p:cNvSpPr/>
          <p:nvPr/>
        </p:nvSpPr>
        <p:spPr>
          <a:xfrm>
            <a:off x="54864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1" name="Oval 140"/>
          <p:cNvSpPr/>
          <p:nvPr/>
        </p:nvSpPr>
        <p:spPr>
          <a:xfrm>
            <a:off x="59436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2" name="Oval 141"/>
          <p:cNvSpPr/>
          <p:nvPr/>
        </p:nvSpPr>
        <p:spPr>
          <a:xfrm>
            <a:off x="64008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3" name="Oval 142"/>
          <p:cNvSpPr/>
          <p:nvPr/>
        </p:nvSpPr>
        <p:spPr>
          <a:xfrm>
            <a:off x="6858000" y="1371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44" name="Oval 143"/>
          <p:cNvSpPr/>
          <p:nvPr/>
        </p:nvSpPr>
        <p:spPr>
          <a:xfrm>
            <a:off x="45720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5" name="Oval 144"/>
          <p:cNvSpPr/>
          <p:nvPr/>
        </p:nvSpPr>
        <p:spPr>
          <a:xfrm>
            <a:off x="50292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6" name="Oval 145"/>
          <p:cNvSpPr/>
          <p:nvPr/>
        </p:nvSpPr>
        <p:spPr>
          <a:xfrm>
            <a:off x="54864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7" name="Oval 146"/>
          <p:cNvSpPr/>
          <p:nvPr/>
        </p:nvSpPr>
        <p:spPr>
          <a:xfrm>
            <a:off x="59436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8" name="Oval 147"/>
          <p:cNvSpPr/>
          <p:nvPr/>
        </p:nvSpPr>
        <p:spPr>
          <a:xfrm>
            <a:off x="64008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49" name="Oval 148"/>
          <p:cNvSpPr/>
          <p:nvPr/>
        </p:nvSpPr>
        <p:spPr>
          <a:xfrm>
            <a:off x="6858000" y="1828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cxnSp>
        <p:nvCxnSpPr>
          <p:cNvPr id="150" name="Straight Arrow Connector 149"/>
          <p:cNvCxnSpPr/>
          <p:nvPr/>
        </p:nvCxnSpPr>
        <p:spPr>
          <a:xfrm rot="10800000" flipV="1">
            <a:off x="2057400" y="2438400"/>
            <a:ext cx="2514600" cy="1219200"/>
          </a:xfrm>
          <a:prstGeom prst="straightConnector1">
            <a:avLst/>
          </a:prstGeom>
          <a:noFill/>
          <a:ln w="38100" cap="flat" cmpd="sng" algn="ctr">
            <a:solidFill>
              <a:srgbClr val="002676">
                <a:satMod val="150000"/>
              </a:srgbClr>
            </a:solidFill>
            <a:prstDash val="solid"/>
            <a:tailEnd type="arrow"/>
          </a:ln>
          <a:effectLst/>
        </p:spPr>
      </p:cxnSp>
      <p:cxnSp>
        <p:nvCxnSpPr>
          <p:cNvPr id="151" name="Straight Arrow Connector 150"/>
          <p:cNvCxnSpPr/>
          <p:nvPr/>
        </p:nvCxnSpPr>
        <p:spPr>
          <a:xfrm>
            <a:off x="4572000" y="2438400"/>
            <a:ext cx="2209800" cy="1295400"/>
          </a:xfrm>
          <a:prstGeom prst="straightConnector1">
            <a:avLst/>
          </a:prstGeom>
          <a:noFill/>
          <a:ln w="38100" cap="flat" cmpd="sng" algn="ctr">
            <a:solidFill>
              <a:srgbClr val="002676">
                <a:satMod val="150000"/>
              </a:srgbClr>
            </a:solidFill>
            <a:prstDash val="solid"/>
            <a:tailEnd type="arrow"/>
          </a:ln>
          <a:effectLst/>
        </p:spPr>
      </p:cxnSp>
      <p:sp>
        <p:nvSpPr>
          <p:cNvPr id="152" name="Oval 151"/>
          <p:cNvSpPr/>
          <p:nvPr/>
        </p:nvSpPr>
        <p:spPr>
          <a:xfrm>
            <a:off x="16764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3" name="Oval 152"/>
          <p:cNvSpPr/>
          <p:nvPr/>
        </p:nvSpPr>
        <p:spPr>
          <a:xfrm>
            <a:off x="2133600" y="39624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4" name="Oval 153"/>
          <p:cNvSpPr/>
          <p:nvPr/>
        </p:nvSpPr>
        <p:spPr>
          <a:xfrm>
            <a:off x="25908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5" name="Oval 154"/>
          <p:cNvSpPr/>
          <p:nvPr/>
        </p:nvSpPr>
        <p:spPr>
          <a:xfrm>
            <a:off x="3048000" y="39624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56" name="Oval 155"/>
          <p:cNvSpPr/>
          <p:nvPr/>
        </p:nvSpPr>
        <p:spPr>
          <a:xfrm>
            <a:off x="7620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7" name="Oval 156"/>
          <p:cNvSpPr/>
          <p:nvPr/>
        </p:nvSpPr>
        <p:spPr>
          <a:xfrm>
            <a:off x="12192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8" name="Oval 157"/>
          <p:cNvSpPr/>
          <p:nvPr/>
        </p:nvSpPr>
        <p:spPr>
          <a:xfrm>
            <a:off x="16764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59" name="Oval 158"/>
          <p:cNvSpPr/>
          <p:nvPr/>
        </p:nvSpPr>
        <p:spPr>
          <a:xfrm>
            <a:off x="21336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0" name="Oval 159"/>
          <p:cNvSpPr/>
          <p:nvPr/>
        </p:nvSpPr>
        <p:spPr>
          <a:xfrm>
            <a:off x="25908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1" name="Oval 160"/>
          <p:cNvSpPr/>
          <p:nvPr/>
        </p:nvSpPr>
        <p:spPr>
          <a:xfrm>
            <a:off x="30480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2" name="Oval 161"/>
          <p:cNvSpPr/>
          <p:nvPr/>
        </p:nvSpPr>
        <p:spPr>
          <a:xfrm>
            <a:off x="7620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3" name="Oval 162"/>
          <p:cNvSpPr/>
          <p:nvPr/>
        </p:nvSpPr>
        <p:spPr>
          <a:xfrm>
            <a:off x="12192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64" name="Oval 163"/>
          <p:cNvSpPr/>
          <p:nvPr/>
        </p:nvSpPr>
        <p:spPr>
          <a:xfrm>
            <a:off x="16764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5" name="Oval 164"/>
          <p:cNvSpPr/>
          <p:nvPr/>
        </p:nvSpPr>
        <p:spPr>
          <a:xfrm>
            <a:off x="21336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6" name="Oval 165"/>
          <p:cNvSpPr/>
          <p:nvPr/>
        </p:nvSpPr>
        <p:spPr>
          <a:xfrm>
            <a:off x="25908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7" name="Oval 166"/>
          <p:cNvSpPr/>
          <p:nvPr/>
        </p:nvSpPr>
        <p:spPr>
          <a:xfrm>
            <a:off x="30480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68" name="Oval 167"/>
          <p:cNvSpPr/>
          <p:nvPr/>
        </p:nvSpPr>
        <p:spPr>
          <a:xfrm>
            <a:off x="7620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69" name="Oval 168"/>
          <p:cNvSpPr/>
          <p:nvPr/>
        </p:nvSpPr>
        <p:spPr>
          <a:xfrm>
            <a:off x="12192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0" name="Oval 169"/>
          <p:cNvSpPr/>
          <p:nvPr/>
        </p:nvSpPr>
        <p:spPr>
          <a:xfrm>
            <a:off x="16764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1" name="Oval 170"/>
          <p:cNvSpPr/>
          <p:nvPr/>
        </p:nvSpPr>
        <p:spPr>
          <a:xfrm>
            <a:off x="21336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2" name="Oval 171"/>
          <p:cNvSpPr/>
          <p:nvPr/>
        </p:nvSpPr>
        <p:spPr>
          <a:xfrm>
            <a:off x="25908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3" name="Oval 172"/>
          <p:cNvSpPr/>
          <p:nvPr/>
        </p:nvSpPr>
        <p:spPr>
          <a:xfrm>
            <a:off x="30480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4" name="Oval 173"/>
          <p:cNvSpPr/>
          <p:nvPr/>
        </p:nvSpPr>
        <p:spPr>
          <a:xfrm>
            <a:off x="65532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5" name="Oval 174"/>
          <p:cNvSpPr/>
          <p:nvPr/>
        </p:nvSpPr>
        <p:spPr>
          <a:xfrm>
            <a:off x="70104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6" name="Oval 175"/>
          <p:cNvSpPr/>
          <p:nvPr/>
        </p:nvSpPr>
        <p:spPr>
          <a:xfrm>
            <a:off x="74676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7" name="Oval 176"/>
          <p:cNvSpPr/>
          <p:nvPr/>
        </p:nvSpPr>
        <p:spPr>
          <a:xfrm>
            <a:off x="79248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78" name="Oval 177"/>
          <p:cNvSpPr/>
          <p:nvPr/>
        </p:nvSpPr>
        <p:spPr>
          <a:xfrm>
            <a:off x="56388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79" name="Oval 178"/>
          <p:cNvSpPr/>
          <p:nvPr/>
        </p:nvSpPr>
        <p:spPr>
          <a:xfrm>
            <a:off x="60960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0" name="Oval 179"/>
          <p:cNvSpPr/>
          <p:nvPr/>
        </p:nvSpPr>
        <p:spPr>
          <a:xfrm>
            <a:off x="65532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1" name="Oval 180"/>
          <p:cNvSpPr/>
          <p:nvPr/>
        </p:nvSpPr>
        <p:spPr>
          <a:xfrm>
            <a:off x="70104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2" name="Oval 181"/>
          <p:cNvSpPr/>
          <p:nvPr/>
        </p:nvSpPr>
        <p:spPr>
          <a:xfrm>
            <a:off x="74676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3" name="Oval 182"/>
          <p:cNvSpPr/>
          <p:nvPr/>
        </p:nvSpPr>
        <p:spPr>
          <a:xfrm>
            <a:off x="79248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4" name="Oval 183"/>
          <p:cNvSpPr/>
          <p:nvPr/>
        </p:nvSpPr>
        <p:spPr>
          <a:xfrm>
            <a:off x="56388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5" name="Oval 184"/>
          <p:cNvSpPr/>
          <p:nvPr/>
        </p:nvSpPr>
        <p:spPr>
          <a:xfrm>
            <a:off x="60960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6" name="Oval 185"/>
          <p:cNvSpPr/>
          <p:nvPr/>
        </p:nvSpPr>
        <p:spPr>
          <a:xfrm>
            <a:off x="65532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87" name="Oval 186"/>
          <p:cNvSpPr/>
          <p:nvPr/>
        </p:nvSpPr>
        <p:spPr>
          <a:xfrm>
            <a:off x="70104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8" name="Oval 187"/>
          <p:cNvSpPr/>
          <p:nvPr/>
        </p:nvSpPr>
        <p:spPr>
          <a:xfrm>
            <a:off x="74676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89" name="Oval 188"/>
          <p:cNvSpPr/>
          <p:nvPr/>
        </p:nvSpPr>
        <p:spPr>
          <a:xfrm>
            <a:off x="79248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0" name="Oval 189"/>
          <p:cNvSpPr/>
          <p:nvPr/>
        </p:nvSpPr>
        <p:spPr>
          <a:xfrm>
            <a:off x="56388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1" name="Oval 190"/>
          <p:cNvSpPr/>
          <p:nvPr/>
        </p:nvSpPr>
        <p:spPr>
          <a:xfrm>
            <a:off x="60960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92" name="Oval 191"/>
          <p:cNvSpPr/>
          <p:nvPr/>
        </p:nvSpPr>
        <p:spPr>
          <a:xfrm>
            <a:off x="65532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3" name="Oval 192"/>
          <p:cNvSpPr/>
          <p:nvPr/>
        </p:nvSpPr>
        <p:spPr>
          <a:xfrm>
            <a:off x="70104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4" name="Oval 193"/>
          <p:cNvSpPr/>
          <p:nvPr/>
        </p:nvSpPr>
        <p:spPr>
          <a:xfrm>
            <a:off x="74676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5" name="Oval 194"/>
          <p:cNvSpPr/>
          <p:nvPr/>
        </p:nvSpPr>
        <p:spPr>
          <a:xfrm>
            <a:off x="79248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96" name="TextBox 195"/>
          <p:cNvSpPr txBox="1"/>
          <p:nvPr/>
        </p:nvSpPr>
        <p:spPr>
          <a:xfrm>
            <a:off x="3276600" y="2971800"/>
            <a:ext cx="236220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Simulate another randomization</a:t>
            </a:r>
          </a:p>
        </p:txBody>
      </p:sp>
      <p:sp>
        <p:nvSpPr>
          <p:cNvPr id="197" name="TextBox 196"/>
          <p:cNvSpPr txBox="1"/>
          <p:nvPr/>
        </p:nvSpPr>
        <p:spPr>
          <a:xfrm>
            <a:off x="228600" y="3440668"/>
            <a:ext cx="1905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err="1">
                <a:ln>
                  <a:noFill/>
                </a:ln>
                <a:solidFill>
                  <a:srgbClr val="002676"/>
                </a:solidFill>
                <a:effectLst/>
                <a:uLnTx/>
                <a:uFillTx/>
              </a:rPr>
              <a:t>Desipramine</a:t>
            </a:r>
            <a:endParaRPr kumimoji="0" lang="en-US" sz="2400" b="0" i="1" u="none" strike="noStrike" kern="0" cap="none" spc="0" normalizeH="0" baseline="0" noProof="0" dirty="0">
              <a:ln>
                <a:noFill/>
              </a:ln>
              <a:solidFill>
                <a:srgbClr val="002676"/>
              </a:solidFill>
              <a:effectLst/>
              <a:uLnTx/>
              <a:uFillTx/>
            </a:endParaRPr>
          </a:p>
        </p:txBody>
      </p:sp>
      <p:sp>
        <p:nvSpPr>
          <p:cNvPr id="198" name="TextBox 197"/>
          <p:cNvSpPr txBox="1"/>
          <p:nvPr/>
        </p:nvSpPr>
        <p:spPr>
          <a:xfrm>
            <a:off x="6934200" y="3516868"/>
            <a:ext cx="1524000" cy="461665"/>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a:ln>
                  <a:noFill/>
                </a:ln>
                <a:solidFill>
                  <a:srgbClr val="002676"/>
                </a:solidFill>
                <a:effectLst/>
                <a:uLnTx/>
                <a:uFillTx/>
              </a:rPr>
              <a:t>Lithium</a:t>
            </a:r>
          </a:p>
        </p:txBody>
      </p:sp>
      <p:sp>
        <p:nvSpPr>
          <p:cNvPr id="199" name="TextBox 198"/>
          <p:cNvSpPr txBox="1"/>
          <p:nvPr/>
        </p:nvSpPr>
        <p:spPr>
          <a:xfrm>
            <a:off x="114300" y="6005899"/>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16 relapse, 8 no relapse</a:t>
            </a:r>
          </a:p>
        </p:txBody>
      </p:sp>
      <p:sp>
        <p:nvSpPr>
          <p:cNvPr id="200" name="TextBox 199"/>
          <p:cNvSpPr txBox="1"/>
          <p:nvPr/>
        </p:nvSpPr>
        <p:spPr>
          <a:xfrm>
            <a:off x="5638800" y="6035207"/>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12 relapse, 12 no relapse</a:t>
            </a:r>
          </a:p>
        </p:txBody>
      </p:sp>
      <p:graphicFrame>
        <p:nvGraphicFramePr>
          <p:cNvPr id="201" name="Object 1"/>
          <p:cNvGraphicFramePr>
            <a:graphicFrameLocks noChangeAspect="1"/>
          </p:cNvGraphicFramePr>
          <p:nvPr>
            <p:extLst>
              <p:ext uri="{D42A27DB-BD31-4B8C-83A1-F6EECF244321}">
                <p14:modId xmlns:p14="http://schemas.microsoft.com/office/powerpoint/2010/main" val="3314337903"/>
              </p:ext>
            </p:extLst>
          </p:nvPr>
        </p:nvGraphicFramePr>
        <p:xfrm>
          <a:off x="3645771" y="4538618"/>
          <a:ext cx="1840629" cy="2200364"/>
        </p:xfrm>
        <a:graphic>
          <a:graphicData uri="http://schemas.openxmlformats.org/presentationml/2006/ole">
            <mc:AlternateContent xmlns:mc="http://schemas.openxmlformats.org/markup-compatibility/2006">
              <mc:Choice xmlns:v="urn:schemas-microsoft-com:vml" Requires="v">
                <p:oleObj spid="_x0000_s2070" name="Equation" r:id="rId4" imgW="660240" imgH="736560" progId="Equation.DSMT4">
                  <p:embed/>
                </p:oleObj>
              </mc:Choice>
              <mc:Fallback>
                <p:oleObj name="Equation" r:id="rId4" imgW="660240" imgH="736560" progId="Equation.DSMT4">
                  <p:embed/>
                  <p:pic>
                    <p:nvPicPr>
                      <p:cNvPr id="0" name=""/>
                      <p:cNvPicPr>
                        <a:picLocks noChangeAspect="1" noChangeArrowheads="1"/>
                      </p:cNvPicPr>
                      <p:nvPr/>
                    </p:nvPicPr>
                    <p:blipFill>
                      <a:blip r:embed="rId5"/>
                      <a:srcRect/>
                      <a:stretch>
                        <a:fillRect/>
                      </a:stretch>
                    </p:blipFill>
                    <p:spPr bwMode="auto">
                      <a:xfrm>
                        <a:off x="3645771" y="4538618"/>
                        <a:ext cx="1840629" cy="2200364"/>
                      </a:xfrm>
                      <a:prstGeom prst="rect">
                        <a:avLst/>
                      </a:prstGeom>
                      <a:noFill/>
                      <a:extLst/>
                    </p:spPr>
                  </p:pic>
                </p:oleObj>
              </mc:Fallback>
            </mc:AlternateContent>
          </a:graphicData>
        </a:graphic>
      </p:graphicFrame>
    </p:spTree>
    <p:custDataLst>
      <p:tags r:id="rId2"/>
    </p:custDataLst>
    <p:extLst>
      <p:ext uri="{BB962C8B-B14F-4D97-AF65-F5344CB8AC3E}">
        <p14:creationId xmlns:p14="http://schemas.microsoft.com/office/powerpoint/2010/main" val="46156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p:cTn id="7" dur="500" fill="hold"/>
                                        <p:tgtEl>
                                          <p:spTgt spid="150"/>
                                        </p:tgtEl>
                                        <p:attrNameLst>
                                          <p:attrName>ppt_w</p:attrName>
                                        </p:attrNameLst>
                                      </p:cBhvr>
                                      <p:tavLst>
                                        <p:tav tm="0">
                                          <p:val>
                                            <p:fltVal val="0"/>
                                          </p:val>
                                        </p:tav>
                                        <p:tav tm="100000">
                                          <p:val>
                                            <p:strVal val="#ppt_w"/>
                                          </p:val>
                                        </p:tav>
                                      </p:tavLst>
                                    </p:anim>
                                    <p:anim calcmode="lin" valueType="num">
                                      <p:cBhvr>
                                        <p:cTn id="8" dur="500" fill="hold"/>
                                        <p:tgtEl>
                                          <p:spTgt spid="150"/>
                                        </p:tgtEl>
                                        <p:attrNameLst>
                                          <p:attrName>ppt_h</p:attrName>
                                        </p:attrNameLst>
                                      </p:cBhvr>
                                      <p:tavLst>
                                        <p:tav tm="0">
                                          <p:val>
                                            <p:fltVal val="0"/>
                                          </p:val>
                                        </p:tav>
                                        <p:tav tm="100000">
                                          <p:val>
                                            <p:strVal val="#ppt_h"/>
                                          </p:val>
                                        </p:tav>
                                      </p:tavLst>
                                    </p:anim>
                                    <p:animEffect transition="in" filter="fade">
                                      <p:cBhvr>
                                        <p:cTn id="9" dur="500"/>
                                        <p:tgtEl>
                                          <p:spTgt spid="150"/>
                                        </p:tgtEl>
                                      </p:cBhvr>
                                    </p:animEffect>
                                  </p:childTnLst>
                                </p:cTn>
                              </p:par>
                              <p:par>
                                <p:cTn id="10" presetID="53" presetClass="entr" presetSubtype="0" fill="hold" nodeType="withEffect">
                                  <p:stCondLst>
                                    <p:cond delay="0"/>
                                  </p:stCondLst>
                                  <p:childTnLst>
                                    <p:set>
                                      <p:cBhvr>
                                        <p:cTn id="11" dur="1" fill="hold">
                                          <p:stCondLst>
                                            <p:cond delay="0"/>
                                          </p:stCondLst>
                                        </p:cTn>
                                        <p:tgtEl>
                                          <p:spTgt spid="151"/>
                                        </p:tgtEl>
                                        <p:attrNameLst>
                                          <p:attrName>style.visibility</p:attrName>
                                        </p:attrNameLst>
                                      </p:cBhvr>
                                      <p:to>
                                        <p:strVal val="visible"/>
                                      </p:to>
                                    </p:set>
                                    <p:anim calcmode="lin" valueType="num">
                                      <p:cBhvr>
                                        <p:cTn id="12" dur="500" fill="hold"/>
                                        <p:tgtEl>
                                          <p:spTgt spid="151"/>
                                        </p:tgtEl>
                                        <p:attrNameLst>
                                          <p:attrName>ppt_w</p:attrName>
                                        </p:attrNameLst>
                                      </p:cBhvr>
                                      <p:tavLst>
                                        <p:tav tm="0">
                                          <p:val>
                                            <p:fltVal val="0"/>
                                          </p:val>
                                        </p:tav>
                                        <p:tav tm="100000">
                                          <p:val>
                                            <p:strVal val="#ppt_w"/>
                                          </p:val>
                                        </p:tav>
                                      </p:tavLst>
                                    </p:anim>
                                    <p:anim calcmode="lin" valueType="num">
                                      <p:cBhvr>
                                        <p:cTn id="13" dur="500" fill="hold"/>
                                        <p:tgtEl>
                                          <p:spTgt spid="151"/>
                                        </p:tgtEl>
                                        <p:attrNameLst>
                                          <p:attrName>ppt_h</p:attrName>
                                        </p:attrNameLst>
                                      </p:cBhvr>
                                      <p:tavLst>
                                        <p:tav tm="0">
                                          <p:val>
                                            <p:fltVal val="0"/>
                                          </p:val>
                                        </p:tav>
                                        <p:tav tm="100000">
                                          <p:val>
                                            <p:strVal val="#ppt_h"/>
                                          </p:val>
                                        </p:tav>
                                      </p:tavLst>
                                    </p:anim>
                                    <p:animEffect transition="in" filter="fade">
                                      <p:cBhvr>
                                        <p:cTn id="14" dur="500"/>
                                        <p:tgtEl>
                                          <p:spTgt spid="151"/>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anim calcmode="lin" valueType="num">
                                      <p:cBhvr>
                                        <p:cTn id="17" dur="500" fill="hold"/>
                                        <p:tgtEl>
                                          <p:spTgt spid="196"/>
                                        </p:tgtEl>
                                        <p:attrNameLst>
                                          <p:attrName>ppt_w</p:attrName>
                                        </p:attrNameLst>
                                      </p:cBhvr>
                                      <p:tavLst>
                                        <p:tav tm="0">
                                          <p:val>
                                            <p:fltVal val="0"/>
                                          </p:val>
                                        </p:tav>
                                        <p:tav tm="100000">
                                          <p:val>
                                            <p:strVal val="#ppt_w"/>
                                          </p:val>
                                        </p:tav>
                                      </p:tavLst>
                                    </p:anim>
                                    <p:anim calcmode="lin" valueType="num">
                                      <p:cBhvr>
                                        <p:cTn id="18" dur="500" fill="hold"/>
                                        <p:tgtEl>
                                          <p:spTgt spid="196"/>
                                        </p:tgtEl>
                                        <p:attrNameLst>
                                          <p:attrName>ppt_h</p:attrName>
                                        </p:attrNameLst>
                                      </p:cBhvr>
                                      <p:tavLst>
                                        <p:tav tm="0">
                                          <p:val>
                                            <p:fltVal val="0"/>
                                          </p:val>
                                        </p:tav>
                                        <p:tav tm="100000">
                                          <p:val>
                                            <p:strVal val="#ppt_h"/>
                                          </p:val>
                                        </p:tav>
                                      </p:tavLst>
                                    </p:anim>
                                    <p:animEffect transition="in" filter="fade">
                                      <p:cBhvr>
                                        <p:cTn id="19" dur="500"/>
                                        <p:tgtEl>
                                          <p:spTgt spid="196"/>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97"/>
                                        </p:tgtEl>
                                        <p:attrNameLst>
                                          <p:attrName>style.visibility</p:attrName>
                                        </p:attrNameLst>
                                      </p:cBhvr>
                                      <p:to>
                                        <p:strVal val="visible"/>
                                      </p:to>
                                    </p:set>
                                    <p:anim calcmode="lin" valueType="num">
                                      <p:cBhvr>
                                        <p:cTn id="22" dur="500" fill="hold"/>
                                        <p:tgtEl>
                                          <p:spTgt spid="197"/>
                                        </p:tgtEl>
                                        <p:attrNameLst>
                                          <p:attrName>ppt_w</p:attrName>
                                        </p:attrNameLst>
                                      </p:cBhvr>
                                      <p:tavLst>
                                        <p:tav tm="0">
                                          <p:val>
                                            <p:fltVal val="0"/>
                                          </p:val>
                                        </p:tav>
                                        <p:tav tm="100000">
                                          <p:val>
                                            <p:strVal val="#ppt_w"/>
                                          </p:val>
                                        </p:tav>
                                      </p:tavLst>
                                    </p:anim>
                                    <p:anim calcmode="lin" valueType="num">
                                      <p:cBhvr>
                                        <p:cTn id="23" dur="500" fill="hold"/>
                                        <p:tgtEl>
                                          <p:spTgt spid="197"/>
                                        </p:tgtEl>
                                        <p:attrNameLst>
                                          <p:attrName>ppt_h</p:attrName>
                                        </p:attrNameLst>
                                      </p:cBhvr>
                                      <p:tavLst>
                                        <p:tav tm="0">
                                          <p:val>
                                            <p:fltVal val="0"/>
                                          </p:val>
                                        </p:tav>
                                        <p:tav tm="100000">
                                          <p:val>
                                            <p:strVal val="#ppt_h"/>
                                          </p:val>
                                        </p:tav>
                                      </p:tavLst>
                                    </p:anim>
                                    <p:animEffect transition="in" filter="fade">
                                      <p:cBhvr>
                                        <p:cTn id="24" dur="500"/>
                                        <p:tgtEl>
                                          <p:spTgt spid="197"/>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98"/>
                                        </p:tgtEl>
                                        <p:attrNameLst>
                                          <p:attrName>style.visibility</p:attrName>
                                        </p:attrNameLst>
                                      </p:cBhvr>
                                      <p:to>
                                        <p:strVal val="visible"/>
                                      </p:to>
                                    </p:set>
                                    <p:anim calcmode="lin" valueType="num">
                                      <p:cBhvr>
                                        <p:cTn id="27" dur="500" fill="hold"/>
                                        <p:tgtEl>
                                          <p:spTgt spid="198"/>
                                        </p:tgtEl>
                                        <p:attrNameLst>
                                          <p:attrName>ppt_w</p:attrName>
                                        </p:attrNameLst>
                                      </p:cBhvr>
                                      <p:tavLst>
                                        <p:tav tm="0">
                                          <p:val>
                                            <p:fltVal val="0"/>
                                          </p:val>
                                        </p:tav>
                                        <p:tav tm="100000">
                                          <p:val>
                                            <p:strVal val="#ppt_w"/>
                                          </p:val>
                                        </p:tav>
                                      </p:tavLst>
                                    </p:anim>
                                    <p:anim calcmode="lin" valueType="num">
                                      <p:cBhvr>
                                        <p:cTn id="28" dur="500" fill="hold"/>
                                        <p:tgtEl>
                                          <p:spTgt spid="198"/>
                                        </p:tgtEl>
                                        <p:attrNameLst>
                                          <p:attrName>ppt_h</p:attrName>
                                        </p:attrNameLst>
                                      </p:cBhvr>
                                      <p:tavLst>
                                        <p:tav tm="0">
                                          <p:val>
                                            <p:fltVal val="0"/>
                                          </p:val>
                                        </p:tav>
                                        <p:tav tm="100000">
                                          <p:val>
                                            <p:strVal val="#ppt_h"/>
                                          </p:val>
                                        </p:tav>
                                      </p:tavLst>
                                    </p:anim>
                                    <p:animEffect transition="in" filter="fade">
                                      <p:cBhvr>
                                        <p:cTn id="29" dur="500"/>
                                        <p:tgtEl>
                                          <p:spTgt spid="198"/>
                                        </p:tgtEl>
                                      </p:cBhvr>
                                    </p:animEffect>
                                  </p:childTnLst>
                                </p:cTn>
                              </p:par>
                            </p:childTnLst>
                          </p:cTn>
                        </p:par>
                        <p:par>
                          <p:cTn id="30" fill="hold">
                            <p:stCondLst>
                              <p:cond delay="500"/>
                            </p:stCondLst>
                            <p:childTnLst>
                              <p:par>
                                <p:cTn id="31" presetID="0" presetClass="path" presetSubtype="0" accel="50000" decel="50000" fill="hold" grpId="0" nodeType="afterEffect">
                                  <p:stCondLst>
                                    <p:cond delay="0"/>
                                  </p:stCondLst>
                                  <p:childTnLst>
                                    <p:animMotion origin="layout" path="M 0 0 L -0.61667 0.31083 " pathEditMode="relative" ptsTypes="AA">
                                      <p:cBhvr>
                                        <p:cTn id="32" dur="2000" fill="hold"/>
                                        <p:tgtEl>
                                          <p:spTgt spid="148"/>
                                        </p:tgtEl>
                                        <p:attrNameLst>
                                          <p:attrName>ppt_x</p:attrName>
                                          <p:attrName>ppt_y</p:attrName>
                                        </p:attrNameLst>
                                      </p:cBhvr>
                                    </p:animMotion>
                                  </p:childTnLst>
                                </p:cTn>
                              </p:par>
                            </p:childTnLst>
                          </p:cTn>
                        </p:par>
                        <p:par>
                          <p:cTn id="33" fill="hold">
                            <p:stCondLst>
                              <p:cond delay="2500"/>
                            </p:stCondLst>
                            <p:childTnLst>
                              <p:par>
                                <p:cTn id="34" presetID="0" presetClass="path" presetSubtype="0" accel="50000" decel="50000" fill="hold" grpId="0" nodeType="afterEffect">
                                  <p:stCondLst>
                                    <p:cond delay="0"/>
                                  </p:stCondLst>
                                  <p:childTnLst>
                                    <p:animMotion origin="layout" path="M 0 0 L -0.13333 0.38853 " pathEditMode="relative" ptsTypes="AA">
                                      <p:cBhvr>
                                        <p:cTn id="35" dur="2000" fill="hold"/>
                                        <p:tgtEl>
                                          <p:spTgt spid="143"/>
                                        </p:tgtEl>
                                        <p:attrNameLst>
                                          <p:attrName>ppt_x</p:attrName>
                                          <p:attrName>ppt_y</p:attrName>
                                        </p:attrNameLst>
                                      </p:cBhvr>
                                    </p:animMotion>
                                  </p:childTnLst>
                                </p:cTn>
                              </p:par>
                            </p:childTnLst>
                          </p:cTn>
                        </p:par>
                        <p:par>
                          <p:cTn id="36" fill="hold">
                            <p:stCondLst>
                              <p:cond delay="4500"/>
                            </p:stCondLst>
                            <p:childTnLst>
                              <p:par>
                                <p:cTn id="37" presetID="0" presetClass="path" presetSubtype="0" accel="50000" decel="50000" fill="hold" grpId="0" nodeType="afterEffect">
                                  <p:stCondLst>
                                    <p:cond delay="0"/>
                                  </p:stCondLst>
                                  <p:childTnLst>
                                    <p:animMotion origin="layout" path="M 5.55112E-17 9.25069E-9 L -0.26667 0.51064 " pathEditMode="relative" rAng="0" ptsTypes="AA">
                                      <p:cBhvr>
                                        <p:cTn id="38" dur="2000" fill="hold"/>
                                        <p:tgtEl>
                                          <p:spTgt spid="106"/>
                                        </p:tgtEl>
                                        <p:attrNameLst>
                                          <p:attrName>ppt_x</p:attrName>
                                          <p:attrName>ppt_y</p:attrName>
                                        </p:attrNameLst>
                                      </p:cBhvr>
                                      <p:rCtr x="-13300" y="25500"/>
                                    </p:animMotion>
                                  </p:childTnLst>
                                </p:cTn>
                              </p:par>
                            </p:childTnLst>
                          </p:cTn>
                        </p:par>
                        <p:par>
                          <p:cTn id="39" fill="hold">
                            <p:stCondLst>
                              <p:cond delay="6500"/>
                            </p:stCondLst>
                            <p:childTnLst>
                              <p:par>
                                <p:cTn id="40" presetID="0" presetClass="path" presetSubtype="0" accel="50000" decel="50000" fill="hold" grpId="0" nodeType="afterEffect">
                                  <p:stCondLst>
                                    <p:cond delay="0"/>
                                  </p:stCondLst>
                                  <p:childTnLst>
                                    <p:animMotion origin="layout" path="M 0 0 L 0.41667 0.32193 " pathEditMode="relative" ptsTypes="AA">
                                      <p:cBhvr>
                                        <p:cTn id="41" dur="2000" fill="hold"/>
                                        <p:tgtEl>
                                          <p:spTgt spid="121"/>
                                        </p:tgtEl>
                                        <p:attrNameLst>
                                          <p:attrName>ppt_x</p:attrName>
                                          <p:attrName>ppt_y</p:attrName>
                                        </p:attrNameLst>
                                      </p:cBhvr>
                                    </p:animMotion>
                                  </p:childTnLst>
                                </p:cTn>
                              </p:par>
                            </p:childTnLst>
                          </p:cTn>
                        </p:par>
                        <p:par>
                          <p:cTn id="42" fill="hold">
                            <p:stCondLst>
                              <p:cond delay="8500"/>
                            </p:stCondLst>
                            <p:childTnLst>
                              <p:par>
                                <p:cTn id="43" presetID="9" presetClass="entr" presetSubtype="0" fill="hold" grpId="0" nodeType="afterEffect">
                                  <p:stCondLst>
                                    <p:cond delay="0"/>
                                  </p:stCondLst>
                                  <p:childTnLst>
                                    <p:set>
                                      <p:cBhvr>
                                        <p:cTn id="44" dur="1" fill="hold">
                                          <p:stCondLst>
                                            <p:cond delay="0"/>
                                          </p:stCondLst>
                                        </p:cTn>
                                        <p:tgtEl>
                                          <p:spTgt spid="152"/>
                                        </p:tgtEl>
                                        <p:attrNameLst>
                                          <p:attrName>style.visibility</p:attrName>
                                        </p:attrNameLst>
                                      </p:cBhvr>
                                      <p:to>
                                        <p:strVal val="visible"/>
                                      </p:to>
                                    </p:set>
                                    <p:animEffect transition="in" filter="dissolve">
                                      <p:cBhvr>
                                        <p:cTn id="45" dur="2000"/>
                                        <p:tgtEl>
                                          <p:spTgt spid="15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53"/>
                                        </p:tgtEl>
                                        <p:attrNameLst>
                                          <p:attrName>style.visibility</p:attrName>
                                        </p:attrNameLst>
                                      </p:cBhvr>
                                      <p:to>
                                        <p:strVal val="visible"/>
                                      </p:to>
                                    </p:set>
                                    <p:animEffect transition="in" filter="dissolve">
                                      <p:cBhvr>
                                        <p:cTn id="48" dur="2000"/>
                                        <p:tgtEl>
                                          <p:spTgt spid="153"/>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54"/>
                                        </p:tgtEl>
                                        <p:attrNameLst>
                                          <p:attrName>style.visibility</p:attrName>
                                        </p:attrNameLst>
                                      </p:cBhvr>
                                      <p:to>
                                        <p:strVal val="visible"/>
                                      </p:to>
                                    </p:set>
                                    <p:animEffect transition="in" filter="dissolve">
                                      <p:cBhvr>
                                        <p:cTn id="51" dur="2000"/>
                                        <p:tgtEl>
                                          <p:spTgt spid="154"/>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55"/>
                                        </p:tgtEl>
                                        <p:attrNameLst>
                                          <p:attrName>style.visibility</p:attrName>
                                        </p:attrNameLst>
                                      </p:cBhvr>
                                      <p:to>
                                        <p:strVal val="visible"/>
                                      </p:to>
                                    </p:set>
                                    <p:animEffect transition="in" filter="dissolve">
                                      <p:cBhvr>
                                        <p:cTn id="54" dur="2000"/>
                                        <p:tgtEl>
                                          <p:spTgt spid="155"/>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56"/>
                                        </p:tgtEl>
                                        <p:attrNameLst>
                                          <p:attrName>style.visibility</p:attrName>
                                        </p:attrNameLst>
                                      </p:cBhvr>
                                      <p:to>
                                        <p:strVal val="visible"/>
                                      </p:to>
                                    </p:set>
                                    <p:animEffect transition="in" filter="dissolve">
                                      <p:cBhvr>
                                        <p:cTn id="57" dur="2000"/>
                                        <p:tgtEl>
                                          <p:spTgt spid="156"/>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157"/>
                                        </p:tgtEl>
                                        <p:attrNameLst>
                                          <p:attrName>style.visibility</p:attrName>
                                        </p:attrNameLst>
                                      </p:cBhvr>
                                      <p:to>
                                        <p:strVal val="visible"/>
                                      </p:to>
                                    </p:set>
                                    <p:animEffect transition="in" filter="dissolve">
                                      <p:cBhvr>
                                        <p:cTn id="60" dur="2000"/>
                                        <p:tgtEl>
                                          <p:spTgt spid="157"/>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158"/>
                                        </p:tgtEl>
                                        <p:attrNameLst>
                                          <p:attrName>style.visibility</p:attrName>
                                        </p:attrNameLst>
                                      </p:cBhvr>
                                      <p:to>
                                        <p:strVal val="visible"/>
                                      </p:to>
                                    </p:set>
                                    <p:animEffect transition="in" filter="dissolve">
                                      <p:cBhvr>
                                        <p:cTn id="63" dur="2000"/>
                                        <p:tgtEl>
                                          <p:spTgt spid="158"/>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159"/>
                                        </p:tgtEl>
                                        <p:attrNameLst>
                                          <p:attrName>style.visibility</p:attrName>
                                        </p:attrNameLst>
                                      </p:cBhvr>
                                      <p:to>
                                        <p:strVal val="visible"/>
                                      </p:to>
                                    </p:set>
                                    <p:animEffect transition="in" filter="dissolve">
                                      <p:cBhvr>
                                        <p:cTn id="66" dur="2000"/>
                                        <p:tgtEl>
                                          <p:spTgt spid="159"/>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160"/>
                                        </p:tgtEl>
                                        <p:attrNameLst>
                                          <p:attrName>style.visibility</p:attrName>
                                        </p:attrNameLst>
                                      </p:cBhvr>
                                      <p:to>
                                        <p:strVal val="visible"/>
                                      </p:to>
                                    </p:set>
                                    <p:animEffect transition="in" filter="dissolve">
                                      <p:cBhvr>
                                        <p:cTn id="69" dur="2000"/>
                                        <p:tgtEl>
                                          <p:spTgt spid="160"/>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61"/>
                                        </p:tgtEl>
                                        <p:attrNameLst>
                                          <p:attrName>style.visibility</p:attrName>
                                        </p:attrNameLst>
                                      </p:cBhvr>
                                      <p:to>
                                        <p:strVal val="visible"/>
                                      </p:to>
                                    </p:set>
                                    <p:animEffect transition="in" filter="dissolve">
                                      <p:cBhvr>
                                        <p:cTn id="72" dur="2000"/>
                                        <p:tgtEl>
                                          <p:spTgt spid="161"/>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162"/>
                                        </p:tgtEl>
                                        <p:attrNameLst>
                                          <p:attrName>style.visibility</p:attrName>
                                        </p:attrNameLst>
                                      </p:cBhvr>
                                      <p:to>
                                        <p:strVal val="visible"/>
                                      </p:to>
                                    </p:set>
                                    <p:animEffect transition="in" filter="dissolve">
                                      <p:cBhvr>
                                        <p:cTn id="75" dur="2000"/>
                                        <p:tgtEl>
                                          <p:spTgt spid="162"/>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163"/>
                                        </p:tgtEl>
                                        <p:attrNameLst>
                                          <p:attrName>style.visibility</p:attrName>
                                        </p:attrNameLst>
                                      </p:cBhvr>
                                      <p:to>
                                        <p:strVal val="visible"/>
                                      </p:to>
                                    </p:set>
                                    <p:animEffect transition="in" filter="dissolve">
                                      <p:cBhvr>
                                        <p:cTn id="78" dur="2000"/>
                                        <p:tgtEl>
                                          <p:spTgt spid="163"/>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164"/>
                                        </p:tgtEl>
                                        <p:attrNameLst>
                                          <p:attrName>style.visibility</p:attrName>
                                        </p:attrNameLst>
                                      </p:cBhvr>
                                      <p:to>
                                        <p:strVal val="visible"/>
                                      </p:to>
                                    </p:set>
                                    <p:animEffect transition="in" filter="dissolve">
                                      <p:cBhvr>
                                        <p:cTn id="81" dur="2000"/>
                                        <p:tgtEl>
                                          <p:spTgt spid="164"/>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165"/>
                                        </p:tgtEl>
                                        <p:attrNameLst>
                                          <p:attrName>style.visibility</p:attrName>
                                        </p:attrNameLst>
                                      </p:cBhvr>
                                      <p:to>
                                        <p:strVal val="visible"/>
                                      </p:to>
                                    </p:set>
                                    <p:animEffect transition="in" filter="dissolve">
                                      <p:cBhvr>
                                        <p:cTn id="84" dur="2000"/>
                                        <p:tgtEl>
                                          <p:spTgt spid="165"/>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166"/>
                                        </p:tgtEl>
                                        <p:attrNameLst>
                                          <p:attrName>style.visibility</p:attrName>
                                        </p:attrNameLst>
                                      </p:cBhvr>
                                      <p:to>
                                        <p:strVal val="visible"/>
                                      </p:to>
                                    </p:set>
                                    <p:animEffect transition="in" filter="dissolve">
                                      <p:cBhvr>
                                        <p:cTn id="87" dur="2000"/>
                                        <p:tgtEl>
                                          <p:spTgt spid="166"/>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167"/>
                                        </p:tgtEl>
                                        <p:attrNameLst>
                                          <p:attrName>style.visibility</p:attrName>
                                        </p:attrNameLst>
                                      </p:cBhvr>
                                      <p:to>
                                        <p:strVal val="visible"/>
                                      </p:to>
                                    </p:set>
                                    <p:animEffect transition="in" filter="dissolve">
                                      <p:cBhvr>
                                        <p:cTn id="90" dur="2000"/>
                                        <p:tgtEl>
                                          <p:spTgt spid="167"/>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168"/>
                                        </p:tgtEl>
                                        <p:attrNameLst>
                                          <p:attrName>style.visibility</p:attrName>
                                        </p:attrNameLst>
                                      </p:cBhvr>
                                      <p:to>
                                        <p:strVal val="visible"/>
                                      </p:to>
                                    </p:set>
                                    <p:animEffect transition="in" filter="dissolve">
                                      <p:cBhvr>
                                        <p:cTn id="93" dur="2000"/>
                                        <p:tgtEl>
                                          <p:spTgt spid="168"/>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169"/>
                                        </p:tgtEl>
                                        <p:attrNameLst>
                                          <p:attrName>style.visibility</p:attrName>
                                        </p:attrNameLst>
                                      </p:cBhvr>
                                      <p:to>
                                        <p:strVal val="visible"/>
                                      </p:to>
                                    </p:set>
                                    <p:animEffect transition="in" filter="dissolve">
                                      <p:cBhvr>
                                        <p:cTn id="96" dur="2000"/>
                                        <p:tgtEl>
                                          <p:spTgt spid="169"/>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170"/>
                                        </p:tgtEl>
                                        <p:attrNameLst>
                                          <p:attrName>style.visibility</p:attrName>
                                        </p:attrNameLst>
                                      </p:cBhvr>
                                      <p:to>
                                        <p:strVal val="visible"/>
                                      </p:to>
                                    </p:set>
                                    <p:animEffect transition="in" filter="dissolve">
                                      <p:cBhvr>
                                        <p:cTn id="99" dur="2000"/>
                                        <p:tgtEl>
                                          <p:spTgt spid="170"/>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171"/>
                                        </p:tgtEl>
                                        <p:attrNameLst>
                                          <p:attrName>style.visibility</p:attrName>
                                        </p:attrNameLst>
                                      </p:cBhvr>
                                      <p:to>
                                        <p:strVal val="visible"/>
                                      </p:to>
                                    </p:set>
                                    <p:animEffect transition="in" filter="dissolve">
                                      <p:cBhvr>
                                        <p:cTn id="102" dur="2000"/>
                                        <p:tgtEl>
                                          <p:spTgt spid="171"/>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172"/>
                                        </p:tgtEl>
                                        <p:attrNameLst>
                                          <p:attrName>style.visibility</p:attrName>
                                        </p:attrNameLst>
                                      </p:cBhvr>
                                      <p:to>
                                        <p:strVal val="visible"/>
                                      </p:to>
                                    </p:set>
                                    <p:animEffect transition="in" filter="dissolve">
                                      <p:cBhvr>
                                        <p:cTn id="105" dur="2000"/>
                                        <p:tgtEl>
                                          <p:spTgt spid="172"/>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173"/>
                                        </p:tgtEl>
                                        <p:attrNameLst>
                                          <p:attrName>style.visibility</p:attrName>
                                        </p:attrNameLst>
                                      </p:cBhvr>
                                      <p:to>
                                        <p:strVal val="visible"/>
                                      </p:to>
                                    </p:set>
                                    <p:animEffect transition="in" filter="dissolve">
                                      <p:cBhvr>
                                        <p:cTn id="108" dur="2000"/>
                                        <p:tgtEl>
                                          <p:spTgt spid="173"/>
                                        </p:tgtEl>
                                      </p:cBhvr>
                                    </p:animEffect>
                                  </p:childTnLst>
                                </p:cTn>
                              </p:par>
                              <p:par>
                                <p:cTn id="109" presetID="9" presetClass="exit" presetSubtype="0" fill="hold" grpId="0" nodeType="withEffect">
                                  <p:stCondLst>
                                    <p:cond delay="0"/>
                                  </p:stCondLst>
                                  <p:childTnLst>
                                    <p:animEffect transition="out" filter="dissolve">
                                      <p:cBhvr>
                                        <p:cTn id="110" dur="2000"/>
                                        <p:tgtEl>
                                          <p:spTgt spid="102"/>
                                        </p:tgtEl>
                                      </p:cBhvr>
                                    </p:animEffect>
                                    <p:set>
                                      <p:cBhvr>
                                        <p:cTn id="111" dur="1" fill="hold">
                                          <p:stCondLst>
                                            <p:cond delay="1999"/>
                                          </p:stCondLst>
                                        </p:cTn>
                                        <p:tgtEl>
                                          <p:spTgt spid="102"/>
                                        </p:tgtEl>
                                        <p:attrNameLst>
                                          <p:attrName>style.visibility</p:attrName>
                                        </p:attrNameLst>
                                      </p:cBhvr>
                                      <p:to>
                                        <p:strVal val="hidden"/>
                                      </p:to>
                                    </p:set>
                                  </p:childTnLst>
                                </p:cTn>
                              </p:par>
                              <p:par>
                                <p:cTn id="112" presetID="9" presetClass="exit" presetSubtype="0" fill="hold" grpId="0" nodeType="withEffect">
                                  <p:stCondLst>
                                    <p:cond delay="0"/>
                                  </p:stCondLst>
                                  <p:childTnLst>
                                    <p:animEffect transition="out" filter="dissolve">
                                      <p:cBhvr>
                                        <p:cTn id="113" dur="2000"/>
                                        <p:tgtEl>
                                          <p:spTgt spid="104"/>
                                        </p:tgtEl>
                                      </p:cBhvr>
                                    </p:animEffect>
                                    <p:set>
                                      <p:cBhvr>
                                        <p:cTn id="114" dur="1" fill="hold">
                                          <p:stCondLst>
                                            <p:cond delay="1999"/>
                                          </p:stCondLst>
                                        </p:cTn>
                                        <p:tgtEl>
                                          <p:spTgt spid="104"/>
                                        </p:tgtEl>
                                        <p:attrNameLst>
                                          <p:attrName>style.visibility</p:attrName>
                                        </p:attrNameLst>
                                      </p:cBhvr>
                                      <p:to>
                                        <p:strVal val="hidden"/>
                                      </p:to>
                                    </p:set>
                                  </p:childTnLst>
                                </p:cTn>
                              </p:par>
                              <p:par>
                                <p:cTn id="115" presetID="9" presetClass="exit" presetSubtype="0" fill="hold" grpId="0" nodeType="withEffect">
                                  <p:stCondLst>
                                    <p:cond delay="0"/>
                                  </p:stCondLst>
                                  <p:childTnLst>
                                    <p:animEffect transition="out" filter="dissolve">
                                      <p:cBhvr>
                                        <p:cTn id="116" dur="2000"/>
                                        <p:tgtEl>
                                          <p:spTgt spid="105"/>
                                        </p:tgtEl>
                                      </p:cBhvr>
                                    </p:animEffect>
                                    <p:set>
                                      <p:cBhvr>
                                        <p:cTn id="117" dur="1" fill="hold">
                                          <p:stCondLst>
                                            <p:cond delay="1999"/>
                                          </p:stCondLst>
                                        </p:cTn>
                                        <p:tgtEl>
                                          <p:spTgt spid="105"/>
                                        </p:tgtEl>
                                        <p:attrNameLst>
                                          <p:attrName>style.visibility</p:attrName>
                                        </p:attrNameLst>
                                      </p:cBhvr>
                                      <p:to>
                                        <p:strVal val="hidden"/>
                                      </p:to>
                                    </p:set>
                                  </p:childTnLst>
                                </p:cTn>
                              </p:par>
                              <p:par>
                                <p:cTn id="118" presetID="9" presetClass="exit" presetSubtype="0" fill="hold" grpId="0" nodeType="withEffect">
                                  <p:stCondLst>
                                    <p:cond delay="0"/>
                                  </p:stCondLst>
                                  <p:childTnLst>
                                    <p:animEffect transition="out" filter="dissolve">
                                      <p:cBhvr>
                                        <p:cTn id="119" dur="2000"/>
                                        <p:tgtEl>
                                          <p:spTgt spid="107"/>
                                        </p:tgtEl>
                                      </p:cBhvr>
                                    </p:animEffect>
                                    <p:set>
                                      <p:cBhvr>
                                        <p:cTn id="120" dur="1" fill="hold">
                                          <p:stCondLst>
                                            <p:cond delay="1999"/>
                                          </p:stCondLst>
                                        </p:cTn>
                                        <p:tgtEl>
                                          <p:spTgt spid="107"/>
                                        </p:tgtEl>
                                        <p:attrNameLst>
                                          <p:attrName>style.visibility</p:attrName>
                                        </p:attrNameLst>
                                      </p:cBhvr>
                                      <p:to>
                                        <p:strVal val="hidden"/>
                                      </p:to>
                                    </p:set>
                                  </p:childTnLst>
                                </p:cTn>
                              </p:par>
                              <p:par>
                                <p:cTn id="121" presetID="9" presetClass="exit" presetSubtype="0" fill="hold" grpId="0" nodeType="withEffect">
                                  <p:stCondLst>
                                    <p:cond delay="0"/>
                                  </p:stCondLst>
                                  <p:childTnLst>
                                    <p:animEffect transition="out" filter="dissolve">
                                      <p:cBhvr>
                                        <p:cTn id="122" dur="2000"/>
                                        <p:tgtEl>
                                          <p:spTgt spid="108"/>
                                        </p:tgtEl>
                                      </p:cBhvr>
                                    </p:animEffect>
                                    <p:set>
                                      <p:cBhvr>
                                        <p:cTn id="123" dur="1" fill="hold">
                                          <p:stCondLst>
                                            <p:cond delay="1999"/>
                                          </p:stCondLst>
                                        </p:cTn>
                                        <p:tgtEl>
                                          <p:spTgt spid="108"/>
                                        </p:tgtEl>
                                        <p:attrNameLst>
                                          <p:attrName>style.visibility</p:attrName>
                                        </p:attrNameLst>
                                      </p:cBhvr>
                                      <p:to>
                                        <p:strVal val="hidden"/>
                                      </p:to>
                                    </p:set>
                                  </p:childTnLst>
                                </p:cTn>
                              </p:par>
                              <p:par>
                                <p:cTn id="124" presetID="9" presetClass="exit" presetSubtype="0" fill="hold" grpId="0" nodeType="withEffect">
                                  <p:stCondLst>
                                    <p:cond delay="0"/>
                                  </p:stCondLst>
                                  <p:childTnLst>
                                    <p:animEffect transition="out" filter="dissolve">
                                      <p:cBhvr>
                                        <p:cTn id="125" dur="2000"/>
                                        <p:tgtEl>
                                          <p:spTgt spid="109"/>
                                        </p:tgtEl>
                                      </p:cBhvr>
                                    </p:animEffect>
                                    <p:set>
                                      <p:cBhvr>
                                        <p:cTn id="126" dur="1" fill="hold">
                                          <p:stCondLst>
                                            <p:cond delay="1999"/>
                                          </p:stCondLst>
                                        </p:cTn>
                                        <p:tgtEl>
                                          <p:spTgt spid="109"/>
                                        </p:tgtEl>
                                        <p:attrNameLst>
                                          <p:attrName>style.visibility</p:attrName>
                                        </p:attrNameLst>
                                      </p:cBhvr>
                                      <p:to>
                                        <p:strVal val="hidden"/>
                                      </p:to>
                                    </p:set>
                                  </p:childTnLst>
                                </p:cTn>
                              </p:par>
                              <p:par>
                                <p:cTn id="127" presetID="9" presetClass="exit" presetSubtype="0" fill="hold" grpId="0" nodeType="withEffect">
                                  <p:stCondLst>
                                    <p:cond delay="0"/>
                                  </p:stCondLst>
                                  <p:childTnLst>
                                    <p:animEffect transition="out" filter="dissolve">
                                      <p:cBhvr>
                                        <p:cTn id="128" dur="2000"/>
                                        <p:tgtEl>
                                          <p:spTgt spid="110"/>
                                        </p:tgtEl>
                                      </p:cBhvr>
                                    </p:animEffect>
                                    <p:set>
                                      <p:cBhvr>
                                        <p:cTn id="129" dur="1" fill="hold">
                                          <p:stCondLst>
                                            <p:cond delay="1999"/>
                                          </p:stCondLst>
                                        </p:cTn>
                                        <p:tgtEl>
                                          <p:spTgt spid="110"/>
                                        </p:tgtEl>
                                        <p:attrNameLst>
                                          <p:attrName>style.visibility</p:attrName>
                                        </p:attrNameLst>
                                      </p:cBhvr>
                                      <p:to>
                                        <p:strVal val="hidden"/>
                                      </p:to>
                                    </p:set>
                                  </p:childTnLst>
                                </p:cTn>
                              </p:par>
                              <p:par>
                                <p:cTn id="130" presetID="9" presetClass="exit" presetSubtype="0" fill="hold" grpId="0" nodeType="withEffect">
                                  <p:stCondLst>
                                    <p:cond delay="0"/>
                                  </p:stCondLst>
                                  <p:childTnLst>
                                    <p:animEffect transition="out" filter="dissolve">
                                      <p:cBhvr>
                                        <p:cTn id="131" dur="2000"/>
                                        <p:tgtEl>
                                          <p:spTgt spid="111"/>
                                        </p:tgtEl>
                                      </p:cBhvr>
                                    </p:animEffect>
                                    <p:set>
                                      <p:cBhvr>
                                        <p:cTn id="132" dur="1" fill="hold">
                                          <p:stCondLst>
                                            <p:cond delay="1999"/>
                                          </p:stCondLst>
                                        </p:cTn>
                                        <p:tgtEl>
                                          <p:spTgt spid="111"/>
                                        </p:tgtEl>
                                        <p:attrNameLst>
                                          <p:attrName>style.visibility</p:attrName>
                                        </p:attrNameLst>
                                      </p:cBhvr>
                                      <p:to>
                                        <p:strVal val="hidden"/>
                                      </p:to>
                                    </p:set>
                                  </p:childTnLst>
                                </p:cTn>
                              </p:par>
                              <p:par>
                                <p:cTn id="133" presetID="9" presetClass="exit" presetSubtype="0" fill="hold" grpId="0" nodeType="withEffect">
                                  <p:stCondLst>
                                    <p:cond delay="0"/>
                                  </p:stCondLst>
                                  <p:childTnLst>
                                    <p:animEffect transition="out" filter="dissolve">
                                      <p:cBhvr>
                                        <p:cTn id="134" dur="2000"/>
                                        <p:tgtEl>
                                          <p:spTgt spid="112"/>
                                        </p:tgtEl>
                                      </p:cBhvr>
                                    </p:animEffect>
                                    <p:set>
                                      <p:cBhvr>
                                        <p:cTn id="135" dur="1" fill="hold">
                                          <p:stCondLst>
                                            <p:cond delay="1999"/>
                                          </p:stCondLst>
                                        </p:cTn>
                                        <p:tgtEl>
                                          <p:spTgt spid="112"/>
                                        </p:tgtEl>
                                        <p:attrNameLst>
                                          <p:attrName>style.visibility</p:attrName>
                                        </p:attrNameLst>
                                      </p:cBhvr>
                                      <p:to>
                                        <p:strVal val="hidden"/>
                                      </p:to>
                                    </p:set>
                                  </p:childTnLst>
                                </p:cTn>
                              </p:par>
                              <p:par>
                                <p:cTn id="136" presetID="9" presetClass="exit" presetSubtype="0" fill="hold" grpId="0" nodeType="withEffect">
                                  <p:stCondLst>
                                    <p:cond delay="0"/>
                                  </p:stCondLst>
                                  <p:childTnLst>
                                    <p:animEffect transition="out" filter="dissolve">
                                      <p:cBhvr>
                                        <p:cTn id="137" dur="2000"/>
                                        <p:tgtEl>
                                          <p:spTgt spid="113"/>
                                        </p:tgtEl>
                                      </p:cBhvr>
                                    </p:animEffect>
                                    <p:set>
                                      <p:cBhvr>
                                        <p:cTn id="138" dur="1" fill="hold">
                                          <p:stCondLst>
                                            <p:cond delay="1999"/>
                                          </p:stCondLst>
                                        </p:cTn>
                                        <p:tgtEl>
                                          <p:spTgt spid="113"/>
                                        </p:tgtEl>
                                        <p:attrNameLst>
                                          <p:attrName>style.visibility</p:attrName>
                                        </p:attrNameLst>
                                      </p:cBhvr>
                                      <p:to>
                                        <p:strVal val="hidden"/>
                                      </p:to>
                                    </p:set>
                                  </p:childTnLst>
                                </p:cTn>
                              </p:par>
                              <p:par>
                                <p:cTn id="139" presetID="9" presetClass="exit" presetSubtype="0" fill="hold" grpId="0" nodeType="withEffect">
                                  <p:stCondLst>
                                    <p:cond delay="0"/>
                                  </p:stCondLst>
                                  <p:childTnLst>
                                    <p:animEffect transition="out" filter="dissolve">
                                      <p:cBhvr>
                                        <p:cTn id="140" dur="2000"/>
                                        <p:tgtEl>
                                          <p:spTgt spid="114"/>
                                        </p:tgtEl>
                                      </p:cBhvr>
                                    </p:animEffect>
                                    <p:set>
                                      <p:cBhvr>
                                        <p:cTn id="141" dur="1" fill="hold">
                                          <p:stCondLst>
                                            <p:cond delay="1999"/>
                                          </p:stCondLst>
                                        </p:cTn>
                                        <p:tgtEl>
                                          <p:spTgt spid="114"/>
                                        </p:tgtEl>
                                        <p:attrNameLst>
                                          <p:attrName>style.visibility</p:attrName>
                                        </p:attrNameLst>
                                      </p:cBhvr>
                                      <p:to>
                                        <p:strVal val="hidden"/>
                                      </p:to>
                                    </p:set>
                                  </p:childTnLst>
                                </p:cTn>
                              </p:par>
                              <p:par>
                                <p:cTn id="142" presetID="9" presetClass="exit" presetSubtype="0" fill="hold" grpId="0" nodeType="withEffect">
                                  <p:stCondLst>
                                    <p:cond delay="0"/>
                                  </p:stCondLst>
                                  <p:childTnLst>
                                    <p:animEffect transition="out" filter="dissolve">
                                      <p:cBhvr>
                                        <p:cTn id="143" dur="2000"/>
                                        <p:tgtEl>
                                          <p:spTgt spid="115"/>
                                        </p:tgtEl>
                                      </p:cBhvr>
                                    </p:animEffect>
                                    <p:set>
                                      <p:cBhvr>
                                        <p:cTn id="144" dur="1" fill="hold">
                                          <p:stCondLst>
                                            <p:cond delay="1999"/>
                                          </p:stCondLst>
                                        </p:cTn>
                                        <p:tgtEl>
                                          <p:spTgt spid="115"/>
                                        </p:tgtEl>
                                        <p:attrNameLst>
                                          <p:attrName>style.visibility</p:attrName>
                                        </p:attrNameLst>
                                      </p:cBhvr>
                                      <p:to>
                                        <p:strVal val="hidden"/>
                                      </p:to>
                                    </p:set>
                                  </p:childTnLst>
                                </p:cTn>
                              </p:par>
                              <p:par>
                                <p:cTn id="145" presetID="9" presetClass="exit" presetSubtype="0" fill="hold" grpId="0" nodeType="withEffect">
                                  <p:stCondLst>
                                    <p:cond delay="0"/>
                                  </p:stCondLst>
                                  <p:childTnLst>
                                    <p:animEffect transition="out" filter="dissolve">
                                      <p:cBhvr>
                                        <p:cTn id="146" dur="2000"/>
                                        <p:tgtEl>
                                          <p:spTgt spid="116"/>
                                        </p:tgtEl>
                                      </p:cBhvr>
                                    </p:animEffect>
                                    <p:set>
                                      <p:cBhvr>
                                        <p:cTn id="147" dur="1" fill="hold">
                                          <p:stCondLst>
                                            <p:cond delay="1999"/>
                                          </p:stCondLst>
                                        </p:cTn>
                                        <p:tgtEl>
                                          <p:spTgt spid="116"/>
                                        </p:tgtEl>
                                        <p:attrNameLst>
                                          <p:attrName>style.visibility</p:attrName>
                                        </p:attrNameLst>
                                      </p:cBhvr>
                                      <p:to>
                                        <p:strVal val="hidden"/>
                                      </p:to>
                                    </p:set>
                                  </p:childTnLst>
                                </p:cTn>
                              </p:par>
                              <p:par>
                                <p:cTn id="148" presetID="9" presetClass="exit" presetSubtype="0" fill="hold" grpId="0" nodeType="withEffect">
                                  <p:stCondLst>
                                    <p:cond delay="0"/>
                                  </p:stCondLst>
                                  <p:childTnLst>
                                    <p:animEffect transition="out" filter="dissolve">
                                      <p:cBhvr>
                                        <p:cTn id="149" dur="2000"/>
                                        <p:tgtEl>
                                          <p:spTgt spid="117"/>
                                        </p:tgtEl>
                                      </p:cBhvr>
                                    </p:animEffect>
                                    <p:set>
                                      <p:cBhvr>
                                        <p:cTn id="150" dur="1" fill="hold">
                                          <p:stCondLst>
                                            <p:cond delay="1999"/>
                                          </p:stCondLst>
                                        </p:cTn>
                                        <p:tgtEl>
                                          <p:spTgt spid="117"/>
                                        </p:tgtEl>
                                        <p:attrNameLst>
                                          <p:attrName>style.visibility</p:attrName>
                                        </p:attrNameLst>
                                      </p:cBhvr>
                                      <p:to>
                                        <p:strVal val="hidden"/>
                                      </p:to>
                                    </p:set>
                                  </p:childTnLst>
                                </p:cTn>
                              </p:par>
                              <p:par>
                                <p:cTn id="151" presetID="9" presetClass="exit" presetSubtype="0" fill="hold" grpId="0" nodeType="withEffect">
                                  <p:stCondLst>
                                    <p:cond delay="0"/>
                                  </p:stCondLst>
                                  <p:childTnLst>
                                    <p:animEffect transition="out" filter="dissolve">
                                      <p:cBhvr>
                                        <p:cTn id="152" dur="2000"/>
                                        <p:tgtEl>
                                          <p:spTgt spid="118"/>
                                        </p:tgtEl>
                                      </p:cBhvr>
                                    </p:animEffect>
                                    <p:set>
                                      <p:cBhvr>
                                        <p:cTn id="153" dur="1" fill="hold">
                                          <p:stCondLst>
                                            <p:cond delay="1999"/>
                                          </p:stCondLst>
                                        </p:cTn>
                                        <p:tgtEl>
                                          <p:spTgt spid="118"/>
                                        </p:tgtEl>
                                        <p:attrNameLst>
                                          <p:attrName>style.visibility</p:attrName>
                                        </p:attrNameLst>
                                      </p:cBhvr>
                                      <p:to>
                                        <p:strVal val="hidden"/>
                                      </p:to>
                                    </p:set>
                                  </p:childTnLst>
                                </p:cTn>
                              </p:par>
                              <p:par>
                                <p:cTn id="154" presetID="9" presetClass="exit" presetSubtype="0" fill="hold" grpId="0" nodeType="withEffect">
                                  <p:stCondLst>
                                    <p:cond delay="0"/>
                                  </p:stCondLst>
                                  <p:childTnLst>
                                    <p:animEffect transition="out" filter="dissolve">
                                      <p:cBhvr>
                                        <p:cTn id="155" dur="2000"/>
                                        <p:tgtEl>
                                          <p:spTgt spid="120"/>
                                        </p:tgtEl>
                                      </p:cBhvr>
                                    </p:animEffect>
                                    <p:set>
                                      <p:cBhvr>
                                        <p:cTn id="156" dur="1" fill="hold">
                                          <p:stCondLst>
                                            <p:cond delay="1999"/>
                                          </p:stCondLst>
                                        </p:cTn>
                                        <p:tgtEl>
                                          <p:spTgt spid="120"/>
                                        </p:tgtEl>
                                        <p:attrNameLst>
                                          <p:attrName>style.visibility</p:attrName>
                                        </p:attrNameLst>
                                      </p:cBhvr>
                                      <p:to>
                                        <p:strVal val="hidden"/>
                                      </p:to>
                                    </p:set>
                                  </p:childTnLst>
                                </p:cTn>
                              </p:par>
                              <p:par>
                                <p:cTn id="157" presetID="9" presetClass="exit" presetSubtype="0" fill="hold" grpId="0" nodeType="withEffect">
                                  <p:stCondLst>
                                    <p:cond delay="0"/>
                                  </p:stCondLst>
                                  <p:childTnLst>
                                    <p:animEffect transition="out" filter="dissolve">
                                      <p:cBhvr>
                                        <p:cTn id="158" dur="2000"/>
                                        <p:tgtEl>
                                          <p:spTgt spid="122"/>
                                        </p:tgtEl>
                                      </p:cBhvr>
                                    </p:animEffect>
                                    <p:set>
                                      <p:cBhvr>
                                        <p:cTn id="159" dur="1" fill="hold">
                                          <p:stCondLst>
                                            <p:cond delay="1999"/>
                                          </p:stCondLst>
                                        </p:cTn>
                                        <p:tgtEl>
                                          <p:spTgt spid="122"/>
                                        </p:tgtEl>
                                        <p:attrNameLst>
                                          <p:attrName>style.visibility</p:attrName>
                                        </p:attrNameLst>
                                      </p:cBhvr>
                                      <p:to>
                                        <p:strVal val="hidden"/>
                                      </p:to>
                                    </p:set>
                                  </p:childTnLst>
                                </p:cTn>
                              </p:par>
                              <p:par>
                                <p:cTn id="160" presetID="9" presetClass="exit" presetSubtype="0" fill="hold" grpId="0" nodeType="withEffect">
                                  <p:stCondLst>
                                    <p:cond delay="0"/>
                                  </p:stCondLst>
                                  <p:childTnLst>
                                    <p:animEffect transition="out" filter="dissolve">
                                      <p:cBhvr>
                                        <p:cTn id="161" dur="2000"/>
                                        <p:tgtEl>
                                          <p:spTgt spid="123"/>
                                        </p:tgtEl>
                                      </p:cBhvr>
                                    </p:animEffect>
                                    <p:set>
                                      <p:cBhvr>
                                        <p:cTn id="162" dur="1" fill="hold">
                                          <p:stCondLst>
                                            <p:cond delay="1999"/>
                                          </p:stCondLst>
                                        </p:cTn>
                                        <p:tgtEl>
                                          <p:spTgt spid="123"/>
                                        </p:tgtEl>
                                        <p:attrNameLst>
                                          <p:attrName>style.visibility</p:attrName>
                                        </p:attrNameLst>
                                      </p:cBhvr>
                                      <p:to>
                                        <p:strVal val="hidden"/>
                                      </p:to>
                                    </p:set>
                                  </p:childTnLst>
                                </p:cTn>
                              </p:par>
                              <p:par>
                                <p:cTn id="163" presetID="9" presetClass="exit" presetSubtype="0" fill="hold" grpId="0" nodeType="withEffect">
                                  <p:stCondLst>
                                    <p:cond delay="0"/>
                                  </p:stCondLst>
                                  <p:childTnLst>
                                    <p:animEffect transition="out" filter="dissolve">
                                      <p:cBhvr>
                                        <p:cTn id="164" dur="2000"/>
                                        <p:tgtEl>
                                          <p:spTgt spid="124"/>
                                        </p:tgtEl>
                                      </p:cBhvr>
                                    </p:animEffect>
                                    <p:set>
                                      <p:cBhvr>
                                        <p:cTn id="165" dur="1" fill="hold">
                                          <p:stCondLst>
                                            <p:cond delay="1999"/>
                                          </p:stCondLst>
                                        </p:cTn>
                                        <p:tgtEl>
                                          <p:spTgt spid="124"/>
                                        </p:tgtEl>
                                        <p:attrNameLst>
                                          <p:attrName>style.visibility</p:attrName>
                                        </p:attrNameLst>
                                      </p:cBhvr>
                                      <p:to>
                                        <p:strVal val="hidden"/>
                                      </p:to>
                                    </p:set>
                                  </p:childTnLst>
                                </p:cTn>
                              </p:par>
                              <p:par>
                                <p:cTn id="166" presetID="9" presetClass="exit" presetSubtype="0" fill="hold" grpId="0" nodeType="withEffect">
                                  <p:stCondLst>
                                    <p:cond delay="0"/>
                                  </p:stCondLst>
                                  <p:childTnLst>
                                    <p:animEffect transition="out" filter="dissolve">
                                      <p:cBhvr>
                                        <p:cTn id="167" dur="2000"/>
                                        <p:tgtEl>
                                          <p:spTgt spid="125"/>
                                        </p:tgtEl>
                                      </p:cBhvr>
                                    </p:animEffect>
                                    <p:set>
                                      <p:cBhvr>
                                        <p:cTn id="168" dur="1" fill="hold">
                                          <p:stCondLst>
                                            <p:cond delay="1999"/>
                                          </p:stCondLst>
                                        </p:cTn>
                                        <p:tgtEl>
                                          <p:spTgt spid="125"/>
                                        </p:tgtEl>
                                        <p:attrNameLst>
                                          <p:attrName>style.visibility</p:attrName>
                                        </p:attrNameLst>
                                      </p:cBhvr>
                                      <p:to>
                                        <p:strVal val="hidden"/>
                                      </p:to>
                                    </p:set>
                                  </p:childTnLst>
                                </p:cTn>
                              </p:par>
                              <p:par>
                                <p:cTn id="169" presetID="9" presetClass="exit" presetSubtype="0" fill="hold" grpId="0" nodeType="withEffect">
                                  <p:stCondLst>
                                    <p:cond delay="0"/>
                                  </p:stCondLst>
                                  <p:childTnLst>
                                    <p:animEffect transition="out" filter="dissolve">
                                      <p:cBhvr>
                                        <p:cTn id="170" dur="2000"/>
                                        <p:tgtEl>
                                          <p:spTgt spid="127"/>
                                        </p:tgtEl>
                                      </p:cBhvr>
                                    </p:animEffect>
                                    <p:set>
                                      <p:cBhvr>
                                        <p:cTn id="171" dur="1" fill="hold">
                                          <p:stCondLst>
                                            <p:cond delay="1999"/>
                                          </p:stCondLst>
                                        </p:cTn>
                                        <p:tgtEl>
                                          <p:spTgt spid="127"/>
                                        </p:tgtEl>
                                        <p:attrNameLst>
                                          <p:attrName>style.visibility</p:attrName>
                                        </p:attrNameLst>
                                      </p:cBhvr>
                                      <p:to>
                                        <p:strVal val="hidden"/>
                                      </p:to>
                                    </p:set>
                                  </p:childTnLst>
                                </p:cTn>
                              </p:par>
                              <p:par>
                                <p:cTn id="172" presetID="9" presetClass="exit" presetSubtype="0" fill="hold" grpId="0" nodeType="withEffect">
                                  <p:stCondLst>
                                    <p:cond delay="0"/>
                                  </p:stCondLst>
                                  <p:childTnLst>
                                    <p:animEffect transition="out" filter="dissolve">
                                      <p:cBhvr>
                                        <p:cTn id="173" dur="2000"/>
                                        <p:tgtEl>
                                          <p:spTgt spid="128"/>
                                        </p:tgtEl>
                                      </p:cBhvr>
                                    </p:animEffect>
                                    <p:set>
                                      <p:cBhvr>
                                        <p:cTn id="174" dur="1" fill="hold">
                                          <p:stCondLst>
                                            <p:cond delay="1999"/>
                                          </p:stCondLst>
                                        </p:cTn>
                                        <p:tgtEl>
                                          <p:spTgt spid="128"/>
                                        </p:tgtEl>
                                        <p:attrNameLst>
                                          <p:attrName>style.visibility</p:attrName>
                                        </p:attrNameLst>
                                      </p:cBhvr>
                                      <p:to>
                                        <p:strVal val="hidden"/>
                                      </p:to>
                                    </p:set>
                                  </p:childTnLst>
                                </p:cTn>
                              </p:par>
                              <p:par>
                                <p:cTn id="175" presetID="9" presetClass="exit" presetSubtype="0" fill="hold" grpId="0" nodeType="withEffect">
                                  <p:stCondLst>
                                    <p:cond delay="0"/>
                                  </p:stCondLst>
                                  <p:childTnLst>
                                    <p:animEffect transition="out" filter="dissolve">
                                      <p:cBhvr>
                                        <p:cTn id="176" dur="2000"/>
                                        <p:tgtEl>
                                          <p:spTgt spid="129"/>
                                        </p:tgtEl>
                                      </p:cBhvr>
                                    </p:animEffect>
                                    <p:set>
                                      <p:cBhvr>
                                        <p:cTn id="177" dur="1" fill="hold">
                                          <p:stCondLst>
                                            <p:cond delay="1999"/>
                                          </p:stCondLst>
                                        </p:cTn>
                                        <p:tgtEl>
                                          <p:spTgt spid="129"/>
                                        </p:tgtEl>
                                        <p:attrNameLst>
                                          <p:attrName>style.visibility</p:attrName>
                                        </p:attrNameLst>
                                      </p:cBhvr>
                                      <p:to>
                                        <p:strVal val="hidden"/>
                                      </p:to>
                                    </p:set>
                                  </p:childTnLst>
                                </p:cTn>
                              </p:par>
                              <p:par>
                                <p:cTn id="178" presetID="9" presetClass="exit" presetSubtype="0" fill="hold" grpId="0" nodeType="withEffect">
                                  <p:stCondLst>
                                    <p:cond delay="0"/>
                                  </p:stCondLst>
                                  <p:childTnLst>
                                    <p:animEffect transition="out" filter="dissolve">
                                      <p:cBhvr>
                                        <p:cTn id="179" dur="2000"/>
                                        <p:tgtEl>
                                          <p:spTgt spid="130"/>
                                        </p:tgtEl>
                                      </p:cBhvr>
                                    </p:animEffect>
                                    <p:set>
                                      <p:cBhvr>
                                        <p:cTn id="180" dur="1" fill="hold">
                                          <p:stCondLst>
                                            <p:cond delay="1999"/>
                                          </p:stCondLst>
                                        </p:cTn>
                                        <p:tgtEl>
                                          <p:spTgt spid="130"/>
                                        </p:tgtEl>
                                        <p:attrNameLst>
                                          <p:attrName>style.visibility</p:attrName>
                                        </p:attrNameLst>
                                      </p:cBhvr>
                                      <p:to>
                                        <p:strVal val="hidden"/>
                                      </p:to>
                                    </p:set>
                                  </p:childTnLst>
                                </p:cTn>
                              </p:par>
                              <p:par>
                                <p:cTn id="181" presetID="9" presetClass="exit" presetSubtype="0" fill="hold" grpId="0" nodeType="withEffect">
                                  <p:stCondLst>
                                    <p:cond delay="0"/>
                                  </p:stCondLst>
                                  <p:childTnLst>
                                    <p:animEffect transition="out" filter="dissolve">
                                      <p:cBhvr>
                                        <p:cTn id="182" dur="2000"/>
                                        <p:tgtEl>
                                          <p:spTgt spid="131"/>
                                        </p:tgtEl>
                                      </p:cBhvr>
                                    </p:animEffect>
                                    <p:set>
                                      <p:cBhvr>
                                        <p:cTn id="183" dur="1" fill="hold">
                                          <p:stCondLst>
                                            <p:cond delay="1999"/>
                                          </p:stCondLst>
                                        </p:cTn>
                                        <p:tgtEl>
                                          <p:spTgt spid="131"/>
                                        </p:tgtEl>
                                        <p:attrNameLst>
                                          <p:attrName>style.visibility</p:attrName>
                                        </p:attrNameLst>
                                      </p:cBhvr>
                                      <p:to>
                                        <p:strVal val="hidden"/>
                                      </p:to>
                                    </p:set>
                                  </p:childTnLst>
                                </p:cTn>
                              </p:par>
                              <p:par>
                                <p:cTn id="184" presetID="9" presetClass="exit" presetSubtype="0" fill="hold" grpId="0" nodeType="withEffect">
                                  <p:stCondLst>
                                    <p:cond delay="0"/>
                                  </p:stCondLst>
                                  <p:childTnLst>
                                    <p:animEffect transition="out" filter="dissolve">
                                      <p:cBhvr>
                                        <p:cTn id="185" dur="2000"/>
                                        <p:tgtEl>
                                          <p:spTgt spid="132"/>
                                        </p:tgtEl>
                                      </p:cBhvr>
                                    </p:animEffect>
                                    <p:set>
                                      <p:cBhvr>
                                        <p:cTn id="186" dur="1" fill="hold">
                                          <p:stCondLst>
                                            <p:cond delay="1999"/>
                                          </p:stCondLst>
                                        </p:cTn>
                                        <p:tgtEl>
                                          <p:spTgt spid="132"/>
                                        </p:tgtEl>
                                        <p:attrNameLst>
                                          <p:attrName>style.visibility</p:attrName>
                                        </p:attrNameLst>
                                      </p:cBhvr>
                                      <p:to>
                                        <p:strVal val="hidden"/>
                                      </p:to>
                                    </p:set>
                                  </p:childTnLst>
                                </p:cTn>
                              </p:par>
                              <p:par>
                                <p:cTn id="187" presetID="9" presetClass="exit" presetSubtype="0" fill="hold" grpId="0" nodeType="withEffect">
                                  <p:stCondLst>
                                    <p:cond delay="0"/>
                                  </p:stCondLst>
                                  <p:childTnLst>
                                    <p:animEffect transition="out" filter="dissolve">
                                      <p:cBhvr>
                                        <p:cTn id="188" dur="2000"/>
                                        <p:tgtEl>
                                          <p:spTgt spid="133"/>
                                        </p:tgtEl>
                                      </p:cBhvr>
                                    </p:animEffect>
                                    <p:set>
                                      <p:cBhvr>
                                        <p:cTn id="189" dur="1" fill="hold">
                                          <p:stCondLst>
                                            <p:cond delay="1999"/>
                                          </p:stCondLst>
                                        </p:cTn>
                                        <p:tgtEl>
                                          <p:spTgt spid="133"/>
                                        </p:tgtEl>
                                        <p:attrNameLst>
                                          <p:attrName>style.visibility</p:attrName>
                                        </p:attrNameLst>
                                      </p:cBhvr>
                                      <p:to>
                                        <p:strVal val="hidden"/>
                                      </p:to>
                                    </p:set>
                                  </p:childTnLst>
                                </p:cTn>
                              </p:par>
                              <p:par>
                                <p:cTn id="190" presetID="9" presetClass="exit" presetSubtype="0" fill="hold" grpId="0" nodeType="withEffect">
                                  <p:stCondLst>
                                    <p:cond delay="0"/>
                                  </p:stCondLst>
                                  <p:childTnLst>
                                    <p:animEffect transition="out" filter="dissolve">
                                      <p:cBhvr>
                                        <p:cTn id="191" dur="2000"/>
                                        <p:tgtEl>
                                          <p:spTgt spid="134"/>
                                        </p:tgtEl>
                                      </p:cBhvr>
                                    </p:animEffect>
                                    <p:set>
                                      <p:cBhvr>
                                        <p:cTn id="192" dur="1" fill="hold">
                                          <p:stCondLst>
                                            <p:cond delay="1999"/>
                                          </p:stCondLst>
                                        </p:cTn>
                                        <p:tgtEl>
                                          <p:spTgt spid="134"/>
                                        </p:tgtEl>
                                        <p:attrNameLst>
                                          <p:attrName>style.visibility</p:attrName>
                                        </p:attrNameLst>
                                      </p:cBhvr>
                                      <p:to>
                                        <p:strVal val="hidden"/>
                                      </p:to>
                                    </p:set>
                                  </p:childTnLst>
                                </p:cTn>
                              </p:par>
                              <p:par>
                                <p:cTn id="193" presetID="9" presetClass="exit" presetSubtype="0" fill="hold" grpId="0" nodeType="withEffect">
                                  <p:stCondLst>
                                    <p:cond delay="0"/>
                                  </p:stCondLst>
                                  <p:childTnLst>
                                    <p:animEffect transition="out" filter="dissolve">
                                      <p:cBhvr>
                                        <p:cTn id="194" dur="2000"/>
                                        <p:tgtEl>
                                          <p:spTgt spid="136"/>
                                        </p:tgtEl>
                                      </p:cBhvr>
                                    </p:animEffect>
                                    <p:set>
                                      <p:cBhvr>
                                        <p:cTn id="195" dur="1" fill="hold">
                                          <p:stCondLst>
                                            <p:cond delay="1999"/>
                                          </p:stCondLst>
                                        </p:cTn>
                                        <p:tgtEl>
                                          <p:spTgt spid="136"/>
                                        </p:tgtEl>
                                        <p:attrNameLst>
                                          <p:attrName>style.visibility</p:attrName>
                                        </p:attrNameLst>
                                      </p:cBhvr>
                                      <p:to>
                                        <p:strVal val="hidden"/>
                                      </p:to>
                                    </p:set>
                                  </p:childTnLst>
                                </p:cTn>
                              </p:par>
                              <p:par>
                                <p:cTn id="196" presetID="9" presetClass="exit" presetSubtype="0" fill="hold" grpId="0" nodeType="withEffect">
                                  <p:stCondLst>
                                    <p:cond delay="0"/>
                                  </p:stCondLst>
                                  <p:childTnLst>
                                    <p:animEffect transition="out" filter="dissolve">
                                      <p:cBhvr>
                                        <p:cTn id="197" dur="2000"/>
                                        <p:tgtEl>
                                          <p:spTgt spid="137"/>
                                        </p:tgtEl>
                                      </p:cBhvr>
                                    </p:animEffect>
                                    <p:set>
                                      <p:cBhvr>
                                        <p:cTn id="198" dur="1" fill="hold">
                                          <p:stCondLst>
                                            <p:cond delay="1999"/>
                                          </p:stCondLst>
                                        </p:cTn>
                                        <p:tgtEl>
                                          <p:spTgt spid="137"/>
                                        </p:tgtEl>
                                        <p:attrNameLst>
                                          <p:attrName>style.visibility</p:attrName>
                                        </p:attrNameLst>
                                      </p:cBhvr>
                                      <p:to>
                                        <p:strVal val="hidden"/>
                                      </p:to>
                                    </p:set>
                                  </p:childTnLst>
                                </p:cTn>
                              </p:par>
                              <p:par>
                                <p:cTn id="199" presetID="9" presetClass="exit" presetSubtype="0" fill="hold" grpId="0" nodeType="withEffect">
                                  <p:stCondLst>
                                    <p:cond delay="0"/>
                                  </p:stCondLst>
                                  <p:childTnLst>
                                    <p:animEffect transition="out" filter="dissolve">
                                      <p:cBhvr>
                                        <p:cTn id="200" dur="2000"/>
                                        <p:tgtEl>
                                          <p:spTgt spid="138"/>
                                        </p:tgtEl>
                                      </p:cBhvr>
                                    </p:animEffect>
                                    <p:set>
                                      <p:cBhvr>
                                        <p:cTn id="201" dur="1" fill="hold">
                                          <p:stCondLst>
                                            <p:cond delay="1999"/>
                                          </p:stCondLst>
                                        </p:cTn>
                                        <p:tgtEl>
                                          <p:spTgt spid="138"/>
                                        </p:tgtEl>
                                        <p:attrNameLst>
                                          <p:attrName>style.visibility</p:attrName>
                                        </p:attrNameLst>
                                      </p:cBhvr>
                                      <p:to>
                                        <p:strVal val="hidden"/>
                                      </p:to>
                                    </p:set>
                                  </p:childTnLst>
                                </p:cTn>
                              </p:par>
                              <p:par>
                                <p:cTn id="202" presetID="9" presetClass="exit" presetSubtype="0" fill="hold" grpId="0" nodeType="withEffect">
                                  <p:stCondLst>
                                    <p:cond delay="0"/>
                                  </p:stCondLst>
                                  <p:childTnLst>
                                    <p:animEffect transition="out" filter="dissolve">
                                      <p:cBhvr>
                                        <p:cTn id="203" dur="2000"/>
                                        <p:tgtEl>
                                          <p:spTgt spid="139"/>
                                        </p:tgtEl>
                                      </p:cBhvr>
                                    </p:animEffect>
                                    <p:set>
                                      <p:cBhvr>
                                        <p:cTn id="204" dur="1" fill="hold">
                                          <p:stCondLst>
                                            <p:cond delay="1999"/>
                                          </p:stCondLst>
                                        </p:cTn>
                                        <p:tgtEl>
                                          <p:spTgt spid="139"/>
                                        </p:tgtEl>
                                        <p:attrNameLst>
                                          <p:attrName>style.visibility</p:attrName>
                                        </p:attrNameLst>
                                      </p:cBhvr>
                                      <p:to>
                                        <p:strVal val="hidden"/>
                                      </p:to>
                                    </p:set>
                                  </p:childTnLst>
                                </p:cTn>
                              </p:par>
                              <p:par>
                                <p:cTn id="205" presetID="9" presetClass="exit" presetSubtype="0" fill="hold" grpId="0" nodeType="withEffect">
                                  <p:stCondLst>
                                    <p:cond delay="0"/>
                                  </p:stCondLst>
                                  <p:childTnLst>
                                    <p:animEffect transition="out" filter="dissolve">
                                      <p:cBhvr>
                                        <p:cTn id="206" dur="2000"/>
                                        <p:tgtEl>
                                          <p:spTgt spid="140"/>
                                        </p:tgtEl>
                                      </p:cBhvr>
                                    </p:animEffect>
                                    <p:set>
                                      <p:cBhvr>
                                        <p:cTn id="207" dur="1" fill="hold">
                                          <p:stCondLst>
                                            <p:cond delay="1999"/>
                                          </p:stCondLst>
                                        </p:cTn>
                                        <p:tgtEl>
                                          <p:spTgt spid="140"/>
                                        </p:tgtEl>
                                        <p:attrNameLst>
                                          <p:attrName>style.visibility</p:attrName>
                                        </p:attrNameLst>
                                      </p:cBhvr>
                                      <p:to>
                                        <p:strVal val="hidden"/>
                                      </p:to>
                                    </p:set>
                                  </p:childTnLst>
                                </p:cTn>
                              </p:par>
                              <p:par>
                                <p:cTn id="208" presetID="9" presetClass="exit" presetSubtype="0" fill="hold" grpId="0" nodeType="withEffect">
                                  <p:stCondLst>
                                    <p:cond delay="0"/>
                                  </p:stCondLst>
                                  <p:childTnLst>
                                    <p:animEffect transition="out" filter="dissolve">
                                      <p:cBhvr>
                                        <p:cTn id="209" dur="2000"/>
                                        <p:tgtEl>
                                          <p:spTgt spid="141"/>
                                        </p:tgtEl>
                                      </p:cBhvr>
                                    </p:animEffect>
                                    <p:set>
                                      <p:cBhvr>
                                        <p:cTn id="210" dur="1" fill="hold">
                                          <p:stCondLst>
                                            <p:cond delay="1999"/>
                                          </p:stCondLst>
                                        </p:cTn>
                                        <p:tgtEl>
                                          <p:spTgt spid="141"/>
                                        </p:tgtEl>
                                        <p:attrNameLst>
                                          <p:attrName>style.visibility</p:attrName>
                                        </p:attrNameLst>
                                      </p:cBhvr>
                                      <p:to>
                                        <p:strVal val="hidden"/>
                                      </p:to>
                                    </p:set>
                                  </p:childTnLst>
                                </p:cTn>
                              </p:par>
                              <p:par>
                                <p:cTn id="211" presetID="9" presetClass="exit" presetSubtype="0" fill="hold" grpId="0" nodeType="withEffect">
                                  <p:stCondLst>
                                    <p:cond delay="0"/>
                                  </p:stCondLst>
                                  <p:childTnLst>
                                    <p:animEffect transition="out" filter="dissolve">
                                      <p:cBhvr>
                                        <p:cTn id="212" dur="2000"/>
                                        <p:tgtEl>
                                          <p:spTgt spid="142"/>
                                        </p:tgtEl>
                                      </p:cBhvr>
                                    </p:animEffect>
                                    <p:set>
                                      <p:cBhvr>
                                        <p:cTn id="213" dur="1" fill="hold">
                                          <p:stCondLst>
                                            <p:cond delay="1999"/>
                                          </p:stCondLst>
                                        </p:cTn>
                                        <p:tgtEl>
                                          <p:spTgt spid="142"/>
                                        </p:tgtEl>
                                        <p:attrNameLst>
                                          <p:attrName>style.visibility</p:attrName>
                                        </p:attrNameLst>
                                      </p:cBhvr>
                                      <p:to>
                                        <p:strVal val="hidden"/>
                                      </p:to>
                                    </p:set>
                                  </p:childTnLst>
                                </p:cTn>
                              </p:par>
                              <p:par>
                                <p:cTn id="214" presetID="9" presetClass="exit" presetSubtype="0" fill="hold" grpId="0" nodeType="withEffect">
                                  <p:stCondLst>
                                    <p:cond delay="0"/>
                                  </p:stCondLst>
                                  <p:childTnLst>
                                    <p:animEffect transition="out" filter="dissolve">
                                      <p:cBhvr>
                                        <p:cTn id="215" dur="2000"/>
                                        <p:tgtEl>
                                          <p:spTgt spid="144"/>
                                        </p:tgtEl>
                                      </p:cBhvr>
                                    </p:animEffect>
                                    <p:set>
                                      <p:cBhvr>
                                        <p:cTn id="216" dur="1" fill="hold">
                                          <p:stCondLst>
                                            <p:cond delay="1999"/>
                                          </p:stCondLst>
                                        </p:cTn>
                                        <p:tgtEl>
                                          <p:spTgt spid="144"/>
                                        </p:tgtEl>
                                        <p:attrNameLst>
                                          <p:attrName>style.visibility</p:attrName>
                                        </p:attrNameLst>
                                      </p:cBhvr>
                                      <p:to>
                                        <p:strVal val="hidden"/>
                                      </p:to>
                                    </p:set>
                                  </p:childTnLst>
                                </p:cTn>
                              </p:par>
                              <p:par>
                                <p:cTn id="217" presetID="9" presetClass="exit" presetSubtype="0" fill="hold" grpId="0" nodeType="withEffect">
                                  <p:stCondLst>
                                    <p:cond delay="0"/>
                                  </p:stCondLst>
                                  <p:childTnLst>
                                    <p:animEffect transition="out" filter="dissolve">
                                      <p:cBhvr>
                                        <p:cTn id="218" dur="2000"/>
                                        <p:tgtEl>
                                          <p:spTgt spid="145"/>
                                        </p:tgtEl>
                                      </p:cBhvr>
                                    </p:animEffect>
                                    <p:set>
                                      <p:cBhvr>
                                        <p:cTn id="219" dur="1" fill="hold">
                                          <p:stCondLst>
                                            <p:cond delay="1999"/>
                                          </p:stCondLst>
                                        </p:cTn>
                                        <p:tgtEl>
                                          <p:spTgt spid="145"/>
                                        </p:tgtEl>
                                        <p:attrNameLst>
                                          <p:attrName>style.visibility</p:attrName>
                                        </p:attrNameLst>
                                      </p:cBhvr>
                                      <p:to>
                                        <p:strVal val="hidden"/>
                                      </p:to>
                                    </p:set>
                                  </p:childTnLst>
                                </p:cTn>
                              </p:par>
                              <p:par>
                                <p:cTn id="220" presetID="9" presetClass="exit" presetSubtype="0" fill="hold" grpId="0" nodeType="withEffect">
                                  <p:stCondLst>
                                    <p:cond delay="0"/>
                                  </p:stCondLst>
                                  <p:childTnLst>
                                    <p:animEffect transition="out" filter="dissolve">
                                      <p:cBhvr>
                                        <p:cTn id="221" dur="2000"/>
                                        <p:tgtEl>
                                          <p:spTgt spid="146"/>
                                        </p:tgtEl>
                                      </p:cBhvr>
                                    </p:animEffect>
                                    <p:set>
                                      <p:cBhvr>
                                        <p:cTn id="222" dur="1" fill="hold">
                                          <p:stCondLst>
                                            <p:cond delay="1999"/>
                                          </p:stCondLst>
                                        </p:cTn>
                                        <p:tgtEl>
                                          <p:spTgt spid="146"/>
                                        </p:tgtEl>
                                        <p:attrNameLst>
                                          <p:attrName>style.visibility</p:attrName>
                                        </p:attrNameLst>
                                      </p:cBhvr>
                                      <p:to>
                                        <p:strVal val="hidden"/>
                                      </p:to>
                                    </p:set>
                                  </p:childTnLst>
                                </p:cTn>
                              </p:par>
                              <p:par>
                                <p:cTn id="223" presetID="9" presetClass="exit" presetSubtype="0" fill="hold" grpId="0" nodeType="withEffect">
                                  <p:stCondLst>
                                    <p:cond delay="0"/>
                                  </p:stCondLst>
                                  <p:childTnLst>
                                    <p:animEffect transition="out" filter="dissolve">
                                      <p:cBhvr>
                                        <p:cTn id="224" dur="2000"/>
                                        <p:tgtEl>
                                          <p:spTgt spid="147"/>
                                        </p:tgtEl>
                                      </p:cBhvr>
                                    </p:animEffect>
                                    <p:set>
                                      <p:cBhvr>
                                        <p:cTn id="225" dur="1" fill="hold">
                                          <p:stCondLst>
                                            <p:cond delay="1999"/>
                                          </p:stCondLst>
                                        </p:cTn>
                                        <p:tgtEl>
                                          <p:spTgt spid="147"/>
                                        </p:tgtEl>
                                        <p:attrNameLst>
                                          <p:attrName>style.visibility</p:attrName>
                                        </p:attrNameLst>
                                      </p:cBhvr>
                                      <p:to>
                                        <p:strVal val="hidden"/>
                                      </p:to>
                                    </p:set>
                                  </p:childTnLst>
                                </p:cTn>
                              </p:par>
                              <p:par>
                                <p:cTn id="226" presetID="9" presetClass="exit" presetSubtype="0" fill="hold" grpId="0" nodeType="withEffect">
                                  <p:stCondLst>
                                    <p:cond delay="0"/>
                                  </p:stCondLst>
                                  <p:childTnLst>
                                    <p:animEffect transition="out" filter="dissolve">
                                      <p:cBhvr>
                                        <p:cTn id="227" dur="2000"/>
                                        <p:tgtEl>
                                          <p:spTgt spid="149"/>
                                        </p:tgtEl>
                                      </p:cBhvr>
                                    </p:animEffect>
                                    <p:set>
                                      <p:cBhvr>
                                        <p:cTn id="228" dur="1" fill="hold">
                                          <p:stCondLst>
                                            <p:cond delay="1999"/>
                                          </p:stCondLst>
                                        </p:cTn>
                                        <p:tgtEl>
                                          <p:spTgt spid="149"/>
                                        </p:tgtEl>
                                        <p:attrNameLst>
                                          <p:attrName>style.visibility</p:attrName>
                                        </p:attrNameLst>
                                      </p:cBhvr>
                                      <p:to>
                                        <p:strVal val="hidden"/>
                                      </p:to>
                                    </p:set>
                                  </p:childTnLst>
                                </p:cTn>
                              </p:par>
                              <p:par>
                                <p:cTn id="229" presetID="9" presetClass="entr" presetSubtype="0" fill="hold" grpId="0" nodeType="withEffect">
                                  <p:stCondLst>
                                    <p:cond delay="0"/>
                                  </p:stCondLst>
                                  <p:childTnLst>
                                    <p:set>
                                      <p:cBhvr>
                                        <p:cTn id="230" dur="1" fill="hold">
                                          <p:stCondLst>
                                            <p:cond delay="0"/>
                                          </p:stCondLst>
                                        </p:cTn>
                                        <p:tgtEl>
                                          <p:spTgt spid="174"/>
                                        </p:tgtEl>
                                        <p:attrNameLst>
                                          <p:attrName>style.visibility</p:attrName>
                                        </p:attrNameLst>
                                      </p:cBhvr>
                                      <p:to>
                                        <p:strVal val="visible"/>
                                      </p:to>
                                    </p:set>
                                    <p:animEffect transition="in" filter="dissolve">
                                      <p:cBhvr>
                                        <p:cTn id="231" dur="2000"/>
                                        <p:tgtEl>
                                          <p:spTgt spid="174"/>
                                        </p:tgtEl>
                                      </p:cBhvr>
                                    </p:animEffect>
                                  </p:childTnLst>
                                </p:cTn>
                              </p:par>
                              <p:par>
                                <p:cTn id="232" presetID="9" presetClass="entr" presetSubtype="0" fill="hold" grpId="0" nodeType="withEffect">
                                  <p:stCondLst>
                                    <p:cond delay="0"/>
                                  </p:stCondLst>
                                  <p:childTnLst>
                                    <p:set>
                                      <p:cBhvr>
                                        <p:cTn id="233" dur="1" fill="hold">
                                          <p:stCondLst>
                                            <p:cond delay="0"/>
                                          </p:stCondLst>
                                        </p:cTn>
                                        <p:tgtEl>
                                          <p:spTgt spid="175"/>
                                        </p:tgtEl>
                                        <p:attrNameLst>
                                          <p:attrName>style.visibility</p:attrName>
                                        </p:attrNameLst>
                                      </p:cBhvr>
                                      <p:to>
                                        <p:strVal val="visible"/>
                                      </p:to>
                                    </p:set>
                                    <p:animEffect transition="in" filter="dissolve">
                                      <p:cBhvr>
                                        <p:cTn id="234" dur="2000"/>
                                        <p:tgtEl>
                                          <p:spTgt spid="175"/>
                                        </p:tgtEl>
                                      </p:cBhvr>
                                    </p:animEffect>
                                  </p:childTnLst>
                                </p:cTn>
                              </p:par>
                              <p:par>
                                <p:cTn id="235" presetID="9" presetClass="entr" presetSubtype="0" fill="hold" grpId="0" nodeType="withEffect">
                                  <p:stCondLst>
                                    <p:cond delay="0"/>
                                  </p:stCondLst>
                                  <p:childTnLst>
                                    <p:set>
                                      <p:cBhvr>
                                        <p:cTn id="236" dur="1" fill="hold">
                                          <p:stCondLst>
                                            <p:cond delay="0"/>
                                          </p:stCondLst>
                                        </p:cTn>
                                        <p:tgtEl>
                                          <p:spTgt spid="176"/>
                                        </p:tgtEl>
                                        <p:attrNameLst>
                                          <p:attrName>style.visibility</p:attrName>
                                        </p:attrNameLst>
                                      </p:cBhvr>
                                      <p:to>
                                        <p:strVal val="visible"/>
                                      </p:to>
                                    </p:set>
                                    <p:animEffect transition="in" filter="dissolve">
                                      <p:cBhvr>
                                        <p:cTn id="237" dur="2000"/>
                                        <p:tgtEl>
                                          <p:spTgt spid="176"/>
                                        </p:tgtEl>
                                      </p:cBhvr>
                                    </p:animEffect>
                                  </p:childTnLst>
                                </p:cTn>
                              </p:par>
                              <p:par>
                                <p:cTn id="238" presetID="9" presetClass="entr" presetSubtype="0" fill="hold" grpId="0" nodeType="withEffect">
                                  <p:stCondLst>
                                    <p:cond delay="0"/>
                                  </p:stCondLst>
                                  <p:childTnLst>
                                    <p:set>
                                      <p:cBhvr>
                                        <p:cTn id="239" dur="1" fill="hold">
                                          <p:stCondLst>
                                            <p:cond delay="0"/>
                                          </p:stCondLst>
                                        </p:cTn>
                                        <p:tgtEl>
                                          <p:spTgt spid="177"/>
                                        </p:tgtEl>
                                        <p:attrNameLst>
                                          <p:attrName>style.visibility</p:attrName>
                                        </p:attrNameLst>
                                      </p:cBhvr>
                                      <p:to>
                                        <p:strVal val="visible"/>
                                      </p:to>
                                    </p:set>
                                    <p:animEffect transition="in" filter="dissolve">
                                      <p:cBhvr>
                                        <p:cTn id="240" dur="2000"/>
                                        <p:tgtEl>
                                          <p:spTgt spid="177"/>
                                        </p:tgtEl>
                                      </p:cBhvr>
                                    </p:animEffect>
                                  </p:childTnLst>
                                </p:cTn>
                              </p:par>
                              <p:par>
                                <p:cTn id="241" presetID="9" presetClass="entr" presetSubtype="0" fill="hold" grpId="0" nodeType="withEffect">
                                  <p:stCondLst>
                                    <p:cond delay="0"/>
                                  </p:stCondLst>
                                  <p:childTnLst>
                                    <p:set>
                                      <p:cBhvr>
                                        <p:cTn id="242" dur="1" fill="hold">
                                          <p:stCondLst>
                                            <p:cond delay="0"/>
                                          </p:stCondLst>
                                        </p:cTn>
                                        <p:tgtEl>
                                          <p:spTgt spid="178"/>
                                        </p:tgtEl>
                                        <p:attrNameLst>
                                          <p:attrName>style.visibility</p:attrName>
                                        </p:attrNameLst>
                                      </p:cBhvr>
                                      <p:to>
                                        <p:strVal val="visible"/>
                                      </p:to>
                                    </p:set>
                                    <p:animEffect transition="in" filter="dissolve">
                                      <p:cBhvr>
                                        <p:cTn id="243" dur="2000"/>
                                        <p:tgtEl>
                                          <p:spTgt spid="178"/>
                                        </p:tgtEl>
                                      </p:cBhvr>
                                    </p:animEffect>
                                  </p:childTnLst>
                                </p:cTn>
                              </p:par>
                              <p:par>
                                <p:cTn id="244" presetID="9" presetClass="entr" presetSubtype="0" fill="hold" grpId="0" nodeType="withEffect">
                                  <p:stCondLst>
                                    <p:cond delay="0"/>
                                  </p:stCondLst>
                                  <p:childTnLst>
                                    <p:set>
                                      <p:cBhvr>
                                        <p:cTn id="245" dur="1" fill="hold">
                                          <p:stCondLst>
                                            <p:cond delay="0"/>
                                          </p:stCondLst>
                                        </p:cTn>
                                        <p:tgtEl>
                                          <p:spTgt spid="179"/>
                                        </p:tgtEl>
                                        <p:attrNameLst>
                                          <p:attrName>style.visibility</p:attrName>
                                        </p:attrNameLst>
                                      </p:cBhvr>
                                      <p:to>
                                        <p:strVal val="visible"/>
                                      </p:to>
                                    </p:set>
                                    <p:animEffect transition="in" filter="dissolve">
                                      <p:cBhvr>
                                        <p:cTn id="246" dur="2000"/>
                                        <p:tgtEl>
                                          <p:spTgt spid="179"/>
                                        </p:tgtEl>
                                      </p:cBhvr>
                                    </p:animEffect>
                                  </p:childTnLst>
                                </p:cTn>
                              </p:par>
                              <p:par>
                                <p:cTn id="247" presetID="9" presetClass="entr" presetSubtype="0" fill="hold" grpId="0" nodeType="withEffect">
                                  <p:stCondLst>
                                    <p:cond delay="0"/>
                                  </p:stCondLst>
                                  <p:childTnLst>
                                    <p:set>
                                      <p:cBhvr>
                                        <p:cTn id="248" dur="1" fill="hold">
                                          <p:stCondLst>
                                            <p:cond delay="0"/>
                                          </p:stCondLst>
                                        </p:cTn>
                                        <p:tgtEl>
                                          <p:spTgt spid="180"/>
                                        </p:tgtEl>
                                        <p:attrNameLst>
                                          <p:attrName>style.visibility</p:attrName>
                                        </p:attrNameLst>
                                      </p:cBhvr>
                                      <p:to>
                                        <p:strVal val="visible"/>
                                      </p:to>
                                    </p:set>
                                    <p:animEffect transition="in" filter="dissolve">
                                      <p:cBhvr>
                                        <p:cTn id="249" dur="2000"/>
                                        <p:tgtEl>
                                          <p:spTgt spid="180"/>
                                        </p:tgtEl>
                                      </p:cBhvr>
                                    </p:animEffect>
                                  </p:childTnLst>
                                </p:cTn>
                              </p:par>
                              <p:par>
                                <p:cTn id="250" presetID="9" presetClass="entr" presetSubtype="0" fill="hold" grpId="0" nodeType="withEffect">
                                  <p:stCondLst>
                                    <p:cond delay="0"/>
                                  </p:stCondLst>
                                  <p:childTnLst>
                                    <p:set>
                                      <p:cBhvr>
                                        <p:cTn id="251" dur="1" fill="hold">
                                          <p:stCondLst>
                                            <p:cond delay="0"/>
                                          </p:stCondLst>
                                        </p:cTn>
                                        <p:tgtEl>
                                          <p:spTgt spid="181"/>
                                        </p:tgtEl>
                                        <p:attrNameLst>
                                          <p:attrName>style.visibility</p:attrName>
                                        </p:attrNameLst>
                                      </p:cBhvr>
                                      <p:to>
                                        <p:strVal val="visible"/>
                                      </p:to>
                                    </p:set>
                                    <p:animEffect transition="in" filter="dissolve">
                                      <p:cBhvr>
                                        <p:cTn id="252" dur="2000"/>
                                        <p:tgtEl>
                                          <p:spTgt spid="181"/>
                                        </p:tgtEl>
                                      </p:cBhvr>
                                    </p:animEffect>
                                  </p:childTnLst>
                                </p:cTn>
                              </p:par>
                              <p:par>
                                <p:cTn id="253" presetID="9" presetClass="entr" presetSubtype="0" fill="hold" grpId="0" nodeType="withEffect">
                                  <p:stCondLst>
                                    <p:cond delay="0"/>
                                  </p:stCondLst>
                                  <p:childTnLst>
                                    <p:set>
                                      <p:cBhvr>
                                        <p:cTn id="254" dur="1" fill="hold">
                                          <p:stCondLst>
                                            <p:cond delay="0"/>
                                          </p:stCondLst>
                                        </p:cTn>
                                        <p:tgtEl>
                                          <p:spTgt spid="182"/>
                                        </p:tgtEl>
                                        <p:attrNameLst>
                                          <p:attrName>style.visibility</p:attrName>
                                        </p:attrNameLst>
                                      </p:cBhvr>
                                      <p:to>
                                        <p:strVal val="visible"/>
                                      </p:to>
                                    </p:set>
                                    <p:animEffect transition="in" filter="dissolve">
                                      <p:cBhvr>
                                        <p:cTn id="255" dur="2000"/>
                                        <p:tgtEl>
                                          <p:spTgt spid="182"/>
                                        </p:tgtEl>
                                      </p:cBhvr>
                                    </p:animEffect>
                                  </p:childTnLst>
                                </p:cTn>
                              </p:par>
                              <p:par>
                                <p:cTn id="256" presetID="9" presetClass="entr" presetSubtype="0" fill="hold" grpId="0" nodeType="withEffect">
                                  <p:stCondLst>
                                    <p:cond delay="0"/>
                                  </p:stCondLst>
                                  <p:childTnLst>
                                    <p:set>
                                      <p:cBhvr>
                                        <p:cTn id="257" dur="1" fill="hold">
                                          <p:stCondLst>
                                            <p:cond delay="0"/>
                                          </p:stCondLst>
                                        </p:cTn>
                                        <p:tgtEl>
                                          <p:spTgt spid="183"/>
                                        </p:tgtEl>
                                        <p:attrNameLst>
                                          <p:attrName>style.visibility</p:attrName>
                                        </p:attrNameLst>
                                      </p:cBhvr>
                                      <p:to>
                                        <p:strVal val="visible"/>
                                      </p:to>
                                    </p:set>
                                    <p:animEffect transition="in" filter="dissolve">
                                      <p:cBhvr>
                                        <p:cTn id="258" dur="2000"/>
                                        <p:tgtEl>
                                          <p:spTgt spid="183"/>
                                        </p:tgtEl>
                                      </p:cBhvr>
                                    </p:animEffect>
                                  </p:childTnLst>
                                </p:cTn>
                              </p:par>
                              <p:par>
                                <p:cTn id="259" presetID="9" presetClass="entr" presetSubtype="0" fill="hold" grpId="0" nodeType="withEffect">
                                  <p:stCondLst>
                                    <p:cond delay="0"/>
                                  </p:stCondLst>
                                  <p:childTnLst>
                                    <p:set>
                                      <p:cBhvr>
                                        <p:cTn id="260" dur="1" fill="hold">
                                          <p:stCondLst>
                                            <p:cond delay="0"/>
                                          </p:stCondLst>
                                        </p:cTn>
                                        <p:tgtEl>
                                          <p:spTgt spid="184"/>
                                        </p:tgtEl>
                                        <p:attrNameLst>
                                          <p:attrName>style.visibility</p:attrName>
                                        </p:attrNameLst>
                                      </p:cBhvr>
                                      <p:to>
                                        <p:strVal val="visible"/>
                                      </p:to>
                                    </p:set>
                                    <p:animEffect transition="in" filter="dissolve">
                                      <p:cBhvr>
                                        <p:cTn id="261" dur="2000"/>
                                        <p:tgtEl>
                                          <p:spTgt spid="184"/>
                                        </p:tgtEl>
                                      </p:cBhvr>
                                    </p:animEffect>
                                  </p:childTnLst>
                                </p:cTn>
                              </p:par>
                              <p:par>
                                <p:cTn id="262" presetID="9" presetClass="entr" presetSubtype="0" fill="hold" grpId="0" nodeType="withEffect">
                                  <p:stCondLst>
                                    <p:cond delay="0"/>
                                  </p:stCondLst>
                                  <p:childTnLst>
                                    <p:set>
                                      <p:cBhvr>
                                        <p:cTn id="263" dur="1" fill="hold">
                                          <p:stCondLst>
                                            <p:cond delay="0"/>
                                          </p:stCondLst>
                                        </p:cTn>
                                        <p:tgtEl>
                                          <p:spTgt spid="185"/>
                                        </p:tgtEl>
                                        <p:attrNameLst>
                                          <p:attrName>style.visibility</p:attrName>
                                        </p:attrNameLst>
                                      </p:cBhvr>
                                      <p:to>
                                        <p:strVal val="visible"/>
                                      </p:to>
                                    </p:set>
                                    <p:animEffect transition="in" filter="dissolve">
                                      <p:cBhvr>
                                        <p:cTn id="264" dur="2000"/>
                                        <p:tgtEl>
                                          <p:spTgt spid="185"/>
                                        </p:tgtEl>
                                      </p:cBhvr>
                                    </p:animEffect>
                                  </p:childTnLst>
                                </p:cTn>
                              </p:par>
                              <p:par>
                                <p:cTn id="265" presetID="9" presetClass="entr" presetSubtype="0" fill="hold" grpId="0" nodeType="withEffect">
                                  <p:stCondLst>
                                    <p:cond delay="0"/>
                                  </p:stCondLst>
                                  <p:childTnLst>
                                    <p:set>
                                      <p:cBhvr>
                                        <p:cTn id="266" dur="1" fill="hold">
                                          <p:stCondLst>
                                            <p:cond delay="0"/>
                                          </p:stCondLst>
                                        </p:cTn>
                                        <p:tgtEl>
                                          <p:spTgt spid="186"/>
                                        </p:tgtEl>
                                        <p:attrNameLst>
                                          <p:attrName>style.visibility</p:attrName>
                                        </p:attrNameLst>
                                      </p:cBhvr>
                                      <p:to>
                                        <p:strVal val="visible"/>
                                      </p:to>
                                    </p:set>
                                    <p:animEffect transition="in" filter="dissolve">
                                      <p:cBhvr>
                                        <p:cTn id="267" dur="2000"/>
                                        <p:tgtEl>
                                          <p:spTgt spid="186"/>
                                        </p:tgtEl>
                                      </p:cBhvr>
                                    </p:animEffect>
                                  </p:childTnLst>
                                </p:cTn>
                              </p:par>
                              <p:par>
                                <p:cTn id="268" presetID="9" presetClass="entr" presetSubtype="0" fill="hold" grpId="0" nodeType="withEffect">
                                  <p:stCondLst>
                                    <p:cond delay="0"/>
                                  </p:stCondLst>
                                  <p:childTnLst>
                                    <p:set>
                                      <p:cBhvr>
                                        <p:cTn id="269" dur="1" fill="hold">
                                          <p:stCondLst>
                                            <p:cond delay="0"/>
                                          </p:stCondLst>
                                        </p:cTn>
                                        <p:tgtEl>
                                          <p:spTgt spid="187"/>
                                        </p:tgtEl>
                                        <p:attrNameLst>
                                          <p:attrName>style.visibility</p:attrName>
                                        </p:attrNameLst>
                                      </p:cBhvr>
                                      <p:to>
                                        <p:strVal val="visible"/>
                                      </p:to>
                                    </p:set>
                                    <p:animEffect transition="in" filter="dissolve">
                                      <p:cBhvr>
                                        <p:cTn id="270" dur="2000"/>
                                        <p:tgtEl>
                                          <p:spTgt spid="187"/>
                                        </p:tgtEl>
                                      </p:cBhvr>
                                    </p:animEffect>
                                  </p:childTnLst>
                                </p:cTn>
                              </p:par>
                              <p:par>
                                <p:cTn id="271" presetID="9" presetClass="entr" presetSubtype="0" fill="hold" grpId="0" nodeType="withEffect">
                                  <p:stCondLst>
                                    <p:cond delay="0"/>
                                  </p:stCondLst>
                                  <p:childTnLst>
                                    <p:set>
                                      <p:cBhvr>
                                        <p:cTn id="272" dur="1" fill="hold">
                                          <p:stCondLst>
                                            <p:cond delay="0"/>
                                          </p:stCondLst>
                                        </p:cTn>
                                        <p:tgtEl>
                                          <p:spTgt spid="188"/>
                                        </p:tgtEl>
                                        <p:attrNameLst>
                                          <p:attrName>style.visibility</p:attrName>
                                        </p:attrNameLst>
                                      </p:cBhvr>
                                      <p:to>
                                        <p:strVal val="visible"/>
                                      </p:to>
                                    </p:set>
                                    <p:animEffect transition="in" filter="dissolve">
                                      <p:cBhvr>
                                        <p:cTn id="273" dur="2000"/>
                                        <p:tgtEl>
                                          <p:spTgt spid="188"/>
                                        </p:tgtEl>
                                      </p:cBhvr>
                                    </p:animEffect>
                                  </p:childTnLst>
                                </p:cTn>
                              </p:par>
                              <p:par>
                                <p:cTn id="274" presetID="9" presetClass="entr" presetSubtype="0" fill="hold" grpId="0" nodeType="withEffect">
                                  <p:stCondLst>
                                    <p:cond delay="0"/>
                                  </p:stCondLst>
                                  <p:childTnLst>
                                    <p:set>
                                      <p:cBhvr>
                                        <p:cTn id="275" dur="1" fill="hold">
                                          <p:stCondLst>
                                            <p:cond delay="0"/>
                                          </p:stCondLst>
                                        </p:cTn>
                                        <p:tgtEl>
                                          <p:spTgt spid="189"/>
                                        </p:tgtEl>
                                        <p:attrNameLst>
                                          <p:attrName>style.visibility</p:attrName>
                                        </p:attrNameLst>
                                      </p:cBhvr>
                                      <p:to>
                                        <p:strVal val="visible"/>
                                      </p:to>
                                    </p:set>
                                    <p:animEffect transition="in" filter="dissolve">
                                      <p:cBhvr>
                                        <p:cTn id="276" dur="2000"/>
                                        <p:tgtEl>
                                          <p:spTgt spid="189"/>
                                        </p:tgtEl>
                                      </p:cBhvr>
                                    </p:animEffect>
                                  </p:childTnLst>
                                </p:cTn>
                              </p:par>
                              <p:par>
                                <p:cTn id="277" presetID="9" presetClass="entr" presetSubtype="0" fill="hold" grpId="0" nodeType="withEffect">
                                  <p:stCondLst>
                                    <p:cond delay="0"/>
                                  </p:stCondLst>
                                  <p:childTnLst>
                                    <p:set>
                                      <p:cBhvr>
                                        <p:cTn id="278" dur="1" fill="hold">
                                          <p:stCondLst>
                                            <p:cond delay="0"/>
                                          </p:stCondLst>
                                        </p:cTn>
                                        <p:tgtEl>
                                          <p:spTgt spid="190"/>
                                        </p:tgtEl>
                                        <p:attrNameLst>
                                          <p:attrName>style.visibility</p:attrName>
                                        </p:attrNameLst>
                                      </p:cBhvr>
                                      <p:to>
                                        <p:strVal val="visible"/>
                                      </p:to>
                                    </p:set>
                                    <p:animEffect transition="in" filter="dissolve">
                                      <p:cBhvr>
                                        <p:cTn id="279" dur="2000"/>
                                        <p:tgtEl>
                                          <p:spTgt spid="190"/>
                                        </p:tgtEl>
                                      </p:cBhvr>
                                    </p:animEffect>
                                  </p:childTnLst>
                                </p:cTn>
                              </p:par>
                              <p:par>
                                <p:cTn id="280" presetID="9" presetClass="entr" presetSubtype="0" fill="hold" grpId="0" nodeType="withEffect">
                                  <p:stCondLst>
                                    <p:cond delay="0"/>
                                  </p:stCondLst>
                                  <p:childTnLst>
                                    <p:set>
                                      <p:cBhvr>
                                        <p:cTn id="281" dur="1" fill="hold">
                                          <p:stCondLst>
                                            <p:cond delay="0"/>
                                          </p:stCondLst>
                                        </p:cTn>
                                        <p:tgtEl>
                                          <p:spTgt spid="191"/>
                                        </p:tgtEl>
                                        <p:attrNameLst>
                                          <p:attrName>style.visibility</p:attrName>
                                        </p:attrNameLst>
                                      </p:cBhvr>
                                      <p:to>
                                        <p:strVal val="visible"/>
                                      </p:to>
                                    </p:set>
                                    <p:animEffect transition="in" filter="dissolve">
                                      <p:cBhvr>
                                        <p:cTn id="282" dur="2000"/>
                                        <p:tgtEl>
                                          <p:spTgt spid="191"/>
                                        </p:tgtEl>
                                      </p:cBhvr>
                                    </p:animEffect>
                                  </p:childTnLst>
                                </p:cTn>
                              </p:par>
                              <p:par>
                                <p:cTn id="283" presetID="9" presetClass="entr" presetSubtype="0" fill="hold" grpId="0" nodeType="withEffect">
                                  <p:stCondLst>
                                    <p:cond delay="0"/>
                                  </p:stCondLst>
                                  <p:childTnLst>
                                    <p:set>
                                      <p:cBhvr>
                                        <p:cTn id="284" dur="1" fill="hold">
                                          <p:stCondLst>
                                            <p:cond delay="0"/>
                                          </p:stCondLst>
                                        </p:cTn>
                                        <p:tgtEl>
                                          <p:spTgt spid="192"/>
                                        </p:tgtEl>
                                        <p:attrNameLst>
                                          <p:attrName>style.visibility</p:attrName>
                                        </p:attrNameLst>
                                      </p:cBhvr>
                                      <p:to>
                                        <p:strVal val="visible"/>
                                      </p:to>
                                    </p:set>
                                    <p:animEffect transition="in" filter="dissolve">
                                      <p:cBhvr>
                                        <p:cTn id="285" dur="2000"/>
                                        <p:tgtEl>
                                          <p:spTgt spid="192"/>
                                        </p:tgtEl>
                                      </p:cBhvr>
                                    </p:animEffect>
                                  </p:childTnLst>
                                </p:cTn>
                              </p:par>
                              <p:par>
                                <p:cTn id="286" presetID="9" presetClass="entr" presetSubtype="0" fill="hold" grpId="0" nodeType="withEffect">
                                  <p:stCondLst>
                                    <p:cond delay="0"/>
                                  </p:stCondLst>
                                  <p:childTnLst>
                                    <p:set>
                                      <p:cBhvr>
                                        <p:cTn id="287" dur="1" fill="hold">
                                          <p:stCondLst>
                                            <p:cond delay="0"/>
                                          </p:stCondLst>
                                        </p:cTn>
                                        <p:tgtEl>
                                          <p:spTgt spid="193"/>
                                        </p:tgtEl>
                                        <p:attrNameLst>
                                          <p:attrName>style.visibility</p:attrName>
                                        </p:attrNameLst>
                                      </p:cBhvr>
                                      <p:to>
                                        <p:strVal val="visible"/>
                                      </p:to>
                                    </p:set>
                                    <p:animEffect transition="in" filter="dissolve">
                                      <p:cBhvr>
                                        <p:cTn id="288" dur="2000"/>
                                        <p:tgtEl>
                                          <p:spTgt spid="193"/>
                                        </p:tgtEl>
                                      </p:cBhvr>
                                    </p:animEffect>
                                  </p:childTnLst>
                                </p:cTn>
                              </p:par>
                              <p:par>
                                <p:cTn id="289" presetID="9" presetClass="entr" presetSubtype="0" fill="hold" grpId="0" nodeType="withEffect">
                                  <p:stCondLst>
                                    <p:cond delay="0"/>
                                  </p:stCondLst>
                                  <p:childTnLst>
                                    <p:set>
                                      <p:cBhvr>
                                        <p:cTn id="290" dur="1" fill="hold">
                                          <p:stCondLst>
                                            <p:cond delay="0"/>
                                          </p:stCondLst>
                                        </p:cTn>
                                        <p:tgtEl>
                                          <p:spTgt spid="194"/>
                                        </p:tgtEl>
                                        <p:attrNameLst>
                                          <p:attrName>style.visibility</p:attrName>
                                        </p:attrNameLst>
                                      </p:cBhvr>
                                      <p:to>
                                        <p:strVal val="visible"/>
                                      </p:to>
                                    </p:set>
                                    <p:animEffect transition="in" filter="dissolve">
                                      <p:cBhvr>
                                        <p:cTn id="291" dur="2000"/>
                                        <p:tgtEl>
                                          <p:spTgt spid="194"/>
                                        </p:tgtEl>
                                      </p:cBhvr>
                                    </p:animEffect>
                                  </p:childTnLst>
                                </p:cTn>
                              </p:par>
                              <p:par>
                                <p:cTn id="292" presetID="9" presetClass="entr" presetSubtype="0" fill="hold" grpId="0" nodeType="withEffect">
                                  <p:stCondLst>
                                    <p:cond delay="0"/>
                                  </p:stCondLst>
                                  <p:childTnLst>
                                    <p:set>
                                      <p:cBhvr>
                                        <p:cTn id="293" dur="1" fill="hold">
                                          <p:stCondLst>
                                            <p:cond delay="0"/>
                                          </p:stCondLst>
                                        </p:cTn>
                                        <p:tgtEl>
                                          <p:spTgt spid="195"/>
                                        </p:tgtEl>
                                        <p:attrNameLst>
                                          <p:attrName>style.visibility</p:attrName>
                                        </p:attrNameLst>
                                      </p:cBhvr>
                                      <p:to>
                                        <p:strVal val="visible"/>
                                      </p:to>
                                    </p:set>
                                    <p:animEffect transition="in" filter="dissolve">
                                      <p:cBhvr>
                                        <p:cTn id="294" dur="2000"/>
                                        <p:tgtEl>
                                          <p:spTgt spid="195"/>
                                        </p:tgtEl>
                                      </p:cBhvr>
                                    </p:animEffect>
                                  </p:childTnLst>
                                </p:cTn>
                              </p:par>
                              <p:par>
                                <p:cTn id="295" presetID="9" presetClass="exit" presetSubtype="0" fill="hold" grpId="0" nodeType="withEffect">
                                  <p:stCondLst>
                                    <p:cond delay="0"/>
                                  </p:stCondLst>
                                  <p:childTnLst>
                                    <p:animEffect transition="out" filter="dissolve">
                                      <p:cBhvr>
                                        <p:cTn id="296" dur="500"/>
                                        <p:tgtEl>
                                          <p:spTgt spid="103"/>
                                        </p:tgtEl>
                                      </p:cBhvr>
                                    </p:animEffect>
                                    <p:set>
                                      <p:cBhvr>
                                        <p:cTn id="297" dur="1" fill="hold">
                                          <p:stCondLst>
                                            <p:cond delay="499"/>
                                          </p:stCondLst>
                                        </p:cTn>
                                        <p:tgtEl>
                                          <p:spTgt spid="103"/>
                                        </p:tgtEl>
                                        <p:attrNameLst>
                                          <p:attrName>style.visibility</p:attrName>
                                        </p:attrNameLst>
                                      </p:cBhvr>
                                      <p:to>
                                        <p:strVal val="hidden"/>
                                      </p:to>
                                    </p:set>
                                  </p:childTnLst>
                                </p:cTn>
                              </p:par>
                              <p:par>
                                <p:cTn id="298" presetID="9" presetClass="exit" presetSubtype="0" fill="hold" grpId="0" nodeType="withEffect">
                                  <p:stCondLst>
                                    <p:cond delay="0"/>
                                  </p:stCondLst>
                                  <p:childTnLst>
                                    <p:animEffect transition="out" filter="dissolve">
                                      <p:cBhvr>
                                        <p:cTn id="299" dur="500"/>
                                        <p:tgtEl>
                                          <p:spTgt spid="135"/>
                                        </p:tgtEl>
                                      </p:cBhvr>
                                    </p:animEffect>
                                    <p:set>
                                      <p:cBhvr>
                                        <p:cTn id="300" dur="1" fill="hold">
                                          <p:stCondLst>
                                            <p:cond delay="499"/>
                                          </p:stCondLst>
                                        </p:cTn>
                                        <p:tgtEl>
                                          <p:spTgt spid="135"/>
                                        </p:tgtEl>
                                        <p:attrNameLst>
                                          <p:attrName>style.visibility</p:attrName>
                                        </p:attrNameLst>
                                      </p:cBhvr>
                                      <p:to>
                                        <p:strVal val="hidden"/>
                                      </p:to>
                                    </p:set>
                                  </p:childTnLst>
                                </p:cTn>
                              </p:par>
                              <p:par>
                                <p:cTn id="301" presetID="9" presetClass="exit" presetSubtype="0" fill="hold" grpId="0" nodeType="withEffect">
                                  <p:stCondLst>
                                    <p:cond delay="0"/>
                                  </p:stCondLst>
                                  <p:childTnLst>
                                    <p:animEffect transition="out" filter="dissolve">
                                      <p:cBhvr>
                                        <p:cTn id="302" dur="500"/>
                                        <p:tgtEl>
                                          <p:spTgt spid="119"/>
                                        </p:tgtEl>
                                      </p:cBhvr>
                                    </p:animEffect>
                                    <p:set>
                                      <p:cBhvr>
                                        <p:cTn id="303" dur="1" fill="hold">
                                          <p:stCondLst>
                                            <p:cond delay="499"/>
                                          </p:stCondLst>
                                        </p:cTn>
                                        <p:tgtEl>
                                          <p:spTgt spid="119"/>
                                        </p:tgtEl>
                                        <p:attrNameLst>
                                          <p:attrName>style.visibility</p:attrName>
                                        </p:attrNameLst>
                                      </p:cBhvr>
                                      <p:to>
                                        <p:strVal val="hidden"/>
                                      </p:to>
                                    </p:set>
                                  </p:childTnLst>
                                </p:cTn>
                              </p:par>
                              <p:par>
                                <p:cTn id="304" presetID="9" presetClass="exit" presetSubtype="0" fill="hold" grpId="0" nodeType="withEffect">
                                  <p:stCondLst>
                                    <p:cond delay="0"/>
                                  </p:stCondLst>
                                  <p:childTnLst>
                                    <p:animEffect transition="out" filter="dissolve">
                                      <p:cBhvr>
                                        <p:cTn id="305" dur="500"/>
                                        <p:tgtEl>
                                          <p:spTgt spid="126"/>
                                        </p:tgtEl>
                                      </p:cBhvr>
                                    </p:animEffect>
                                    <p:set>
                                      <p:cBhvr>
                                        <p:cTn id="306" dur="1" fill="hold">
                                          <p:stCondLst>
                                            <p:cond delay="499"/>
                                          </p:stCondLst>
                                        </p:cTn>
                                        <p:tgtEl>
                                          <p:spTgt spid="126"/>
                                        </p:tgtEl>
                                        <p:attrNameLst>
                                          <p:attrName>style.visibility</p:attrName>
                                        </p:attrNameLst>
                                      </p:cBhvr>
                                      <p:to>
                                        <p:strVal val="hidden"/>
                                      </p:to>
                                    </p:set>
                                  </p:childTnLst>
                                </p:cTn>
                              </p:par>
                            </p:childTnLst>
                          </p:cTn>
                        </p:par>
                        <p:par>
                          <p:cTn id="307" fill="hold">
                            <p:stCondLst>
                              <p:cond delay="10500"/>
                            </p:stCondLst>
                            <p:childTnLst>
                              <p:par>
                                <p:cTn id="308" presetID="1" presetClass="entr" presetSubtype="0" fill="hold" grpId="0" nodeType="afterEffect">
                                  <p:stCondLst>
                                    <p:cond delay="0"/>
                                  </p:stCondLst>
                                  <p:childTnLst>
                                    <p:set>
                                      <p:cBhvr>
                                        <p:cTn id="309" dur="1" fill="hold">
                                          <p:stCondLst>
                                            <p:cond delay="0"/>
                                          </p:stCondLst>
                                        </p:cTn>
                                        <p:tgtEl>
                                          <p:spTgt spid="200"/>
                                        </p:tgtEl>
                                        <p:attrNameLst>
                                          <p:attrName>style.visibility</p:attrName>
                                        </p:attrNameLst>
                                      </p:cBhvr>
                                      <p:to>
                                        <p:strVal val="visible"/>
                                      </p:to>
                                    </p:set>
                                  </p:childTnLst>
                                </p:cTn>
                              </p:par>
                              <p:par>
                                <p:cTn id="310" presetID="1" presetClass="entr" presetSubtype="0" fill="hold" grpId="0" nodeType="withEffect">
                                  <p:stCondLst>
                                    <p:cond delay="0"/>
                                  </p:stCondLst>
                                  <p:childTnLst>
                                    <p:set>
                                      <p:cBhvr>
                                        <p:cTn id="311" dur="1" fill="hold">
                                          <p:stCondLst>
                                            <p:cond delay="0"/>
                                          </p:stCondLst>
                                        </p:cTn>
                                        <p:tgtEl>
                                          <p:spTgt spid="199"/>
                                        </p:tgtEl>
                                        <p:attrNameLst>
                                          <p:attrName>style.visibility</p:attrName>
                                        </p:attrNameLst>
                                      </p:cBhvr>
                                      <p:to>
                                        <p:strVal val="visible"/>
                                      </p:to>
                                    </p:set>
                                  </p:childTnLst>
                                </p:cTn>
                              </p:par>
                            </p:childTnLst>
                          </p:cTn>
                        </p:par>
                      </p:childTnLst>
                    </p:cTn>
                  </p:par>
                  <p:par>
                    <p:cTn id="312" fill="hold">
                      <p:stCondLst>
                        <p:cond delay="indefinite"/>
                      </p:stCondLst>
                      <p:childTnLst>
                        <p:par>
                          <p:cTn id="313" fill="hold">
                            <p:stCondLst>
                              <p:cond delay="0"/>
                            </p:stCondLst>
                            <p:childTnLst>
                              <p:par>
                                <p:cTn id="314" presetID="1" presetClass="entr" presetSubtype="0" fill="hold" nodeType="clickEffect">
                                  <p:stCondLst>
                                    <p:cond delay="0"/>
                                  </p:stCondLst>
                                  <p:childTnLst>
                                    <p:set>
                                      <p:cBhvr>
                                        <p:cTn id="315"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p:bldP spid="197" grpId="0"/>
      <p:bldP spid="198" grpId="0"/>
      <p:bldP spid="199" grpId="0"/>
      <p:bldP spid="20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Oval 57"/>
          <p:cNvSpPr/>
          <p:nvPr/>
        </p:nvSpPr>
        <p:spPr>
          <a:xfrm>
            <a:off x="65532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59" name="Oval 58"/>
          <p:cNvSpPr/>
          <p:nvPr/>
        </p:nvSpPr>
        <p:spPr>
          <a:xfrm>
            <a:off x="70104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60" name="Oval 59"/>
          <p:cNvSpPr/>
          <p:nvPr/>
        </p:nvSpPr>
        <p:spPr>
          <a:xfrm>
            <a:off x="74676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61" name="Oval 60"/>
          <p:cNvSpPr/>
          <p:nvPr/>
        </p:nvSpPr>
        <p:spPr>
          <a:xfrm>
            <a:off x="79248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62" name="Oval 61"/>
          <p:cNvSpPr/>
          <p:nvPr/>
        </p:nvSpPr>
        <p:spPr>
          <a:xfrm>
            <a:off x="56388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63" name="Oval 62"/>
          <p:cNvSpPr/>
          <p:nvPr/>
        </p:nvSpPr>
        <p:spPr>
          <a:xfrm>
            <a:off x="60960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64" name="Oval 63"/>
          <p:cNvSpPr/>
          <p:nvPr/>
        </p:nvSpPr>
        <p:spPr>
          <a:xfrm>
            <a:off x="6553200" y="4495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65" name="Oval 64"/>
          <p:cNvSpPr/>
          <p:nvPr/>
        </p:nvSpPr>
        <p:spPr>
          <a:xfrm>
            <a:off x="70104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66" name="Oval 65"/>
          <p:cNvSpPr/>
          <p:nvPr/>
        </p:nvSpPr>
        <p:spPr>
          <a:xfrm>
            <a:off x="74676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67" name="Oval 66"/>
          <p:cNvSpPr/>
          <p:nvPr/>
        </p:nvSpPr>
        <p:spPr>
          <a:xfrm>
            <a:off x="7924800" y="4495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kern="0" dirty="0">
                <a:solidFill>
                  <a:prstClr val="white"/>
                </a:solidFill>
                <a:latin typeface="Cambria"/>
              </a:rPr>
              <a:t>N</a:t>
            </a:r>
            <a:endParaRPr kumimoji="0" lang="en-US" sz="1800" b="0" i="0" u="none" strike="noStrike" kern="0" cap="none" spc="0" normalizeH="0" baseline="0" noProof="0" dirty="0">
              <a:ln>
                <a:noFill/>
              </a:ln>
              <a:solidFill>
                <a:prstClr val="white"/>
              </a:solidFill>
              <a:effectLst/>
              <a:uLnTx/>
              <a:uFillTx/>
              <a:latin typeface="Cambria"/>
              <a:ea typeface="+mn-ea"/>
              <a:cs typeface="+mn-cs"/>
            </a:endParaRPr>
          </a:p>
        </p:txBody>
      </p:sp>
      <p:sp>
        <p:nvSpPr>
          <p:cNvPr id="68" name="Oval 67"/>
          <p:cNvSpPr/>
          <p:nvPr/>
        </p:nvSpPr>
        <p:spPr>
          <a:xfrm>
            <a:off x="56388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69" name="Oval 68"/>
          <p:cNvSpPr/>
          <p:nvPr/>
        </p:nvSpPr>
        <p:spPr>
          <a:xfrm>
            <a:off x="60960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0" name="Oval 69"/>
          <p:cNvSpPr/>
          <p:nvPr/>
        </p:nvSpPr>
        <p:spPr>
          <a:xfrm>
            <a:off x="65532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71" name="Oval 70"/>
          <p:cNvSpPr/>
          <p:nvPr/>
        </p:nvSpPr>
        <p:spPr>
          <a:xfrm>
            <a:off x="70104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2" name="Oval 71"/>
          <p:cNvSpPr/>
          <p:nvPr/>
        </p:nvSpPr>
        <p:spPr>
          <a:xfrm>
            <a:off x="7467600" y="4953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3" name="Oval 72"/>
          <p:cNvSpPr/>
          <p:nvPr/>
        </p:nvSpPr>
        <p:spPr>
          <a:xfrm>
            <a:off x="7924800" y="4953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74" name="Oval 73"/>
          <p:cNvSpPr/>
          <p:nvPr/>
        </p:nvSpPr>
        <p:spPr>
          <a:xfrm>
            <a:off x="56388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75" name="Oval 74"/>
          <p:cNvSpPr/>
          <p:nvPr/>
        </p:nvSpPr>
        <p:spPr>
          <a:xfrm>
            <a:off x="60960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6" name="Oval 75"/>
          <p:cNvSpPr/>
          <p:nvPr/>
        </p:nvSpPr>
        <p:spPr>
          <a:xfrm>
            <a:off x="65532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7" name="Oval 76"/>
          <p:cNvSpPr/>
          <p:nvPr/>
        </p:nvSpPr>
        <p:spPr>
          <a:xfrm>
            <a:off x="7010400" y="54102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78" name="Oval 77"/>
          <p:cNvSpPr/>
          <p:nvPr/>
        </p:nvSpPr>
        <p:spPr>
          <a:xfrm>
            <a:off x="74676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79" name="Oval 78"/>
          <p:cNvSpPr/>
          <p:nvPr/>
        </p:nvSpPr>
        <p:spPr>
          <a:xfrm>
            <a:off x="7924800" y="54102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0" name="Oval 79"/>
          <p:cNvSpPr/>
          <p:nvPr/>
        </p:nvSpPr>
        <p:spPr>
          <a:xfrm>
            <a:off x="6096000" y="4038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81" name="Oval 80"/>
          <p:cNvSpPr/>
          <p:nvPr/>
        </p:nvSpPr>
        <p:spPr>
          <a:xfrm>
            <a:off x="5638800" y="4038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2" name="Oval 81"/>
          <p:cNvSpPr/>
          <p:nvPr/>
        </p:nvSpPr>
        <p:spPr>
          <a:xfrm>
            <a:off x="18288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3" name="Oval 82"/>
          <p:cNvSpPr/>
          <p:nvPr/>
        </p:nvSpPr>
        <p:spPr>
          <a:xfrm>
            <a:off x="22860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4" name="Oval 83"/>
          <p:cNvSpPr/>
          <p:nvPr/>
        </p:nvSpPr>
        <p:spPr>
          <a:xfrm>
            <a:off x="27432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5" name="Oval 84"/>
          <p:cNvSpPr/>
          <p:nvPr/>
        </p:nvSpPr>
        <p:spPr>
          <a:xfrm>
            <a:off x="32004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6" name="Oval 85"/>
          <p:cNvSpPr/>
          <p:nvPr/>
        </p:nvSpPr>
        <p:spPr>
          <a:xfrm>
            <a:off x="9144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7" name="Oval 86"/>
          <p:cNvSpPr/>
          <p:nvPr/>
        </p:nvSpPr>
        <p:spPr>
          <a:xfrm>
            <a:off x="1371600" y="4419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88" name="Oval 87"/>
          <p:cNvSpPr/>
          <p:nvPr/>
        </p:nvSpPr>
        <p:spPr>
          <a:xfrm>
            <a:off x="18288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89" name="Oval 88"/>
          <p:cNvSpPr/>
          <p:nvPr/>
        </p:nvSpPr>
        <p:spPr>
          <a:xfrm>
            <a:off x="2286000" y="44196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0" name="Oval 89"/>
          <p:cNvSpPr/>
          <p:nvPr/>
        </p:nvSpPr>
        <p:spPr>
          <a:xfrm>
            <a:off x="2743200" y="4419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91" name="Oval 90"/>
          <p:cNvSpPr/>
          <p:nvPr/>
        </p:nvSpPr>
        <p:spPr>
          <a:xfrm>
            <a:off x="3200400" y="44196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92" name="Oval 91"/>
          <p:cNvSpPr/>
          <p:nvPr/>
        </p:nvSpPr>
        <p:spPr>
          <a:xfrm>
            <a:off x="9144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3" name="Oval 92"/>
          <p:cNvSpPr/>
          <p:nvPr/>
        </p:nvSpPr>
        <p:spPr>
          <a:xfrm>
            <a:off x="13716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4" name="Oval 93"/>
          <p:cNvSpPr/>
          <p:nvPr/>
        </p:nvSpPr>
        <p:spPr>
          <a:xfrm>
            <a:off x="18288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95" name="Oval 94"/>
          <p:cNvSpPr/>
          <p:nvPr/>
        </p:nvSpPr>
        <p:spPr>
          <a:xfrm>
            <a:off x="22860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6" name="Oval 95"/>
          <p:cNvSpPr/>
          <p:nvPr/>
        </p:nvSpPr>
        <p:spPr>
          <a:xfrm>
            <a:off x="2743200" y="48768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97" name="Oval 96"/>
          <p:cNvSpPr/>
          <p:nvPr/>
        </p:nvSpPr>
        <p:spPr>
          <a:xfrm>
            <a:off x="3200400" y="48768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8" name="Oval 97"/>
          <p:cNvSpPr/>
          <p:nvPr/>
        </p:nvSpPr>
        <p:spPr>
          <a:xfrm>
            <a:off x="13716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99" name="Oval 98"/>
          <p:cNvSpPr/>
          <p:nvPr/>
        </p:nvSpPr>
        <p:spPr>
          <a:xfrm>
            <a:off x="914400" y="39624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0" name="Oval 99"/>
          <p:cNvSpPr/>
          <p:nvPr/>
        </p:nvSpPr>
        <p:spPr>
          <a:xfrm>
            <a:off x="9144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1" name="Oval 100"/>
          <p:cNvSpPr/>
          <p:nvPr/>
        </p:nvSpPr>
        <p:spPr>
          <a:xfrm>
            <a:off x="13716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02" name="Oval 101"/>
          <p:cNvSpPr/>
          <p:nvPr/>
        </p:nvSpPr>
        <p:spPr>
          <a:xfrm>
            <a:off x="18288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3" name="Oval 102"/>
          <p:cNvSpPr/>
          <p:nvPr/>
        </p:nvSpPr>
        <p:spPr>
          <a:xfrm>
            <a:off x="2286000" y="5334000"/>
            <a:ext cx="457200" cy="457200"/>
          </a:xfrm>
          <a:prstGeom prst="ellipse">
            <a:avLst/>
          </a:prstGeom>
          <a:solidFill>
            <a:srgbClr val="00349E"/>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N</a:t>
            </a:r>
          </a:p>
        </p:txBody>
      </p:sp>
      <p:sp>
        <p:nvSpPr>
          <p:cNvPr id="104" name="Oval 103"/>
          <p:cNvSpPr/>
          <p:nvPr/>
        </p:nvSpPr>
        <p:spPr>
          <a:xfrm>
            <a:off x="27432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sp>
        <p:nvSpPr>
          <p:cNvPr id="105" name="Oval 104"/>
          <p:cNvSpPr/>
          <p:nvPr/>
        </p:nvSpPr>
        <p:spPr>
          <a:xfrm>
            <a:off x="3200400" y="5334000"/>
            <a:ext cx="457200" cy="457200"/>
          </a:xfrm>
          <a:prstGeom prst="ellipse">
            <a:avLst/>
          </a:prstGeom>
          <a:solidFill>
            <a:srgbClr val="FF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a:ea typeface="+mn-ea"/>
                <a:cs typeface="+mn-cs"/>
              </a:rPr>
              <a:t>R</a:t>
            </a:r>
          </a:p>
        </p:txBody>
      </p:sp>
      <p:cxnSp>
        <p:nvCxnSpPr>
          <p:cNvPr id="106" name="Straight Arrow Connector 105"/>
          <p:cNvCxnSpPr/>
          <p:nvPr/>
        </p:nvCxnSpPr>
        <p:spPr>
          <a:xfrm rot="10800000" flipV="1">
            <a:off x="2057400" y="2438400"/>
            <a:ext cx="2514600" cy="1219200"/>
          </a:xfrm>
          <a:prstGeom prst="straightConnector1">
            <a:avLst/>
          </a:prstGeom>
          <a:noFill/>
          <a:ln w="38100" cap="flat" cmpd="sng" algn="ctr">
            <a:solidFill>
              <a:srgbClr val="002676">
                <a:satMod val="150000"/>
              </a:srgbClr>
            </a:solidFill>
            <a:prstDash val="solid"/>
            <a:tailEnd type="arrow"/>
          </a:ln>
          <a:effectLst/>
        </p:spPr>
      </p:cxnSp>
      <p:cxnSp>
        <p:nvCxnSpPr>
          <p:cNvPr id="107" name="Straight Arrow Connector 106"/>
          <p:cNvCxnSpPr/>
          <p:nvPr/>
        </p:nvCxnSpPr>
        <p:spPr>
          <a:xfrm>
            <a:off x="4572000" y="2438400"/>
            <a:ext cx="2209800" cy="1295400"/>
          </a:xfrm>
          <a:prstGeom prst="straightConnector1">
            <a:avLst/>
          </a:prstGeom>
          <a:noFill/>
          <a:ln w="38100" cap="flat" cmpd="sng" algn="ctr">
            <a:solidFill>
              <a:srgbClr val="002676">
                <a:satMod val="150000"/>
              </a:srgbClr>
            </a:solidFill>
            <a:prstDash val="solid"/>
            <a:tailEnd type="arrow"/>
          </a:ln>
          <a:effectLst/>
        </p:spPr>
      </p:cxnSp>
      <p:sp>
        <p:nvSpPr>
          <p:cNvPr id="108" name="TextBox 107"/>
          <p:cNvSpPr txBox="1"/>
          <p:nvPr/>
        </p:nvSpPr>
        <p:spPr>
          <a:xfrm>
            <a:off x="3276600" y="2971800"/>
            <a:ext cx="236220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Simulate another randomization</a:t>
            </a:r>
          </a:p>
        </p:txBody>
      </p:sp>
      <p:sp>
        <p:nvSpPr>
          <p:cNvPr id="109" name="TextBox 108"/>
          <p:cNvSpPr txBox="1"/>
          <p:nvPr/>
        </p:nvSpPr>
        <p:spPr>
          <a:xfrm>
            <a:off x="228600" y="3440668"/>
            <a:ext cx="1905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err="1">
                <a:ln>
                  <a:noFill/>
                </a:ln>
                <a:solidFill>
                  <a:srgbClr val="002676"/>
                </a:solidFill>
                <a:effectLst/>
                <a:uLnTx/>
                <a:uFillTx/>
              </a:rPr>
              <a:t>Desipramine</a:t>
            </a:r>
            <a:endParaRPr kumimoji="0" lang="en-US" sz="2400" b="0" i="1" u="none" strike="noStrike" kern="0" cap="none" spc="0" normalizeH="0" baseline="0" noProof="0" dirty="0">
              <a:ln>
                <a:noFill/>
              </a:ln>
              <a:solidFill>
                <a:srgbClr val="002676"/>
              </a:solidFill>
              <a:effectLst/>
              <a:uLnTx/>
              <a:uFillTx/>
            </a:endParaRPr>
          </a:p>
        </p:txBody>
      </p:sp>
      <p:sp>
        <p:nvSpPr>
          <p:cNvPr id="110" name="TextBox 109"/>
          <p:cNvSpPr txBox="1"/>
          <p:nvPr/>
        </p:nvSpPr>
        <p:spPr>
          <a:xfrm>
            <a:off x="6934200" y="3516868"/>
            <a:ext cx="1524000" cy="461665"/>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a:ln>
                  <a:noFill/>
                </a:ln>
                <a:solidFill>
                  <a:srgbClr val="002676"/>
                </a:solidFill>
                <a:effectLst/>
                <a:uLnTx/>
                <a:uFillTx/>
              </a:rPr>
              <a:t>Lithium</a:t>
            </a:r>
          </a:p>
        </p:txBody>
      </p:sp>
      <p:sp>
        <p:nvSpPr>
          <p:cNvPr id="111" name="TextBox 110"/>
          <p:cNvSpPr txBox="1"/>
          <p:nvPr/>
        </p:nvSpPr>
        <p:spPr>
          <a:xfrm>
            <a:off x="229772" y="5867400"/>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17 relapse, 7 no relapse</a:t>
            </a:r>
          </a:p>
        </p:txBody>
      </p:sp>
      <p:sp>
        <p:nvSpPr>
          <p:cNvPr id="112" name="TextBox 111"/>
          <p:cNvSpPr txBox="1"/>
          <p:nvPr/>
        </p:nvSpPr>
        <p:spPr>
          <a:xfrm>
            <a:off x="5638800" y="5867400"/>
            <a:ext cx="342900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rPr>
              <a:t>11 relapse, 13 no relapse</a:t>
            </a:r>
          </a:p>
        </p:txBody>
      </p:sp>
      <p:graphicFrame>
        <p:nvGraphicFramePr>
          <p:cNvPr id="113" name="Object 1"/>
          <p:cNvGraphicFramePr>
            <a:graphicFrameLocks noChangeAspect="1"/>
          </p:cNvGraphicFramePr>
          <p:nvPr>
            <p:extLst>
              <p:ext uri="{D42A27DB-BD31-4B8C-83A1-F6EECF244321}">
                <p14:modId xmlns:p14="http://schemas.microsoft.com/office/powerpoint/2010/main" val="3500662956"/>
              </p:ext>
            </p:extLst>
          </p:nvPr>
        </p:nvGraphicFramePr>
        <p:xfrm>
          <a:off x="3668150" y="4600135"/>
          <a:ext cx="1830144" cy="2036298"/>
        </p:xfrm>
        <a:graphic>
          <a:graphicData uri="http://schemas.openxmlformats.org/presentationml/2006/ole">
            <mc:AlternateContent xmlns:mc="http://schemas.openxmlformats.org/markup-compatibility/2006">
              <mc:Choice xmlns:v="urn:schemas-microsoft-com:vml" Requires="v">
                <p:oleObj spid="_x0000_s3094" name="Equation" r:id="rId4" imgW="660240" imgH="736560" progId="Equation.DSMT4">
                  <p:embed/>
                </p:oleObj>
              </mc:Choice>
              <mc:Fallback>
                <p:oleObj name="Equation" r:id="rId4" imgW="660240" imgH="736560" progId="Equation.DSMT4">
                  <p:embed/>
                  <p:pic>
                    <p:nvPicPr>
                      <p:cNvPr id="0" name=""/>
                      <p:cNvPicPr>
                        <a:picLocks noChangeAspect="1" noChangeArrowheads="1"/>
                      </p:cNvPicPr>
                      <p:nvPr/>
                    </p:nvPicPr>
                    <p:blipFill>
                      <a:blip r:embed="rId5"/>
                      <a:srcRect/>
                      <a:stretch>
                        <a:fillRect/>
                      </a:stretch>
                    </p:blipFill>
                    <p:spPr bwMode="auto">
                      <a:xfrm>
                        <a:off x="3668150" y="4600135"/>
                        <a:ext cx="1830144" cy="2036298"/>
                      </a:xfrm>
                      <a:prstGeom prst="rect">
                        <a:avLst/>
                      </a:prstGeom>
                      <a:noFill/>
                      <a:extLst/>
                    </p:spPr>
                  </p:pic>
                </p:oleObj>
              </mc:Fallback>
            </mc:AlternateContent>
          </a:graphicData>
        </a:graphic>
      </p:graphicFrame>
    </p:spTree>
    <p:custDataLst>
      <p:tags r:id="rId2"/>
    </p:custDataLst>
    <p:extLst>
      <p:ext uri="{BB962C8B-B14F-4D97-AF65-F5344CB8AC3E}">
        <p14:creationId xmlns:p14="http://schemas.microsoft.com/office/powerpoint/2010/main" val="258010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dissolve">
                                      <p:cBhvr>
                                        <p:cTn id="7" dur="1000"/>
                                        <p:tgtEl>
                                          <p:spTgt spid="8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3"/>
                                        </p:tgtEl>
                                        <p:attrNameLst>
                                          <p:attrName>style.visibility</p:attrName>
                                        </p:attrNameLst>
                                      </p:cBhvr>
                                      <p:to>
                                        <p:strVal val="visible"/>
                                      </p:to>
                                    </p:set>
                                    <p:animEffect transition="in" filter="dissolve">
                                      <p:cBhvr>
                                        <p:cTn id="10" dur="1000"/>
                                        <p:tgtEl>
                                          <p:spTgt spid="8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dissolve">
                                      <p:cBhvr>
                                        <p:cTn id="13" dur="1000"/>
                                        <p:tgtEl>
                                          <p:spTgt spid="8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dissolve">
                                      <p:cBhvr>
                                        <p:cTn id="16" dur="1000"/>
                                        <p:tgtEl>
                                          <p:spTgt spid="8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86"/>
                                        </p:tgtEl>
                                        <p:attrNameLst>
                                          <p:attrName>style.visibility</p:attrName>
                                        </p:attrNameLst>
                                      </p:cBhvr>
                                      <p:to>
                                        <p:strVal val="visible"/>
                                      </p:to>
                                    </p:set>
                                    <p:animEffect transition="in" filter="dissolve">
                                      <p:cBhvr>
                                        <p:cTn id="19" dur="1000"/>
                                        <p:tgtEl>
                                          <p:spTgt spid="8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dissolve">
                                      <p:cBhvr>
                                        <p:cTn id="22" dur="1000"/>
                                        <p:tgtEl>
                                          <p:spTgt spid="8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88"/>
                                        </p:tgtEl>
                                        <p:attrNameLst>
                                          <p:attrName>style.visibility</p:attrName>
                                        </p:attrNameLst>
                                      </p:cBhvr>
                                      <p:to>
                                        <p:strVal val="visible"/>
                                      </p:to>
                                    </p:set>
                                    <p:animEffect transition="in" filter="dissolve">
                                      <p:cBhvr>
                                        <p:cTn id="25" dur="1000"/>
                                        <p:tgtEl>
                                          <p:spTgt spid="8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dissolve">
                                      <p:cBhvr>
                                        <p:cTn id="28" dur="1000"/>
                                        <p:tgtEl>
                                          <p:spTgt spid="8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dissolve">
                                      <p:cBhvr>
                                        <p:cTn id="31" dur="1000"/>
                                        <p:tgtEl>
                                          <p:spTgt spid="9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91"/>
                                        </p:tgtEl>
                                        <p:attrNameLst>
                                          <p:attrName>style.visibility</p:attrName>
                                        </p:attrNameLst>
                                      </p:cBhvr>
                                      <p:to>
                                        <p:strVal val="visible"/>
                                      </p:to>
                                    </p:set>
                                    <p:animEffect transition="in" filter="dissolve">
                                      <p:cBhvr>
                                        <p:cTn id="34" dur="1000"/>
                                        <p:tgtEl>
                                          <p:spTgt spid="9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92"/>
                                        </p:tgtEl>
                                        <p:attrNameLst>
                                          <p:attrName>style.visibility</p:attrName>
                                        </p:attrNameLst>
                                      </p:cBhvr>
                                      <p:to>
                                        <p:strVal val="visible"/>
                                      </p:to>
                                    </p:set>
                                    <p:animEffect transition="in" filter="dissolve">
                                      <p:cBhvr>
                                        <p:cTn id="37" dur="1000"/>
                                        <p:tgtEl>
                                          <p:spTgt spid="9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dissolve">
                                      <p:cBhvr>
                                        <p:cTn id="40" dur="1000"/>
                                        <p:tgtEl>
                                          <p:spTgt spid="9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94"/>
                                        </p:tgtEl>
                                        <p:attrNameLst>
                                          <p:attrName>style.visibility</p:attrName>
                                        </p:attrNameLst>
                                      </p:cBhvr>
                                      <p:to>
                                        <p:strVal val="visible"/>
                                      </p:to>
                                    </p:set>
                                    <p:animEffect transition="in" filter="dissolve">
                                      <p:cBhvr>
                                        <p:cTn id="43" dur="1000"/>
                                        <p:tgtEl>
                                          <p:spTgt spid="9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95"/>
                                        </p:tgtEl>
                                        <p:attrNameLst>
                                          <p:attrName>style.visibility</p:attrName>
                                        </p:attrNameLst>
                                      </p:cBhvr>
                                      <p:to>
                                        <p:strVal val="visible"/>
                                      </p:to>
                                    </p:set>
                                    <p:animEffect transition="in" filter="dissolve">
                                      <p:cBhvr>
                                        <p:cTn id="46" dur="1000"/>
                                        <p:tgtEl>
                                          <p:spTgt spid="9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96"/>
                                        </p:tgtEl>
                                        <p:attrNameLst>
                                          <p:attrName>style.visibility</p:attrName>
                                        </p:attrNameLst>
                                      </p:cBhvr>
                                      <p:to>
                                        <p:strVal val="visible"/>
                                      </p:to>
                                    </p:set>
                                    <p:animEffect transition="in" filter="dissolve">
                                      <p:cBhvr>
                                        <p:cTn id="49" dur="1000"/>
                                        <p:tgtEl>
                                          <p:spTgt spid="9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97"/>
                                        </p:tgtEl>
                                        <p:attrNameLst>
                                          <p:attrName>style.visibility</p:attrName>
                                        </p:attrNameLst>
                                      </p:cBhvr>
                                      <p:to>
                                        <p:strVal val="visible"/>
                                      </p:to>
                                    </p:set>
                                    <p:animEffect transition="in" filter="dissolve">
                                      <p:cBhvr>
                                        <p:cTn id="52" dur="1000"/>
                                        <p:tgtEl>
                                          <p:spTgt spid="9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98"/>
                                        </p:tgtEl>
                                        <p:attrNameLst>
                                          <p:attrName>style.visibility</p:attrName>
                                        </p:attrNameLst>
                                      </p:cBhvr>
                                      <p:to>
                                        <p:strVal val="visible"/>
                                      </p:to>
                                    </p:set>
                                    <p:animEffect transition="in" filter="dissolve">
                                      <p:cBhvr>
                                        <p:cTn id="55" dur="1000"/>
                                        <p:tgtEl>
                                          <p:spTgt spid="9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99"/>
                                        </p:tgtEl>
                                        <p:attrNameLst>
                                          <p:attrName>style.visibility</p:attrName>
                                        </p:attrNameLst>
                                      </p:cBhvr>
                                      <p:to>
                                        <p:strVal val="visible"/>
                                      </p:to>
                                    </p:set>
                                    <p:animEffect transition="in" filter="dissolve">
                                      <p:cBhvr>
                                        <p:cTn id="58" dur="1000"/>
                                        <p:tgtEl>
                                          <p:spTgt spid="9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00"/>
                                        </p:tgtEl>
                                        <p:attrNameLst>
                                          <p:attrName>style.visibility</p:attrName>
                                        </p:attrNameLst>
                                      </p:cBhvr>
                                      <p:to>
                                        <p:strVal val="visible"/>
                                      </p:to>
                                    </p:set>
                                    <p:animEffect transition="in" filter="dissolve">
                                      <p:cBhvr>
                                        <p:cTn id="61" dur="1000"/>
                                        <p:tgtEl>
                                          <p:spTgt spid="100"/>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101"/>
                                        </p:tgtEl>
                                        <p:attrNameLst>
                                          <p:attrName>style.visibility</p:attrName>
                                        </p:attrNameLst>
                                      </p:cBhvr>
                                      <p:to>
                                        <p:strVal val="visible"/>
                                      </p:to>
                                    </p:set>
                                    <p:animEffect transition="in" filter="dissolve">
                                      <p:cBhvr>
                                        <p:cTn id="64" dur="1000"/>
                                        <p:tgtEl>
                                          <p:spTgt spid="10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02"/>
                                        </p:tgtEl>
                                        <p:attrNameLst>
                                          <p:attrName>style.visibility</p:attrName>
                                        </p:attrNameLst>
                                      </p:cBhvr>
                                      <p:to>
                                        <p:strVal val="visible"/>
                                      </p:to>
                                    </p:set>
                                    <p:animEffect transition="in" filter="dissolve">
                                      <p:cBhvr>
                                        <p:cTn id="67" dur="1000"/>
                                        <p:tgtEl>
                                          <p:spTgt spid="10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03"/>
                                        </p:tgtEl>
                                        <p:attrNameLst>
                                          <p:attrName>style.visibility</p:attrName>
                                        </p:attrNameLst>
                                      </p:cBhvr>
                                      <p:to>
                                        <p:strVal val="visible"/>
                                      </p:to>
                                    </p:set>
                                    <p:animEffect transition="in" filter="dissolve">
                                      <p:cBhvr>
                                        <p:cTn id="70" dur="1000"/>
                                        <p:tgtEl>
                                          <p:spTgt spid="10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104"/>
                                        </p:tgtEl>
                                        <p:attrNameLst>
                                          <p:attrName>style.visibility</p:attrName>
                                        </p:attrNameLst>
                                      </p:cBhvr>
                                      <p:to>
                                        <p:strVal val="visible"/>
                                      </p:to>
                                    </p:set>
                                    <p:animEffect transition="in" filter="dissolve">
                                      <p:cBhvr>
                                        <p:cTn id="73" dur="1000"/>
                                        <p:tgtEl>
                                          <p:spTgt spid="10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05"/>
                                        </p:tgtEl>
                                        <p:attrNameLst>
                                          <p:attrName>style.visibility</p:attrName>
                                        </p:attrNameLst>
                                      </p:cBhvr>
                                      <p:to>
                                        <p:strVal val="visible"/>
                                      </p:to>
                                    </p:set>
                                    <p:animEffect transition="in" filter="dissolve">
                                      <p:cBhvr>
                                        <p:cTn id="76" dur="1000"/>
                                        <p:tgtEl>
                                          <p:spTgt spid="105"/>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dissolve">
                                      <p:cBhvr>
                                        <p:cTn id="79" dur="500"/>
                                        <p:tgtEl>
                                          <p:spTgt spid="58"/>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dissolve">
                                      <p:cBhvr>
                                        <p:cTn id="82" dur="500"/>
                                        <p:tgtEl>
                                          <p:spTgt spid="59"/>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dissolve">
                                      <p:cBhvr>
                                        <p:cTn id="85" dur="500"/>
                                        <p:tgtEl>
                                          <p:spTgt spid="60"/>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dissolve">
                                      <p:cBhvr>
                                        <p:cTn id="88" dur="500"/>
                                        <p:tgtEl>
                                          <p:spTgt spid="61"/>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dissolve">
                                      <p:cBhvr>
                                        <p:cTn id="91" dur="500"/>
                                        <p:tgtEl>
                                          <p:spTgt spid="62"/>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dissolve">
                                      <p:cBhvr>
                                        <p:cTn id="94" dur="500"/>
                                        <p:tgtEl>
                                          <p:spTgt spid="63"/>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64"/>
                                        </p:tgtEl>
                                        <p:attrNameLst>
                                          <p:attrName>style.visibility</p:attrName>
                                        </p:attrNameLst>
                                      </p:cBhvr>
                                      <p:to>
                                        <p:strVal val="visible"/>
                                      </p:to>
                                    </p:set>
                                    <p:animEffect transition="in" filter="dissolve">
                                      <p:cBhvr>
                                        <p:cTn id="97" dur="500"/>
                                        <p:tgtEl>
                                          <p:spTgt spid="64"/>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dissolve">
                                      <p:cBhvr>
                                        <p:cTn id="100" dur="500"/>
                                        <p:tgtEl>
                                          <p:spTgt spid="65"/>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dissolve">
                                      <p:cBhvr>
                                        <p:cTn id="103" dur="500"/>
                                        <p:tgtEl>
                                          <p:spTgt spid="66"/>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dissolve">
                                      <p:cBhvr>
                                        <p:cTn id="106" dur="500"/>
                                        <p:tgtEl>
                                          <p:spTgt spid="67"/>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68"/>
                                        </p:tgtEl>
                                        <p:attrNameLst>
                                          <p:attrName>style.visibility</p:attrName>
                                        </p:attrNameLst>
                                      </p:cBhvr>
                                      <p:to>
                                        <p:strVal val="visible"/>
                                      </p:to>
                                    </p:set>
                                    <p:animEffect transition="in" filter="dissolve">
                                      <p:cBhvr>
                                        <p:cTn id="109" dur="500"/>
                                        <p:tgtEl>
                                          <p:spTgt spid="68"/>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dissolve">
                                      <p:cBhvr>
                                        <p:cTn id="112" dur="500"/>
                                        <p:tgtEl>
                                          <p:spTgt spid="69"/>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dissolve">
                                      <p:cBhvr>
                                        <p:cTn id="115" dur="500"/>
                                        <p:tgtEl>
                                          <p:spTgt spid="70"/>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dissolve">
                                      <p:cBhvr>
                                        <p:cTn id="118" dur="500"/>
                                        <p:tgtEl>
                                          <p:spTgt spid="71"/>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72"/>
                                        </p:tgtEl>
                                        <p:attrNameLst>
                                          <p:attrName>style.visibility</p:attrName>
                                        </p:attrNameLst>
                                      </p:cBhvr>
                                      <p:to>
                                        <p:strVal val="visible"/>
                                      </p:to>
                                    </p:set>
                                    <p:animEffect transition="in" filter="dissolve">
                                      <p:cBhvr>
                                        <p:cTn id="121" dur="500"/>
                                        <p:tgtEl>
                                          <p:spTgt spid="72"/>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73"/>
                                        </p:tgtEl>
                                        <p:attrNameLst>
                                          <p:attrName>style.visibility</p:attrName>
                                        </p:attrNameLst>
                                      </p:cBhvr>
                                      <p:to>
                                        <p:strVal val="visible"/>
                                      </p:to>
                                    </p:set>
                                    <p:animEffect transition="in" filter="dissolve">
                                      <p:cBhvr>
                                        <p:cTn id="124" dur="500"/>
                                        <p:tgtEl>
                                          <p:spTgt spid="73"/>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74"/>
                                        </p:tgtEl>
                                        <p:attrNameLst>
                                          <p:attrName>style.visibility</p:attrName>
                                        </p:attrNameLst>
                                      </p:cBhvr>
                                      <p:to>
                                        <p:strVal val="visible"/>
                                      </p:to>
                                    </p:set>
                                    <p:animEffect transition="in" filter="dissolve">
                                      <p:cBhvr>
                                        <p:cTn id="127" dur="500"/>
                                        <p:tgtEl>
                                          <p:spTgt spid="74"/>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75"/>
                                        </p:tgtEl>
                                        <p:attrNameLst>
                                          <p:attrName>style.visibility</p:attrName>
                                        </p:attrNameLst>
                                      </p:cBhvr>
                                      <p:to>
                                        <p:strVal val="visible"/>
                                      </p:to>
                                    </p:set>
                                    <p:animEffect transition="in" filter="dissolve">
                                      <p:cBhvr>
                                        <p:cTn id="130" dur="500"/>
                                        <p:tgtEl>
                                          <p:spTgt spid="75"/>
                                        </p:tgtEl>
                                      </p:cBhvr>
                                    </p:animEffect>
                                  </p:childTnLst>
                                </p:cTn>
                              </p:par>
                              <p:par>
                                <p:cTn id="131" presetID="9" presetClass="entr" presetSubtype="0" fill="hold" grpId="0" nodeType="with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dissolve">
                                      <p:cBhvr>
                                        <p:cTn id="133" dur="500"/>
                                        <p:tgtEl>
                                          <p:spTgt spid="76"/>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77"/>
                                        </p:tgtEl>
                                        <p:attrNameLst>
                                          <p:attrName>style.visibility</p:attrName>
                                        </p:attrNameLst>
                                      </p:cBhvr>
                                      <p:to>
                                        <p:strVal val="visible"/>
                                      </p:to>
                                    </p:set>
                                    <p:animEffect transition="in" filter="dissolve">
                                      <p:cBhvr>
                                        <p:cTn id="136" dur="500"/>
                                        <p:tgtEl>
                                          <p:spTgt spid="77"/>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Effect transition="in" filter="dissolve">
                                      <p:cBhvr>
                                        <p:cTn id="139" dur="500"/>
                                        <p:tgtEl>
                                          <p:spTgt spid="78"/>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79"/>
                                        </p:tgtEl>
                                        <p:attrNameLst>
                                          <p:attrName>style.visibility</p:attrName>
                                        </p:attrNameLst>
                                      </p:cBhvr>
                                      <p:to>
                                        <p:strVal val="visible"/>
                                      </p:to>
                                    </p:set>
                                    <p:animEffect transition="in" filter="dissolve">
                                      <p:cBhvr>
                                        <p:cTn id="142" dur="500"/>
                                        <p:tgtEl>
                                          <p:spTgt spid="79"/>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dissolve">
                                      <p:cBhvr>
                                        <p:cTn id="145" dur="500"/>
                                        <p:tgtEl>
                                          <p:spTgt spid="80"/>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81"/>
                                        </p:tgtEl>
                                        <p:attrNameLst>
                                          <p:attrName>style.visibility</p:attrName>
                                        </p:attrNameLst>
                                      </p:cBhvr>
                                      <p:to>
                                        <p:strVal val="visible"/>
                                      </p:to>
                                    </p:set>
                                    <p:animEffect transition="in" filter="dissolve">
                                      <p:cBhvr>
                                        <p:cTn id="148" dur="500"/>
                                        <p:tgtEl>
                                          <p:spTgt spid="81"/>
                                        </p:tgtEl>
                                      </p:cBhvr>
                                    </p:animEffect>
                                  </p:childTnLst>
                                </p:cTn>
                              </p:par>
                            </p:childTnLst>
                          </p:cTn>
                        </p:par>
                        <p:par>
                          <p:cTn id="149" fill="hold">
                            <p:stCondLst>
                              <p:cond delay="1000"/>
                            </p:stCondLst>
                            <p:childTnLst>
                              <p:par>
                                <p:cTn id="150" presetID="1" presetClass="entr" presetSubtype="0" fill="hold" grpId="0" nodeType="afterEffect">
                                  <p:stCondLst>
                                    <p:cond delay="0"/>
                                  </p:stCondLst>
                                  <p:childTnLst>
                                    <p:set>
                                      <p:cBhvr>
                                        <p:cTn id="151" dur="1" fill="hold">
                                          <p:stCondLst>
                                            <p:cond delay="0"/>
                                          </p:stCondLst>
                                        </p:cTn>
                                        <p:tgtEl>
                                          <p:spTgt spid="112"/>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111"/>
                                        </p:tgtEl>
                                        <p:attrNameLst>
                                          <p:attrName>style.visibility</p:attrName>
                                        </p:attrNameLst>
                                      </p:cBhvr>
                                      <p:to>
                                        <p:strVal val="visible"/>
                                      </p:to>
                                    </p:set>
                                  </p:childTnLst>
                                </p:cTn>
                              </p:par>
                            </p:childTnLst>
                          </p:cTn>
                        </p:par>
                        <p:par>
                          <p:cTn id="154" fill="hold">
                            <p:stCondLst>
                              <p:cond delay="1000"/>
                            </p:stCondLst>
                            <p:childTnLst>
                              <p:par>
                                <p:cTn id="155" presetID="1" presetClass="entr" presetSubtype="0" fill="hold" nodeType="afterEffect">
                                  <p:stCondLst>
                                    <p:cond delay="0"/>
                                  </p:stCondLst>
                                  <p:childTnLst>
                                    <p:set>
                                      <p:cBhvr>
                                        <p:cTn id="15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11" grpId="0"/>
      <p:bldP spid="1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Simulate Your Own Sample</a:t>
            </a:r>
          </a:p>
        </p:txBody>
      </p:sp>
      <p:sp>
        <p:nvSpPr>
          <p:cNvPr id="3" name="Content Placeholder 2"/>
          <p:cNvSpPr>
            <a:spLocks noGrp="1"/>
          </p:cNvSpPr>
          <p:nvPr>
            <p:ph idx="1"/>
          </p:nvPr>
        </p:nvSpPr>
        <p:spPr>
          <a:xfrm>
            <a:off x="-76200" y="1524000"/>
            <a:ext cx="9220200" cy="5334000"/>
          </a:xfrm>
        </p:spPr>
        <p:txBody>
          <a:bodyPr>
            <a:normAutofit fontScale="92500" lnSpcReduction="10000"/>
          </a:bodyPr>
          <a:lstStyle/>
          <a:p>
            <a:r>
              <a:rPr lang="en-US" dirty="0"/>
              <a:t>In the experiment, 28 people relapsed and 20 people did not relapse.  Create cards or slips of paper with 28 “R” values and 20 “N” values.</a:t>
            </a:r>
          </a:p>
          <a:p>
            <a:r>
              <a:rPr lang="en-US" dirty="0"/>
              <a:t>Pool these response values together, and randomly divide them into two groups (representing </a:t>
            </a:r>
            <a:r>
              <a:rPr lang="en-US" dirty="0" err="1"/>
              <a:t>Desipramine</a:t>
            </a:r>
            <a:r>
              <a:rPr lang="en-US" dirty="0"/>
              <a:t> and Lithium)</a:t>
            </a:r>
          </a:p>
          <a:p>
            <a:r>
              <a:rPr lang="en-US" dirty="0"/>
              <a:t>Calculate your difference in proportions</a:t>
            </a:r>
          </a:p>
          <a:p>
            <a:r>
              <a:rPr lang="en-US" dirty="0"/>
              <a:t>Plot your statistic on the class </a:t>
            </a:r>
            <a:r>
              <a:rPr lang="en-US" dirty="0" err="1"/>
              <a:t>dotplot</a:t>
            </a:r>
            <a:r>
              <a:rPr lang="en-US" dirty="0"/>
              <a:t> </a:t>
            </a:r>
          </a:p>
          <a:p>
            <a:r>
              <a:rPr lang="en-US" dirty="0"/>
              <a:t>To create an entire randomization distribution, we simulate this process many more times with technology: </a:t>
            </a:r>
            <a:r>
              <a:rPr lang="en-US" dirty="0">
                <a:hlinkClick r:id="rId3"/>
              </a:rPr>
              <a:t>StatKey</a:t>
            </a:r>
            <a:endParaRPr lang="en-US" dirty="0"/>
          </a:p>
        </p:txBody>
      </p:sp>
    </p:spTree>
    <p:custDataLst>
      <p:tags r:id="rId1"/>
    </p:custDataLst>
    <p:extLst>
      <p:ext uri="{BB962C8B-B14F-4D97-AF65-F5344CB8AC3E}">
        <p14:creationId xmlns:p14="http://schemas.microsoft.com/office/powerpoint/2010/main" val="416618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743200" y="2514600"/>
            <a:ext cx="2971800" cy="369332"/>
          </a:xfrm>
          <a:prstGeom prst="rect">
            <a:avLst/>
          </a:prstGeom>
          <a:noFill/>
        </p:spPr>
        <p:txBody>
          <a:bodyPr wrap="square" rtlCol="0">
            <a:spAutoFit/>
          </a:bodyPr>
          <a:lstStyle/>
          <a:p>
            <a:r>
              <a:rPr lang="en-US" dirty="0">
                <a:hlinkClick r:id="rId3"/>
              </a:rPr>
              <a:t>www.lock5stat.com/statkey</a:t>
            </a:r>
            <a:r>
              <a:rPr lang="en-US" dirty="0"/>
              <a:t> </a:t>
            </a:r>
          </a:p>
        </p:txBody>
      </p:sp>
      <p:pic>
        <p:nvPicPr>
          <p:cNvPr id="26627" name="Picture 3"/>
          <p:cNvPicPr>
            <a:picLocks noChangeAspect="1" noChangeArrowheads="1"/>
          </p:cNvPicPr>
          <p:nvPr/>
        </p:nvPicPr>
        <p:blipFill>
          <a:blip r:embed="rId4" cstate="print"/>
          <a:srcRect/>
          <a:stretch>
            <a:fillRect/>
          </a:stretch>
        </p:blipFill>
        <p:spPr bwMode="auto">
          <a:xfrm>
            <a:off x="0" y="-2498"/>
            <a:ext cx="8610600" cy="603115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944262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173301"/>
            <a:ext cx="9144000" cy="4893647"/>
          </a:xfrm>
          <a:prstGeom prst="rect">
            <a:avLst/>
          </a:prstGeom>
          <a:noFill/>
        </p:spPr>
        <p:txBody>
          <a:bodyPr wrap="square" rtlCol="0">
            <a:spAutoFit/>
          </a:bodyPr>
          <a:lstStyle/>
          <a:p>
            <a:pPr>
              <a:spcAft>
                <a:spcPts val="1800"/>
              </a:spcAft>
            </a:pPr>
            <a:r>
              <a:rPr lang="en-US" sz="3200" dirty="0">
                <a:solidFill>
                  <a:schemeClr val="accent6">
                    <a:lumMod val="50000"/>
                  </a:schemeClr>
                </a:solidFill>
                <a:cs typeface="Times New Roman" pitchFamily="18" charset="0"/>
              </a:rPr>
              <a:t>A formal hypothesis test has only two possible conclusions:</a:t>
            </a:r>
          </a:p>
          <a:p>
            <a:pPr marL="514350" indent="-514350">
              <a:spcAft>
                <a:spcPts val="1800"/>
              </a:spcAft>
              <a:buFont typeface="+mj-lt"/>
              <a:buAutoNum type="arabicPeriod"/>
            </a:pPr>
            <a:r>
              <a:rPr lang="en-US" sz="3200" dirty="0">
                <a:solidFill>
                  <a:schemeClr val="accent6">
                    <a:lumMod val="50000"/>
                  </a:schemeClr>
                </a:solidFill>
                <a:cs typeface="Times New Roman" pitchFamily="18" charset="0"/>
              </a:rPr>
              <a:t>The p-value is small: reject the null hypothesis in favor of the alternative</a:t>
            </a:r>
          </a:p>
          <a:p>
            <a:pPr marL="514350" indent="-514350">
              <a:spcAft>
                <a:spcPts val="1800"/>
              </a:spcAft>
              <a:buFont typeface="+mj-lt"/>
              <a:buAutoNum type="arabicPeriod"/>
            </a:pPr>
            <a:r>
              <a:rPr lang="en-US" sz="3200" dirty="0">
                <a:solidFill>
                  <a:schemeClr val="accent6">
                    <a:lumMod val="50000"/>
                  </a:schemeClr>
                </a:solidFill>
                <a:cs typeface="Times New Roman" pitchFamily="18" charset="0"/>
              </a:rPr>
              <a:t>The p-value is not small: do not reject the null hypothesis</a:t>
            </a:r>
          </a:p>
          <a:p>
            <a:pPr>
              <a:spcAft>
                <a:spcPts val="1800"/>
              </a:spcAft>
              <a:buFont typeface="Arial" pitchFamily="34" charset="0"/>
              <a:buChar char="•"/>
            </a:pPr>
            <a:endParaRPr lang="en-US" sz="3200" dirty="0">
              <a:solidFill>
                <a:prstClr val="black"/>
              </a:solidFill>
              <a:cs typeface="Times New Roman" pitchFamily="18" charset="0"/>
            </a:endParaRPr>
          </a:p>
          <a:p>
            <a:pPr>
              <a:spcAft>
                <a:spcPts val="1800"/>
              </a:spcAft>
              <a:buFont typeface="Arial" pitchFamily="34" charset="0"/>
              <a:buChar char="•"/>
            </a:pPr>
            <a:endParaRPr lang="en-US" sz="2800" dirty="0">
              <a:solidFill>
                <a:prstClr val="black"/>
              </a:solidFill>
              <a:cs typeface="Times New Roman" pitchFamily="18" charset="0"/>
            </a:endParaRPr>
          </a:p>
        </p:txBody>
      </p:sp>
      <p:sp>
        <p:nvSpPr>
          <p:cNvPr id="3" name="Title 1"/>
          <p:cNvSpPr txBox="1">
            <a:spLocks/>
          </p:cNvSpPr>
          <p:nvPr/>
        </p:nvSpPr>
        <p:spPr>
          <a:xfrm>
            <a:off x="495300" y="228600"/>
            <a:ext cx="8153400" cy="1219200"/>
          </a:xfrm>
          <a:prstGeom prst="rect">
            <a:avLst/>
          </a:prstGeom>
        </p:spPr>
        <p:txBody>
          <a:bodyPr/>
          <a:lstStyle/>
          <a:p>
            <a:pPr lvl="0" algn="ctr">
              <a:spcBef>
                <a:spcPct val="0"/>
              </a:spcBef>
              <a:defRPr/>
            </a:pPr>
            <a:r>
              <a:rPr lang="en-US" sz="4400" b="1" dirty="0">
                <a:solidFill>
                  <a:schemeClr val="tx2"/>
                </a:solidFill>
              </a:rPr>
              <a:t>Formal Decisions</a:t>
            </a:r>
            <a:endParaRPr lang="en-US" sz="4000" b="1" dirty="0">
              <a:solidFill>
                <a:schemeClr val="tx2"/>
              </a:solidFill>
            </a:endParaRPr>
          </a:p>
        </p:txBody>
      </p:sp>
      <p:sp>
        <p:nvSpPr>
          <p:cNvPr id="5" name="TextBox 4"/>
          <p:cNvSpPr txBox="1"/>
          <p:nvPr/>
        </p:nvSpPr>
        <p:spPr>
          <a:xfrm>
            <a:off x="915572" y="5225741"/>
            <a:ext cx="7162800" cy="769441"/>
          </a:xfrm>
          <a:prstGeom prst="rect">
            <a:avLst/>
          </a:prstGeom>
          <a:noFill/>
        </p:spPr>
        <p:txBody>
          <a:bodyPr wrap="square" rtlCol="0">
            <a:spAutoFit/>
          </a:bodyPr>
          <a:lstStyle/>
          <a:p>
            <a:pPr algn="ctr">
              <a:spcAft>
                <a:spcPts val="1800"/>
              </a:spcAft>
            </a:pPr>
            <a:r>
              <a:rPr lang="en-US" sz="4400" b="1" i="1" dirty="0">
                <a:solidFill>
                  <a:schemeClr val="accent2"/>
                </a:solidFill>
                <a:cs typeface="Times New Roman" pitchFamily="18" charset="0"/>
              </a:rPr>
              <a:t>How small?</a:t>
            </a:r>
            <a:endParaRPr lang="en-US" sz="4000" b="1" i="1" dirty="0">
              <a:solidFill>
                <a:schemeClr val="accent2"/>
              </a:solidFill>
              <a:cs typeface="Times New Roman" pitchFamily="18" charset="0"/>
            </a:endParaRPr>
          </a:p>
        </p:txBody>
      </p:sp>
      <p:sp>
        <p:nvSpPr>
          <p:cNvPr id="6" name="Oval 5"/>
          <p:cNvSpPr/>
          <p:nvPr/>
        </p:nvSpPr>
        <p:spPr>
          <a:xfrm>
            <a:off x="2845925" y="2362200"/>
            <a:ext cx="1181100" cy="609600"/>
          </a:xfrm>
          <a:prstGeom prst="ellipse">
            <a:avLst/>
          </a:prstGeom>
          <a:no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7" name="Oval 6"/>
          <p:cNvSpPr/>
          <p:nvPr/>
        </p:nvSpPr>
        <p:spPr>
          <a:xfrm>
            <a:off x="3436475" y="3611918"/>
            <a:ext cx="1135525" cy="609600"/>
          </a:xfrm>
          <a:prstGeom prst="ellipse">
            <a:avLst/>
          </a:prstGeom>
          <a:no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Tree>
    <p:custDataLst>
      <p:tags r:id="rId1"/>
    </p:custDataLst>
    <p:extLst>
      <p:ext uri="{BB962C8B-B14F-4D97-AF65-F5344CB8AC3E}">
        <p14:creationId xmlns:p14="http://schemas.microsoft.com/office/powerpoint/2010/main" val="118786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par>
                          <p:cTn id="16" fill="hold">
                            <p:stCondLst>
                              <p:cond delay="1000"/>
                            </p:stCondLst>
                            <p:childTnLst>
                              <p:par>
                                <p:cTn id="17" presetID="53" presetClass="entr" presetSubtype="0" fill="hold" nodeType="after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p:cTn id="19"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Significance Level</a:t>
            </a:r>
          </a:p>
        </p:txBody>
      </p:sp>
      <p:sp>
        <p:nvSpPr>
          <p:cNvPr id="4" name="Content Placeholder 3"/>
          <p:cNvSpPr>
            <a:spLocks noGrp="1"/>
          </p:cNvSpPr>
          <p:nvPr>
            <p:ph idx="10"/>
          </p:nvPr>
        </p:nvSpPr>
        <p:spPr>
          <a:xfrm>
            <a:off x="0" y="1524000"/>
            <a:ext cx="8991600" cy="1676400"/>
          </a:xfrm>
        </p:spPr>
        <p:txBody>
          <a:bodyPr>
            <a:normAutofit/>
          </a:bodyPr>
          <a:lstStyle/>
          <a:p>
            <a:r>
              <a:rPr lang="en-US" dirty="0">
                <a:solidFill>
                  <a:prstClr val="black"/>
                </a:solidFill>
                <a:cs typeface="Times New Roman" pitchFamily="18" charset="0"/>
              </a:rPr>
              <a:t>The </a:t>
            </a:r>
            <a:r>
              <a:rPr lang="en-US" b="1" i="1" dirty="0">
                <a:solidFill>
                  <a:schemeClr val="accent5">
                    <a:lumMod val="50000"/>
                  </a:schemeClr>
                </a:solidFill>
                <a:cs typeface="Times New Roman" pitchFamily="18" charset="0"/>
              </a:rPr>
              <a:t>significance level</a:t>
            </a:r>
            <a:r>
              <a:rPr lang="en-US" dirty="0">
                <a:solidFill>
                  <a:prstClr val="black"/>
                </a:solidFill>
                <a:cs typeface="Times New Roman" pitchFamily="18" charset="0"/>
              </a:rPr>
              <a:t>, </a:t>
            </a:r>
            <a:r>
              <a:rPr lang="en-US" dirty="0">
                <a:solidFill>
                  <a:prstClr val="black"/>
                </a:solidFill>
                <a:cs typeface="Times New Roman" pitchFamily="18" charset="0"/>
                <a:sym typeface="Symbol"/>
              </a:rPr>
              <a:t>, is the threshold below which the p-value is deemed small enough to reject the null hypothesis</a:t>
            </a:r>
          </a:p>
          <a:p>
            <a:endParaRPr lang="en-US" dirty="0">
              <a:solidFill>
                <a:prstClr val="black"/>
              </a:solidFill>
              <a:cs typeface="Times New Roman" pitchFamily="18" charset="0"/>
              <a:sym typeface="Symbol"/>
            </a:endParaRPr>
          </a:p>
          <a:p>
            <a:pPr marL="0" indent="0">
              <a:buNone/>
            </a:pPr>
            <a:endParaRPr lang="en-US" dirty="0">
              <a:solidFill>
                <a:prstClr val="black"/>
              </a:solidFill>
              <a:cs typeface="Times New Roman" pitchFamily="18" charset="0"/>
              <a:sym typeface="Symbol"/>
            </a:endParaRPr>
          </a:p>
          <a:p>
            <a:endParaRPr lang="en-US" dirty="0">
              <a:solidFill>
                <a:prstClr val="black"/>
              </a:solidFill>
              <a:cs typeface="Times New Roman" pitchFamily="18" charset="0"/>
              <a:sym typeface="Symbol"/>
            </a:endParaRPr>
          </a:p>
          <a:p>
            <a:endParaRPr lang="en-US" dirty="0"/>
          </a:p>
        </p:txBody>
      </p:sp>
      <p:sp>
        <p:nvSpPr>
          <p:cNvPr id="7" name="Content Placeholder 2"/>
          <p:cNvSpPr>
            <a:spLocks noGrp="1"/>
          </p:cNvSpPr>
          <p:nvPr>
            <p:ph idx="1"/>
          </p:nvPr>
        </p:nvSpPr>
        <p:spPr>
          <a:xfrm>
            <a:off x="457200" y="3352800"/>
            <a:ext cx="8229600" cy="1676400"/>
          </a:xfrm>
        </p:spPr>
        <p:txBody>
          <a:bodyPr>
            <a:normAutofit/>
          </a:bodyPr>
          <a:lstStyle/>
          <a:p>
            <a:pPr algn="l">
              <a:spcAft>
                <a:spcPts val="0"/>
              </a:spcAft>
            </a:pPr>
            <a:r>
              <a:rPr lang="en-US" dirty="0"/>
              <a:t>	</a:t>
            </a:r>
            <a:r>
              <a:rPr lang="en-US" sz="3600" dirty="0"/>
              <a:t>p-value &lt; </a:t>
            </a:r>
            <a:r>
              <a:rPr lang="en-US" sz="3600" dirty="0">
                <a:sym typeface="Symbol" pitchFamily="18" charset="2"/>
              </a:rPr>
              <a:t> 	 	Reject H</a:t>
            </a:r>
            <a:r>
              <a:rPr lang="en-US" sz="3600" baseline="-25000" dirty="0">
                <a:sym typeface="Symbol" pitchFamily="18" charset="2"/>
              </a:rPr>
              <a:t>0</a:t>
            </a:r>
          </a:p>
          <a:p>
            <a:pPr algn="l">
              <a:spcAft>
                <a:spcPts val="0"/>
              </a:spcAft>
            </a:pPr>
            <a:r>
              <a:rPr lang="en-US" sz="3600" dirty="0"/>
              <a:t>	p-value </a:t>
            </a:r>
            <a:r>
              <a:rPr lang="en-US" sz="3600" u="sng" dirty="0"/>
              <a:t>&gt;</a:t>
            </a:r>
            <a:r>
              <a:rPr lang="en-US" sz="3600" dirty="0"/>
              <a:t> </a:t>
            </a:r>
            <a:r>
              <a:rPr lang="en-US" sz="3600" dirty="0">
                <a:sym typeface="Symbol" pitchFamily="18" charset="2"/>
              </a:rPr>
              <a:t>	  	Do not Reject H</a:t>
            </a:r>
            <a:r>
              <a:rPr lang="en-US" sz="3600" baseline="-25000" dirty="0">
                <a:sym typeface="Symbol" pitchFamily="18" charset="2"/>
              </a:rPr>
              <a:t>0</a:t>
            </a:r>
            <a:endParaRPr lang="en-US" sz="3600" dirty="0"/>
          </a:p>
        </p:txBody>
      </p:sp>
    </p:spTree>
    <p:custDataLst>
      <p:tags r:id="rId1"/>
    </p:custDataLst>
    <p:extLst>
      <p:ext uri="{BB962C8B-B14F-4D97-AF65-F5344CB8AC3E}">
        <p14:creationId xmlns:p14="http://schemas.microsoft.com/office/powerpoint/2010/main" val="378278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Significance Level</a:t>
            </a:r>
          </a:p>
        </p:txBody>
      </p:sp>
      <p:sp>
        <p:nvSpPr>
          <p:cNvPr id="4" name="Content Placeholder 3"/>
          <p:cNvSpPr>
            <a:spLocks noGrp="1"/>
          </p:cNvSpPr>
          <p:nvPr>
            <p:ph idx="10"/>
          </p:nvPr>
        </p:nvSpPr>
        <p:spPr>
          <a:xfrm>
            <a:off x="0" y="1524000"/>
            <a:ext cx="9144000" cy="5257800"/>
          </a:xfrm>
        </p:spPr>
        <p:txBody>
          <a:bodyPr>
            <a:normAutofit/>
          </a:bodyPr>
          <a:lstStyle/>
          <a:p>
            <a:r>
              <a:rPr lang="en-US" dirty="0">
                <a:cs typeface="Times New Roman" pitchFamily="18" charset="0"/>
                <a:sym typeface="Symbol"/>
              </a:rPr>
              <a:t>If the p-value is </a:t>
            </a:r>
            <a:r>
              <a:rPr lang="en-US" b="1" i="1" dirty="0">
                <a:solidFill>
                  <a:srgbClr val="B14013"/>
                </a:solidFill>
                <a:cs typeface="Times New Roman" pitchFamily="18" charset="0"/>
                <a:sym typeface="Symbol"/>
              </a:rPr>
              <a:t>less than </a:t>
            </a:r>
            <a:r>
              <a:rPr lang="en-US" dirty="0">
                <a:cs typeface="Times New Roman" pitchFamily="18" charset="0"/>
                <a:sym typeface="Symbol"/>
              </a:rPr>
              <a:t>, the results are </a:t>
            </a:r>
            <a:r>
              <a:rPr lang="en-US" b="1" i="1" dirty="0">
                <a:solidFill>
                  <a:srgbClr val="B14013"/>
                </a:solidFill>
                <a:cs typeface="Times New Roman" pitchFamily="18" charset="0"/>
                <a:sym typeface="Symbol"/>
              </a:rPr>
              <a:t>statistically significant</a:t>
            </a:r>
            <a:r>
              <a:rPr lang="en-US" dirty="0">
                <a:cs typeface="Times New Roman" pitchFamily="18" charset="0"/>
                <a:sym typeface="Symbol"/>
              </a:rPr>
              <a:t>, and we reject the null hypothesis in favor of the alternative</a:t>
            </a:r>
          </a:p>
          <a:p>
            <a:r>
              <a:rPr lang="en-US" dirty="0">
                <a:cs typeface="Times New Roman" pitchFamily="18" charset="0"/>
                <a:sym typeface="Symbol"/>
              </a:rPr>
              <a:t>If the p-value is </a:t>
            </a:r>
            <a:r>
              <a:rPr lang="en-US" b="1" i="1" dirty="0">
                <a:solidFill>
                  <a:srgbClr val="B14013"/>
                </a:solidFill>
                <a:cs typeface="Times New Roman" pitchFamily="18" charset="0"/>
                <a:sym typeface="Symbol"/>
              </a:rPr>
              <a:t>not</a:t>
            </a:r>
            <a:r>
              <a:rPr lang="en-US" dirty="0">
                <a:cs typeface="Times New Roman" pitchFamily="18" charset="0"/>
                <a:sym typeface="Symbol"/>
              </a:rPr>
              <a:t> less than , the results are </a:t>
            </a:r>
            <a:r>
              <a:rPr lang="en-US" b="1" i="1" dirty="0">
                <a:solidFill>
                  <a:srgbClr val="B14013"/>
                </a:solidFill>
                <a:cs typeface="Times New Roman" pitchFamily="18" charset="0"/>
                <a:sym typeface="Symbol"/>
              </a:rPr>
              <a:t>not </a:t>
            </a:r>
            <a:r>
              <a:rPr lang="en-US" dirty="0">
                <a:cs typeface="Times New Roman" pitchFamily="18" charset="0"/>
                <a:sym typeface="Symbol"/>
              </a:rPr>
              <a:t>statistically significant, and our test is inconclusive</a:t>
            </a:r>
          </a:p>
          <a:p>
            <a:r>
              <a:rPr lang="en-US" dirty="0">
                <a:cs typeface="Times New Roman" pitchFamily="18" charset="0"/>
                <a:sym typeface="Symbol"/>
              </a:rPr>
              <a:t>Often  = 0.05 by default, unless otherwise specified</a:t>
            </a:r>
          </a:p>
          <a:p>
            <a:pPr marL="0" indent="0">
              <a:buNone/>
            </a:pPr>
            <a:endParaRPr lang="en-US" dirty="0">
              <a:solidFill>
                <a:prstClr val="black"/>
              </a:solidFill>
              <a:cs typeface="Times New Roman" pitchFamily="18" charset="0"/>
            </a:endParaRPr>
          </a:p>
          <a:p>
            <a:endParaRPr lang="en-US" dirty="0"/>
          </a:p>
        </p:txBody>
      </p:sp>
    </p:spTree>
    <p:custDataLst>
      <p:tags r:id="rId1"/>
    </p:custDataLst>
    <p:extLst>
      <p:ext uri="{BB962C8B-B14F-4D97-AF65-F5344CB8AC3E}">
        <p14:creationId xmlns:p14="http://schemas.microsoft.com/office/powerpoint/2010/main" val="211787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49998" y="609600"/>
            <a:ext cx="3352800" cy="762000"/>
          </a:xfrm>
          <a:prstGeom prst="roundRect">
            <a:avLst/>
          </a:prstGeom>
          <a:solidFill>
            <a:schemeClr val="accent1">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3600" dirty="0"/>
              <a:t>p-value &lt; α</a:t>
            </a:r>
          </a:p>
        </p:txBody>
      </p:sp>
      <p:sp>
        <p:nvSpPr>
          <p:cNvPr id="10" name="Rounded Rectangle 9"/>
          <p:cNvSpPr/>
          <p:nvPr/>
        </p:nvSpPr>
        <p:spPr>
          <a:xfrm>
            <a:off x="533400" y="1905000"/>
            <a:ext cx="3352800" cy="9144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rPr>
              <a:t>Results would be rare, if the null were true</a:t>
            </a:r>
          </a:p>
        </p:txBody>
      </p:sp>
      <p:sp>
        <p:nvSpPr>
          <p:cNvPr id="11" name="Rounded Rectangle 10"/>
          <p:cNvSpPr/>
          <p:nvPr/>
        </p:nvSpPr>
        <p:spPr>
          <a:xfrm>
            <a:off x="533400" y="3429000"/>
            <a:ext cx="3352800" cy="5334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rPr>
              <a:t>Reject H</a:t>
            </a:r>
            <a:r>
              <a:rPr lang="en-US" sz="2400" b="1" baseline="-25000" dirty="0">
                <a:solidFill>
                  <a:schemeClr val="accent1">
                    <a:lumMod val="50000"/>
                  </a:schemeClr>
                </a:solidFill>
              </a:rPr>
              <a:t>0</a:t>
            </a:r>
            <a:endParaRPr lang="en-US" sz="2400" b="1" dirty="0">
              <a:solidFill>
                <a:schemeClr val="accent1">
                  <a:lumMod val="50000"/>
                </a:schemeClr>
              </a:solidFill>
            </a:endParaRPr>
          </a:p>
        </p:txBody>
      </p:sp>
      <p:sp>
        <p:nvSpPr>
          <p:cNvPr id="12" name="Rounded Rectangle 11"/>
          <p:cNvSpPr/>
          <p:nvPr/>
        </p:nvSpPr>
        <p:spPr>
          <a:xfrm>
            <a:off x="533400" y="4572000"/>
            <a:ext cx="3352800" cy="17526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rPr>
              <a:t>We have </a:t>
            </a:r>
            <a:r>
              <a:rPr lang="en-US" sz="2400" b="1" dirty="0">
                <a:solidFill>
                  <a:srgbClr val="00B050"/>
                </a:solidFill>
              </a:rPr>
              <a:t>statistically significant </a:t>
            </a:r>
            <a:r>
              <a:rPr lang="en-US" sz="2400" b="1" dirty="0">
                <a:solidFill>
                  <a:schemeClr val="accent1">
                    <a:lumMod val="50000"/>
                  </a:schemeClr>
                </a:solidFill>
              </a:rPr>
              <a:t>evidence that the alternative is true!</a:t>
            </a:r>
          </a:p>
        </p:txBody>
      </p:sp>
      <p:cxnSp>
        <p:nvCxnSpPr>
          <p:cNvPr id="13" name="Straight Arrow Connector 12"/>
          <p:cNvCxnSpPr>
            <a:stCxn id="10" idx="2"/>
            <a:endCxn id="11" idx="0"/>
          </p:cNvCxnSpPr>
          <p:nvPr/>
        </p:nvCxnSpPr>
        <p:spPr>
          <a:xfrm>
            <a:off x="2209800" y="2819400"/>
            <a:ext cx="0" cy="6096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11" idx="2"/>
          </p:cNvCxnSpPr>
          <p:nvPr/>
        </p:nvCxnSpPr>
        <p:spPr>
          <a:xfrm>
            <a:off x="2209800" y="3962400"/>
            <a:ext cx="0" cy="6096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4" idx="2"/>
            <a:endCxn id="10" idx="0"/>
          </p:cNvCxnSpPr>
          <p:nvPr/>
        </p:nvCxnSpPr>
        <p:spPr>
          <a:xfrm flipH="1">
            <a:off x="2209800" y="1371600"/>
            <a:ext cx="16598" cy="5334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5029200" y="609600"/>
            <a:ext cx="3581400" cy="762000"/>
          </a:xfrm>
          <a:prstGeom prst="roundRect">
            <a:avLst/>
          </a:prstGeom>
          <a:solidFill>
            <a:schemeClr val="accent1">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3600" dirty="0"/>
              <a:t>p-value ≥ α</a:t>
            </a:r>
          </a:p>
        </p:txBody>
      </p:sp>
      <p:sp>
        <p:nvSpPr>
          <p:cNvPr id="53" name="Rounded Rectangle 52"/>
          <p:cNvSpPr/>
          <p:nvPr/>
        </p:nvSpPr>
        <p:spPr>
          <a:xfrm>
            <a:off x="5029200" y="1905000"/>
            <a:ext cx="3581400" cy="9144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rPr>
              <a:t>Results would not be rare, if the null were true</a:t>
            </a:r>
          </a:p>
        </p:txBody>
      </p:sp>
      <p:sp>
        <p:nvSpPr>
          <p:cNvPr id="54" name="Rounded Rectangle 53"/>
          <p:cNvSpPr/>
          <p:nvPr/>
        </p:nvSpPr>
        <p:spPr>
          <a:xfrm>
            <a:off x="5105400" y="3429000"/>
            <a:ext cx="3429000" cy="5334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rPr>
              <a:t>Do not reject H</a:t>
            </a:r>
            <a:r>
              <a:rPr lang="en-US" sz="2400" b="1" baseline="-25000" dirty="0">
                <a:solidFill>
                  <a:schemeClr val="accent1">
                    <a:lumMod val="50000"/>
                  </a:schemeClr>
                </a:solidFill>
              </a:rPr>
              <a:t>0</a:t>
            </a:r>
            <a:endParaRPr lang="en-US" sz="2400" b="1" dirty="0">
              <a:solidFill>
                <a:schemeClr val="accent1">
                  <a:lumMod val="50000"/>
                </a:schemeClr>
              </a:solidFill>
            </a:endParaRPr>
          </a:p>
        </p:txBody>
      </p:sp>
      <p:sp>
        <p:nvSpPr>
          <p:cNvPr id="55" name="Rounded Rectangle 54"/>
          <p:cNvSpPr/>
          <p:nvPr/>
        </p:nvSpPr>
        <p:spPr>
          <a:xfrm>
            <a:off x="5105400" y="4724400"/>
            <a:ext cx="3429000" cy="16002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dirty="0">
                <a:solidFill>
                  <a:schemeClr val="accent1">
                    <a:lumMod val="50000"/>
                  </a:schemeClr>
                </a:solidFill>
                <a:sym typeface="Symbol"/>
              </a:rPr>
              <a:t>The results are </a:t>
            </a:r>
            <a:r>
              <a:rPr lang="en-US" sz="2400" b="1" dirty="0">
                <a:solidFill>
                  <a:schemeClr val="accent2">
                    <a:lumMod val="75000"/>
                  </a:schemeClr>
                </a:solidFill>
                <a:sym typeface="Symbol"/>
              </a:rPr>
              <a:t>not statistically significant</a:t>
            </a:r>
            <a:r>
              <a:rPr lang="en-US" sz="2400" b="1" dirty="0">
                <a:solidFill>
                  <a:schemeClr val="accent1">
                    <a:lumMod val="50000"/>
                  </a:schemeClr>
                </a:solidFill>
                <a:sym typeface="Symbol"/>
              </a:rPr>
              <a:t>.</a:t>
            </a:r>
            <a:r>
              <a:rPr lang="en-US" sz="2400" b="1" dirty="0">
                <a:solidFill>
                  <a:schemeClr val="accent2">
                    <a:lumMod val="75000"/>
                  </a:schemeClr>
                </a:solidFill>
                <a:sym typeface="Symbol"/>
              </a:rPr>
              <a:t> </a:t>
            </a:r>
            <a:r>
              <a:rPr lang="en-US" sz="2400" b="1" dirty="0">
                <a:solidFill>
                  <a:schemeClr val="accent1">
                    <a:lumMod val="50000"/>
                  </a:schemeClr>
                </a:solidFill>
              </a:rPr>
              <a:t>Our test is </a:t>
            </a:r>
            <a:r>
              <a:rPr lang="en-US" sz="2400" b="1" u="sng" dirty="0">
                <a:solidFill>
                  <a:schemeClr val="accent1">
                    <a:lumMod val="50000"/>
                  </a:schemeClr>
                </a:solidFill>
              </a:rPr>
              <a:t>inconclusive</a:t>
            </a:r>
            <a:r>
              <a:rPr lang="en-US" sz="2400" b="1" dirty="0">
                <a:solidFill>
                  <a:schemeClr val="accent1">
                    <a:lumMod val="50000"/>
                  </a:schemeClr>
                </a:solidFill>
              </a:rPr>
              <a:t>.</a:t>
            </a:r>
          </a:p>
        </p:txBody>
      </p:sp>
      <p:cxnSp>
        <p:nvCxnSpPr>
          <p:cNvPr id="56" name="Straight Arrow Connector 55"/>
          <p:cNvCxnSpPr>
            <a:stCxn id="53" idx="2"/>
            <a:endCxn id="54" idx="0"/>
          </p:cNvCxnSpPr>
          <p:nvPr/>
        </p:nvCxnSpPr>
        <p:spPr>
          <a:xfrm>
            <a:off x="6819900" y="2819400"/>
            <a:ext cx="0" cy="6096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stCxn id="54" idx="2"/>
            <a:endCxn id="55" idx="0"/>
          </p:cNvCxnSpPr>
          <p:nvPr/>
        </p:nvCxnSpPr>
        <p:spPr>
          <a:xfrm>
            <a:off x="6819900" y="3962400"/>
            <a:ext cx="0" cy="7620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stCxn id="52" idx="2"/>
            <a:endCxn id="53" idx="0"/>
          </p:cNvCxnSpPr>
          <p:nvPr/>
        </p:nvCxnSpPr>
        <p:spPr>
          <a:xfrm>
            <a:off x="6819900" y="1371600"/>
            <a:ext cx="0" cy="5334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80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up)">
                                      <p:cBhvr>
                                        <p:cTn id="14" dur="500"/>
                                        <p:tgtEl>
                                          <p:spTgt spid="44"/>
                                        </p:tgtEl>
                                      </p:cBhvr>
                                    </p:animEffect>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dissolv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anim calcmode="lin" valueType="num">
                                      <p:cBhvr>
                                        <p:cTn id="41" dur="500" fill="hold"/>
                                        <p:tgtEl>
                                          <p:spTgt spid="52"/>
                                        </p:tgtEl>
                                        <p:attrNameLst>
                                          <p:attrName>ppt_w</p:attrName>
                                        </p:attrNameLst>
                                      </p:cBhvr>
                                      <p:tavLst>
                                        <p:tav tm="0">
                                          <p:val>
                                            <p:fltVal val="0"/>
                                          </p:val>
                                        </p:tav>
                                        <p:tav tm="100000">
                                          <p:val>
                                            <p:strVal val="#ppt_w"/>
                                          </p:val>
                                        </p:tav>
                                      </p:tavLst>
                                    </p:anim>
                                    <p:anim calcmode="lin" valueType="num">
                                      <p:cBhvr>
                                        <p:cTn id="42" dur="500" fill="hold"/>
                                        <p:tgtEl>
                                          <p:spTgt spid="52"/>
                                        </p:tgtEl>
                                        <p:attrNameLst>
                                          <p:attrName>ppt_h</p:attrName>
                                        </p:attrNameLst>
                                      </p:cBhvr>
                                      <p:tavLst>
                                        <p:tav tm="0">
                                          <p:val>
                                            <p:fltVal val="0"/>
                                          </p:val>
                                        </p:tav>
                                        <p:tav tm="100000">
                                          <p:val>
                                            <p:strVal val="#ppt_h"/>
                                          </p:val>
                                        </p:tav>
                                      </p:tavLst>
                                    </p:anim>
                                    <p:animEffect transition="in" filter="fade">
                                      <p:cBhvr>
                                        <p:cTn id="43" dur="500"/>
                                        <p:tgtEl>
                                          <p:spTgt spid="5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8"/>
                                        </p:tgtEl>
                                        <p:attrNameLst>
                                          <p:attrName>style.visibility</p:attrName>
                                        </p:attrNameLst>
                                      </p:cBhvr>
                                      <p:to>
                                        <p:strVal val="visible"/>
                                      </p:to>
                                    </p:set>
                                    <p:animEffect transition="in" filter="wipe(up)">
                                      <p:cBhvr>
                                        <p:cTn id="48" dur="500"/>
                                        <p:tgtEl>
                                          <p:spTgt spid="58"/>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dissolve">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wipe(up)">
                                      <p:cBhvr>
                                        <p:cTn id="57" dur="500"/>
                                        <p:tgtEl>
                                          <p:spTgt spid="56"/>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dissolve">
                                      <p:cBhvr>
                                        <p:cTn id="61" dur="500"/>
                                        <p:tgtEl>
                                          <p:spTgt spid="5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wipe(up)">
                                      <p:cBhvr>
                                        <p:cTn id="66" dur="500"/>
                                        <p:tgtEl>
                                          <p:spTgt spid="57"/>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dissolve">
                                      <p:cBhvr>
                                        <p:cTn id="7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52" grpId="0" animBg="1"/>
      <p:bldP spid="53" grpId="0" animBg="1"/>
      <p:bldP spid="54" grpId="0" animBg="1"/>
      <p:bldP spid="5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7618" name="Picture 2" descr="http://yourselfcentre.files.wordpress.com/2011/11/lg_963.jpg"/>
          <p:cNvPicPr>
            <a:picLocks noChangeAspect="1" noChangeArrowheads="1"/>
          </p:cNvPicPr>
          <p:nvPr/>
        </p:nvPicPr>
        <p:blipFill>
          <a:blip r:embed="rId3" cstate="print"/>
          <a:srcRect l="20000"/>
          <a:stretch>
            <a:fillRect/>
          </a:stretch>
        </p:blipFill>
        <p:spPr bwMode="auto">
          <a:xfrm>
            <a:off x="5719233" y="4343400"/>
            <a:ext cx="1598420" cy="1998025"/>
          </a:xfrm>
          <a:prstGeom prst="rect">
            <a:avLst/>
          </a:prstGeom>
          <a:noFill/>
        </p:spPr>
      </p:pic>
      <p:sp>
        <p:nvSpPr>
          <p:cNvPr id="4" name="TextBox 3"/>
          <p:cNvSpPr txBox="1"/>
          <p:nvPr/>
        </p:nvSpPr>
        <p:spPr>
          <a:xfrm>
            <a:off x="4688" y="954258"/>
            <a:ext cx="9139311" cy="4570482"/>
          </a:xfrm>
          <a:prstGeom prst="rect">
            <a:avLst/>
          </a:prstGeom>
          <a:noFill/>
        </p:spPr>
        <p:txBody>
          <a:bodyPr wrap="square" rtlCol="0">
            <a:spAutoFit/>
          </a:bodyPr>
          <a:lstStyle/>
          <a:p>
            <a:pPr>
              <a:spcAft>
                <a:spcPts val="2400"/>
              </a:spcAft>
              <a:buClr>
                <a:schemeClr val="accent1"/>
              </a:buClr>
              <a:buFont typeface="Arial" pitchFamily="34" charset="0"/>
              <a:buChar char="•"/>
            </a:pPr>
            <a:r>
              <a:rPr lang="en-US" sz="3200" dirty="0">
                <a:solidFill>
                  <a:prstClr val="black"/>
                </a:solidFill>
                <a:cs typeface="Times New Roman" pitchFamily="18" charset="0"/>
              </a:rPr>
              <a:t> </a:t>
            </a:r>
            <a:r>
              <a:rPr lang="en-US" sz="3200" dirty="0">
                <a:solidFill>
                  <a:schemeClr val="accent6">
                    <a:lumMod val="50000"/>
                  </a:schemeClr>
                </a:solidFill>
                <a:cs typeface="Times New Roman" pitchFamily="18" charset="0"/>
              </a:rPr>
              <a:t>Resveratrol, an ingredient in red wine and grapes, has been shown to promote weight loss in rodents, and has recently been investigated in primates (specifically, the Grey Mouse Lemur).</a:t>
            </a:r>
          </a:p>
          <a:p>
            <a:pPr>
              <a:spcAft>
                <a:spcPts val="1800"/>
              </a:spcAft>
              <a:buClr>
                <a:schemeClr val="accent1"/>
              </a:buClr>
              <a:buFont typeface="Arial" pitchFamily="34" charset="0"/>
              <a:buChar char="•"/>
            </a:pPr>
            <a:r>
              <a:rPr lang="en-US" sz="3200" dirty="0">
                <a:solidFill>
                  <a:schemeClr val="accent6">
                    <a:lumMod val="50000"/>
                  </a:schemeClr>
                </a:solidFill>
                <a:cs typeface="Times New Roman" pitchFamily="18" charset="0"/>
              </a:rPr>
              <a:t> A sample of lemurs had various measurements taken before and after receiving resveratrol supplementation for 4 weeks</a:t>
            </a:r>
          </a:p>
          <a:p>
            <a:pPr>
              <a:spcAft>
                <a:spcPts val="1800"/>
              </a:spcAft>
              <a:buFont typeface="Arial" pitchFamily="34" charset="0"/>
              <a:buChar char="•"/>
            </a:pPr>
            <a:endParaRPr lang="en-US" sz="3200" dirty="0">
              <a:solidFill>
                <a:prstClr val="black"/>
              </a:solidFill>
              <a:cs typeface="Times New Roman" pitchFamily="18" charset="0"/>
            </a:endParaRPr>
          </a:p>
        </p:txBody>
      </p:sp>
      <p:sp>
        <p:nvSpPr>
          <p:cNvPr id="3" name="Title 1"/>
          <p:cNvSpPr txBox="1">
            <a:spLocks/>
          </p:cNvSpPr>
          <p:nvPr/>
        </p:nvSpPr>
        <p:spPr>
          <a:xfrm>
            <a:off x="495300" y="152400"/>
            <a:ext cx="8153400" cy="1219200"/>
          </a:xfrm>
          <a:prstGeom prst="rect">
            <a:avLst/>
          </a:prstGeom>
        </p:spPr>
        <p:txBody>
          <a:bodyPr/>
          <a:lstStyle/>
          <a:p>
            <a:pPr lvl="0" algn="ctr">
              <a:spcBef>
                <a:spcPct val="0"/>
              </a:spcBef>
              <a:defRPr/>
            </a:pPr>
            <a:r>
              <a:rPr lang="en-US" sz="4400" b="1" dirty="0">
                <a:solidFill>
                  <a:schemeClr val="tx2"/>
                </a:solidFill>
              </a:rPr>
              <a:t>Red Wine and Weight Loss</a:t>
            </a:r>
            <a:endParaRPr lang="en-US" sz="4000" b="1" dirty="0">
              <a:solidFill>
                <a:schemeClr val="tx2"/>
              </a:solidFill>
            </a:endParaRPr>
          </a:p>
        </p:txBody>
      </p:sp>
      <p:pic>
        <p:nvPicPr>
          <p:cNvPr id="346114" name="Picture 2" descr="http://pin.primate.wisc.edu/fs/sheets/images/204lg.jpg"/>
          <p:cNvPicPr>
            <a:picLocks noChangeAspect="1" noChangeArrowheads="1"/>
          </p:cNvPicPr>
          <p:nvPr/>
        </p:nvPicPr>
        <p:blipFill>
          <a:blip r:embed="rId4" cstate="print"/>
          <a:srcRect l="18401" r="13253" b="30769"/>
          <a:stretch>
            <a:fillRect/>
          </a:stretch>
        </p:blipFill>
        <p:spPr bwMode="auto">
          <a:xfrm>
            <a:off x="7010400" y="4343400"/>
            <a:ext cx="1905000" cy="1978269"/>
          </a:xfrm>
          <a:prstGeom prst="rect">
            <a:avLst/>
          </a:prstGeom>
          <a:noFill/>
        </p:spPr>
      </p:pic>
      <p:sp>
        <p:nvSpPr>
          <p:cNvPr id="5" name="TextBox 4"/>
          <p:cNvSpPr txBox="1"/>
          <p:nvPr/>
        </p:nvSpPr>
        <p:spPr>
          <a:xfrm>
            <a:off x="-25791" y="5690015"/>
            <a:ext cx="5943600" cy="1200329"/>
          </a:xfrm>
          <a:prstGeom prst="rect">
            <a:avLst/>
          </a:prstGeom>
          <a:noFill/>
        </p:spPr>
        <p:txBody>
          <a:bodyPr wrap="square" rtlCol="0">
            <a:spAutoFit/>
          </a:bodyPr>
          <a:lstStyle/>
          <a:p>
            <a:r>
              <a:rPr lang="en-US" sz="2400" dirty="0">
                <a:solidFill>
                  <a:prstClr val="black"/>
                </a:solidFill>
                <a:cs typeface="Times New Roman" pitchFamily="18" charset="0"/>
              </a:rPr>
              <a:t>BioMed Central (2010, June 22).  “Lemurs lose weight with ‘life-extending’ supplement resveratrol.  Science Daily.</a:t>
            </a:r>
            <a:endParaRPr lang="en-US" sz="2400" dirty="0"/>
          </a:p>
        </p:txBody>
      </p:sp>
    </p:spTree>
    <p:custDataLst>
      <p:tags r:id="rId1"/>
    </p:custDataLst>
    <p:extLst>
      <p:ext uri="{BB962C8B-B14F-4D97-AF65-F5344CB8AC3E}">
        <p14:creationId xmlns:p14="http://schemas.microsoft.com/office/powerpoint/2010/main" val="351249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2438400"/>
          </a:xfrm>
        </p:spPr>
        <p:txBody>
          <a:bodyPr>
            <a:normAutofit/>
          </a:bodyPr>
          <a:lstStyle/>
          <a:p>
            <a:r>
              <a:rPr lang="en-US" sz="3200" dirty="0">
                <a:cs typeface="Times New Roman" pitchFamily="18" charset="0"/>
              </a:rPr>
              <a:t>In the test to see if the mean resting metabolic rate is higher after treatment, the p-value is 0.013.</a:t>
            </a:r>
            <a:br>
              <a:rPr lang="en-US" sz="3200" dirty="0">
                <a:cs typeface="Times New Roman" pitchFamily="18" charset="0"/>
              </a:rPr>
            </a:br>
            <a:r>
              <a:rPr lang="en-US" sz="3200" dirty="0">
                <a:cs typeface="Times New Roman" pitchFamily="18" charset="0"/>
              </a:rPr>
              <a:t>Using </a:t>
            </a:r>
            <a:r>
              <a:rPr lang="en-US" sz="3200" dirty="0">
                <a:cs typeface="Times New Roman" pitchFamily="18" charset="0"/>
                <a:sym typeface="Symbol"/>
              </a:rPr>
              <a:t> = 0.05, is this difference statistically significant? (should we reject H</a:t>
            </a:r>
            <a:r>
              <a:rPr lang="en-US" sz="3200" baseline="-25000" dirty="0">
                <a:cs typeface="Times New Roman" pitchFamily="18" charset="0"/>
                <a:sym typeface="Symbol"/>
              </a:rPr>
              <a:t>0</a:t>
            </a:r>
            <a:r>
              <a:rPr lang="en-US" sz="3200" dirty="0">
                <a:cs typeface="Times New Roman" pitchFamily="18" charset="0"/>
                <a:sym typeface="Symbol"/>
              </a:rPr>
              <a:t>: no difference?)</a:t>
            </a:r>
          </a:p>
        </p:txBody>
      </p:sp>
      <p:pic>
        <p:nvPicPr>
          <p:cNvPr id="6" name="Picture 2" descr="http://pin.primate.wisc.edu/fs/sheets/images/204lg.jpg"/>
          <p:cNvPicPr>
            <a:picLocks noChangeAspect="1" noChangeArrowheads="1"/>
          </p:cNvPicPr>
          <p:nvPr/>
        </p:nvPicPr>
        <p:blipFill>
          <a:blip r:embed="rId4" cstate="print"/>
          <a:srcRect l="18401" r="13253" b="30769"/>
          <a:stretch>
            <a:fillRect/>
          </a:stretch>
        </p:blipFill>
        <p:spPr bwMode="auto">
          <a:xfrm>
            <a:off x="7467600" y="5125514"/>
            <a:ext cx="1588477" cy="1649572"/>
          </a:xfrm>
          <a:prstGeom prst="rect">
            <a:avLst/>
          </a:prstGeom>
          <a:noFill/>
        </p:spPr>
      </p:pic>
      <p:pic>
        <p:nvPicPr>
          <p:cNvPr id="7" name="Picture 2" descr="http://yourselfcentre.files.wordpress.com/2011/11/lg_963.jpg"/>
          <p:cNvPicPr>
            <a:picLocks noChangeAspect="1" noChangeArrowheads="1"/>
          </p:cNvPicPr>
          <p:nvPr/>
        </p:nvPicPr>
        <p:blipFill>
          <a:blip r:embed="rId5" cstate="print"/>
          <a:srcRect/>
          <a:stretch>
            <a:fillRect/>
          </a:stretch>
        </p:blipFill>
        <p:spPr bwMode="auto">
          <a:xfrm>
            <a:off x="6324600" y="5632086"/>
            <a:ext cx="1143000" cy="1143000"/>
          </a:xfrm>
          <a:prstGeom prst="rect">
            <a:avLst/>
          </a:prstGeom>
          <a:noFill/>
        </p:spPr>
      </p:pic>
      <p:sp>
        <p:nvSpPr>
          <p:cNvPr id="3" name="TPAnswers"/>
          <p:cNvSpPr>
            <a:spLocks noGrp="1"/>
          </p:cNvSpPr>
          <p:nvPr>
            <p:ph idx="4294967295"/>
            <p:custDataLst>
              <p:tags r:id="rId2"/>
            </p:custDataLst>
          </p:nvPr>
        </p:nvSpPr>
        <p:spPr>
          <a:xfrm>
            <a:off x="0" y="2507886"/>
            <a:ext cx="9144000" cy="3124200"/>
          </a:xfrm>
        </p:spPr>
        <p:txBody>
          <a:bodyPr>
            <a:noAutofit/>
          </a:bodyPr>
          <a:lstStyle/>
          <a:p>
            <a:pPr marL="514350" indent="-514350">
              <a:spcBef>
                <a:spcPct val="20000"/>
              </a:spcBef>
              <a:buFont typeface="Wingdings"/>
              <a:buAutoNum type="arabicPeriod"/>
            </a:pPr>
            <a:r>
              <a:rPr lang="en-US" dirty="0"/>
              <a:t>Yes</a:t>
            </a:r>
          </a:p>
          <a:p>
            <a:pPr marL="514350" indent="-514350">
              <a:spcBef>
                <a:spcPct val="20000"/>
              </a:spcBef>
              <a:buFont typeface="Wingdings"/>
              <a:buAutoNum type="arabicPeriod"/>
            </a:pPr>
            <a:r>
              <a:rPr lang="en-US" dirty="0"/>
              <a:t> No</a:t>
            </a:r>
          </a:p>
        </p:txBody>
      </p:sp>
    </p:spTree>
    <p:custDataLst>
      <p:tags r:id="rId1"/>
    </p:custDataLst>
    <p:extLst>
      <p:ext uri="{BB962C8B-B14F-4D97-AF65-F5344CB8AC3E}">
        <p14:creationId xmlns:p14="http://schemas.microsoft.com/office/powerpoint/2010/main" val="2213616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2628" y="152400"/>
            <a:ext cx="9141372" cy="2971800"/>
          </a:xfrm>
        </p:spPr>
        <p:txBody>
          <a:bodyPr>
            <a:normAutofit/>
          </a:bodyPr>
          <a:lstStyle/>
          <a:p>
            <a:r>
              <a:rPr lang="en-US" sz="3200" dirty="0">
                <a:cs typeface="Times New Roman" pitchFamily="18" charset="0"/>
              </a:rPr>
              <a:t>In the test to see if </a:t>
            </a:r>
            <a:r>
              <a:rPr lang="en-US" sz="3200" dirty="0" err="1">
                <a:cs typeface="Times New Roman" pitchFamily="18" charset="0"/>
              </a:rPr>
              <a:t>locomotor</a:t>
            </a:r>
            <a:r>
              <a:rPr lang="en-US" sz="3200" dirty="0">
                <a:cs typeface="Times New Roman" pitchFamily="18" charset="0"/>
              </a:rPr>
              <a:t> activity changes after treatment, the p-value is 0.980.</a:t>
            </a:r>
            <a:br>
              <a:rPr lang="en-US" sz="3200" dirty="0">
                <a:cs typeface="Times New Roman" pitchFamily="18" charset="0"/>
              </a:rPr>
            </a:br>
            <a:r>
              <a:rPr lang="en-US" sz="3200" dirty="0">
                <a:cs typeface="Times New Roman" pitchFamily="18" charset="0"/>
              </a:rPr>
              <a:t>Using </a:t>
            </a:r>
            <a:r>
              <a:rPr lang="en-US" sz="3200" dirty="0">
                <a:cs typeface="Times New Roman" pitchFamily="18" charset="0"/>
                <a:sym typeface="Symbol"/>
              </a:rPr>
              <a:t> = 0.05, is this difference statistically significant? (should we reject H</a:t>
            </a:r>
            <a:r>
              <a:rPr lang="en-US" sz="3200" baseline="-25000" dirty="0">
                <a:cs typeface="Times New Roman" pitchFamily="18" charset="0"/>
                <a:sym typeface="Symbol"/>
              </a:rPr>
              <a:t>0</a:t>
            </a:r>
            <a:r>
              <a:rPr lang="en-US" sz="3200" dirty="0">
                <a:cs typeface="Times New Roman" pitchFamily="18" charset="0"/>
                <a:sym typeface="Symbol"/>
              </a:rPr>
              <a:t>: no difference?)</a:t>
            </a:r>
          </a:p>
        </p:txBody>
      </p:sp>
      <p:pic>
        <p:nvPicPr>
          <p:cNvPr id="6" name="Picture 2" descr="http://pin.primate.wisc.edu/fs/sheets/images/204lg.jpg"/>
          <p:cNvPicPr>
            <a:picLocks noChangeAspect="1" noChangeArrowheads="1"/>
          </p:cNvPicPr>
          <p:nvPr/>
        </p:nvPicPr>
        <p:blipFill>
          <a:blip r:embed="rId4" cstate="print"/>
          <a:srcRect l="18401" r="13253" b="30769"/>
          <a:stretch>
            <a:fillRect/>
          </a:stretch>
        </p:blipFill>
        <p:spPr bwMode="auto">
          <a:xfrm>
            <a:off x="7391400" y="5083830"/>
            <a:ext cx="1600200" cy="1661746"/>
          </a:xfrm>
          <a:prstGeom prst="rect">
            <a:avLst/>
          </a:prstGeom>
          <a:noFill/>
        </p:spPr>
      </p:pic>
      <p:pic>
        <p:nvPicPr>
          <p:cNvPr id="7" name="Picture 2" descr="http://yourselfcentre.files.wordpress.com/2011/11/lg_963.jpg"/>
          <p:cNvPicPr>
            <a:picLocks noChangeAspect="1" noChangeArrowheads="1"/>
          </p:cNvPicPr>
          <p:nvPr/>
        </p:nvPicPr>
        <p:blipFill>
          <a:blip r:embed="rId5" cstate="print"/>
          <a:srcRect/>
          <a:stretch>
            <a:fillRect/>
          </a:stretch>
        </p:blipFill>
        <p:spPr bwMode="auto">
          <a:xfrm>
            <a:off x="6248400" y="5602576"/>
            <a:ext cx="1143000" cy="1143000"/>
          </a:xfrm>
          <a:prstGeom prst="rect">
            <a:avLst/>
          </a:prstGeom>
          <a:noFill/>
        </p:spPr>
      </p:pic>
      <p:sp>
        <p:nvSpPr>
          <p:cNvPr id="3" name="TPAnswers"/>
          <p:cNvSpPr>
            <a:spLocks noGrp="1"/>
          </p:cNvSpPr>
          <p:nvPr>
            <p:ph idx="4294967295"/>
            <p:custDataLst>
              <p:tags r:id="rId2"/>
            </p:custDataLst>
          </p:nvPr>
        </p:nvSpPr>
        <p:spPr>
          <a:xfrm>
            <a:off x="26276" y="2667000"/>
            <a:ext cx="2259724" cy="1251972"/>
          </a:xfrm>
        </p:spPr>
        <p:txBody>
          <a:bodyPr>
            <a:noAutofit/>
          </a:bodyPr>
          <a:lstStyle/>
          <a:p>
            <a:pPr marL="514350" indent="-514350">
              <a:spcBef>
                <a:spcPct val="20000"/>
              </a:spcBef>
              <a:buFont typeface="Wingdings"/>
              <a:buAutoNum type="arabicPeriod"/>
            </a:pPr>
            <a:r>
              <a:rPr lang="en-US" dirty="0"/>
              <a:t>Yes</a:t>
            </a:r>
          </a:p>
          <a:p>
            <a:pPr marL="514350" indent="-514350">
              <a:spcBef>
                <a:spcPct val="20000"/>
              </a:spcBef>
              <a:buFont typeface="Wingdings"/>
              <a:buAutoNum type="arabicPeriod"/>
            </a:pPr>
            <a:r>
              <a:rPr lang="en-US" dirty="0"/>
              <a:t> No</a:t>
            </a:r>
          </a:p>
        </p:txBody>
      </p:sp>
    </p:spTree>
    <p:custDataLst>
      <p:tags r:id="rId1"/>
    </p:custDataLst>
    <p:extLst>
      <p:ext uri="{BB962C8B-B14F-4D97-AF65-F5344CB8AC3E}">
        <p14:creationId xmlns:p14="http://schemas.microsoft.com/office/powerpoint/2010/main" val="438013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2667000"/>
          </a:xfrm>
        </p:spPr>
        <p:txBody>
          <a:bodyPr>
            <a:normAutofit/>
          </a:bodyPr>
          <a:lstStyle/>
          <a:p>
            <a:r>
              <a:rPr lang="en-US" sz="3200" dirty="0">
                <a:cs typeface="Times New Roman" pitchFamily="18" charset="0"/>
              </a:rPr>
              <a:t>In the test to see if mean food intake changes after treatment, the p-value is 0.035.</a:t>
            </a:r>
            <a:br>
              <a:rPr lang="en-US" sz="3200" dirty="0">
                <a:cs typeface="Times New Roman" pitchFamily="18" charset="0"/>
              </a:rPr>
            </a:br>
            <a:r>
              <a:rPr lang="en-US" sz="3200" dirty="0">
                <a:cs typeface="Times New Roman" pitchFamily="18" charset="0"/>
              </a:rPr>
              <a:t>Using </a:t>
            </a:r>
            <a:r>
              <a:rPr lang="en-US" sz="3200" dirty="0">
                <a:cs typeface="Times New Roman" pitchFamily="18" charset="0"/>
                <a:sym typeface="Symbol"/>
              </a:rPr>
              <a:t> = 0.05, is this difference statistically significant? (should we reject H</a:t>
            </a:r>
            <a:r>
              <a:rPr lang="en-US" sz="3200" baseline="-25000" dirty="0">
                <a:cs typeface="Times New Roman" pitchFamily="18" charset="0"/>
                <a:sym typeface="Symbol"/>
              </a:rPr>
              <a:t>0</a:t>
            </a:r>
            <a:r>
              <a:rPr lang="en-US" sz="3200" dirty="0">
                <a:cs typeface="Times New Roman" pitchFamily="18" charset="0"/>
                <a:sym typeface="Symbol"/>
              </a:rPr>
              <a:t>: no difference?)</a:t>
            </a:r>
          </a:p>
        </p:txBody>
      </p:sp>
      <p:pic>
        <p:nvPicPr>
          <p:cNvPr id="6" name="Picture 2" descr="http://pin.primate.wisc.edu/fs/sheets/images/204lg.jpg"/>
          <p:cNvPicPr>
            <a:picLocks noChangeAspect="1" noChangeArrowheads="1"/>
          </p:cNvPicPr>
          <p:nvPr/>
        </p:nvPicPr>
        <p:blipFill>
          <a:blip r:embed="rId4" cstate="print"/>
          <a:srcRect l="18401" r="13253" b="30769"/>
          <a:stretch>
            <a:fillRect/>
          </a:stretch>
        </p:blipFill>
        <p:spPr bwMode="auto">
          <a:xfrm>
            <a:off x="7391400" y="5083830"/>
            <a:ext cx="1600200" cy="1661746"/>
          </a:xfrm>
          <a:prstGeom prst="rect">
            <a:avLst/>
          </a:prstGeom>
          <a:noFill/>
        </p:spPr>
      </p:pic>
      <p:pic>
        <p:nvPicPr>
          <p:cNvPr id="7" name="Picture 2" descr="http://yourselfcentre.files.wordpress.com/2011/11/lg_963.jpg"/>
          <p:cNvPicPr>
            <a:picLocks noChangeAspect="1" noChangeArrowheads="1"/>
          </p:cNvPicPr>
          <p:nvPr/>
        </p:nvPicPr>
        <p:blipFill>
          <a:blip r:embed="rId5" cstate="print"/>
          <a:srcRect/>
          <a:stretch>
            <a:fillRect/>
          </a:stretch>
        </p:blipFill>
        <p:spPr bwMode="auto">
          <a:xfrm>
            <a:off x="6260709" y="5602576"/>
            <a:ext cx="1143000" cy="1143000"/>
          </a:xfrm>
          <a:prstGeom prst="rect">
            <a:avLst/>
          </a:prstGeom>
          <a:noFill/>
        </p:spPr>
      </p:pic>
      <p:sp>
        <p:nvSpPr>
          <p:cNvPr id="3" name="TPAnswers"/>
          <p:cNvSpPr>
            <a:spLocks noGrp="1"/>
          </p:cNvSpPr>
          <p:nvPr>
            <p:ph idx="4294967295"/>
            <p:custDataLst>
              <p:tags r:id="rId2"/>
            </p:custDataLst>
          </p:nvPr>
        </p:nvSpPr>
        <p:spPr>
          <a:xfrm>
            <a:off x="0" y="2619664"/>
            <a:ext cx="2514600" cy="1266536"/>
          </a:xfrm>
        </p:spPr>
        <p:txBody>
          <a:bodyPr>
            <a:noAutofit/>
          </a:bodyPr>
          <a:lstStyle/>
          <a:p>
            <a:pPr marL="514350" indent="-514350">
              <a:spcBef>
                <a:spcPct val="20000"/>
              </a:spcBef>
              <a:buFont typeface="Wingdings"/>
              <a:buAutoNum type="arabicPeriod"/>
            </a:pPr>
            <a:r>
              <a:rPr lang="en-US" dirty="0"/>
              <a:t>Yes</a:t>
            </a:r>
          </a:p>
          <a:p>
            <a:pPr marL="514350" indent="-514350">
              <a:spcBef>
                <a:spcPct val="20000"/>
              </a:spcBef>
              <a:buFont typeface="Wingdings"/>
              <a:buAutoNum type="arabicPeriod"/>
            </a:pPr>
            <a:r>
              <a:rPr lang="en-US" dirty="0"/>
              <a:t> No</a:t>
            </a:r>
          </a:p>
        </p:txBody>
      </p:sp>
    </p:spTree>
    <p:custDataLst>
      <p:tags r:id="rId1"/>
    </p:custDataLst>
    <p:extLst>
      <p:ext uri="{BB962C8B-B14F-4D97-AF65-F5344CB8AC3E}">
        <p14:creationId xmlns:p14="http://schemas.microsoft.com/office/powerpoint/2010/main" val="1997793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066800"/>
            <a:ext cx="5638800" cy="5678478"/>
          </a:xfrm>
          <a:prstGeom prst="rect">
            <a:avLst/>
          </a:prstGeom>
          <a:noFill/>
        </p:spPr>
        <p:txBody>
          <a:bodyPr wrap="square" rtlCol="0">
            <a:spAutoFit/>
          </a:bodyPr>
          <a:lstStyle/>
          <a:p>
            <a:pPr marL="0" lvl="1"/>
            <a:r>
              <a:rPr lang="en-US" sz="3200" dirty="0">
                <a:solidFill>
                  <a:prstClr val="black"/>
                </a:solidFill>
                <a:cs typeface="Times New Roman" pitchFamily="18" charset="0"/>
              </a:rPr>
              <a:t>H</a:t>
            </a:r>
            <a:r>
              <a:rPr lang="en-US" sz="3200" baseline="-25000" dirty="0">
                <a:solidFill>
                  <a:prstClr val="black"/>
                </a:solidFill>
                <a:cs typeface="Times New Roman" pitchFamily="18" charset="0"/>
              </a:rPr>
              <a:t>0</a:t>
            </a:r>
            <a:r>
              <a:rPr lang="en-US" sz="3200" dirty="0">
                <a:solidFill>
                  <a:prstClr val="black"/>
                </a:solidFill>
                <a:cs typeface="Times New Roman" pitchFamily="18" charset="0"/>
              </a:rPr>
              <a:t> : </a:t>
            </a:r>
            <a:r>
              <a:rPr lang="en-US" sz="3200" i="1" dirty="0">
                <a:solidFill>
                  <a:prstClr val="black"/>
                </a:solidFill>
                <a:cs typeface="Times New Roman" pitchFamily="18" charset="0"/>
              </a:rPr>
              <a:t>X</a:t>
            </a:r>
            <a:r>
              <a:rPr lang="en-US" sz="3200" dirty="0">
                <a:solidFill>
                  <a:prstClr val="black"/>
                </a:solidFill>
                <a:cs typeface="Times New Roman" pitchFamily="18" charset="0"/>
              </a:rPr>
              <a:t> is an elephant</a:t>
            </a:r>
          </a:p>
          <a:p>
            <a:pPr marL="0" lvl="1">
              <a:spcAft>
                <a:spcPts val="1800"/>
              </a:spcAft>
            </a:pPr>
            <a:r>
              <a:rPr lang="en-US" sz="3200" dirty="0">
                <a:solidFill>
                  <a:prstClr val="black"/>
                </a:solidFill>
                <a:cs typeface="Times New Roman" pitchFamily="18" charset="0"/>
              </a:rPr>
              <a:t>H</a:t>
            </a:r>
            <a:r>
              <a:rPr lang="en-US" sz="3200" baseline="-25000" dirty="0">
                <a:solidFill>
                  <a:prstClr val="black"/>
                </a:solidFill>
                <a:cs typeface="Times New Roman" pitchFamily="18" charset="0"/>
              </a:rPr>
              <a:t>a</a:t>
            </a:r>
            <a:r>
              <a:rPr lang="en-US" sz="3200" dirty="0">
                <a:solidFill>
                  <a:prstClr val="black"/>
                </a:solidFill>
                <a:cs typeface="Times New Roman" pitchFamily="18" charset="0"/>
              </a:rPr>
              <a:t> : </a:t>
            </a:r>
            <a:r>
              <a:rPr lang="en-US" sz="3200" i="1" dirty="0">
                <a:solidFill>
                  <a:prstClr val="black"/>
                </a:solidFill>
                <a:cs typeface="Times New Roman" pitchFamily="18" charset="0"/>
              </a:rPr>
              <a:t>X </a:t>
            </a:r>
            <a:r>
              <a:rPr lang="en-US" sz="3200" dirty="0">
                <a:solidFill>
                  <a:prstClr val="black"/>
                </a:solidFill>
                <a:cs typeface="Times New Roman" pitchFamily="18" charset="0"/>
              </a:rPr>
              <a:t>is not an elephant</a:t>
            </a:r>
          </a:p>
          <a:p>
            <a:pPr>
              <a:spcAft>
                <a:spcPts val="1800"/>
              </a:spcAft>
            </a:pPr>
            <a:r>
              <a:rPr lang="en-US" sz="3200" dirty="0">
                <a:solidFill>
                  <a:prstClr val="black"/>
                </a:solidFill>
                <a:cs typeface="Times New Roman" pitchFamily="18" charset="0"/>
              </a:rPr>
              <a:t>What would you conclude, if you get the following data?</a:t>
            </a:r>
          </a:p>
          <a:p>
            <a:pPr lvl="1">
              <a:spcAft>
                <a:spcPts val="1800"/>
              </a:spcAft>
              <a:buClr>
                <a:schemeClr val="accent1"/>
              </a:buClr>
              <a:buFont typeface="Arial" pitchFamily="34" charset="0"/>
              <a:buChar char="•"/>
            </a:pPr>
            <a:r>
              <a:rPr lang="en-US" sz="3200" i="1" dirty="0">
                <a:solidFill>
                  <a:prstClr val="black"/>
                </a:solidFill>
                <a:cs typeface="Times New Roman" pitchFamily="18" charset="0"/>
              </a:rPr>
              <a:t> X</a:t>
            </a:r>
            <a:r>
              <a:rPr lang="en-US" sz="3200" dirty="0">
                <a:solidFill>
                  <a:prstClr val="black"/>
                </a:solidFill>
                <a:cs typeface="Times New Roman" pitchFamily="18" charset="0"/>
              </a:rPr>
              <a:t> walks on two legs</a:t>
            </a:r>
            <a:r>
              <a:rPr lang="en-US" sz="3200" i="1" dirty="0">
                <a:solidFill>
                  <a:prstClr val="black"/>
                </a:solidFill>
                <a:cs typeface="Times New Roman" pitchFamily="18" charset="0"/>
              </a:rPr>
              <a:t> </a:t>
            </a:r>
          </a:p>
          <a:p>
            <a:pPr lvl="1">
              <a:spcAft>
                <a:spcPts val="1800"/>
              </a:spcAft>
              <a:buClr>
                <a:schemeClr val="accent1"/>
              </a:buClr>
              <a:buFont typeface="Arial" pitchFamily="34" charset="0"/>
              <a:buChar char="•"/>
            </a:pPr>
            <a:endParaRPr lang="en-US" sz="1200" i="1" dirty="0">
              <a:solidFill>
                <a:prstClr val="black"/>
              </a:solidFill>
              <a:cs typeface="Times New Roman" pitchFamily="18" charset="0"/>
            </a:endParaRPr>
          </a:p>
          <a:p>
            <a:pPr lvl="1">
              <a:spcAft>
                <a:spcPts val="1800"/>
              </a:spcAft>
              <a:buClr>
                <a:schemeClr val="accent1"/>
              </a:buClr>
              <a:buFont typeface="Arial" pitchFamily="34" charset="0"/>
              <a:buChar char="•"/>
            </a:pPr>
            <a:r>
              <a:rPr lang="en-US" sz="3200" i="1" dirty="0">
                <a:solidFill>
                  <a:prstClr val="black"/>
                </a:solidFill>
                <a:cs typeface="Times New Roman" pitchFamily="18" charset="0"/>
              </a:rPr>
              <a:t> X </a:t>
            </a:r>
            <a:r>
              <a:rPr lang="en-US" sz="3200" dirty="0">
                <a:solidFill>
                  <a:prstClr val="black"/>
                </a:solidFill>
                <a:cs typeface="Times New Roman" pitchFamily="18" charset="0"/>
              </a:rPr>
              <a:t>has four legs</a:t>
            </a:r>
            <a:endParaRPr lang="en-US" sz="2800" dirty="0">
              <a:solidFill>
                <a:prstClr val="black"/>
              </a:solidFill>
              <a:cs typeface="Times New Roman" pitchFamily="18" charset="0"/>
            </a:endParaRPr>
          </a:p>
          <a:p>
            <a:pPr>
              <a:buFont typeface="Arial" pitchFamily="34" charset="0"/>
              <a:buChar char="•"/>
            </a:pPr>
            <a:endParaRPr lang="en-US" sz="2800" i="1" dirty="0">
              <a:solidFill>
                <a:prstClr val="black"/>
              </a:solidFill>
              <a:cs typeface="Times New Roman" pitchFamily="18" charset="0"/>
            </a:endParaRPr>
          </a:p>
          <a:p>
            <a:pPr lvl="1">
              <a:buFont typeface="Arial" pitchFamily="34" charset="0"/>
              <a:buChar char="•"/>
            </a:pPr>
            <a:endParaRPr lang="en-US" sz="2800" i="1" dirty="0">
              <a:solidFill>
                <a:prstClr val="black"/>
              </a:solidFill>
              <a:cs typeface="Times New Roman" pitchFamily="18" charset="0"/>
            </a:endParaRPr>
          </a:p>
          <a:p>
            <a:pPr lvl="1">
              <a:buFont typeface="Arial" pitchFamily="34" charset="0"/>
              <a:buChar char="•"/>
            </a:pPr>
            <a:endParaRPr lang="en-US" sz="2800" i="1" dirty="0">
              <a:solidFill>
                <a:prstClr val="black"/>
              </a:solidFill>
              <a:cs typeface="Times New Roman" pitchFamily="18" charset="0"/>
            </a:endParaRPr>
          </a:p>
        </p:txBody>
      </p:sp>
      <p:sp>
        <p:nvSpPr>
          <p:cNvPr id="3" name="Title 1"/>
          <p:cNvSpPr txBox="1">
            <a:spLocks/>
          </p:cNvSpPr>
          <p:nvPr/>
        </p:nvSpPr>
        <p:spPr>
          <a:xfrm>
            <a:off x="533400" y="76200"/>
            <a:ext cx="8153400" cy="1219200"/>
          </a:xfrm>
          <a:prstGeom prst="rect">
            <a:avLst/>
          </a:prstGeom>
        </p:spPr>
        <p:txBody>
          <a:bodyPr/>
          <a:lstStyle/>
          <a:p>
            <a:pPr lvl="0" algn="ctr">
              <a:spcBef>
                <a:spcPct val="0"/>
              </a:spcBef>
              <a:defRPr/>
            </a:pPr>
            <a:r>
              <a:rPr lang="en-US" sz="4400" b="1" dirty="0">
                <a:solidFill>
                  <a:schemeClr val="tx2"/>
                </a:solidFill>
              </a:rPr>
              <a:t>Elephant Example</a:t>
            </a:r>
            <a:endParaRPr lang="en-US" sz="4000" b="1" dirty="0">
              <a:solidFill>
                <a:schemeClr val="tx2"/>
              </a:solidFill>
            </a:endParaRPr>
          </a:p>
        </p:txBody>
      </p:sp>
      <p:pic>
        <p:nvPicPr>
          <p:cNvPr id="45058" name="Picture 2" descr="http://farm4.static.flickr.com/3011/3058244301_507d35792a.jpg"/>
          <p:cNvPicPr>
            <a:picLocks noChangeAspect="1" noChangeArrowheads="1"/>
          </p:cNvPicPr>
          <p:nvPr/>
        </p:nvPicPr>
        <p:blipFill>
          <a:blip r:embed="rId4" cstate="print"/>
          <a:srcRect l="17600" r="23200"/>
          <a:stretch>
            <a:fillRect/>
          </a:stretch>
        </p:blipFill>
        <p:spPr bwMode="auto">
          <a:xfrm>
            <a:off x="6400800" y="914400"/>
            <a:ext cx="1981200" cy="2509966"/>
          </a:xfrm>
          <a:prstGeom prst="rect">
            <a:avLst/>
          </a:prstGeom>
          <a:noFill/>
        </p:spPr>
      </p:pic>
      <p:sp>
        <p:nvSpPr>
          <p:cNvPr id="8" name="TextBox 7"/>
          <p:cNvSpPr txBox="1"/>
          <p:nvPr/>
        </p:nvSpPr>
        <p:spPr>
          <a:xfrm>
            <a:off x="4876800" y="3436203"/>
            <a:ext cx="4267200" cy="461665"/>
          </a:xfrm>
          <a:prstGeom prst="rect">
            <a:avLst/>
          </a:prstGeom>
          <a:noFill/>
        </p:spPr>
        <p:txBody>
          <a:bodyPr wrap="square" rtlCol="0">
            <a:spAutoFit/>
          </a:bodyPr>
          <a:lstStyle/>
          <a:p>
            <a:r>
              <a:rPr lang="en-US" sz="2400" i="1" dirty="0">
                <a:solidFill>
                  <a:schemeClr val="accent2"/>
                </a:solidFill>
              </a:rPr>
              <a:t>Although we can never be certain! </a:t>
            </a:r>
          </a:p>
        </p:txBody>
      </p:sp>
    </p:spTree>
    <p:custDataLst>
      <p:tags r:id="rId1"/>
    </p:custDataLst>
    <p:extLst>
      <p:ext uri="{BB962C8B-B14F-4D97-AF65-F5344CB8AC3E}">
        <p14:creationId xmlns:p14="http://schemas.microsoft.com/office/powerpoint/2010/main" val="196963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nodeType="clickEffect">
                                  <p:stCondLst>
                                    <p:cond delay="0"/>
                                  </p:stCondLst>
                                  <p:childTnLst>
                                    <p:set>
                                      <p:cBhvr>
                                        <p:cTn id="14" dur="1" fill="hold">
                                          <p:stCondLst>
                                            <p:cond delay="0"/>
                                          </p:stCondLst>
                                        </p:cTn>
                                        <p:tgtEl>
                                          <p:spTgt spid="45058"/>
                                        </p:tgtEl>
                                        <p:attrNameLst>
                                          <p:attrName>style.visibility</p:attrName>
                                        </p:attrNameLst>
                                      </p:cBhvr>
                                      <p:to>
                                        <p:strVal val="visible"/>
                                      </p:to>
                                    </p:set>
                                    <p:anim calcmode="lin" valueType="num">
                                      <p:cBhvr>
                                        <p:cTn id="15" dur="500" fill="hold"/>
                                        <p:tgtEl>
                                          <p:spTgt spid="45058"/>
                                        </p:tgtEl>
                                        <p:attrNameLst>
                                          <p:attrName>ppt_w</p:attrName>
                                        </p:attrNameLst>
                                      </p:cBhvr>
                                      <p:tavLst>
                                        <p:tav tm="0">
                                          <p:val>
                                            <p:fltVal val="0"/>
                                          </p:val>
                                        </p:tav>
                                        <p:tav tm="100000">
                                          <p:val>
                                            <p:strVal val="#ppt_w"/>
                                          </p:val>
                                        </p:tav>
                                      </p:tavLst>
                                    </p:anim>
                                    <p:anim calcmode="lin" valueType="num">
                                      <p:cBhvr>
                                        <p:cTn id="16" dur="500" fill="hold"/>
                                        <p:tgtEl>
                                          <p:spTgt spid="45058"/>
                                        </p:tgtEl>
                                        <p:attrNameLst>
                                          <p:attrName>ppt_h</p:attrName>
                                        </p:attrNameLst>
                                      </p:cBhvr>
                                      <p:tavLst>
                                        <p:tav tm="0">
                                          <p:val>
                                            <p:fltVal val="0"/>
                                          </p:val>
                                        </p:tav>
                                        <p:tav tm="100000">
                                          <p:val>
                                            <p:strVal val="#ppt_h"/>
                                          </p:val>
                                        </p:tav>
                                      </p:tavLst>
                                    </p:anim>
                                    <p:animEffect transition="in" filter="fade">
                                      <p:cBhvr>
                                        <p:cTn id="17" dur="500"/>
                                        <p:tgtEl>
                                          <p:spTgt spid="45058"/>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63" y="3276600"/>
            <a:ext cx="8305800" cy="3323987"/>
          </a:xfrm>
          <a:prstGeom prst="rect">
            <a:avLst/>
          </a:prstGeom>
          <a:noFill/>
        </p:spPr>
        <p:txBody>
          <a:bodyPr wrap="square" rtlCol="0">
            <a:spAutoFit/>
          </a:bodyPr>
          <a:lstStyle/>
          <a:p>
            <a:r>
              <a:rPr lang="en-US" sz="3000" dirty="0">
                <a:solidFill>
                  <a:schemeClr val="accent6">
                    <a:lumMod val="50000"/>
                  </a:schemeClr>
                </a:solidFill>
                <a:cs typeface="Times New Roman" pitchFamily="18" charset="0"/>
              </a:rPr>
              <a:t>“</a:t>
            </a:r>
            <a:r>
              <a:rPr lang="en-US" sz="3000" i="1" dirty="0">
                <a:solidFill>
                  <a:schemeClr val="accent6">
                    <a:lumMod val="50000"/>
                  </a:schemeClr>
                </a:solidFill>
                <a:cs typeface="Times New Roman" pitchFamily="18" charset="0"/>
              </a:rPr>
              <a:t>For the logical fallacy of believing that a hypothesis has been proved to be true, merely because it is not contradicted by the available facts, has no more right to insinuate itself in statistical than in other kinds of scientific reasoning…”</a:t>
            </a:r>
          </a:p>
          <a:p>
            <a:r>
              <a:rPr lang="en-US" sz="3000" i="1" dirty="0">
                <a:solidFill>
                  <a:schemeClr val="accent6">
                    <a:lumMod val="50000"/>
                  </a:schemeClr>
                </a:solidFill>
                <a:cs typeface="Times New Roman" pitchFamily="18" charset="0"/>
              </a:rPr>
              <a:t>	</a:t>
            </a:r>
            <a:r>
              <a:rPr lang="en-US" sz="3000" dirty="0">
                <a:solidFill>
                  <a:schemeClr val="accent6">
                    <a:lumMod val="50000"/>
                  </a:schemeClr>
                </a:solidFill>
                <a:cs typeface="Times New Roman" pitchFamily="18" charset="0"/>
              </a:rPr>
              <a:t>-Sir R. A. Fisher (1890 – 1962)</a:t>
            </a:r>
          </a:p>
          <a:p>
            <a:r>
              <a:rPr lang="en-US" sz="3000" dirty="0">
                <a:solidFill>
                  <a:schemeClr val="accent6">
                    <a:lumMod val="50000"/>
                  </a:schemeClr>
                </a:solidFill>
                <a:cs typeface="Times New Roman" pitchFamily="18" charset="0"/>
              </a:rPr>
              <a:t>	</a:t>
            </a:r>
            <a:r>
              <a:rPr lang="en-US" sz="2800" dirty="0">
                <a:solidFill>
                  <a:schemeClr val="accent6">
                    <a:lumMod val="50000"/>
                  </a:schemeClr>
                </a:solidFill>
                <a:cs typeface="Times New Roman" pitchFamily="18" charset="0"/>
              </a:rPr>
              <a:t>Statistician, Evolutionary Biologist, and </a:t>
            </a:r>
            <a:r>
              <a:rPr lang="en-US" sz="2800" dirty="0" err="1">
                <a:solidFill>
                  <a:schemeClr val="accent6">
                    <a:lumMod val="50000"/>
                  </a:schemeClr>
                </a:solidFill>
                <a:cs typeface="Times New Roman" pitchFamily="18" charset="0"/>
              </a:rPr>
              <a:t>Geneticis</a:t>
            </a:r>
            <a:endParaRPr lang="en-US" sz="3000" i="1" dirty="0">
              <a:solidFill>
                <a:schemeClr val="accent6">
                  <a:lumMod val="50000"/>
                </a:schemeClr>
              </a:solidFill>
              <a:cs typeface="Times New Roman" pitchFamily="18" charset="0"/>
            </a:endParaRPr>
          </a:p>
        </p:txBody>
      </p:sp>
      <p:sp>
        <p:nvSpPr>
          <p:cNvPr id="3" name="Title 1"/>
          <p:cNvSpPr txBox="1">
            <a:spLocks/>
          </p:cNvSpPr>
          <p:nvPr/>
        </p:nvSpPr>
        <p:spPr>
          <a:xfrm>
            <a:off x="533400" y="76200"/>
            <a:ext cx="8153400" cy="1219200"/>
          </a:xfrm>
          <a:prstGeom prst="rect">
            <a:avLst/>
          </a:prstGeom>
        </p:spPr>
        <p:txBody>
          <a:bodyPr/>
          <a:lstStyle/>
          <a:p>
            <a:pPr lvl="0" algn="ctr">
              <a:spcBef>
                <a:spcPct val="0"/>
              </a:spcBef>
              <a:defRPr/>
            </a:pPr>
            <a:r>
              <a:rPr lang="en-US" sz="4400" b="1" dirty="0">
                <a:solidFill>
                  <a:schemeClr val="tx2"/>
                </a:solidFill>
              </a:rPr>
              <a:t>Never Accept H</a:t>
            </a:r>
            <a:r>
              <a:rPr lang="en-US" sz="4400" b="1" baseline="-25000" dirty="0">
                <a:solidFill>
                  <a:schemeClr val="tx2"/>
                </a:solidFill>
              </a:rPr>
              <a:t>0</a:t>
            </a:r>
            <a:endParaRPr lang="en-US" sz="4000" b="1" dirty="0">
              <a:solidFill>
                <a:schemeClr val="tx2"/>
              </a:solidFill>
            </a:endParaRPr>
          </a:p>
        </p:txBody>
      </p:sp>
      <p:pic>
        <p:nvPicPr>
          <p:cNvPr id="4098" name="Picture 2" descr="http://evolution.berkeley.edu/evolibrary/images/history/fish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4903" y="4648200"/>
            <a:ext cx="1395603" cy="15716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108" y="1066800"/>
            <a:ext cx="9151108" cy="2523768"/>
          </a:xfrm>
          <a:prstGeom prst="rect">
            <a:avLst/>
          </a:prstGeom>
          <a:noFill/>
        </p:spPr>
        <p:txBody>
          <a:bodyPr wrap="square" rtlCol="0">
            <a:spAutoFit/>
          </a:bodyPr>
          <a:lstStyle/>
          <a:p>
            <a:pPr indent="-182880">
              <a:spcAft>
                <a:spcPts val="1800"/>
              </a:spcAft>
              <a:buClr>
                <a:schemeClr val="accent1"/>
              </a:buClr>
              <a:buFont typeface="Arial" pitchFamily="34" charset="0"/>
              <a:buChar char="•"/>
            </a:pPr>
            <a:r>
              <a:rPr lang="en-US" sz="3200" dirty="0">
                <a:solidFill>
                  <a:schemeClr val="accent6">
                    <a:lumMod val="50000"/>
                  </a:schemeClr>
                </a:solidFill>
              </a:rPr>
              <a:t>“Do not reject H</a:t>
            </a:r>
            <a:r>
              <a:rPr lang="en-US" sz="3200" baseline="-25000" dirty="0">
                <a:solidFill>
                  <a:schemeClr val="accent6">
                    <a:lumMod val="50000"/>
                  </a:schemeClr>
                </a:solidFill>
              </a:rPr>
              <a:t>0</a:t>
            </a:r>
            <a:r>
              <a:rPr lang="en-US" sz="3200" dirty="0">
                <a:solidFill>
                  <a:schemeClr val="accent6">
                    <a:lumMod val="50000"/>
                  </a:schemeClr>
                </a:solidFill>
              </a:rPr>
              <a:t>” is not the same as “accept H</a:t>
            </a:r>
            <a:r>
              <a:rPr lang="en-US" sz="3200" baseline="-25000" dirty="0">
                <a:solidFill>
                  <a:schemeClr val="accent6">
                    <a:lumMod val="50000"/>
                  </a:schemeClr>
                </a:solidFill>
              </a:rPr>
              <a:t>0</a:t>
            </a:r>
            <a:r>
              <a:rPr lang="en-US" sz="3200" dirty="0">
                <a:solidFill>
                  <a:schemeClr val="accent6">
                    <a:lumMod val="50000"/>
                  </a:schemeClr>
                </a:solidFill>
              </a:rPr>
              <a:t>”!</a:t>
            </a:r>
          </a:p>
          <a:p>
            <a:pPr indent="-182880">
              <a:spcAft>
                <a:spcPts val="1800"/>
              </a:spcAft>
              <a:buClr>
                <a:schemeClr val="accent1"/>
              </a:buClr>
              <a:buFont typeface="Arial" pitchFamily="34" charset="0"/>
              <a:buChar char="•"/>
            </a:pPr>
            <a:r>
              <a:rPr lang="en-US" sz="3200" dirty="0">
                <a:solidFill>
                  <a:schemeClr val="accent6">
                    <a:lumMod val="50000"/>
                  </a:schemeClr>
                </a:solidFill>
              </a:rPr>
              <a:t> Lack of evidence against H</a:t>
            </a:r>
            <a:r>
              <a:rPr lang="en-US" sz="3200" baseline="-25000" dirty="0">
                <a:solidFill>
                  <a:schemeClr val="accent6">
                    <a:lumMod val="50000"/>
                  </a:schemeClr>
                </a:solidFill>
              </a:rPr>
              <a:t>0</a:t>
            </a:r>
            <a:r>
              <a:rPr lang="en-US" sz="3200" dirty="0">
                <a:solidFill>
                  <a:schemeClr val="accent6">
                    <a:lumMod val="50000"/>
                  </a:schemeClr>
                </a:solidFill>
              </a:rPr>
              <a:t> is NOT the same as evidence for H</a:t>
            </a:r>
            <a:r>
              <a:rPr lang="en-US" sz="3200" baseline="-25000" dirty="0">
                <a:solidFill>
                  <a:schemeClr val="accent6">
                    <a:lumMod val="50000"/>
                  </a:schemeClr>
                </a:solidFill>
              </a:rPr>
              <a:t>0</a:t>
            </a:r>
            <a:r>
              <a:rPr lang="en-US" sz="3200" dirty="0">
                <a:solidFill>
                  <a:schemeClr val="accent6">
                    <a:lumMod val="50000"/>
                  </a:schemeClr>
                </a:solidFill>
              </a:rPr>
              <a:t>!</a:t>
            </a:r>
          </a:p>
          <a:p>
            <a:endParaRPr lang="en-US" sz="3200" dirty="0">
              <a:solidFill>
                <a:schemeClr val="accent6">
                  <a:lumMod val="50000"/>
                </a:schemeClr>
              </a:solidFill>
            </a:endParaRPr>
          </a:p>
        </p:txBody>
      </p:sp>
    </p:spTree>
    <p:custDataLst>
      <p:tags r:id="rId1"/>
    </p:custDataLst>
    <p:extLst>
      <p:ext uri="{BB962C8B-B14F-4D97-AF65-F5344CB8AC3E}">
        <p14:creationId xmlns:p14="http://schemas.microsoft.com/office/powerpoint/2010/main" val="265884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Answers"/>
          <p:cNvSpPr>
            <a:spLocks noGrp="1"/>
          </p:cNvSpPr>
          <p:nvPr>
            <p:ph idx="4294967295"/>
            <p:custDataLst>
              <p:tags r:id="rId2"/>
            </p:custDataLst>
          </p:nvPr>
        </p:nvSpPr>
        <p:spPr>
          <a:xfrm>
            <a:off x="152400" y="2057400"/>
            <a:ext cx="4464269" cy="2427890"/>
          </a:xfrm>
        </p:spPr>
        <p:txBody>
          <a:bodyPr>
            <a:noAutofit/>
          </a:bodyPr>
          <a:lstStyle/>
          <a:p>
            <a:pPr marL="514350" indent="-514350">
              <a:spcBef>
                <a:spcPct val="20000"/>
              </a:spcBef>
              <a:buFont typeface="Wingdings"/>
              <a:buAutoNum type="arabicPeriod"/>
            </a:pPr>
            <a:r>
              <a:rPr lang="en-US" dirty="0"/>
              <a:t> Reject H</a:t>
            </a:r>
            <a:r>
              <a:rPr lang="en-US" baseline="-25000" dirty="0"/>
              <a:t>0</a:t>
            </a:r>
          </a:p>
          <a:p>
            <a:pPr marL="514350" indent="-514350">
              <a:spcBef>
                <a:spcPct val="20000"/>
              </a:spcBef>
              <a:buFont typeface="Wingdings"/>
              <a:buAutoNum type="arabicPeriod"/>
            </a:pPr>
            <a:r>
              <a:rPr lang="en-US" baseline="-25000" dirty="0"/>
              <a:t> </a:t>
            </a:r>
            <a:r>
              <a:rPr lang="en-US" dirty="0"/>
              <a:t>Do not reject H</a:t>
            </a:r>
            <a:r>
              <a:rPr lang="en-US" baseline="-25000" dirty="0"/>
              <a:t>0</a:t>
            </a:r>
          </a:p>
          <a:p>
            <a:pPr marL="514350" indent="-514350">
              <a:spcBef>
                <a:spcPct val="20000"/>
              </a:spcBef>
              <a:buFont typeface="Wingdings"/>
              <a:buAutoNum type="arabicPeriod"/>
            </a:pPr>
            <a:r>
              <a:rPr lang="en-US" baseline="-25000" dirty="0"/>
              <a:t> </a:t>
            </a:r>
            <a:r>
              <a:rPr lang="en-US" dirty="0"/>
              <a:t>Reject H</a:t>
            </a:r>
            <a:r>
              <a:rPr lang="en-US" baseline="-25000" dirty="0"/>
              <a:t>a</a:t>
            </a:r>
          </a:p>
          <a:p>
            <a:pPr marL="514350" indent="-514350">
              <a:spcBef>
                <a:spcPct val="20000"/>
              </a:spcBef>
              <a:buFont typeface="Wingdings"/>
              <a:buAutoNum type="arabicPeriod"/>
            </a:pPr>
            <a:r>
              <a:rPr lang="en-US" baseline="-25000" dirty="0"/>
              <a:t> </a:t>
            </a:r>
            <a:r>
              <a:rPr lang="en-US" dirty="0"/>
              <a:t>Do not reject H</a:t>
            </a:r>
            <a:r>
              <a:rPr lang="en-US" baseline="-25000" dirty="0"/>
              <a:t>a</a:t>
            </a:r>
            <a:endParaRPr lang="en-US" dirty="0"/>
          </a:p>
        </p:txBody>
      </p:sp>
      <p:sp>
        <p:nvSpPr>
          <p:cNvPr id="2" name="TPQuestion"/>
          <p:cNvSpPr>
            <a:spLocks noGrp="1"/>
          </p:cNvSpPr>
          <p:nvPr>
            <p:ph type="title" idx="4294967295"/>
          </p:nvPr>
        </p:nvSpPr>
        <p:spPr>
          <a:xfrm>
            <a:off x="0" y="228600"/>
            <a:ext cx="9144000" cy="1981200"/>
          </a:xfrm>
        </p:spPr>
        <p:txBody>
          <a:bodyPr>
            <a:normAutofit/>
          </a:bodyPr>
          <a:lstStyle/>
          <a:p>
            <a:r>
              <a:rPr lang="en-US" sz="3200" dirty="0"/>
              <a:t>In a hypothesis test of </a:t>
            </a:r>
            <a:br>
              <a:rPr lang="en-US" sz="3200" dirty="0"/>
            </a:br>
            <a:r>
              <a:rPr lang="en-US" sz="3200" dirty="0"/>
              <a:t>	H</a:t>
            </a:r>
            <a:r>
              <a:rPr lang="en-US" sz="3200" baseline="-25000" dirty="0"/>
              <a:t>0</a:t>
            </a:r>
            <a:r>
              <a:rPr lang="en-US" sz="3200" dirty="0"/>
              <a:t>: </a:t>
            </a:r>
            <a:r>
              <a:rPr lang="en-US" sz="3200" dirty="0">
                <a:sym typeface="Symbol"/>
              </a:rPr>
              <a:t> = 10 </a:t>
            </a:r>
            <a:r>
              <a:rPr lang="en-US" sz="3200" dirty="0" err="1">
                <a:sym typeface="Symbol"/>
              </a:rPr>
              <a:t>vs</a:t>
            </a:r>
            <a:r>
              <a:rPr lang="en-US" sz="3200" dirty="0">
                <a:sym typeface="Symbol"/>
              </a:rPr>
              <a:t> H</a:t>
            </a:r>
            <a:r>
              <a:rPr lang="en-US" sz="3200" baseline="-25000" dirty="0">
                <a:sym typeface="Symbol"/>
              </a:rPr>
              <a:t>a</a:t>
            </a:r>
            <a:r>
              <a:rPr lang="en-US" sz="3200" dirty="0">
                <a:sym typeface="Symbol"/>
              </a:rPr>
              <a:t>:  &lt; 10 </a:t>
            </a:r>
            <a:br>
              <a:rPr lang="en-US" sz="3200" dirty="0">
                <a:sym typeface="Symbol"/>
              </a:rPr>
            </a:br>
            <a:r>
              <a:rPr lang="en-US" sz="3200" dirty="0">
                <a:sym typeface="Symbol"/>
              </a:rPr>
              <a:t>the p-value is 0.002.  With </a:t>
            </a:r>
            <a:r>
              <a:rPr lang="el-GR" sz="3200" dirty="0">
                <a:sym typeface="Symbol"/>
              </a:rPr>
              <a:t>α</a:t>
            </a:r>
            <a:r>
              <a:rPr lang="en-US" sz="3200" dirty="0">
                <a:sym typeface="Symbol"/>
              </a:rPr>
              <a:t> = 0.05, we conclude:</a:t>
            </a:r>
            <a:endParaRPr lang="en-US" sz="3200" dirty="0"/>
          </a:p>
        </p:txBody>
      </p:sp>
    </p:spTree>
    <p:custDataLst>
      <p:tags r:id="rId1"/>
    </p:custDataLst>
    <p:extLst>
      <p:ext uri="{BB962C8B-B14F-4D97-AF65-F5344CB8AC3E}">
        <p14:creationId xmlns:p14="http://schemas.microsoft.com/office/powerpoint/2010/main" val="3927693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1981200"/>
          </a:xfrm>
        </p:spPr>
        <p:txBody>
          <a:bodyPr>
            <a:normAutofit/>
          </a:bodyPr>
          <a:lstStyle/>
          <a:p>
            <a:r>
              <a:rPr lang="en-US" sz="3200" dirty="0"/>
              <a:t>In a hypothesis test of </a:t>
            </a:r>
            <a:br>
              <a:rPr lang="en-US" sz="3200" dirty="0"/>
            </a:br>
            <a:r>
              <a:rPr lang="en-US" sz="3200" dirty="0"/>
              <a:t>	H</a:t>
            </a:r>
            <a:r>
              <a:rPr lang="en-US" sz="3200" baseline="-25000" dirty="0"/>
              <a:t>0</a:t>
            </a:r>
            <a:r>
              <a:rPr lang="en-US" sz="3200" dirty="0"/>
              <a:t>: </a:t>
            </a:r>
            <a:r>
              <a:rPr lang="en-US" sz="3200" dirty="0">
                <a:sym typeface="Symbol"/>
              </a:rPr>
              <a:t> = 10 </a:t>
            </a:r>
            <a:r>
              <a:rPr lang="en-US" sz="3200" dirty="0" err="1">
                <a:sym typeface="Symbol"/>
              </a:rPr>
              <a:t>vs</a:t>
            </a:r>
            <a:r>
              <a:rPr lang="en-US" sz="3200" dirty="0">
                <a:sym typeface="Symbol"/>
              </a:rPr>
              <a:t> H</a:t>
            </a:r>
            <a:r>
              <a:rPr lang="en-US" sz="3200" baseline="-25000" dirty="0">
                <a:sym typeface="Symbol"/>
              </a:rPr>
              <a:t>a</a:t>
            </a:r>
            <a:r>
              <a:rPr lang="en-US" sz="3200" dirty="0">
                <a:sym typeface="Symbol"/>
              </a:rPr>
              <a:t>:  &lt; 10 </a:t>
            </a:r>
            <a:br>
              <a:rPr lang="en-US" sz="3200" dirty="0">
                <a:sym typeface="Symbol"/>
              </a:rPr>
            </a:br>
            <a:r>
              <a:rPr lang="en-US" sz="3200" dirty="0">
                <a:sym typeface="Symbol"/>
              </a:rPr>
              <a:t>the p-value is 0.002.  With </a:t>
            </a:r>
            <a:r>
              <a:rPr lang="el-GR" sz="3200" dirty="0">
                <a:sym typeface="Symbol"/>
              </a:rPr>
              <a:t>α</a:t>
            </a:r>
            <a:r>
              <a:rPr lang="en-US" sz="3200" dirty="0">
                <a:sym typeface="Symbol"/>
              </a:rPr>
              <a:t> = 0.01, we conclude:</a:t>
            </a:r>
            <a:endParaRPr lang="en-US" sz="3200" dirty="0"/>
          </a:p>
        </p:txBody>
      </p:sp>
      <p:sp>
        <p:nvSpPr>
          <p:cNvPr id="3" name="TPAnswers"/>
          <p:cNvSpPr>
            <a:spLocks noGrp="1"/>
          </p:cNvSpPr>
          <p:nvPr>
            <p:ph idx="4294967295"/>
            <p:custDataLst>
              <p:tags r:id="rId2"/>
            </p:custDataLst>
          </p:nvPr>
        </p:nvSpPr>
        <p:spPr>
          <a:xfrm>
            <a:off x="0" y="2133600"/>
            <a:ext cx="4953001" cy="3810000"/>
          </a:xfrm>
        </p:spPr>
        <p:txBody>
          <a:bodyPr>
            <a:noAutofit/>
          </a:bodyPr>
          <a:lstStyle/>
          <a:p>
            <a:pPr marL="1577340" indent="-514350">
              <a:spcBef>
                <a:spcPct val="20000"/>
              </a:spcBef>
              <a:buFont typeface="Wingdings"/>
              <a:buAutoNum type="arabicPeriod"/>
            </a:pPr>
            <a:r>
              <a:rPr lang="en-US" dirty="0"/>
              <a:t> There is evidence that </a:t>
            </a:r>
            <a:r>
              <a:rPr lang="en-US" dirty="0">
                <a:sym typeface="Symbol"/>
              </a:rPr>
              <a:t> = 10 </a:t>
            </a:r>
            <a:endParaRPr lang="en-US" baseline="-25000" dirty="0"/>
          </a:p>
          <a:p>
            <a:pPr marL="1577340" indent="-514350">
              <a:spcBef>
                <a:spcPct val="20000"/>
              </a:spcBef>
              <a:buFont typeface="Wingdings"/>
              <a:buAutoNum type="arabicPeriod"/>
            </a:pPr>
            <a:r>
              <a:rPr lang="en-US" baseline="-25000" dirty="0"/>
              <a:t> </a:t>
            </a:r>
            <a:r>
              <a:rPr lang="en-US" dirty="0"/>
              <a:t>There is evidence that </a:t>
            </a:r>
            <a:r>
              <a:rPr lang="en-US" dirty="0">
                <a:sym typeface="Symbol"/>
              </a:rPr>
              <a:t> &lt; 10 </a:t>
            </a:r>
            <a:endParaRPr lang="en-US" baseline="-25000" dirty="0"/>
          </a:p>
          <a:p>
            <a:pPr marL="1577340" indent="-514350">
              <a:spcBef>
                <a:spcPct val="20000"/>
              </a:spcBef>
              <a:buFont typeface="Wingdings"/>
              <a:buAutoNum type="arabicPeriod"/>
            </a:pPr>
            <a:r>
              <a:rPr lang="en-US" baseline="-25000" dirty="0"/>
              <a:t> </a:t>
            </a:r>
            <a:r>
              <a:rPr lang="en-US" dirty="0"/>
              <a:t>We have insufficient evidence to conclude anything</a:t>
            </a:r>
          </a:p>
        </p:txBody>
      </p:sp>
    </p:spTree>
    <p:custDataLst>
      <p:tags r:id="rId1"/>
    </p:custDataLst>
    <p:extLst>
      <p:ext uri="{BB962C8B-B14F-4D97-AF65-F5344CB8AC3E}">
        <p14:creationId xmlns:p14="http://schemas.microsoft.com/office/powerpoint/2010/main" val="3660406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228600"/>
            <a:ext cx="9144000" cy="2514600"/>
          </a:xfrm>
        </p:spPr>
        <p:txBody>
          <a:bodyPr>
            <a:normAutofit/>
          </a:bodyPr>
          <a:lstStyle/>
          <a:p>
            <a:r>
              <a:rPr lang="en-US" sz="3600" dirty="0"/>
              <a:t>In a hypothesis test of </a:t>
            </a:r>
            <a:br>
              <a:rPr lang="en-US" sz="3600" dirty="0"/>
            </a:br>
            <a:r>
              <a:rPr lang="en-US" sz="3600" dirty="0"/>
              <a:t>	H</a:t>
            </a:r>
            <a:r>
              <a:rPr lang="en-US" sz="3600" baseline="-25000" dirty="0"/>
              <a:t>0</a:t>
            </a:r>
            <a:r>
              <a:rPr lang="en-US" sz="3600" dirty="0"/>
              <a:t>: </a:t>
            </a:r>
            <a:r>
              <a:rPr lang="en-US" sz="3600" dirty="0">
                <a:sym typeface="Symbol"/>
              </a:rPr>
              <a:t> = 10 </a:t>
            </a:r>
            <a:r>
              <a:rPr lang="en-US" sz="3600" dirty="0" err="1">
                <a:sym typeface="Symbol"/>
              </a:rPr>
              <a:t>vs</a:t>
            </a:r>
            <a:r>
              <a:rPr lang="en-US" sz="3600" dirty="0">
                <a:sym typeface="Symbol"/>
              </a:rPr>
              <a:t> H</a:t>
            </a:r>
            <a:r>
              <a:rPr lang="en-US" sz="3600" baseline="-25000" dirty="0">
                <a:sym typeface="Symbol"/>
              </a:rPr>
              <a:t>a</a:t>
            </a:r>
            <a:r>
              <a:rPr lang="en-US" sz="3600" dirty="0">
                <a:sym typeface="Symbol"/>
              </a:rPr>
              <a:t>:  &lt; 10 </a:t>
            </a:r>
            <a:br>
              <a:rPr lang="en-US" sz="3600" dirty="0">
                <a:sym typeface="Symbol"/>
              </a:rPr>
            </a:br>
            <a:r>
              <a:rPr lang="en-US" sz="3600" dirty="0">
                <a:sym typeface="Symbol"/>
              </a:rPr>
              <a:t>the p-value is 0.21.  With </a:t>
            </a:r>
            <a:r>
              <a:rPr lang="el-GR" sz="3600" dirty="0">
                <a:sym typeface="Symbol"/>
              </a:rPr>
              <a:t>α</a:t>
            </a:r>
            <a:r>
              <a:rPr lang="en-US" sz="3600" dirty="0">
                <a:sym typeface="Symbol"/>
              </a:rPr>
              <a:t> = 0.01, we conclude:</a:t>
            </a:r>
            <a:endParaRPr lang="en-US" sz="3600" dirty="0"/>
          </a:p>
        </p:txBody>
      </p:sp>
      <p:sp>
        <p:nvSpPr>
          <p:cNvPr id="3" name="TPAnswers"/>
          <p:cNvSpPr>
            <a:spLocks noGrp="1"/>
          </p:cNvSpPr>
          <p:nvPr>
            <p:ph idx="4294967295"/>
            <p:custDataLst>
              <p:tags r:id="rId2"/>
            </p:custDataLst>
          </p:nvPr>
        </p:nvSpPr>
        <p:spPr>
          <a:xfrm>
            <a:off x="1" y="2638778"/>
            <a:ext cx="3962400" cy="3381022"/>
          </a:xfrm>
        </p:spPr>
        <p:txBody>
          <a:bodyPr>
            <a:noAutofit/>
          </a:bodyPr>
          <a:lstStyle/>
          <a:p>
            <a:pPr marL="514350" indent="-514350">
              <a:spcBef>
                <a:spcPct val="20000"/>
              </a:spcBef>
              <a:buFont typeface="Wingdings"/>
              <a:buAutoNum type="arabicPeriod"/>
            </a:pPr>
            <a:r>
              <a:rPr lang="en-US" dirty="0"/>
              <a:t> Reject H</a:t>
            </a:r>
            <a:r>
              <a:rPr lang="en-US" baseline="-25000" dirty="0"/>
              <a:t>0</a:t>
            </a:r>
          </a:p>
          <a:p>
            <a:pPr marL="514350" indent="-514350">
              <a:spcBef>
                <a:spcPct val="20000"/>
              </a:spcBef>
              <a:buFont typeface="Wingdings"/>
              <a:buAutoNum type="arabicPeriod"/>
            </a:pPr>
            <a:r>
              <a:rPr lang="en-US" baseline="-25000" dirty="0"/>
              <a:t> </a:t>
            </a:r>
            <a:r>
              <a:rPr lang="en-US" dirty="0"/>
              <a:t>Do not reject H</a:t>
            </a:r>
            <a:r>
              <a:rPr lang="en-US" baseline="-25000" dirty="0"/>
              <a:t>0</a:t>
            </a:r>
          </a:p>
          <a:p>
            <a:pPr marL="514350" indent="-514350">
              <a:spcBef>
                <a:spcPct val="20000"/>
              </a:spcBef>
              <a:buFont typeface="Wingdings"/>
              <a:buAutoNum type="arabicPeriod"/>
            </a:pPr>
            <a:r>
              <a:rPr lang="en-US" baseline="-25000" dirty="0"/>
              <a:t> </a:t>
            </a:r>
            <a:r>
              <a:rPr lang="en-US" dirty="0"/>
              <a:t>Reject H</a:t>
            </a:r>
            <a:r>
              <a:rPr lang="en-US" baseline="-25000" dirty="0"/>
              <a:t>a</a:t>
            </a:r>
          </a:p>
          <a:p>
            <a:pPr marL="514350" indent="-514350">
              <a:spcBef>
                <a:spcPct val="20000"/>
              </a:spcBef>
              <a:buFont typeface="Wingdings"/>
              <a:buAutoNum type="arabicPeriod"/>
            </a:pPr>
            <a:r>
              <a:rPr lang="en-US" baseline="-25000" dirty="0"/>
              <a:t> </a:t>
            </a:r>
            <a:r>
              <a:rPr lang="en-US" dirty="0"/>
              <a:t>Do not reject H</a:t>
            </a:r>
            <a:r>
              <a:rPr lang="en-US" baseline="-25000" dirty="0"/>
              <a:t>a</a:t>
            </a:r>
            <a:endParaRPr lang="en-US" dirty="0"/>
          </a:p>
        </p:txBody>
      </p:sp>
    </p:spTree>
    <p:custDataLst>
      <p:tags r:id="rId1"/>
    </p:custDataLst>
    <p:extLst>
      <p:ext uri="{BB962C8B-B14F-4D97-AF65-F5344CB8AC3E}">
        <p14:creationId xmlns:p14="http://schemas.microsoft.com/office/powerpoint/2010/main" val="2099524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7883" y="152400"/>
            <a:ext cx="9136117" cy="2667000"/>
          </a:xfrm>
        </p:spPr>
        <p:txBody>
          <a:bodyPr>
            <a:normAutofit/>
          </a:bodyPr>
          <a:lstStyle/>
          <a:p>
            <a:r>
              <a:rPr lang="en-US" sz="3600" dirty="0"/>
              <a:t>In a hypothesis test of </a:t>
            </a:r>
            <a:br>
              <a:rPr lang="en-US" sz="3600" dirty="0"/>
            </a:br>
            <a:r>
              <a:rPr lang="en-US" sz="3600" dirty="0"/>
              <a:t>	H</a:t>
            </a:r>
            <a:r>
              <a:rPr lang="en-US" sz="3600" baseline="-25000" dirty="0"/>
              <a:t>0</a:t>
            </a:r>
            <a:r>
              <a:rPr lang="en-US" sz="3600" dirty="0"/>
              <a:t>: </a:t>
            </a:r>
            <a:r>
              <a:rPr lang="en-US" sz="3600" dirty="0">
                <a:sym typeface="Symbol"/>
              </a:rPr>
              <a:t> = 10 </a:t>
            </a:r>
            <a:r>
              <a:rPr lang="en-US" sz="3600" dirty="0" err="1">
                <a:sym typeface="Symbol"/>
              </a:rPr>
              <a:t>vs</a:t>
            </a:r>
            <a:r>
              <a:rPr lang="en-US" sz="3600" dirty="0">
                <a:sym typeface="Symbol"/>
              </a:rPr>
              <a:t> H</a:t>
            </a:r>
            <a:r>
              <a:rPr lang="en-US" sz="3600" baseline="-25000" dirty="0">
                <a:sym typeface="Symbol"/>
              </a:rPr>
              <a:t>a</a:t>
            </a:r>
            <a:r>
              <a:rPr lang="en-US" sz="3600" dirty="0">
                <a:sym typeface="Symbol"/>
              </a:rPr>
              <a:t>:  &lt; 10 </a:t>
            </a:r>
            <a:br>
              <a:rPr lang="en-US" sz="3600" dirty="0">
                <a:sym typeface="Symbol"/>
              </a:rPr>
            </a:br>
            <a:r>
              <a:rPr lang="en-US" sz="3600" dirty="0">
                <a:sym typeface="Symbol"/>
              </a:rPr>
              <a:t>the p-value is 0.21.  With </a:t>
            </a:r>
            <a:r>
              <a:rPr lang="el-GR" sz="3600" dirty="0">
                <a:sym typeface="Symbol"/>
              </a:rPr>
              <a:t>α</a:t>
            </a:r>
            <a:r>
              <a:rPr lang="en-US" sz="3600" dirty="0">
                <a:sym typeface="Symbol"/>
              </a:rPr>
              <a:t> = 0.01, we conclude:</a:t>
            </a:r>
            <a:endParaRPr lang="en-US" sz="3600" dirty="0"/>
          </a:p>
        </p:txBody>
      </p:sp>
      <p:sp>
        <p:nvSpPr>
          <p:cNvPr id="4" name="TPAnswers"/>
          <p:cNvSpPr>
            <a:spLocks noGrp="1"/>
          </p:cNvSpPr>
          <p:nvPr>
            <p:ph idx="4294967295"/>
            <p:custDataLst>
              <p:tags r:id="rId2"/>
            </p:custDataLst>
          </p:nvPr>
        </p:nvSpPr>
        <p:spPr>
          <a:xfrm>
            <a:off x="0" y="2590800"/>
            <a:ext cx="4191000" cy="3810000"/>
          </a:xfrm>
        </p:spPr>
        <p:txBody>
          <a:bodyPr>
            <a:noAutofit/>
          </a:bodyPr>
          <a:lstStyle/>
          <a:p>
            <a:pPr marL="1062990" indent="-514350">
              <a:spcBef>
                <a:spcPct val="20000"/>
              </a:spcBef>
              <a:buFont typeface="+mj-lt"/>
              <a:buAutoNum type="arabicPeriod"/>
            </a:pPr>
            <a:r>
              <a:rPr lang="en-US" dirty="0"/>
              <a:t> There is evidence that </a:t>
            </a:r>
            <a:r>
              <a:rPr lang="en-US" dirty="0">
                <a:sym typeface="Symbol"/>
              </a:rPr>
              <a:t> = 10 </a:t>
            </a:r>
            <a:endParaRPr lang="en-US" baseline="-25000" dirty="0"/>
          </a:p>
          <a:p>
            <a:pPr marL="1062990" indent="-514350">
              <a:spcBef>
                <a:spcPct val="20000"/>
              </a:spcBef>
              <a:buFont typeface="+mj-lt"/>
              <a:buAutoNum type="arabicPeriod"/>
            </a:pPr>
            <a:r>
              <a:rPr lang="en-US" baseline="-25000" dirty="0"/>
              <a:t> </a:t>
            </a:r>
            <a:r>
              <a:rPr lang="en-US" dirty="0"/>
              <a:t>There is evidence that </a:t>
            </a:r>
            <a:r>
              <a:rPr lang="en-US" dirty="0">
                <a:sym typeface="Symbol"/>
              </a:rPr>
              <a:t> &lt; 10 </a:t>
            </a:r>
            <a:endParaRPr lang="en-US" baseline="-25000" dirty="0"/>
          </a:p>
          <a:p>
            <a:pPr marL="1062990" indent="-514350">
              <a:spcBef>
                <a:spcPct val="20000"/>
              </a:spcBef>
              <a:buFont typeface="+mj-lt"/>
              <a:buAutoNum type="arabicPeriod"/>
            </a:pPr>
            <a:r>
              <a:rPr lang="en-US" baseline="-25000" dirty="0"/>
              <a:t> </a:t>
            </a:r>
            <a:r>
              <a:rPr lang="en-US" dirty="0"/>
              <a:t>We have insufficient evidence to conclude anything</a:t>
            </a:r>
            <a:endParaRPr lang="en-US" baseline="-25000" dirty="0"/>
          </a:p>
        </p:txBody>
      </p:sp>
    </p:spTree>
    <p:custDataLst>
      <p:tags r:id="rId1"/>
    </p:custDataLst>
    <p:extLst>
      <p:ext uri="{BB962C8B-B14F-4D97-AF65-F5344CB8AC3E}">
        <p14:creationId xmlns:p14="http://schemas.microsoft.com/office/powerpoint/2010/main" val="3739907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4-InformalDecision.jpg"/>
          <p:cNvPicPr>
            <a:picLocks noChangeAspect="1"/>
          </p:cNvPicPr>
          <p:nvPr/>
        </p:nvPicPr>
        <p:blipFill>
          <a:blip r:embed="rId4" cstate="print"/>
          <a:srcRect r="3100"/>
          <a:stretch>
            <a:fillRect/>
          </a:stretch>
        </p:blipFill>
        <p:spPr>
          <a:xfrm>
            <a:off x="381000" y="4620491"/>
            <a:ext cx="8534400" cy="1551709"/>
          </a:xfrm>
          <a:prstGeom prst="rect">
            <a:avLst/>
          </a:prstGeom>
        </p:spPr>
      </p:pic>
      <p:sp>
        <p:nvSpPr>
          <p:cNvPr id="6" name="TextBox 5"/>
          <p:cNvSpPr txBox="1"/>
          <p:nvPr/>
        </p:nvSpPr>
        <p:spPr>
          <a:xfrm>
            <a:off x="76200" y="4210188"/>
            <a:ext cx="8115300" cy="584775"/>
          </a:xfrm>
          <a:prstGeom prst="rect">
            <a:avLst/>
          </a:prstGeom>
          <a:noFill/>
        </p:spPr>
        <p:txBody>
          <a:bodyPr wrap="square" rtlCol="0">
            <a:spAutoFit/>
          </a:bodyPr>
          <a:lstStyle/>
          <a:p>
            <a:r>
              <a:rPr lang="en-US" sz="3200" dirty="0">
                <a:solidFill>
                  <a:schemeClr val="accent6">
                    <a:lumMod val="50000"/>
                  </a:schemeClr>
                </a:solidFill>
              </a:rPr>
              <a:t>Informal strength of evidence against H</a:t>
            </a:r>
            <a:r>
              <a:rPr lang="en-US" sz="3200" baseline="-25000" dirty="0">
                <a:solidFill>
                  <a:schemeClr val="accent6">
                    <a:lumMod val="50000"/>
                  </a:schemeClr>
                </a:solidFill>
              </a:rPr>
              <a:t>0</a:t>
            </a:r>
            <a:r>
              <a:rPr lang="en-US" sz="3200" dirty="0">
                <a:solidFill>
                  <a:schemeClr val="accent6">
                    <a:lumMod val="50000"/>
                  </a:schemeClr>
                </a:solidFill>
              </a:rPr>
              <a:t>:</a:t>
            </a:r>
          </a:p>
        </p:txBody>
      </p:sp>
      <p:pic>
        <p:nvPicPr>
          <p:cNvPr id="7" name="Picture 6" descr="Fig4-FormalDecision.JPG"/>
          <p:cNvPicPr>
            <a:picLocks noChangeAspect="1"/>
          </p:cNvPicPr>
          <p:nvPr/>
        </p:nvPicPr>
        <p:blipFill>
          <a:blip r:embed="rId5" cstate="print"/>
          <a:srcRect r="2679"/>
          <a:stretch>
            <a:fillRect/>
          </a:stretch>
        </p:blipFill>
        <p:spPr>
          <a:xfrm>
            <a:off x="381000" y="1633210"/>
            <a:ext cx="8534400" cy="1533194"/>
          </a:xfrm>
          <a:prstGeom prst="rect">
            <a:avLst/>
          </a:prstGeom>
        </p:spPr>
      </p:pic>
      <p:sp>
        <p:nvSpPr>
          <p:cNvPr id="8" name="TextBox 7"/>
          <p:cNvSpPr txBox="1"/>
          <p:nvPr/>
        </p:nvSpPr>
        <p:spPr>
          <a:xfrm>
            <a:off x="0" y="1371600"/>
            <a:ext cx="9144000" cy="584775"/>
          </a:xfrm>
          <a:prstGeom prst="rect">
            <a:avLst/>
          </a:prstGeom>
          <a:noFill/>
        </p:spPr>
        <p:txBody>
          <a:bodyPr wrap="square" rtlCol="0">
            <a:spAutoFit/>
          </a:bodyPr>
          <a:lstStyle/>
          <a:p>
            <a:r>
              <a:rPr lang="en-US" sz="3200" dirty="0">
                <a:solidFill>
                  <a:schemeClr val="accent6">
                    <a:lumMod val="50000"/>
                  </a:schemeClr>
                </a:solidFill>
              </a:rPr>
              <a:t>Formal decision of hypothesis test, based on </a:t>
            </a:r>
            <a:r>
              <a:rPr lang="en-US" sz="3200" dirty="0">
                <a:solidFill>
                  <a:schemeClr val="accent6">
                    <a:lumMod val="50000"/>
                  </a:schemeClr>
                </a:solidFill>
                <a:cs typeface="Times New Roman" pitchFamily="18" charset="0"/>
                <a:sym typeface="Symbol"/>
              </a:rPr>
              <a:t> = 0.05 </a:t>
            </a:r>
            <a:r>
              <a:rPr lang="en-US" sz="3200" dirty="0">
                <a:solidFill>
                  <a:schemeClr val="accent6">
                    <a:lumMod val="50000"/>
                  </a:schemeClr>
                </a:solidFill>
              </a:rPr>
              <a:t>:</a:t>
            </a:r>
          </a:p>
        </p:txBody>
      </p:sp>
      <p:graphicFrame>
        <p:nvGraphicFramePr>
          <p:cNvPr id="86017" name="Object 1"/>
          <p:cNvGraphicFramePr>
            <a:graphicFrameLocks noChangeAspect="1"/>
          </p:cNvGraphicFramePr>
          <p:nvPr>
            <p:extLst>
              <p:ext uri="{D42A27DB-BD31-4B8C-83A1-F6EECF244321}">
                <p14:modId xmlns:p14="http://schemas.microsoft.com/office/powerpoint/2010/main" val="1207916947"/>
              </p:ext>
            </p:extLst>
          </p:nvPr>
        </p:nvGraphicFramePr>
        <p:xfrm>
          <a:off x="914400" y="2971800"/>
          <a:ext cx="3236913" cy="838200"/>
        </p:xfrm>
        <a:graphic>
          <a:graphicData uri="http://schemas.openxmlformats.org/presentationml/2006/ole">
            <mc:AlternateContent xmlns:mc="http://schemas.openxmlformats.org/markup-compatibility/2006">
              <mc:Choice xmlns:v="urn:schemas-microsoft-com:vml" Requires="v">
                <p:oleObj spid="_x0000_s4138" name="Equation" r:id="rId6" imgW="1422360" imgH="368280" progId="Equation.DSMT4">
                  <p:embed/>
                </p:oleObj>
              </mc:Choice>
              <mc:Fallback>
                <p:oleObj name="Equation" r:id="rId6" imgW="1422360" imgH="36828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2971800"/>
                        <a:ext cx="32369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18" name="Object 2"/>
          <p:cNvGraphicFramePr>
            <a:graphicFrameLocks noChangeAspect="1"/>
          </p:cNvGraphicFramePr>
          <p:nvPr>
            <p:extLst>
              <p:ext uri="{D42A27DB-BD31-4B8C-83A1-F6EECF244321}">
                <p14:modId xmlns:p14="http://schemas.microsoft.com/office/powerpoint/2010/main" val="1356739213"/>
              </p:ext>
            </p:extLst>
          </p:nvPr>
        </p:nvGraphicFramePr>
        <p:xfrm>
          <a:off x="4381501" y="2962275"/>
          <a:ext cx="4457700" cy="793569"/>
        </p:xfrm>
        <a:graphic>
          <a:graphicData uri="http://schemas.openxmlformats.org/presentationml/2006/ole">
            <mc:AlternateContent xmlns:mc="http://schemas.openxmlformats.org/markup-compatibility/2006">
              <mc:Choice xmlns:v="urn:schemas-microsoft-com:vml" Requires="v">
                <p:oleObj spid="_x0000_s4139" name="Equation" r:id="rId8" imgW="2070000" imgH="368280" progId="Equation.DSMT4">
                  <p:embed/>
                </p:oleObj>
              </mc:Choice>
              <mc:Fallback>
                <p:oleObj name="Equation" r:id="rId8" imgW="2070000" imgH="36828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81501" y="2962275"/>
                        <a:ext cx="4457700" cy="793569"/>
                      </a:xfrm>
                      <a:prstGeom prst="rect">
                        <a:avLst/>
                      </a:prstGeom>
                      <a:noFill/>
                      <a:extLst/>
                    </p:spPr>
                  </p:pic>
                </p:oleObj>
              </mc:Fallback>
            </mc:AlternateContent>
          </a:graphicData>
        </a:graphic>
      </p:graphicFrame>
      <p:sp>
        <p:nvSpPr>
          <p:cNvPr id="9" name="Title 1"/>
          <p:cNvSpPr txBox="1">
            <a:spLocks/>
          </p:cNvSpPr>
          <p:nvPr/>
        </p:nvSpPr>
        <p:spPr>
          <a:xfrm>
            <a:off x="495300" y="152400"/>
            <a:ext cx="8153400" cy="1219200"/>
          </a:xfrm>
          <a:prstGeom prst="rect">
            <a:avLst/>
          </a:prstGeom>
        </p:spPr>
        <p:txBody>
          <a:bodyPr/>
          <a:lstStyle/>
          <a:p>
            <a:pPr lvl="0" algn="ctr">
              <a:spcBef>
                <a:spcPct val="0"/>
              </a:spcBef>
              <a:defRPr/>
            </a:pPr>
            <a:r>
              <a:rPr lang="en-US" sz="4400" b="1" dirty="0">
                <a:solidFill>
                  <a:schemeClr val="tx2"/>
                </a:solidFill>
              </a:rPr>
              <a:t>Statistical Conclusions</a:t>
            </a:r>
            <a:endParaRPr lang="en-US" sz="4000" b="1" dirty="0">
              <a:solidFill>
                <a:schemeClr val="tx2"/>
              </a:solidFill>
            </a:endParaRPr>
          </a:p>
        </p:txBody>
      </p:sp>
    </p:spTree>
    <p:custDataLst>
      <p:tags r:id="rId2"/>
    </p:custDataLst>
    <p:extLst>
      <p:ext uri="{BB962C8B-B14F-4D97-AF65-F5344CB8AC3E}">
        <p14:creationId xmlns:p14="http://schemas.microsoft.com/office/powerpoint/2010/main" val="312651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nodeType="withEffect">
                                  <p:stCondLst>
                                    <p:cond delay="0"/>
                                  </p:stCondLst>
                                  <p:childTnLst>
                                    <p:set>
                                      <p:cBhvr>
                                        <p:cTn id="16" dur="1" fill="hold">
                                          <p:stCondLst>
                                            <p:cond delay="0"/>
                                          </p:stCondLst>
                                        </p:cTn>
                                        <p:tgtEl>
                                          <p:spTgt spid="86017"/>
                                        </p:tgtEl>
                                        <p:attrNameLst>
                                          <p:attrName>style.visibility</p:attrName>
                                        </p:attrNameLst>
                                      </p:cBhvr>
                                      <p:to>
                                        <p:strVal val="visible"/>
                                      </p:to>
                                    </p:set>
                                    <p:anim calcmode="lin" valueType="num">
                                      <p:cBhvr>
                                        <p:cTn id="17" dur="500" fill="hold"/>
                                        <p:tgtEl>
                                          <p:spTgt spid="86017"/>
                                        </p:tgtEl>
                                        <p:attrNameLst>
                                          <p:attrName>ppt_w</p:attrName>
                                        </p:attrNameLst>
                                      </p:cBhvr>
                                      <p:tavLst>
                                        <p:tav tm="0">
                                          <p:val>
                                            <p:fltVal val="0"/>
                                          </p:val>
                                        </p:tav>
                                        <p:tav tm="100000">
                                          <p:val>
                                            <p:strVal val="#ppt_w"/>
                                          </p:val>
                                        </p:tav>
                                      </p:tavLst>
                                    </p:anim>
                                    <p:anim calcmode="lin" valueType="num">
                                      <p:cBhvr>
                                        <p:cTn id="18" dur="500" fill="hold"/>
                                        <p:tgtEl>
                                          <p:spTgt spid="86017"/>
                                        </p:tgtEl>
                                        <p:attrNameLst>
                                          <p:attrName>ppt_h</p:attrName>
                                        </p:attrNameLst>
                                      </p:cBhvr>
                                      <p:tavLst>
                                        <p:tav tm="0">
                                          <p:val>
                                            <p:fltVal val="0"/>
                                          </p:val>
                                        </p:tav>
                                        <p:tav tm="100000">
                                          <p:val>
                                            <p:strVal val="#ppt_h"/>
                                          </p:val>
                                        </p:tav>
                                      </p:tavLst>
                                    </p:anim>
                                    <p:animEffect transition="in" filter="fade">
                                      <p:cBhvr>
                                        <p:cTn id="19" dur="500"/>
                                        <p:tgtEl>
                                          <p:spTgt spid="86017"/>
                                        </p:tgtEl>
                                      </p:cBhvr>
                                    </p:animEffect>
                                  </p:childTnLst>
                                </p:cTn>
                              </p:par>
                              <p:par>
                                <p:cTn id="20" presetID="53" presetClass="entr" presetSubtype="0" fill="hold" nodeType="withEffect">
                                  <p:stCondLst>
                                    <p:cond delay="0"/>
                                  </p:stCondLst>
                                  <p:childTnLst>
                                    <p:set>
                                      <p:cBhvr>
                                        <p:cTn id="21" dur="1" fill="hold">
                                          <p:stCondLst>
                                            <p:cond delay="0"/>
                                          </p:stCondLst>
                                        </p:cTn>
                                        <p:tgtEl>
                                          <p:spTgt spid="86018"/>
                                        </p:tgtEl>
                                        <p:attrNameLst>
                                          <p:attrName>style.visibility</p:attrName>
                                        </p:attrNameLst>
                                      </p:cBhvr>
                                      <p:to>
                                        <p:strVal val="visible"/>
                                      </p:to>
                                    </p:set>
                                    <p:anim calcmode="lin" valueType="num">
                                      <p:cBhvr>
                                        <p:cTn id="22" dur="500" fill="hold"/>
                                        <p:tgtEl>
                                          <p:spTgt spid="86018"/>
                                        </p:tgtEl>
                                        <p:attrNameLst>
                                          <p:attrName>ppt_w</p:attrName>
                                        </p:attrNameLst>
                                      </p:cBhvr>
                                      <p:tavLst>
                                        <p:tav tm="0">
                                          <p:val>
                                            <p:fltVal val="0"/>
                                          </p:val>
                                        </p:tav>
                                        <p:tav tm="100000">
                                          <p:val>
                                            <p:strVal val="#ppt_w"/>
                                          </p:val>
                                        </p:tav>
                                      </p:tavLst>
                                    </p:anim>
                                    <p:anim calcmode="lin" valueType="num">
                                      <p:cBhvr>
                                        <p:cTn id="23" dur="500" fill="hold"/>
                                        <p:tgtEl>
                                          <p:spTgt spid="86018"/>
                                        </p:tgtEl>
                                        <p:attrNameLst>
                                          <p:attrName>ppt_h</p:attrName>
                                        </p:attrNameLst>
                                      </p:cBhvr>
                                      <p:tavLst>
                                        <p:tav tm="0">
                                          <p:val>
                                            <p:fltVal val="0"/>
                                          </p:val>
                                        </p:tav>
                                        <p:tav tm="100000">
                                          <p:val>
                                            <p:strVal val="#ppt_h"/>
                                          </p:val>
                                        </p:tav>
                                      </p:tavLst>
                                    </p:anim>
                                    <p:animEffect transition="in" filter="fade">
                                      <p:cBhvr>
                                        <p:cTn id="24" dur="500"/>
                                        <p:tgtEl>
                                          <p:spTgt spid="860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8153400" cy="990600"/>
          </a:xfrm>
        </p:spPr>
        <p:txBody>
          <a:bodyPr/>
          <a:lstStyle/>
          <a:p>
            <a:r>
              <a:rPr lang="en-US" dirty="0"/>
              <a:t>Conclusions</a:t>
            </a:r>
          </a:p>
        </p:txBody>
      </p:sp>
      <p:sp>
        <p:nvSpPr>
          <p:cNvPr id="4" name="Rounded Rectangle 3"/>
          <p:cNvSpPr/>
          <p:nvPr/>
        </p:nvSpPr>
        <p:spPr>
          <a:xfrm>
            <a:off x="914400" y="1295400"/>
            <a:ext cx="3048000" cy="762000"/>
          </a:xfrm>
          <a:prstGeom prst="roundRect">
            <a:avLst/>
          </a:prstGeom>
          <a:solidFill>
            <a:schemeClr val="accent1">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3600" dirty="0"/>
              <a:t>p-value &lt; α</a:t>
            </a:r>
          </a:p>
        </p:txBody>
      </p:sp>
      <p:sp>
        <p:nvSpPr>
          <p:cNvPr id="10" name="Rounded Rectangle 9"/>
          <p:cNvSpPr/>
          <p:nvPr/>
        </p:nvSpPr>
        <p:spPr>
          <a:xfrm>
            <a:off x="990600" y="2667000"/>
            <a:ext cx="2895600" cy="9906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u="sng" dirty="0">
                <a:solidFill>
                  <a:schemeClr val="accent1">
                    <a:lumMod val="50000"/>
                  </a:schemeClr>
                </a:solidFill>
              </a:rPr>
              <a:t>Generic conclusion</a:t>
            </a:r>
            <a:r>
              <a:rPr lang="en-US" sz="2400" b="1" dirty="0">
                <a:solidFill>
                  <a:schemeClr val="accent1">
                    <a:lumMod val="50000"/>
                  </a:schemeClr>
                </a:solidFill>
              </a:rPr>
              <a:t>:</a:t>
            </a:r>
          </a:p>
          <a:p>
            <a:pPr algn="ctr"/>
            <a:r>
              <a:rPr lang="en-US" sz="2400" b="1" dirty="0">
                <a:solidFill>
                  <a:schemeClr val="accent1">
                    <a:lumMod val="50000"/>
                  </a:schemeClr>
                </a:solidFill>
              </a:rPr>
              <a:t>Reject H</a:t>
            </a:r>
            <a:r>
              <a:rPr lang="en-US" sz="2400" b="1" baseline="-25000" dirty="0">
                <a:solidFill>
                  <a:schemeClr val="accent1">
                    <a:lumMod val="50000"/>
                  </a:schemeClr>
                </a:solidFill>
              </a:rPr>
              <a:t>0</a:t>
            </a:r>
            <a:endParaRPr lang="en-US" sz="2400" b="1" dirty="0">
              <a:solidFill>
                <a:schemeClr val="accent1">
                  <a:lumMod val="50000"/>
                </a:schemeClr>
              </a:solidFill>
            </a:endParaRPr>
          </a:p>
        </p:txBody>
      </p:sp>
      <p:sp>
        <p:nvSpPr>
          <p:cNvPr id="11" name="Rounded Rectangle 10"/>
          <p:cNvSpPr/>
          <p:nvPr/>
        </p:nvSpPr>
        <p:spPr>
          <a:xfrm>
            <a:off x="457200" y="4191000"/>
            <a:ext cx="3962400" cy="17526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400" b="1" u="sng" dirty="0">
                <a:solidFill>
                  <a:schemeClr val="accent1">
                    <a:lumMod val="50000"/>
                  </a:schemeClr>
                </a:solidFill>
              </a:rPr>
              <a:t>Conclusion in context:</a:t>
            </a:r>
          </a:p>
          <a:p>
            <a:pPr algn="ctr"/>
            <a:r>
              <a:rPr lang="en-US" sz="2400" b="1" dirty="0">
                <a:solidFill>
                  <a:schemeClr val="accent1">
                    <a:lumMod val="50000"/>
                  </a:schemeClr>
                </a:solidFill>
              </a:rPr>
              <a:t>We have (strong?) evidence that [</a:t>
            </a:r>
            <a:r>
              <a:rPr lang="en-US" sz="2400" b="1" i="1" dirty="0">
                <a:solidFill>
                  <a:schemeClr val="accent1">
                    <a:lumMod val="50000"/>
                  </a:schemeClr>
                </a:solidFill>
              </a:rPr>
              <a:t>fill in alternative hypothesis</a:t>
            </a:r>
            <a:r>
              <a:rPr lang="en-US" sz="2400" b="1" dirty="0">
                <a:solidFill>
                  <a:schemeClr val="accent1">
                    <a:lumMod val="50000"/>
                  </a:schemeClr>
                </a:solidFill>
              </a:rPr>
              <a:t>]</a:t>
            </a:r>
          </a:p>
          <a:p>
            <a:pPr algn="ctr"/>
            <a:endParaRPr lang="en-US" sz="2400" dirty="0">
              <a:solidFill>
                <a:schemeClr val="accent1"/>
              </a:solidFill>
            </a:endParaRPr>
          </a:p>
        </p:txBody>
      </p:sp>
      <p:cxnSp>
        <p:nvCxnSpPr>
          <p:cNvPr id="5" name="Straight Arrow Connector 4"/>
          <p:cNvCxnSpPr>
            <a:stCxn id="4" idx="2"/>
            <a:endCxn id="10" idx="0"/>
          </p:cNvCxnSpPr>
          <p:nvPr/>
        </p:nvCxnSpPr>
        <p:spPr>
          <a:xfrm>
            <a:off x="2438400" y="2057400"/>
            <a:ext cx="0" cy="6096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10" idx="2"/>
            <a:endCxn id="11" idx="0"/>
          </p:cNvCxnSpPr>
          <p:nvPr/>
        </p:nvCxnSpPr>
        <p:spPr>
          <a:xfrm>
            <a:off x="2438400" y="3657600"/>
            <a:ext cx="0" cy="5334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24500" y="1308410"/>
            <a:ext cx="2667000" cy="762000"/>
          </a:xfrm>
          <a:prstGeom prst="roundRect">
            <a:avLst/>
          </a:prstGeom>
          <a:solidFill>
            <a:schemeClr val="accent1">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3600" dirty="0"/>
              <a:t>p-value ≥ α</a:t>
            </a:r>
          </a:p>
        </p:txBody>
      </p:sp>
      <p:sp>
        <p:nvSpPr>
          <p:cNvPr id="21" name="Rounded Rectangle 20"/>
          <p:cNvSpPr/>
          <p:nvPr/>
        </p:nvSpPr>
        <p:spPr>
          <a:xfrm>
            <a:off x="5410200" y="2667000"/>
            <a:ext cx="2895600" cy="9906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lvl="0" algn="ctr"/>
            <a:r>
              <a:rPr lang="en-US" sz="2400" b="1" u="sng" dirty="0">
                <a:solidFill>
                  <a:schemeClr val="accent1">
                    <a:lumMod val="50000"/>
                  </a:schemeClr>
                </a:solidFill>
              </a:rPr>
              <a:t>Generic conclusion</a:t>
            </a:r>
            <a:r>
              <a:rPr lang="en-US" sz="2400" b="1" dirty="0">
                <a:solidFill>
                  <a:schemeClr val="accent1">
                    <a:lumMod val="50000"/>
                  </a:schemeClr>
                </a:solidFill>
              </a:rPr>
              <a:t>:</a:t>
            </a:r>
          </a:p>
          <a:p>
            <a:pPr lvl="0" algn="ctr"/>
            <a:r>
              <a:rPr lang="en-US" sz="2400" b="1" dirty="0">
                <a:solidFill>
                  <a:schemeClr val="accent1">
                    <a:lumMod val="50000"/>
                  </a:schemeClr>
                </a:solidFill>
              </a:rPr>
              <a:t>Do not reject H</a:t>
            </a:r>
            <a:r>
              <a:rPr lang="en-US" sz="2400" b="1" baseline="-25000" dirty="0">
                <a:solidFill>
                  <a:schemeClr val="accent1">
                    <a:lumMod val="50000"/>
                  </a:schemeClr>
                </a:solidFill>
              </a:rPr>
              <a:t>0</a:t>
            </a:r>
            <a:endParaRPr lang="en-US" sz="2400" b="1" dirty="0">
              <a:solidFill>
                <a:schemeClr val="accent1">
                  <a:lumMod val="50000"/>
                </a:schemeClr>
              </a:solidFill>
            </a:endParaRPr>
          </a:p>
        </p:txBody>
      </p:sp>
      <p:sp>
        <p:nvSpPr>
          <p:cNvPr id="22" name="Rounded Rectangle 21"/>
          <p:cNvSpPr/>
          <p:nvPr/>
        </p:nvSpPr>
        <p:spPr>
          <a:xfrm>
            <a:off x="4800600" y="4191000"/>
            <a:ext cx="4114800" cy="1752600"/>
          </a:xfrm>
          <a:prstGeom prst="roundRect">
            <a:avLst/>
          </a:prstGeom>
          <a:solidFill>
            <a:srgbClr val="B6FBFD"/>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lvl="0" algn="ctr"/>
            <a:r>
              <a:rPr lang="en-US" sz="2400" b="1" u="sng" dirty="0">
                <a:solidFill>
                  <a:schemeClr val="accent1">
                    <a:lumMod val="50000"/>
                  </a:schemeClr>
                </a:solidFill>
              </a:rPr>
              <a:t>Conclusion in context:</a:t>
            </a:r>
          </a:p>
          <a:p>
            <a:pPr lvl="0" algn="ctr"/>
            <a:r>
              <a:rPr lang="en-US" sz="2400" b="1" dirty="0">
                <a:solidFill>
                  <a:schemeClr val="accent1">
                    <a:lumMod val="50000"/>
                  </a:schemeClr>
                </a:solidFill>
              </a:rPr>
              <a:t>We do not have enough evidence to conclude that [</a:t>
            </a:r>
            <a:r>
              <a:rPr lang="en-US" sz="2400" b="1" i="1" dirty="0">
                <a:solidFill>
                  <a:schemeClr val="accent1">
                    <a:lumMod val="50000"/>
                  </a:schemeClr>
                </a:solidFill>
              </a:rPr>
              <a:t>fill in alternative hypothesis</a:t>
            </a:r>
            <a:r>
              <a:rPr lang="en-US" sz="2400" b="1" dirty="0">
                <a:solidFill>
                  <a:schemeClr val="accent1">
                    <a:lumMod val="50000"/>
                  </a:schemeClr>
                </a:solidFill>
              </a:rPr>
              <a:t>]</a:t>
            </a:r>
          </a:p>
        </p:txBody>
      </p:sp>
      <p:cxnSp>
        <p:nvCxnSpPr>
          <p:cNvPr id="24" name="Straight Arrow Connector 23"/>
          <p:cNvCxnSpPr>
            <a:stCxn id="20" idx="2"/>
            <a:endCxn id="21" idx="0"/>
          </p:cNvCxnSpPr>
          <p:nvPr/>
        </p:nvCxnSpPr>
        <p:spPr>
          <a:xfrm>
            <a:off x="6858000" y="2070410"/>
            <a:ext cx="0" cy="59659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21" idx="2"/>
            <a:endCxn id="22" idx="0"/>
          </p:cNvCxnSpPr>
          <p:nvPr/>
        </p:nvCxnSpPr>
        <p:spPr>
          <a:xfrm>
            <a:off x="6858000" y="3657600"/>
            <a:ext cx="0" cy="533400"/>
          </a:xfrm>
          <a:prstGeom prst="straightConnector1">
            <a:avLst/>
          </a:prstGeom>
          <a:ln>
            <a:solidFill>
              <a:schemeClr val="accent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343400" y="2286000"/>
            <a:ext cx="685800" cy="523220"/>
          </a:xfrm>
          <a:prstGeom prst="rect">
            <a:avLst/>
          </a:prstGeom>
          <a:noFill/>
        </p:spPr>
        <p:txBody>
          <a:bodyPr wrap="square" rtlCol="0">
            <a:spAutoFit/>
          </a:bodyPr>
          <a:lstStyle/>
          <a:p>
            <a:r>
              <a:rPr lang="en-US" sz="2800" b="1" dirty="0">
                <a:solidFill>
                  <a:schemeClr val="accent2">
                    <a:lumMod val="75000"/>
                  </a:schemeClr>
                </a:solidFill>
              </a:rPr>
              <a:t>H</a:t>
            </a:r>
            <a:r>
              <a:rPr lang="en-US" sz="2800" b="1" baseline="-25000" dirty="0">
                <a:solidFill>
                  <a:schemeClr val="accent2">
                    <a:lumMod val="75000"/>
                  </a:schemeClr>
                </a:solidFill>
              </a:rPr>
              <a:t>0</a:t>
            </a:r>
            <a:endParaRPr lang="en-US" sz="2800" b="1" dirty="0">
              <a:solidFill>
                <a:schemeClr val="accent2">
                  <a:lumMod val="75000"/>
                </a:schemeClr>
              </a:solidFill>
            </a:endParaRPr>
          </a:p>
        </p:txBody>
      </p:sp>
      <p:cxnSp>
        <p:nvCxnSpPr>
          <p:cNvPr id="57" name="Straight Arrow Connector 56"/>
          <p:cNvCxnSpPr>
            <a:stCxn id="55" idx="1"/>
          </p:cNvCxnSpPr>
          <p:nvPr/>
        </p:nvCxnSpPr>
        <p:spPr>
          <a:xfrm flipH="1">
            <a:off x="3810000" y="2547610"/>
            <a:ext cx="533400" cy="271790"/>
          </a:xfrm>
          <a:prstGeom prst="straightConnector1">
            <a:avLst/>
          </a:prstGeom>
          <a:ln>
            <a:solidFill>
              <a:schemeClr val="accent2">
                <a:lumMod val="75000"/>
              </a:schemeClr>
            </a:solidFill>
            <a:prstDash val="solid"/>
            <a:tailEnd type="arrow"/>
          </a:ln>
        </p:spPr>
        <p:style>
          <a:lnRef idx="2">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a:off x="4800600" y="2590800"/>
            <a:ext cx="685800" cy="228600"/>
          </a:xfrm>
          <a:prstGeom prst="straightConnector1">
            <a:avLst/>
          </a:prstGeom>
          <a:ln>
            <a:solidFill>
              <a:schemeClr val="accent2">
                <a:lumMod val="75000"/>
              </a:schemeClr>
            </a:solidFill>
            <a:prstDash val="solid"/>
            <a:tailEnd type="arrow"/>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419600" y="3657600"/>
            <a:ext cx="685800" cy="523220"/>
          </a:xfrm>
          <a:prstGeom prst="rect">
            <a:avLst/>
          </a:prstGeom>
          <a:noFill/>
        </p:spPr>
        <p:txBody>
          <a:bodyPr wrap="square" rtlCol="0">
            <a:spAutoFit/>
          </a:bodyPr>
          <a:lstStyle/>
          <a:p>
            <a:r>
              <a:rPr lang="en-US" sz="2800" b="1" dirty="0">
                <a:solidFill>
                  <a:schemeClr val="accent2">
                    <a:lumMod val="75000"/>
                  </a:schemeClr>
                </a:solidFill>
              </a:rPr>
              <a:t>H</a:t>
            </a:r>
            <a:r>
              <a:rPr lang="en-US" sz="2800" b="1" baseline="-25000" dirty="0">
                <a:solidFill>
                  <a:schemeClr val="accent2">
                    <a:lumMod val="75000"/>
                  </a:schemeClr>
                </a:solidFill>
              </a:rPr>
              <a:t>a</a:t>
            </a:r>
            <a:endParaRPr lang="en-US" sz="2800" b="1" dirty="0">
              <a:solidFill>
                <a:schemeClr val="accent2">
                  <a:lumMod val="75000"/>
                </a:schemeClr>
              </a:solidFill>
            </a:endParaRPr>
          </a:p>
        </p:txBody>
      </p:sp>
      <p:cxnSp>
        <p:nvCxnSpPr>
          <p:cNvPr id="65" name="Straight Arrow Connector 64"/>
          <p:cNvCxnSpPr>
            <a:stCxn id="64" idx="1"/>
          </p:cNvCxnSpPr>
          <p:nvPr/>
        </p:nvCxnSpPr>
        <p:spPr>
          <a:xfrm flipH="1">
            <a:off x="3962400" y="3919210"/>
            <a:ext cx="457200" cy="347990"/>
          </a:xfrm>
          <a:prstGeom prst="straightConnector1">
            <a:avLst/>
          </a:prstGeom>
          <a:ln>
            <a:solidFill>
              <a:schemeClr val="accent2">
                <a:lumMod val="75000"/>
              </a:schemeClr>
            </a:solidFill>
            <a:prstDash val="solid"/>
            <a:tailEnd type="arrow"/>
          </a:ln>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a:off x="4876800" y="3962400"/>
            <a:ext cx="533400" cy="381000"/>
          </a:xfrm>
          <a:prstGeom prst="straightConnector1">
            <a:avLst/>
          </a:prstGeom>
          <a:ln>
            <a:solidFill>
              <a:schemeClr val="accent2">
                <a:lumMod val="75000"/>
              </a:schemeClr>
            </a:solidFill>
            <a:prstDash val="solid"/>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50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ppt_w</p:attrName>
                                        </p:attrNameLst>
                                      </p:cBhvr>
                                      <p:tavLst>
                                        <p:tav tm="0">
                                          <p:val>
                                            <p:fltVal val="0"/>
                                          </p:val>
                                        </p:tav>
                                        <p:tav tm="100000">
                                          <p:val>
                                            <p:strVal val="#ppt_w"/>
                                          </p:val>
                                        </p:tav>
                                      </p:tavLst>
                                    </p:anim>
                                    <p:anim calcmode="lin" valueType="num">
                                      <p:cBhvr>
                                        <p:cTn id="33" dur="500" fill="hold"/>
                                        <p:tgtEl>
                                          <p:spTgt spid="20"/>
                                        </p:tgtEl>
                                        <p:attrNameLst>
                                          <p:attrName>ppt_h</p:attrName>
                                        </p:attrNameLst>
                                      </p:cBhvr>
                                      <p:tavLst>
                                        <p:tav tm="0">
                                          <p:val>
                                            <p:fltVal val="0"/>
                                          </p:val>
                                        </p:tav>
                                        <p:tav tm="100000">
                                          <p:val>
                                            <p:strVal val="#ppt_h"/>
                                          </p:val>
                                        </p:tav>
                                      </p:tavLst>
                                    </p:anim>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dissolv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up)">
                                      <p:cBhvr>
                                        <p:cTn id="48" dur="500"/>
                                        <p:tgtEl>
                                          <p:spTgt spid="25"/>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dissolv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dissolve">
                                      <p:cBhvr>
                                        <p:cTn id="57" dur="500"/>
                                        <p:tgtEl>
                                          <p:spTgt spid="55"/>
                                        </p:tgtEl>
                                      </p:cBhvr>
                                    </p:animEffect>
                                  </p:childTnLst>
                                </p:cTn>
                              </p:par>
                            </p:childTnLst>
                          </p:cTn>
                        </p:par>
                        <p:par>
                          <p:cTn id="58" fill="hold">
                            <p:stCondLst>
                              <p:cond delay="500"/>
                            </p:stCondLst>
                            <p:childTnLst>
                              <p:par>
                                <p:cTn id="59" presetID="22" presetClass="entr" presetSubtype="2" fill="hold" nodeType="after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wipe(right)">
                                      <p:cBhvr>
                                        <p:cTn id="61" dur="500"/>
                                        <p:tgtEl>
                                          <p:spTgt spid="57"/>
                                        </p:tgtEl>
                                      </p:cBhvr>
                                    </p:animEffect>
                                  </p:childTnLst>
                                </p:cTn>
                              </p:par>
                              <p:par>
                                <p:cTn id="62" presetID="22" presetClass="entr" presetSubtype="8"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64"/>
                                        </p:tgtEl>
                                        <p:attrNameLst>
                                          <p:attrName>style.visibility</p:attrName>
                                        </p:attrNameLst>
                                      </p:cBhvr>
                                      <p:to>
                                        <p:strVal val="visible"/>
                                      </p:to>
                                    </p:set>
                                    <p:animEffect transition="in" filter="dissolve">
                                      <p:cBhvr>
                                        <p:cTn id="69" dur="500"/>
                                        <p:tgtEl>
                                          <p:spTgt spid="64"/>
                                        </p:tgtEl>
                                      </p:cBhvr>
                                    </p:animEffect>
                                  </p:childTnLst>
                                </p:cTn>
                              </p:par>
                            </p:childTnLst>
                          </p:cTn>
                        </p:par>
                        <p:par>
                          <p:cTn id="70" fill="hold">
                            <p:stCondLst>
                              <p:cond delay="500"/>
                            </p:stCondLst>
                            <p:childTnLst>
                              <p:par>
                                <p:cTn id="71" presetID="22" presetClass="entr" presetSubtype="2" fill="hold" nodeType="after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wipe(right)">
                                      <p:cBhvr>
                                        <p:cTn id="73" dur="500"/>
                                        <p:tgtEl>
                                          <p:spTgt spid="65"/>
                                        </p:tgtEl>
                                      </p:cBhvr>
                                    </p:animEffect>
                                  </p:childTnLst>
                                </p:cTn>
                              </p:par>
                              <p:par>
                                <p:cTn id="74" presetID="22" presetClass="entr" presetSubtype="8"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wipe(left)">
                                      <p:cBhvr>
                                        <p:cTn id="76"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20" grpId="0" animBg="1"/>
      <p:bldP spid="21" grpId="0" animBg="1"/>
      <p:bldP spid="22" grpId="0" animBg="1"/>
      <p:bldP spid="55" grpId="0"/>
      <p:bldP spid="6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www.dreamstime.com/blind-mouse-with-sunglasses-thumb16804324.jpg"/>
          <p:cNvPicPr>
            <a:picLocks noChangeAspect="1" noChangeArrowheads="1"/>
          </p:cNvPicPr>
          <p:nvPr/>
        </p:nvPicPr>
        <p:blipFill rotWithShape="1">
          <a:blip r:embed="rId3" cstate="print"/>
          <a:srcRect l="7213" t="5974" r="20663" b="10320"/>
          <a:stretch/>
        </p:blipFill>
        <p:spPr bwMode="auto">
          <a:xfrm>
            <a:off x="7543800" y="2057400"/>
            <a:ext cx="1503876" cy="1335198"/>
          </a:xfrm>
          <a:prstGeom prst="rect">
            <a:avLst/>
          </a:prstGeom>
          <a:noFill/>
        </p:spPr>
      </p:pic>
      <p:sp>
        <p:nvSpPr>
          <p:cNvPr id="2" name="Title 1"/>
          <p:cNvSpPr>
            <a:spLocks noGrp="1"/>
          </p:cNvSpPr>
          <p:nvPr>
            <p:ph type="title"/>
          </p:nvPr>
        </p:nvSpPr>
        <p:spPr/>
        <p:txBody>
          <a:bodyPr/>
          <a:lstStyle/>
          <a:p>
            <a:r>
              <a:rPr lang="en-US" dirty="0"/>
              <a:t>Multiple Sclerosis and Sunlight</a:t>
            </a:r>
          </a:p>
        </p:txBody>
      </p:sp>
      <p:sp>
        <p:nvSpPr>
          <p:cNvPr id="3" name="Content Placeholder 2"/>
          <p:cNvSpPr>
            <a:spLocks noGrp="1"/>
          </p:cNvSpPr>
          <p:nvPr>
            <p:ph idx="1"/>
          </p:nvPr>
        </p:nvSpPr>
        <p:spPr>
          <a:xfrm>
            <a:off x="-36340" y="1524000"/>
            <a:ext cx="9155723" cy="4114800"/>
          </a:xfrm>
        </p:spPr>
        <p:txBody>
          <a:bodyPr>
            <a:noAutofit/>
          </a:bodyPr>
          <a:lstStyle/>
          <a:p>
            <a:pPr>
              <a:buFont typeface="Arial" pitchFamily="34" charset="0"/>
              <a:buChar char="•"/>
            </a:pPr>
            <a:r>
              <a:rPr lang="en-US" sz="3000" dirty="0">
                <a:cs typeface="Times New Roman" pitchFamily="18" charset="0"/>
              </a:rPr>
              <a:t>It is believed that sunlight offers some protection against multiple sclerosis, but the reason is unknown</a:t>
            </a:r>
          </a:p>
          <a:p>
            <a:pPr>
              <a:spcAft>
                <a:spcPts val="0"/>
              </a:spcAft>
              <a:buFont typeface="Arial" pitchFamily="34" charset="0"/>
              <a:buChar char="•"/>
            </a:pPr>
            <a:r>
              <a:rPr lang="en-US" sz="3000" dirty="0">
                <a:cs typeface="Times New Roman" pitchFamily="18" charset="0"/>
              </a:rPr>
              <a:t>Researchers randomly assigned mice to one of:</a:t>
            </a:r>
          </a:p>
          <a:p>
            <a:pPr lvl="1">
              <a:spcAft>
                <a:spcPts val="0"/>
              </a:spcAft>
              <a:buFont typeface="Arial" pitchFamily="34" charset="0"/>
              <a:buChar char="•"/>
            </a:pPr>
            <a:r>
              <a:rPr lang="en-US" sz="3000" dirty="0">
                <a:cs typeface="Times New Roman" pitchFamily="18" charset="0"/>
              </a:rPr>
              <a:t> Control (nothing)</a:t>
            </a:r>
          </a:p>
          <a:p>
            <a:pPr lvl="1">
              <a:spcAft>
                <a:spcPts val="0"/>
              </a:spcAft>
              <a:buFont typeface="Arial" pitchFamily="34" charset="0"/>
              <a:buChar char="•"/>
            </a:pPr>
            <a:r>
              <a:rPr lang="en-US" sz="3000" dirty="0">
                <a:cs typeface="Times New Roman" pitchFamily="18" charset="0"/>
              </a:rPr>
              <a:t> Vitamin D Supplements</a:t>
            </a:r>
          </a:p>
          <a:p>
            <a:pPr lvl="1">
              <a:buFont typeface="Arial" pitchFamily="34" charset="0"/>
              <a:buChar char="•"/>
            </a:pPr>
            <a:r>
              <a:rPr lang="en-US" sz="3000" dirty="0">
                <a:cs typeface="Times New Roman" pitchFamily="18" charset="0"/>
              </a:rPr>
              <a:t> UV Light</a:t>
            </a:r>
          </a:p>
          <a:p>
            <a:pPr>
              <a:buFont typeface="Arial" pitchFamily="34" charset="0"/>
              <a:buChar char="•"/>
            </a:pPr>
            <a:r>
              <a:rPr lang="en-US" sz="3000" dirty="0">
                <a:cs typeface="Times New Roman" pitchFamily="18" charset="0"/>
              </a:rPr>
              <a:t> All mice were injected with  proteins known to induce a mouse form of MS, and they observed which mice got it</a:t>
            </a:r>
            <a:endParaRPr lang="en-US" sz="3000" dirty="0"/>
          </a:p>
        </p:txBody>
      </p:sp>
      <p:sp>
        <p:nvSpPr>
          <p:cNvPr id="4" name="TextBox 3"/>
          <p:cNvSpPr txBox="1"/>
          <p:nvPr/>
        </p:nvSpPr>
        <p:spPr>
          <a:xfrm>
            <a:off x="0" y="5842337"/>
            <a:ext cx="9141657" cy="1015663"/>
          </a:xfrm>
          <a:prstGeom prst="rect">
            <a:avLst/>
          </a:prstGeom>
          <a:noFill/>
        </p:spPr>
        <p:txBody>
          <a:bodyPr wrap="square" rtlCol="0">
            <a:spAutoFit/>
          </a:bodyPr>
          <a:lstStyle/>
          <a:p>
            <a:r>
              <a:rPr lang="en-US" sz="2000" dirty="0">
                <a:solidFill>
                  <a:prstClr val="black"/>
                </a:solidFill>
                <a:cs typeface="Times New Roman" pitchFamily="18" charset="0"/>
              </a:rPr>
              <a:t>Seppa, Nathan.  “Sunlight may cut MS risk by itself”, </a:t>
            </a:r>
            <a:r>
              <a:rPr lang="en-US" sz="2000" i="1" dirty="0">
                <a:solidFill>
                  <a:prstClr val="black"/>
                </a:solidFill>
                <a:cs typeface="Times New Roman" pitchFamily="18" charset="0"/>
              </a:rPr>
              <a:t>Science News,</a:t>
            </a:r>
            <a:r>
              <a:rPr lang="en-US" sz="2000" dirty="0">
                <a:solidFill>
                  <a:prstClr val="black"/>
                </a:solidFill>
                <a:cs typeface="Times New Roman" pitchFamily="18" charset="0"/>
              </a:rPr>
              <a:t> April 24, 2010 pg 9, reporting on a study appearing March 22, 2010 in the </a:t>
            </a:r>
            <a:r>
              <a:rPr lang="en-US" sz="2000" i="1" dirty="0">
                <a:solidFill>
                  <a:prstClr val="black"/>
                </a:solidFill>
                <a:cs typeface="Times New Roman" pitchFamily="18" charset="0"/>
              </a:rPr>
              <a:t>Proceedings of the National Academy of Science.</a:t>
            </a:r>
            <a:endParaRPr lang="en-US" sz="2000" dirty="0"/>
          </a:p>
        </p:txBody>
      </p:sp>
    </p:spTree>
    <p:custDataLst>
      <p:tags r:id="rId1"/>
    </p:custDataLst>
    <p:extLst>
      <p:ext uri="{BB962C8B-B14F-4D97-AF65-F5344CB8AC3E}">
        <p14:creationId xmlns:p14="http://schemas.microsoft.com/office/powerpoint/2010/main" val="2090000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52400"/>
            <a:ext cx="7540752" cy="758952"/>
          </a:xfrm>
        </p:spPr>
        <p:txBody>
          <a:bodyPr>
            <a:normAutofit fontScale="90000"/>
          </a:bodyPr>
          <a:lstStyle/>
          <a:p>
            <a:r>
              <a:rPr lang="en-US" dirty="0"/>
              <a:t>Multiple Sclerosis and Sunlight</a:t>
            </a:r>
          </a:p>
        </p:txBody>
      </p:sp>
      <p:sp>
        <p:nvSpPr>
          <p:cNvPr id="3" name="Content Placeholder 2"/>
          <p:cNvSpPr>
            <a:spLocks noGrp="1"/>
          </p:cNvSpPr>
          <p:nvPr>
            <p:ph idx="1"/>
          </p:nvPr>
        </p:nvSpPr>
        <p:spPr>
          <a:xfrm>
            <a:off x="-3518" y="1524000"/>
            <a:ext cx="9147517" cy="5334000"/>
          </a:xfrm>
        </p:spPr>
        <p:txBody>
          <a:bodyPr>
            <a:normAutofit fontScale="92500" lnSpcReduction="10000"/>
          </a:bodyPr>
          <a:lstStyle/>
          <a:p>
            <a:pPr>
              <a:spcAft>
                <a:spcPts val="0"/>
              </a:spcAft>
            </a:pPr>
            <a:r>
              <a:rPr lang="en-US" dirty="0"/>
              <a:t>For each situation below, write down</a:t>
            </a:r>
          </a:p>
          <a:p>
            <a:pPr lvl="1">
              <a:spcAft>
                <a:spcPts val="0"/>
              </a:spcAft>
            </a:pPr>
            <a:r>
              <a:rPr lang="en-US" i="1" dirty="0"/>
              <a:t>Null and alternative hypotheses </a:t>
            </a:r>
          </a:p>
          <a:p>
            <a:pPr lvl="1">
              <a:spcAft>
                <a:spcPts val="0"/>
              </a:spcAft>
            </a:pPr>
            <a:r>
              <a:rPr lang="en-US" i="1" dirty="0"/>
              <a:t>Informal description of the strength of evidence against H</a:t>
            </a:r>
            <a:r>
              <a:rPr lang="en-US" i="1" baseline="-25000" dirty="0"/>
              <a:t>0</a:t>
            </a:r>
            <a:endParaRPr lang="en-US" i="1" dirty="0"/>
          </a:p>
          <a:p>
            <a:pPr lvl="1">
              <a:spcAft>
                <a:spcPts val="0"/>
              </a:spcAft>
            </a:pPr>
            <a:r>
              <a:rPr lang="en-US" i="1" dirty="0"/>
              <a:t>Formal decision about H</a:t>
            </a:r>
            <a:r>
              <a:rPr lang="en-US" i="1" baseline="-25000" dirty="0"/>
              <a:t>0</a:t>
            </a:r>
            <a:r>
              <a:rPr lang="en-US" i="1" dirty="0"/>
              <a:t>, using </a:t>
            </a:r>
            <a:r>
              <a:rPr lang="el-GR" i="1" dirty="0"/>
              <a:t>α</a:t>
            </a:r>
            <a:r>
              <a:rPr lang="en-US" i="1" dirty="0"/>
              <a:t> = 0.05</a:t>
            </a:r>
          </a:p>
          <a:p>
            <a:pPr lvl="1">
              <a:spcAft>
                <a:spcPts val="0"/>
              </a:spcAft>
            </a:pPr>
            <a:r>
              <a:rPr lang="en-US" i="1" dirty="0"/>
              <a:t>Conclusion in the context of the question</a:t>
            </a:r>
          </a:p>
          <a:p>
            <a:pPr lvl="1">
              <a:spcAft>
                <a:spcPts val="0"/>
              </a:spcAft>
            </a:pPr>
            <a:endParaRPr lang="en-US" dirty="0"/>
          </a:p>
          <a:p>
            <a:r>
              <a:rPr lang="en-US" dirty="0"/>
              <a:t>In testing whether UV light provides protection against MS (UV light vs control group), the p-value is 0.002.</a:t>
            </a:r>
          </a:p>
          <a:p>
            <a:pPr>
              <a:spcAft>
                <a:spcPts val="0"/>
              </a:spcAft>
            </a:pPr>
            <a:r>
              <a:rPr lang="en-US" dirty="0"/>
              <a:t>In testing whether Vitamin D provides protection against MS (Vitamin D vs control group), the p-value is 0.47.</a:t>
            </a:r>
          </a:p>
        </p:txBody>
      </p:sp>
      <p:pic>
        <p:nvPicPr>
          <p:cNvPr id="4" name="Picture 2" descr="http://www.school-clipart.com/school_clipart_images/pencil_touching_lead_to_paper_0515-1007-2718-0955_SM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1" y="228600"/>
            <a:ext cx="838200" cy="8186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79550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52400"/>
            <a:ext cx="7540752" cy="758952"/>
          </a:xfrm>
        </p:spPr>
        <p:txBody>
          <a:bodyPr>
            <a:normAutofit fontScale="90000"/>
          </a:bodyPr>
          <a:lstStyle/>
          <a:p>
            <a:r>
              <a:rPr lang="en-US" dirty="0"/>
              <a:t>Multiple Sclerosis and Sunlight</a:t>
            </a:r>
          </a:p>
        </p:txBody>
      </p:sp>
      <p:sp>
        <p:nvSpPr>
          <p:cNvPr id="3" name="Content Placeholder 2"/>
          <p:cNvSpPr>
            <a:spLocks noGrp="1"/>
          </p:cNvSpPr>
          <p:nvPr>
            <p:ph idx="1"/>
          </p:nvPr>
        </p:nvSpPr>
        <p:spPr>
          <a:xfrm>
            <a:off x="0" y="1578296"/>
            <a:ext cx="9144000" cy="5279703"/>
          </a:xfrm>
        </p:spPr>
        <p:txBody>
          <a:bodyPr>
            <a:normAutofit/>
          </a:bodyPr>
          <a:lstStyle/>
          <a:p>
            <a:r>
              <a:rPr lang="en-US" dirty="0"/>
              <a:t>In testing whether UV light provides protection against MS (UV light vs control group), the p-value is 0.002.</a:t>
            </a:r>
          </a:p>
        </p:txBody>
      </p:sp>
      <p:pic>
        <p:nvPicPr>
          <p:cNvPr id="4" name="Picture 2" descr="http://www.school-clipart.com/school_clipart_images/pencil_touching_lead_to_paper_0515-1007-2718-0955_SM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1" y="228600"/>
            <a:ext cx="838200" cy="8186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84262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52400"/>
            <a:ext cx="7540752" cy="758952"/>
          </a:xfrm>
        </p:spPr>
        <p:txBody>
          <a:bodyPr>
            <a:normAutofit fontScale="90000"/>
          </a:bodyPr>
          <a:lstStyle/>
          <a:p>
            <a:r>
              <a:rPr lang="en-US" dirty="0"/>
              <a:t>Multiple Sclerosis and Sunlight</a:t>
            </a:r>
          </a:p>
        </p:txBody>
      </p:sp>
      <p:sp>
        <p:nvSpPr>
          <p:cNvPr id="3" name="Content Placeholder 2"/>
          <p:cNvSpPr>
            <a:spLocks noGrp="1"/>
          </p:cNvSpPr>
          <p:nvPr>
            <p:ph idx="1"/>
          </p:nvPr>
        </p:nvSpPr>
        <p:spPr>
          <a:xfrm>
            <a:off x="0" y="1524000"/>
            <a:ext cx="9144000" cy="5334000"/>
          </a:xfrm>
        </p:spPr>
        <p:txBody>
          <a:bodyPr>
            <a:normAutofit/>
          </a:bodyPr>
          <a:lstStyle/>
          <a:p>
            <a:r>
              <a:rPr lang="en-US" dirty="0"/>
              <a:t>In testing whether Vitamin D provides protection against MS (Vitamin D vs control group), the p-value is 0.47.</a:t>
            </a:r>
          </a:p>
        </p:txBody>
      </p:sp>
      <p:pic>
        <p:nvPicPr>
          <p:cNvPr id="4" name="Picture 2" descr="http://www.school-clipart.com/school_clipart_images/pencil_touching_lead_to_paper_0515-1007-2718-0955_SM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1" y="228600"/>
            <a:ext cx="838200" cy="8186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68158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136" y="1524000"/>
            <a:ext cx="9172135" cy="4724370"/>
          </a:xfrm>
          <a:prstGeom prst="rect">
            <a:avLst/>
          </a:prstGeom>
          <a:noFill/>
        </p:spPr>
        <p:txBody>
          <a:bodyPr wrap="square" rtlCol="0">
            <a:spAutoFit/>
          </a:bodyPr>
          <a:lstStyle/>
          <a:p>
            <a:pPr>
              <a:spcAft>
                <a:spcPts val="1800"/>
              </a:spcAft>
              <a:buClr>
                <a:schemeClr val="accent1"/>
              </a:buClr>
              <a:buFont typeface="Arial" pitchFamily="34" charset="0"/>
              <a:buChar char="•"/>
            </a:pPr>
            <a:r>
              <a:rPr lang="en-US" sz="3200" dirty="0">
                <a:solidFill>
                  <a:prstClr val="black"/>
                </a:solidFill>
                <a:cs typeface="Times New Roman" pitchFamily="18" charset="0"/>
              </a:rPr>
              <a:t> Results are statistically significant if the p-value is less than the significance level, </a:t>
            </a:r>
            <a:r>
              <a:rPr lang="el-GR" sz="3200" dirty="0">
                <a:solidFill>
                  <a:prstClr val="black"/>
                </a:solidFill>
                <a:cs typeface="Times New Roman" pitchFamily="18" charset="0"/>
              </a:rPr>
              <a:t>α</a:t>
            </a:r>
            <a:endParaRPr lang="en-US" sz="3200" dirty="0">
              <a:solidFill>
                <a:prstClr val="black"/>
              </a:solidFill>
              <a:cs typeface="Times New Roman" pitchFamily="18" charset="0"/>
            </a:endParaRPr>
          </a:p>
          <a:p>
            <a:pPr>
              <a:spcAft>
                <a:spcPts val="1800"/>
              </a:spcAft>
              <a:buClr>
                <a:schemeClr val="accent1"/>
              </a:buClr>
              <a:buFont typeface="Arial" pitchFamily="34" charset="0"/>
              <a:buChar char="•"/>
            </a:pPr>
            <a:r>
              <a:rPr lang="en-US" sz="3200" dirty="0">
                <a:solidFill>
                  <a:prstClr val="black"/>
                </a:solidFill>
                <a:cs typeface="Times New Roman" pitchFamily="18" charset="0"/>
              </a:rPr>
              <a:t> In making formal decisions, reject H</a:t>
            </a:r>
            <a:r>
              <a:rPr lang="en-US" sz="3200" baseline="-25000" dirty="0">
                <a:solidFill>
                  <a:prstClr val="black"/>
                </a:solidFill>
                <a:cs typeface="Times New Roman" pitchFamily="18" charset="0"/>
              </a:rPr>
              <a:t>0</a:t>
            </a:r>
            <a:r>
              <a:rPr lang="en-US" sz="3200" dirty="0">
                <a:solidFill>
                  <a:prstClr val="black"/>
                </a:solidFill>
                <a:cs typeface="Times New Roman" pitchFamily="18" charset="0"/>
              </a:rPr>
              <a:t> if the p-value is less than </a:t>
            </a:r>
            <a:r>
              <a:rPr lang="el-GR" sz="3200" dirty="0">
                <a:solidFill>
                  <a:prstClr val="black"/>
                </a:solidFill>
                <a:cs typeface="Times New Roman" pitchFamily="18" charset="0"/>
              </a:rPr>
              <a:t>α</a:t>
            </a:r>
            <a:r>
              <a:rPr lang="en-US" sz="3200" dirty="0">
                <a:solidFill>
                  <a:prstClr val="black"/>
                </a:solidFill>
                <a:cs typeface="Times New Roman" pitchFamily="18" charset="0"/>
              </a:rPr>
              <a:t>, otherwise do not reject H</a:t>
            </a:r>
            <a:r>
              <a:rPr lang="en-US" sz="3200" baseline="-25000" dirty="0">
                <a:solidFill>
                  <a:prstClr val="black"/>
                </a:solidFill>
                <a:cs typeface="Times New Roman" pitchFamily="18" charset="0"/>
              </a:rPr>
              <a:t>0 </a:t>
            </a:r>
            <a:r>
              <a:rPr lang="en-US" sz="3200" dirty="0">
                <a:solidFill>
                  <a:prstClr val="black"/>
                </a:solidFill>
                <a:cs typeface="Times New Roman" pitchFamily="18" charset="0"/>
              </a:rPr>
              <a:t>  </a:t>
            </a:r>
          </a:p>
          <a:p>
            <a:pPr>
              <a:spcAft>
                <a:spcPts val="1800"/>
              </a:spcAft>
              <a:buClr>
                <a:schemeClr val="accent1"/>
              </a:buClr>
              <a:buFont typeface="Arial" pitchFamily="34" charset="0"/>
              <a:buChar char="•"/>
            </a:pPr>
            <a:r>
              <a:rPr lang="en-US" sz="3200" dirty="0">
                <a:solidFill>
                  <a:prstClr val="black"/>
                </a:solidFill>
                <a:cs typeface="Times New Roman" pitchFamily="18" charset="0"/>
              </a:rPr>
              <a:t> Not rejecting H</a:t>
            </a:r>
            <a:r>
              <a:rPr lang="en-US" sz="3200" baseline="-25000" dirty="0">
                <a:solidFill>
                  <a:prstClr val="black"/>
                </a:solidFill>
                <a:cs typeface="Times New Roman" pitchFamily="18" charset="0"/>
              </a:rPr>
              <a:t>0</a:t>
            </a:r>
            <a:r>
              <a:rPr lang="en-US" sz="3200" dirty="0">
                <a:solidFill>
                  <a:prstClr val="black"/>
                </a:solidFill>
                <a:cs typeface="Times New Roman" pitchFamily="18" charset="0"/>
              </a:rPr>
              <a:t> is NOT the same as accepting H</a:t>
            </a:r>
            <a:r>
              <a:rPr lang="en-US" sz="3200" baseline="-25000" dirty="0">
                <a:solidFill>
                  <a:prstClr val="black"/>
                </a:solidFill>
                <a:cs typeface="Times New Roman" pitchFamily="18" charset="0"/>
              </a:rPr>
              <a:t>0</a:t>
            </a:r>
          </a:p>
          <a:p>
            <a:pPr>
              <a:spcAft>
                <a:spcPts val="1800"/>
              </a:spcAft>
              <a:buClr>
                <a:schemeClr val="accent1"/>
              </a:buClr>
              <a:buFont typeface="Arial" pitchFamily="34" charset="0"/>
              <a:buChar char="•"/>
            </a:pPr>
            <a:r>
              <a:rPr lang="en-US" sz="3200" baseline="-25000" dirty="0">
                <a:solidFill>
                  <a:prstClr val="black"/>
                </a:solidFill>
                <a:cs typeface="Times New Roman" pitchFamily="18" charset="0"/>
              </a:rPr>
              <a:t> </a:t>
            </a:r>
            <a:r>
              <a:rPr lang="en-US" sz="3200" dirty="0">
                <a:solidFill>
                  <a:prstClr val="black"/>
                </a:solidFill>
                <a:cs typeface="Times New Roman" pitchFamily="18" charset="0"/>
              </a:rPr>
              <a:t> Hypothesis test conclusions include a generic decision about H</a:t>
            </a:r>
            <a:r>
              <a:rPr lang="en-US" sz="3200" baseline="-25000" dirty="0">
                <a:solidFill>
                  <a:prstClr val="black"/>
                </a:solidFill>
                <a:cs typeface="Times New Roman" pitchFamily="18" charset="0"/>
              </a:rPr>
              <a:t>0</a:t>
            </a:r>
            <a:r>
              <a:rPr lang="en-US" sz="3200" dirty="0">
                <a:solidFill>
                  <a:prstClr val="black"/>
                </a:solidFill>
                <a:cs typeface="Times New Roman" pitchFamily="18" charset="0"/>
              </a:rPr>
              <a:t> (reject or do not reject) and a conclusion in context about H</a:t>
            </a:r>
            <a:r>
              <a:rPr lang="en-US" sz="3200" baseline="-25000" dirty="0">
                <a:solidFill>
                  <a:prstClr val="black"/>
                </a:solidFill>
                <a:cs typeface="Times New Roman" pitchFamily="18" charset="0"/>
              </a:rPr>
              <a:t>a</a:t>
            </a:r>
          </a:p>
        </p:txBody>
      </p:sp>
      <p:sp>
        <p:nvSpPr>
          <p:cNvPr id="3" name="Title 1"/>
          <p:cNvSpPr txBox="1">
            <a:spLocks/>
          </p:cNvSpPr>
          <p:nvPr/>
        </p:nvSpPr>
        <p:spPr>
          <a:xfrm>
            <a:off x="457200" y="152400"/>
            <a:ext cx="8153400" cy="1219200"/>
          </a:xfrm>
          <a:prstGeom prst="rect">
            <a:avLst/>
          </a:prstGeom>
        </p:spPr>
        <p:txBody>
          <a:bodyPr/>
          <a:lstStyle/>
          <a:p>
            <a:pPr lvl="0" algn="ctr">
              <a:spcBef>
                <a:spcPct val="0"/>
              </a:spcBef>
              <a:defRPr/>
            </a:pPr>
            <a:r>
              <a:rPr lang="en-US" sz="4400" b="1" dirty="0">
                <a:solidFill>
                  <a:schemeClr val="tx2"/>
                </a:solidFill>
              </a:rPr>
              <a:t>Summary</a:t>
            </a:r>
            <a:endParaRPr lang="en-US" sz="4000" b="1" dirty="0">
              <a:solidFill>
                <a:schemeClr val="tx2"/>
              </a:solidFill>
            </a:endParaRPr>
          </a:p>
        </p:txBody>
      </p:sp>
    </p:spTree>
    <p:custDataLst>
      <p:tags r:id="rId1"/>
    </p:custDataLst>
    <p:extLst>
      <p:ext uri="{BB962C8B-B14F-4D97-AF65-F5344CB8AC3E}">
        <p14:creationId xmlns:p14="http://schemas.microsoft.com/office/powerpoint/2010/main" val="189798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INCLUDESESSION" val="True"/>
  <p:tag name="EXPANDSHOWBAR" val="True"/>
  <p:tag name="TASKPANEKEY" val="a50c0df5-599d-48ef-87d3-3d949293ec20"/>
  <p:tag name="TPPRESENTATIONGUID" val="8b0eb9f1-52d3-4ff6-8a6b-379d4c9167e4"/>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SLIDEGUID" val="8A887B3EC4C24FEAA3FBBE2ED96C9D04"/>
  <p:tag name="SLIDEID" val="8A887B3EC4C24FEAA3FBBE2ED96C9D04"/>
  <p:tag name="SLIDEORDER" val="1"/>
  <p:tag name="SLIDETYPE" val="Q"/>
  <p:tag name="DEMOGRAPHIC" val="False"/>
  <p:tag name="SPEEDSCORING" val="False"/>
  <p:tag name="CORRECTPOINTVALUE" val="100"/>
  <p:tag name="INCORRECTPOINTVALUE" val="0"/>
  <p:tag name="ZEROBASED" val="False"/>
  <p:tag name="QUESTIONALIAS" val="The smaller the p-value the "/>
  <p:tag name="VALUEFORMAT" val="0%"/>
  <p:tag name="TOTALRESPONSES" val="0"/>
  <p:tag name="ANSWERSALIAS" val="stronger the evidence against the null hypothesis|smicln| stronger the evidence for the null hypothesis"/>
  <p:tag name="DELIMITERS" val="3.1"/>
  <p:tag name="RESPONSESGATHERED" val="False"/>
  <p:tag name="ANONYMOUSTEMP" val="False"/>
  <p:tag name="VALUES" val="No Value|smicln|No Value"/>
  <p:tag name="TYPE" val="MultiChoiceSlide"/>
  <p:tag name="TPQUESTIONXML" val="﻿&lt;?xml version=&quot;1.0&quot; encoding=&quot;utf-8&quot;?&gt;&#10;&lt;questionlist&gt;&#10;    &lt;properties&gt;&#10;        &lt;guid&gt;8F8A4EB04D6C4E0E8E261946CF35E5F7&lt;/guid&gt;&#10;        &lt;description /&gt;&#10;        &lt;date&gt;7/23/2017 9:11:1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88FA15916A54D929667153383479409&lt;/guid&gt;&#10;            &lt;repollguid&gt;4072E3E3B3BF40F08E5A0C7F9615647C&lt;/repollguid&gt;&#10;            &lt;sourceid&gt;46AD5E2898B042AE824002AA7BBD2CE4&lt;/sourceid&gt;&#10;            &lt;questiontext&gt;In testing H0: p = 0.5 versus Ha: p &amp;lt; 0.5, the observed sample proportion is  $$ =0.35.  Based on the randomization distribution above, the p-value is…&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F34C007AA76439AA9FADA4F127FBE59&lt;/guid&gt;&#10;                    &lt;answertext&gt;0.000008&lt;/answertext&gt;&#10;                    &lt;valuetype&gt;0&lt;/valuetype&gt;&#10;                &lt;/answer&gt;&#10;                &lt;answer&gt;&#10;                    &lt;guid&gt;DAC737E41CE34E7B994D95BB9B1FB731&lt;/guid&gt;&#10;                    &lt;answertext&gt;0.001&lt;/answertext&gt;&#10;                    &lt;valuetype&gt;0&lt;/valuetype&gt;&#10;                &lt;/answer&gt;&#10;                &lt;answer&gt;&#10;                    &lt;guid&gt;3182BF21E1EF42DAB747A11BC2A28AB7&lt;/guid&gt;&#10;                    &lt;answertext&gt;0.3&lt;/answertext&gt;&#10;                    &lt;valuetype&gt;0&lt;/valuetype&gt;&#10;                &lt;/answer&gt;&#10;                &lt;answer&gt;&#10;                    &lt;guid&gt;7765CDD945ED47DCAE08A6E786E138C2&lt;/guid&gt;&#10;                    &lt;answertext&gt;0.45&lt;/answertext&gt;&#10;                    &lt;valuetype&gt;0&lt;/valuetype&gt;&#10;                &lt;/answer&gt;&#10;                &lt;answer&gt;&#10;                    &lt;guid&gt;55D7FB3064154A70AD0C84F5A1090F97&lt;/guid&gt;&#10;                    &lt;answertext&gt;0.7&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xml><?xml version="1.0" encoding="utf-8"?>
<p:tagLst xmlns:a="http://schemas.openxmlformats.org/drawingml/2006/main" xmlns:r="http://schemas.openxmlformats.org/officeDocument/2006/relationships" xmlns:p="http://schemas.openxmlformats.org/presentationml/2006/main">
  <p:tag name="ZEROBASED"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SLIDEGUID" val="8A887B3EC4C24FEAA3FBBE2ED96C9D04"/>
  <p:tag name="SLIDEID" val="8A887B3EC4C24FEAA3FBBE2ED96C9D04"/>
  <p:tag name="SLIDEORDER" val="1"/>
  <p:tag name="SLIDETYPE" val="Q"/>
  <p:tag name="DEMOGRAPHIC" val="False"/>
  <p:tag name="SPEEDSCORING" val="False"/>
  <p:tag name="CORRECTPOINTVALUE" val="100"/>
  <p:tag name="INCORRECTPOINTVALUE" val="0"/>
  <p:tag name="ZEROBASED" val="False"/>
  <p:tag name="QUESTIONALIAS" val="The smaller the p-value the "/>
  <p:tag name="VALUEFORMAT" val="0%"/>
  <p:tag name="TOTALRESPONSES" val="0"/>
  <p:tag name="ANSWERSALIAS" val="stronger the evidence against the null hypothesis|smicln| stronger the evidence for the null hypothesis"/>
  <p:tag name="DELIMITERS" val="3.1"/>
  <p:tag name="RESPONSESGATHERED" val="False"/>
  <p:tag name="ANONYMOUSTEMP" val="False"/>
  <p:tag name="VALUES" val="No Value|smicln|No Value"/>
  <p:tag name="TYPE" val="MultiChoiceSlide"/>
  <p:tag name="TPQUESTIONXML" val="﻿&lt;?xml version=&quot;1.0&quot; encoding=&quot;utf-8&quot;?&gt;&#10;&lt;questionlist&gt;&#10;    &lt;properties&gt;&#10;        &lt;guid&gt;45BA3E4CD10F4F429475D7CD1CD97AB4&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2DE3156FA6F462A8C56381E42066044&lt;/guid&gt;&#10;            &lt;repollguid&gt;788F81413046453EA15114DAC40291C0&lt;/repollguid&gt;&#10;            &lt;sourceid&gt;C7BFE657F79D49ADA19E688839F9AEEF&lt;/sourceid&gt;&#10;            &lt;questiontext&gt;The smaller the p-value the &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E19AA9C143664D95BA11E4C96563D3C8&lt;/guid&gt;&#10;                    &lt;answertext&gt;stronger the evidence against the null hypothesis&lt;/answertext&gt;&#10;                    &lt;valuetype&gt;0&lt;/valuetype&gt;&#10;                &lt;/answer&gt;&#10;                &lt;answer&gt;&#10;                    &lt;guid&gt;A632F4D0AE5F4574BE45F869AD6C4FE3&lt;/guid&gt;&#10;                    &lt;answertext&gt; stronger the evidence for the null hypothesi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HASRESULTS" val="False"/>
  <p:tag name="LIVECHARTING" val="False"/>
  <p:tag name="AUTOOPENPOLL" val="True"/>
  <p:tag name="AUTOFORMATCHART" val="True"/>
</p:tagLst>
</file>

<file path=ppt/tags/tag6.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96"/>
  <p:tag name="FONTSIZE" val="32"/>
  <p:tag name="BULLETTYPE" val="ppBulletArabicPeriod"/>
  <p:tag name="ANSWERTEXT" val="stronger the evidence against the null hypothesis&#10; stronger the evidence for the null hypothesis"/>
  <p:tag name="ZEROBASED"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 name="SLIDEGUID" val="A7FDA6C4089447F3A7F7E4F91F8EE334"/>
  <p:tag name="SLIDEID" val="A7FDA6C4089447F3A7F7E4F91F8EE334"/>
  <p:tag name="SLIDEORDER" val="1"/>
  <p:tag name="SLIDETYPE" val="Q"/>
  <p:tag name="DEMOGRAPHIC" val="False"/>
  <p:tag name="SPEEDSCORING" val="False"/>
  <p:tag name="CORRECTPOINTVALUE" val="100"/>
  <p:tag name="INCORRECTPOINTVALUE" val="0"/>
  <p:tag name="ZEROBASED" val="False"/>
  <p:tag name="VALUEFORMAT" val="0%"/>
  <p:tag name="ANSWERSALIAS" val="0.005|smicln| 0.1|smicln| 0.32|smicln| 0.56|smicln| 0.94"/>
  <p:tag name="QUESTIONALIAS" val="Which of the following p-values gives the strongest evidence against H0?"/>
  <p:tag name="VALUES" val="No Value|smicln|No Value|smicln|No Value|smicln|No Value|smicln|No Value"/>
  <p:tag name="RESPONSESGATHERED" val="False"/>
  <p:tag name="ANONYMOUSTEMP" val="False"/>
  <p:tag name="TYPE" val="MultiChoiceSlide"/>
  <p:tag name="TPQUESTIONXML" val="﻿&lt;?xml version=&quot;1.0&quot; encoding=&quot;utf-8&quot;?&gt;&#10;&lt;questionlist&gt;&#10;    &lt;properties&gt;&#10;        &lt;guid&gt;E82449CC6C364A51AA742F1CDA7BA402&lt;/guid&gt;&#10;        &lt;description /&gt;&#10;        &lt;date&gt;7/23/2017 9:54:5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0FF72D6D72B475F846A4ADA6C838602&lt;/guid&gt;&#10;            &lt;repollguid&gt;E5E74853A11046C2BBA7EDE3FC94ADFA&lt;/repollguid&gt;&#10;            &lt;sourceid&gt;AE82488051184F06B4C97B52DF7FBE1A&lt;/sourceid&gt;&#10;            &lt;questiontext&gt;Which of the following p-values gives the strongest evidence against H0?&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C3D0CAE299BD403A83C9E75162C12B3E&lt;/guid&gt;&#10;                    &lt;answertext&gt;0.005 &lt;/answertext&gt;&#10;                    &lt;valuetype&gt;0&lt;/valuetype&gt;&#10;                &lt;/answer&gt;&#10;                &lt;answer&gt;&#10;                    &lt;guid&gt;89EBC4EE45EF4230A395C675A97B537A&lt;/guid&gt;&#10;                    &lt;answertext&gt; 0.1 &lt;/answertext&gt;&#10;                    &lt;valuetype&gt;0&lt;/valuetype&gt;&#10;                &lt;/answer&gt;&#10;                &lt;answer&gt;&#10;                    &lt;guid&gt;1E8E7897D59B4CB994CF290BDE1A8EF4&lt;/guid&gt;&#10;                    &lt;answertext&gt; 0.32 &lt;/answertext&gt;&#10;                    &lt;valuetype&gt;0&lt;/valuetype&gt;&#10;                &lt;/answer&gt;&#10;                &lt;answer&gt;&#10;                    &lt;guid&gt;AB1F521A8AB5433DB12A1C53B076C435&lt;/guid&gt;&#10;                    &lt;answertext&gt; 0.56 &lt;/answertext&gt;&#10;                    &lt;valuetype&gt;0&lt;/valuetype&gt;&#10;                &lt;/answer&gt;&#10;                &lt;answer&gt;&#10;                    &lt;guid&gt;2D06BCF816D54788B50B0F275CA14C30&lt;/guid&gt;&#10;                    &lt;answertext&gt; 0.94&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9.xml><?xml version="1.0" encoding="utf-8"?>
<p:tagLst xmlns:a="http://schemas.openxmlformats.org/drawingml/2006/main" xmlns:r="http://schemas.openxmlformats.org/officeDocument/2006/relationships" xmlns:p="http://schemas.openxmlformats.org/presentationml/2006/main">
  <p:tag name="ANSWERBULLETS" val="9"/>
  <p:tag name="TEXTLENGTH" val="28"/>
  <p:tag name="FONTSIZE" val="32"/>
  <p:tag name="BULLETTYPE" val="ppBulletAlphaLCParenRight"/>
  <p:tag name="ANSWERTEXT" val="0.005&#10; 0.1&#10; 0.32&#10; 0.56&#10; 0.94"/>
  <p:tag name="OLDNUMANSWERS" val="5"/>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 name="SLIDEGUID" val="3410033D52704893AA6A3FBE4AF8DA75"/>
  <p:tag name="SLIDEID" val="3410033D52704893AA6A3FBE4AF8DA75"/>
  <p:tag name="SLIDEORDER" val="1"/>
  <p:tag name="SLIDETYPE" val="Q"/>
  <p:tag name="DEMOGRAPHIC" val="False"/>
  <p:tag name="SPEEDSCORING" val="False"/>
  <p:tag name="CORRECTPOINTVALUE" val="100"/>
  <p:tag name="INCORRECTPOINTVALUE" val="0"/>
  <p:tag name="ZEROBASED" val="False"/>
  <p:tag name="VALUEFORMAT" val="0%"/>
  <p:tag name="ANSWERSALIAS" val="0.22|smicln| 0.45|smicln| 0.03|smicln| 0.8|smicln| 0.71"/>
  <p:tag name="QUESTIONALIAS" val="Which of the following p-values gives the strongest evidence against H0?"/>
  <p:tag name="VALUES" val="No Value|smicln|No Value|smicln|No Value|smicln|No Value|smicln|No Value"/>
  <p:tag name="RESPONSESGATHERED" val="False"/>
  <p:tag name="ANONYMOUSTEMP" val="False"/>
  <p:tag name="TYPE" val="MultiChoiceSlide"/>
  <p:tag name="TPQUESTIONXML" val="﻿&lt;?xml version=&quot;1.0&quot; encoding=&quot;utf-8&quot;?&gt;&#10;&lt;questionlist&gt;&#10;    &lt;properties&gt;&#10;        &lt;guid&gt;E211A304D990403E98626D99B4FAF227&lt;/guid&gt;&#10;        &lt;description /&gt;&#10;        &lt;date&gt;7/23/2017 9:54:50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BDCCABCA24F4D948D3EB9ADD27AD84B&lt;/guid&gt;&#10;            &lt;repollguid&gt;4090CFA996C54B05A9630A521F08796B&lt;/repollguid&gt;&#10;            &lt;sourceid&gt;DC54CA132B274D0FB1F127BAB51EFC68&lt;/sourceid&gt;&#10;            &lt;questiontext&gt;Which of the following p-values gives the strongest evidence against H0?&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EE5E90A051F5441C8A4DF971386CB840&lt;/guid&gt;&#10;                    &lt;answertext&gt;0.22 &lt;/answertext&gt;&#10;                    &lt;valuetype&gt;0&lt;/valuetype&gt;&#10;                &lt;/answer&gt;&#10;                &lt;answer&gt;&#10;                    &lt;guid&gt;819620386C7D43A7A403597F73D863B1&lt;/guid&gt;&#10;                    &lt;answertext&gt; 0.45 &lt;/answertext&gt;&#10;                    &lt;valuetype&gt;0&lt;/valuetype&gt;&#10;                &lt;/answer&gt;&#10;                &lt;answer&gt;&#10;                    &lt;guid&gt;044098D65F2342DF8A6E8EC6AB162D30&lt;/guid&gt;&#10;                    &lt;answertext&gt; 0.03 &lt;/answertext&gt;&#10;                    &lt;valuetype&gt;0&lt;/valuetype&gt;&#10;                &lt;/answer&gt;&#10;                &lt;answer&gt;&#10;                    &lt;guid&gt;0EE08BBA6C564934B4225341640678F1&lt;/guid&gt;&#10;                    &lt;answertext&gt; 0.8 &lt;/answertext&gt;&#10;                    &lt;valuetype&gt;0&lt;/valuetype&gt;&#10;                &lt;/answer&gt;&#10;                &lt;answer&gt;&#10;                    &lt;guid&gt;EB06239DF2E547DEB36D2B8B9918C946&lt;/guid&gt;&#10;                    &lt;answertext&gt; 0.71&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1.xml><?xml version="1.0" encoding="utf-8"?>
<p:tagLst xmlns:a="http://schemas.openxmlformats.org/drawingml/2006/main" xmlns:r="http://schemas.openxmlformats.org/officeDocument/2006/relationships" xmlns:p="http://schemas.openxmlformats.org/presentationml/2006/main">
  <p:tag name="ANSWERBULLETS" val="9"/>
  <p:tag name="TEXTLENGTH" val="27"/>
  <p:tag name="FONTSIZE" val="32"/>
  <p:tag name="BULLETTYPE" val="ppBulletAlphaLCParenRight"/>
  <p:tag name="ANSWERTEXT" val="0.22&#10; 0.45&#10; 0.03&#10; 0.8&#10; 0.71"/>
  <p:tag name="OLDNUMANSWERS" val="5"/>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DELIMITERS" val="3.1"/>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 name="SLIDEGUID" val="B3CDC10A9EDB45EFB78012FF1DA0354B"/>
  <p:tag name="SLIDEID" val="B3CDC10A9EDB45EFB78012FF1DA0354B"/>
  <p:tag name="SLIDEORDER" val="1"/>
  <p:tag name="SLIDETYPE" val="Q"/>
  <p:tag name="DEMOGRAPHIC" val="False"/>
  <p:tag name="SPEEDSCORING" val="False"/>
  <p:tag name="CORRECTPOINTVALUE" val="100"/>
  <p:tag name="INCORRECTPOINTVALUE" val="0"/>
  <p:tag name="ZEROBASED" val="False"/>
  <p:tag name="VALUEFORMAT" val="0%"/>
  <p:tag name="QUESTIONALIAS" val="In the test to see if the mean resting metabolic rate is higher after treatment, the p-value is 0.013. Using  = 0.05, is this difference statistically significant? (should we reject H0: no difference?)"/>
  <p:tag name="TOTALRESPONSES" val="0"/>
  <p:tag name="ANSWERSALIAS" val="Yes|smicln| No"/>
  <p:tag name="DELIMITERS" val="3.1"/>
  <p:tag name="RESPONSESGATHERED" val="False"/>
  <p:tag name="ANONYMOUSTEMP" val="False"/>
  <p:tag name="VALUES" val="No Value|smicln|No Value"/>
  <p:tag name="TYPE" val="MultiChoiceSlide"/>
  <p:tag name="TPQUESTIONXML" val="﻿&lt;?xml version=&quot;1.0&quot; encoding=&quot;utf-8&quot;?&gt;&#10;&lt;questionlist&gt;&#10;    &lt;properties&gt;&#10;        &lt;guid&gt;8B6FF2A05D00483D834FE2E50F811E55&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203934E919645D0B581F8FFBA2E85BB&lt;/guid&gt;&#10;            &lt;repollguid&gt;A67A08BB2C05414BA16CC68994EE5DEB&lt;/repollguid&gt;&#10;            &lt;sourceid&gt;CA33FAAF60834318B82465880A5E24D3&lt;/sourceid&gt;&#10;            &lt;questiontext&gt;In the test to see if the mean resting metabolic rate is higher after treatment, the p-value is 0.013.Using  = 0.05, is this difference statistically significant? (should we reject H0: no differenc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7AC924418E1E462EBF6290642C341B79&lt;/guid&gt;&#10;                    &lt;answertext&gt;Yes &lt;/answertext&gt;&#10;                    &lt;valuetype&gt;0&lt;/valuetype&gt;&#10;                &lt;/answer&gt;&#10;                &lt;answer&gt;&#10;                    &lt;guid&gt;BA8383E2C89C4126B6398CF9F52AF54C&lt;/guid&gt;&#10;                    &lt;answertext&gt; 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9.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7"/>
  <p:tag name="FONTSIZE" val="32"/>
  <p:tag name="BULLETTYPE" val="ppBulletArabicPeriod"/>
  <p:tag name="ANSWERTEXT" val="Yes&#10; No"/>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 name="SLIDEGUID" val="42A39116047A4824BA60A70F27D4FDC3"/>
  <p:tag name="SLIDEID" val="42A39116047A4824BA60A70F27D4FDC3"/>
  <p:tag name="SLIDEORDER" val="1"/>
  <p:tag name="SLIDETYPE" val="Q"/>
  <p:tag name="DEMOGRAPHIC" val="False"/>
  <p:tag name="SPEEDSCORING" val="False"/>
  <p:tag name="CORRECTPOINTVALUE" val="100"/>
  <p:tag name="INCORRECTPOINTVALUE" val="0"/>
  <p:tag name="ZEROBASED" val="False"/>
  <p:tag name="VALUEFORMAT" val="0%"/>
  <p:tag name="QUESTIONALIAS" val="In the test to see if locomotor activity changes after treatment, the p-value is 0.980. Using  = 0.05, is this difference statistically significant? (should we reject H0: no difference?)"/>
  <p:tag name="TOTALRESPONSES" val="0"/>
  <p:tag name="VALUES" val="No Value|smicln|No Value"/>
  <p:tag name="ANSWERSALIAS" val="Yes|smicln| No"/>
  <p:tag name="DELIMITERS" val="3.1"/>
  <p:tag name="RESPONSESGATHERED" val="False"/>
  <p:tag name="ANONYMOUSTEMP" val="False"/>
  <p:tag name="TYPE" val="MultiChoiceSlide"/>
  <p:tag name="TPQUESTIONXML" val="﻿&lt;?xml version=&quot;1.0&quot; encoding=&quot;utf-8&quot;?&gt;&#10;&lt;questionlist&gt;&#10;    &lt;properties&gt;&#10;        &lt;guid&gt;CE2FD825E23D4520A688DC0A0F409C7D&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E9F1DD9CF09476F836DD0816EA404A7&lt;/guid&gt;&#10;            &lt;repollguid&gt;C71EC42011D0467688948426FF24E850&lt;/repollguid&gt;&#10;            &lt;sourceid&gt;6A80D7F722F54DCEB649C8C77BF5BF18&lt;/sourceid&gt;&#10;            &lt;questiontext&gt;In the test to see if locomotor activity changes after treatment, the p-value is 0.980.Using  = 0.05, is this difference statistically significant? (should we reject H0: no differenc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D3E92923EDDE421697373703C89B841D&lt;/guid&gt;&#10;                    &lt;answertext&gt;Yes &lt;/answertext&gt;&#10;                    &lt;valuetype&gt;0&lt;/valuetype&gt;&#10;                &lt;/answer&gt;&#10;                &lt;answer&gt;&#10;                    &lt;guid&gt;68AF149D3889486186DD990E475F2760&lt;/guid&gt;&#10;                    &lt;answertext&gt; 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1.xml><?xml version="1.0" encoding="utf-8"?>
<p:tagLst xmlns:a="http://schemas.openxmlformats.org/drawingml/2006/main" xmlns:r="http://schemas.openxmlformats.org/officeDocument/2006/relationships" xmlns:p="http://schemas.openxmlformats.org/presentationml/2006/main">
  <p:tag name="ANSWERBULLETS" val="3"/>
  <p:tag name="TEXTLENGTH" val="7"/>
  <p:tag name="FONTSIZE" val="32"/>
  <p:tag name="BULLETTYPE" val="ppBulletArabicPeriod"/>
  <p:tag name="ANSWERTEXT" val="Yes&#10; No"/>
  <p:tag name="OLDNUMANSWERS" val="2"/>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 name="SLIDEGUID" val="C2318784EA1048A28DE9A789421B2DDB"/>
  <p:tag name="SLIDEID" val="C2318784EA1048A28DE9A789421B2DDB"/>
  <p:tag name="SLIDEORDER" val="1"/>
  <p:tag name="SLIDETYPE" val="Q"/>
  <p:tag name="DEMOGRAPHIC" val="False"/>
  <p:tag name="SPEEDSCORING" val="False"/>
  <p:tag name="CORRECTPOINTVALUE" val="100"/>
  <p:tag name="INCORRECTPOINTVALUE" val="0"/>
  <p:tag name="ZEROBASED" val="False"/>
  <p:tag name="VALUEFORMAT" val="0%"/>
  <p:tag name="QUESTIONALIAS" val="In the test to see if mean food intake changes after treatment, the p-value is 0.035. Using  = 0.05, is this difference statistically significant? (should we reject H0: no difference?)"/>
  <p:tag name="TOTALRESPONSES" val="0"/>
  <p:tag name="ANSWERSALIAS" val="Yes|smicln| No"/>
  <p:tag name="DELIMITERS" val="3.1"/>
  <p:tag name="RESPONSESGATHERED" val="False"/>
  <p:tag name="ANONYMOUSTEMP" val="False"/>
  <p:tag name="VALUES" val="No Value|smicln|No Value"/>
  <p:tag name="TYPE" val="MultiChoiceSlide"/>
  <p:tag name="TPQUESTIONXML" val="﻿&lt;?xml version=&quot;1.0&quot; encoding=&quot;utf-8&quot;?&gt;&#10;&lt;questionlist&gt;&#10;    &lt;properties&gt;&#10;        &lt;guid&gt;8A0264610D554D55B0B487312318A4C4&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07056D2178E4EE5AB9044320ED29EB8&lt;/guid&gt;&#10;            &lt;repollguid&gt;438EDC585E9E436C91B51A7F15F6069F&lt;/repollguid&gt;&#10;            &lt;sourceid&gt;7D545F5A75DF4A6FBEFA981996D89087&lt;/sourceid&gt;&#10;            &lt;questiontext&gt;In the test to see if mean food intake changes after treatment, the p-value is 0.035.Using  = 0.05, is this difference statistically significant? (should we reject H0: no differenc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9EDE956F942642898231BAF5D4131C32&lt;/guid&gt;&#10;                    &lt;answertext&gt;Yes &lt;/answertext&gt;&#10;                    &lt;valuetype&gt;0&lt;/valuetype&gt;&#10;                &lt;/answer&gt;&#10;                &lt;answer&gt;&#10;                    &lt;guid&gt;5084ADBD0991430D877CC92320DB3847&lt;/guid&gt;&#10;                    &lt;answertext&gt; No&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3.xml><?xml version="1.0" encoding="utf-8"?>
<p:tagLst xmlns:a="http://schemas.openxmlformats.org/drawingml/2006/main" xmlns:r="http://schemas.openxmlformats.org/officeDocument/2006/relationships" xmlns:p="http://schemas.openxmlformats.org/presentationml/2006/main">
  <p:tag name="ANSWERBULLETS" val="3"/>
  <p:tag name="OLDNUMANSWERS" val="2"/>
  <p:tag name="TEXTLENGTH" val="7"/>
  <p:tag name="FONTSIZE" val="32"/>
  <p:tag name="BULLETTYPE" val="ppBulletArabicPeriod"/>
  <p:tag name="ANSWERTEXT" val="Yes&#10; No"/>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 name="SLIDEGUID" val="1550DFA749E34D22BD274C2BFB432266"/>
  <p:tag name="SLIDEID" val="1550DFA749E34D22BD274C2BFB432266"/>
  <p:tag name="SLIDEORDER" val="1"/>
  <p:tag name="SLIDETYPE" val="Q"/>
  <p:tag name="DEMOGRAPHIC" val="False"/>
  <p:tag name="SPEEDSCORING" val="False"/>
  <p:tag name="CORRECTPOINTVALUE" val="100"/>
  <p:tag name="INCORRECTPOINTVALUE" val="0"/>
  <p:tag name="ZEROBASED" val="False"/>
  <p:tag name="VALUEFORMAT" val="0%"/>
  <p:tag name="QUESTIONALIAS" val="In a hypothesis test of   H0:  = 10 vs Ha:  &lt; 10  the p-value is 0.002.  With α = 0.05, we conclude:"/>
  <p:tag name="TOTALRESPONSES" val="0"/>
  <p:tag name="VALUES" val="No Value|smicln|No Value|smicln|No Value|smicln|No Value"/>
  <p:tag name="ANSWERSALIAS" val=" Reject H0|smicln| Do not reject H0|smicln| Reject Ha|smicln| Do not reject Ha"/>
  <p:tag name="DELIMITERS" val="3.1"/>
  <p:tag name="RESPONSESGATHERED" val="False"/>
  <p:tag name="ANONYMOUSTEMP" val="False"/>
  <p:tag name="TYPE" val="MultiChoiceSlide"/>
  <p:tag name="TPQUESTIONXML" val="﻿&lt;?xml version=&quot;1.0&quot; encoding=&quot;utf-8&quot;?&gt;&#10;&lt;questionlist&gt;&#10;    &lt;properties&gt;&#10;        &lt;guid&gt;631C7E3E8ED3428A97D8690376F91E9B&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1E75CC4551574F0BB39C8D2CE15ADDF1&lt;/guid&gt;&#10;            &lt;repollguid&gt;0E83DF1CF3F44F6BAA9582AE7BDF3D29&lt;/repollguid&gt;&#10;            &lt;sourceid&gt;B62B85E32C1F4ACBAAB94AE34C5CFFB2&lt;/sourceid&gt;&#10;            &lt;questiontext&gt;In a hypothesis test of H0:  = 10 vs Ha:  &amp;lt; 10 the p-value is 0.002.  With α = 0.05, we conclud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A8A152375C2C47208B3CD2E79CB9450E&lt;/guid&gt;&#10;                    &lt;answertext&gt; Reject H0 &lt;/answertext&gt;&#10;                    &lt;valuetype&gt;0&lt;/valuetype&gt;&#10;                &lt;/answer&gt;&#10;                &lt;answer&gt;&#10;                    &lt;guid&gt;11AD86233B664EF899F1FD46100F47D8&lt;/guid&gt;&#10;                    &lt;answertext&gt; Do not reject H0 &lt;/answertext&gt;&#10;                    &lt;valuetype&gt;0&lt;/valuetype&gt;&#10;                &lt;/answer&gt;&#10;                &lt;answer&gt;&#10;                    &lt;guid&gt;DF8D9744479740A3B5BE09FEED2966FE&lt;/guid&gt;&#10;                    &lt;answertext&gt; Reject Ha &lt;/answertext&gt;&#10;                    &lt;valuetype&gt;0&lt;/valuetype&gt;&#10;                &lt;/answer&gt;&#10;                &lt;answer&gt;&#10;                    &lt;guid&gt;CC0539833F4B4EC8A2C5606BD5BEBCEC&lt;/guid&gt;&#10;                    &lt;answertext&gt; Do not reject Ha&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7.xml><?xml version="1.0" encoding="utf-8"?>
<p:tagLst xmlns:a="http://schemas.openxmlformats.org/drawingml/2006/main" xmlns:r="http://schemas.openxmlformats.org/officeDocument/2006/relationships" xmlns:p="http://schemas.openxmlformats.org/presentationml/2006/main">
  <p:tag name="ANSWERBULLETS" val="3"/>
  <p:tag name="TEXTLENGTH" val="57"/>
  <p:tag name="FONTSIZE" val="32"/>
  <p:tag name="BULLETTYPE" val="ppBulletArabicPeriod"/>
  <p:tag name="ANSWERTEXT" val=" Reject H0&#10; Do not reject H0&#10; Reject Ha&#10; Do not reject Ha"/>
  <p:tag name="OLDNUMANSWERS" val="4"/>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 name="SLIDEGUID" val="7EDB52FF93634480B30E05758972AEF4"/>
  <p:tag name="SLIDEID" val="7EDB52FF93634480B30E05758972AEF4"/>
  <p:tag name="SLIDEORDER" val="1"/>
  <p:tag name="SLIDETYPE" val="Q"/>
  <p:tag name="DEMOGRAPHIC" val="False"/>
  <p:tag name="SPEEDSCORING" val="False"/>
  <p:tag name="CORRECTPOINTVALUE" val="100"/>
  <p:tag name="INCORRECTPOINTVALUE" val="0"/>
  <p:tag name="ZEROBASED" val="False"/>
  <p:tag name="VALUEFORMAT" val="0%"/>
  <p:tag name="QUESTIONALIAS" val="In a hypothesis test of   H0:  = 10 vs Ha:  &lt; 10  the p-value is 0.002.  With α = 0.01, we conclude:"/>
  <p:tag name="TOTALRESPONSES" val="0"/>
  <p:tag name="VALUES" val="No Value|smicln|No Value|smicln|No Value"/>
  <p:tag name="ANSWERSALIAS" val=" There is evidence that  = 10 |smicln| There is evidence that  &lt; 10 |smicln| We have insufficient evidence to conclude anything"/>
  <p:tag name="DELIMITERS" val="3.1"/>
  <p:tag name="RESPONSESGATHERED" val="False"/>
  <p:tag name="ANONYMOUSTEMP" val="False"/>
  <p:tag name="TYPE" val="MultiChoiceSlide"/>
  <p:tag name="TPQUESTIONXML" val="﻿&lt;?xml version=&quot;1.0&quot; encoding=&quot;utf-8&quot;?&gt;&#10;&lt;questionlist&gt;&#10;    &lt;properties&gt;&#10;        &lt;guid&gt;588802B296E3484EB808B33E87DE15F3&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EEB129BA899463CAEE00F13456E379E&lt;/guid&gt;&#10;            &lt;repollguid&gt;877388C81AA944E0AE40AA44A4B762BF&lt;/repollguid&gt;&#10;            &lt;sourceid&gt;3BF78CB9CD554F1C8DC6EF31069DF411&lt;/sourceid&gt;&#10;            &lt;questiontext&gt;In a hypothesis test of H0:  = 10 vs Ha:  &amp;lt; 10 the p-value is 0.002.  With α = 0.01, we conclud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19682BED02DC498D9F9DECA96A9C8F1B&lt;/guid&gt;&#10;                    &lt;answertext&gt; There is evidence that  = 10  &lt;/answertext&gt;&#10;                    &lt;valuetype&gt;0&lt;/valuetype&gt;&#10;                &lt;/answer&gt;&#10;                &lt;answer&gt;&#10;                    &lt;guid&gt;1B364054020343509F5D83CE7A72DD0B&lt;/guid&gt;&#10;                    &lt;answertext&gt; There is evidence that  &amp;lt; 10  &lt;/answertext&gt;&#10;                    &lt;valuetype&gt;0&lt;/valuetype&gt;&#10;                &lt;/answer&gt;&#10;                &lt;answer&gt;&#10;                    &lt;guid&gt;6BD3122B983D4304B945E6E4C7B0968F&lt;/guid&gt;&#10;                    &lt;answertext&gt; We have insufficient evidence to conclude anything&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9.xml><?xml version="1.0" encoding="utf-8"?>
<p:tagLst xmlns:a="http://schemas.openxmlformats.org/drawingml/2006/main" xmlns:r="http://schemas.openxmlformats.org/officeDocument/2006/relationships" xmlns:p="http://schemas.openxmlformats.org/presentationml/2006/main">
  <p:tag name="ANSWERBULLETS" val="3"/>
  <p:tag name="TEXTLENGTH" val="115"/>
  <p:tag name="FONTSIZE" val="32"/>
  <p:tag name="BULLETTYPE" val="ppBulletArabicPeriod"/>
  <p:tag name="ANSWERTEXT" val=" There is evidence that  = 10 &#10; There is evidence that  &lt; 10 &#10; We have insufficient evidence to conclude anything"/>
  <p:tag name="OLDNUMANSWERS" val="3"/>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 name="SLIDEGUID" val="EF6495D1F3BC4BD08448B44EE23D1102"/>
  <p:tag name="SLIDEID" val="EF6495D1F3BC4BD08448B44EE23D1102"/>
  <p:tag name="SLIDEORDER" val="1"/>
  <p:tag name="SLIDETYPE" val="Q"/>
  <p:tag name="DEMOGRAPHIC" val="False"/>
  <p:tag name="SPEEDSCORING" val="False"/>
  <p:tag name="CORRECTPOINTVALUE" val="100"/>
  <p:tag name="INCORRECTPOINTVALUE" val="0"/>
  <p:tag name="ZEROBASED" val="False"/>
  <p:tag name="VALUEFORMAT" val="0%"/>
  <p:tag name="QUESTIONALIAS" val="In a hypothesis test of   H0:  = 10 vs Ha:  &lt; 10  the p-value is 0.21.  With α = 0.01, we conclude:"/>
  <p:tag name="TOTALRESPONSES" val="0"/>
  <p:tag name="VALUES" val="No Value|smicln|No Value|smicln|No Value|smicln|No Value"/>
  <p:tag name="ANSWERSALIAS" val=" Reject H0|smicln| Do not reject H0|smicln| Reject Ha|smicln| Do not reject Ha"/>
  <p:tag name="DELIMITERS" val="3.1"/>
  <p:tag name="RESPONSESGATHERED" val="False"/>
  <p:tag name="ANONYMOUSTEMP" val="False"/>
  <p:tag name="TYPE" val="MultiChoiceSlide"/>
  <p:tag name="TPQUESTIONXML" val="﻿&lt;?xml version=&quot;1.0&quot; encoding=&quot;utf-8&quot;?&gt;&#10;&lt;questionlist&gt;&#10;    &lt;properties&gt;&#10;        &lt;guid&gt;C829F9DF08C64DFD9F21D439CEA66183&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5DE546B016D44EF94CBD6F8D32912EA&lt;/guid&gt;&#10;            &lt;repollguid&gt;7BD9B1655B56435CA8708528BDACC9AE&lt;/repollguid&gt;&#10;            &lt;sourceid&gt;C0C08E215C5444CAA3161D432204C6BC&lt;/sourceid&gt;&#10;            &lt;questiontext&gt;In a hypothesis test of H0:  = 10 vs Ha:  &amp;lt; 10 the p-value is 0.21.  With α = 0.01, we conclud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02C18897442A491B9525D93E2D2EE2FD&lt;/guid&gt;&#10;                    &lt;answertext&gt; Reject H0 &lt;/answertext&gt;&#10;                    &lt;valuetype&gt;0&lt;/valuetype&gt;&#10;                &lt;/answer&gt;&#10;                &lt;answer&gt;&#10;                    &lt;guid&gt;1A073BE14BB041A8AE192379F93C22EA&lt;/guid&gt;&#10;                    &lt;answertext&gt; Do not reject H0 &lt;/answertext&gt;&#10;                    &lt;valuetype&gt;0&lt;/valuetype&gt;&#10;                &lt;/answer&gt;&#10;                &lt;answer&gt;&#10;                    &lt;guid&gt;614B8457B5314A40BF8E3B7E511866DE&lt;/guid&gt;&#10;                    &lt;answertext&gt; Reject Ha &lt;/answertext&gt;&#10;                    &lt;valuetype&gt;0&lt;/valuetype&gt;&#10;                &lt;/answer&gt;&#10;                &lt;answer&gt;&#10;                    &lt;guid&gt;083B8579E91F4214ACDD9EE89AB57E7F&lt;/guid&gt;&#10;                    &lt;answertext&gt; Do not reject Ha&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1.xml><?xml version="1.0" encoding="utf-8"?>
<p:tagLst xmlns:a="http://schemas.openxmlformats.org/drawingml/2006/main" xmlns:r="http://schemas.openxmlformats.org/officeDocument/2006/relationships" xmlns:p="http://schemas.openxmlformats.org/presentationml/2006/main">
  <p:tag name="ANSWERBULLETS" val="3"/>
  <p:tag name="TEXTLENGTH" val="57"/>
  <p:tag name="FONTSIZE" val="32"/>
  <p:tag name="BULLETTYPE" val="ppBulletArabicPeriod"/>
  <p:tag name="ANSWERTEXT" val=" Reject H0&#10; Do not reject H0&#10; Reject Ha&#10; Do not reject Ha"/>
  <p:tag name="OLDNUMANSWERS" val="4"/>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SLIDEGUID" val="41E8D49FE66E4D35A33671388D28E06F"/>
  <p:tag name="SLIDEID" val="41E8D49FE66E4D35A33671388D28E06F"/>
  <p:tag name="SLIDEORDER" val="1"/>
  <p:tag name="SLIDETYPE" val="Q"/>
  <p:tag name="DEMOGRAPHIC" val="False"/>
  <p:tag name="SPEEDSCORING" val="False"/>
  <p:tag name="CORRECTPOINTVALUE" val="100"/>
  <p:tag name="INCORRECTPOINTVALUE" val="0"/>
  <p:tag name="ZEROBASED" val="False"/>
  <p:tag name="VALUEFORMAT" val="0%"/>
  <p:tag name="QUESTIONALIAS" val="In a hypothesis test of   H0:  = 10 vs Ha:  &lt; 10  the p-value is 0.21.  With α = 0.01, we conclude:"/>
  <p:tag name="TOTALRESPONSES" val="0"/>
  <p:tag name="ANSWERSALIAS" val=" There is evidence that  = 10 |smicln| There is evidence that  &lt; 10 |smicln| We have insufficient evidence to conclude anything"/>
  <p:tag name="DELIMITERS" val="3.1"/>
  <p:tag name="RESPONSESGATHERED" val="False"/>
  <p:tag name="ANONYMOUSTEMP" val="False"/>
  <p:tag name="VALUES" val="No Value|smicln|No Value|smicln|No Value"/>
  <p:tag name="TYPE" val="MultiChoiceSlide"/>
  <p:tag name="TPQUESTIONXML" val="﻿&lt;?xml version=&quot;1.0&quot; encoding=&quot;utf-8&quot;?&gt;&#10;&lt;questionlist&gt;&#10;    &lt;properties&gt;&#10;        &lt;guid&gt;B828767035C941ECAD31195E1EFFA3D7&lt;/guid&gt;&#10;        &lt;description /&gt;&#10;        &lt;date&gt;7/23/2017 9:02:11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8AE3E75CB6B4EE28BC9090447299A4C&lt;/guid&gt;&#10;            &lt;repollguid&gt;36732200444D4678B7545489DB639A96&lt;/repollguid&gt;&#10;            &lt;sourceid&gt;E31BD06756AC41C5B16E20ED548ECDD9&lt;/sourceid&gt;&#10;            &lt;questiontext&gt;In a hypothesis test of H0:  = 10 vs Ha:  &amp;lt; 10 the p-value is 0.21.  With α = 0.01, we conclud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9A13323CA16045BCAD841D14FECCFC5C&lt;/guid&gt;&#10;                    &lt;answertext&gt; There is evidence that  = 10  &lt;/answertext&gt;&#10;                    &lt;valuetype&gt;0&lt;/valuetype&gt;&#10;                &lt;/answer&gt;&#10;                &lt;answer&gt;&#10;                    &lt;guid&gt;32B36CF1B94F44C9B4DF69AC9FF302E3&lt;/guid&gt;&#10;                    &lt;answertext&gt; There is evidence that  &amp;lt; 10  &lt;/answertext&gt;&#10;                    &lt;valuetype&gt;0&lt;/valuetype&gt;&#10;                &lt;/answer&gt;&#10;                &lt;answer&gt;&#10;                    &lt;guid&gt;9AA07858785548418CBDF3A55E8CF71A&lt;/guid&gt;&#10;                    &lt;answertext&gt; We have insufficient evidence to conclude anything&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3.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115"/>
  <p:tag name="FONTSIZE" val="32"/>
  <p:tag name="BULLETTYPE" val="ppBulletArabicPeriod"/>
  <p:tag name="ANSWERTEXT" val=" There is evidence that  = 10 &#10; There is evidence that  &lt; 10 &#10; We have insufficient evidence to conclude anything"/>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Lst>
</file>

<file path=ppt/tags/tag48.xml><?xml version="1.0" encoding="utf-8"?>
<p:tagLst xmlns:a="http://schemas.openxmlformats.org/drawingml/2006/main" xmlns:r="http://schemas.openxmlformats.org/officeDocument/2006/relationships" xmlns:p="http://schemas.openxmlformats.org/presentationml/2006/main">
  <p:tag name="NOPREFERENCE" val="False"/>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724</TotalTime>
  <Words>1974</Words>
  <Application>Microsoft Office PowerPoint</Application>
  <PresentationFormat>On-screen Show (4:3)</PresentationFormat>
  <Paragraphs>584</Paragraphs>
  <Slides>40</Slides>
  <Notes>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2" baseType="lpstr">
      <vt:lpstr>Arial</vt:lpstr>
      <vt:lpstr>Calibri</vt:lpstr>
      <vt:lpstr>Cambria</vt:lpstr>
      <vt:lpstr>Cambria Math</vt:lpstr>
      <vt:lpstr>Segoe Print</vt:lpstr>
      <vt:lpstr>Symbol</vt:lpstr>
      <vt:lpstr>Times New Roman</vt:lpstr>
      <vt:lpstr>Tw Cen MT</vt:lpstr>
      <vt:lpstr>Wingdings</vt:lpstr>
      <vt:lpstr>Wingdings 2</vt:lpstr>
      <vt:lpstr>Median</vt:lpstr>
      <vt:lpstr>Equation</vt:lpstr>
      <vt:lpstr>PowerPoint Presentation</vt:lpstr>
      <vt:lpstr>In testing H0: p = 0.5 versus Ha: p &lt; 0.5, the observed sample proportion is p ̂=0.35.  Based on the randomization distribution below, the p-value is…</vt:lpstr>
      <vt:lpstr>p-value</vt:lpstr>
      <vt:lpstr>The smaller the p-value the </vt:lpstr>
      <vt:lpstr>p-value and H0</vt:lpstr>
      <vt:lpstr>Which of the following p-values gives the strongest evidence against H0?</vt:lpstr>
      <vt:lpstr>Which of the following p-values gives the strongest evidence against H0?</vt:lpstr>
      <vt:lpstr>Randomization Distributions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Simulate Your Own Sample</vt:lpstr>
      <vt:lpstr>PowerPoint Presentation</vt:lpstr>
      <vt:lpstr>PowerPoint Presentation</vt:lpstr>
      <vt:lpstr>Significance Level</vt:lpstr>
      <vt:lpstr>Significance Level</vt:lpstr>
      <vt:lpstr>PowerPoint Presentation</vt:lpstr>
      <vt:lpstr>PowerPoint Presentation</vt:lpstr>
      <vt:lpstr>In the test to see if the mean resting metabolic rate is higher after treatment, the p-value is 0.013. Using  = 0.05, is this difference statistically significant? (should we reject H0: no difference?)</vt:lpstr>
      <vt:lpstr>In the test to see if locomotor activity changes after treatment, the p-value is 0.980. Using  = 0.05, is this difference statistically significant? (should we reject H0: no difference?)</vt:lpstr>
      <vt:lpstr>In the test to see if mean food intake changes after treatment, the p-value is 0.035. Using  = 0.05, is this difference statistically significant? (should we reject H0: no difference?)</vt:lpstr>
      <vt:lpstr>PowerPoint Presentation</vt:lpstr>
      <vt:lpstr>PowerPoint Presentation</vt:lpstr>
      <vt:lpstr>In a hypothesis test of   H0:  = 10 vs Ha:  &lt; 10  the p-value is 0.002.  With α = 0.05, we conclude:</vt:lpstr>
      <vt:lpstr>In a hypothesis test of   H0:  = 10 vs Ha:  &lt; 10  the p-value is 0.002.  With α = 0.01, we conclude:</vt:lpstr>
      <vt:lpstr>In a hypothesis test of   H0:  = 10 vs Ha:  &lt; 10  the p-value is 0.21.  With α = 0.01, we conclude:</vt:lpstr>
      <vt:lpstr>In a hypothesis test of   H0:  = 10 vs Ha:  &lt; 10  the p-value is 0.21.  With α = 0.01, we conclude:</vt:lpstr>
      <vt:lpstr>PowerPoint Presentation</vt:lpstr>
      <vt:lpstr>Conclusions</vt:lpstr>
      <vt:lpstr>Multiple Sclerosis and Sunlight</vt:lpstr>
      <vt:lpstr>Multiple Sclerosis and Sunlight</vt:lpstr>
      <vt:lpstr>Multiple Sclerosis and Sunlight</vt:lpstr>
      <vt:lpstr>Multiple Sclerosis and Sunlight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Kati Dobeck</cp:lastModifiedBy>
  <cp:revision>34</cp:revision>
  <cp:lastPrinted>2015-07-06T21:23:20Z</cp:lastPrinted>
  <dcterms:created xsi:type="dcterms:W3CDTF">2013-01-14T15:09:50Z</dcterms:created>
  <dcterms:modified xsi:type="dcterms:W3CDTF">2017-11-21T14:30:10Z</dcterms:modified>
</cp:coreProperties>
</file>