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7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tags/tag5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7"/>
  </p:notesMasterIdLst>
  <p:handoutMasterIdLst>
    <p:handoutMasterId r:id="rId58"/>
  </p:handoutMasterIdLst>
  <p:sldIdLst>
    <p:sldId id="257" r:id="rId2"/>
    <p:sldId id="259" r:id="rId3"/>
    <p:sldId id="260" r:id="rId4"/>
    <p:sldId id="304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305" r:id="rId13"/>
    <p:sldId id="306" r:id="rId14"/>
    <p:sldId id="270" r:id="rId15"/>
    <p:sldId id="271" r:id="rId16"/>
    <p:sldId id="274" r:id="rId17"/>
    <p:sldId id="275" r:id="rId18"/>
    <p:sldId id="276" r:id="rId19"/>
    <p:sldId id="277" r:id="rId20"/>
    <p:sldId id="278" r:id="rId21"/>
    <p:sldId id="279" r:id="rId22"/>
    <p:sldId id="307" r:id="rId23"/>
    <p:sldId id="308" r:id="rId24"/>
    <p:sldId id="309" r:id="rId25"/>
    <p:sldId id="286" r:id="rId26"/>
    <p:sldId id="310" r:id="rId27"/>
    <p:sldId id="289" r:id="rId28"/>
    <p:sldId id="318" r:id="rId29"/>
    <p:sldId id="319" r:id="rId30"/>
    <p:sldId id="320" r:id="rId31"/>
    <p:sldId id="290" r:id="rId32"/>
    <p:sldId id="291" r:id="rId33"/>
    <p:sldId id="293" r:id="rId34"/>
    <p:sldId id="294" r:id="rId35"/>
    <p:sldId id="295" r:id="rId36"/>
    <p:sldId id="296" r:id="rId37"/>
    <p:sldId id="297" r:id="rId38"/>
    <p:sldId id="321" r:id="rId39"/>
    <p:sldId id="322" r:id="rId40"/>
    <p:sldId id="323" r:id="rId41"/>
    <p:sldId id="337" r:id="rId42"/>
    <p:sldId id="338" r:id="rId43"/>
    <p:sldId id="316" r:id="rId44"/>
    <p:sldId id="334" r:id="rId45"/>
    <p:sldId id="335" r:id="rId46"/>
    <p:sldId id="336" r:id="rId47"/>
    <p:sldId id="329" r:id="rId48"/>
    <p:sldId id="343" r:id="rId49"/>
    <p:sldId id="339" r:id="rId50"/>
    <p:sldId id="344" r:id="rId51"/>
    <p:sldId id="345" r:id="rId52"/>
    <p:sldId id="346" r:id="rId53"/>
    <p:sldId id="331" r:id="rId54"/>
    <p:sldId id="332" r:id="rId55"/>
    <p:sldId id="303" r:id="rId56"/>
  </p:sldIdLst>
  <p:sldSz cx="9144000" cy="6858000" type="screen4x3"/>
  <p:notesSz cx="8520113" cy="7077075"/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7" autoAdjust="0"/>
    <p:restoredTop sz="94660"/>
  </p:normalViewPr>
  <p:slideViewPr>
    <p:cSldViewPr>
      <p:cViewPr varScale="1">
        <p:scale>
          <a:sx n="84" d="100"/>
          <a:sy n="84" d="100"/>
        </p:scale>
        <p:origin x="-1397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6293376"/>
        <c:axId val="196294912"/>
        <c:axId val="60754112"/>
      </c:bar3DChart>
      <c:catAx>
        <c:axId val="196293376"/>
        <c:scaling>
          <c:orientation val="minMax"/>
        </c:scaling>
        <c:delete val="0"/>
        <c:axPos val="b"/>
        <c:majorTickMark val="out"/>
        <c:minorTickMark val="none"/>
        <c:tickLblPos val="nextTo"/>
        <c:crossAx val="196294912"/>
        <c:crosses val="autoZero"/>
        <c:auto val="1"/>
        <c:lblAlgn val="ctr"/>
        <c:lblOffset val="100"/>
        <c:noMultiLvlLbl val="0"/>
      </c:catAx>
      <c:valAx>
        <c:axId val="196294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6293376"/>
        <c:crosses val="autoZero"/>
        <c:crossBetween val="between"/>
      </c:valAx>
      <c:serAx>
        <c:axId val="60754112"/>
        <c:scaling>
          <c:orientation val="minMax"/>
        </c:scaling>
        <c:delete val="0"/>
        <c:axPos val="b"/>
        <c:majorTickMark val="out"/>
        <c:minorTickMark val="none"/>
        <c:tickLblPos val="nextTo"/>
        <c:crossAx val="196294912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92432" cy="353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825772" y="0"/>
            <a:ext cx="3692432" cy="353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B516C-8AE3-48A0-82ED-576DDCCE7FEF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21902"/>
            <a:ext cx="3692432" cy="3539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825772" y="6721902"/>
            <a:ext cx="3692432" cy="35397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704FD-9DCC-4019-918D-621850E0D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69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692049" cy="353854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826094" y="0"/>
            <a:ext cx="3692049" cy="353854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A4CEC8C2-7A5E-41E6-830C-9B83F05BED5A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90788" y="530225"/>
            <a:ext cx="3538537" cy="2654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52012" y="3361611"/>
            <a:ext cx="6816090" cy="3184684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21993"/>
            <a:ext cx="3692049" cy="353854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826094" y="6721993"/>
            <a:ext cx="3692049" cy="353854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12351384-BE90-4081-9309-2105D0732A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2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4A0B3-D59B-4A0C-B834-D1F990153E5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22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4A0B3-D59B-4A0C-B834-D1F990153E5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4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DAA56E-87B0-4C62-B592-F3674A3E8DB8}" type="datetimeFigureOut">
              <a:rPr lang="en-US" smtClean="0"/>
              <a:t>10/1/2017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006BEC60-68CC-4DD6-84D0-F41094E1285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1583439030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8728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0" y="1508760"/>
            <a:ext cx="9144000" cy="53492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32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32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pinionator.blogs.nytimes.com/2010/06/01/cuckoo-cuckoo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wmf"/><Relationship Id="rId2" Type="http://schemas.openxmlformats.org/officeDocument/2006/relationships/tags" Target="../tags/tag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wmf"/><Relationship Id="rId2" Type="http://schemas.openxmlformats.org/officeDocument/2006/relationships/tags" Target="../tags/tag1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8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11.bin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7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hyperlink" Target="http://www.lock5stat.com/StatKey/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23.xml"/><Relationship Id="rId7" Type="http://schemas.openxmlformats.org/officeDocument/2006/relationships/image" Target="../media/image27.wmf"/><Relationship Id="rId2" Type="http://schemas.openxmlformats.org/officeDocument/2006/relationships/tags" Target="../tags/tag2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9.w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18.bin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tags" Target="../tags/tag25.xml"/><Relationship Id="rId7" Type="http://schemas.openxmlformats.org/officeDocument/2006/relationships/image" Target="../media/image27.wmf"/><Relationship Id="rId2" Type="http://schemas.openxmlformats.org/officeDocument/2006/relationships/tags" Target="../tags/tag2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9.w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21.bin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32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ck5stat.com/StatKey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4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notesSlide" Target="../notesSlides/notesSlid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5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53.png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38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43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notesSlide" Target="../notesSlides/notesSlide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37.emf"/><Relationship Id="rId5" Type="http://schemas.openxmlformats.org/officeDocument/2006/relationships/hyperlink" Target="http://www.lock5stat.com/StatKey/" TargetMode="External"/><Relationship Id="rId4" Type="http://schemas.openxmlformats.org/officeDocument/2006/relationships/notesSlide" Target="../notesSlides/notesSlide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notesSlide" Target="../notesSlides/notesSlide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8.1:</a:t>
            </a:r>
            <a:endParaRPr lang="en-US" sz="3200" dirty="0">
              <a:solidFill>
                <a:srgbClr val="EBDDC3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Analysis of Variance (ANOVA)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756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r>
              <a:rPr lang="en-US" dirty="0" smtClean="0"/>
              <a:t>Test for a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difference in means</a:t>
            </a:r>
            <a:r>
              <a:rPr lang="en-US" dirty="0" smtClean="0"/>
              <a:t> across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more than two categories</a:t>
            </a:r>
            <a:r>
              <a:rPr lang="en-US" dirty="0" smtClean="0"/>
              <a:t> (groups)</a:t>
            </a:r>
          </a:p>
          <a:p>
            <a:pPr lvl="1"/>
            <a:r>
              <a:rPr lang="en-US" dirty="0" smtClean="0"/>
              <a:t>Hypotheses</a:t>
            </a:r>
          </a:p>
          <a:p>
            <a:pPr lvl="1"/>
            <a:r>
              <a:rPr lang="en-US" dirty="0" smtClean="0"/>
              <a:t>Measuring variability</a:t>
            </a:r>
          </a:p>
          <a:p>
            <a:pPr lvl="2"/>
            <a:r>
              <a:rPr lang="en-US" sz="3200" dirty="0" smtClean="0"/>
              <a:t>Between groups</a:t>
            </a:r>
          </a:p>
          <a:p>
            <a:pPr lvl="2"/>
            <a:r>
              <a:rPr lang="en-US" sz="3200" dirty="0" smtClean="0"/>
              <a:t>Within groups</a:t>
            </a:r>
          </a:p>
          <a:p>
            <a:pPr lvl="1"/>
            <a:r>
              <a:rPr lang="en-US" dirty="0" smtClean="0"/>
              <a:t>Comparing variability, the F-statistic</a:t>
            </a:r>
          </a:p>
          <a:p>
            <a:pPr lvl="1"/>
            <a:r>
              <a:rPr lang="en-US" dirty="0" smtClean="0"/>
              <a:t>Finding a p-value, the F-distribution</a:t>
            </a:r>
          </a:p>
          <a:p>
            <a:pPr lvl="1"/>
            <a:r>
              <a:rPr lang="en-US" dirty="0" smtClean="0"/>
              <a:t>Putting it all together – the ANOVA table</a:t>
            </a:r>
          </a:p>
        </p:txBody>
      </p:sp>
    </p:spTree>
    <p:extLst>
      <p:ext uri="{BB962C8B-B14F-4D97-AF65-F5344CB8AC3E}">
        <p14:creationId xmlns:p14="http://schemas.microsoft.com/office/powerpoint/2010/main" val="380959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Multiple Categories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r>
              <a:rPr lang="en-US" dirty="0"/>
              <a:t>So far, we’ve learned how to do inference for a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difference in means</a:t>
            </a:r>
            <a:r>
              <a:rPr lang="en-US" dirty="0"/>
              <a:t> </a:t>
            </a:r>
            <a:r>
              <a:rPr lang="en-US" i="1" dirty="0"/>
              <a:t>IF</a:t>
            </a:r>
            <a:r>
              <a:rPr lang="en-US" dirty="0"/>
              <a:t> the categorical variable has only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two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categories</a:t>
            </a:r>
            <a:r>
              <a:rPr lang="en-US" dirty="0"/>
              <a:t> (i.e. compare two groups)</a:t>
            </a:r>
          </a:p>
          <a:p>
            <a:endParaRPr lang="en-US" dirty="0"/>
          </a:p>
          <a:p>
            <a:r>
              <a:rPr lang="en-US" dirty="0"/>
              <a:t>In this section, we’ll learn how to do hypothesis tests for a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difference in means </a:t>
            </a:r>
            <a:r>
              <a:rPr lang="en-US" dirty="0"/>
              <a:t>across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multiple categories </a:t>
            </a:r>
            <a:r>
              <a:rPr lang="en-US" dirty="0"/>
              <a:t>(i.e. compare more than two groups)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6660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580" y="1524000"/>
            <a:ext cx="9130420" cy="5334000"/>
          </a:xfrm>
        </p:spPr>
        <p:txBody>
          <a:bodyPr/>
          <a:lstStyle/>
          <a:p>
            <a:r>
              <a:rPr lang="en-US" dirty="0" smtClean="0"/>
              <a:t>The procedure for testing </a:t>
            </a:r>
            <a:r>
              <a:rPr lang="en-US" dirty="0"/>
              <a:t>for a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difference in means </a:t>
            </a:r>
            <a:r>
              <a:rPr lang="en-US" dirty="0"/>
              <a:t>across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multiple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categories </a:t>
            </a:r>
            <a:r>
              <a:rPr lang="en-US" dirty="0"/>
              <a:t>is quite different from tests that we have performed </a:t>
            </a:r>
            <a:r>
              <a:rPr lang="en-US" dirty="0" smtClean="0"/>
              <a:t>earlier and may seem strange at first.</a:t>
            </a:r>
          </a:p>
          <a:p>
            <a:r>
              <a:rPr lang="en-US" u="sng" dirty="0" smtClean="0"/>
              <a:t>Main idea</a:t>
            </a:r>
            <a:r>
              <a:rPr lang="en-US" dirty="0" smtClean="0"/>
              <a:t>: We compare measures of variability, both between the groups and within each group, as a way to assess how different the groups really are.</a:t>
            </a:r>
          </a:p>
          <a:p>
            <a:r>
              <a:rPr lang="en-US" dirty="0" smtClean="0"/>
              <a:t>We call these tests 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an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</a:rPr>
              <a:t>alysis 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o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</a:rPr>
              <a:t>f 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va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</a:rPr>
              <a:t>riance</a:t>
            </a:r>
            <a:r>
              <a:rPr lang="en-US" dirty="0" smtClean="0"/>
              <a:t>, or 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ANOVA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smtClean="0"/>
              <a:t>for short.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3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General Hypothesis Testing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9616" y="1524000"/>
            <a:ext cx="9124384" cy="5334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State </a:t>
            </a:r>
            <a:r>
              <a:rPr lang="en-US" dirty="0" smtClean="0"/>
              <a:t>hypotheses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Calculate a </a:t>
            </a:r>
            <a:r>
              <a:rPr lang="en-US" dirty="0" smtClean="0"/>
              <a:t>test statistic</a:t>
            </a:r>
            <a:r>
              <a:rPr lang="en-US" dirty="0"/>
              <a:t>, based on your </a:t>
            </a:r>
            <a:r>
              <a:rPr lang="en-US" dirty="0" smtClean="0"/>
              <a:t>original sample data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Create a distribution of </a:t>
            </a:r>
            <a:r>
              <a:rPr lang="en-US" dirty="0" smtClean="0"/>
              <a:t>the statistics that we could obtain just by random chance if </a:t>
            </a:r>
            <a:r>
              <a:rPr lang="en-US" dirty="0"/>
              <a:t>the null hypothesis </a:t>
            </a:r>
            <a:r>
              <a:rPr lang="en-US" dirty="0" smtClean="0"/>
              <a:t>is true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Measure how </a:t>
            </a:r>
            <a:r>
              <a:rPr lang="en-US" dirty="0"/>
              <a:t>extreme your test statistic from </a:t>
            </a:r>
            <a:r>
              <a:rPr lang="en-US" dirty="0" smtClean="0"/>
              <a:t>2</a:t>
            </a:r>
            <a:r>
              <a:rPr lang="en-US" dirty="0"/>
              <a:t>) is, as compared to the distribution generated in </a:t>
            </a:r>
            <a:r>
              <a:rPr lang="en-US" dirty="0" smtClean="0"/>
              <a:t>3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75459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306" name="Picture 2" descr="Cuckoo bi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3821668"/>
            <a:ext cx="3379254" cy="26670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-20370" y="648866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hlinkClick r:id="rId3"/>
              </a:rPr>
              <a:t>http://opinionator.blogs.nytimes.com/2010/06/01/cuckoo-cuckoo</a:t>
            </a:r>
            <a:r>
              <a:rPr lang="en-US" dirty="0" smtClean="0">
                <a:hlinkClick r:id="rId3"/>
              </a:rPr>
              <a:t>/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Cuckoo </a:t>
            </a:r>
            <a:r>
              <a:rPr lang="en-US" dirty="0" smtClean="0"/>
              <a:t>Birds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502" y="1524000"/>
            <a:ext cx="9132498" cy="4495800"/>
          </a:xfrm>
        </p:spPr>
        <p:txBody>
          <a:bodyPr>
            <a:normAutofit/>
          </a:bodyPr>
          <a:lstStyle/>
          <a:p>
            <a:r>
              <a:rPr lang="en-US" dirty="0"/>
              <a:t>Cuckoo birds lay their eggs in the nests of other birds </a:t>
            </a:r>
          </a:p>
          <a:p>
            <a:r>
              <a:rPr lang="en-US" dirty="0"/>
              <a:t>When the cuckoo baby hatches, it kicks out all the original eggs/babies</a:t>
            </a:r>
          </a:p>
          <a:p>
            <a:r>
              <a:rPr lang="en-US" dirty="0"/>
              <a:t>If the cuckoo is lucky, the mother will raise the cuckoo as if it were her </a:t>
            </a:r>
            <a:r>
              <a:rPr lang="en-US" dirty="0" smtClean="0"/>
              <a:t>own</a:t>
            </a:r>
          </a:p>
          <a:p>
            <a:pPr lvl="1"/>
            <a:r>
              <a:rPr lang="en-US" dirty="0"/>
              <a:t>Do cuckoo </a:t>
            </a:r>
            <a:r>
              <a:rPr lang="en-US" dirty="0" smtClean="0"/>
              <a:t>bird eggs </a:t>
            </a:r>
            <a:r>
              <a:rPr lang="en-US" dirty="0"/>
              <a:t>found in </a:t>
            </a:r>
          </a:p>
          <a:p>
            <a:pPr marL="365760" lvl="1" indent="0">
              <a:buNone/>
            </a:pPr>
            <a:r>
              <a:rPr lang="en-US" dirty="0"/>
              <a:t>nests of different species </a:t>
            </a:r>
          </a:p>
          <a:p>
            <a:pPr marL="365760" lvl="1" indent="0">
              <a:buNone/>
            </a:pPr>
            <a:r>
              <a:rPr lang="en-US" dirty="0"/>
              <a:t>differ in size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lot_zoom_png (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85800"/>
            <a:ext cx="9073629" cy="5256135"/>
          </a:xfrm>
          <a:prstGeom prst="rect">
            <a:avLst/>
          </a:prstGeom>
        </p:spPr>
      </p:pic>
      <p:pic>
        <p:nvPicPr>
          <p:cNvPr id="594948" name="Picture 4" descr="http://2.bp.blogspot.com/_unmHAncyD4E/TI4MUZ3syHI/AAAAAAAABUE/VjDts4V6pzE/s1600/pipit-info0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5486400"/>
            <a:ext cx="1065734" cy="1143000"/>
          </a:xfrm>
          <a:prstGeom prst="rect">
            <a:avLst/>
          </a:prstGeom>
          <a:noFill/>
        </p:spPr>
      </p:pic>
      <p:pic>
        <p:nvPicPr>
          <p:cNvPr id="594950" name="Picture 6" descr="http://www.exploringnature.org/graphics/birds/robin_colo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3377" y="5569974"/>
            <a:ext cx="1205532" cy="914400"/>
          </a:xfrm>
          <a:prstGeom prst="rect">
            <a:avLst/>
          </a:prstGeom>
          <a:noFill/>
        </p:spPr>
      </p:pic>
      <p:pic>
        <p:nvPicPr>
          <p:cNvPr id="594952" name="Picture 8" descr="http://www.rspb.org.uk/images/cache/housesparrow_male_300_tcm9-139923_v2.jpg"/>
          <p:cNvPicPr>
            <a:picLocks noChangeAspect="1" noChangeArrowheads="1"/>
          </p:cNvPicPr>
          <p:nvPr/>
        </p:nvPicPr>
        <p:blipFill>
          <a:blip r:embed="rId5" cstate="print"/>
          <a:srcRect t="9756" b="12195"/>
          <a:stretch>
            <a:fillRect/>
          </a:stretch>
        </p:blipFill>
        <p:spPr bwMode="auto">
          <a:xfrm>
            <a:off x="5418499" y="5506784"/>
            <a:ext cx="1333500" cy="1040780"/>
          </a:xfrm>
          <a:prstGeom prst="rect">
            <a:avLst/>
          </a:prstGeom>
          <a:noFill/>
        </p:spPr>
      </p:pic>
      <p:pic>
        <p:nvPicPr>
          <p:cNvPr id="594954" name="Picture 10" descr="http://williamthecoroner.files.wordpress.com/2010/12/wren_300_tcm9-142549_v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34200" y="5454621"/>
            <a:ext cx="1447800" cy="1158240"/>
          </a:xfrm>
          <a:prstGeom prst="rect">
            <a:avLst/>
          </a:prstGeom>
          <a:noFill/>
        </p:spPr>
      </p:pic>
      <p:pic>
        <p:nvPicPr>
          <p:cNvPr id="594956" name="Picture 12" descr="http://www.rspb.org.uk/images/cache/piedwag300_tcm9-142365_v2.jpg"/>
          <p:cNvPicPr>
            <a:picLocks noChangeAspect="1" noChangeArrowheads="1"/>
          </p:cNvPicPr>
          <p:nvPr/>
        </p:nvPicPr>
        <p:blipFill>
          <a:blip r:embed="rId7" cstate="print"/>
          <a:srcRect t="25806" r="4545" b="9677"/>
          <a:stretch>
            <a:fillRect/>
          </a:stretch>
        </p:blipFill>
        <p:spPr bwMode="auto">
          <a:xfrm>
            <a:off x="685800" y="5486400"/>
            <a:ext cx="1600200" cy="1081549"/>
          </a:xfrm>
          <a:prstGeom prst="rect">
            <a:avLst/>
          </a:prstGeom>
          <a:noFill/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Length of Cuckoo Eggs</a:t>
            </a:r>
            <a:endParaRPr lang="en-US" sz="4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77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72" y="304800"/>
            <a:ext cx="8153400" cy="990600"/>
          </a:xfrm>
        </p:spPr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6406" y="1524000"/>
                <a:ext cx="9117594" cy="533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	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= </a:t>
                </a:r>
                <a:r>
                  <a:rPr lang="en-US" dirty="0"/>
                  <a:t>number of groups</a:t>
                </a:r>
              </a:p>
              <a:p>
                <a:pPr marL="0" indent="0">
                  <a:buNone/>
                </a:pPr>
                <a:r>
                  <a:rPr lang="en-US" dirty="0" smtClean="0"/>
                  <a:t>	</a:t>
                </a:r>
                <a:r>
                  <a:rPr lang="en-US" i="1" dirty="0" err="1" smtClean="0"/>
                  <a:t>n</a:t>
                </a:r>
                <a:r>
                  <a:rPr lang="en-US" i="1" baseline="-25000" dirty="0" err="1" smtClean="0"/>
                  <a:t>i</a:t>
                </a:r>
                <a:r>
                  <a:rPr lang="en-US" dirty="0" smtClean="0"/>
                  <a:t> = </a:t>
                </a:r>
                <a:r>
                  <a:rPr lang="en-US" dirty="0"/>
                  <a:t>number of </a:t>
                </a:r>
                <a:r>
                  <a:rPr lang="en-US" dirty="0" smtClean="0"/>
                  <a:t>cases in </a:t>
                </a:r>
                <a:r>
                  <a:rPr lang="en-US" dirty="0"/>
                  <a:t>group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dirty="0" smtClean="0"/>
                  <a:t>	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= </a:t>
                </a:r>
                <a:r>
                  <a:rPr lang="en-US" dirty="0"/>
                  <a:t>overall number of </a:t>
                </a:r>
                <a:r>
                  <a:rPr lang="en-US" dirty="0" smtClean="0"/>
                  <a:t>cases = </a:t>
                </a:r>
                <a:r>
                  <a:rPr lang="en-US" i="1" dirty="0"/>
                  <a:t>n</a:t>
                </a:r>
                <a:r>
                  <a:rPr lang="en-US" i="1" baseline="-25000" dirty="0"/>
                  <a:t>1</a:t>
                </a:r>
                <a:r>
                  <a:rPr lang="en-US" dirty="0"/>
                  <a:t> + </a:t>
                </a:r>
                <a:r>
                  <a:rPr lang="en-US" i="1" dirty="0"/>
                  <a:t>n</a:t>
                </a:r>
                <a:r>
                  <a:rPr lang="en-US" i="1" baseline="-25000" dirty="0"/>
                  <a:t>2</a:t>
                </a:r>
                <a:r>
                  <a:rPr lang="en-US" dirty="0"/>
                  <a:t> + … + </a:t>
                </a:r>
                <a:r>
                  <a:rPr lang="en-US" i="1" dirty="0" err="1"/>
                  <a:t>n</a:t>
                </a:r>
                <a:r>
                  <a:rPr lang="en-US" i="1" baseline="-25000" dirty="0" err="1"/>
                  <a:t>k</a:t>
                </a:r>
                <a:endParaRPr lang="en-US" i="1" baseline="-2500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 smtClean="0"/>
                  <a:t>= </a:t>
                </a:r>
                <a:r>
                  <a:rPr lang="en-US" dirty="0"/>
                  <a:t>mean for group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dirty="0" smtClean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 smtClean="0"/>
                  <a:t> = </a:t>
                </a:r>
                <a:r>
                  <a:rPr lang="en-US" dirty="0"/>
                  <a:t>grand mean for combined data 	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6406" y="1524000"/>
                <a:ext cx="9117594" cy="5334000"/>
              </a:xfrm>
              <a:blipFill rotWithShape="1">
                <a:blip r:embed="rId3"/>
                <a:stretch>
                  <a:fillRect t="-1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937247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dirty="0"/>
              <a:t>Length of Cuckoo Eggs</a:t>
            </a:r>
            <a:endParaRPr lang="en-US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683664"/>
              </p:ext>
            </p:extLst>
          </p:nvPr>
        </p:nvGraphicFramePr>
        <p:xfrm>
          <a:off x="1219200" y="1795716"/>
          <a:ext cx="6858000" cy="3992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388"/>
                <a:gridCol w="1524524"/>
                <a:gridCol w="1601564"/>
                <a:gridCol w="1524524"/>
              </a:tblGrid>
              <a:tr h="9213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Bird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Sample</a:t>
                      </a:r>
                    </a:p>
                    <a:p>
                      <a:pPr algn="ctr"/>
                      <a:r>
                        <a:rPr lang="en-US" sz="2400" baseline="0" dirty="0" smtClean="0"/>
                        <a:t> Mean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Sample</a:t>
                      </a:r>
                      <a:r>
                        <a:rPr lang="en-US" sz="2400" baseline="0" dirty="0" smtClean="0"/>
                        <a:t> </a:t>
                      </a:r>
                    </a:p>
                    <a:p>
                      <a:pPr algn="ctr"/>
                      <a:r>
                        <a:rPr lang="en-US" sz="2400" baseline="0" dirty="0" smtClean="0"/>
                        <a:t>SD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Sample</a:t>
                      </a:r>
                    </a:p>
                    <a:p>
                      <a:pPr algn="ctr"/>
                      <a:r>
                        <a:rPr lang="en-US" sz="2400" dirty="0" smtClean="0"/>
                        <a:t>Size</a:t>
                      </a:r>
                      <a:endParaRPr lang="en-US" sz="2400" dirty="0"/>
                    </a:p>
                  </a:txBody>
                  <a:tcPr/>
                </a:tc>
              </a:tr>
              <a:tr h="51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Pied Wagtail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22.90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1.07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15</a:t>
                      </a:r>
                      <a:endParaRPr lang="en-US" sz="2400" dirty="0"/>
                    </a:p>
                  </a:txBody>
                  <a:tcPr/>
                </a:tc>
              </a:tr>
              <a:tr h="51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Pipit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22.50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0.97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60</a:t>
                      </a:r>
                      <a:endParaRPr lang="en-US" sz="2400" dirty="0"/>
                    </a:p>
                  </a:txBody>
                  <a:tcPr/>
                </a:tc>
              </a:tr>
              <a:tr h="51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Robin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22.58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0.68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16</a:t>
                      </a:r>
                      <a:endParaRPr lang="en-US" sz="2400" dirty="0"/>
                    </a:p>
                  </a:txBody>
                  <a:tcPr/>
                </a:tc>
              </a:tr>
              <a:tr h="51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Sparrow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23.12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1.07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14</a:t>
                      </a:r>
                      <a:endParaRPr lang="en-US" sz="2400" dirty="0"/>
                    </a:p>
                  </a:txBody>
                  <a:tcPr/>
                </a:tc>
              </a:tr>
              <a:tr h="51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Wren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21.13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0.74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15</a:t>
                      </a:r>
                      <a:endParaRPr lang="en-US" sz="2400" dirty="0"/>
                    </a:p>
                  </a:txBody>
                  <a:tcPr/>
                </a:tc>
              </a:tr>
              <a:tr h="5118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Overall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7030A0"/>
                          </a:solidFill>
                        </a:rPr>
                        <a:t>22.46</a:t>
                      </a:r>
                      <a:endParaRPr lang="en-US" sz="24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rgbClr val="00B050"/>
                          </a:solidFill>
                        </a:rPr>
                        <a:t>1.07</a:t>
                      </a:r>
                      <a:endParaRPr lang="en-US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120</a:t>
                      </a:r>
                      <a:endParaRPr lang="en-US" sz="24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3769667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chemeClr val="accent2">
                    <a:lumMod val="75000"/>
                  </a:schemeClr>
                </a:solidFill>
              </a:rPr>
              <a:t>k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=5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Left Brace 6"/>
          <p:cNvSpPr/>
          <p:nvPr/>
        </p:nvSpPr>
        <p:spPr>
          <a:xfrm>
            <a:off x="1145452" y="2743200"/>
            <a:ext cx="462104" cy="2514600"/>
          </a:xfrm>
          <a:prstGeom prst="leftBrace">
            <a:avLst>
              <a:gd name="adj1" fmla="val 37376"/>
              <a:gd name="adj2" fmla="val 50000"/>
            </a:avLst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67330" y="6031248"/>
            <a:ext cx="1209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chemeClr val="accent3">
                    <a:lumMod val="75000"/>
                  </a:schemeClr>
                </a:solidFill>
              </a:rPr>
              <a:t>n</a:t>
            </a:r>
            <a:r>
              <a:rPr lang="en-US" sz="2400" b="1" baseline="-25000" dirty="0" smtClean="0">
                <a:solidFill>
                  <a:schemeClr val="accent3">
                    <a:lumMod val="75000"/>
                  </a:schemeClr>
                </a:solidFill>
              </a:rPr>
              <a:t>1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to</a:t>
            </a:r>
            <a:r>
              <a:rPr lang="en-US" sz="2400" b="1" baseline="-250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2400" b="1" i="1" dirty="0" smtClean="0">
                <a:solidFill>
                  <a:schemeClr val="accent3">
                    <a:lumMod val="75000"/>
                  </a:schemeClr>
                </a:solidFill>
              </a:rPr>
              <a:t>n</a:t>
            </a:r>
            <a:r>
              <a:rPr lang="en-US" sz="2400" b="1" baseline="-25000" dirty="0" smtClean="0">
                <a:solidFill>
                  <a:schemeClr val="accent3">
                    <a:lumMod val="75000"/>
                  </a:schemeClr>
                </a:solidFill>
              </a:rPr>
              <a:t>5</a:t>
            </a:r>
            <a:endParaRPr lang="en-US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989499" y="6027033"/>
                <a:ext cx="1143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r>
                      <a:rPr lang="en-US" sz="2400" b="1" i="1" baseline="-2500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400" b="1" baseline="-25000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:r>
                  <a:rPr lang="en-US" sz="2400" b="1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to</a:t>
                </a:r>
                <a:r>
                  <a:rPr lang="en-US" sz="2400" b="1" baseline="-25000" dirty="0" smtClean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  <m:r>
                      <a:rPr lang="en-US" sz="2400" b="1" i="1" baseline="-25000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/>
                      </a:rPr>
                      <m:t>𝟓</m:t>
                    </m:r>
                  </m:oMath>
                </a14:m>
                <a:endParaRPr lang="en-US" sz="2400" b="1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499" y="6027033"/>
                <a:ext cx="1143000" cy="461665"/>
              </a:xfrm>
              <a:prstGeom prst="rect">
                <a:avLst/>
              </a:prstGeom>
              <a:blipFill rotWithShape="1">
                <a:blip r:embed="rId2"/>
                <a:stretch>
                  <a:fillRect t="-10667" r="-2978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315454" y="5277977"/>
                <a:ext cx="7214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400" b="1" dirty="0" smtClean="0">
                    <a:solidFill>
                      <a:srgbClr val="7030A0"/>
                    </a:solidFill>
                  </a:rPr>
                  <a:t>=</a:t>
                </a:r>
                <a:endParaRPr lang="en-US" sz="24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454" y="5277977"/>
                <a:ext cx="721448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080095" y="5965478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chemeClr val="accent4">
                    <a:lumMod val="50000"/>
                  </a:schemeClr>
                </a:solidFill>
              </a:rPr>
              <a:t>s</a:t>
            </a:r>
            <a:r>
              <a:rPr lang="en-US" sz="2800" b="1" baseline="-25000" dirty="0" smtClean="0">
                <a:solidFill>
                  <a:schemeClr val="accent4">
                    <a:lumMod val="50000"/>
                  </a:schemeClr>
                </a:solidFill>
              </a:rPr>
              <a:t>1 </a:t>
            </a: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</a:rPr>
              <a:t>to</a:t>
            </a:r>
            <a:r>
              <a:rPr lang="en-US" sz="2800" b="1" baseline="-25000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800" b="1" i="1" dirty="0" smtClean="0">
                <a:solidFill>
                  <a:schemeClr val="accent4">
                    <a:lumMod val="50000"/>
                  </a:schemeClr>
                </a:solidFill>
              </a:rPr>
              <a:t>s</a:t>
            </a:r>
            <a:r>
              <a:rPr lang="en-US" sz="2800" b="1" baseline="-25000" dirty="0" smtClean="0">
                <a:solidFill>
                  <a:schemeClr val="accent4">
                    <a:lumMod val="50000"/>
                  </a:schemeClr>
                </a:solidFill>
              </a:rPr>
              <a:t>5</a:t>
            </a:r>
            <a:endParaRPr lang="en-US" sz="28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36933" y="5230718"/>
            <a:ext cx="614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 smtClean="0">
                <a:solidFill>
                  <a:srgbClr val="00B050"/>
                </a:solidFill>
              </a:rPr>
              <a:t>s</a:t>
            </a:r>
            <a:r>
              <a:rPr lang="en-US" sz="2000" b="1" i="1" dirty="0" smtClean="0">
                <a:solidFill>
                  <a:srgbClr val="00B050"/>
                </a:solidFill>
              </a:rPr>
              <a:t>=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03165" y="5257799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n</a:t>
            </a:r>
            <a:r>
              <a:rPr lang="en-US" sz="2400" b="1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i="1" dirty="0" smtClean="0">
                <a:solidFill>
                  <a:schemeClr val="accent1">
                    <a:lumMod val="75000"/>
                  </a:schemeClr>
                </a:solidFill>
              </a:rPr>
              <a:t>=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Left Brace 24"/>
          <p:cNvSpPr/>
          <p:nvPr/>
        </p:nvSpPr>
        <p:spPr>
          <a:xfrm>
            <a:off x="3262171" y="2743199"/>
            <a:ext cx="462104" cy="2514600"/>
          </a:xfrm>
          <a:prstGeom prst="leftBrace">
            <a:avLst>
              <a:gd name="adj1" fmla="val 37376"/>
              <a:gd name="adj2" fmla="val 50000"/>
            </a:avLst>
          </a:prstGeom>
          <a:ln w="254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endCxn id="25" idx="1"/>
          </p:cNvCxnSpPr>
          <p:nvPr/>
        </p:nvCxnSpPr>
        <p:spPr>
          <a:xfrm flipV="1">
            <a:off x="2881171" y="4000499"/>
            <a:ext cx="381000" cy="1980956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ft Brace 26"/>
          <p:cNvSpPr/>
          <p:nvPr/>
        </p:nvSpPr>
        <p:spPr>
          <a:xfrm>
            <a:off x="5031652" y="2743199"/>
            <a:ext cx="462104" cy="2514600"/>
          </a:xfrm>
          <a:prstGeom prst="leftBrace">
            <a:avLst>
              <a:gd name="adj1" fmla="val 37376"/>
              <a:gd name="adj2" fmla="val 50000"/>
            </a:avLst>
          </a:prstGeom>
          <a:ln w="254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4726852" y="3988572"/>
            <a:ext cx="304800" cy="2018091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Left Brace 30"/>
          <p:cNvSpPr/>
          <p:nvPr/>
        </p:nvSpPr>
        <p:spPr>
          <a:xfrm>
            <a:off x="6715013" y="2743200"/>
            <a:ext cx="462104" cy="2514600"/>
          </a:xfrm>
          <a:prstGeom prst="leftBrace">
            <a:avLst>
              <a:gd name="adj1" fmla="val 37376"/>
              <a:gd name="adj2" fmla="val 50000"/>
            </a:avLst>
          </a:prstGeom>
          <a:ln w="254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410213" y="4000500"/>
            <a:ext cx="304800" cy="2018091"/>
          </a:xfrm>
          <a:prstGeom prst="straightConnector1">
            <a:avLst/>
          </a:prstGeom>
          <a:ln w="2540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41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19" grpId="0"/>
      <p:bldP spid="29" grpId="0"/>
      <p:bldP spid="13" grpId="0"/>
      <p:bldP spid="24" grpId="0"/>
      <p:bldP spid="26" grpId="0"/>
      <p:bldP spid="25" grpId="0" animBg="1"/>
      <p:bldP spid="27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6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762585"/>
              </p:ext>
            </p:extLst>
          </p:nvPr>
        </p:nvGraphicFramePr>
        <p:xfrm>
          <a:off x="2286000" y="2667000"/>
          <a:ext cx="51149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Equation" r:id="rId4" imgW="1663560" imgH="228600" progId="Equation.DSMT4">
                  <p:embed/>
                </p:oleObj>
              </mc:Choice>
              <mc:Fallback>
                <p:oleObj name="Equation" r:id="rId4" imgW="1663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667000"/>
                        <a:ext cx="51149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990600"/>
          </a:xfrm>
        </p:spPr>
        <p:txBody>
          <a:bodyPr/>
          <a:lstStyle/>
          <a:p>
            <a:r>
              <a:rPr lang="en-US" dirty="0" smtClean="0"/>
              <a:t>Cuckoo Egg Hypotheses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1219200"/>
          </a:xfrm>
        </p:spPr>
        <p:txBody>
          <a:bodyPr/>
          <a:lstStyle/>
          <a:p>
            <a:r>
              <a:rPr lang="en-US" dirty="0"/>
              <a:t>To test for a difference in </a:t>
            </a:r>
            <a:r>
              <a:rPr lang="en-US" dirty="0" smtClean="0"/>
              <a:t>mean egg length </a:t>
            </a:r>
            <a:r>
              <a:rPr lang="en-US" dirty="0"/>
              <a:t>across </a:t>
            </a:r>
            <a:r>
              <a:rPr lang="en-US" dirty="0" smtClean="0"/>
              <a:t>the 5 </a:t>
            </a:r>
            <a:r>
              <a:rPr lang="en-US" dirty="0"/>
              <a:t>groups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559019"/>
              </p:ext>
            </p:extLst>
          </p:nvPr>
        </p:nvGraphicFramePr>
        <p:xfrm>
          <a:off x="2286000" y="3352800"/>
          <a:ext cx="4295274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6" imgW="1511280" imgH="241200" progId="Equation.BREE4">
                  <p:embed/>
                </p:oleObj>
              </mc:Choice>
              <mc:Fallback>
                <p:oleObj name="Equation" r:id="rId6" imgW="1511280" imgH="241200" progId="Equation.BREE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6000" y="3352800"/>
                        <a:ext cx="4295274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991436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/>
              <a:t>Why Analyze </a:t>
            </a:r>
            <a:r>
              <a:rPr lang="en-US" i="1" dirty="0" smtClean="0"/>
              <a:t>Variability</a:t>
            </a:r>
            <a:r>
              <a:rPr lang="en-US" dirty="0" smtClean="0"/>
              <a:t> to Test for a Difference in </a:t>
            </a:r>
            <a:r>
              <a:rPr lang="en-US" i="1" dirty="0" smtClean="0"/>
              <a:t>Means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1524000"/>
            <a:ext cx="5257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0" y="1508911"/>
            <a:ext cx="3581400" cy="5334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group </a:t>
            </a:r>
            <a:r>
              <a:rPr lang="en-US" b="1" i="1" u="sng" dirty="0" smtClean="0">
                <a:solidFill>
                  <a:srgbClr val="00B050"/>
                </a:solidFill>
              </a:rPr>
              <a:t>means</a:t>
            </a:r>
            <a:r>
              <a:rPr lang="en-US" dirty="0" smtClean="0"/>
              <a:t> in Datasets A and B are the </a:t>
            </a:r>
            <a:r>
              <a:rPr lang="en-US" b="1" dirty="0" smtClean="0">
                <a:solidFill>
                  <a:srgbClr val="00B050"/>
                </a:solidFill>
              </a:rPr>
              <a:t>same</a:t>
            </a:r>
            <a:r>
              <a:rPr lang="en-US" dirty="0" smtClean="0"/>
              <a:t>, but the boxes show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different</a:t>
            </a:r>
            <a:r>
              <a:rPr lang="en-US" dirty="0" smtClean="0"/>
              <a:t> </a:t>
            </a:r>
            <a:r>
              <a:rPr lang="en-US" b="1" i="1" u="sng" dirty="0" smtClean="0">
                <a:solidFill>
                  <a:schemeClr val="accent2">
                    <a:lumMod val="75000"/>
                  </a:schemeClr>
                </a:solidFill>
              </a:rPr>
              <a:t>spread</a:t>
            </a:r>
            <a:r>
              <a:rPr lang="en-US" dirty="0" smtClean="0"/>
              <a:t>. </a:t>
            </a:r>
          </a:p>
          <a:p>
            <a:r>
              <a:rPr lang="en-US" dirty="0" smtClean="0"/>
              <a:t>Datasets A and C have the </a:t>
            </a:r>
            <a:r>
              <a:rPr lang="en-US" b="1" dirty="0" smtClean="0">
                <a:solidFill>
                  <a:srgbClr val="00B050"/>
                </a:solidFill>
              </a:rPr>
              <a:t>same </a:t>
            </a:r>
            <a:r>
              <a:rPr lang="en-US" b="1" i="1" u="sng" dirty="0" smtClean="0">
                <a:solidFill>
                  <a:srgbClr val="00B050"/>
                </a:solidFill>
              </a:rPr>
              <a:t>spread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for the boxes, but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different group </a:t>
            </a:r>
            <a:r>
              <a:rPr lang="en-US" b="1" i="1" u="sng" dirty="0" smtClean="0">
                <a:solidFill>
                  <a:schemeClr val="accent2">
                    <a:lumMod val="75000"/>
                  </a:schemeClr>
                </a:solidFill>
              </a:rPr>
              <a:t>means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15554" y="5181600"/>
            <a:ext cx="487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Which of these graphs appear to give strong visual evidence for a difference in the group means?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5729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/>
              <a:t>Why Analyze </a:t>
            </a:r>
            <a:r>
              <a:rPr lang="en-US" i="1" dirty="0" smtClean="0"/>
              <a:t>Variability</a:t>
            </a:r>
            <a:r>
              <a:rPr lang="en-US" dirty="0" smtClean="0"/>
              <a:t> to Test for a Difference in </a:t>
            </a:r>
            <a:r>
              <a:rPr lang="en-US" i="1" dirty="0" smtClean="0"/>
              <a:t>Means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1524000"/>
            <a:ext cx="5257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0" y="1508911"/>
            <a:ext cx="38862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Dataset A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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weakest</a:t>
            </a:r>
            <a:r>
              <a:rPr lang="en-US" sz="2800" dirty="0" smtClean="0"/>
              <a:t> </a:t>
            </a:r>
            <a:r>
              <a:rPr lang="en-US" sz="2800" dirty="0"/>
              <a:t>evidence for a difference in means.</a:t>
            </a:r>
          </a:p>
          <a:p>
            <a:pPr marL="0" indent="0">
              <a:buClr>
                <a:schemeClr val="accent1">
                  <a:lumMod val="50000"/>
                </a:schemeClr>
              </a:buClr>
              <a:buSzPct val="100000"/>
              <a:buNone/>
            </a:pPr>
            <a:endParaRPr lang="en-US" sz="1000" b="1" dirty="0" smtClean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  <a:p>
            <a:pPr marL="0" indent="0">
              <a:buClr>
                <a:schemeClr val="accent1">
                  <a:lumMod val="50000"/>
                </a:schemeClr>
              </a:buClr>
              <a:buSzPct val="100000"/>
              <a:buNone/>
            </a:pPr>
            <a:endParaRPr lang="en-US" sz="1000" b="1" dirty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  <a:p>
            <a:pPr marL="0" indent="0">
              <a:buClr>
                <a:schemeClr val="accent1">
                  <a:lumMod val="50000"/>
                </a:schemeClr>
              </a:buClr>
              <a:buSzPct val="100000"/>
              <a:buNone/>
            </a:pPr>
            <a:endParaRPr lang="en-US" sz="1000" b="1" dirty="0" smtClean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  <a:p>
            <a:pPr marL="0" indent="0">
              <a:buClr>
                <a:schemeClr val="accent1">
                  <a:lumMod val="50000"/>
                </a:schemeClr>
              </a:buClr>
              <a:buSzPct val="100000"/>
              <a:buNone/>
            </a:pPr>
            <a:endParaRPr lang="en-US" sz="1000" b="1" dirty="0" smtClean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00B050"/>
                </a:solidFill>
              </a:rPr>
              <a:t>Datasets </a:t>
            </a:r>
            <a:r>
              <a:rPr lang="en-US" sz="2800" b="1" dirty="0">
                <a:solidFill>
                  <a:srgbClr val="00B050"/>
                </a:solidFill>
              </a:rPr>
              <a:t>B and C </a:t>
            </a:r>
            <a:r>
              <a:rPr lang="en-US" sz="2800" b="1" dirty="0">
                <a:solidFill>
                  <a:srgbClr val="00B050"/>
                </a:solidFill>
                <a:sym typeface="Symbol"/>
              </a:rPr>
              <a:t>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strong</a:t>
            </a:r>
            <a:r>
              <a:rPr lang="en-US" sz="2800" dirty="0"/>
              <a:t> evidence for a difference in means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59878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/>
              <a:t>Why Analyze </a:t>
            </a:r>
            <a:r>
              <a:rPr lang="en-US" i="1" dirty="0" smtClean="0"/>
              <a:t>Variability</a:t>
            </a:r>
            <a:r>
              <a:rPr lang="en-US" dirty="0" smtClean="0"/>
              <a:t> to Test for a Difference in </a:t>
            </a:r>
            <a:r>
              <a:rPr lang="en-US" i="1" dirty="0" smtClean="0"/>
              <a:t>Means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1524000"/>
            <a:ext cx="5257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0" y="1508911"/>
            <a:ext cx="3886200" cy="5334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800" b="1" dirty="0" smtClean="0"/>
              <a:t>Conclusion:</a:t>
            </a:r>
            <a:endParaRPr lang="en-US" sz="28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 smtClean="0"/>
              <a:t>An assessment of the difference in means between several groups depends on two kinds of variability: </a:t>
            </a:r>
          </a:p>
          <a:p>
            <a:pPr marL="548640" indent="-514350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5000"/>
              <a:buFont typeface="+mj-lt"/>
              <a:buAutoNum type="arabicParenR"/>
            </a:pPr>
            <a:r>
              <a:rPr lang="en-US" sz="2800" dirty="0" smtClean="0"/>
              <a:t>How different the means are from each other </a:t>
            </a:r>
          </a:p>
          <a:p>
            <a:pPr marL="548640" indent="-514350">
              <a:spcBef>
                <a:spcPts val="0"/>
              </a:spcBef>
              <a:buClr>
                <a:schemeClr val="accent5">
                  <a:lumMod val="75000"/>
                </a:schemeClr>
              </a:buClr>
              <a:buSzPct val="75000"/>
              <a:buFont typeface="+mj-lt"/>
              <a:buAutoNum type="arabicParenR"/>
            </a:pPr>
            <a:r>
              <a:rPr lang="en-US" sz="2800" dirty="0" smtClean="0"/>
              <a:t>The amount of variability in the samples.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815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5308431"/>
            <a:ext cx="2057400" cy="1371600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Total Variability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81400" y="5308431"/>
            <a:ext cx="1981200" cy="1371600"/>
          </a:xfrm>
          <a:prstGeom prst="rect">
            <a:avLst/>
          </a:prstGeom>
          <a:solidFill>
            <a:schemeClr val="accent2">
              <a:lumMod val="60000"/>
              <a:lumOff val="40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Variability</a:t>
            </a:r>
          </a:p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Between Groups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7549" y="5308431"/>
            <a:ext cx="1981200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Variability</a:t>
            </a:r>
          </a:p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Within Groups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19400" y="5486400"/>
            <a:ext cx="68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=</a:t>
            </a:r>
            <a:endParaRPr lang="en-US" sz="6000" dirty="0"/>
          </a:p>
        </p:txBody>
      </p:sp>
      <p:sp>
        <p:nvSpPr>
          <p:cNvPr id="12" name="TextBox 11"/>
          <p:cNvSpPr txBox="1"/>
          <p:nvPr/>
        </p:nvSpPr>
        <p:spPr>
          <a:xfrm>
            <a:off x="5715000" y="5486400"/>
            <a:ext cx="68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+</a:t>
            </a:r>
            <a:endParaRPr lang="en-US" sz="6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715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Analysis of </a:t>
            </a:r>
            <a:r>
              <a:rPr lang="en-US" dirty="0" smtClean="0"/>
              <a:t>Variance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3886200" cy="3429000"/>
          </a:xfrm>
        </p:spPr>
        <p:txBody>
          <a:bodyPr/>
          <a:lstStyle/>
          <a:p>
            <a:pPr marL="0" lvl="0" indent="0">
              <a:buNone/>
            </a:pPr>
            <a:r>
              <a:rPr lang="en-US" kern="0" dirty="0">
                <a:solidFill>
                  <a:srgbClr val="000000"/>
                </a:solidFill>
              </a:rPr>
              <a:t>ANOVA</a:t>
            </a:r>
            <a:r>
              <a:rPr lang="en-US" b="1" i="1" kern="0" dirty="0" smtClean="0">
                <a:solidFill>
                  <a:srgbClr val="C00000"/>
                </a:solidFill>
              </a:rPr>
              <a:t> </a:t>
            </a:r>
            <a:r>
              <a:rPr lang="en-US" kern="0" dirty="0" smtClean="0">
                <a:solidFill>
                  <a:srgbClr val="000000"/>
                </a:solidFill>
              </a:rPr>
              <a:t>splits </a:t>
            </a:r>
            <a:r>
              <a:rPr lang="en-US" kern="0" dirty="0">
                <a:solidFill>
                  <a:srgbClr val="000000"/>
                </a:solidFill>
              </a:rPr>
              <a:t>the </a:t>
            </a:r>
            <a:r>
              <a:rPr lang="en-US" b="1" i="1" kern="0" dirty="0" smtClean="0">
                <a:solidFill>
                  <a:schemeClr val="accent6"/>
                </a:solidFill>
              </a:rPr>
              <a:t>total variability </a:t>
            </a:r>
            <a:r>
              <a:rPr lang="en-US" kern="0" dirty="0" smtClean="0">
                <a:solidFill>
                  <a:srgbClr val="000000"/>
                </a:solidFill>
              </a:rPr>
              <a:t>into 2 parts:  </a:t>
            </a:r>
          </a:p>
          <a:p>
            <a:pPr lvl="1"/>
            <a:r>
              <a:rPr lang="en-US" kern="0" dirty="0" smtClean="0">
                <a:solidFill>
                  <a:srgbClr val="000000"/>
                </a:solidFill>
              </a:rPr>
              <a:t>Variability between </a:t>
            </a:r>
            <a:r>
              <a:rPr lang="en-US" kern="0" dirty="0">
                <a:solidFill>
                  <a:srgbClr val="000000"/>
                </a:solidFill>
              </a:rPr>
              <a:t>groups</a:t>
            </a:r>
            <a:r>
              <a:rPr lang="en-US" b="1" kern="0" dirty="0">
                <a:solidFill>
                  <a:srgbClr val="000000"/>
                </a:solidFill>
              </a:rPr>
              <a:t> </a:t>
            </a:r>
            <a:endParaRPr lang="en-US" kern="0" dirty="0">
              <a:solidFill>
                <a:srgbClr val="000000"/>
              </a:solidFill>
            </a:endParaRPr>
          </a:p>
          <a:p>
            <a:pPr lvl="1"/>
            <a:r>
              <a:rPr lang="en-US" kern="0" dirty="0" smtClean="0">
                <a:solidFill>
                  <a:srgbClr val="000000"/>
                </a:solidFill>
              </a:rPr>
              <a:t>Variability </a:t>
            </a:r>
            <a:r>
              <a:rPr lang="en-US" kern="0" dirty="0">
                <a:solidFill>
                  <a:srgbClr val="000000"/>
                </a:solidFill>
              </a:rPr>
              <a:t>within groups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1524000"/>
            <a:ext cx="5257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64096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2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8915400" cy="990600"/>
          </a:xfrm>
        </p:spPr>
        <p:txBody>
          <a:bodyPr vert="horz" anchor="ctr">
            <a:normAutofit fontScale="90000"/>
          </a:bodyPr>
          <a:lstStyle/>
          <a:p>
            <a:r>
              <a:rPr lang="en-US" dirty="0"/>
              <a:t>If the groups are actually different, </a:t>
            </a:r>
            <a:r>
              <a:rPr lang="en-US" dirty="0" smtClean="0"/>
              <a:t>then…</a:t>
            </a:r>
            <a:endParaRPr lang="en-US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530350"/>
            <a:ext cx="5257800" cy="4178300"/>
          </a:xfrm>
        </p:spPr>
        <p:txBody>
          <a:bodyPr>
            <a:normAutofit/>
          </a:bodyPr>
          <a:lstStyle/>
          <a:p>
            <a:pPr marL="914400" indent="-742950">
              <a:spcBef>
                <a:spcPts val="0"/>
              </a:spcBef>
              <a:spcAft>
                <a:spcPts val="1200"/>
              </a:spcAft>
              <a:buSzPct val="80000"/>
              <a:buFont typeface="+mj-lt"/>
              <a:buAutoNum type="alphaUcPeriod"/>
              <a:defRPr/>
            </a:pPr>
            <a:r>
              <a:rPr lang="en-US" kern="0" dirty="0" smtClean="0">
                <a:solidFill>
                  <a:srgbClr val="000000"/>
                </a:solidFill>
              </a:rPr>
              <a:t>the variability </a:t>
            </a:r>
            <a:r>
              <a:rPr lang="en-US" b="1" kern="0" dirty="0" smtClean="0">
                <a:solidFill>
                  <a:schemeClr val="accent2">
                    <a:lumMod val="75000"/>
                  </a:schemeClr>
                </a:solidFill>
              </a:rPr>
              <a:t>between groups</a:t>
            </a:r>
            <a:r>
              <a:rPr lang="en-US" kern="0" dirty="0" smtClean="0">
                <a:solidFill>
                  <a:srgbClr val="000000"/>
                </a:solidFill>
              </a:rPr>
              <a:t> should be higher than the variability </a:t>
            </a:r>
            <a:r>
              <a:rPr lang="en-US" b="1" kern="0" dirty="0" smtClean="0">
                <a:solidFill>
                  <a:schemeClr val="accent1">
                    <a:lumMod val="75000"/>
                  </a:schemeClr>
                </a:solidFill>
              </a:rPr>
              <a:t>within groups</a:t>
            </a:r>
            <a:endParaRPr lang="en-US" b="1" kern="0" dirty="0">
              <a:solidFill>
                <a:schemeClr val="accent1">
                  <a:lumMod val="75000"/>
                </a:schemeClr>
              </a:solidFill>
            </a:endParaRPr>
          </a:p>
          <a:p>
            <a:pPr marL="914400" indent="-742950">
              <a:spcBef>
                <a:spcPts val="0"/>
              </a:spcBef>
              <a:spcAft>
                <a:spcPts val="1200"/>
              </a:spcAft>
              <a:buSzPct val="80000"/>
              <a:buFont typeface="+mj-lt"/>
              <a:buAutoNum type="alphaUcPeriod"/>
              <a:defRPr/>
            </a:pPr>
            <a:r>
              <a:rPr lang="en-US" kern="0" dirty="0">
                <a:solidFill>
                  <a:srgbClr val="000000"/>
                </a:solidFill>
              </a:rPr>
              <a:t>the variability </a:t>
            </a:r>
            <a:r>
              <a:rPr lang="en-US" b="1" kern="0" dirty="0">
                <a:solidFill>
                  <a:schemeClr val="accent1">
                    <a:lumMod val="75000"/>
                  </a:schemeClr>
                </a:solidFill>
              </a:rPr>
              <a:t>within groups</a:t>
            </a:r>
            <a:r>
              <a:rPr lang="en-US" kern="0" dirty="0">
                <a:solidFill>
                  <a:srgbClr val="000000"/>
                </a:solidFill>
              </a:rPr>
              <a:t> should be higher than the variability </a:t>
            </a:r>
            <a:r>
              <a:rPr lang="en-US" b="1" kern="0" dirty="0">
                <a:solidFill>
                  <a:schemeClr val="accent2">
                    <a:lumMod val="75000"/>
                  </a:schemeClr>
                </a:solidFill>
              </a:rPr>
              <a:t>between groups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1229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Question: How do we measure the variability between groups?  Within groups?</a:t>
            </a:r>
          </a:p>
          <a:p>
            <a:r>
              <a:rPr lang="en-US" dirty="0" smtClean="0"/>
              <a:t>We’ll measure variability as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sums of squared deviations</a:t>
            </a:r>
            <a:r>
              <a:rPr lang="en-US" dirty="0"/>
              <a:t>, or </a:t>
            </a:r>
            <a:r>
              <a:rPr lang="en-US" dirty="0" smtClean="0"/>
              <a:t>“</a:t>
            </a:r>
            <a:r>
              <a:rPr lang="en-US" b="1" dirty="0" smtClean="0">
                <a:solidFill>
                  <a:srgbClr val="00B050"/>
                </a:solidFill>
              </a:rPr>
              <a:t>sums </a:t>
            </a:r>
            <a:r>
              <a:rPr lang="en-US" b="1" dirty="0">
                <a:solidFill>
                  <a:srgbClr val="00B050"/>
                </a:solidFill>
              </a:rPr>
              <a:t>of </a:t>
            </a:r>
            <a:r>
              <a:rPr lang="en-US" b="1" dirty="0" smtClean="0">
                <a:solidFill>
                  <a:srgbClr val="00B050"/>
                </a:solidFill>
              </a:rPr>
              <a:t>squares</a:t>
            </a:r>
            <a:r>
              <a:rPr lang="en-US" dirty="0" smtClean="0"/>
              <a:t>” </a:t>
            </a:r>
            <a:r>
              <a:rPr lang="en-US" dirty="0"/>
              <a:t>for short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Sound familiar??</a:t>
            </a:r>
          </a:p>
          <a:p>
            <a:pPr lvl="1"/>
            <a:r>
              <a:rPr lang="en-US" dirty="0" smtClean="0"/>
              <a:t>Yes! From our sample standard deviation formula!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581400" y="4953000"/>
            <a:ext cx="1447800" cy="533400"/>
          </a:xfrm>
          <a:prstGeom prst="rect">
            <a:avLst/>
          </a:prstGeom>
          <a:solidFill>
            <a:schemeClr val="bg2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Sums of </a:t>
            </a:r>
            <a:r>
              <a:rPr lang="en-US" dirty="0" smtClean="0"/>
              <a:t>Squares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469356"/>
              </p:ext>
            </p:extLst>
          </p:nvPr>
        </p:nvGraphicFramePr>
        <p:xfrm>
          <a:off x="2819400" y="4800600"/>
          <a:ext cx="23114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Equation" r:id="rId4" imgW="1066680" imgH="507960" progId="Equation.BREE4">
                  <p:embed/>
                </p:oleObj>
              </mc:Choice>
              <mc:Fallback>
                <p:oleObj name="Equation" r:id="rId4" imgW="1066680" imgH="507960" progId="Equation.BREE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9400" y="4800600"/>
                        <a:ext cx="2311400" cy="110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4191925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57200" y="114300"/>
            <a:ext cx="8153400" cy="838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Sums</a:t>
            </a: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of Squares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447800"/>
            <a:ext cx="2057400" cy="1371600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Total Variability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1447800"/>
            <a:ext cx="1981200" cy="1371600"/>
          </a:xfrm>
          <a:prstGeom prst="rect">
            <a:avLst/>
          </a:prstGeom>
          <a:solidFill>
            <a:schemeClr val="accent2">
              <a:lumMod val="60000"/>
              <a:lumOff val="40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Variability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Between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1447800"/>
            <a:ext cx="1981200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Variability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Within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9144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overall mean</a:t>
            </a:r>
            <a:endParaRPr lang="en-US" sz="2000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981200" y="4030756"/>
            <a:ext cx="0" cy="7698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8200" y="4800600"/>
            <a:ext cx="8382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data value</a:t>
            </a:r>
            <a:endParaRPr lang="en-US" sz="20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143000" y="4076700"/>
            <a:ext cx="0" cy="7239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76800" y="4800600"/>
            <a:ext cx="9144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overall mean</a:t>
            </a:r>
            <a:endParaRPr lang="en-US" sz="2000" dirty="0"/>
          </a:p>
        </p:txBody>
      </p:sp>
      <p:cxnSp>
        <p:nvCxnSpPr>
          <p:cNvPr id="37" name="Straight Arrow Connector 36"/>
          <p:cNvCxnSpPr>
            <a:stCxn id="36" idx="0"/>
          </p:cNvCxnSpPr>
          <p:nvPr/>
        </p:nvCxnSpPr>
        <p:spPr>
          <a:xfrm flipV="1">
            <a:off x="5334000" y="4038600"/>
            <a:ext cx="0" cy="762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33800" y="4800600"/>
            <a:ext cx="9906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group mean</a:t>
            </a:r>
            <a:endParaRPr lang="en-US" sz="2000" dirty="0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4533900" y="4069910"/>
            <a:ext cx="0" cy="7239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034573" y="4793810"/>
            <a:ext cx="9906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</a:t>
            </a:r>
            <a:r>
              <a:rPr lang="en-US" sz="2000" dirty="0" smtClean="0"/>
              <a:t>roup mean</a:t>
            </a:r>
            <a:endParaRPr lang="en-US" sz="20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8229601" y="4076700"/>
            <a:ext cx="0" cy="7239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00433" y="4800600"/>
            <a:ext cx="9906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data value</a:t>
            </a:r>
            <a:endParaRPr lang="en-US" sz="2000" i="1" dirty="0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7543800" y="4013836"/>
            <a:ext cx="0" cy="7867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24566" y="5879068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Sum over all data values</a:t>
            </a:r>
            <a:endParaRPr lang="en-US" sz="2400" i="1" dirty="0"/>
          </a:p>
        </p:txBody>
      </p:sp>
      <p:cxnSp>
        <p:nvCxnSpPr>
          <p:cNvPr id="64" name="Straight Arrow Connector 63"/>
          <p:cNvCxnSpPr/>
          <p:nvPr/>
        </p:nvCxnSpPr>
        <p:spPr>
          <a:xfrm flipV="1">
            <a:off x="523875" y="4151532"/>
            <a:ext cx="28575" cy="18037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200400" y="5879068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Sum over all groups</a:t>
            </a:r>
            <a:endParaRPr lang="en-US" sz="2400" i="1" dirty="0"/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3352800" y="4191000"/>
            <a:ext cx="0" cy="16880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07590" y="5925234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/>
              <a:t>Sum over all data values</a:t>
            </a:r>
            <a:endParaRPr lang="en-US" sz="2400" i="1" dirty="0"/>
          </a:p>
        </p:txBody>
      </p:sp>
      <p:cxnSp>
        <p:nvCxnSpPr>
          <p:cNvPr id="72" name="Straight Arrow Connector 71"/>
          <p:cNvCxnSpPr/>
          <p:nvPr/>
        </p:nvCxnSpPr>
        <p:spPr>
          <a:xfrm flipV="1">
            <a:off x="6705600" y="4151532"/>
            <a:ext cx="0" cy="19122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16"/>
          <p:cNvSpPr txBox="1">
            <a:spLocks noChangeArrowheads="1"/>
          </p:cNvSpPr>
          <p:nvPr/>
        </p:nvSpPr>
        <p:spPr bwMode="auto">
          <a:xfrm>
            <a:off x="2514600" y="3326764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=</a:t>
            </a:r>
          </a:p>
        </p:txBody>
      </p:sp>
      <p:graphicFrame>
        <p:nvGraphicFramePr>
          <p:cNvPr id="3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627709"/>
              </p:ext>
            </p:extLst>
          </p:nvPr>
        </p:nvGraphicFramePr>
        <p:xfrm>
          <a:off x="3132137" y="3378188"/>
          <a:ext cx="28797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4" imgW="799920" imgH="253800" progId="Equation.3">
                  <p:embed/>
                </p:oleObj>
              </mc:Choice>
              <mc:Fallback>
                <p:oleObj name="Equation" r:id="rId4" imgW="799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7" y="3378188"/>
                        <a:ext cx="2879725" cy="9128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5943600" y="3326764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+</a:t>
            </a:r>
          </a:p>
        </p:txBody>
      </p:sp>
      <p:graphicFrame>
        <p:nvGraphicFramePr>
          <p:cNvPr id="3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391663"/>
              </p:ext>
            </p:extLst>
          </p:nvPr>
        </p:nvGraphicFramePr>
        <p:xfrm>
          <a:off x="6570359" y="3377755"/>
          <a:ext cx="2422224" cy="91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6" imgW="672840" imgH="253800" progId="Equation.3">
                  <p:embed/>
                </p:oleObj>
              </mc:Choice>
              <mc:Fallback>
                <p:oleObj name="Equation" r:id="rId6" imgW="6728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359" y="3377755"/>
                        <a:ext cx="2422224" cy="9136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65"/>
              </p:ext>
            </p:extLst>
          </p:nvPr>
        </p:nvGraphicFramePr>
        <p:xfrm>
          <a:off x="228600" y="3345814"/>
          <a:ext cx="2331504" cy="91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Equation" r:id="rId8" imgW="647640" imgH="253800" progId="Equation.3">
                  <p:embed/>
                </p:oleObj>
              </mc:Choice>
              <mc:Fallback>
                <p:oleObj name="Equation" r:id="rId8" imgW="647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45814"/>
                        <a:ext cx="2331504" cy="9136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6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16"/>
          <p:cNvSpPr txBox="1">
            <a:spLocks noChangeArrowheads="1"/>
          </p:cNvSpPr>
          <p:nvPr/>
        </p:nvSpPr>
        <p:spPr bwMode="auto">
          <a:xfrm>
            <a:off x="2891566" y="1625768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5753100" y="1634656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+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563056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4" grpId="0" animBg="1"/>
      <p:bldP spid="36" grpId="0" animBg="1"/>
      <p:bldP spid="38" grpId="0" animBg="1"/>
      <p:bldP spid="56" grpId="0" animBg="1"/>
      <p:bldP spid="58" grpId="0" animBg="1"/>
      <p:bldP spid="62" grpId="0"/>
      <p:bldP spid="68" grpId="0"/>
      <p:bldP spid="71" grpId="0"/>
      <p:bldP spid="3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71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5921" y="990600"/>
            <a:ext cx="772997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5986" name="AutoShape 2" descr="http://beta.rstudio.org/graphics/plot_zoom_png?width=459&amp;height=36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381000" y="838200"/>
            <a:ext cx="8382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Deviations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1976735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</a:rPr>
              <a:t>Group 1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" y="4110335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</a:rPr>
              <a:t>Group 2</a:t>
            </a:r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4724400" y="1066800"/>
            <a:ext cx="0" cy="39624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47800" y="2362200"/>
            <a:ext cx="228600" cy="2286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8" name="Up Arrow Callout 17"/>
          <p:cNvSpPr/>
          <p:nvPr/>
        </p:nvSpPr>
        <p:spPr>
          <a:xfrm>
            <a:off x="4076699" y="5549020"/>
            <a:ext cx="1295400" cy="1066800"/>
          </a:xfrm>
          <a:prstGeom prst="upArrowCallou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2"/>
                </a:solidFill>
              </a:rPr>
              <a:t>Overall Mean</a:t>
            </a:r>
            <a:endParaRPr lang="en-US" sz="2000" b="1" dirty="0">
              <a:solidFill>
                <a:schemeClr val="tx2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3536126" y="1066800"/>
            <a:ext cx="0" cy="205740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Up Arrow Callout 20"/>
          <p:cNvSpPr/>
          <p:nvPr/>
        </p:nvSpPr>
        <p:spPr>
          <a:xfrm>
            <a:off x="2936336" y="3962400"/>
            <a:ext cx="1257300" cy="990600"/>
          </a:xfrm>
          <a:prstGeom prst="upArrowCallou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7030A0"/>
                </a:solidFill>
              </a:rPr>
              <a:t>Group 1 Mean</a:t>
            </a:r>
            <a:endParaRPr lang="en-US" sz="20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87487" y="1453930"/>
                <a:ext cx="2667000" cy="863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smtClean="0">
                    <a:solidFill>
                      <a:schemeClr val="accent6"/>
                    </a:solidFill>
                  </a:rPr>
                  <a:t>Total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400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sz="24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487" y="1453930"/>
                <a:ext cx="2667000" cy="863634"/>
              </a:xfrm>
              <a:prstGeom prst="rect">
                <a:avLst/>
              </a:prstGeom>
              <a:blipFill rotWithShape="1">
                <a:blip r:embed="rId5"/>
                <a:stretch>
                  <a:fillRect t="-5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136205" y="2731064"/>
                <a:ext cx="2667000" cy="863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Within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205" y="2731064"/>
                <a:ext cx="2667000" cy="863634"/>
              </a:xfrm>
              <a:prstGeom prst="rect">
                <a:avLst/>
              </a:prstGeom>
              <a:blipFill rotWithShape="1">
                <a:blip r:embed="rId6"/>
                <a:stretch>
                  <a:fillRect t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Brace 22"/>
          <p:cNvSpPr/>
          <p:nvPr/>
        </p:nvSpPr>
        <p:spPr>
          <a:xfrm rot="5400000">
            <a:off x="2390223" y="1710649"/>
            <a:ext cx="303434" cy="1988371"/>
          </a:xfrm>
          <a:prstGeom prst="rightBrace">
            <a:avLst>
              <a:gd name="adj1" fmla="val 33416"/>
              <a:gd name="adj2" fmla="val 50000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895600" y="2724090"/>
                <a:ext cx="2667000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 smtClean="0">
                    <a:solidFill>
                      <a:schemeClr val="accent2">
                        <a:lumMod val="75000"/>
                      </a:schemeClr>
                    </a:solidFill>
                  </a:rPr>
                  <a:t>Between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sz="24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724090"/>
                <a:ext cx="2667000" cy="800219"/>
              </a:xfrm>
              <a:prstGeom prst="rect">
                <a:avLst/>
              </a:prstGeom>
              <a:blipFill rotWithShape="1">
                <a:blip r:embed="rId7"/>
                <a:stretch>
                  <a:fillRect t="-4580"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Brace 25"/>
          <p:cNvSpPr/>
          <p:nvPr/>
        </p:nvSpPr>
        <p:spPr>
          <a:xfrm rot="5400000">
            <a:off x="3959288" y="2091439"/>
            <a:ext cx="341949" cy="1188273"/>
          </a:xfrm>
          <a:prstGeom prst="rightBrace">
            <a:avLst>
              <a:gd name="adj1" fmla="val 34867"/>
              <a:gd name="adj2" fmla="val 50000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778087" y="3500735"/>
                <a:ext cx="167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087" y="3500735"/>
                <a:ext cx="1676400" cy="461665"/>
              </a:xfrm>
              <a:prstGeom prst="rect">
                <a:avLst/>
              </a:prstGeom>
              <a:blipFill rotWithShape="1"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908834" y="5177135"/>
                <a:ext cx="167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US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834" y="5177135"/>
                <a:ext cx="1676400" cy="46166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/>
          <p:cNvSpPr/>
          <p:nvPr/>
        </p:nvSpPr>
        <p:spPr>
          <a:xfrm rot="5400000">
            <a:off x="2967470" y="757672"/>
            <a:ext cx="307034" cy="3206824"/>
          </a:xfrm>
          <a:prstGeom prst="leftBrace">
            <a:avLst>
              <a:gd name="adj1" fmla="val 36848"/>
              <a:gd name="adj2" fmla="val 50000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1624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21" grpId="0" animBg="1"/>
      <p:bldP spid="2" grpId="0"/>
      <p:bldP spid="22" grpId="0"/>
      <p:bldP spid="23" grpId="0" animBg="1"/>
      <p:bldP spid="25" grpId="0"/>
      <p:bldP spid="26" grpId="0" animBg="1"/>
      <p:bldP spid="27" grpId="0"/>
      <p:bldP spid="28" grpId="0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5334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Sums of Squares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1447800"/>
            <a:ext cx="2057400" cy="1371600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Total Variability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1447800"/>
            <a:ext cx="1981200" cy="1371600"/>
          </a:xfrm>
          <a:prstGeom prst="rect">
            <a:avLst/>
          </a:prstGeom>
          <a:solidFill>
            <a:schemeClr val="accent2">
              <a:lumMod val="60000"/>
              <a:lumOff val="40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Variability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Between Groups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3200" y="1447800"/>
            <a:ext cx="1981200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Variability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Within Groups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743200" y="1793875"/>
          <a:ext cx="716139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1" name="Equation" r:id="rId4" imgW="126720" imgH="114120" progId="Equation.DSMT4">
                  <p:embed/>
                </p:oleObj>
              </mc:Choice>
              <mc:Fallback>
                <p:oleObj name="Equation" r:id="rId4" imgW="126720" imgH="114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93875"/>
                        <a:ext cx="716139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/>
        </p:nvGraphicFramePr>
        <p:xfrm>
          <a:off x="5680075" y="1757363"/>
          <a:ext cx="78740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2" name="Equation" r:id="rId6" imgW="139680" imgH="139680" progId="Equation.DSMT4">
                  <p:embed/>
                </p:oleObj>
              </mc:Choice>
              <mc:Fallback>
                <p:oleObj name="Equation" r:id="rId6" imgW="1396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0075" y="1757363"/>
                        <a:ext cx="787400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/>
          <p:cNvSpPr/>
          <p:nvPr/>
        </p:nvSpPr>
        <p:spPr>
          <a:xfrm>
            <a:off x="609600" y="4724400"/>
            <a:ext cx="2057400" cy="1371600"/>
          </a:xfrm>
          <a:prstGeom prst="rect">
            <a:avLst/>
          </a:prstGeom>
          <a:solidFill>
            <a:schemeClr val="accent6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SSTotal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(Total sum of squares)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05200" y="4724400"/>
            <a:ext cx="2362200" cy="1371600"/>
          </a:xfrm>
          <a:prstGeom prst="rect">
            <a:avLst/>
          </a:prstGeom>
          <a:solidFill>
            <a:schemeClr val="accent2">
              <a:lumMod val="60000"/>
              <a:lumOff val="40000"/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SSG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(sum of squares due to groups)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53200" y="4724400"/>
            <a:ext cx="1981200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SSE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(“</a:t>
            </a:r>
            <a:r>
              <a:rPr lang="en-US" sz="2400" dirty="0" smtClean="0">
                <a:solidFill>
                  <a:schemeClr val="tx1"/>
                </a:solidFill>
              </a:rPr>
              <a:t>Error” sum </a:t>
            </a:r>
            <a:r>
              <a:rPr lang="en-US" sz="2400" dirty="0">
                <a:solidFill>
                  <a:schemeClr val="tx1"/>
                </a:solidFill>
              </a:rPr>
              <a:t>of squares)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514600" y="3326764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=</a:t>
            </a:r>
          </a:p>
        </p:txBody>
      </p:sp>
      <p:graphicFrame>
        <p:nvGraphicFramePr>
          <p:cNvPr id="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78615"/>
              </p:ext>
            </p:extLst>
          </p:nvPr>
        </p:nvGraphicFramePr>
        <p:xfrm>
          <a:off x="3132137" y="3326764"/>
          <a:ext cx="28797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3" name="Equation" r:id="rId8" imgW="799920" imgH="253800" progId="Equation.3">
                  <p:embed/>
                </p:oleObj>
              </mc:Choice>
              <mc:Fallback>
                <p:oleObj name="Equation" r:id="rId8" imgW="799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7" y="3326764"/>
                        <a:ext cx="2879725" cy="9128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5943600" y="3326764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+</a:t>
            </a:r>
          </a:p>
        </p:txBody>
      </p:sp>
      <p:graphicFrame>
        <p:nvGraphicFramePr>
          <p:cNvPr id="2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890813"/>
              </p:ext>
            </p:extLst>
          </p:nvPr>
        </p:nvGraphicFramePr>
        <p:xfrm>
          <a:off x="6566780" y="3326764"/>
          <a:ext cx="2422224" cy="91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4" name="Equation" r:id="rId10" imgW="672840" imgH="253800" progId="Equation.DSMT4">
                  <p:embed/>
                </p:oleObj>
              </mc:Choice>
              <mc:Fallback>
                <p:oleObj name="Equation" r:id="rId10" imgW="672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780" y="3326764"/>
                        <a:ext cx="2422224" cy="9136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195602"/>
              </p:ext>
            </p:extLst>
          </p:nvPr>
        </p:nvGraphicFramePr>
        <p:xfrm>
          <a:off x="228600" y="3326764"/>
          <a:ext cx="2331504" cy="913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5" name="Equation" r:id="rId12" imgW="647640" imgH="253800" progId="Equation.3">
                  <p:embed/>
                </p:oleObj>
              </mc:Choice>
              <mc:Fallback>
                <p:oleObj name="Equation" r:id="rId12" imgW="647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26764"/>
                        <a:ext cx="2331504" cy="91368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6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2819400" y="4902368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5867400" y="4876800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+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66919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Length of Cuckoo Eggs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742253"/>
              </p:ext>
            </p:extLst>
          </p:nvPr>
        </p:nvGraphicFramePr>
        <p:xfrm>
          <a:off x="1447800" y="4725000"/>
          <a:ext cx="5562000" cy="76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3" imgW="1854000" imgH="253800" progId="Equation.3">
                  <p:embed/>
                </p:oleObj>
              </mc:Choice>
              <mc:Fallback>
                <p:oleObj name="Equation" r:id="rId3" imgW="1854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725000"/>
                        <a:ext cx="5562000" cy="761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6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867346"/>
              </p:ext>
            </p:extLst>
          </p:nvPr>
        </p:nvGraphicFramePr>
        <p:xfrm>
          <a:off x="1676820" y="2286000"/>
          <a:ext cx="5180760" cy="76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5" imgW="1726920" imgH="253800" progId="Equation.3">
                  <p:embed/>
                </p:oleObj>
              </mc:Choice>
              <mc:Fallback>
                <p:oleObj name="Equation" r:id="rId5" imgW="1726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820" y="2286000"/>
                        <a:ext cx="5180760" cy="761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54727"/>
              </p:ext>
            </p:extLst>
          </p:nvPr>
        </p:nvGraphicFramePr>
        <p:xfrm>
          <a:off x="1905000" y="3429000"/>
          <a:ext cx="4952880" cy="76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7" imgW="1650960" imgH="253800" progId="Equation.3">
                  <p:embed/>
                </p:oleObj>
              </mc:Choice>
              <mc:Fallback>
                <p:oleObj name="Equation" r:id="rId7" imgW="1650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429000"/>
                        <a:ext cx="4952880" cy="761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1219200" y="3200400"/>
            <a:ext cx="533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000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4419600"/>
            <a:ext cx="609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3178" y="1278367"/>
            <a:ext cx="3924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Sums of Squares: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787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161765"/>
              </p:ext>
            </p:extLst>
          </p:nvPr>
        </p:nvGraphicFramePr>
        <p:xfrm>
          <a:off x="1143000" y="2278062"/>
          <a:ext cx="1266825" cy="3429000"/>
        </p:xfrm>
        <a:graphic>
          <a:graphicData uri="http://schemas.openxmlformats.org/drawingml/2006/table">
            <a:tbl>
              <a:tblPr/>
              <a:tblGrid>
                <a:gridCol w="1266825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342526"/>
              </p:ext>
            </p:extLst>
          </p:nvPr>
        </p:nvGraphicFramePr>
        <p:xfrm>
          <a:off x="2365376" y="2278062"/>
          <a:ext cx="762000" cy="3436938"/>
        </p:xfrm>
        <a:graphic>
          <a:graphicData uri="http://schemas.openxmlformats.org/drawingml/2006/table">
            <a:tbl>
              <a:tblPr/>
              <a:tblGrid>
                <a:gridCol w="7620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n-k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04084"/>
              </p:ext>
            </p:extLst>
          </p:nvPr>
        </p:nvGraphicFramePr>
        <p:xfrm>
          <a:off x="3113089" y="2278062"/>
          <a:ext cx="1600200" cy="3436938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SSTotal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16518"/>
              </p:ext>
            </p:extLst>
          </p:nvPr>
        </p:nvGraphicFramePr>
        <p:xfrm>
          <a:off x="4711574" y="2267133"/>
          <a:ext cx="1600200" cy="2904362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102170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3706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MSG = SSG/(</a:t>
                      </a:r>
                      <a:r>
                        <a:rPr kumimoji="0" lang="en-US" sz="24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k-1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706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MSE = SSE/(</a:t>
                      </a:r>
                      <a:r>
                        <a:rPr kumimoji="0" lang="en-US" sz="24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n-k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77000" y="1838235"/>
            <a:ext cx="2667000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The “mean square” is the sum of squares divided by the degrees of freedom</a:t>
            </a:r>
            <a:endParaRPr lang="en-US" sz="2400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6324600" y="2091392"/>
            <a:ext cx="304800" cy="1946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24200" y="5939135"/>
            <a:ext cx="1600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variability</a:t>
            </a:r>
            <a:endParaRPr lang="en-US" sz="2400" dirty="0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3886200" y="5791200"/>
            <a:ext cx="0" cy="228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00600" y="5405735"/>
            <a:ext cx="16002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average variability</a:t>
            </a:r>
            <a:endParaRPr lang="en-US" sz="2400" dirty="0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562600" y="5257800"/>
            <a:ext cx="0" cy="228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Table</a:t>
            </a:r>
          </a:p>
        </p:txBody>
      </p:sp>
    </p:spTree>
    <p:extLst>
      <p:ext uri="{BB962C8B-B14F-4D97-AF65-F5344CB8AC3E}">
        <p14:creationId xmlns:p14="http://schemas.microsoft.com/office/powerpoint/2010/main" val="228921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5" grpId="0"/>
      <p:bldP spid="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908829"/>
              </p:ext>
            </p:extLst>
          </p:nvPr>
        </p:nvGraphicFramePr>
        <p:xfrm>
          <a:off x="76200" y="2133600"/>
          <a:ext cx="1266825" cy="3429000"/>
        </p:xfrm>
        <a:graphic>
          <a:graphicData uri="http://schemas.openxmlformats.org/drawingml/2006/table">
            <a:tbl>
              <a:tblPr/>
              <a:tblGrid>
                <a:gridCol w="1266825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21097"/>
              </p:ext>
            </p:extLst>
          </p:nvPr>
        </p:nvGraphicFramePr>
        <p:xfrm>
          <a:off x="1295400" y="2133600"/>
          <a:ext cx="762000" cy="3436938"/>
        </p:xfrm>
        <a:graphic>
          <a:graphicData uri="http://schemas.openxmlformats.org/drawingml/2006/table">
            <a:tbl>
              <a:tblPr/>
              <a:tblGrid>
                <a:gridCol w="7620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583493"/>
              </p:ext>
            </p:extLst>
          </p:nvPr>
        </p:nvGraphicFramePr>
        <p:xfrm>
          <a:off x="1981200" y="2133600"/>
          <a:ext cx="1600200" cy="3436938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137.19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80284"/>
              </p:ext>
            </p:extLst>
          </p:nvPr>
        </p:nvGraphicFramePr>
        <p:xfrm>
          <a:off x="3581400" y="2133600"/>
          <a:ext cx="1600200" cy="2912173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102170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3706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35.9/4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706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101.29/115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Table for Cuckoo Eggs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042897"/>
              </p:ext>
            </p:extLst>
          </p:nvPr>
        </p:nvGraphicFramePr>
        <p:xfrm>
          <a:off x="5257799" y="2133600"/>
          <a:ext cx="3876393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158"/>
                <a:gridCol w="896772"/>
                <a:gridCol w="822041"/>
                <a:gridCol w="812422"/>
              </a:tblGrid>
              <a:tr h="60568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Bird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Sample</a:t>
                      </a:r>
                    </a:p>
                    <a:p>
                      <a:pPr algn="ctr"/>
                      <a:r>
                        <a:rPr lang="en-US" sz="1600" baseline="0" dirty="0" smtClean="0"/>
                        <a:t> Mean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Sample</a:t>
                      </a:r>
                      <a:r>
                        <a:rPr lang="en-US" sz="1600" baseline="0" dirty="0" smtClean="0"/>
                        <a:t> </a:t>
                      </a:r>
                    </a:p>
                    <a:p>
                      <a:pPr algn="ctr"/>
                      <a:r>
                        <a:rPr lang="en-US" sz="1600" baseline="0" dirty="0" smtClean="0"/>
                        <a:t>SD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Sample</a:t>
                      </a:r>
                    </a:p>
                    <a:p>
                      <a:pPr algn="ctr"/>
                      <a:r>
                        <a:rPr lang="en-US" sz="1600" dirty="0" smtClean="0"/>
                        <a:t>Size</a:t>
                      </a:r>
                      <a:endParaRPr lang="en-US" sz="1600" dirty="0"/>
                    </a:p>
                  </a:txBody>
                  <a:tcPr/>
                </a:tc>
              </a:tr>
              <a:tr h="3878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Pied Wagtail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22.90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1.07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  <a:tr h="3878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Pipit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0.97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</a:tr>
              <a:tr h="3878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Robin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22.58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0.68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/>
                </a:tc>
              </a:tr>
              <a:tr h="3878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Sparrow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23.12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1.07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14</a:t>
                      </a:r>
                      <a:endParaRPr lang="en-US" sz="1600" dirty="0"/>
                    </a:p>
                  </a:txBody>
                  <a:tcPr/>
                </a:tc>
              </a:tr>
              <a:tr h="3878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Wren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21.13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  <a:tr h="3506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Overall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22.46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1.07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120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27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Question: How do we </a:t>
            </a:r>
            <a:r>
              <a:rPr lang="en-US" b="1" i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compare </a:t>
            </a:r>
            <a:r>
              <a:rPr lang="en-US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variability between </a:t>
            </a:r>
            <a:r>
              <a:rPr lang="en-US" b="1" i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groups to the variability within </a:t>
            </a:r>
            <a:r>
              <a:rPr lang="en-US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groups?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F-statistic</a:t>
            </a:r>
            <a:r>
              <a:rPr lang="en-US" dirty="0"/>
              <a:t> is a ratio of the average variability between groups to the average variability within groups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F-Statistic</a:t>
            </a: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688106"/>
              </p:ext>
            </p:extLst>
          </p:nvPr>
        </p:nvGraphicFramePr>
        <p:xfrm>
          <a:off x="228600" y="4419600"/>
          <a:ext cx="853440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4" imgW="2895600" imgH="419100" progId="Equation.DSMT4">
                  <p:embed/>
                </p:oleObj>
              </mc:Choice>
              <mc:Fallback>
                <p:oleObj name="Equation" r:id="rId4" imgW="28956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19600"/>
                        <a:ext cx="8534400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2426248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263840"/>
              </p:ext>
            </p:extLst>
          </p:nvPr>
        </p:nvGraphicFramePr>
        <p:xfrm>
          <a:off x="1219200" y="2057400"/>
          <a:ext cx="1266825" cy="3429000"/>
        </p:xfrm>
        <a:graphic>
          <a:graphicData uri="http://schemas.openxmlformats.org/drawingml/2006/table">
            <a:tbl>
              <a:tblPr/>
              <a:tblGrid>
                <a:gridCol w="1266825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757049"/>
              </p:ext>
            </p:extLst>
          </p:nvPr>
        </p:nvGraphicFramePr>
        <p:xfrm>
          <a:off x="2438400" y="2057400"/>
          <a:ext cx="762000" cy="3436938"/>
        </p:xfrm>
        <a:graphic>
          <a:graphicData uri="http://schemas.openxmlformats.org/drawingml/2006/table">
            <a:tbl>
              <a:tblPr/>
              <a:tblGrid>
                <a:gridCol w="7620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658608"/>
              </p:ext>
            </p:extLst>
          </p:nvPr>
        </p:nvGraphicFramePr>
        <p:xfrm>
          <a:off x="3200400" y="2057400"/>
          <a:ext cx="1600200" cy="3436938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 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137.19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98559"/>
              </p:ext>
            </p:extLst>
          </p:nvPr>
        </p:nvGraphicFramePr>
        <p:xfrm>
          <a:off x="4800600" y="2057400"/>
          <a:ext cx="1600200" cy="2912173"/>
        </p:xfrm>
        <a:graphic>
          <a:graphicData uri="http://schemas.openxmlformats.org/drawingml/2006/table">
            <a:tbl>
              <a:tblPr/>
              <a:tblGrid>
                <a:gridCol w="1600200"/>
              </a:tblGrid>
              <a:tr h="102170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3706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35.9/4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8.975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37069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101.29/115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Table for Cuckoo Eggs</a:t>
            </a:r>
            <a:endParaRPr lang="en-US" dirty="0"/>
          </a:p>
        </p:txBody>
      </p:sp>
      <p:graphicFrame>
        <p:nvGraphicFramePr>
          <p:cNvPr id="9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606289"/>
              </p:ext>
            </p:extLst>
          </p:nvPr>
        </p:nvGraphicFramePr>
        <p:xfrm>
          <a:off x="6400800" y="2057400"/>
          <a:ext cx="1676400" cy="2895600"/>
        </p:xfrm>
        <a:graphic>
          <a:graphicData uri="http://schemas.openxmlformats.org/drawingml/2006/table">
            <a:tbl>
              <a:tblPr/>
              <a:tblGrid>
                <a:gridCol w="1676400"/>
              </a:tblGrid>
              <a:tr h="1050634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84496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8.975/0.881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55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1219200"/>
          </a:xfrm>
        </p:spPr>
        <p:txBody>
          <a:bodyPr>
            <a:noAutofit/>
          </a:bodyPr>
          <a:lstStyle/>
          <a:p>
            <a:pPr lvl="0"/>
            <a:r>
              <a:rPr lang="en-US" sz="3600" dirty="0"/>
              <a:t>If there really is a difference between the groups, we would expect the F-statistic to be </a:t>
            </a: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524000"/>
            <a:ext cx="5105400" cy="3048000"/>
          </a:xfrm>
        </p:spPr>
        <p:txBody>
          <a:bodyPr>
            <a:normAutofit/>
          </a:bodyPr>
          <a:lstStyle/>
          <a:p>
            <a:pPr marL="914400" indent="-742950">
              <a:spcBef>
                <a:spcPts val="0"/>
              </a:spcBef>
              <a:buSzPct val="75000"/>
              <a:buFont typeface="+mj-lt"/>
              <a:buAutoNum type="alphaUcPeriod"/>
              <a:defRPr/>
            </a:pPr>
            <a:r>
              <a:rPr lang="en-US" dirty="0"/>
              <a:t>Higher than we would observe by random chance</a:t>
            </a:r>
          </a:p>
          <a:p>
            <a:pPr marL="914400" indent="-742950">
              <a:spcBef>
                <a:spcPts val="0"/>
              </a:spcBef>
              <a:buSzPct val="75000"/>
              <a:buFont typeface="+mj-lt"/>
              <a:buAutoNum type="alphaUcPeriod"/>
              <a:defRPr/>
            </a:pPr>
            <a:r>
              <a:rPr lang="en-US" dirty="0"/>
              <a:t>Lower than we would observe by random chance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7314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Question: </a:t>
            </a:r>
            <a:r>
              <a:rPr lang="en-US" b="1" i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do we determine if the variation between groups is significantly higher than the variation within the groups?</a:t>
            </a:r>
            <a:endParaRPr lang="en-US" b="1" i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en-US" dirty="0" smtClean="0"/>
              <a:t>We need a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distribution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dirty="0" smtClean="0"/>
              <a:t>of the F-statistics that we could obtain just by random chance, assuming H</a:t>
            </a:r>
            <a:r>
              <a:rPr lang="en-US" baseline="-25000" dirty="0" smtClean="0"/>
              <a:t>0</a:t>
            </a:r>
            <a:r>
              <a:rPr lang="en-US" dirty="0" smtClean="0"/>
              <a:t> is true.</a:t>
            </a:r>
          </a:p>
          <a:p>
            <a:pPr lvl="1"/>
            <a:r>
              <a:rPr lang="en-US" dirty="0" smtClean="0"/>
              <a:t>Simulation</a:t>
            </a:r>
          </a:p>
          <a:p>
            <a:pPr lvl="1"/>
            <a:r>
              <a:rPr lang="en-US" dirty="0" smtClean="0"/>
              <a:t>Theoretical Distribution of F-statistics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Determining Significance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4257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5" y="1504368"/>
            <a:ext cx="9113822" cy="3555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9800" y="1981200"/>
            <a:ext cx="24447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200" b="1" dirty="0" smtClean="0">
                <a:solidFill>
                  <a:schemeClr val="accent5">
                    <a:lumMod val="75000"/>
                  </a:schemeClr>
                </a:solidFill>
              </a:rPr>
              <a:t>Because a difference would make the F-statistic </a:t>
            </a:r>
            <a:r>
              <a:rPr lang="en-US" sz="2200" b="1" i="1" dirty="0" smtClean="0">
                <a:solidFill>
                  <a:schemeClr val="accent5">
                    <a:lumMod val="75000"/>
                  </a:schemeClr>
                </a:solidFill>
              </a:rPr>
              <a:t>higher</a:t>
            </a:r>
            <a:r>
              <a:rPr lang="en-US" sz="2200" b="1" dirty="0" smtClean="0">
                <a:solidFill>
                  <a:schemeClr val="accent5">
                    <a:lumMod val="75000"/>
                  </a:schemeClr>
                </a:solidFill>
              </a:rPr>
              <a:t>, calculate proportion in the upper tail</a:t>
            </a:r>
            <a:endParaRPr lang="en-US" sz="2200" b="1" dirty="0">
              <a:solidFill>
                <a:schemeClr val="accent5">
                  <a:lumMod val="75000"/>
                </a:schemeClr>
              </a:solidFill>
              <a:latin typeface="Segoe Print" pitchFamily="2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876800" y="3124200"/>
            <a:ext cx="762000" cy="478450"/>
          </a:xfrm>
          <a:prstGeom prst="ellipse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1261" y="838200"/>
            <a:ext cx="2648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hlinkClick r:id="rId4"/>
              </a:rPr>
              <a:t>StatKey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5232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498" name="Picture 2"/>
          <p:cNvPicPr>
            <a:picLocks noChangeAspect="1" noChangeArrowheads="1"/>
          </p:cNvPicPr>
          <p:nvPr/>
        </p:nvPicPr>
        <p:blipFill>
          <a:blip r:embed="rId5" cstate="print"/>
          <a:srcRect r="69028"/>
          <a:stretch>
            <a:fillRect/>
          </a:stretch>
        </p:blipFill>
        <p:spPr bwMode="auto">
          <a:xfrm>
            <a:off x="0" y="1143000"/>
            <a:ext cx="2460309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 l="34340" r="35355"/>
          <a:stretch>
            <a:fillRect/>
          </a:stretch>
        </p:blipFill>
        <p:spPr bwMode="auto">
          <a:xfrm>
            <a:off x="2445944" y="1142997"/>
            <a:ext cx="2438400" cy="3318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 l="66328"/>
          <a:stretch>
            <a:fillRect/>
          </a:stretch>
        </p:blipFill>
        <p:spPr bwMode="auto">
          <a:xfrm>
            <a:off x="4668071" y="1159934"/>
            <a:ext cx="2695507" cy="330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859267"/>
              </p:ext>
            </p:extLst>
          </p:nvPr>
        </p:nvGraphicFramePr>
        <p:xfrm>
          <a:off x="838211" y="4038600"/>
          <a:ext cx="1116583" cy="107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" name="Equation" r:id="rId6" imgW="660240" imgH="634680" progId="">
                  <p:embed/>
                </p:oleObj>
              </mc:Choice>
              <mc:Fallback>
                <p:oleObj name="Equation" r:id="rId6" imgW="660240" imgH="6346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11" y="4038600"/>
                        <a:ext cx="1116583" cy="10736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787"/>
              </p:ext>
            </p:extLst>
          </p:nvPr>
        </p:nvGraphicFramePr>
        <p:xfrm>
          <a:off x="3276600" y="4038600"/>
          <a:ext cx="1143000" cy="109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0" name="Equation" r:id="rId8" imgW="660240" imgH="634680" progId="">
                  <p:embed/>
                </p:oleObj>
              </mc:Choice>
              <mc:Fallback>
                <p:oleObj name="Equation" r:id="rId8" imgW="660240" imgH="6346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38600"/>
                        <a:ext cx="1143000" cy="10990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40188"/>
              </p:ext>
            </p:extLst>
          </p:nvPr>
        </p:nvGraphicFramePr>
        <p:xfrm>
          <a:off x="5486400" y="4038600"/>
          <a:ext cx="1371600" cy="11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1" name="Equation" r:id="rId10" imgW="774360" imgH="634680" progId="">
                  <p:embed/>
                </p:oleObj>
              </mc:Choice>
              <mc:Fallback>
                <p:oleObj name="Equation" r:id="rId10" imgW="774360" imgH="6346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038600"/>
                        <a:ext cx="1371600" cy="11242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30154" y="1142997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A</a:t>
            </a:r>
            <a:endParaRPr lang="en-US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703622" y="1142999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B</a:t>
            </a:r>
            <a:endParaRPr lang="en-US" sz="3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867400" y="1142996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C</a:t>
            </a:r>
            <a:endParaRPr lang="en-US" sz="3600" b="1" dirty="0"/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990600"/>
          </a:xfrm>
        </p:spPr>
        <p:txBody>
          <a:bodyPr>
            <a:noAutofit/>
          </a:bodyPr>
          <a:lstStyle/>
          <a:p>
            <a:pPr lvl="0"/>
            <a:r>
              <a:rPr lang="en-US" sz="3200" dirty="0"/>
              <a:t>In a test for difference in means, which will have a smaller </a:t>
            </a:r>
            <a:r>
              <a:rPr lang="en-US" sz="3200" dirty="0" smtClean="0"/>
              <a:t>p-value: Dataset A or Dataset B?</a:t>
            </a:r>
            <a:endParaRPr lang="en-US" sz="3200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0" y="5029200"/>
            <a:ext cx="3089275" cy="1371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Dataset A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Dataset B</a:t>
            </a:r>
            <a:endParaRPr lang="en-US" sz="28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0105295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498" name="Picture 2"/>
          <p:cNvPicPr>
            <a:picLocks noChangeAspect="1" noChangeArrowheads="1"/>
          </p:cNvPicPr>
          <p:nvPr/>
        </p:nvPicPr>
        <p:blipFill>
          <a:blip r:embed="rId5" cstate="print"/>
          <a:srcRect r="69028"/>
          <a:stretch>
            <a:fillRect/>
          </a:stretch>
        </p:blipFill>
        <p:spPr bwMode="auto">
          <a:xfrm>
            <a:off x="0" y="1143000"/>
            <a:ext cx="2460309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 l="34340" r="35355"/>
          <a:stretch>
            <a:fillRect/>
          </a:stretch>
        </p:blipFill>
        <p:spPr bwMode="auto">
          <a:xfrm>
            <a:off x="2445944" y="1142997"/>
            <a:ext cx="2438400" cy="3318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 cstate="print"/>
          <a:srcRect l="66328"/>
          <a:stretch>
            <a:fillRect/>
          </a:stretch>
        </p:blipFill>
        <p:spPr bwMode="auto">
          <a:xfrm>
            <a:off x="4668071" y="1159934"/>
            <a:ext cx="2695507" cy="330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715656"/>
              </p:ext>
            </p:extLst>
          </p:nvPr>
        </p:nvGraphicFramePr>
        <p:xfrm>
          <a:off x="838211" y="4038600"/>
          <a:ext cx="1116583" cy="107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Equation" r:id="rId6" imgW="660240" imgH="634680" progId="">
                  <p:embed/>
                </p:oleObj>
              </mc:Choice>
              <mc:Fallback>
                <p:oleObj name="Equation" r:id="rId6" imgW="660240" imgH="6346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11" y="4038600"/>
                        <a:ext cx="1116583" cy="10736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359289"/>
              </p:ext>
            </p:extLst>
          </p:nvPr>
        </p:nvGraphicFramePr>
        <p:xfrm>
          <a:off x="3276600" y="4038600"/>
          <a:ext cx="1143000" cy="109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name="Equation" r:id="rId8" imgW="660240" imgH="634680" progId="">
                  <p:embed/>
                </p:oleObj>
              </mc:Choice>
              <mc:Fallback>
                <p:oleObj name="Equation" r:id="rId8" imgW="660240" imgH="6346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38600"/>
                        <a:ext cx="1143000" cy="10990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760118"/>
              </p:ext>
            </p:extLst>
          </p:nvPr>
        </p:nvGraphicFramePr>
        <p:xfrm>
          <a:off x="5486400" y="4038600"/>
          <a:ext cx="1371600" cy="11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Equation" r:id="rId10" imgW="774360" imgH="634680" progId="">
                  <p:embed/>
                </p:oleObj>
              </mc:Choice>
              <mc:Fallback>
                <p:oleObj name="Equation" r:id="rId10" imgW="774360" imgH="6346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038600"/>
                        <a:ext cx="1371600" cy="11242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30154" y="1142997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A</a:t>
            </a:r>
            <a:endParaRPr lang="en-US" sz="3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703622" y="1142999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B</a:t>
            </a:r>
            <a:endParaRPr lang="en-US" sz="3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867400" y="1142996"/>
            <a:ext cx="60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C</a:t>
            </a:r>
            <a:endParaRPr lang="en-US" sz="3600" b="1" dirty="0"/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990600"/>
          </a:xfrm>
        </p:spPr>
        <p:txBody>
          <a:bodyPr>
            <a:noAutofit/>
          </a:bodyPr>
          <a:lstStyle/>
          <a:p>
            <a:pPr lvl="0"/>
            <a:r>
              <a:rPr lang="en-US" sz="3200" dirty="0"/>
              <a:t>In a test for difference in means, which will have a smaller </a:t>
            </a:r>
            <a:r>
              <a:rPr lang="en-US" sz="3200" dirty="0" smtClean="0"/>
              <a:t>p-value: Dataset A or Dataset C?</a:t>
            </a:r>
            <a:endParaRPr lang="en-US" sz="3200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0" y="5029200"/>
            <a:ext cx="3089275" cy="1371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Dataset A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Dataset C</a:t>
            </a:r>
            <a:endParaRPr lang="en-US" sz="28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5973552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990600"/>
          </a:xfrm>
        </p:spPr>
        <p:txBody>
          <a:bodyPr>
            <a:noAutofit/>
          </a:bodyPr>
          <a:lstStyle/>
          <a:p>
            <a:pPr lvl="0"/>
            <a:r>
              <a:rPr lang="en-US" sz="3200" dirty="0"/>
              <a:t>In a test for difference in means, which will have a smaller </a:t>
            </a:r>
            <a:r>
              <a:rPr lang="en-US" sz="3200" dirty="0" smtClean="0"/>
              <a:t>p-value: Dataset A or Dataset B?</a:t>
            </a:r>
            <a:endParaRPr lang="en-US" sz="3200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5029200"/>
            <a:ext cx="3089275" cy="1371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Dataset A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dirty="0" smtClean="0"/>
              <a:t>Dataset B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90599" y="1066800"/>
            <a:ext cx="506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</a:t>
            </a:r>
            <a:endParaRPr lang="en-US" sz="36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9931"/>
              </p:ext>
            </p:extLst>
          </p:nvPr>
        </p:nvGraphicFramePr>
        <p:xfrm>
          <a:off x="32442" y="1837379"/>
          <a:ext cx="5943599" cy="2926077"/>
        </p:xfrm>
        <a:graphic>
          <a:graphicData uri="http://schemas.openxmlformats.org/drawingml/2006/table">
            <a:tbl>
              <a:tblPr/>
              <a:tblGrid>
                <a:gridCol w="1202267"/>
                <a:gridCol w="1270000"/>
                <a:gridCol w="1100666"/>
                <a:gridCol w="1185333"/>
                <a:gridCol w="1185333"/>
              </a:tblGrid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Group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Group 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Group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Group 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Mean = </a:t>
                      </a: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Mean = </a:t>
                      </a: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Mean = </a:t>
                      </a: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Mean = </a:t>
                      </a:r>
                      <a:r>
                        <a:rPr lang="en-US" sz="2000" dirty="0" smtClean="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en-US" sz="20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0" y="1136210"/>
            <a:ext cx="60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B</a:t>
            </a:r>
            <a:endParaRPr 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81189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52019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0613" y="1601709"/>
            <a:ext cx="696277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0200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0613" y="1601709"/>
            <a:ext cx="696277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3505200" y="2891135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accent1">
                    <a:lumMod val="50000"/>
                  </a:schemeClr>
                </a:solidFill>
              </a:rPr>
              <a:t>F-distribution</a:t>
            </a:r>
            <a:endParaRPr lang="en-US" sz="3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/>
          <p:cNvCxnSpPr>
            <a:stCxn id="13" idx="1"/>
          </p:cNvCxnSpPr>
          <p:nvPr/>
        </p:nvCxnSpPr>
        <p:spPr>
          <a:xfrm flipH="1">
            <a:off x="2743200" y="3214301"/>
            <a:ext cx="762000" cy="290899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496" y="228600"/>
            <a:ext cx="8153400" cy="990600"/>
          </a:xfrm>
        </p:spPr>
        <p:txBody>
          <a:bodyPr/>
          <a:lstStyle/>
          <a:p>
            <a:r>
              <a:rPr lang="en-US" dirty="0"/>
              <a:t>F-distribution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664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F-Distribution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0" y="9906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r>
              <a:rPr lang="en-US" sz="3000" i="1" u="sng" kern="0" dirty="0" smtClean="0">
                <a:solidFill>
                  <a:srgbClr val="000000"/>
                </a:solidFill>
              </a:rPr>
              <a:t>If</a:t>
            </a:r>
            <a:r>
              <a:rPr lang="en-US" sz="3000" u="sng" kern="0" dirty="0" smtClean="0">
                <a:solidFill>
                  <a:srgbClr val="000000"/>
                </a:solidFill>
              </a:rPr>
              <a:t> the following conditions hold</a:t>
            </a:r>
            <a:r>
              <a:rPr lang="en-US" sz="3000" kern="0" dirty="0" smtClean="0">
                <a:solidFill>
                  <a:srgbClr val="000000"/>
                </a:solidFill>
              </a:rPr>
              <a:t>,</a:t>
            </a:r>
          </a:p>
          <a:p>
            <a:pPr marL="640080" marR="0" lvl="0" indent="-398463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75000"/>
                </a:schemeClr>
              </a:buClr>
              <a:buSzTx/>
              <a:buFont typeface="+mj-lt"/>
              <a:buAutoNum type="arabicPeriod"/>
              <a:tabLst/>
              <a:defRPr/>
            </a:pPr>
            <a:r>
              <a:rPr lang="en-US" sz="3000" kern="0" dirty="0" smtClean="0">
                <a:solidFill>
                  <a:srgbClr val="000000"/>
                </a:solidFill>
              </a:rPr>
              <a:t>Sample sizes in each group are large (each </a:t>
            </a:r>
            <a:r>
              <a:rPr lang="en-US" sz="3000" i="1" kern="0" dirty="0" err="1" smtClean="0">
                <a:solidFill>
                  <a:srgbClr val="000000"/>
                </a:solidFill>
              </a:rPr>
              <a:t>n</a:t>
            </a:r>
            <a:r>
              <a:rPr lang="en-US" sz="3000" i="1" kern="0" baseline="-25000" dirty="0" err="1" smtClean="0">
                <a:solidFill>
                  <a:srgbClr val="000000"/>
                </a:solidFill>
              </a:rPr>
              <a:t>i</a:t>
            </a:r>
            <a:r>
              <a:rPr lang="en-US" sz="3000" i="1" kern="0" dirty="0" smtClean="0">
                <a:solidFill>
                  <a:srgbClr val="000000"/>
                </a:solidFill>
              </a:rPr>
              <a:t> </a:t>
            </a:r>
            <a:r>
              <a:rPr lang="en-US" sz="3000" kern="0" dirty="0" smtClean="0">
                <a:solidFill>
                  <a:srgbClr val="000000"/>
                </a:solidFill>
              </a:rPr>
              <a:t>≥ 30) OR the data are relatively normally distributed</a:t>
            </a:r>
          </a:p>
          <a:p>
            <a:pPr marL="640080" indent="-398463"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en-US" sz="3000" kern="0" dirty="0">
                <a:solidFill>
                  <a:srgbClr val="000000"/>
                </a:solidFill>
              </a:rPr>
              <a:t>Variability is similar in all groups</a:t>
            </a:r>
          </a:p>
          <a:p>
            <a:pPr marL="640080" indent="-398463"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  <a:defRPr/>
            </a:pPr>
            <a:r>
              <a:rPr lang="en-US" sz="3000" kern="0" dirty="0">
                <a:solidFill>
                  <a:srgbClr val="000000"/>
                </a:solidFill>
              </a:rPr>
              <a:t>The null hypothesis is true</a:t>
            </a:r>
          </a:p>
          <a:p>
            <a:pPr lvl="1" indent="-514350">
              <a:defRPr/>
            </a:pPr>
            <a:r>
              <a:rPr lang="en-US" sz="3000" i="1" kern="0" dirty="0" smtClean="0">
                <a:solidFill>
                  <a:srgbClr val="000000"/>
                </a:solidFill>
              </a:rPr>
              <a:t>then</a:t>
            </a:r>
            <a:r>
              <a:rPr lang="en-US" sz="3000" kern="0" dirty="0" smtClean="0">
                <a:solidFill>
                  <a:srgbClr val="000000"/>
                </a:solidFill>
              </a:rPr>
              <a:t> the F-statistic follows an </a:t>
            </a:r>
            <a:r>
              <a:rPr lang="en-US" sz="3000" b="1" i="1" kern="0" dirty="0" smtClean="0">
                <a:solidFill>
                  <a:schemeClr val="accent5">
                    <a:lumMod val="75000"/>
                  </a:schemeClr>
                </a:solidFill>
              </a:rPr>
              <a:t>F-distribution.</a:t>
            </a: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6036" y="4419600"/>
            <a:ext cx="9137964" cy="243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48640" marR="0" lvl="0" indent="-57150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000" kern="0" dirty="0" smtClean="0">
                <a:solidFill>
                  <a:srgbClr val="000000"/>
                </a:solidFill>
              </a:rPr>
              <a:t>The F-distribution has </a:t>
            </a:r>
            <a:r>
              <a:rPr lang="en-US" sz="3000" i="1" kern="0" dirty="0" smtClean="0">
                <a:solidFill>
                  <a:srgbClr val="000000"/>
                </a:solidFill>
              </a:rPr>
              <a:t>two </a:t>
            </a:r>
            <a:r>
              <a:rPr lang="en-US" sz="3000" kern="0" dirty="0" smtClean="0">
                <a:solidFill>
                  <a:srgbClr val="000000"/>
                </a:solidFill>
              </a:rPr>
              <a:t>degrees of freedom, one for the numerator of the ratio (</a:t>
            </a:r>
            <a:r>
              <a:rPr lang="en-US" sz="3000" i="1" kern="0" dirty="0" smtClean="0">
                <a:solidFill>
                  <a:srgbClr val="000000"/>
                </a:solidFill>
              </a:rPr>
              <a:t>k</a:t>
            </a:r>
            <a:r>
              <a:rPr lang="en-US" sz="3000" kern="0" dirty="0" smtClean="0">
                <a:solidFill>
                  <a:srgbClr val="000000"/>
                </a:solidFill>
              </a:rPr>
              <a:t> – 1) and one for the denominator (</a:t>
            </a:r>
            <a:r>
              <a:rPr lang="en-US" sz="3000" i="1" kern="0" dirty="0" smtClean="0">
                <a:solidFill>
                  <a:srgbClr val="000000"/>
                </a:solidFill>
              </a:rPr>
              <a:t>n</a:t>
            </a:r>
            <a:r>
              <a:rPr lang="en-US" sz="3000" kern="0" dirty="0" smtClean="0">
                <a:solidFill>
                  <a:srgbClr val="000000"/>
                </a:solidFill>
              </a:rPr>
              <a:t> – </a:t>
            </a:r>
            <a:r>
              <a:rPr lang="en-US" sz="3000" i="1" kern="0" dirty="0" smtClean="0">
                <a:solidFill>
                  <a:srgbClr val="000000"/>
                </a:solidFill>
              </a:rPr>
              <a:t>k</a:t>
            </a:r>
            <a:r>
              <a:rPr lang="en-US" sz="3000" kern="0" dirty="0" smtClean="0">
                <a:solidFill>
                  <a:srgbClr val="000000"/>
                </a:solidFill>
              </a:rPr>
              <a:t>)</a:t>
            </a:r>
          </a:p>
          <a:p>
            <a:pPr marL="54864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sz="3000" kern="0" dirty="0">
                <a:cs typeface="Courier New" pitchFamily="49" charset="0"/>
              </a:rPr>
              <a:t>For F-statistics, </a:t>
            </a:r>
            <a:r>
              <a:rPr lang="en-US" sz="3000" kern="0" dirty="0">
                <a:sym typeface="Symbol"/>
              </a:rPr>
              <a:t>the p-value (the area as extreme or more extreme) is always the upper </a:t>
            </a:r>
            <a:r>
              <a:rPr lang="en-US" sz="3000" kern="0" dirty="0" smtClean="0">
                <a:sym typeface="Symbol"/>
              </a:rPr>
              <a:t>tail</a:t>
            </a:r>
            <a:endParaRPr lang="en-US" sz="3000" b="1" kern="0" dirty="0" smtClean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6711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Equal Variance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3999" cy="5334000"/>
          </a:xfrm>
        </p:spPr>
        <p:txBody>
          <a:bodyPr/>
          <a:lstStyle/>
          <a:p>
            <a:r>
              <a:rPr lang="en-US" dirty="0"/>
              <a:t>The F-distribution </a:t>
            </a:r>
            <a:r>
              <a:rPr lang="en-US" dirty="0" smtClean="0"/>
              <a:t>assumes that variability is roughly the same in each of the groups.</a:t>
            </a:r>
            <a:endParaRPr lang="en-US" dirty="0"/>
          </a:p>
          <a:p>
            <a:r>
              <a:rPr lang="en-US" dirty="0"/>
              <a:t>As a rough rule of thumb, this assumption is violated if the standard deviation of one group is more than double the standard deviation of another </a:t>
            </a:r>
            <a:r>
              <a:rPr lang="en-US" dirty="0" smtClean="0"/>
              <a:t>group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4924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828800"/>
            <a:ext cx="3502025" cy="2819400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0"/>
              </a:spcBef>
              <a:buClr>
                <a:schemeClr val="accent2">
                  <a:lumMod val="75000"/>
                </a:schemeClr>
              </a:buClr>
              <a:buSzPct val="70000"/>
              <a:buFont typeface="+mj-lt"/>
              <a:buAutoNum type="alphaUcPeriod"/>
              <a:defRPr/>
            </a:pPr>
            <a:r>
              <a:rPr lang="en-US" dirty="0" smtClean="0"/>
              <a:t>Yes</a:t>
            </a:r>
            <a:endParaRPr lang="en-US" dirty="0"/>
          </a:p>
          <a:p>
            <a:pPr marL="514350" indent="-514350">
              <a:spcBef>
                <a:spcPts val="0"/>
              </a:spcBef>
              <a:buClr>
                <a:schemeClr val="accent2">
                  <a:lumMod val="75000"/>
                </a:schemeClr>
              </a:buClr>
              <a:buSzPct val="70000"/>
              <a:buFont typeface="+mj-lt"/>
              <a:buAutoNum type="alphaUcPeriod"/>
              <a:defRPr/>
            </a:pPr>
            <a:r>
              <a:rPr lang="en-US" dirty="0"/>
              <a:t>No</a:t>
            </a:r>
          </a:p>
          <a:p>
            <a:pPr marL="514350" indent="-514350">
              <a:spcBef>
                <a:spcPts val="0"/>
              </a:spcBef>
              <a:buClr>
                <a:schemeClr val="accent2">
                  <a:lumMod val="75000"/>
                </a:schemeClr>
              </a:buClr>
              <a:buSzPct val="70000"/>
              <a:buFont typeface="+mj-lt"/>
              <a:buAutoNum type="alphaUcPeriod"/>
              <a:defRPr/>
            </a:pPr>
            <a:r>
              <a:rPr lang="en-US" dirty="0"/>
              <a:t>Need more information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745676"/>
              </p:ext>
            </p:extLst>
          </p:nvPr>
        </p:nvGraphicFramePr>
        <p:xfrm>
          <a:off x="2743200" y="1676400"/>
          <a:ext cx="4103562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5339"/>
                <a:gridCol w="914591"/>
                <a:gridCol w="959041"/>
                <a:gridCol w="91459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Bird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Sample</a:t>
                      </a:r>
                    </a:p>
                    <a:p>
                      <a:pPr algn="ctr"/>
                      <a:r>
                        <a:rPr lang="en-US" sz="1600" baseline="0" dirty="0" smtClean="0"/>
                        <a:t> Mean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Sample</a:t>
                      </a:r>
                      <a:r>
                        <a:rPr lang="en-US" sz="1600" baseline="0" dirty="0" smtClean="0"/>
                        <a:t> </a:t>
                      </a:r>
                    </a:p>
                    <a:p>
                      <a:pPr algn="ctr"/>
                      <a:r>
                        <a:rPr lang="en-US" sz="1600" baseline="0" dirty="0" smtClean="0"/>
                        <a:t>SD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Sample</a:t>
                      </a:r>
                    </a:p>
                    <a:p>
                      <a:pPr algn="ctr"/>
                      <a:r>
                        <a:rPr lang="en-US" sz="1600" dirty="0" smtClean="0"/>
                        <a:t>Size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Pied Wagtail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22.90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1.07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Pipit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0.97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Robin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22.58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0.68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Sparrow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23.12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1.07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14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Wren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21.13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0.74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</a:tr>
              <a:tr h="1371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Overall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22.46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1.07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120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1600200"/>
          </a:xfrm>
        </p:spPr>
        <p:txBody>
          <a:bodyPr>
            <a:noAutofit/>
          </a:bodyPr>
          <a:lstStyle/>
          <a:p>
            <a:r>
              <a:rPr lang="en-US" sz="3600" dirty="0" smtClean="0"/>
              <a:t>Based on the summary statistics pictured here, can </a:t>
            </a:r>
            <a:r>
              <a:rPr lang="en-US" sz="3600" dirty="0"/>
              <a:t>we use the F-distribution to calculate the p-value for the Cuckoo bird eggs?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7268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lot_zoom_png (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0403" y="1676400"/>
            <a:ext cx="7629525" cy="4419600"/>
          </a:xfrm>
          <a:prstGeom prst="rect">
            <a:avLst/>
          </a:prstGeom>
        </p:spPr>
      </p:pic>
      <p:pic>
        <p:nvPicPr>
          <p:cNvPr id="594948" name="Picture 4" descr="http://2.bp.blogspot.com/_unmHAncyD4E/TI4MUZ3syHI/AAAAAAAABUE/VjDts4V6pzE/s1600/pipit-info0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179" y="5722109"/>
            <a:ext cx="1065734" cy="1143000"/>
          </a:xfrm>
          <a:prstGeom prst="rect">
            <a:avLst/>
          </a:prstGeom>
          <a:noFill/>
        </p:spPr>
      </p:pic>
      <p:pic>
        <p:nvPicPr>
          <p:cNvPr id="594950" name="Picture 6" descr="http://www.exploringnature.org/graphics/birds/robin_colo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5814078"/>
            <a:ext cx="1205532" cy="914400"/>
          </a:xfrm>
          <a:prstGeom prst="rect">
            <a:avLst/>
          </a:prstGeom>
          <a:noFill/>
        </p:spPr>
      </p:pic>
      <p:pic>
        <p:nvPicPr>
          <p:cNvPr id="594952" name="Picture 8" descr="http://www.rspb.org.uk/images/cache/housesparrow_male_300_tcm9-139923_v2.jpg"/>
          <p:cNvPicPr>
            <a:picLocks noChangeAspect="1" noChangeArrowheads="1"/>
          </p:cNvPicPr>
          <p:nvPr/>
        </p:nvPicPr>
        <p:blipFill>
          <a:blip r:embed="rId5" cstate="print"/>
          <a:srcRect t="9756" b="12195"/>
          <a:stretch>
            <a:fillRect/>
          </a:stretch>
        </p:blipFill>
        <p:spPr bwMode="auto">
          <a:xfrm>
            <a:off x="5229609" y="5773219"/>
            <a:ext cx="1333500" cy="1040780"/>
          </a:xfrm>
          <a:prstGeom prst="rect">
            <a:avLst/>
          </a:prstGeom>
          <a:noFill/>
        </p:spPr>
      </p:pic>
      <p:pic>
        <p:nvPicPr>
          <p:cNvPr id="594954" name="Picture 10" descr="http://williamthecoroner.files.wordpress.com/2010/12/wren_300_tcm9-142549_v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63109" y="5714489"/>
            <a:ext cx="1447800" cy="1158240"/>
          </a:xfrm>
          <a:prstGeom prst="rect">
            <a:avLst/>
          </a:prstGeom>
          <a:noFill/>
        </p:spPr>
      </p:pic>
      <p:pic>
        <p:nvPicPr>
          <p:cNvPr id="594956" name="Picture 12" descr="http://www.rspb.org.uk/images/cache/piedwag300_tcm9-142365_v2.jpg"/>
          <p:cNvPicPr>
            <a:picLocks noChangeAspect="1" noChangeArrowheads="1"/>
          </p:cNvPicPr>
          <p:nvPr/>
        </p:nvPicPr>
        <p:blipFill>
          <a:blip r:embed="rId7" cstate="print"/>
          <a:srcRect t="25806" r="4545" b="9677"/>
          <a:stretch>
            <a:fillRect/>
          </a:stretch>
        </p:blipFill>
        <p:spPr bwMode="auto">
          <a:xfrm>
            <a:off x="1116594" y="5730504"/>
            <a:ext cx="1600200" cy="1081549"/>
          </a:xfrm>
          <a:prstGeom prst="rect">
            <a:avLst/>
          </a:prstGeom>
          <a:noFill/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488466" y="762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Length of Cuckoo Eggs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1766" y="9906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Here, we don’t see any clear skewness or extreme outliers, so we proceed with using the F-distribution. </a:t>
            </a:r>
          </a:p>
        </p:txBody>
      </p:sp>
    </p:spTree>
    <p:extLst>
      <p:ext uri="{BB962C8B-B14F-4D97-AF65-F5344CB8AC3E}">
        <p14:creationId xmlns:p14="http://schemas.microsoft.com/office/powerpoint/2010/main" val="93240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dirty="0"/>
              <a:t>Length of Cuckoo Eggs</a:t>
            </a:r>
            <a:endParaRPr lang="en-US" sz="3600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299404"/>
            <a:ext cx="8977281" cy="425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05400" y="1580573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 smtClean="0">
                <a:hlinkClick r:id="rId3"/>
              </a:rPr>
              <a:t>StatKey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1591518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df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(</a:t>
            </a:r>
            <a:r>
              <a:rPr lang="en-US" sz="2000" b="1" dirty="0" err="1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num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) = k-1 = 5–1 = 4</a:t>
            </a:r>
          </a:p>
          <a:p>
            <a:r>
              <a:rPr lang="en-US" sz="2000" b="1" dirty="0" err="1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df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  <a:latin typeface="Segoe Print" panose="02000600000000000000" pitchFamily="2" charset="0"/>
              </a:rPr>
              <a:t>(den) = n–k = 120–5 = 115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5410200" y="4267200"/>
            <a:ext cx="990600" cy="838200"/>
          </a:xfrm>
          <a:prstGeom prst="ellipse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848917"/>
              </p:ext>
            </p:extLst>
          </p:nvPr>
        </p:nvGraphicFramePr>
        <p:xfrm>
          <a:off x="380999" y="1676400"/>
          <a:ext cx="1266825" cy="3429000"/>
        </p:xfrm>
        <a:graphic>
          <a:graphicData uri="http://schemas.openxmlformats.org/drawingml/2006/table">
            <a:tbl>
              <a:tblPr/>
              <a:tblGrid>
                <a:gridCol w="1266825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34869"/>
              </p:ext>
            </p:extLst>
          </p:nvPr>
        </p:nvGraphicFramePr>
        <p:xfrm>
          <a:off x="1603375" y="1676400"/>
          <a:ext cx="762000" cy="3436938"/>
        </p:xfrm>
        <a:graphic>
          <a:graphicData uri="http://schemas.openxmlformats.org/drawingml/2006/table">
            <a:tbl>
              <a:tblPr/>
              <a:tblGrid>
                <a:gridCol w="762000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endParaRPr kumimoji="0" lang="en-US" sz="2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752729"/>
              </p:ext>
            </p:extLst>
          </p:nvPr>
        </p:nvGraphicFramePr>
        <p:xfrm>
          <a:off x="2351088" y="1676400"/>
          <a:ext cx="1535112" cy="3436938"/>
        </p:xfrm>
        <a:graphic>
          <a:graphicData uri="http://schemas.openxmlformats.org/drawingml/2006/table">
            <a:tbl>
              <a:tblPr/>
              <a:tblGrid>
                <a:gridCol w="1535112"/>
              </a:tblGrid>
              <a:tr h="736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101.29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54133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137.19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215110"/>
              </p:ext>
            </p:extLst>
          </p:nvPr>
        </p:nvGraphicFramePr>
        <p:xfrm>
          <a:off x="3886200" y="1676400"/>
          <a:ext cx="1600201" cy="2895600"/>
        </p:xfrm>
        <a:graphic>
          <a:graphicData uri="http://schemas.openxmlformats.org/drawingml/2006/table">
            <a:tbl>
              <a:tblPr/>
              <a:tblGrid>
                <a:gridCol w="1600201"/>
              </a:tblGrid>
              <a:tr h="990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Square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50976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8.97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96729"/>
              </p:ext>
            </p:extLst>
          </p:nvPr>
        </p:nvGraphicFramePr>
        <p:xfrm>
          <a:off x="5486400" y="1676400"/>
          <a:ext cx="1524000" cy="2000666"/>
        </p:xfrm>
        <a:graphic>
          <a:graphicData uri="http://schemas.openxmlformats.org/drawingml/2006/table">
            <a:tbl>
              <a:tblPr/>
              <a:tblGrid>
                <a:gridCol w="1524000"/>
              </a:tblGrid>
              <a:tr h="1010758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970442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625899"/>
              </p:ext>
            </p:extLst>
          </p:nvPr>
        </p:nvGraphicFramePr>
        <p:xfrm>
          <a:off x="6970037" y="1676400"/>
          <a:ext cx="1754863" cy="1997990"/>
        </p:xfrm>
        <a:graphic>
          <a:graphicData uri="http://schemas.openxmlformats.org/drawingml/2006/table">
            <a:tbl>
              <a:tblPr/>
              <a:tblGrid>
                <a:gridCol w="1754863"/>
              </a:tblGrid>
              <a:tr h="99060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07390">
                <a:tc>
                  <a:txBody>
                    <a:bodyPr/>
                    <a:lstStyle>
                      <a:lvl1pPr marL="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1pPr>
                      <a:lvl2pPr marL="457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2pPr>
                      <a:lvl3pPr marL="914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3pPr>
                      <a:lvl4pPr marL="1371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4pPr>
                      <a:lvl5pPr marL="18288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5pPr>
                      <a:lvl6pPr marL="22860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6pPr>
                      <a:lvl7pPr marL="27432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7pPr>
                      <a:lvl8pPr marL="32004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8pPr>
                      <a:lvl9pPr marL="3657600" algn="l" rtl="0" eaLnBrk="1" latinLnBrk="0" hangingPunct="1">
                        <a:defRPr kumimoji="0" kern="1200">
                          <a:solidFill>
                            <a:schemeClr val="tx1"/>
                          </a:solidFill>
                          <a:latin typeface="Times New Roman"/>
                        </a:defRPr>
                      </a:lvl9pPr>
                      <a:extLst/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× 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0" lang="en-US" sz="2400" b="0" i="0" u="none" strike="noStrike" kern="1200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=0.00000043</a:t>
                      </a:r>
                      <a:endParaRPr kumimoji="0" lang="en-US" sz="2000" b="0" i="0" u="none" strike="noStrike" kern="1200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571500" y="1524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000" b="1" dirty="0" smtClean="0">
                <a:solidFill>
                  <a:schemeClr val="tx2"/>
                </a:solidFill>
              </a:rPr>
              <a:t>ANOVA Table for </a:t>
            </a:r>
            <a:r>
              <a:rPr lang="en-US" sz="4000" b="1" dirty="0">
                <a:solidFill>
                  <a:schemeClr val="tx2"/>
                </a:solidFill>
              </a:rPr>
              <a:t>Cuckoo Eggs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3810000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 dirty="0" smtClean="0"/>
              <a:t> Equal variability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/>
              <a:t> Normal(</a:t>
            </a:r>
            <a:r>
              <a:rPr lang="en-US" sz="2400" dirty="0" err="1" smtClean="0"/>
              <a:t>ish</a:t>
            </a:r>
            <a:r>
              <a:rPr lang="en-US" sz="2400" dirty="0" smtClean="0"/>
              <a:t>) data</a:t>
            </a: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63406"/>
              </p:ext>
            </p:extLst>
          </p:nvPr>
        </p:nvGraphicFramePr>
        <p:xfrm>
          <a:off x="304800" y="762000"/>
          <a:ext cx="3581400" cy="492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Equation" r:id="rId3" imgW="1663560" imgH="228600" progId="Equation.DSMT4">
                  <p:embed/>
                </p:oleObj>
              </mc:Choice>
              <mc:Fallback>
                <p:oleObj name="Equation" r:id="rId3" imgW="166356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0"/>
                        <a:ext cx="3581400" cy="492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335622"/>
              </p:ext>
            </p:extLst>
          </p:nvPr>
        </p:nvGraphicFramePr>
        <p:xfrm>
          <a:off x="304800" y="1143000"/>
          <a:ext cx="3352799" cy="535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Equation" r:id="rId5" imgW="1511280" imgH="241200" progId="Equation.BREE4">
                  <p:embed/>
                </p:oleObj>
              </mc:Choice>
              <mc:Fallback>
                <p:oleObj name="Equation" r:id="rId5" imgW="1511280" imgH="241200" progId="Equation.BREE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3352799" cy="535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83143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/>
          <p:cNvSpPr txBox="1">
            <a:spLocks/>
          </p:cNvSpPr>
          <p:nvPr/>
        </p:nvSpPr>
        <p:spPr>
          <a:xfrm>
            <a:off x="0" y="1524000"/>
            <a:ext cx="91440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kern="0" dirty="0">
                <a:solidFill>
                  <a:srgbClr val="000000"/>
                </a:solidFill>
              </a:rPr>
              <a:t> </a:t>
            </a:r>
            <a:r>
              <a:rPr lang="en-US" sz="3200" kern="0" dirty="0" smtClean="0">
                <a:solidFill>
                  <a:srgbClr val="000000"/>
                </a:solidFill>
              </a:rPr>
              <a:t>  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Does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jumping improve bone density?</a:t>
            </a:r>
          </a:p>
        </p:txBody>
      </p:sp>
      <p:pic>
        <p:nvPicPr>
          <p:cNvPr id="501762" name="Picture 2" descr="http://members.madasafish.com/~cj_whitehound/Rats_Nest/Norway_Rats/artwork/cartoons/Im_in_the_mood_for_lov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169845"/>
            <a:ext cx="2545644" cy="2590800"/>
          </a:xfrm>
          <a:prstGeom prst="rect">
            <a:avLst/>
          </a:prstGeom>
          <a:noFill/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304800" y="2217345"/>
            <a:ext cx="579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 smtClean="0"/>
              <a:t>30 rats were randomized to three treatment groups: </a:t>
            </a:r>
          </a:p>
          <a:p>
            <a:endParaRPr lang="en-US" sz="2800" dirty="0" smtClean="0"/>
          </a:p>
          <a:p>
            <a:pPr lvl="1"/>
            <a:r>
              <a:rPr lang="en-US" sz="2800" dirty="0" smtClean="0"/>
              <a:t>No jumping (10 rats - group 1) </a:t>
            </a:r>
          </a:p>
          <a:p>
            <a:pPr lvl="1"/>
            <a:r>
              <a:rPr lang="en-US" sz="2800" dirty="0" smtClean="0"/>
              <a:t>30 cm jump (10 rats - group 2)</a:t>
            </a:r>
          </a:p>
          <a:p>
            <a:pPr lvl="1"/>
            <a:r>
              <a:rPr lang="en-US" sz="2800" dirty="0" smtClean="0"/>
              <a:t>60 cm jump (10 rats - group 3)</a:t>
            </a:r>
          </a:p>
          <a:p>
            <a:endParaRPr lang="en-US" sz="2800" dirty="0" smtClean="0"/>
          </a:p>
          <a:p>
            <a:r>
              <a:rPr lang="en-US" sz="2800" dirty="0" smtClean="0"/>
              <a:t>Rats performed 10 jumps per day, 5 days per week.  Bone density was measured after 8 weeks.</a:t>
            </a:r>
            <a:endParaRPr kumimoji="0" lang="en-US" sz="28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28600"/>
            <a:ext cx="8153400" cy="990600"/>
          </a:xfrm>
        </p:spPr>
        <p:txBody>
          <a:bodyPr>
            <a:normAutofit/>
          </a:bodyPr>
          <a:lstStyle/>
          <a:p>
            <a:pPr lvl="0"/>
            <a:r>
              <a:rPr lang="en-US" sz="3600" dirty="0"/>
              <a:t>Jumping and Bone </a:t>
            </a:r>
            <a:r>
              <a:rPr lang="en-US" sz="3600" dirty="0" smtClean="0"/>
              <a:t>Density</a:t>
            </a:r>
            <a:endParaRPr 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9854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Jumping and Bone Density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3" cstate="print"/>
          <a:srcRect t="8442" b="5628"/>
          <a:stretch>
            <a:fillRect/>
          </a:stretch>
        </p:blipFill>
        <p:spPr bwMode="auto">
          <a:xfrm>
            <a:off x="228600" y="1143000"/>
            <a:ext cx="5791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219200" y="50292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7400" y="1981200"/>
            <a:ext cx="3048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/>
              <a:t>We will test to see if the difference in means is significant.</a:t>
            </a:r>
            <a:endParaRPr lang="en-US" sz="3200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6244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03910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52600" y="35052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what goes in the red square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228600" y="3505200"/>
            <a:ext cx="1828800" cy="3368675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3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29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30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889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52600" y="35052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what goes in the red square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228600" y="3505200"/>
            <a:ext cx="1828800" cy="3368675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3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29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30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38773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5304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52600" y="35052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what goes in the red square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228600" y="3505200"/>
            <a:ext cx="1828800" cy="33686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9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10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27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28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30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81171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9903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0932" y="1524000"/>
            <a:ext cx="9113067" cy="5334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Our goal: To calculate sums of squares from summary statistics!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000" dirty="0" smtClean="0"/>
              <a:t>   We know: </a:t>
            </a:r>
          </a:p>
          <a:p>
            <a:pPr marL="0" indent="0">
              <a:spcBef>
                <a:spcPts val="0"/>
              </a:spcBef>
              <a:buNone/>
            </a:pPr>
            <a:endParaRPr lang="en-US" sz="3000" dirty="0"/>
          </a:p>
          <a:p>
            <a:pPr marL="0" indent="0">
              <a:spcBef>
                <a:spcPts val="0"/>
              </a:spcBef>
              <a:buNone/>
            </a:pPr>
            <a:endParaRPr lang="en-US" sz="3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000" dirty="0" smtClean="0"/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000" dirty="0"/>
              <a:t> </a:t>
            </a:r>
            <a:r>
              <a:rPr lang="en-US" sz="3000" dirty="0" smtClean="0"/>
              <a:t>  We also know:</a:t>
            </a:r>
          </a:p>
          <a:p>
            <a:pPr marL="0" indent="0">
              <a:spcBef>
                <a:spcPts val="0"/>
              </a:spcBef>
              <a:buNone/>
            </a:pPr>
            <a:endParaRPr lang="en-US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3000" dirty="0" smtClean="0"/>
              <a:t>   This means that: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000" dirty="0" smtClean="0"/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000" dirty="0"/>
              <a:t> </a:t>
            </a:r>
            <a:r>
              <a:rPr lang="en-US" sz="3000" dirty="0" smtClean="0"/>
              <a:t>  So we can use algebra to solve for </a:t>
            </a:r>
            <a:r>
              <a:rPr lang="en-US" sz="3000" dirty="0" err="1" smtClean="0"/>
              <a:t>SSTotal</a:t>
            </a:r>
            <a:r>
              <a:rPr lang="en-US" sz="3000" dirty="0" smtClean="0"/>
              <a:t>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0" y="5105400"/>
            <a:ext cx="1219200" cy="381000"/>
          </a:xfrm>
          <a:prstGeom prst="rect">
            <a:avLst/>
          </a:prstGeom>
          <a:solidFill>
            <a:schemeClr val="bg2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0" y="3962400"/>
            <a:ext cx="1447800" cy="533400"/>
          </a:xfrm>
          <a:prstGeom prst="rect">
            <a:avLst/>
          </a:prstGeom>
          <a:solidFill>
            <a:schemeClr val="bg2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10000" y="2590800"/>
            <a:ext cx="1447800" cy="533400"/>
          </a:xfrm>
          <a:prstGeom prst="rect">
            <a:avLst/>
          </a:prstGeom>
          <a:solidFill>
            <a:schemeClr val="bg2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11144" y="304800"/>
            <a:ext cx="8153400" cy="9906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Shortcut Formulas</a:t>
            </a:r>
            <a:endParaRPr lang="en-US" sz="3600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208814"/>
              </p:ext>
            </p:extLst>
          </p:nvPr>
        </p:nvGraphicFramePr>
        <p:xfrm>
          <a:off x="2286000" y="2555341"/>
          <a:ext cx="6400800" cy="127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name="Equation" r:id="rId3" imgW="2806560" imgH="558720" progId="Equation.DSMT4">
                  <p:embed/>
                </p:oleObj>
              </mc:Choice>
              <mc:Fallback>
                <p:oleObj name="Equation" r:id="rId3" imgW="2806560" imgH="558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55341"/>
                        <a:ext cx="6400800" cy="1272115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359203"/>
              </p:ext>
            </p:extLst>
          </p:nvPr>
        </p:nvGraphicFramePr>
        <p:xfrm>
          <a:off x="2971800" y="3886200"/>
          <a:ext cx="2397994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name="Equation" r:id="rId5" imgW="1066680" imgH="507960" progId="Equation.BREE4">
                  <p:embed/>
                </p:oleObj>
              </mc:Choice>
              <mc:Fallback>
                <p:oleObj name="Equation" r:id="rId5" imgW="1066680" imgH="507960" progId="Equation.BREE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86200"/>
                        <a:ext cx="2397994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348118"/>
              </p:ext>
            </p:extLst>
          </p:nvPr>
        </p:nvGraphicFramePr>
        <p:xfrm>
          <a:off x="3082972" y="4986337"/>
          <a:ext cx="19986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" name="Equation" r:id="rId7" imgW="888840" imgH="444240" progId="Equation.BREE4">
                  <p:embed/>
                </p:oleObj>
              </mc:Choice>
              <mc:Fallback>
                <p:oleObj name="Equation" r:id="rId7" imgW="888840" imgH="444240" progId="Equation.BREE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72" y="4986337"/>
                        <a:ext cx="199866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207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0932" y="1524000"/>
            <a:ext cx="9113067" cy="53340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</a:rPr>
              <a:t>Our goal: To calculate sums of squares from summary statistics! </a:t>
            </a:r>
          </a:p>
          <a:p>
            <a:pPr marL="0" indent="0">
              <a:buNone/>
            </a:pPr>
            <a:r>
              <a:rPr lang="en-US" sz="3000" dirty="0" smtClean="0"/>
              <a:t>   </a:t>
            </a:r>
          </a:p>
          <a:p>
            <a:pPr marL="0" indent="0">
              <a:buNone/>
            </a:pPr>
            <a:r>
              <a:rPr lang="en-US" sz="3000" dirty="0" smtClean="0"/>
              <a:t>  </a:t>
            </a:r>
            <a:endParaRPr lang="en-US" sz="300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11144" y="304800"/>
            <a:ext cx="8153400" cy="9906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Shortcut Formulas</a:t>
            </a:r>
            <a:endParaRPr lang="en-US" sz="3600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457314"/>
              </p:ext>
            </p:extLst>
          </p:nvPr>
        </p:nvGraphicFramePr>
        <p:xfrm>
          <a:off x="914400" y="2590800"/>
          <a:ext cx="19986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" name="Equation" r:id="rId3" imgW="888840" imgH="444240" progId="Equation.BREE4">
                  <p:embed/>
                </p:oleObj>
              </mc:Choice>
              <mc:Fallback>
                <p:oleObj name="Equation" r:id="rId3" imgW="888840" imgH="444240" progId="Equation.BREE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90800"/>
                        <a:ext cx="199866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503891"/>
              </p:ext>
            </p:extLst>
          </p:nvPr>
        </p:nvGraphicFramePr>
        <p:xfrm>
          <a:off x="3124200" y="2667000"/>
          <a:ext cx="23129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7" name="Equation" r:id="rId5" imgW="1028520" imgH="393480" progId="Equation.BREE4">
                  <p:embed/>
                </p:oleObj>
              </mc:Choice>
              <mc:Fallback>
                <p:oleObj name="Equation" r:id="rId5" imgW="1028520" imgH="393480" progId="Equation.BREE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67000"/>
                        <a:ext cx="23129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526155"/>
              </p:ext>
            </p:extLst>
          </p:nvPr>
        </p:nvGraphicFramePr>
        <p:xfrm>
          <a:off x="3040063" y="4953000"/>
          <a:ext cx="4733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8" name="Equation" r:id="rId7" imgW="1434960" imgH="253800" progId="Equation.BREE4">
                  <p:embed/>
                </p:oleObj>
              </mc:Choice>
              <mc:Fallback>
                <p:oleObj name="Equation" r:id="rId7" imgW="1434960" imgH="253800" progId="Equation.BREE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4953000"/>
                        <a:ext cx="4733925" cy="838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6">
                            <a:lumMod val="75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652380"/>
              </p:ext>
            </p:extLst>
          </p:nvPr>
        </p:nvGraphicFramePr>
        <p:xfrm>
          <a:off x="3124200" y="3581400"/>
          <a:ext cx="43402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9" name="Equation" r:id="rId9" imgW="1930320" imgH="393480" progId="Equation.BREE4">
                  <p:embed/>
                </p:oleObj>
              </mc:Choice>
              <mc:Fallback>
                <p:oleObj name="Equation" r:id="rId9" imgW="1930320" imgH="393480" progId="Equation.BREE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400"/>
                        <a:ext cx="43402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 flipH="1">
            <a:off x="6553200" y="3810000"/>
            <a:ext cx="914400" cy="38100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5334000" y="4043504"/>
            <a:ext cx="914400" cy="381000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31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0932" y="1524000"/>
            <a:ext cx="9113067" cy="5334000"/>
          </a:xfrm>
        </p:spPr>
        <p:txBody>
          <a:bodyPr>
            <a:normAutofit/>
          </a:bodyPr>
          <a:lstStyle/>
          <a:p>
            <a:r>
              <a:rPr lang="en-US" kern="0" dirty="0">
                <a:solidFill>
                  <a:srgbClr val="000000"/>
                </a:solidFill>
              </a:rPr>
              <a:t>Similarly, </a:t>
            </a:r>
            <a:r>
              <a:rPr lang="en-US" kern="0" dirty="0" smtClean="0">
                <a:solidFill>
                  <a:srgbClr val="000000"/>
                </a:solidFill>
              </a:rPr>
              <a:t>we can find the sum of squared deviations from the group mean, within any group, using the formula (</a:t>
            </a:r>
            <a:r>
              <a:rPr lang="en-US" i="1" kern="0" dirty="0" smtClean="0">
                <a:solidFill>
                  <a:srgbClr val="000000"/>
                </a:solidFill>
              </a:rPr>
              <a:t>n</a:t>
            </a:r>
            <a:r>
              <a:rPr lang="en-US" i="1" kern="0" baseline="-25000" dirty="0" smtClean="0">
                <a:solidFill>
                  <a:srgbClr val="000000"/>
                </a:solidFill>
              </a:rPr>
              <a:t>i</a:t>
            </a:r>
            <a:r>
              <a:rPr lang="en-US" kern="0" dirty="0" smtClean="0">
                <a:solidFill>
                  <a:srgbClr val="000000"/>
                </a:solidFill>
              </a:rPr>
              <a:t>-1)</a:t>
            </a:r>
            <a:r>
              <a:rPr lang="en-US" i="1" kern="0" dirty="0" smtClean="0">
                <a:solidFill>
                  <a:srgbClr val="000000"/>
                </a:solidFill>
              </a:rPr>
              <a:t>s</a:t>
            </a:r>
            <a:r>
              <a:rPr lang="en-US" i="1" kern="0" baseline="-25000" dirty="0" smtClean="0">
                <a:solidFill>
                  <a:srgbClr val="000000"/>
                </a:solidFill>
              </a:rPr>
              <a:t>i</a:t>
            </a:r>
            <a:r>
              <a:rPr lang="en-US" i="1" kern="0" baseline="30000" dirty="0" smtClean="0">
                <a:solidFill>
                  <a:srgbClr val="000000"/>
                </a:solidFill>
              </a:rPr>
              <a:t>2</a:t>
            </a:r>
            <a:r>
              <a:rPr lang="en-US" kern="0" dirty="0" smtClean="0">
                <a:solidFill>
                  <a:srgbClr val="000000"/>
                </a:solidFill>
              </a:rPr>
              <a:t>, where </a:t>
            </a:r>
            <a:r>
              <a:rPr lang="en-US" i="1" kern="0" dirty="0" err="1" smtClean="0">
                <a:solidFill>
                  <a:srgbClr val="000000"/>
                </a:solidFill>
              </a:rPr>
              <a:t>n</a:t>
            </a:r>
            <a:r>
              <a:rPr lang="en-US" i="1" kern="0" baseline="-25000" dirty="0" err="1" smtClean="0">
                <a:solidFill>
                  <a:srgbClr val="000000"/>
                </a:solidFill>
              </a:rPr>
              <a:t>i</a:t>
            </a:r>
            <a:r>
              <a:rPr lang="en-US" kern="0" baseline="-25000" dirty="0" smtClean="0">
                <a:solidFill>
                  <a:srgbClr val="000000"/>
                </a:solidFill>
              </a:rPr>
              <a:t> </a:t>
            </a:r>
            <a:r>
              <a:rPr lang="en-US" kern="0" dirty="0" smtClean="0">
                <a:solidFill>
                  <a:srgbClr val="000000"/>
                </a:solidFill>
              </a:rPr>
              <a:t>is the sample size</a:t>
            </a:r>
            <a:r>
              <a:rPr lang="en-US" kern="0" baseline="-25000" dirty="0" smtClean="0">
                <a:solidFill>
                  <a:srgbClr val="000000"/>
                </a:solidFill>
              </a:rPr>
              <a:t> </a:t>
            </a:r>
            <a:r>
              <a:rPr lang="en-US" kern="0" dirty="0" smtClean="0">
                <a:solidFill>
                  <a:srgbClr val="000000"/>
                </a:solidFill>
              </a:rPr>
              <a:t>and </a:t>
            </a:r>
            <a:r>
              <a:rPr lang="en-US" i="1" kern="0" dirty="0" err="1" smtClean="0">
                <a:solidFill>
                  <a:srgbClr val="000000"/>
                </a:solidFill>
              </a:rPr>
              <a:t>s</a:t>
            </a:r>
            <a:r>
              <a:rPr lang="en-US" i="1" kern="0" baseline="-25000" dirty="0" err="1" smtClean="0">
                <a:solidFill>
                  <a:srgbClr val="000000"/>
                </a:solidFill>
              </a:rPr>
              <a:t>i</a:t>
            </a:r>
            <a:r>
              <a:rPr lang="en-US" i="1" kern="0" dirty="0" smtClean="0">
                <a:solidFill>
                  <a:srgbClr val="000000"/>
                </a:solidFill>
              </a:rPr>
              <a:t> </a:t>
            </a:r>
            <a:r>
              <a:rPr lang="en-US" kern="0" dirty="0" smtClean="0">
                <a:solidFill>
                  <a:srgbClr val="000000"/>
                </a:solidFill>
              </a:rPr>
              <a:t>is the standard deviation of the part of the sample in the </a:t>
            </a:r>
            <a:r>
              <a:rPr lang="en-US" i="1" kern="0" dirty="0" err="1" smtClean="0">
                <a:solidFill>
                  <a:srgbClr val="000000"/>
                </a:solidFill>
              </a:rPr>
              <a:t>i</a:t>
            </a:r>
            <a:r>
              <a:rPr lang="en-US" i="1" kern="0" baseline="30000" dirty="0" err="1" smtClean="0">
                <a:solidFill>
                  <a:srgbClr val="000000"/>
                </a:solidFill>
              </a:rPr>
              <a:t>th</a:t>
            </a:r>
            <a:r>
              <a:rPr lang="en-US" kern="0" dirty="0" smtClean="0">
                <a:solidFill>
                  <a:srgbClr val="000000"/>
                </a:solidFill>
              </a:rPr>
              <a:t> group.</a:t>
            </a:r>
          </a:p>
          <a:p>
            <a:r>
              <a:rPr lang="en-US" kern="0" dirty="0" smtClean="0">
                <a:solidFill>
                  <a:srgbClr val="000000"/>
                </a:solidFill>
              </a:rPr>
              <a:t>This means that: </a:t>
            </a:r>
            <a:endParaRPr lang="en-US" kern="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3000" dirty="0" smtClean="0"/>
              <a:t>   </a:t>
            </a:r>
          </a:p>
          <a:p>
            <a:pPr marL="0" indent="0">
              <a:buNone/>
            </a:pPr>
            <a:r>
              <a:rPr lang="en-US" sz="3000" dirty="0" smtClean="0"/>
              <a:t>  </a:t>
            </a:r>
            <a:endParaRPr lang="en-US" sz="300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11144" y="304800"/>
            <a:ext cx="8153400" cy="9906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Shortcut Formulas</a:t>
            </a:r>
            <a:endParaRPr lang="en-US" sz="36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013510"/>
              </p:ext>
            </p:extLst>
          </p:nvPr>
        </p:nvGraphicFramePr>
        <p:xfrm>
          <a:off x="698500" y="4648200"/>
          <a:ext cx="784066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Equation" r:id="rId3" imgW="2984400" imgH="812520" progId="Equation.DSMT4">
                  <p:embed/>
                </p:oleObj>
              </mc:Choice>
              <mc:Fallback>
                <p:oleObj name="Equation" r:id="rId3" imgW="2984400" imgH="81252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4648200"/>
                        <a:ext cx="7840663" cy="2133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BFD3E4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794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0932" y="1524000"/>
            <a:ext cx="9113067" cy="5334000"/>
          </a:xfrm>
        </p:spPr>
        <p:txBody>
          <a:bodyPr>
            <a:normAutofit/>
          </a:bodyPr>
          <a:lstStyle/>
          <a:p>
            <a:r>
              <a:rPr lang="en-US" dirty="0"/>
              <a:t>Thus, to calculate sums of squares from summary </a:t>
            </a:r>
            <a:r>
              <a:rPr lang="en-US" dirty="0" smtClean="0"/>
              <a:t>statistics, we can use the shortcut formulas:</a:t>
            </a:r>
            <a:r>
              <a:rPr lang="en-US" kern="0" dirty="0" smtClean="0">
                <a:solidFill>
                  <a:srgbClr val="000000"/>
                </a:solidFill>
              </a:rPr>
              <a:t> </a:t>
            </a:r>
          </a:p>
          <a:p>
            <a:endParaRPr lang="en-US" kern="0" dirty="0">
              <a:solidFill>
                <a:srgbClr val="000000"/>
              </a:solidFill>
            </a:endParaRPr>
          </a:p>
          <a:p>
            <a:endParaRPr lang="en-US" kern="0" dirty="0" smtClean="0">
              <a:solidFill>
                <a:srgbClr val="000000"/>
              </a:solidFill>
            </a:endParaRPr>
          </a:p>
          <a:p>
            <a:endParaRPr lang="en-US" kern="0" dirty="0">
              <a:solidFill>
                <a:srgbClr val="000000"/>
              </a:solidFill>
            </a:endParaRPr>
          </a:p>
          <a:p>
            <a:endParaRPr lang="en-US" kern="0" dirty="0" smtClean="0">
              <a:solidFill>
                <a:srgbClr val="000000"/>
              </a:solidFill>
            </a:endParaRPr>
          </a:p>
          <a:p>
            <a:r>
              <a:rPr lang="en-US" dirty="0" smtClean="0"/>
              <a:t>Further</a:t>
            </a:r>
            <a:r>
              <a:rPr lang="en-US" dirty="0"/>
              <a:t>, if we have any two of these quantities, we can always find the third using: </a:t>
            </a:r>
            <a:r>
              <a:rPr lang="en-US" dirty="0" smtClean="0"/>
              <a:t> </a:t>
            </a:r>
            <a:r>
              <a:rPr lang="en-US" sz="3000" b="1" dirty="0" err="1" smtClean="0"/>
              <a:t>SS</a:t>
            </a:r>
            <a:r>
              <a:rPr lang="en-US" sz="3000" b="1" i="1" dirty="0" err="1" smtClean="0"/>
              <a:t>Total</a:t>
            </a:r>
            <a:r>
              <a:rPr lang="en-US" sz="3000" b="1" dirty="0" smtClean="0"/>
              <a:t> = SSG + SSE</a:t>
            </a:r>
          </a:p>
          <a:p>
            <a:pPr marL="0" indent="0">
              <a:buNone/>
            </a:pPr>
            <a:r>
              <a:rPr lang="en-US" sz="2800" dirty="0" smtClean="0"/>
              <a:t>   (…Watch </a:t>
            </a:r>
            <a:r>
              <a:rPr lang="en-US" sz="2800" dirty="0"/>
              <a:t>out for round off error when using these </a:t>
            </a:r>
            <a:r>
              <a:rPr lang="en-US" sz="2800" dirty="0" smtClean="0"/>
              <a:t>shortcuts!)</a:t>
            </a:r>
            <a:endParaRPr lang="en-US" sz="2800" dirty="0"/>
          </a:p>
          <a:p>
            <a:pPr marL="0" indent="0">
              <a:buNone/>
            </a:pPr>
            <a:endParaRPr lang="en-US" b="1" kern="0" dirty="0" smtClean="0">
              <a:solidFill>
                <a:srgbClr val="000000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11144" y="304800"/>
            <a:ext cx="8153400" cy="990600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Shortcut Formulas</a:t>
            </a:r>
            <a:endParaRPr lang="en-US" sz="36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470699"/>
              </p:ext>
            </p:extLst>
          </p:nvPr>
        </p:nvGraphicFramePr>
        <p:xfrm>
          <a:off x="304800" y="2590800"/>
          <a:ext cx="33274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6" name="Equation" r:id="rId3" imgW="1244520" imgH="228600" progId="Equation.DSMT4">
                  <p:embed/>
                </p:oleObj>
              </mc:Choice>
              <mc:Fallback>
                <p:oleObj name="Equation" r:id="rId3" imgW="124452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90800"/>
                        <a:ext cx="3327400" cy="6111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6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915684"/>
              </p:ext>
            </p:extLst>
          </p:nvPr>
        </p:nvGraphicFramePr>
        <p:xfrm>
          <a:off x="304800" y="3352800"/>
          <a:ext cx="80787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7" name="Equation" r:id="rId5" imgW="2844720" imgH="241200" progId="Equation.DSMT4">
                  <p:embed/>
                </p:oleObj>
              </mc:Choice>
              <mc:Fallback>
                <p:oleObj name="Equation" r:id="rId5" imgW="28447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352800"/>
                        <a:ext cx="8078788" cy="6858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>
                            <a:lumMod val="75000"/>
                          </a:scheme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773066"/>
              </p:ext>
            </p:extLst>
          </p:nvPr>
        </p:nvGraphicFramePr>
        <p:xfrm>
          <a:off x="304800" y="4191000"/>
          <a:ext cx="87106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8" name="Equation" r:id="rId7" imgW="3174840" imgH="241200" progId="Equation.DSMT4">
                  <p:embed/>
                </p:oleObj>
              </mc:Choice>
              <mc:Fallback>
                <p:oleObj name="Equation" r:id="rId7" imgW="317484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91000"/>
                        <a:ext cx="8710612" cy="660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941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Actual Jumping and Bone Density Sums of Squares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2400" y="19050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688680"/>
              </p:ext>
            </p:extLst>
          </p:nvPr>
        </p:nvGraphicFramePr>
        <p:xfrm>
          <a:off x="150891" y="3397666"/>
          <a:ext cx="7697709" cy="583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9" name="Equation" r:id="rId3" imgW="3174840" imgH="241200" progId="Equation.DSMT4">
                  <p:embed/>
                </p:oleObj>
              </mc:Choice>
              <mc:Fallback>
                <p:oleObj name="Equation" r:id="rId3" imgW="317484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91" y="3397666"/>
                        <a:ext cx="7697709" cy="583606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EBB39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720736"/>
              </p:ext>
            </p:extLst>
          </p:nvPr>
        </p:nvGraphicFramePr>
        <p:xfrm>
          <a:off x="76200" y="4038600"/>
          <a:ext cx="8991600" cy="469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0" name="Equation" r:id="rId5" imgW="4431960" imgH="228600" progId="Equation.DSMT4">
                  <p:embed/>
                </p:oleObj>
              </mc:Choice>
              <mc:Fallback>
                <p:oleObj name="Equation" r:id="rId5" imgW="443196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038600"/>
                        <a:ext cx="8991600" cy="46910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437121"/>
              </p:ext>
            </p:extLst>
          </p:nvPr>
        </p:nvGraphicFramePr>
        <p:xfrm>
          <a:off x="838200" y="4572000"/>
          <a:ext cx="7010400" cy="554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1" name="Equation" r:id="rId7" imgW="2895480" imgH="228600" progId="Equation.DSMT4">
                  <p:embed/>
                </p:oleObj>
              </mc:Choice>
              <mc:Fallback>
                <p:oleObj name="Equation" r:id="rId7" imgW="289548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572000"/>
                        <a:ext cx="7010400" cy="55499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741554"/>
              </p:ext>
            </p:extLst>
          </p:nvPr>
        </p:nvGraphicFramePr>
        <p:xfrm>
          <a:off x="838200" y="5257800"/>
          <a:ext cx="4876800" cy="420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2" name="Equation" r:id="rId9" imgW="2070000" imgH="177480" progId="Equation.DSMT4">
                  <p:embed/>
                </p:oleObj>
              </mc:Choice>
              <mc:Fallback>
                <p:oleObj name="Equation" r:id="rId9" imgW="2070000" imgH="177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257800"/>
                        <a:ext cx="4876800" cy="42022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42800"/>
              </p:ext>
            </p:extLst>
          </p:nvPr>
        </p:nvGraphicFramePr>
        <p:xfrm>
          <a:off x="838200" y="5867400"/>
          <a:ext cx="1676400" cy="405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83" name="Equation" r:id="rId11" imgW="736560" imgH="177480" progId="Equation.DSMT4">
                  <p:embed/>
                </p:oleObj>
              </mc:Choice>
              <mc:Fallback>
                <p:oleObj name="Equation" r:id="rId11" imgW="736560" imgH="177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867400"/>
                        <a:ext cx="1676400" cy="40575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72000" y="2133600"/>
                <a:ext cx="4267200" cy="621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601.1+612.5+638.7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 smtClean="0"/>
                  <a:t> =617.433</a:t>
                </a:r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133600"/>
                <a:ext cx="4267200" cy="621773"/>
              </a:xfrm>
              <a:prstGeom prst="rect">
                <a:avLst/>
              </a:prstGeom>
              <a:blipFill rotWithShape="1">
                <a:blip r:embed="rId1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3429000" y="1905000"/>
            <a:ext cx="457200" cy="1200329"/>
          </a:xfrm>
          <a:prstGeom prst="roundRect">
            <a:avLst/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7" idx="3"/>
          </p:cNvCxnSpPr>
          <p:nvPr/>
        </p:nvCxnSpPr>
        <p:spPr>
          <a:xfrm flipV="1">
            <a:off x="3886200" y="2505164"/>
            <a:ext cx="685800" cy="1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42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Actual Jumping and Bone </a:t>
            </a: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</a:rPr>
              <a:t>Density Sums of Squares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660175"/>
              </p:ext>
            </p:extLst>
          </p:nvPr>
        </p:nvGraphicFramePr>
        <p:xfrm>
          <a:off x="228600" y="3352800"/>
          <a:ext cx="80787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5" name="Equation" r:id="rId3" imgW="2844720" imgH="241200" progId="Equation.DSMT4">
                  <p:embed/>
                </p:oleObj>
              </mc:Choice>
              <mc:Fallback>
                <p:oleObj name="Equation" r:id="rId3" imgW="284472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52800"/>
                        <a:ext cx="8078788" cy="6858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558BB8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460228"/>
              </p:ext>
            </p:extLst>
          </p:nvPr>
        </p:nvGraphicFramePr>
        <p:xfrm>
          <a:off x="76200" y="4267200"/>
          <a:ext cx="8991600" cy="549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6" name="Equation" r:id="rId5" imgW="3771720" imgH="228600" progId="Equation.DSMT4">
                  <p:embed/>
                </p:oleObj>
              </mc:Choice>
              <mc:Fallback>
                <p:oleObj name="Equation" r:id="rId5" imgW="377172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267200"/>
                        <a:ext cx="8991600" cy="549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459605"/>
              </p:ext>
            </p:extLst>
          </p:nvPr>
        </p:nvGraphicFramePr>
        <p:xfrm>
          <a:off x="1066800" y="4953000"/>
          <a:ext cx="544560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7" name="Equation" r:id="rId7" imgW="2133360" imgH="177480" progId="Equation.DSMT4">
                  <p:embed/>
                </p:oleObj>
              </mc:Choice>
              <mc:Fallback>
                <p:oleObj name="Equation" r:id="rId7" imgW="2133360" imgH="177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953000"/>
                        <a:ext cx="544560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764166"/>
              </p:ext>
            </p:extLst>
          </p:nvPr>
        </p:nvGraphicFramePr>
        <p:xfrm>
          <a:off x="1066800" y="5562600"/>
          <a:ext cx="204295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68" name="Equation" r:id="rId9" imgW="799920" imgH="177480" progId="Equation.DSMT4">
                  <p:embed/>
                </p:oleObj>
              </mc:Choice>
              <mc:Fallback>
                <p:oleObj name="Equation" r:id="rId9" imgW="799920" imgH="177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562600"/>
                        <a:ext cx="2042951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2400" y="19050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what goes in the red square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76200" y="3489325"/>
            <a:ext cx="2133600" cy="33686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7433.867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12579.499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12905.433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20013.366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27363.600</a:t>
            </a:r>
            <a:endParaRPr lang="en-US" sz="24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566608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386840"/>
                <a:gridCol w="144780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7433.867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12579.499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362200" y="3505199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68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what goes in the red square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67901" y="3573462"/>
            <a:ext cx="2133600" cy="2454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256.340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/>
              <a:t>601.1</a:t>
            </a:r>
            <a:endParaRPr lang="en-US" sz="2400" dirty="0" smtClean="0"/>
          </a:p>
          <a:p>
            <a:pPr marL="514350" indent="-514350">
              <a:buFont typeface="+mj-lt"/>
              <a:buAutoNum type="alphaUcPeriod"/>
            </a:pPr>
            <a:r>
              <a:rPr lang="en-US" sz="2400" dirty="0"/>
              <a:t>3716.934</a:t>
            </a:r>
            <a:endParaRPr lang="en-US" sz="2400" dirty="0" smtClean="0"/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6125.0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6387.0</a:t>
            </a:r>
            <a:endParaRPr lang="en-US" sz="24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05437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386840"/>
                <a:gridCol w="144780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7433.867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12579.499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362200" y="3505199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703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what goes in the red square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67901" y="3573462"/>
            <a:ext cx="2133600" cy="2454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0.13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7.98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16.07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128.17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400" dirty="0" smtClean="0"/>
              <a:t>690.12</a:t>
            </a:r>
            <a:endParaRPr lang="en-US" sz="24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58090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386840"/>
                <a:gridCol w="144780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7433.867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12579.499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362200" y="3505199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546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19050" y="152400"/>
            <a:ext cx="9124950" cy="990600"/>
          </a:xfrm>
        </p:spPr>
        <p:txBody>
          <a:bodyPr>
            <a:noAutofit/>
          </a:bodyPr>
          <a:lstStyle/>
          <a:p>
            <a:r>
              <a:rPr lang="en-US" sz="3200" dirty="0"/>
              <a:t>In this Analysis of Variance test on jumping and bone density, </a:t>
            </a:r>
            <a:r>
              <a:rPr lang="en-US" sz="3200" dirty="0" smtClean="0"/>
              <a:t>what is </a:t>
            </a:r>
            <a:r>
              <a:rPr lang="en-US" sz="3200" dirty="0"/>
              <a:t>the p-value?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3639493"/>
            <a:ext cx="2133600" cy="2454275"/>
          </a:xfrm>
        </p:spPr>
        <p:txBody>
          <a:bodyPr>
            <a:normAutofit/>
          </a:bodyPr>
          <a:lstStyle/>
          <a:p>
            <a:pPr marL="514350" indent="-514350">
              <a:buAutoNum type="alphaUcPeriod"/>
            </a:pPr>
            <a:r>
              <a:rPr lang="en-US" sz="2400" dirty="0"/>
              <a:t>0.0019</a:t>
            </a:r>
          </a:p>
          <a:p>
            <a:pPr marL="514350" indent="-514350">
              <a:buAutoNum type="alphaUcPeriod"/>
            </a:pPr>
            <a:r>
              <a:rPr lang="en-US" sz="2400" dirty="0"/>
              <a:t>0.0038</a:t>
            </a:r>
          </a:p>
          <a:p>
            <a:pPr marL="514350" indent="-514350">
              <a:buAutoNum type="alphaUcPeriod"/>
            </a:pPr>
            <a:r>
              <a:rPr lang="en-US" sz="2400" dirty="0"/>
              <a:t>0.0324</a:t>
            </a:r>
          </a:p>
          <a:p>
            <a:pPr marL="514350" indent="-514350">
              <a:buAutoNum type="alphaUcPeriod"/>
            </a:pPr>
            <a:r>
              <a:rPr lang="en-US" sz="2400" dirty="0"/>
              <a:t>0.0850</a:t>
            </a:r>
          </a:p>
          <a:p>
            <a:pPr marL="514350" indent="-514350">
              <a:buAutoNum type="alphaUcPeriod"/>
            </a:pPr>
            <a:r>
              <a:rPr lang="en-US" sz="2400" dirty="0"/>
              <a:t>0.6941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472019"/>
              </p:ext>
            </p:extLst>
          </p:nvPr>
        </p:nvGraphicFramePr>
        <p:xfrm>
          <a:off x="1066800" y="1295400"/>
          <a:ext cx="70866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386840"/>
                <a:gridCol w="144780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Groups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7433.867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12579.499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48400" y="609600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 smtClean="0">
                <a:hlinkClick r:id="rId5"/>
              </a:rPr>
              <a:t>StatKey</a:t>
            </a:r>
            <a:endParaRPr lang="en-US" b="1" dirty="0"/>
          </a:p>
        </p:txBody>
      </p:sp>
      <p:pic>
        <p:nvPicPr>
          <p:cNvPr id="13" name="Picture 12"/>
          <p:cNvPicPr/>
          <p:nvPr/>
        </p:nvPicPr>
        <p:blipFill>
          <a:blip r:embed="rId6" cstate="print"/>
          <a:srcRect t="8442" b="5628"/>
          <a:stretch>
            <a:fillRect/>
          </a:stretch>
        </p:blipFill>
        <p:spPr bwMode="auto">
          <a:xfrm>
            <a:off x="5706701" y="3505199"/>
            <a:ext cx="3429000" cy="253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1981200" y="3505199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  mean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n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Control  601.1 27.36360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Lowjump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612.5 19.32902 10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Highjump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638.7 16.59351 10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172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991600" cy="990600"/>
          </a:xfrm>
        </p:spPr>
        <p:txBody>
          <a:bodyPr>
            <a:noAutofit/>
          </a:bodyPr>
          <a:lstStyle/>
          <a:p>
            <a:r>
              <a:rPr lang="en-US" sz="3200" dirty="0"/>
              <a:t>So the p-value is </a:t>
            </a:r>
            <a:r>
              <a:rPr lang="en-US" sz="3200" dirty="0" smtClean="0"/>
              <a:t>_______.  </a:t>
            </a:r>
            <a:r>
              <a:rPr lang="en-US" sz="3200" dirty="0"/>
              <a:t>What is the conclusion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219200"/>
            <a:ext cx="5791200" cy="56388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UcPeriod"/>
            </a:pPr>
            <a:r>
              <a:rPr lang="en-US" dirty="0" smtClean="0"/>
              <a:t>Reject H</a:t>
            </a:r>
            <a:r>
              <a:rPr lang="en-US" baseline="-25000" dirty="0" smtClean="0"/>
              <a:t>0</a:t>
            </a:r>
            <a:r>
              <a:rPr lang="en-US" dirty="0" smtClean="0"/>
              <a:t>  : Jumping does not have an effect on mean bone density.</a:t>
            </a:r>
            <a:endParaRPr lang="en-US" dirty="0"/>
          </a:p>
          <a:p>
            <a:pPr marL="514350" indent="-514350">
              <a:buFontTx/>
              <a:buAutoNum type="alphaUcPeriod"/>
            </a:pPr>
            <a:r>
              <a:rPr lang="en-US" dirty="0"/>
              <a:t>Do not reject H</a:t>
            </a:r>
            <a:r>
              <a:rPr lang="en-US" baseline="-25000" dirty="0"/>
              <a:t>0</a:t>
            </a:r>
            <a:r>
              <a:rPr lang="en-US" dirty="0"/>
              <a:t>  : Jumping does have an effect on mean bone density.</a:t>
            </a:r>
          </a:p>
          <a:p>
            <a:pPr marL="514350" indent="-514350">
              <a:buFontTx/>
              <a:buAutoNum type="alphaUcPeriod"/>
            </a:pPr>
            <a:r>
              <a:rPr lang="en-US" dirty="0"/>
              <a:t>Reject H</a:t>
            </a:r>
            <a:r>
              <a:rPr lang="en-US" baseline="-25000" dirty="0"/>
              <a:t>0</a:t>
            </a:r>
            <a:r>
              <a:rPr lang="en-US" dirty="0"/>
              <a:t>  : Jumping does have an effect on mean bone density.</a:t>
            </a:r>
          </a:p>
          <a:p>
            <a:pPr marL="514350" indent="-514350">
              <a:buFontTx/>
              <a:buAutoNum type="alphaUcPeriod"/>
            </a:pPr>
            <a:r>
              <a:rPr lang="en-US" dirty="0"/>
              <a:t>Do not reject H</a:t>
            </a:r>
            <a:r>
              <a:rPr lang="en-US" baseline="-25000" dirty="0"/>
              <a:t>0</a:t>
            </a:r>
            <a:r>
              <a:rPr lang="en-US" dirty="0"/>
              <a:t>  : Jumping does not have an effect on mean bone density</a:t>
            </a:r>
            <a:r>
              <a:rPr lang="en-US" dirty="0" smtClean="0"/>
              <a:t>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911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</a:rPr>
              <a:t>ANOVA Table</a:t>
            </a:r>
            <a:endParaRPr 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8846" y="3962400"/>
            <a:ext cx="76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Bradley Hand ITC" pitchFamily="66" charset="0"/>
              </a:rPr>
              <a:t>We have strong evidence that jumping does increase bone density, at least in rats.</a:t>
            </a:r>
            <a:endParaRPr lang="en-US" sz="3200" b="1" dirty="0">
              <a:latin typeface="Bradley Hand ITC" pitchFamily="66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031270"/>
              </p:ext>
            </p:extLst>
          </p:nvPr>
        </p:nvGraphicFramePr>
        <p:xfrm>
          <a:off x="152400" y="1295400"/>
          <a:ext cx="809077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990600"/>
                <a:gridCol w="2057400"/>
                <a:gridCol w="1461370"/>
                <a:gridCol w="1447800"/>
                <a:gridCol w="1143000"/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Source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df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SS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MS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P-value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Groups</a:t>
                      </a:r>
                      <a:endParaRPr lang="en-US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7433.867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3716.934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_______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________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Error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12579.499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465.907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20013.366</a:t>
                      </a:r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03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AutoShape 2" descr="http://beta.rstudio.org/graphics/plot_zoom_png?width=459&amp;height=36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381000" y="1219200"/>
            <a:ext cx="8382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04800"/>
            <a:ext cx="8153400" cy="99060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24000"/>
            <a:ext cx="9144000" cy="5257800"/>
          </a:xfrm>
        </p:spPr>
        <p:txBody>
          <a:bodyPr/>
          <a:lstStyle/>
          <a:p>
            <a:r>
              <a:rPr lang="en-US" dirty="0"/>
              <a:t>Analysis of variance is used to test for a difference in means between groups by comparing the variability between groups to the variability within groups</a:t>
            </a:r>
          </a:p>
          <a:p>
            <a:r>
              <a:rPr lang="en-US" dirty="0"/>
              <a:t> Sums of squares are used to measure variability</a:t>
            </a:r>
          </a:p>
          <a:p>
            <a:r>
              <a:rPr lang="en-US" dirty="0"/>
              <a:t> The F-statistic is the ratio of average variability between groups to average variability within groups</a:t>
            </a:r>
          </a:p>
          <a:p>
            <a:r>
              <a:rPr lang="en-US" dirty="0"/>
              <a:t> The F-statistic follows an F-distribution, if sample sizes are large (or data is normal), variability is equal across groups, and </a:t>
            </a:r>
            <a:r>
              <a:rPr lang="en-US" dirty="0" smtClean="0"/>
              <a:t>the </a:t>
            </a:r>
            <a:r>
              <a:rPr lang="en-US" dirty="0"/>
              <a:t>null hypothesis is </a:t>
            </a:r>
            <a:r>
              <a:rPr lang="en-US" dirty="0" smtClean="0"/>
              <a:t>true.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57723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c883b47-6ee0-40fe-9fd8-cdbf99087d3e"/>
  <p:tag name="WASPOLLED" val="70AC42D8587149268A3D92A31E7B1A25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2B34EC75A5F745B4A46A3094B7D9AF63&lt;/guid&gt;&#10;        &lt;description /&gt;&#10;        &lt;date&gt;9/14/2017 10:06:12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276FD1CF88D44A198D305CAFF2436FE&lt;/guid&gt;&#10;            &lt;repollguid&gt;2F7EFE6AD32C42188F1DA4E35FE1B937&lt;/repollguid&gt;&#10;            &lt;sourceid&gt;D2BFC42E208C426DAD08971EBC3A4821&lt;/sourceid&gt;&#10;            &lt;questiontext&gt;If the groups are actually different, then…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970F073B384B483A9277F1DAE47D8769&lt;/guid&gt;&#10;                    &lt;answertext&gt;the variability between groups should be higher than the variability within groups &lt;/answertext&gt;&#10;                    &lt;valuetype&gt;0&lt;/valuetype&gt;&#10;                &lt;/answer&gt;&#10;                &lt;answer&gt;&#10;                    &lt;guid&gt;BDF9A5AF50434CCD9223BD6228CF0072&lt;/guid&gt;&#10;                    &lt;answertext&gt;the variability within groups should be higher than the variability between group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A17D0549616F4B57BF851F4DC930390B&lt;/guid&gt;&#10;        &lt;description /&gt;&#10;        &lt;date&gt;9/14/2017 12:25:15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BDDDC98802C04567B2CF92E48E32ACF8&lt;/guid&gt;&#10;            &lt;repollguid&gt;47C45CFB269646C1AC4F273B8CB36C5A&lt;/repollguid&gt;&#10;            &lt;sourceid&gt;9C451827FB4B4607ACE6D2B15B9A0C81&lt;/sourceid&gt;&#10;            &lt;questiontext&gt;If there really is a difference between the groups, we would expect the F-statistic to be 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4632D1D91612497189F724E87062C959&lt;/guid&gt;&#10;                    &lt;answertext&gt;Higher than we would observe by random chance&lt;/answertext&gt;&#10;                    &lt;valuetype&gt;0&lt;/valuetype&gt;&#10;                &lt;/answer&gt;&#10;                &lt;answer&gt;&#10;                    &lt;guid&gt;E6815B954458471CBEABD6B3FF1D5BAD&lt;/guid&gt;&#10;                    &lt;answertext&gt;Lower than we would observe by random chance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93A1DA6DE8CD4BAB8C19369D7AE7EC75&lt;/guid&gt;&#10;        &lt;description /&gt;&#10;        &lt;date&gt;9/14/2017 3:28:16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10CE397CA5C4FC0809A651BA449BD40&lt;/guid&gt;&#10;            &lt;repollguid&gt;C75DFA4BF8D449069BC1012A8FE92B4C&lt;/repollguid&gt;&#10;            &lt;sourceid&gt;9DE18A9F7653481993DA0996982801BF&lt;/sourceid&gt;&#10;            &lt;questiontext&gt;In a test for difference in means, which will have a smaller p-value: Dataset A or Dataset B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8ECB637A4A5434EB0B21BEA49A8B1B4&lt;/guid&gt;&#10;                    &lt;answertext&gt;Dataset A &lt;/answertext&gt;&#10;                    &lt;valuetype&gt;0&lt;/valuetype&gt;&#10;                &lt;/answer&gt;&#10;                &lt;answer&gt;&#10;                    &lt;guid&gt;ADD5BC4CB81946F2BE2E3A16177FCA15&lt;/guid&gt;&#10;                    &lt;answertext&gt;Dataset B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93A1DA6DE8CD4BAB8C19369D7AE7EC75&lt;/guid&gt;&#10;        &lt;description /&gt;&#10;        &lt;date&gt;9/14/2017 3:28:16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4623BD855084A048E559BB2302D50C1&lt;/guid&gt;&#10;            &lt;repollguid&gt;C75DFA4BF8D449069BC1012A8FE92B4C&lt;/repollguid&gt;&#10;            &lt;sourceid&gt;9DE18A9F7653481993DA0996982801BF&lt;/sourceid&gt;&#10;            &lt;questiontext&gt;In a test for difference in means, which will have a smaller p-value: Dataset A or Dataset C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8ECB637A4A5434EB0B21BEA49A8B1B4&lt;/guid&gt;&#10;                    &lt;answertext&gt;Dataset A&lt;/answertext&gt;&#10;                    &lt;valuetype&gt;0&lt;/valuetype&gt;&#10;                &lt;/answer&gt;&#10;                &lt;answer&gt;&#10;                    &lt;guid&gt;ADD5BC4CB81946F2BE2E3A16177FCA15&lt;/guid&gt;&#10;                    &lt;answertext&gt;Dataset C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93A1DA6DE8CD4BAB8C19369D7AE7EC75&lt;/guid&gt;&#10;        &lt;description /&gt;&#10;        &lt;date&gt;9/14/2017 3:28:16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9FC42F61C1424C3691283B7A61F4CF15&lt;/guid&gt;&#10;            &lt;repollguid&gt;C75DFA4BF8D449069BC1012A8FE92B4C&lt;/repollguid&gt;&#10;            &lt;sourceid&gt;9DE18A9F7653481993DA0996982801BF&lt;/sourceid&gt;&#10;            &lt;questiontext&gt;In a test for difference in means, which will have a smaller p-value: Dataset A or Dataset B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8ECB637A4A5434EB0B21BEA49A8B1B4&lt;/guid&gt;&#10;                    &lt;answertext&gt;Dataset A &lt;/answertext&gt;&#10;                    &lt;valuetype&gt;0&lt;/valuetype&gt;&#10;                &lt;/answer&gt;&#10;                &lt;answer&gt;&#10;                    &lt;guid&gt;ADD5BC4CB81946F2BE2E3A16177FCA15&lt;/guid&gt;&#10;                    &lt;answertext&gt;Dataset B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B0F80FE767814401B9B1B27D92C9C691&lt;/guid&gt;&#10;        &lt;description /&gt;&#10;        &lt;date&gt;9/14/2017 2:49:26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1C22EF4FC6F4DFFB0166E29ABFC6EC9&lt;/guid&gt;&#10;            &lt;repollguid&gt;B0DF1788074347BE94E6D1DCC5E551CD&lt;/repollguid&gt;&#10;            &lt;sourceid&gt;F5BCDAFAEFFA4EBEBE80FE7F36AE666A&lt;/sourceid&gt;&#10;            &lt;questiontext&gt;Based on the summary statistics pictured here, can we use the F-distribution to calculate the p-value for the Cuckoo bird eggs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07FB0FC6B2F4CC7A4562FD1D3CBC4B9&lt;/guid&gt;&#10;                    &lt;answertext&gt;Yes&lt;/answertext&gt;&#10;                    &lt;valuetype&gt;0&lt;/valuetype&gt;&#10;                &lt;/answer&gt;&#10;                &lt;answer&gt;&#10;                    &lt;guid&gt;323E4B6869644C7E927C1087DAADA98B&lt;/guid&gt;&#10;                    &lt;answertext&gt;No&lt;/answertext&gt;&#10;                    &lt;valuetype&gt;0&lt;/valuetype&gt;&#10;                &lt;/answer&gt;&#10;                &lt;answer&gt;&#10;                    &lt;guid&gt;2382037A069F4F039AE75825A4FDF0C6&lt;/guid&gt;&#10;                    &lt;answertext&gt;Need more information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5D98B36DA8945D7B71D8C33D85752A2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goes in the red squar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2&lt;/answertext&gt;&#10;                    &lt;valuetype&gt;0&lt;/valuetype&gt;&#10;                &lt;/answer&gt;&#10;                &lt;answer&gt;&#10;                    &lt;guid&gt;36E81122F7AA42568823AC93A4A50D42&lt;/guid&gt;&#10;                    &lt;answertext&gt;3&lt;/answertext&gt;&#10;                    &lt;valuetype&gt;0&lt;/valuetype&gt;&#10;                &lt;/answer&gt;&#10;                &lt;answer&gt;&#10;                    &lt;guid&gt;2C5E38A807BA48D69B6FD3C9A4A6D2BE&lt;/guid&gt;&#10;                    &lt;answertext&gt;10&lt;/answertext&gt;&#10;                    &lt;valuetype&gt;0&lt;/valuetype&gt;&#10;                &lt;/answer&gt;&#10;                &lt;answer&gt;&#10;                    &lt;guid&gt;EF77E4ED4FC441D2A7C9486BF6F9414A&lt;/guid&gt;&#10;                    &lt;answertext&gt;29&lt;/answertext&gt;&#10;                    &lt;valuetype&gt;0&lt;/valuetype&gt;&#10;                &lt;/answer&gt;&#10;                &lt;answer&gt;&#10;                    &lt;guid&gt;D0EA118729BC4A39AE1DFC13B9E56C5A&lt;/guid&gt;&#10;                    &lt;answertext&gt;3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4D375868BDF94179987CF82BDC02BC31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goes in the red squar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2&lt;/answertext&gt;&#10;                    &lt;valuetype&gt;0&lt;/valuetype&gt;&#10;                &lt;/answer&gt;&#10;                &lt;answer&gt;&#10;                    &lt;guid&gt;36E81122F7AA42568823AC93A4A50D42&lt;/guid&gt;&#10;                    &lt;answertext&gt;3&lt;/answertext&gt;&#10;                    &lt;valuetype&gt;0&lt;/valuetype&gt;&#10;                &lt;/answer&gt;&#10;                &lt;answer&gt;&#10;                    &lt;guid&gt;2C5E38A807BA48D69B6FD3C9A4A6D2BE&lt;/guid&gt;&#10;                    &lt;answertext&gt;10&lt;/answertext&gt;&#10;                    &lt;valuetype&gt;0&lt;/valuetype&gt;&#10;                &lt;/answer&gt;&#10;                &lt;answer&gt;&#10;                    &lt;guid&gt;EF77E4ED4FC441D2A7C9486BF6F9414A&lt;/guid&gt;&#10;                    &lt;answertext&gt;29&lt;/answertext&gt;&#10;                    &lt;valuetype&gt;0&lt;/valuetype&gt;&#10;                &lt;/answer&gt;&#10;                &lt;answer&gt;&#10;                    &lt;guid&gt;D0EA118729BC4A39AE1DFC13B9E56C5A&lt;/guid&gt;&#10;                    &lt;answertext&gt;3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D91BB781878A4362B09C735528C27A15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goes in the red squar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9&lt;/answertext&gt;&#10;                    &lt;valuetype&gt;0&lt;/valuetype&gt;&#10;                &lt;/answer&gt;&#10;                &lt;answer&gt;&#10;                    &lt;guid&gt;36E81122F7AA42568823AC93A4A50D42&lt;/guid&gt;&#10;                    &lt;answertext&gt;10&lt;/answertext&gt;&#10;                    &lt;valuetype&gt;0&lt;/valuetype&gt;&#10;                &lt;/answer&gt;&#10;                &lt;answer&gt;&#10;                    &lt;guid&gt;2C5E38A807BA48D69B6FD3C9A4A6D2BE&lt;/guid&gt;&#10;                    &lt;answertext&gt;27&lt;/answertext&gt;&#10;                    &lt;valuetype&gt;0&lt;/valuetype&gt;&#10;                &lt;/answer&gt;&#10;                &lt;answer&gt;&#10;                    &lt;guid&gt;EF77E4ED4FC441D2A7C9486BF6F9414A&lt;/guid&gt;&#10;                    &lt;answertext&gt;28&lt;/answertext&gt;&#10;                    &lt;valuetype&gt;0&lt;/valuetype&gt;&#10;                &lt;/answer&gt;&#10;                &lt;answer&gt;&#10;                    &lt;guid&gt;D0EA118729BC4A39AE1DFC13B9E56C5A&lt;/guid&gt;&#10;                    &lt;answertext&gt;3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9F6D0A612BC541CFAD14B432D09F315E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goes in the red squar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7433.867&lt;/answertext&gt;&#10;                    &lt;valuetype&gt;0&lt;/valuetype&gt;&#10;                &lt;/answer&gt;&#10;                &lt;answer&gt;&#10;                    &lt;guid&gt;B38861273ABA49719D4DD93FC5F3937E&lt;/guid&gt;&#10;                    &lt;answertext&gt;12579.499&lt;/answertext&gt;&#10;                    &lt;valuetype&gt;0&lt;/valuetype&gt;&#10;                &lt;/answer&gt;&#10;                &lt;answer&gt;&#10;                    &lt;guid&gt;4FDFDE0891514EBCB3B13B21C1919938&lt;/guid&gt;&#10;                    &lt;answertext&gt;12905.433&lt;/answertext&gt;&#10;                    &lt;valuetype&gt;0&lt;/valuetype&gt;&#10;                &lt;/answer&gt;&#10;                &lt;answer&gt;&#10;                    &lt;guid&gt;1B6B7014E1394F3BA93A50E5E8BC24B1&lt;/guid&gt;&#10;                    &lt;answertext&gt;20013.366&lt;/answertext&gt;&#10;                    &lt;valuetype&gt;0&lt;/valuetype&gt;&#10;                &lt;/answer&gt;&#10;                &lt;answer&gt;&#10;                    &lt;guid&gt;5B33B33241BB4ECAB8F280F828D472EE&lt;/guid&gt;&#10;                    &lt;answertext&gt;27363.60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99144D8CA5743DA8AF0F43B8D4CE06F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goes in the red squar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256.340&lt;/answertext&gt;&#10;                    &lt;valuetype&gt;0&lt;/valuetype&gt;&#10;                &lt;/answer&gt;&#10;                &lt;answer&gt;&#10;                    &lt;guid&gt;B38861273ABA49719D4DD93FC5F3937E&lt;/guid&gt;&#10;                    &lt;answertext&gt;601.1&lt;/answertext&gt;&#10;                    &lt;valuetype&gt;0&lt;/valuetype&gt;&#10;                &lt;/answer&gt;&#10;                &lt;answer&gt;&#10;                    &lt;guid&gt;4FDFDE0891514EBCB3B13B21C1919938&lt;/guid&gt;&#10;                    &lt;answertext&gt;3716.934&lt;/answertext&gt;&#10;                    &lt;valuetype&gt;0&lt;/valuetype&gt;&#10;                &lt;/answer&gt;&#10;                &lt;answer&gt;&#10;                    &lt;guid&gt;1B6B7014E1394F3BA93A50E5E8BC24B1&lt;/guid&gt;&#10;                    &lt;answertext&gt;6125.0&lt;/answertext&gt;&#10;                    &lt;valuetype&gt;0&lt;/valuetype&gt;&#10;                &lt;/answer&gt;&#10;                &lt;answer&gt;&#10;                    &lt;guid&gt;5B33B33241BB4ECAB8F280F828D472EE&lt;/guid&gt;&#10;                    &lt;answertext&gt;6387.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ABEB5330ADD46649741594464DBB7F7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goes in the red squar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0.13&lt;/answertext&gt;&#10;                    &lt;valuetype&gt;0&lt;/valuetype&gt;&#10;                &lt;/answer&gt;&#10;                &lt;answer&gt;&#10;                    &lt;guid&gt;B38861273ABA49719D4DD93FC5F3937E&lt;/guid&gt;&#10;                    &lt;answertext&gt;7.98&lt;/answertext&gt;&#10;                    &lt;valuetype&gt;0&lt;/valuetype&gt;&#10;                &lt;/answer&gt;&#10;                &lt;answer&gt;&#10;                    &lt;guid&gt;4FDFDE0891514EBCB3B13B21C1919938&lt;/guid&gt;&#10;                    &lt;answertext&gt;16.07&lt;/answertext&gt;&#10;                    &lt;valuetype&gt;0&lt;/valuetype&gt;&#10;                &lt;/answer&gt;&#10;                &lt;answer&gt;&#10;                    &lt;guid&gt;1B6B7014E1394F3BA93A50E5E8BC24B1&lt;/guid&gt;&#10;                    &lt;answertext&gt;128.17&lt;/answertext&gt;&#10;                    &lt;valuetype&gt;0&lt;/valuetype&gt;&#10;                &lt;/answer&gt;&#10;                &lt;answer&gt;&#10;                    &lt;guid&gt;5B33B33241BB4ECAB8F280F828D472EE&lt;/guid&gt;&#10;                    &lt;answertext&gt;690.12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1E577DAB6C84AC4B88B37293F74BF3E&lt;/guid&gt;&#10;        &lt;description /&gt;&#10;        &lt;date&gt;9/17/2017 11:26:4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FA7016C468945EB9406A08DA4A3CD51&lt;/guid&gt;&#10;            &lt;repollguid&gt;A343252768F44B0AAA9B2A28FFA6E8C9&lt;/repollguid&gt;&#10;            &lt;sourceid&gt;8ED9948A40404FEAA6086BF2AA438AE5&lt;/sourceid&gt;&#10;            &lt;questiontext&gt;In this Analysis of Variance test on jumping and bone density, what is the p-value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1D97534A42F044919DF0DC283FDB78B7&lt;/guid&gt;&#10;                    &lt;answertext&gt;0.0019&lt;/answertext&gt;&#10;                    &lt;valuetype&gt;0&lt;/valuetype&gt;&#10;                &lt;/answer&gt;&#10;                &lt;answer&gt;&#10;                    &lt;guid&gt;B38861273ABA49719D4DD93FC5F3937E&lt;/guid&gt;&#10;                    &lt;answertext&gt;0.0038&lt;/answertext&gt;&#10;                    &lt;valuetype&gt;0&lt;/valuetype&gt;&#10;                &lt;/answer&gt;&#10;                &lt;answer&gt;&#10;                    &lt;guid&gt;4FDFDE0891514EBCB3B13B21C1919938&lt;/guid&gt;&#10;                    &lt;answertext&gt;0.0324&lt;/answertext&gt;&#10;                    &lt;valuetype&gt;0&lt;/valuetype&gt;&#10;                &lt;/answer&gt;&#10;                &lt;answer&gt;&#10;                    &lt;guid&gt;1B6B7014E1394F3BA93A50E5E8BC24B1&lt;/guid&gt;&#10;                    &lt;answertext&gt;0.0850&lt;/answertext&gt;&#10;                    &lt;valuetype&gt;0&lt;/valuetype&gt;&#10;                &lt;/answer&gt;&#10;                &lt;answer&gt;&#10;                    &lt;guid&gt;5B33B33241BB4ECAB8F280F828D472EE&lt;/guid&gt;&#10;                    &lt;answertext&gt;0.6941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F11873F32A37436EB5DA9749EB2E2A61&lt;/guid&gt;&#10;        &lt;description /&gt;&#10;        &lt;date&gt;9/17/2017 1:21:5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CA8BAB8F2374B5D91AFE78E71071A87&lt;/guid&gt;&#10;            &lt;repollguid&gt;FD468874D9AF40F7AE4791AD346D230C&lt;/repollguid&gt;&#10;            &lt;sourceid&gt;3B1D902D2BDC449297ADABB11E5A1386&lt;/sourceid&gt;&#10;            &lt;questiontext&gt;So the p-value is 0.0019.  What is the conclusion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AF281E2FA1147D19B6E77F1C3DC2685&lt;/guid&gt;&#10;                    &lt;answertext&gt;Reject H0  : Jumping does not have an effect on mean bone density.&lt;/answertext&gt;&#10;                    &lt;valuetype&gt;0&lt;/valuetype&gt;&#10;                &lt;/answer&gt;&#10;                &lt;answer&gt;&#10;                    &lt;guid&gt;77DB2F3D7FAA4324B41FE0E38F4234EA&lt;/guid&gt;&#10;                    &lt;answertext&gt;Do not reject H0  : Jumping does have an effect on mean bone density.&lt;/answertext&gt;&#10;                    &lt;valuetype&gt;0&lt;/valuetype&gt;&#10;                &lt;/answer&gt;&#10;                &lt;answer&gt;&#10;                    &lt;guid&gt;18A939ECF9934268928AC629E61F5AC4&lt;/guid&gt;&#10;                    &lt;answertext&gt;Reject H0  : Jumping does have an effect on mean bone density.&lt;/answertext&gt;&#10;                    &lt;valuetype&gt;0&lt;/valuetype&gt;&#10;                &lt;/answer&gt;&#10;                &lt;answer&gt;&#10;                    &lt;guid&gt;87FA0297BA7F45C5BD05E0A4E16A8EDE&lt;/guid&gt;&#10;                    &lt;answertext&gt;Do not reject H0  : Jumping does not have an effect on mean bone density.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2155</TotalTime>
  <Words>2198</Words>
  <Application>Microsoft Office PowerPoint</Application>
  <PresentationFormat>On-screen Show (4:3)</PresentationFormat>
  <Paragraphs>643</Paragraphs>
  <Slides>55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Median</vt:lpstr>
      <vt:lpstr>Equation</vt:lpstr>
      <vt:lpstr>PowerPoint Presentation</vt:lpstr>
      <vt:lpstr>Outline</vt:lpstr>
      <vt:lpstr>Multiple Categories</vt:lpstr>
      <vt:lpstr>Multiple Categories</vt:lpstr>
      <vt:lpstr>General Hypothesis Testing</vt:lpstr>
      <vt:lpstr>Cuckoo Birds</vt:lpstr>
      <vt:lpstr>PowerPoint Presentation</vt:lpstr>
      <vt:lpstr>Notation</vt:lpstr>
      <vt:lpstr>Length of Cuckoo Eggs</vt:lpstr>
      <vt:lpstr>Cuckoo Egg Hypotheses</vt:lpstr>
      <vt:lpstr>Why Analyze Variability to Test for a Difference in Means?</vt:lpstr>
      <vt:lpstr>Why Analyze Variability to Test for a Difference in Means?</vt:lpstr>
      <vt:lpstr>Why Analyze Variability to Test for a Difference in Means?</vt:lpstr>
      <vt:lpstr>Analysis of Variance</vt:lpstr>
      <vt:lpstr>If the groups are actually different, then…</vt:lpstr>
      <vt:lpstr>Sums of Squares</vt:lpstr>
      <vt:lpstr>PowerPoint Presentation</vt:lpstr>
      <vt:lpstr>PowerPoint Presentation</vt:lpstr>
      <vt:lpstr>PowerPoint Presentation</vt:lpstr>
      <vt:lpstr>PowerPoint Presentation</vt:lpstr>
      <vt:lpstr>ANOVA Table</vt:lpstr>
      <vt:lpstr>ANOVA Table for Cuckoo Eggs</vt:lpstr>
      <vt:lpstr>F-Statistic</vt:lpstr>
      <vt:lpstr>ANOVA Table for Cuckoo Eggs</vt:lpstr>
      <vt:lpstr>If there really is a difference between the groups, we would expect the F-statistic to be </vt:lpstr>
      <vt:lpstr>Determining Significance</vt:lpstr>
      <vt:lpstr>PowerPoint Presentation</vt:lpstr>
      <vt:lpstr>In a test for difference in means, which will have a smaller p-value: Dataset A or Dataset B?</vt:lpstr>
      <vt:lpstr>In a test for difference in means, which will have a smaller p-value: Dataset A or Dataset C?</vt:lpstr>
      <vt:lpstr>In a test for difference in means, which will have a smaller p-value: Dataset A or Dataset B?</vt:lpstr>
      <vt:lpstr>F-distribution</vt:lpstr>
      <vt:lpstr>PowerPoint Presentation</vt:lpstr>
      <vt:lpstr>Equal Variance</vt:lpstr>
      <vt:lpstr>Based on the summary statistics pictured here, can we use the F-distribution to calculate the p-value for the Cuckoo bird eggs?</vt:lpstr>
      <vt:lpstr>PowerPoint Presentation</vt:lpstr>
      <vt:lpstr>Length of Cuckoo Eggs</vt:lpstr>
      <vt:lpstr>PowerPoint Presentation</vt:lpstr>
      <vt:lpstr>Jumping and Bone Density</vt:lpstr>
      <vt:lpstr>PowerPoint Presentation</vt:lpstr>
      <vt:lpstr>In this Analysis of Variance test on jumping and bone density, what goes in the red square?</vt:lpstr>
      <vt:lpstr>In this Analysis of Variance test on jumping and bone density, what goes in the red square?</vt:lpstr>
      <vt:lpstr>In this Analysis of Variance test on jumping and bone density, what goes in the red square?</vt:lpstr>
      <vt:lpstr>Shortcut Formulas</vt:lpstr>
      <vt:lpstr>Shortcut Formulas</vt:lpstr>
      <vt:lpstr>Shortcut Formulas</vt:lpstr>
      <vt:lpstr>Shortcut Formulas</vt:lpstr>
      <vt:lpstr>PowerPoint Presentation</vt:lpstr>
      <vt:lpstr>PowerPoint Presentation</vt:lpstr>
      <vt:lpstr>In this Analysis of Variance test on jumping and bone density, what goes in the red square?</vt:lpstr>
      <vt:lpstr>In this Analysis of Variance test on jumping and bone density, what goes in the red square?</vt:lpstr>
      <vt:lpstr>In this Analysis of Variance test on jumping and bone density, what goes in the red square?</vt:lpstr>
      <vt:lpstr>In this Analysis of Variance test on jumping and bone density, what is the p-value?</vt:lpstr>
      <vt:lpstr>So the p-value is _______.  What is the conclusion?</vt:lpstr>
      <vt:lpstr>PowerPoint Presentation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Kathryn Dobeck</cp:lastModifiedBy>
  <cp:revision>81</cp:revision>
  <cp:lastPrinted>2017-09-19T16:37:01Z</cp:lastPrinted>
  <dcterms:created xsi:type="dcterms:W3CDTF">2017-09-12T18:21:01Z</dcterms:created>
  <dcterms:modified xsi:type="dcterms:W3CDTF">2017-10-01T18:36:41Z</dcterms:modified>
</cp:coreProperties>
</file>