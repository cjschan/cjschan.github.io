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326" r:id="rId2"/>
    <p:sldId id="327" r:id="rId3"/>
    <p:sldId id="301" r:id="rId4"/>
    <p:sldId id="302" r:id="rId5"/>
    <p:sldId id="303" r:id="rId6"/>
    <p:sldId id="304" r:id="rId7"/>
    <p:sldId id="305" r:id="rId8"/>
    <p:sldId id="330" r:id="rId9"/>
    <p:sldId id="331" r:id="rId10"/>
    <p:sldId id="306" r:id="rId11"/>
    <p:sldId id="307" r:id="rId12"/>
    <p:sldId id="328" r:id="rId13"/>
    <p:sldId id="308" r:id="rId14"/>
    <p:sldId id="309" r:id="rId15"/>
    <p:sldId id="310" r:id="rId16"/>
    <p:sldId id="332" r:id="rId17"/>
    <p:sldId id="313" r:id="rId18"/>
    <p:sldId id="314" r:id="rId19"/>
    <p:sldId id="329" r:id="rId20"/>
  </p:sldIdLst>
  <p:sldSz cx="9144000" cy="6858000" type="screen4x3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2" autoAdjust="0"/>
    <p:restoredTop sz="94671" autoAdjust="0"/>
  </p:normalViewPr>
  <p:slideViewPr>
    <p:cSldViewPr>
      <p:cViewPr varScale="1">
        <p:scale>
          <a:sx n="104" d="100"/>
          <a:sy n="104" d="100"/>
        </p:scale>
        <p:origin x="60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B4-455A-9738-68859FD132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B4-455A-9738-68859FD132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B4-455A-9738-68859FD132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6247552"/>
        <c:axId val="196249088"/>
        <c:axId val="147195648"/>
      </c:bar3DChart>
      <c:catAx>
        <c:axId val="196247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96249088"/>
        <c:crosses val="autoZero"/>
        <c:auto val="1"/>
        <c:lblAlgn val="ctr"/>
        <c:lblOffset val="100"/>
        <c:noMultiLvlLbl val="0"/>
      </c:catAx>
      <c:valAx>
        <c:axId val="19624908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6247552"/>
        <c:crosses val="autoZero"/>
        <c:crossBetween val="between"/>
      </c:valAx>
      <c:serAx>
        <c:axId val="147195648"/>
        <c:scaling>
          <c:orientation val="minMax"/>
        </c:scaling>
        <c:delete val="0"/>
        <c:axPos val="b"/>
        <c:majorTickMark val="out"/>
        <c:minorTickMark val="none"/>
        <c:tickLblPos val="nextTo"/>
        <c:crossAx val="196249088"/>
        <c:crosses val="autoZero"/>
      </c:ser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D711A-825E-4F52-BDE5-5D5ACB49E179}" type="datetimeFigureOut">
              <a:rPr lang="en-US" smtClean="0"/>
              <a:t>6/26/2017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67881-F407-42D1-896E-DBCDBF10AC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3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2C3D7-1610-45B0-8C83-57ADD282B1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78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881A71-1E8A-43E8-B5C2-524F1D0E2AC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47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23A271A1-F6D6-438B-A432-4747EE7ECD40}" type="datetimeFigureOut">
              <a:rPr lang="en-US" smtClean="0"/>
              <a:pPr algn="ctr" eaLnBrk="1" latinLnBrk="0" hangingPunct="1"/>
              <a:t>6/26/2017</a:t>
            </a:fld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POnTheFly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graphicFrame>
        <p:nvGraphicFramePr>
          <p:cNvPr id="6" name="TPChart" hidden="1"/>
          <p:cNvGraphicFramePr/>
          <p:nvPr userDrawn="1">
            <p:extLst>
              <p:ext uri="{D42A27DB-BD31-4B8C-83A1-F6EECF244321}">
                <p14:modId xmlns:p14="http://schemas.microsoft.com/office/powerpoint/2010/main" val="1745580080"/>
              </p:ext>
            </p:extLst>
          </p:nvPr>
        </p:nvGraphicFramePr>
        <p:xfrm>
          <a:off x="6350000" y="1600200"/>
          <a:ext cx="25400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48909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784" y="152400"/>
            <a:ext cx="7290816" cy="762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Picture 2" descr="http://t3.gstatic.com/images?q=tbn:ANd9GcTYmiLh9B_aVjviHh1xZIewSwIAVBJM6GGUwjQGMknDgt1O3VWWMFpakkXX"/>
          <p:cNvPicPr>
            <a:picLocks noChangeAspect="1" noChangeArrowheads="1"/>
          </p:cNvPicPr>
          <p:nvPr userDrawn="1"/>
        </p:nvPicPr>
        <p:blipFill>
          <a:blip r:embed="rId2" cstate="print"/>
          <a:srcRect t="17160" b="8480"/>
          <a:stretch>
            <a:fillRect/>
          </a:stretch>
        </p:blipFill>
        <p:spPr bwMode="auto">
          <a:xfrm>
            <a:off x="173736" y="173736"/>
            <a:ext cx="1066800" cy="990600"/>
          </a:xfrm>
          <a:prstGeom prst="rect">
            <a:avLst/>
          </a:prstGeom>
          <a:noFill/>
        </p:spPr>
      </p:pic>
      <p:sp>
        <p:nvSpPr>
          <p:cNvPr id="9" name="Text Placeholder 12"/>
          <p:cNvSpPr>
            <a:spLocks noGrp="1"/>
          </p:cNvSpPr>
          <p:nvPr>
            <p:ph idx="1"/>
          </p:nvPr>
        </p:nvSpPr>
        <p:spPr>
          <a:xfrm>
            <a:off x="301752" y="1371600"/>
            <a:ext cx="85344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1800"/>
              </a:spcAft>
              <a:defRPr sz="2800"/>
            </a:lvl2pPr>
            <a:lvl3pPr>
              <a:spcBef>
                <a:spcPts val="0"/>
              </a:spcBef>
              <a:spcAft>
                <a:spcPts val="1800"/>
              </a:spcAft>
              <a:defRPr sz="2400"/>
            </a:lvl3pPr>
            <a:lvl4pPr>
              <a:spcBef>
                <a:spcPts val="0"/>
              </a:spcBef>
              <a:spcAft>
                <a:spcPts val="1800"/>
              </a:spcAft>
              <a:defRPr sz="2000"/>
            </a:lvl4pPr>
            <a:lvl5pPr>
              <a:spcBef>
                <a:spcPts val="0"/>
              </a:spcBef>
              <a:spcAft>
                <a:spcPts val="1800"/>
              </a:spcAft>
              <a:defRPr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10" name="Text Placeholder 12"/>
          <p:cNvSpPr>
            <a:spLocks noGrp="1"/>
          </p:cNvSpPr>
          <p:nvPr>
            <p:ph idx="13"/>
          </p:nvPr>
        </p:nvSpPr>
        <p:spPr>
          <a:xfrm>
            <a:off x="1143000" y="3886200"/>
            <a:ext cx="7568680" cy="216103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AutoNum type="alphaLcParenR"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idx="14"/>
          </p:nvPr>
        </p:nvSpPr>
        <p:spPr>
          <a:xfrm>
            <a:off x="5181600" y="4114800"/>
            <a:ext cx="3733800" cy="2057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1pPr>
            <a:lvl2pPr marL="274320" indent="0">
              <a:buNone/>
              <a:defRPr sz="2800">
                <a:solidFill>
                  <a:schemeClr val="accent1"/>
                </a:solidFill>
                <a:latin typeface="Segoe Print" pitchFamily="2" charset="0"/>
              </a:defRPr>
            </a:lvl2pPr>
            <a:lvl3pPr marL="594360" indent="0">
              <a:buNone/>
              <a:defRPr sz="2400">
                <a:solidFill>
                  <a:schemeClr val="accent1"/>
                </a:solidFill>
                <a:latin typeface="Segoe Print" pitchFamily="2" charset="0"/>
              </a:defRPr>
            </a:lvl3pPr>
            <a:lvl4pPr marL="868680" indent="0">
              <a:buNone/>
              <a:defRPr sz="2000">
                <a:solidFill>
                  <a:schemeClr val="accent1"/>
                </a:solidFill>
                <a:latin typeface="Segoe Print" pitchFamily="2" charset="0"/>
              </a:defRPr>
            </a:lvl4pPr>
            <a:lvl5pPr marL="1143000" indent="0">
              <a:buNone/>
              <a:defRPr>
                <a:solidFill>
                  <a:schemeClr val="accent1"/>
                </a:solidFill>
                <a:latin typeface="Segoe Print" pitchFamily="2" charset="0"/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594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6/26/2017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ck5stat.com/statkey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8.wmf"/><Relationship Id="rId2" Type="http://schemas.openxmlformats.org/officeDocument/2006/relationships/tags" Target="../tags/tag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9.png"/><Relationship Id="rId4" Type="http://schemas.openxmlformats.org/officeDocument/2006/relationships/hyperlink" Target="http://www.lock5stat.com/statkey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ck5stat.com/statkey/bootstrap_2_quant/bootstrap_2_quant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1.jpeg"/><Relationship Id="rId5" Type="http://schemas.openxmlformats.org/officeDocument/2006/relationships/image" Target="../media/image2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ock5stat.com/statkey" TargetMode="Externa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4" Type="http://schemas.openxmlformats.org/officeDocument/2006/relationships/notesSlide" Target="../notesSlides/notes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9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4.bin"/><Relationship Id="rId2" Type="http://schemas.openxmlformats.org/officeDocument/2006/relationships/tags" Target="../tags/tag2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6.wmf"/><Relationship Id="rId4" Type="http://schemas.openxmlformats.org/officeDocument/2006/relationships/image" Target="../media/image17.png"/><Relationship Id="rId9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/>
          <p:cNvSpPr txBox="1">
            <a:spLocks/>
          </p:cNvSpPr>
          <p:nvPr/>
        </p:nvSpPr>
        <p:spPr>
          <a:xfrm>
            <a:off x="2102427" y="1981200"/>
            <a:ext cx="7010400" cy="1905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spcBef>
                <a:spcPct val="20000"/>
              </a:spcBef>
              <a:defRPr/>
            </a:pPr>
            <a:r>
              <a:rPr lang="en-US" sz="3200" dirty="0">
                <a:solidFill>
                  <a:srgbClr val="EBDDC3"/>
                </a:solidFill>
              </a:rPr>
              <a:t>Section 3.4:</a:t>
            </a:r>
          </a:p>
          <a:p>
            <a:pPr>
              <a:spcBef>
                <a:spcPct val="20000"/>
              </a:spcBef>
              <a:defRPr/>
            </a:pPr>
            <a:r>
              <a:rPr lang="en-US" sz="4000" b="1" dirty="0">
                <a:solidFill>
                  <a:srgbClr val="EBDDC3"/>
                </a:solidFill>
              </a:rPr>
              <a:t>Bootstrap Confidence Intervals Using Percentiles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62086" y="4137434"/>
            <a:ext cx="65264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EBDDC3"/>
                </a:solidFill>
              </a:rPr>
              <a:t>To accompany</a:t>
            </a:r>
          </a:p>
          <a:p>
            <a:r>
              <a:rPr lang="en-US" sz="3200" b="1" i="1" u="sng" dirty="0">
                <a:solidFill>
                  <a:srgbClr val="EBDDC3"/>
                </a:solidFill>
              </a:rPr>
              <a:t>Statistics: Unlocking the Power of Data</a:t>
            </a:r>
            <a:r>
              <a:rPr lang="en-US" sz="3200" b="1" dirty="0">
                <a:solidFill>
                  <a:srgbClr val="EBDDC3"/>
                </a:solidFill>
              </a:rPr>
              <a:t> </a:t>
            </a:r>
          </a:p>
          <a:p>
            <a:r>
              <a:rPr lang="en-US" sz="2800" dirty="0">
                <a:solidFill>
                  <a:srgbClr val="EBDDC3"/>
                </a:solidFill>
              </a:rPr>
              <a:t>by Lock, Lock, Lock, Lock, and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62200" y="6159819"/>
            <a:ext cx="649085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968C8C">
                    <a:lumMod val="20000"/>
                    <a:lumOff val="80000"/>
                  </a:srgbClr>
                </a:solidFill>
              </a:rPr>
              <a:t>Video by: Professor Kathryn Dobeck</a:t>
            </a:r>
          </a:p>
        </p:txBody>
      </p:sp>
      <p:pic>
        <p:nvPicPr>
          <p:cNvPr id="5" name="Picture 4" descr="WILEY_LOGO_2012.eps"/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68" y="6291753"/>
            <a:ext cx="1143000" cy="2390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9048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1447800"/>
          </a:xfrm>
        </p:spPr>
        <p:txBody>
          <a:bodyPr>
            <a:normAutofit/>
          </a:bodyPr>
          <a:lstStyle/>
          <a:p>
            <a:r>
              <a:rPr lang="en-US" b="1" dirty="0"/>
              <a:t>A bootstrap distribution is shown below.  Each dot represents</a:t>
            </a:r>
          </a:p>
        </p:txBody>
      </p:sp>
      <p:sp>
        <p:nvSpPr>
          <p:cNvPr id="4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0" y="1676400"/>
            <a:ext cx="6024563" cy="304800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651510" indent="-514350">
              <a:buFont typeface="+mj-lt"/>
              <a:buAutoNum type="alphaUcPeriod"/>
            </a:pP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One data value</a:t>
            </a:r>
          </a:p>
          <a:p>
            <a:pPr marL="651510" indent="-514350">
              <a:buFont typeface="+mj-lt"/>
              <a:buAutoNum type="alphaUcPeriod"/>
            </a:pPr>
            <a:r>
              <a:rPr lang="en-US" sz="3600" dirty="0">
                <a:solidFill>
                  <a:schemeClr val="tx2"/>
                </a:solidFill>
              </a:rPr>
              <a:t> One bootstrap statistic</a:t>
            </a:r>
          </a:p>
          <a:p>
            <a:pPr marL="651510" indent="-514350">
              <a:buFont typeface="+mj-lt"/>
              <a:buAutoNum type="alphaUcPeriod"/>
            </a:pPr>
            <a:r>
              <a:rPr lang="en-US" sz="3600" dirty="0">
                <a:solidFill>
                  <a:schemeClr val="tx2"/>
                </a:solidFill>
              </a:rPr>
              <a:t> n data values</a:t>
            </a:r>
          </a:p>
          <a:p>
            <a:pPr marL="651510" indent="-514350">
              <a:buFont typeface="+mj-lt"/>
              <a:buAutoNum type="alphaUcPeriod"/>
            </a:pPr>
            <a:r>
              <a:rPr lang="en-US" sz="3600" dirty="0">
                <a:solidFill>
                  <a:schemeClr val="tx2"/>
                </a:solidFill>
              </a:rPr>
              <a:t> 1000 bootstrap statistics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" t="4192" r="2289" b="5626"/>
          <a:stretch/>
        </p:blipFill>
        <p:spPr bwMode="auto">
          <a:xfrm>
            <a:off x="0" y="4645802"/>
            <a:ext cx="5010411" cy="2192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932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096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Body Temperature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-19455" y="838200"/>
            <a:ext cx="8839200" cy="49840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What is the average body temperature of humans?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2800" dirty="0">
              <a:solidFill>
                <a:schemeClr val="tx2"/>
              </a:solidFill>
            </a:endParaRP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2800" i="1" dirty="0">
              <a:solidFill>
                <a:schemeClr val="tx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75209" y="1242505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www.lock5stat.com/statkey</a:t>
            </a:r>
            <a:r>
              <a:rPr lang="en-US" sz="2400" dirty="0"/>
              <a:t> </a:t>
            </a:r>
          </a:p>
        </p:txBody>
      </p:sp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68" y="1704170"/>
            <a:ext cx="6822332" cy="4589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-45018" y="6150114"/>
            <a:ext cx="66588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Shoemaker, What's Normal: Temperature, Gender and </a:t>
            </a:r>
            <a:r>
              <a:rPr lang="en-US" sz="2000" dirty="0" err="1"/>
              <a:t>Heartrate</a:t>
            </a:r>
            <a:r>
              <a:rPr lang="en-US" sz="2000" dirty="0"/>
              <a:t>, Journal of Statistics Education, Vol. 4, No. 2 (1996)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261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838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Other Levels of Confidence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0" y="1676400"/>
            <a:ext cx="914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What if we want to be more than 95% confident?</a:t>
            </a:r>
          </a:p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How might you produce a 99% confidence interval for the average body temperature?</a:t>
            </a:r>
          </a:p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Picture 2" descr="http://www.isaac-online.org/cgi-bin/symbol.cgi/committeediscus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26943"/>
            <a:ext cx="1047750" cy="571501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092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3810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Percentile Method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0" y="1595336"/>
            <a:ext cx="91440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180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For a </a:t>
            </a:r>
            <a:r>
              <a:rPr lang="en-US" sz="3200" b="1" i="1" dirty="0">
                <a:solidFill>
                  <a:schemeClr val="accent5">
                    <a:lumMod val="50000"/>
                  </a:schemeClr>
                </a:solidFill>
              </a:rPr>
              <a:t>P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% confidence interval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, keep the middle </a:t>
            </a:r>
            <a:r>
              <a:rPr lang="en-US" sz="3200" i="1" dirty="0">
                <a:solidFill>
                  <a:schemeClr val="accent6">
                    <a:lumMod val="50000"/>
                  </a:schemeClr>
                </a:solidFill>
              </a:rPr>
              <a:t>P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%  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1800"/>
              </a:spcAft>
              <a:buClr>
                <a:schemeClr val="accent1"/>
              </a:buClr>
              <a:buSzTx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of bootstrap statistics</a:t>
            </a:r>
          </a:p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180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For a 99% confidence interval, keep the middle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Aft>
                <a:spcPts val="1800"/>
              </a:spcAft>
              <a:buClr>
                <a:schemeClr val="accent1"/>
              </a:buClr>
              <a:buSzTx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99%, leaving 0.5% in each tail.  </a:t>
            </a:r>
          </a:p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1800"/>
              </a:spcAft>
              <a:buClr>
                <a:schemeClr val="accent1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The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99% confidence interval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would be: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1800"/>
              </a:spcAft>
              <a:buClr>
                <a:schemeClr val="accent1"/>
              </a:buClr>
              <a:buSzTx/>
              <a:tabLst/>
              <a:defRPr/>
            </a:pP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(0.5</a:t>
            </a:r>
            <a:r>
              <a:rPr lang="en-US" sz="3200" b="1" baseline="30000" dirty="0">
                <a:solidFill>
                  <a:schemeClr val="accent5">
                    <a:lumMod val="50000"/>
                  </a:schemeClr>
                </a:solidFill>
              </a:rPr>
              <a:t>th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 percentile, 99.5</a:t>
            </a:r>
            <a:r>
              <a:rPr lang="en-US" sz="3200" b="1" baseline="30000" dirty="0">
                <a:solidFill>
                  <a:schemeClr val="accent5">
                    <a:lumMod val="50000"/>
                  </a:schemeClr>
                </a:solidFill>
              </a:rPr>
              <a:t>th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 percentile)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Aft>
                <a:spcPts val="1800"/>
              </a:spcAft>
              <a:buClr>
                <a:schemeClr val="accent1"/>
              </a:buClr>
              <a:buSzTx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where the percentiles refer to the bootstrap distribution.</a:t>
            </a:r>
          </a:p>
          <a:p>
            <a:pPr marL="114300" marR="0" lvl="0" indent="-4572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2800" i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40035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743200" y="686198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4"/>
              </a:rPr>
              <a:t>www.lock5stat.com/statkey</a:t>
            </a:r>
            <a:r>
              <a:rPr lang="en-US" sz="240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381000" y="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Body Temperature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5450" y="1166419"/>
            <a:ext cx="6865538" cy="4737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val 8"/>
          <p:cNvSpPr/>
          <p:nvPr/>
        </p:nvSpPr>
        <p:spPr>
          <a:xfrm>
            <a:off x="4953810" y="5603132"/>
            <a:ext cx="5334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524000" y="5581259"/>
            <a:ext cx="5334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4571484"/>
              </p:ext>
            </p:extLst>
          </p:nvPr>
        </p:nvGraphicFramePr>
        <p:xfrm>
          <a:off x="1257300" y="2743200"/>
          <a:ext cx="4434950" cy="791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Equation" r:id="rId6" imgW="2133360" imgH="380880" progId="Equation.DSMT4">
                  <p:embed/>
                </p:oleObj>
              </mc:Choice>
              <mc:Fallback>
                <p:oleObj name="Equation" r:id="rId6" imgW="21333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2743200"/>
                        <a:ext cx="4434950" cy="79195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791167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Question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3810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lvl="0" indent="-342900">
              <a:defRPr/>
            </a:pPr>
            <a:r>
              <a:rPr lang="en-US" sz="4400" dirty="0">
                <a:solidFill>
                  <a:schemeClr val="accent6">
                    <a:lumMod val="50000"/>
                  </a:schemeClr>
                </a:solidFill>
              </a:rPr>
              <a:t>Which is wider, a 90% confidence interval or a 95% confidence interval?</a:t>
            </a:r>
          </a:p>
        </p:txBody>
      </p:sp>
      <p:sp>
        <p:nvSpPr>
          <p:cNvPr id="2" name="TPAnswers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-29183" y="1868999"/>
            <a:ext cx="8153400" cy="4495800"/>
          </a:xfrm>
        </p:spPr>
        <p:txBody>
          <a:bodyPr>
            <a:noAutofit/>
          </a:bodyPr>
          <a:lstStyle/>
          <a:p>
            <a:pPr marL="171450" lvl="0" indent="-514350">
              <a:spcBef>
                <a:spcPct val="20000"/>
              </a:spcBef>
              <a:buClrTx/>
              <a:buSzTx/>
              <a:buFont typeface="+mj-lt"/>
              <a:buAutoNum type="arabicPeriod"/>
              <a:defRPr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90% CI</a:t>
            </a:r>
          </a:p>
          <a:p>
            <a:pPr marL="171450" lvl="0" indent="-514350">
              <a:spcBef>
                <a:spcPct val="20000"/>
              </a:spcBef>
              <a:buClrTx/>
              <a:buSzTx/>
              <a:buFont typeface="+mj-lt"/>
              <a:buAutoNum type="arabicPeriod"/>
              <a:defRPr/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95% CI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2689615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78925" cy="1828800"/>
          </a:xfrm>
        </p:spPr>
        <p:txBody>
          <a:bodyPr>
            <a:normAutofit fontScale="90000"/>
          </a:bodyPr>
          <a:lstStyle/>
          <a:p>
            <a:pPr marL="114300" lvl="0" indent="-457200">
              <a:spcAft>
                <a:spcPts val="1800"/>
              </a:spcAft>
              <a:defRPr/>
            </a:pPr>
            <a:r>
              <a:rPr lang="en-US" b="1" dirty="0"/>
              <a:t>Identify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92%</a:t>
            </a:r>
            <a:r>
              <a:rPr lang="en-US" b="1" dirty="0"/>
              <a:t> confidence interval in terms of the percentiles of the bootstrap distribution.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-12357" y="2057400"/>
            <a:ext cx="6477000" cy="3810000"/>
          </a:xfrm>
        </p:spPr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(8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92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nd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</a:p>
          <a:p>
            <a:pPr marL="514350" lvl="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(4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92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nd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(8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96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</a:p>
          <a:p>
            <a:pPr marL="514350" lvl="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(4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96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3425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78925" cy="1828800"/>
          </a:xfrm>
        </p:spPr>
        <p:txBody>
          <a:bodyPr>
            <a:normAutofit fontScale="90000"/>
          </a:bodyPr>
          <a:lstStyle/>
          <a:p>
            <a:pPr marL="114300" lvl="0" indent="-457200">
              <a:spcAft>
                <a:spcPts val="1800"/>
              </a:spcAft>
              <a:defRPr/>
            </a:pPr>
            <a:r>
              <a:rPr lang="en-US" b="1" dirty="0"/>
              <a:t>Identify the 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88%</a:t>
            </a:r>
            <a:r>
              <a:rPr lang="en-US" b="1" dirty="0"/>
              <a:t> confidence interval in terms of the percentiles of the bootstrap distribution.</a:t>
            </a:r>
          </a:p>
        </p:txBody>
      </p:sp>
      <p:sp>
        <p:nvSpPr>
          <p:cNvPr id="3" name="TPAnswers"/>
          <p:cNvSpPr>
            <a:spLocks noGrp="1"/>
          </p:cNvSpPr>
          <p:nvPr>
            <p:ph sz="quarter" idx="4294967295"/>
            <p:custDataLst>
              <p:tags r:id="rId2"/>
            </p:custDataLst>
          </p:nvPr>
        </p:nvSpPr>
        <p:spPr>
          <a:xfrm>
            <a:off x="-12357" y="2057400"/>
            <a:ext cx="6477000" cy="3810000"/>
          </a:xfrm>
        </p:spPr>
        <p:txBody>
          <a:bodyPr/>
          <a:lstStyle/>
          <a:p>
            <a:pPr marL="514350" lvl="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(6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88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</a:p>
          <a:p>
            <a:pPr marL="514350" lvl="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(12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88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</a:p>
          <a:p>
            <a:pPr marL="51435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(6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94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</a:p>
          <a:p>
            <a:pPr marL="514350" lvl="0" indent="-514350">
              <a:buFont typeface="+mj-lt"/>
              <a:buAutoNum type="alphaUcPeriod"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(12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percentile, 94</a:t>
            </a:r>
            <a:r>
              <a:rPr lang="en-US" sz="3200" baseline="30000" dirty="0">
                <a:solidFill>
                  <a:schemeClr val="accent6">
                    <a:lumMod val="50000"/>
                  </a:schemeClr>
                </a:solidFill>
              </a:rPr>
              <a:t>th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percentile)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4009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0" y="76200"/>
            <a:ext cx="91440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Mercury and pH in Lakes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06" y="6383737"/>
            <a:ext cx="91358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Lange, Royals, and Connor, Transactions of the American Fisheries Society(1993)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5940" y="1524000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1"/>
              </a:buClr>
              <a:buFont typeface="Arial" pitchFamily="34" charset="0"/>
              <a:buChar char="•"/>
            </a:pPr>
            <a:r>
              <a:rPr lang="en-US" sz="3200" dirty="0"/>
              <a:t>For Florida lakes, what is the correlation between average mercury level (ppm) in fish taken from a lake and acidity (pH) of the lake?  </a:t>
            </a:r>
            <a:r>
              <a:rPr lang="en-US" sz="3200" dirty="0">
                <a:hlinkClick r:id="rId3"/>
              </a:rPr>
              <a:t>StatKey</a:t>
            </a:r>
            <a:endParaRPr lang="en-US" sz="32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303352"/>
            <a:ext cx="4800600" cy="3080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781800" y="3523056"/>
                <a:ext cx="233891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𝑟</m:t>
                      </m:r>
                      <m:r>
                        <a:rPr lang="en-US" sz="3200" b="0" i="1" smtClean="0">
                          <a:latin typeface="Cambria Math"/>
                        </a:rPr>
                        <m:t>=−0.575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3523056"/>
                <a:ext cx="2338910" cy="5847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 descr="http://www.school-clipart.com/school_clipart_images/pencil_touching_lead_to_paper_0515-1007-2718-0955_SMU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"/>
            <a:ext cx="838200" cy="81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6781800" y="4267200"/>
            <a:ext cx="1916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Symbol"/>
              </a:rPr>
              <a:t>Give a 90% CI for </a:t>
            </a:r>
            <a:r>
              <a:rPr lang="en-US" sz="3200" i="1" dirty="0">
                <a:sym typeface="Symbol"/>
              </a:rPr>
              <a:t></a:t>
            </a:r>
            <a:endParaRPr lang="en-US" sz="3200" i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88951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438400" y="1676400"/>
            <a:ext cx="403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www.lock5stat.com/statkey</a:t>
            </a:r>
            <a:r>
              <a:rPr lang="en-US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0" y="0"/>
            <a:ext cx="91440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Mercury and pH in Lakes</a:t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0" y="671209"/>
            <a:ext cx="6934200" cy="483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1967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PQuestion"/>
          <p:cNvSpPr>
            <a:spLocks noGrp="1"/>
          </p:cNvSpPr>
          <p:nvPr>
            <p:ph type="title" idx="4294967295"/>
          </p:nvPr>
        </p:nvSpPr>
        <p:spPr>
          <a:xfrm>
            <a:off x="0" y="152400"/>
            <a:ext cx="9144000" cy="12954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larger the sample size the ___________ the confidence interval.</a:t>
            </a:r>
          </a:p>
        </p:txBody>
      </p:sp>
      <p:sp>
        <p:nvSpPr>
          <p:cNvPr id="3" name="TPAnswers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76200" y="1905000"/>
            <a:ext cx="4267200" cy="220980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lphaUcPeriod"/>
            </a:pPr>
            <a:r>
              <a:rPr lang="en-US" sz="3600" dirty="0">
                <a:solidFill>
                  <a:schemeClr val="tx2"/>
                </a:solidFill>
              </a:rPr>
              <a:t>wider</a:t>
            </a:r>
          </a:p>
          <a:p>
            <a:pPr marL="742950" indent="-742950">
              <a:buFont typeface="+mj-lt"/>
              <a:buAutoNum type="alphaUcPeriod"/>
            </a:pPr>
            <a:r>
              <a:rPr lang="en-US" sz="3600" dirty="0">
                <a:solidFill>
                  <a:schemeClr val="tx2"/>
                </a:solidFill>
              </a:rPr>
              <a:t>narrower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8583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Bootstrap CI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0" y="1600200"/>
            <a:ext cx="91440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342900">
              <a:defRPr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Option 1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: Estimate the standard error of the statistic by computing the standard deviation of the bootstrap distribution, and then generate a 95% confidence interval by</a:t>
            </a:r>
          </a:p>
          <a:p>
            <a:pPr indent="-342900"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indent="-342900"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indent="-342900"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indent="-342900">
              <a:defRPr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Option 2: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Generate a </a:t>
            </a:r>
            <a:r>
              <a:rPr lang="en-US" sz="3200" b="1" i="1" dirty="0">
                <a:solidFill>
                  <a:schemeClr val="accent6">
                    <a:lumMod val="50000"/>
                  </a:schemeClr>
                </a:solidFill>
              </a:rPr>
              <a:t>P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% confidence interval as the range for the middle </a:t>
            </a:r>
            <a:r>
              <a:rPr lang="en-US" sz="3200" b="1" i="1" dirty="0">
                <a:solidFill>
                  <a:schemeClr val="accent6">
                    <a:lumMod val="50000"/>
                  </a:schemeClr>
                </a:solidFill>
              </a:rPr>
              <a:t>P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% of bootstrap statistics </a:t>
            </a:r>
          </a:p>
        </p:txBody>
      </p:sp>
      <p:graphicFrame>
        <p:nvGraphicFramePr>
          <p:cNvPr id="829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678412"/>
              </p:ext>
            </p:extLst>
          </p:nvPr>
        </p:nvGraphicFramePr>
        <p:xfrm>
          <a:off x="1981200" y="3048001"/>
          <a:ext cx="3505200" cy="61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4" imgW="1041120" imgH="177480" progId="Equation.DSMT4">
                  <p:embed/>
                </p:oleObj>
              </mc:Choice>
              <mc:Fallback>
                <p:oleObj name="Equation" r:id="rId4" imgW="10411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048001"/>
                        <a:ext cx="3505200" cy="6134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314930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3810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Two Methods for 95%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5800" y="990600"/>
            <a:ext cx="7781925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5848350" y="29051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2"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8350" y="2905125"/>
                        <a:ext cx="114300" cy="17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8947254"/>
              </p:ext>
            </p:extLst>
          </p:nvPr>
        </p:nvGraphicFramePr>
        <p:xfrm>
          <a:off x="13583" y="5557736"/>
          <a:ext cx="5168376" cy="1147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3" name="Equation" r:id="rId7" imgW="2057400" imgH="457200" progId="Equation.DSMT4">
                  <p:embed/>
                </p:oleObj>
              </mc:Choice>
              <mc:Fallback>
                <p:oleObj name="Equation" r:id="rId7" imgW="2057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83" y="5557736"/>
                        <a:ext cx="5168376" cy="114786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994809"/>
              </p:ext>
            </p:extLst>
          </p:nvPr>
        </p:nvGraphicFramePr>
        <p:xfrm>
          <a:off x="5334000" y="5562600"/>
          <a:ext cx="3133725" cy="1094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4" name="Equation" r:id="rId9" imgW="1307880" imgH="457200" progId="Equation.DSMT4">
                  <p:embed/>
                </p:oleObj>
              </mc:Choice>
              <mc:Fallback>
                <p:oleObj name="Equation" r:id="rId9" imgW="13078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562600"/>
                        <a:ext cx="3133725" cy="109475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2528532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3810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Two Methods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0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For a symmetric, bell-shaped bootstrap distribution, using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either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the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standard error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method or the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percentile method </a:t>
            </a: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will give similar 95% confidence intervals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 If the bootstrap distribution is not bell-shaped or if a level of confidence other than 95% is desired, use the </a:t>
            </a:r>
            <a:r>
              <a:rPr lang="en-US" sz="3200" b="1" dirty="0">
                <a:solidFill>
                  <a:schemeClr val="accent5">
                    <a:lumMod val="50000"/>
                  </a:schemeClr>
                </a:solidFill>
              </a:rPr>
              <a:t>percentile method 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2800" i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77711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381000" y="-1"/>
            <a:ext cx="8763000" cy="1298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Bootstrap Cautions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0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These methods for creating a confidence interval only work if the bootstrap distribution is smooth and symmetric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ALWAYS look at a plot of the bootstrap distribution!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If the bootstrap distribution is highly skewed or looks “spiky” with gaps, you will need to go beyond intro stat to create a confidence interval </a:t>
            </a: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Char char="•"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 marR="0" lvl="0" indent="-342900" algn="ctr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endParaRPr lang="en-US" sz="3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Picture 4" descr="http://eecoy.com/sites/default/files/cautionary_warning_--_caution_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83" y="115955"/>
            <a:ext cx="1216072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55780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Criteria for Bootstrap CI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914400"/>
            <a:ext cx="8313737" cy="558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Connector 6"/>
          <p:cNvCxnSpPr/>
          <p:nvPr/>
        </p:nvCxnSpPr>
        <p:spPr>
          <a:xfrm flipV="1">
            <a:off x="381000" y="1371600"/>
            <a:ext cx="7467600" cy="5029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 flipV="1">
            <a:off x="762000" y="914400"/>
            <a:ext cx="7620000" cy="54102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59201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/>
              <a:t> 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457200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400" b="1" dirty="0">
                <a:solidFill>
                  <a:schemeClr val="tx2"/>
                </a:solidFill>
              </a:rPr>
              <a:t>Number of Bootstrap Samples</a:t>
            </a:r>
          </a:p>
        </p:txBody>
      </p:sp>
      <p:sp>
        <p:nvSpPr>
          <p:cNvPr id="11" name="Content Placeholder 1"/>
          <p:cNvSpPr txBox="1">
            <a:spLocks/>
          </p:cNvSpPr>
          <p:nvPr/>
        </p:nvSpPr>
        <p:spPr>
          <a:xfrm>
            <a:off x="0" y="1524000"/>
            <a:ext cx="91440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342900">
              <a:spcAft>
                <a:spcPts val="1800"/>
              </a:spcAft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When using bootstrapping, you may get a slightly different confidence interval each time.  This is fine!  </a:t>
            </a:r>
          </a:p>
          <a:p>
            <a:pPr indent="-342900">
              <a:spcAft>
                <a:spcPts val="1800"/>
              </a:spcAft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The more bootstrap samples you use, the more precise your answer will be.   </a:t>
            </a:r>
          </a:p>
          <a:p>
            <a:pPr indent="-342900">
              <a:spcAft>
                <a:spcPts val="1800"/>
              </a:spcAft>
              <a:buClr>
                <a:schemeClr val="accent1"/>
              </a:buClr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For the purposes of this class, 1000 bootstrap samples is fine.  In real life, you probably want to take 10,000 or even 100,000 bootstrap samples</a:t>
            </a:r>
          </a:p>
          <a:p>
            <a:pPr indent="-342900" algn="ctr">
              <a:defRPr/>
            </a:pPr>
            <a:endParaRPr lang="en-US" sz="3200" i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588960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95400"/>
          </a:xfrm>
        </p:spPr>
        <p:txBody>
          <a:bodyPr anchor="ctr"/>
          <a:lstStyle/>
          <a:p>
            <a:r>
              <a:rPr lang="en-US" b="1" dirty="0"/>
              <a:t>Summary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0594" y="1524000"/>
            <a:ext cx="9123405" cy="53340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95% confidence intervals can be created using the standard error or the percentiles of a bootstrap distribution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For any other desired level of confidence, the percentile method may be used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A confidence interval from bootstrap percentiles can be created for any parameter, as long as the bootstrap distribution is approximately smooth and symmetric</a:t>
            </a:r>
          </a:p>
          <a:p>
            <a:pPr>
              <a:spcBef>
                <a:spcPts val="0"/>
              </a:spcBef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None/>
            </a:pPr>
            <a:endParaRPr lang="en-US" sz="3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326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00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0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ASKPANEKEY" val="89f19f08-3e8e-4221-8677-dd5b1580215f"/>
  <p:tag name="EXPANDSHOWBAR" val="True"/>
  <p:tag name="TPPRESENTATIONGUID" val="674b45b6-917e-4762-8419-462c1b6054c2"/>
  <p:tag name="WASPOLLED" val="464BB75F2BFD4538A7DF1911ED337AA1"/>
  <p:tag name="TPVERSION" val="6"/>
  <p:tag name="TPFULLVERSION" val="7.4.0.111"/>
  <p:tag name="PPTVERSION" val="14"/>
  <p:tag name="TPOS" val="2"/>
  <p:tag name="TPLASTSAVEVERSION" val="6.2 P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65D60712D4E49B680EC32A3445886D4&lt;/guid&gt;&#10;        &lt;description /&gt;&#10;        &lt;date&gt;6/24/2017 3:22:13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9EEDF658025B4999A190CC2A5091AB3E&lt;/guid&gt;&#10;            &lt;repollguid&gt;29D9CFE737C243E59F8ACDFCFDF6EB47&lt;/repollguid&gt;&#10;            &lt;sourceid&gt;470210A7224B4255AAF4E4E971E02165&lt;/sourceid&gt;&#10;            &lt;questiontext&gt;A bootstrap distribution is shown below.  Each dot represents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F5B82751E078431B8C8A5FD0759CE19E&lt;/guid&gt;&#10;                    &lt;answertext&gt; One data value&lt;/answertext&gt;&#10;                    &lt;valuetype&gt;0&lt;/valuetype&gt;&#10;                &lt;/answer&gt;&#10;                &lt;answer&gt;&#10;                    &lt;guid&gt;55CED0A4139A4C3783043C6A380879FC&lt;/guid&gt;&#10;                    &lt;answertext&gt; One bootstrap statistic&lt;/answertext&gt;&#10;                    &lt;valuetype&gt;0&lt;/valuetype&gt;&#10;                &lt;/answer&gt;&#10;                &lt;answer&gt;&#10;                    &lt;guid&gt;0CEF43209B6E4237BC0D8D74BAB3EF43&lt;/guid&gt;&#10;                    &lt;answertext&gt; n data values&lt;/answertext&gt;&#10;                    &lt;valuetype&gt;0&lt;/valuetype&gt;&#10;                &lt;/answer&gt;&#10;                &lt;answer&gt;&#10;                    &lt;guid&gt;744D8895FC914B8A9CE202583C82F2E1&lt;/guid&gt;&#10;                    &lt;answertext&gt; 1000 bootstrap statistics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LIVECHARTING" val="False"/>
  <p:tag name="AUTOOPENPOLL" val="True"/>
  <p:tag name="AUTOFORMATCHART" val="True"/>
  <p:tag name="HASRESULTS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  <p:tag name="SLIDEGUID" val="48FEA459501F46EAB459FEB84ABA9A5C"/>
  <p:tag name="SLIDEID" val="48FEA459501F46EAB459FEB84ABA9A5C"/>
  <p:tag name="SLIDEORDER" val="1"/>
  <p:tag name="SLIDETYPE" val="Q"/>
  <p:tag name="DEMOGRAPHIC" val="False"/>
  <p:tag name="SPEEDSCORING" val="False"/>
  <p:tag name="CORRECTPOINTVALUE" val="100"/>
  <p:tag name="INCORRECTPOINTVALUE" val="0"/>
  <p:tag name="ZEROBASED" val="False"/>
  <p:tag name="QUESTIONALIAS" val=" "/>
  <p:tag name="VALUEFORMAT" val="0%"/>
  <p:tag name="ANSWERSALIAS" val="90% CI|smicln|95% CI"/>
  <p:tag name="TOTALRESPONSES" val="0"/>
  <p:tag name="VALUES" val="No Value|smicln|No Value"/>
  <p:tag name="RESPONSESGATHERED" val="False"/>
  <p:tag name="ANONYMOUSTEMP" val="False"/>
  <p:tag name="TYPE" val="MultiChoiceSlide"/>
  <p:tag name="TPQUESTIONXML" val="﻿&lt;?xml version=&quot;1.0&quot; encoding=&quot;utf-8&quot;?&gt;&#10;&lt;questionlist&gt;&#10;    &lt;properties&gt;&#10;        &lt;guid&gt;1553B152208A4E258455CE940B207BF5&lt;/guid&gt;&#10;        &lt;description /&gt;&#10;        &lt;date&gt;6/24/2017 3:13:55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BC3B08162712486B807CD908DC65656D&lt;/guid&gt;&#10;            &lt;repollguid&gt;548E4CA17ABF4CCA95A7D4CB6BDD0575&lt;/repollguid&gt;&#10;            &lt;sourceid&gt;245C62CC479344D3878CB25ADE9095AA&lt;/sourceid&gt;&#10;            &lt;questiontext&gt; &lt;/questiontext&gt;&#10;            &lt;showresults&gt;True&lt;/showresults&gt;&#10;            &lt;responsegrid&gt;0&lt;/responsegrid&gt;&#10;            &lt;countdowntimer&gt;False&lt;/countdowntimer&gt;&#10;            &lt;correctvalue&gt;100&lt;/correctvalue&gt;&#10;            &lt;incorrectvalue&gt;0&lt;/incorrectvalue&gt;&#10;            &lt;responselimit&gt;1&lt;/responselimit&gt;&#10;            &lt;bulletstyle&gt;0&lt;/bulletstyle&gt;&#10;            &lt;answers&gt;&#10;                &lt;answer&gt;&#10;                    &lt;guid&gt;BE5A253007FA4635BBAE0988B3331128&lt;/guid&gt;&#10;                    &lt;answertext&gt;90% CI &lt;/answertext&gt;&#10;                    &lt;valuetype&gt;0&lt;/valuetype&gt;&#10;                &lt;/answer&gt;&#10;                &lt;answer&gt;&#10;                    &lt;guid&gt;D50384A86ACA41A5967E959C79BC6832&lt;/guid&gt;&#10;                    &lt;answertext&gt;95% CI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OLDNUMANSWERS" val="2"/>
  <p:tag name="TEXTLENGTH" val="13"/>
  <p:tag name="FONTSIZE" val="28"/>
  <p:tag name="BULLETTYPE" val="ppBulletArabicPeriod"/>
  <p:tag name="ANSWERTEXT" val="90% CI&#10;95% C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FF7D31A833C4BACBE794478CFF11CCA&lt;/guid&gt;&#10;        &lt;description /&gt;&#10;        &lt;date&gt;6/24/2017 4:05:0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57B8DDDA4BE44D538B19C025258A6E22&lt;/guid&gt;&#10;            &lt;repollguid&gt;D6793E06B00140BABD0E4DA8176498EE&lt;/repollguid&gt;&#10;            &lt;sourceid&gt;CD13E24885F440378B9BA1D11045CC9F&lt;/sourceid&gt;&#10;            &lt;questiontext&gt;Identify the 92% confidence interval in terms of the percentiles of the bootstrap distribution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85F30898926145E291F085190FE438CF&lt;/guid&gt;&#10;                    &lt;answertext&gt;(8th percentile, 92nd percentile)&lt;/answertext&gt;&#10;                    &lt;valuetype&gt;0&lt;/valuetype&gt;&#10;                &lt;/answer&gt;&#10;                &lt;answer&gt;&#10;                    &lt;guid&gt;8AF78613154E4B39B72E7C5B9D88B9FE&lt;/guid&gt;&#10;                    &lt;answertext&gt;(4th percentile, 92nd percentile)&lt;/answertext&gt;&#10;                    &lt;valuetype&gt;0&lt;/valuetype&gt;&#10;                &lt;/answer&gt;&#10;                &lt;answer&gt;&#10;                    &lt;guid&gt;8BB734B91F9B45EEA07BD8F739FE3F8D&lt;/guid&gt;&#10;                    &lt;answertext&gt;(8th percentile, 96th percentile)&lt;/answertext&gt;&#10;                    &lt;valuetype&gt;0&lt;/valuetype&gt;&#10;                &lt;/answer&gt;&#10;                &lt;answer&gt;&#10;                    &lt;guid&gt;58C4AA1492F14A6C88844888245969D4&lt;/guid&gt;&#10;                    &lt;answertext&gt;(4th percentile, 96th percentile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2FF7D31A833C4BACBE794478CFF11CCA&lt;/guid&gt;&#10;        &lt;description /&gt;&#10;        &lt;date&gt;6/24/2017 4:05:08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F029D66D0A0642FB931BE74373A0968C&lt;/guid&gt;&#10;            &lt;repollguid&gt;D6793E06B00140BABD0E4DA8176498EE&lt;/repollguid&gt;&#10;            &lt;sourceid&gt;CD13E24885F440378B9BA1D11045CC9F&lt;/sourceid&gt;&#10;            &lt;questiontext&gt;Identify the 88% confidence interval in terms of the percentiles of the bootstrap distribution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85F30898926145E291F085190FE438CF&lt;/guid&gt;&#10;                    &lt;answertext&gt;(6th percentile, 88th percentile)&lt;/answertext&gt;&#10;                    &lt;valuetype&gt;0&lt;/valuetype&gt;&#10;                &lt;/answer&gt;&#10;                &lt;answer&gt;&#10;                    &lt;guid&gt;8AF78613154E4B39B72E7C5B9D88B9FE&lt;/guid&gt;&#10;                    &lt;answertext&gt;(12th percentile, 88th percentile)&lt;/answertext&gt;&#10;                    &lt;valuetype&gt;0&lt;/valuetype&gt;&#10;                &lt;/answer&gt;&#10;                &lt;answer&gt;&#10;                    &lt;guid&gt;8BB734B91F9B45EEA07BD8F739FE3F8D&lt;/guid&gt;&#10;                    &lt;answertext&gt;(6th percentile, 94th percentile)&lt;/answertext&gt;&#10;                    &lt;valuetype&gt;0&lt;/valuetype&gt;&#10;                &lt;/answer&gt;&#10;                &lt;answer&gt;&#10;                    &lt;guid&gt;58C4AA1492F14A6C88844888245969D4&lt;/guid&gt;&#10;                    &lt;answertext&gt;(12th percentile, 94th percentile)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MultiChoiceSlide"/>
  <p:tag name="TPQUESTIONXML" val="﻿&lt;?xml version=&quot;1.0&quot; encoding=&quot;utf-8&quot;?&gt;&#10;&lt;questionlist&gt;&#10;    &lt;properties&gt;&#10;        &lt;guid&gt;F80A7DEB41E04A49ACB4AE5012C254F8&lt;/guid&gt;&#10;        &lt;description /&gt;&#10;        &lt;date&gt;6/24/2017 3:30:39 PM&lt;/date&gt;&#10;    &lt;/properties&gt;&#10;    &lt;questionlisttemplate&gt;&#10;        &lt;correctvalue&gt;1&lt;/correctvalue&gt;&#10;        &lt;incorrectvalue&gt;0&lt;/incorrectvalue&gt;&#10;        &lt;questiontype&gt;1&lt;/questiontype&gt;&#10;        &lt;numberofchoices&gt;4&lt;/numberofchoices&gt;&#10;        &lt;bulletstyle&gt;2&lt;/bulletstyle&gt;&#10;        &lt;questionfont&gt;Verdana&lt;/questionfont&gt;&#10;        &lt;questionfontsize&gt;12&lt;/questionfontsize&gt;&#10;        &lt;answerfont&gt;Verdana&lt;/answerfont&gt;&#10;        &lt;answerfontsize&gt;12&lt;/answerfontsize&gt;&#10;        &lt;showresults&gt;True&lt;/showresults&gt;&#10;        &lt;countdowntime&gt;30&lt;/countdowntime&gt;&#10;        &lt;responsegrid&gt;0&lt;/responsegrid&gt;&#10;    &lt;/questionlisttemplate&gt;&#10;    &lt;questions&gt;&#10;        &lt;multichoice&gt;&#10;            &lt;guid&gt;FB26E98D22AC4F7EB8AD53F644C78F38&lt;/guid&gt;&#10;            &lt;repollguid&gt;A5F33BBE8ED34B8EA3B6FAD90BB1ECC1&lt;/repollguid&gt;&#10;            &lt;sourceid&gt;0A159D9595544ECAA71394A16398914A&lt;/sourceid&gt;&#10;            &lt;questiontext&gt;The larger the sample size the ___________ the confidence interval.&lt;/questiontext&gt;&#10;            &lt;showresults&gt;True&lt;/showresults&gt;&#10;            &lt;responsegrid&gt;0&lt;/responsegrid&gt;&#10;            &lt;countdowntimer&gt;False&lt;/countdowntimer&gt;&#10;            &lt;countdowntime&gt;30&lt;/countdowntime&gt;&#10;            &lt;correctvalue&gt;1&lt;/correctvalue&gt;&#10;            &lt;incorrectvalue&gt;0&lt;/incorrectvalue&gt;&#10;            &lt;responselimit&gt;1&lt;/responselimit&gt;&#10;            &lt;bulletstyle&gt;2&lt;/bulletstyle&gt;&#10;            &lt;answers&gt;&#10;                &lt;answer&gt;&#10;                    &lt;guid&gt;C5465AFAA3D449D291F7E11F16C66B4B&lt;/guid&gt;&#10;                    &lt;answertext&gt;wider&lt;/answertext&gt;&#10;                    &lt;valuetype&gt;0&lt;/valuetype&gt;&#10;                &lt;/answer&gt;&#10;                &lt;answer&gt;&#10;                    &lt;guid&gt;43D826E0682A4AEEAF3CE96972EDFE0C&lt;/guid&gt;&#10;                    &lt;answertext&gt;narrower&lt;/answertext&gt;&#10;                    &lt;valuetype&gt;0&lt;/valuetype&gt;&#10;                &lt;/answer&gt;&#10;            &lt;/answers&gt;&#10;            &lt;metadata&gt;&#10;                &lt;entry&gt;&#10;                    &lt;key&gt;AUTOFORMATCHART&lt;/key&gt;&#10;                    &lt;value&gt;True&lt;/value&gt;&#10;                &lt;/entry&gt;&#10;                &lt;entry&gt;&#10;                    &lt;key&gt;AUTOOPENPOLL&lt;/key&gt;&#10;                    &lt;value&gt;True&lt;/value&gt;&#10;                &lt;/entry&gt;&#10;                &lt;entry&gt;&#10;                    &lt;key&gt;LIVECHARTING&lt;/key&gt;&#10;                    &lt;value&gt;False&lt;/value&gt;&#10;                &lt;/entry&gt;&#10;            &lt;/metadata&gt;&#10;        &lt;/multichoice&gt;&#10;    &lt;/questions&gt;&#10;&lt;/questionlist&gt;"/>
  <p:tag name="HASRESULTS" val="False"/>
  <p:tag name="LIVECHARTING" val="False"/>
  <p:tag name="AUTOOPENPOLL" val="True"/>
  <p:tag name="AUTOFORMATCHART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  <p:tag name="NOPREFERENCE" val="Fals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2781</TotalTime>
  <Words>711</Words>
  <Application>Microsoft Office PowerPoint</Application>
  <PresentationFormat>On-screen Show (4:3)</PresentationFormat>
  <Paragraphs>94</Paragraphs>
  <Slides>19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Cambria Math</vt:lpstr>
      <vt:lpstr>Segoe Print</vt:lpstr>
      <vt:lpstr>Symbol</vt:lpstr>
      <vt:lpstr>Tw Cen MT</vt:lpstr>
      <vt:lpstr>Wingdings</vt:lpstr>
      <vt:lpstr>Wingdings 2</vt:lpstr>
      <vt:lpstr>Median</vt:lpstr>
      <vt:lpstr>Equation</vt:lpstr>
      <vt:lpstr>PowerPoint Presentation</vt:lpstr>
      <vt:lpstr>A bootstrap distribution is shown below.  Each dot represents</vt:lpstr>
      <vt:lpstr> </vt:lpstr>
      <vt:lpstr> </vt:lpstr>
      <vt:lpstr> </vt:lpstr>
      <vt:lpstr> </vt:lpstr>
      <vt:lpstr> </vt:lpstr>
      <vt:lpstr>Identify the 92% confidence interval in terms of the percentiles of the bootstrap distribution.</vt:lpstr>
      <vt:lpstr>Identify the 88% confidence interval in terms of the percentiles of the bootstrap distribution.</vt:lpstr>
      <vt:lpstr> </vt:lpstr>
      <vt:lpstr> </vt:lpstr>
      <vt:lpstr>The larger the sample size the ___________ the confidence interval.</vt:lpstr>
      <vt:lpstr> </vt:lpstr>
      <vt:lpstr> </vt:lpstr>
      <vt:lpstr> </vt:lpstr>
      <vt:lpstr> </vt:lpstr>
      <vt:lpstr> </vt:lpstr>
      <vt:lpstr>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Dobeck</dc:creator>
  <cp:lastModifiedBy>Kati Dobeck</cp:lastModifiedBy>
  <cp:revision>49</cp:revision>
  <dcterms:created xsi:type="dcterms:W3CDTF">2012-12-28T19:14:45Z</dcterms:created>
  <dcterms:modified xsi:type="dcterms:W3CDTF">2017-06-26T23:20:44Z</dcterms:modified>
</cp:coreProperties>
</file>