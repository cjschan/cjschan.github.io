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ink/ink1.xml" ContentType="application/inkml+xml"/>
  <Override PartName="/ppt/ink/ink2.xml" ContentType="application/inkml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3"/>
  </p:notesMasterIdLst>
  <p:handoutMasterIdLst>
    <p:handoutMasterId r:id="rId24"/>
  </p:handoutMasterIdLst>
  <p:sldIdLst>
    <p:sldId id="322" r:id="rId2"/>
    <p:sldId id="326" r:id="rId3"/>
    <p:sldId id="294" r:id="rId4"/>
    <p:sldId id="295" r:id="rId5"/>
    <p:sldId id="296" r:id="rId6"/>
    <p:sldId id="297" r:id="rId7"/>
    <p:sldId id="327" r:id="rId8"/>
    <p:sldId id="328" r:id="rId9"/>
    <p:sldId id="329" r:id="rId10"/>
    <p:sldId id="298" r:id="rId11"/>
    <p:sldId id="299" r:id="rId12"/>
    <p:sldId id="300" r:id="rId13"/>
    <p:sldId id="323" r:id="rId14"/>
    <p:sldId id="330" r:id="rId15"/>
    <p:sldId id="301" r:id="rId16"/>
    <p:sldId id="331" r:id="rId17"/>
    <p:sldId id="302" r:id="rId18"/>
    <p:sldId id="303" r:id="rId19"/>
    <p:sldId id="305" r:id="rId20"/>
    <p:sldId id="306" r:id="rId21"/>
    <p:sldId id="307" r:id="rId22"/>
  </p:sldIdLst>
  <p:sldSz cx="9144000" cy="6858000" type="screen4x3"/>
  <p:notesSz cx="9296400" cy="7010400"/>
  <p:custDataLst>
    <p:tags r:id="rId25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 xmlns="">
        <p15:guide id="1" orient="horz" pos="2208">
          <p15:clr>
            <a:srgbClr val="A4A3A4"/>
          </p15:clr>
        </p15:guide>
        <p15:guide id="2" pos="292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3428" autoAdjust="0"/>
  </p:normalViewPr>
  <p:slideViewPr>
    <p:cSldViewPr>
      <p:cViewPr>
        <p:scale>
          <a:sx n="105" d="100"/>
          <a:sy n="105" d="100"/>
        </p:scale>
        <p:origin x="-738" y="-5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56" d="100"/>
          <a:sy n="56" d="100"/>
        </p:scale>
        <p:origin x="-2616" y="-84"/>
      </p:cViewPr>
      <p:guideLst>
        <p:guide orient="horz" pos="2208"/>
        <p:guide pos="292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gs" Target="tags/tag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microsoft.com/office/2015/10/relationships/revisionInfo" Target="revisionInfo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265809" y="6658664"/>
            <a:ext cx="4028440" cy="3505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38FEF8C9-A6F1-4218-A297-066A96CC1C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828907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280" units="cm"/>
          <inkml:channel name="Y" type="integer" max="800" units="cm"/>
        </inkml:traceFormat>
        <inkml:channelProperties>
          <inkml:channelProperty channel="X" name="resolution" value="28.31858" units="1/cm"/>
          <inkml:channelProperty channel="Y" name="resolution" value="28.36879" units="1/cm"/>
        </inkml:channelProperties>
      </inkml:inkSource>
      <inkml:timestamp xml:id="ts0" timeString="2013-07-11T20:04:45.65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Group>
    <inkml:annotationXML>
      <emma:emma xmlns:emma="http://www.w3.org/2003/04/emma" version="1.0">
        <emma:interpretation id="{C38BCE82-7FDD-4BC3-A89A-95D1F3EF5249}" emma:medium="tactile" emma:mode="ink">
          <msink:context xmlns:msink="http://schemas.microsoft.com/ink/2010/main" type="inkDrawing" rotatedBoundingBox="21502,8192 21517,8192 21517,8207 21502,8207" shapeName="Other"/>
        </emma:interpretation>
      </emma:emma>
    </inkml:annotationXML>
    <inkml:trace contextRef="#ctx0" brushRef="#br0">21502 8192,'0'0</inkml:trace>
  </inkml:traceGroup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280" units="cm"/>
          <inkml:channel name="Y" type="integer" max="800" units="cm"/>
        </inkml:traceFormat>
        <inkml:channelProperties>
          <inkml:channelProperty channel="X" name="resolution" value="28.31858" units="1/cm"/>
          <inkml:channelProperty channel="Y" name="resolution" value="28.36879" units="1/cm"/>
        </inkml:channelProperties>
      </inkml:inkSource>
      <inkml:timestamp xml:id="ts0" timeString="2013-07-11T20:08:49.557"/>
    </inkml:context>
    <inkml:brush xml:id="br0">
      <inkml:brushProperty name="width" value="0.08333" units="cm"/>
      <inkml:brushProperty name="height" value="0.08333" units="cm"/>
      <inkml:brushProperty name="fitToCurve" value="1"/>
    </inkml:brush>
  </inkml:definitions>
  <inkml:traceGroup>
    <inkml:annotationXML>
      <emma:emma xmlns:emma="http://www.w3.org/2003/04/emma" version="1.0">
        <emma:interpretation id="{813636E2-4E73-4859-88B9-62ACFEAA392E}" emma:medium="tactile" emma:mode="ink">
          <msink:context xmlns:msink="http://schemas.microsoft.com/ink/2010/main" type="writingRegion" rotatedBoundingBox="18869,7561 22067,9699 21979,9831 18781,7694"/>
        </emma:interpretation>
      </emma:emma>
    </inkml:annotationXML>
    <inkml:traceGroup>
      <inkml:annotationXML>
        <emma:emma xmlns:emma="http://www.w3.org/2003/04/emma" version="1.0">
          <emma:interpretation id="{2771CF72-97BA-4455-93AC-6A42339A2E44}" emma:medium="tactile" emma:mode="ink">
            <msink:context xmlns:msink="http://schemas.microsoft.com/ink/2010/main" type="paragraph" rotatedBoundingBox="18869,7561 22067,9699 21979,9831 18781,7694" alignmentLevel="1"/>
          </emma:interpretation>
        </emma:emma>
      </inkml:annotationXML>
      <inkml:traceGroup>
        <inkml:annotationXML>
          <emma:emma xmlns:emma="http://www.w3.org/2003/04/emma" version="1.0">
            <emma:interpretation id="{206BE1DA-A6B0-4FDE-B0BB-20CFCF9B21FD}" emma:medium="tactile" emma:mode="ink">
              <msink:context xmlns:msink="http://schemas.microsoft.com/ink/2010/main" type="line" rotatedBoundingBox="18869,7561 22067,9699 21979,9831 18781,7694"/>
            </emma:interpretation>
          </emma:emma>
        </inkml:annotationXML>
        <inkml:traceGroup>
          <inkml:annotationXML>
            <emma:emma xmlns:emma="http://www.w3.org/2003/04/emma" version="1.0">
              <emma:interpretation id="{738A0208-AA4A-48D6-AFD3-C50F9FF15A7A}" emma:medium="tactile" emma:mode="ink">
                <msink:context xmlns:msink="http://schemas.microsoft.com/ink/2010/main" type="inkWord" rotatedBoundingBox="18869,7562 22051,9698 21965,9825 18783,7689"/>
              </emma:interpretation>
              <emma:one-of disjunction-type="recognition" id="oneOf0">
                <emma:interpretation id="interp0" emma:lang="en-US" emma:confidence="1">
                  <emma:literal>...</emma:literal>
                </emma:interpretation>
                <emma:interpretation id="interp1" emma:lang="en-US" emma:confidence="0">
                  <emma:literal>".</emma:literal>
                </emma:interpretation>
                <emma:interpretation id="interp2" emma:lang="en-US" emma:confidence="0">
                  <emma:literal>i.</emma:literal>
                </emma:interpretation>
                <emma:interpretation id="interp3" emma:lang="en-US" emma:confidence="0">
                  <emma:literal>X.</emma:literal>
                </emma:interpretation>
                <emma:interpretation id="interp4" emma:lang="en-US" emma:confidence="0">
                  <emma:literal>I.</emma:literal>
                </emma:interpretation>
              </emma:one-of>
            </emma:emma>
          </inkml:annotationXML>
          <inkml:trace contextRef="#ctx0" brushRef="#br0">0 0</inkml:trace>
          <inkml:trace contextRef="#ctx0" brushRef="#br0" timeOffset="1319.0755">3194 2117</inkml:trace>
        </inkml:traceGroup>
      </inkml:traceGroup>
    </inkml:traceGroup>
  </inkml:traceGroup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028440" cy="3505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265809" y="0"/>
            <a:ext cx="4028440" cy="3505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96AD8F08-E38D-416C-9DB6-BE5D75DEE4F8}" type="datetimeFigureOut">
              <a:rPr lang="en-US" smtClean="0"/>
              <a:t>9/18/2019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95600" y="525463"/>
            <a:ext cx="3505200" cy="2628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29640" y="3329940"/>
            <a:ext cx="7437120" cy="3154680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658664"/>
            <a:ext cx="4028440" cy="3505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265809" y="6658664"/>
            <a:ext cx="4028440" cy="3505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495973A5-9EC2-48F6-869F-892C9983C7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1315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white">
          <a:xfrm>
            <a:off x="0" y="5971032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-9144" y="6053328"/>
            <a:ext cx="2249424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2359152" y="6044184"/>
            <a:ext cx="6784848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362200" y="4038600"/>
            <a:ext cx="6477000" cy="1828800"/>
          </a:xfrm>
        </p:spPr>
        <p:txBody>
          <a:bodyPr anchor="b"/>
          <a:lstStyle>
            <a:lvl1pPr>
              <a:defRPr cap="all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362200" y="6050037"/>
            <a:ext cx="67056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76200" y="6068699"/>
            <a:ext cx="2057400" cy="685800"/>
          </a:xfrm>
        </p:spPr>
        <p:txBody>
          <a:bodyPr>
            <a:no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</a:lstStyle>
          <a:p>
            <a:pPr algn="ctr" eaLnBrk="1" latinLnBrk="0" hangingPunct="1"/>
            <a:fld id="{23A271A1-F6D6-438B-A432-4747EE7ECD40}" type="datetimeFigureOut">
              <a:rPr lang="en-US" smtClean="0"/>
              <a:pPr algn="ctr" eaLnBrk="1" latinLnBrk="0" hangingPunct="1"/>
              <a:t>9/18/2019</a:t>
            </a:fld>
            <a:endParaRPr lang="en-US" sz="2000" dirty="0">
              <a:solidFill>
                <a:srgbClr val="FFFFFF"/>
              </a:solidFill>
            </a:endParaRPr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085393" y="236538"/>
            <a:ext cx="5867400" cy="365125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pPr algn="r" eaLnBrk="1" latinLnBrk="0" hangingPunct="1"/>
            <a:endParaRPr kumimoji="0" lang="en-US" dirty="0">
              <a:solidFill>
                <a:schemeClr val="tx2"/>
              </a:solidFill>
            </a:endParaRPr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8001000" y="228600"/>
            <a:ext cx="8382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F0C94032-CD4C-4C25-B0C2-CEC720522D92}" type="slidenum">
              <a:rPr kumimoji="0" lang="en-US" smtClean="0"/>
              <a:pPr eaLnBrk="1" latinLnBrk="0" hangingPunct="1"/>
              <a:t>‹#›</a:t>
            </a:fld>
            <a:endParaRPr kumimoji="0" lang="en-US" dirty="0">
              <a:solidFill>
                <a:schemeClr val="tx2"/>
              </a:solidFill>
            </a:endParaRP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23A271A1-F6D6-438B-A432-4747EE7ECD40}" type="datetimeFigureOut">
              <a:rPr lang="en-US" smtClean="0"/>
              <a:pPr eaLnBrk="1" latinLnBrk="0" hangingPunct="1"/>
              <a:t>9/18/2019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F0C94032-CD4C-4C25-B0C2-CEC720522D92}" type="slidenum">
              <a:rPr kumimoji="0" lang="en-US" smtClean="0"/>
              <a:pPr eaLnBrk="1" latinLnBrk="0" hangingPunct="1"/>
              <a:t>‹#›</a:t>
            </a:fld>
            <a:endParaRPr kumimoji="0" lang="en-US" dirty="0">
              <a:solidFill>
                <a:srgbClr val="FFFFFF"/>
              </a:solidFill>
            </a:endParaRPr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495800"/>
          </a:xfrm>
        </p:spPr>
        <p:txBody>
          <a:bodyPr/>
          <a:lstStyle>
            <a:lvl1pPr>
              <a:defRPr sz="3200">
                <a:solidFill>
                  <a:schemeClr val="accent6">
                    <a:lumMod val="50000"/>
                  </a:schemeClr>
                </a:solidFill>
              </a:defRPr>
            </a:lvl1pPr>
            <a:lvl2pPr>
              <a:defRPr sz="3200">
                <a:solidFill>
                  <a:schemeClr val="accent6">
                    <a:lumMod val="50000"/>
                  </a:schemeClr>
                </a:solidFill>
              </a:defRPr>
            </a:lvl2pPr>
          </a:lstStyle>
          <a:p>
            <a:pPr lvl="0" eaLnBrk="1" latinLnBrk="0" hangingPunct="1"/>
            <a:r>
              <a:rPr lang="en-US" dirty="0"/>
              <a:t>Click to edit Master text styles</a:t>
            </a:r>
          </a:p>
          <a:p>
            <a:pPr lvl="1" eaLnBrk="1" latinLnBrk="0" hangingPunct="1"/>
            <a:r>
              <a:rPr lang="en-US" dirty="0"/>
              <a:t>Second level</a:t>
            </a:r>
          </a:p>
          <a:p>
            <a:pPr lvl="2" eaLnBrk="1" latinLnBrk="0" hangingPunct="1"/>
            <a:r>
              <a:rPr lang="en-US" dirty="0"/>
              <a:t>Third level</a:t>
            </a:r>
          </a:p>
          <a:p>
            <a:pPr lvl="3" eaLnBrk="1" latinLnBrk="0" hangingPunct="1"/>
            <a:r>
              <a:rPr lang="en-US" dirty="0"/>
              <a:t>Fourth level</a:t>
            </a:r>
          </a:p>
          <a:p>
            <a:pPr lvl="4" eaLnBrk="1" latinLnBrk="0" hangingPunct="1"/>
            <a:r>
              <a:rPr lang="en-US" dirty="0"/>
              <a:t>Fifth level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743200"/>
            <a:ext cx="7123113" cy="1673225"/>
          </a:xfrm>
        </p:spPr>
        <p:txBody>
          <a:bodyPr anchor="t"/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Rectangle 6"/>
          <p:cNvSpPr/>
          <p:nvPr/>
        </p:nvSpPr>
        <p:spPr bwMode="white">
          <a:xfrm>
            <a:off x="0" y="1524000"/>
            <a:ext cx="9144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0" y="1600200"/>
            <a:ext cx="12954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1371600" y="1600200"/>
            <a:ext cx="77724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1600200"/>
            <a:ext cx="762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23A271A1-F6D6-438B-A432-4747EE7ECD40}" type="datetimeFigureOut">
              <a:rPr lang="en-US" smtClean="0"/>
              <a:pPr eaLnBrk="1" latinLnBrk="0" hangingPunct="1"/>
              <a:t>9/18/2019</a:t>
            </a:fld>
            <a:endParaRPr lang="en-US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1752600"/>
            <a:ext cx="1295400" cy="701676"/>
          </a:xfr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 algn="ctr" eaLnBrk="1" latinLnBrk="0" hangingPunct="1"/>
            <a:fld id="{F0C94032-CD4C-4C25-B0C2-CEC720522D92}" type="slidenum">
              <a:rPr kumimoji="0" lang="en-US" smtClean="0"/>
              <a:pPr algn="ctr" eaLnBrk="1" latinLnBrk="0" hangingPunct="1"/>
              <a:t>‹#›</a:t>
            </a:fld>
            <a:endParaRPr kumimoji="0" lang="en-US" sz="2400" dirty="0">
              <a:solidFill>
                <a:srgbClr val="FFFFFF"/>
              </a:solidFill>
            </a:endParaRPr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609600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844901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pPr eaLnBrk="1" latinLnBrk="0" hangingPunct="1"/>
            <a:fld id="{23A271A1-F6D6-438B-A432-4747EE7ECD40}" type="datetimeFigureOut">
              <a:rPr lang="en-US" smtClean="0"/>
              <a:pPr eaLnBrk="1" latinLnBrk="0" hangingPunct="1"/>
              <a:t>9/18/2019</a:t>
            </a:fld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pPr algn="ctr" eaLnBrk="1" latinLnBrk="0" hangingPunct="1"/>
            <a:fld id="{F0C94032-CD4C-4C25-B0C2-CEC720522D92}" type="slidenum">
              <a:rPr kumimoji="0" lang="en-US" smtClean="0"/>
              <a:pPr algn="ctr" eaLnBrk="1" latinLnBrk="0" hangingPunct="1"/>
              <a:t>‹#›</a:t>
            </a:fld>
            <a:endParaRPr kumimoji="0" lang="en-US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73050"/>
            <a:ext cx="8153400" cy="8699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09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800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pPr eaLnBrk="1" latinLnBrk="0" hangingPunct="1"/>
            <a:fld id="{23A271A1-F6D6-438B-A432-4747EE7ECD40}" type="datetimeFigureOut">
              <a:rPr lang="en-US" smtClean="0"/>
              <a:pPr eaLnBrk="1" latinLnBrk="0" hangingPunct="1"/>
              <a:t>9/18/2019</a:t>
            </a:fld>
            <a:endParaRPr 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pPr algn="ctr" eaLnBrk="1" latinLnBrk="0" hangingPunct="1"/>
            <a:fld id="{F0C94032-CD4C-4C25-B0C2-CEC720522D92}" type="slidenum">
              <a:rPr kumimoji="0" lang="en-US" smtClean="0"/>
              <a:pPr algn="ctr" eaLnBrk="1" latinLnBrk="0" hangingPunct="1"/>
              <a:t>‹#›</a:t>
            </a:fld>
            <a:endParaRPr kumimoji="0"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kumimoji="0" lang="en-US"/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"/>
          </p:nvPr>
        </p:nvSpPr>
        <p:spPr>
          <a:xfrm>
            <a:off x="609600" y="1752600"/>
            <a:ext cx="38862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3"/>
          </p:nvPr>
        </p:nvSpPr>
        <p:spPr>
          <a:xfrm>
            <a:off x="4800600" y="1752600"/>
            <a:ext cx="38862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23A271A1-F6D6-438B-A432-4747EE7ECD40}" type="datetimeFigureOut">
              <a:rPr lang="en-US" smtClean="0"/>
              <a:pPr eaLnBrk="1" latinLnBrk="0" hangingPunct="1"/>
              <a:t>9/18/2019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F0C94032-CD4C-4C25-B0C2-CEC720522D92}" type="slidenum">
              <a:rPr kumimoji="0" lang="en-US" smtClean="0"/>
              <a:pPr eaLnBrk="1" latinLnBrk="0" hangingPunct="1"/>
              <a:t>‹#›</a:t>
            </a:fld>
            <a:endParaRPr kumimoji="0" lang="en-US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23A271A1-F6D6-438B-A432-4747EE7ECD40}" type="datetimeFigureOut">
              <a:rPr lang="en-US" smtClean="0"/>
              <a:pPr eaLnBrk="1" latinLnBrk="0" hangingPunct="1"/>
              <a:t>9/18/2019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5334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F0C94032-CD4C-4C25-B0C2-CEC720522D92}" type="slidenum">
              <a:rPr kumimoji="0" lang="en-US" smtClean="0"/>
              <a:pPr eaLnBrk="1" latinLnBrk="0" hangingPunct="1"/>
              <a:t>‹#›</a:t>
            </a:fld>
            <a:endParaRPr kumimoji="0" 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23A271A1-F6D6-438B-A432-4747EE7ECD40}" type="datetimeFigureOut">
              <a:rPr lang="en-US" smtClean="0"/>
              <a:pPr eaLnBrk="1" latinLnBrk="0" hangingPunct="1"/>
              <a:t>9/18/2019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F0C94032-CD4C-4C25-B0C2-CEC720522D92}" type="slidenum">
              <a:rPr kumimoji="0" lang="en-US" smtClean="0"/>
              <a:pPr eaLnBrk="1" latinLnBrk="0" hangingPunct="1"/>
              <a:t>‹#›</a:t>
            </a:fld>
            <a:endParaRPr kumimoji="0" lang="en-US" dirty="0">
              <a:solidFill>
                <a:srgbClr val="FFFFFF"/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09600" y="1752600"/>
            <a:ext cx="160020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2362200" y="1752600"/>
            <a:ext cx="6400800" cy="4419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00200" y="5486400"/>
            <a:ext cx="73152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8" name="Rectangle 7"/>
          <p:cNvSpPr/>
          <p:nvPr/>
        </p:nvSpPr>
        <p:spPr bwMode="white">
          <a:xfrm>
            <a:off x="-9144" y="4572000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-9144" y="4663440"/>
            <a:ext cx="1463040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1545336" y="4654296"/>
            <a:ext cx="7598664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4648200"/>
            <a:ext cx="7315200" cy="685800"/>
          </a:xfrm>
        </p:spPr>
        <p:txBody>
          <a:bodyPr anchor="ctr"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1" name="Rectangle 10"/>
          <p:cNvSpPr/>
          <p:nvPr/>
        </p:nvSpPr>
        <p:spPr bwMode="white">
          <a:xfrm>
            <a:off x="1447800" y="0"/>
            <a:ext cx="100584" cy="6867144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>
          <a:xfrm>
            <a:off x="6248400" y="6248400"/>
            <a:ext cx="2667000" cy="365125"/>
          </a:xfrm>
        </p:spPr>
        <p:txBody>
          <a:bodyPr rtlCol="0"/>
          <a:lstStyle/>
          <a:p>
            <a:pPr eaLnBrk="1" latinLnBrk="0" hangingPunct="1"/>
            <a:fld id="{23A271A1-F6D6-438B-A432-4747EE7ECD40}" type="datetimeFigureOut">
              <a:rPr lang="en-US" smtClean="0"/>
              <a:pPr eaLnBrk="1" latinLnBrk="0" hangingPunct="1"/>
              <a:t>9/18/2019</a:t>
            </a:fld>
            <a:endParaRPr lang="en-US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4667249"/>
            <a:ext cx="1447800" cy="663578"/>
          </a:xfrm>
        </p:spPr>
        <p:txBody>
          <a:bodyPr rtlCol="0"/>
          <a:lstStyle>
            <a:lvl1pPr>
              <a:defRPr sz="2800"/>
            </a:lvl1pPr>
          </a:lstStyle>
          <a:p>
            <a:pPr algn="ctr" eaLnBrk="1" latinLnBrk="0" hangingPunct="1"/>
            <a:fld id="{F0C94032-CD4C-4C25-B0C2-CEC720522D92}" type="slidenum">
              <a:rPr kumimoji="0" lang="en-US" smtClean="0"/>
              <a:pPr algn="ctr" eaLnBrk="1" latinLnBrk="0" hangingPunct="1"/>
              <a:t>‹#›</a:t>
            </a:fld>
            <a:endParaRPr kumimoji="0" lang="en-US" sz="2800" dirty="0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>
          <a:xfrm>
            <a:off x="1600200" y="6248206"/>
            <a:ext cx="4572000" cy="365125"/>
          </a:xfrm>
        </p:spPr>
        <p:txBody>
          <a:bodyPr rtlCol="0"/>
          <a:lstStyle/>
          <a:p>
            <a:endParaRPr kumimoji="0"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60576" y="0"/>
            <a:ext cx="7583424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23A271A1-F6D6-438B-A432-4747EE7ECD40}" type="datetimeFigureOut">
              <a:rPr lang="en-US" smtClean="0"/>
              <a:pPr eaLnBrk="1" latinLnBrk="0" hangingPunct="1"/>
              <a:t>9/18/2019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C94032-CD4C-4C25-B0C2-CEC720522D92}" type="slidenum">
              <a:rPr kumimoji="0" lang="en-US" smtClean="0"/>
              <a:pPr eaLnBrk="1" latinLnBrk="0" hangingPunct="1"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53200" y="609600"/>
            <a:ext cx="2057400" cy="5516563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562600" cy="5516564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553200" y="6248402"/>
            <a:ext cx="2209800" cy="365125"/>
          </a:xfrm>
        </p:spPr>
        <p:txBody>
          <a:bodyPr/>
          <a:lstStyle/>
          <a:p>
            <a:pPr eaLnBrk="1" latinLnBrk="0" hangingPunct="1"/>
            <a:fld id="{23A271A1-F6D6-438B-A432-4747EE7ECD40}" type="datetimeFigureOut">
              <a:rPr lang="en-US" smtClean="0"/>
              <a:pPr eaLnBrk="1" latinLnBrk="0" hangingPunct="1"/>
              <a:t>9/18/2019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7201" y="6248207"/>
            <a:ext cx="5573483" cy="365125"/>
          </a:xfrm>
        </p:spPr>
        <p:txBody>
          <a:bodyPr/>
          <a:lstStyle/>
          <a:p>
            <a:endParaRPr kumimoji="0" lang="en-US" dirty="0"/>
          </a:p>
        </p:txBody>
      </p:sp>
      <p:sp>
        <p:nvSpPr>
          <p:cNvPr id="7" name="Rectangle 6"/>
          <p:cNvSpPr/>
          <p:nvPr/>
        </p:nvSpPr>
        <p:spPr bwMode="white">
          <a:xfrm>
            <a:off x="6096318" y="0"/>
            <a:ext cx="32004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6142038" y="609600"/>
            <a:ext cx="2286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6142038" y="0"/>
            <a:ext cx="2286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5400000">
            <a:off x="5989638" y="144462"/>
            <a:ext cx="533400" cy="244476"/>
          </a:xfrm>
        </p:spPr>
        <p:txBody>
          <a:bodyPr/>
          <a:lstStyle/>
          <a:p>
            <a:fld id="{F0C94032-CD4C-4C25-B0C2-CEC720522D92}" type="slidenum">
              <a:rPr kumimoji="0" lang="en-US" smtClean="0"/>
              <a:pPr eaLnBrk="1" latinLnBrk="0" hangingPunct="1"/>
              <a:t>‹#›</a:t>
            </a:fld>
            <a:endParaRPr kumimoji="0"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12"/>
          <p:cNvSpPr>
            <a:spLocks noGrp="1"/>
          </p:cNvSpPr>
          <p:nvPr>
            <p:ph idx="1"/>
          </p:nvPr>
        </p:nvSpPr>
        <p:spPr>
          <a:xfrm>
            <a:off x="1257300" y="1676400"/>
            <a:ext cx="6629400" cy="1759458"/>
          </a:xfrm>
          <a:prstGeom prst="rect">
            <a:avLst/>
          </a:prstGeom>
          <a:ln w="76200" cmpd="thickThin">
            <a:solidFill>
              <a:schemeClr val="accent1"/>
            </a:solidFill>
          </a:ln>
        </p:spPr>
        <p:txBody>
          <a:bodyPr vert="horz" anchor="ctr">
            <a:normAutofit/>
          </a:bodyPr>
          <a:lstStyle>
            <a:lvl1pPr marL="0" indent="0" algn="ctr">
              <a:spcBef>
                <a:spcPts val="0"/>
              </a:spcBef>
              <a:spcAft>
                <a:spcPts val="1800"/>
              </a:spcAft>
              <a:buNone/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Text Placeholder 12"/>
          <p:cNvSpPr>
            <a:spLocks noGrp="1"/>
          </p:cNvSpPr>
          <p:nvPr>
            <p:ph idx="10"/>
          </p:nvPr>
        </p:nvSpPr>
        <p:spPr>
          <a:xfrm>
            <a:off x="304800" y="3962400"/>
            <a:ext cx="8534400" cy="1219200"/>
          </a:xfrm>
          <a:prstGeom prst="rect">
            <a:avLst/>
          </a:prstGeom>
        </p:spPr>
        <p:txBody>
          <a:bodyPr vert="horz">
            <a:normAutofit/>
          </a:bodyPr>
          <a:lstStyle>
            <a:lvl1pPr>
              <a:spcBef>
                <a:spcPts val="0"/>
              </a:spcBef>
              <a:spcAft>
                <a:spcPts val="1800"/>
              </a:spcAft>
              <a:defRPr/>
            </a:lvl1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37717420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23A271A1-F6D6-438B-A432-4747EE7ECD40}" type="datetimeFigureOut">
              <a:rPr lang="en-US" smtClean="0"/>
              <a:pPr eaLnBrk="1" latinLnBrk="0" hangingPunct="1"/>
              <a:t>9/18/2019</a:t>
            </a:fld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eaLnBrk="1" latinLnBrk="0" hangingPunct="1"/>
            <a:endParaRPr kumimoji="0" lang="en-US" sz="1400" dirty="0">
              <a:solidFill>
                <a:schemeClr val="tx2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 eaLnBrk="1" latinLnBrk="0" hangingPunct="1"/>
            <a:fld id="{F0C94032-CD4C-4C25-B0C2-CEC720522D92}" type="slidenum">
              <a:rPr kumimoji="0" lang="en-US" smtClean="0"/>
              <a:pPr algn="ctr" eaLnBrk="1" latinLnBrk="0" hangingPunct="1"/>
              <a:t>‹#›</a:t>
            </a:fld>
            <a:endParaRPr kumimoji="0" lang="en-US" sz="1400" b="1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187915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609600" y="228600"/>
            <a:ext cx="8153400" cy="9906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612648" y="1600200"/>
            <a:ext cx="8153400" cy="452628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eaLnBrk="1" latinLnBrk="0" hangingPunct="1"/>
            <a:fld id="{23A271A1-F6D6-438B-A432-4747EE7ECD40}" type="datetimeFigureOut">
              <a:rPr lang="en-US" smtClean="0"/>
              <a:pPr eaLnBrk="1" latinLnBrk="0" hangingPunct="1"/>
              <a:t>9/18/2019</a:t>
            </a:fld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algn="r" eaLnBrk="1" latinLnBrk="0" hangingPunct="1"/>
            <a:endParaRPr kumimoji="0" lang="en-US" sz="1400" dirty="0">
              <a:solidFill>
                <a:schemeClr val="tx2"/>
              </a:solidFill>
            </a:endParaRPr>
          </a:p>
        </p:txBody>
      </p:sp>
      <p:sp>
        <p:nvSpPr>
          <p:cNvPr id="7" name="Rectangle 6"/>
          <p:cNvSpPr/>
          <p:nvPr/>
        </p:nvSpPr>
        <p:spPr bwMode="white">
          <a:xfrm>
            <a:off x="0" y="1234440"/>
            <a:ext cx="9144000" cy="32004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0" y="1280160"/>
            <a:ext cx="5334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590550" y="1280160"/>
            <a:ext cx="855345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0" y="1272222"/>
            <a:ext cx="533400" cy="244476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pPr algn="ctr" eaLnBrk="1" latinLnBrk="0" hangingPunct="1"/>
            <a:fld id="{F0C94032-CD4C-4C25-B0C2-CEC720522D92}" type="slidenum">
              <a:rPr kumimoji="0" lang="en-US" smtClean="0"/>
              <a:pPr algn="ctr" eaLnBrk="1" latinLnBrk="0" hangingPunct="1"/>
              <a:t>‹#›</a:t>
            </a:fld>
            <a:endParaRPr kumimoji="0" lang="en-US" sz="1400" b="1" dirty="0">
              <a:solidFill>
                <a:srgbClr val="FFFFFF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3" r:id="rId12"/>
    <p:sldLayoutId id="2147483674" r:id="rId13"/>
  </p:sldLayoutIdLst>
  <p:txStyles>
    <p:titleStyle>
      <a:lvl1pPr algn="l" rtl="0" eaLnBrk="1" latinLnBrk="0" hangingPunct="1">
        <a:spcBef>
          <a:spcPct val="0"/>
        </a:spcBef>
        <a:buNone/>
        <a:defRPr kumimoji="0"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20040" indent="-320040" algn="l" rtl="0" eaLnBrk="1" latinLnBrk="0" hangingPunct="1">
        <a:spcBef>
          <a:spcPts val="700"/>
        </a:spcBef>
        <a:buClr>
          <a:schemeClr val="accent2"/>
        </a:buClr>
        <a:buSzPct val="60000"/>
        <a:buFont typeface="Wingdings"/>
        <a:buChar char=""/>
        <a:defRPr kumimoji="0"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550"/>
        </a:spcBef>
        <a:buClr>
          <a:schemeClr val="accent1"/>
        </a:buClr>
        <a:buSzPct val="70000"/>
        <a:buFont typeface="Wingdings 2"/>
        <a:buChar char="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1" latinLnBrk="0" hangingPunct="1">
        <a:spcBef>
          <a:spcPts val="500"/>
        </a:spcBef>
        <a:buClr>
          <a:schemeClr val="accent2"/>
        </a:buClr>
        <a:buSzPct val="75000"/>
        <a:buFont typeface="Wingdings"/>
        <a:buChar char="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1" latinLnBrk="0" hangingPunct="1">
        <a:spcBef>
          <a:spcPts val="400"/>
        </a:spcBef>
        <a:buClr>
          <a:schemeClr val="accent3"/>
        </a:buClr>
        <a:buSzPct val="7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1" latinLnBrk="0" hangingPunct="1">
        <a:spcBef>
          <a:spcPts val="400"/>
        </a:spcBef>
        <a:buClr>
          <a:schemeClr val="accent4"/>
        </a:buClr>
        <a:buSzPct val="6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emf"/><Relationship Id="rId3" Type="http://schemas.openxmlformats.org/officeDocument/2006/relationships/image" Target="../media/image5.emf"/><Relationship Id="rId7" Type="http://schemas.openxmlformats.org/officeDocument/2006/relationships/image" Target="../media/image9.emf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8.xml"/><Relationship Id="rId6" Type="http://schemas.openxmlformats.org/officeDocument/2006/relationships/image" Target="../media/image8.emf"/><Relationship Id="rId5" Type="http://schemas.openxmlformats.org/officeDocument/2006/relationships/image" Target="../media/image7.emf"/><Relationship Id="rId36" Type="http://schemas.openxmlformats.org/officeDocument/2006/relationships/image" Target="../media/image38.emf"/><Relationship Id="rId31" Type="http://schemas.openxmlformats.org/officeDocument/2006/relationships/customXml" Target="../ink/ink2.xml"/><Relationship Id="rId4" Type="http://schemas.openxmlformats.org/officeDocument/2006/relationships/image" Target="../media/image6.emf"/><Relationship Id="rId9" Type="http://schemas.openxmlformats.org/officeDocument/2006/relationships/customXml" Target="../ink/ink1.xml"/><Relationship Id="rId30" Type="http://schemas.openxmlformats.org/officeDocument/2006/relationships/image" Target="../media/image35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10.xml"/><Relationship Id="rId1" Type="http://schemas.openxmlformats.org/officeDocument/2006/relationships/tags" Target="../tags/tag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12.xml"/><Relationship Id="rId1" Type="http://schemas.openxmlformats.org/officeDocument/2006/relationships/tags" Target="../tags/tag1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14.xml"/><Relationship Id="rId1" Type="http://schemas.openxmlformats.org/officeDocument/2006/relationships/tags" Target="../tags/tag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5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emf"/><Relationship Id="rId3" Type="http://schemas.openxmlformats.org/officeDocument/2006/relationships/image" Target="../media/image5.emf"/><Relationship Id="rId7" Type="http://schemas.openxmlformats.org/officeDocument/2006/relationships/image" Target="../media/image9.emf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6.xml"/><Relationship Id="rId6" Type="http://schemas.openxmlformats.org/officeDocument/2006/relationships/image" Target="../media/image8.emf"/><Relationship Id="rId5" Type="http://schemas.openxmlformats.org/officeDocument/2006/relationships/image" Target="../media/image7.emf"/><Relationship Id="rId4" Type="http://schemas.openxmlformats.org/officeDocument/2006/relationships/image" Target="../media/image6.emf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hyperlink" Target="http://lock5stat.com/statkey/index.html" TargetMode="Externa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19.xml"/><Relationship Id="rId1" Type="http://schemas.openxmlformats.org/officeDocument/2006/relationships/tags" Target="../tags/tag18.xml"/><Relationship Id="rId4" Type="http://schemas.openxmlformats.org/officeDocument/2006/relationships/image" Target="../media/image7.e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://istics.net/stat/Correlations/" TargetMode="Externa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0.xml"/><Relationship Id="rId4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2.xml"/><Relationship Id="rId1" Type="http://schemas.openxmlformats.org/officeDocument/2006/relationships/tags" Target="../tags/tag21.xml"/><Relationship Id="rId4" Type="http://schemas.openxmlformats.org/officeDocument/2006/relationships/image" Target="../media/image1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gif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3.xml"/><Relationship Id="rId5" Type="http://schemas.openxmlformats.org/officeDocument/2006/relationships/image" Target="../media/image16.jpeg"/><Relationship Id="rId4" Type="http://schemas.openxmlformats.org/officeDocument/2006/relationships/image" Target="../media/image15.e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1"/>
          <p:cNvSpPr txBox="1">
            <a:spLocks/>
          </p:cNvSpPr>
          <p:nvPr/>
        </p:nvSpPr>
        <p:spPr>
          <a:xfrm>
            <a:off x="1482436" y="1676400"/>
            <a:ext cx="7585364" cy="2362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spcBef>
                <a:spcPct val="20000"/>
              </a:spcBef>
              <a:defRPr/>
            </a:pPr>
            <a:r>
              <a:rPr lang="en-US" sz="3600" b="1" dirty="0">
                <a:solidFill>
                  <a:schemeClr val="tx2"/>
                </a:solidFill>
              </a:rPr>
              <a:t>Section 2.5</a:t>
            </a:r>
          </a:p>
          <a:p>
            <a:pPr>
              <a:spcBef>
                <a:spcPct val="20000"/>
              </a:spcBef>
              <a:defRPr/>
            </a:pPr>
            <a:r>
              <a:rPr lang="en-US" sz="3600" b="1" dirty="0">
                <a:solidFill>
                  <a:schemeClr val="tx2"/>
                </a:solidFill>
              </a:rPr>
              <a:t>Two Quantitative Variables: Scatterplot and Correlation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xfrm>
            <a:off x="2334491" y="6248400"/>
            <a:ext cx="6809508" cy="609600"/>
          </a:xfrm>
        </p:spPr>
        <p:txBody>
          <a:bodyPr/>
          <a:lstStyle/>
          <a:p>
            <a:pPr lvl="0"/>
            <a:r>
              <a:rPr lang="en-US" sz="2700" b="1" u="sng" dirty="0"/>
              <a:t>Statistics: Unlocking the Power of Data</a:t>
            </a:r>
            <a:r>
              <a:rPr lang="en-US" sz="2700" b="1" dirty="0"/>
              <a:t>, Lock</a:t>
            </a:r>
            <a:r>
              <a:rPr lang="en-US" sz="2700" b="1" baseline="30000" dirty="0"/>
              <a:t>5</a:t>
            </a:r>
            <a:endParaRPr lang="en-US" sz="2700" b="1" u="sng" dirty="0"/>
          </a:p>
          <a:p>
            <a:endParaRPr lang="en-US" sz="2700" dirty="0"/>
          </a:p>
        </p:txBody>
      </p:sp>
      <p:sp>
        <p:nvSpPr>
          <p:cNvPr id="3" name="TextBox 2"/>
          <p:cNvSpPr txBox="1"/>
          <p:nvPr/>
        </p:nvSpPr>
        <p:spPr>
          <a:xfrm>
            <a:off x="2514600" y="4267200"/>
            <a:ext cx="55348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spcBef>
                <a:spcPct val="20000"/>
              </a:spcBef>
              <a:defRPr/>
            </a:pPr>
            <a:r>
              <a:rPr lang="en-US" sz="2800" dirty="0">
                <a:solidFill>
                  <a:schemeClr val="bg2">
                    <a:lumMod val="20000"/>
                    <a:lumOff val="80000"/>
                  </a:schemeClr>
                </a:solidFill>
              </a:rPr>
              <a:t>Professor Kathryn </a:t>
            </a:r>
            <a:r>
              <a:rPr lang="en-US" sz="2800" dirty="0" err="1" smtClean="0">
                <a:solidFill>
                  <a:schemeClr val="bg2">
                    <a:lumMod val="20000"/>
                    <a:lumOff val="80000"/>
                  </a:schemeClr>
                </a:solidFill>
              </a:rPr>
              <a:t>Dobeck</a:t>
            </a:r>
            <a:endParaRPr lang="en-US" sz="2800" dirty="0">
              <a:solidFill>
                <a:schemeClr val="bg2">
                  <a:lumMod val="20000"/>
                  <a:lumOff val="80000"/>
                </a:schemeClr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850778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PQuestion"/>
          <p:cNvSpPr>
            <a:spLocks noGrp="1"/>
          </p:cNvSpPr>
          <p:nvPr>
            <p:ph type="title" idx="4294967295"/>
          </p:nvPr>
        </p:nvSpPr>
        <p:spPr>
          <a:xfrm>
            <a:off x="-2" y="0"/>
            <a:ext cx="5410201" cy="3733800"/>
          </a:xfrm>
        </p:spPr>
        <p:txBody>
          <a:bodyPr>
            <a:noAutofit/>
          </a:bodyPr>
          <a:lstStyle/>
          <a:p>
            <a:r>
              <a:rPr lang="en-US" sz="3600" b="1" dirty="0"/>
              <a:t>The boxplot below shows the number of hot dogs consumed in a 10 minute hot dog eating contest. What is the approximate median?</a:t>
            </a:r>
          </a:p>
        </p:txBody>
      </p:sp>
      <p:sp>
        <p:nvSpPr>
          <p:cNvPr id="3" name="TPAnswers"/>
          <p:cNvSpPr>
            <a:spLocks noGrp="1"/>
          </p:cNvSpPr>
          <p:nvPr>
            <p:ph type="body" idx="4294967295"/>
            <p:custDataLst>
              <p:tags r:id="rId2"/>
            </p:custDataLst>
          </p:nvPr>
        </p:nvSpPr>
        <p:spPr>
          <a:xfrm>
            <a:off x="5410200" y="152400"/>
            <a:ext cx="3276600" cy="3048000"/>
          </a:xfrm>
        </p:spPr>
        <p:txBody>
          <a:bodyPr>
            <a:normAutofit/>
          </a:bodyPr>
          <a:lstStyle/>
          <a:p>
            <a:pPr marL="514350" indent="-514350">
              <a:spcBef>
                <a:spcPct val="20000"/>
              </a:spcBef>
              <a:buFont typeface="Wingdings"/>
              <a:buAutoNum type="alphaUcPeriod"/>
            </a:pPr>
            <a:r>
              <a:rPr lang="en-US" sz="3200" dirty="0"/>
              <a:t>45</a:t>
            </a:r>
          </a:p>
          <a:p>
            <a:pPr marL="514350" indent="-514350">
              <a:spcBef>
                <a:spcPct val="20000"/>
              </a:spcBef>
              <a:buFont typeface="Wingdings"/>
              <a:buAutoNum type="alphaUcPeriod"/>
            </a:pPr>
            <a:r>
              <a:rPr lang="en-US" sz="3200" dirty="0"/>
              <a:t>50</a:t>
            </a:r>
          </a:p>
          <a:p>
            <a:pPr marL="514350" indent="-514350">
              <a:spcBef>
                <a:spcPct val="20000"/>
              </a:spcBef>
              <a:buFont typeface="Wingdings"/>
              <a:buAutoNum type="alphaUcPeriod"/>
            </a:pPr>
            <a:r>
              <a:rPr lang="en-US" sz="3200" dirty="0"/>
              <a:t>54</a:t>
            </a:r>
          </a:p>
          <a:p>
            <a:pPr marL="514350" indent="-514350">
              <a:spcBef>
                <a:spcPct val="20000"/>
              </a:spcBef>
              <a:buFont typeface="Wingdings"/>
              <a:buAutoNum type="alphaUcPeriod"/>
            </a:pPr>
            <a:r>
              <a:rPr lang="en-US" sz="3200" dirty="0"/>
              <a:t>56</a:t>
            </a:r>
          </a:p>
          <a:p>
            <a:pPr marL="514350" indent="-514350">
              <a:spcBef>
                <a:spcPct val="20000"/>
              </a:spcBef>
              <a:buFont typeface="Wingdings"/>
              <a:buAutoNum type="alphaUcPeriod"/>
            </a:pPr>
            <a:r>
              <a:rPr lang="en-US" sz="3200" dirty="0"/>
              <a:t>62</a:t>
            </a:r>
          </a:p>
        </p:txBody>
      </p:sp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27" y="3810000"/>
            <a:ext cx="5405131" cy="24681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Up-Down Arrow 6"/>
          <p:cNvSpPr/>
          <p:nvPr/>
        </p:nvSpPr>
        <p:spPr>
          <a:xfrm>
            <a:off x="2040082" y="4800600"/>
            <a:ext cx="228600" cy="381000"/>
          </a:xfrm>
          <a:prstGeom prst="upDownArrow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9666628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152400"/>
            <a:ext cx="8686800" cy="99060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Visualization for Two Quantitative Variables: </a:t>
            </a:r>
            <a:r>
              <a:rPr lang="en-US" b="1" dirty="0">
                <a:solidFill>
                  <a:schemeClr val="accent5">
                    <a:lumMod val="50000"/>
                  </a:schemeClr>
                </a:solidFill>
              </a:rPr>
              <a:t>Scatterplot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39062"/>
            <a:ext cx="8382000" cy="1302258"/>
          </a:xfrm>
        </p:spPr>
        <p:txBody>
          <a:bodyPr/>
          <a:lstStyle/>
          <a:p>
            <a:r>
              <a:rPr lang="en-US" dirty="0"/>
              <a:t>A </a:t>
            </a:r>
            <a:r>
              <a:rPr lang="en-US" b="1" i="1" dirty="0">
                <a:solidFill>
                  <a:schemeClr val="accent5">
                    <a:lumMod val="50000"/>
                  </a:schemeClr>
                </a:solidFill>
              </a:rPr>
              <a:t>scatterplot</a:t>
            </a:r>
            <a:r>
              <a:rPr lang="en-US" dirty="0">
                <a:solidFill>
                  <a:schemeClr val="accent5">
                    <a:lumMod val="50000"/>
                  </a:schemeClr>
                </a:solidFill>
              </a:rPr>
              <a:t> </a:t>
            </a:r>
            <a:r>
              <a:rPr lang="en-US" dirty="0"/>
              <a:t>is the graph of the relationship between two quantitative variables.</a:t>
            </a:r>
          </a:p>
        </p:txBody>
      </p:sp>
      <p:pic>
        <p:nvPicPr>
          <p:cNvPr id="5" name="Picture 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981200" y="2971800"/>
            <a:ext cx="4572000" cy="381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318749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6200" y="0"/>
            <a:ext cx="8991600" cy="1295400"/>
          </a:xfrm>
        </p:spPr>
        <p:txBody>
          <a:bodyPr anchor="ctr">
            <a:normAutofit/>
          </a:bodyPr>
          <a:lstStyle/>
          <a:p>
            <a:r>
              <a:rPr lang="en-US" b="1" dirty="0"/>
              <a:t>Direction of Association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-4690" y="1527517"/>
            <a:ext cx="9148689" cy="5330483"/>
          </a:xfrm>
        </p:spPr>
        <p:txBody>
          <a:bodyPr>
            <a:normAutofit/>
          </a:bodyPr>
          <a:lstStyle/>
          <a:p>
            <a:pPr marL="0" indent="-514350">
              <a:spcBef>
                <a:spcPts val="0"/>
              </a:spcBef>
            </a:pPr>
            <a:r>
              <a:rPr lang="en-US" dirty="0"/>
              <a:t>A </a:t>
            </a:r>
            <a:r>
              <a:rPr lang="en-US" b="1" i="1" dirty="0">
                <a:solidFill>
                  <a:schemeClr val="accent5">
                    <a:lumMod val="50000"/>
                  </a:schemeClr>
                </a:solidFill>
              </a:rPr>
              <a:t>positive association</a:t>
            </a:r>
            <a:r>
              <a:rPr lang="en-US" dirty="0">
                <a:solidFill>
                  <a:schemeClr val="tx2"/>
                </a:solidFill>
              </a:rPr>
              <a:t> </a:t>
            </a:r>
            <a:r>
              <a:rPr lang="en-US" dirty="0"/>
              <a:t>means that values of one variable tend to be higher when values of the other variable are higher</a:t>
            </a:r>
          </a:p>
          <a:p>
            <a:pPr marL="0" indent="-514350">
              <a:spcBef>
                <a:spcPts val="0"/>
              </a:spcBef>
            </a:pPr>
            <a:r>
              <a:rPr lang="en-US" dirty="0"/>
              <a:t>A  </a:t>
            </a:r>
            <a:r>
              <a:rPr lang="en-US" b="1" i="1" dirty="0">
                <a:solidFill>
                  <a:schemeClr val="accent5">
                    <a:lumMod val="50000"/>
                  </a:schemeClr>
                </a:solidFill>
              </a:rPr>
              <a:t>negative association</a:t>
            </a:r>
            <a:r>
              <a:rPr lang="en-US" dirty="0">
                <a:solidFill>
                  <a:schemeClr val="accent5">
                    <a:lumMod val="50000"/>
                  </a:schemeClr>
                </a:solidFill>
              </a:rPr>
              <a:t> </a:t>
            </a:r>
            <a:r>
              <a:rPr lang="en-US" dirty="0"/>
              <a:t>means that values of one variable tend to be lower when values of the other variable are higher</a:t>
            </a:r>
          </a:p>
          <a:p>
            <a:pPr marL="0" indent="-514350">
              <a:spcBef>
                <a:spcPts val="0"/>
              </a:spcBef>
            </a:pPr>
            <a:r>
              <a:rPr lang="en-US" dirty="0"/>
              <a:t>Two variables are </a:t>
            </a:r>
            <a:r>
              <a:rPr lang="en-US" b="1" i="1" dirty="0">
                <a:solidFill>
                  <a:schemeClr val="accent5">
                    <a:lumMod val="50000"/>
                  </a:schemeClr>
                </a:solidFill>
              </a:rPr>
              <a:t>not associated</a:t>
            </a:r>
            <a:r>
              <a:rPr lang="en-US" b="1" i="1" dirty="0">
                <a:solidFill>
                  <a:schemeClr val="tx2"/>
                </a:solidFill>
              </a:rPr>
              <a:t> </a:t>
            </a:r>
            <a:r>
              <a:rPr lang="en-US" dirty="0">
                <a:solidFill>
                  <a:schemeClr val="tx2"/>
                </a:solidFill>
              </a:rPr>
              <a:t> </a:t>
            </a:r>
            <a:r>
              <a:rPr lang="en-US" dirty="0"/>
              <a:t>if knowing the value of one variable does not give you any information about the value of the other variable</a:t>
            </a:r>
          </a:p>
          <a:p>
            <a:pPr marL="0" indent="-514350">
              <a:spcBef>
                <a:spcPts val="0"/>
              </a:spcBef>
            </a:pPr>
            <a:endParaRPr lang="en-US" dirty="0">
              <a:solidFill>
                <a:schemeClr val="tx2"/>
              </a:solidFill>
            </a:endParaRPr>
          </a:p>
          <a:p>
            <a:pPr marL="0" indent="-514350">
              <a:spcBef>
                <a:spcPts val="0"/>
              </a:spcBef>
            </a:pPr>
            <a:endParaRPr lang="en-US" dirty="0">
              <a:solidFill>
                <a:schemeClr val="tx2"/>
              </a:solidFill>
            </a:endParaRPr>
          </a:p>
          <a:p>
            <a:pPr marL="0" indent="-514350">
              <a:spcBef>
                <a:spcPts val="0"/>
              </a:spcBef>
            </a:pPr>
            <a:endParaRPr lang="en-US" dirty="0">
              <a:solidFill>
                <a:schemeClr val="tx2"/>
              </a:solidFill>
            </a:endParaRPr>
          </a:p>
          <a:p>
            <a:pPr marL="0" indent="-514350">
              <a:spcBef>
                <a:spcPts val="0"/>
              </a:spcBef>
            </a:pPr>
            <a:endParaRPr lang="en-US" dirty="0">
              <a:solidFill>
                <a:schemeClr val="tx2"/>
              </a:solidFill>
            </a:endParaRPr>
          </a:p>
          <a:p>
            <a:pPr marL="0" indent="-514350">
              <a:spcBef>
                <a:spcPts val="0"/>
              </a:spcBef>
              <a:buNone/>
            </a:pPr>
            <a:endParaRPr lang="en-US" dirty="0">
              <a:solidFill>
                <a:schemeClr val="tx2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473631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 bldLvl="2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6200" y="0"/>
            <a:ext cx="8991600" cy="1295400"/>
          </a:xfrm>
        </p:spPr>
        <p:txBody>
          <a:bodyPr anchor="ctr">
            <a:normAutofit/>
          </a:bodyPr>
          <a:lstStyle/>
          <a:p>
            <a:r>
              <a:rPr lang="en-US" b="1" dirty="0"/>
              <a:t>Cars Data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0" y="1524000"/>
            <a:ext cx="9144000" cy="5334000"/>
          </a:xfrm>
        </p:spPr>
        <p:txBody>
          <a:bodyPr numCol="2">
            <a:normAutofit fontScale="77500" lnSpcReduction="20000"/>
          </a:bodyPr>
          <a:lstStyle/>
          <a:p>
            <a:pPr marL="0" indent="-514350">
              <a:spcBef>
                <a:spcPts val="0"/>
              </a:spcBef>
              <a:spcAft>
                <a:spcPts val="0"/>
              </a:spcAft>
            </a:pPr>
            <a:r>
              <a:rPr lang="en-US" sz="3500" dirty="0"/>
              <a:t>Quantitative Variables:</a:t>
            </a:r>
          </a:p>
          <a:p>
            <a:pPr marL="914400" lvl="1" indent="-457200">
              <a:spcBef>
                <a:spcPts val="0"/>
              </a:spcBef>
              <a:spcAft>
                <a:spcPts val="0"/>
              </a:spcAft>
            </a:pPr>
            <a:r>
              <a:rPr lang="en-US" sz="3500" dirty="0"/>
              <a:t>Weight (pounds)</a:t>
            </a:r>
          </a:p>
          <a:p>
            <a:pPr marL="914400" lvl="1" indent="-457200">
              <a:spcBef>
                <a:spcPts val="0"/>
              </a:spcBef>
              <a:spcAft>
                <a:spcPts val="0"/>
              </a:spcAft>
            </a:pPr>
            <a:r>
              <a:rPr lang="en-US" sz="3500" dirty="0"/>
              <a:t>City MPG</a:t>
            </a:r>
          </a:p>
          <a:p>
            <a:pPr marL="914400" lvl="1" indent="-457200">
              <a:spcBef>
                <a:spcPts val="0"/>
              </a:spcBef>
              <a:spcAft>
                <a:spcPts val="0"/>
              </a:spcAft>
            </a:pPr>
            <a:r>
              <a:rPr lang="en-US" sz="3500" dirty="0"/>
              <a:t>Fuel capacity (gallons)</a:t>
            </a:r>
          </a:p>
          <a:p>
            <a:pPr marL="914400" lvl="1" indent="-457200">
              <a:spcBef>
                <a:spcPts val="0"/>
              </a:spcBef>
              <a:spcAft>
                <a:spcPts val="0"/>
              </a:spcAft>
            </a:pPr>
            <a:r>
              <a:rPr lang="en-US" sz="3500" dirty="0"/>
              <a:t>Page number (in Consumer Reports)</a:t>
            </a:r>
          </a:p>
          <a:p>
            <a:pPr marL="914400" lvl="1" indent="-457200">
              <a:spcBef>
                <a:spcPts val="0"/>
              </a:spcBef>
              <a:spcAft>
                <a:spcPts val="0"/>
              </a:spcAft>
            </a:pPr>
            <a:r>
              <a:rPr lang="en-US" sz="3500" dirty="0"/>
              <a:t>Time to go ¼ mile (in seconds)</a:t>
            </a:r>
          </a:p>
          <a:p>
            <a:pPr marL="914400" lvl="1" indent="-457200">
              <a:spcBef>
                <a:spcPts val="0"/>
              </a:spcBef>
              <a:spcAft>
                <a:spcPts val="0"/>
              </a:spcAft>
            </a:pPr>
            <a:r>
              <a:rPr lang="en-US" sz="3500" dirty="0"/>
              <a:t>Acceleration time from 0 to 60 mph</a:t>
            </a:r>
          </a:p>
          <a:p>
            <a:pPr marL="914400" lvl="1" indent="-457200">
              <a:spcBef>
                <a:spcPts val="0"/>
              </a:spcBef>
              <a:spcAft>
                <a:spcPts val="0"/>
              </a:spcAft>
              <a:buNone/>
            </a:pPr>
            <a:endParaRPr lang="en-US" sz="3500" dirty="0"/>
          </a:p>
          <a:p>
            <a:pPr marL="914400" lvl="1" indent="-457200">
              <a:spcBef>
                <a:spcPts val="0"/>
              </a:spcBef>
              <a:spcAft>
                <a:spcPts val="0"/>
              </a:spcAft>
              <a:buNone/>
            </a:pPr>
            <a:endParaRPr lang="en-US" sz="3500" dirty="0"/>
          </a:p>
          <a:p>
            <a:pPr marL="914400" lvl="1" indent="-457200">
              <a:spcBef>
                <a:spcPts val="0"/>
              </a:spcBef>
              <a:spcAft>
                <a:spcPts val="0"/>
              </a:spcAft>
              <a:buNone/>
            </a:pPr>
            <a:endParaRPr lang="en-US" sz="3500" dirty="0"/>
          </a:p>
          <a:p>
            <a:pPr marL="914400" lvl="1" indent="-457200">
              <a:spcBef>
                <a:spcPts val="0"/>
              </a:spcBef>
              <a:spcAft>
                <a:spcPts val="0"/>
              </a:spcAft>
              <a:buNone/>
            </a:pPr>
            <a:endParaRPr lang="en-US" sz="3500" dirty="0"/>
          </a:p>
          <a:p>
            <a:pPr marL="0" indent="-514350">
              <a:spcBef>
                <a:spcPts val="0"/>
              </a:spcBef>
              <a:spcAft>
                <a:spcPts val="0"/>
              </a:spcAft>
            </a:pPr>
            <a:r>
              <a:rPr lang="en-US" sz="3500" dirty="0"/>
              <a:t>Relationships</a:t>
            </a:r>
          </a:p>
          <a:p>
            <a:pPr marL="914400" lvl="1" indent="-457200">
              <a:spcBef>
                <a:spcPts val="0"/>
              </a:spcBef>
              <a:spcAft>
                <a:spcPts val="0"/>
              </a:spcAft>
            </a:pPr>
            <a:r>
              <a:rPr lang="en-US" sz="3500" dirty="0"/>
              <a:t>Weight vs. </a:t>
            </a:r>
            <a:r>
              <a:rPr lang="en-US" sz="3500" dirty="0" err="1"/>
              <a:t>CityMPG</a:t>
            </a:r>
            <a:r>
              <a:rPr lang="en-US" sz="3500" dirty="0"/>
              <a:t> </a:t>
            </a:r>
          </a:p>
          <a:p>
            <a:pPr marL="914400" lvl="1" indent="-457200">
              <a:spcBef>
                <a:spcPts val="0"/>
              </a:spcBef>
              <a:spcAft>
                <a:spcPts val="0"/>
              </a:spcAft>
            </a:pPr>
            <a:r>
              <a:rPr lang="en-US" sz="3500" dirty="0"/>
              <a:t>Weight vs. </a:t>
            </a:r>
            <a:r>
              <a:rPr lang="en-US" sz="3500" dirty="0" err="1"/>
              <a:t>FuelCapacity</a:t>
            </a:r>
            <a:r>
              <a:rPr lang="en-US" sz="3500" dirty="0"/>
              <a:t> 	</a:t>
            </a:r>
          </a:p>
          <a:p>
            <a:pPr marL="914400" lvl="1" indent="-457200">
              <a:spcBef>
                <a:spcPts val="0"/>
              </a:spcBef>
              <a:spcAft>
                <a:spcPts val="0"/>
              </a:spcAft>
            </a:pPr>
            <a:r>
              <a:rPr lang="en-US" sz="3500" dirty="0" err="1"/>
              <a:t>PageNum</a:t>
            </a:r>
            <a:r>
              <a:rPr lang="en-US" sz="3500" dirty="0"/>
              <a:t> vs. Fuel Capacity</a:t>
            </a:r>
          </a:p>
          <a:p>
            <a:pPr marL="914400" lvl="1" indent="-457200">
              <a:spcBef>
                <a:spcPts val="0"/>
              </a:spcBef>
              <a:spcAft>
                <a:spcPts val="0"/>
              </a:spcAft>
            </a:pPr>
            <a:r>
              <a:rPr lang="en-US" sz="3500" dirty="0"/>
              <a:t>Weight vs. </a:t>
            </a:r>
            <a:r>
              <a:rPr lang="en-US" sz="3500" dirty="0" err="1"/>
              <a:t>QtrMile</a:t>
            </a:r>
            <a:r>
              <a:rPr lang="en-US" sz="3500" dirty="0"/>
              <a:t> </a:t>
            </a:r>
          </a:p>
          <a:p>
            <a:pPr marL="914400" lvl="1" indent="-457200">
              <a:spcBef>
                <a:spcPts val="0"/>
              </a:spcBef>
              <a:spcAft>
                <a:spcPts val="0"/>
              </a:spcAft>
            </a:pPr>
            <a:r>
              <a:rPr lang="en-US" sz="3500" dirty="0"/>
              <a:t>Acc060 vs. </a:t>
            </a:r>
            <a:r>
              <a:rPr lang="en-US" sz="3500" dirty="0" err="1"/>
              <a:t>QtrMile</a:t>
            </a:r>
            <a:r>
              <a:rPr lang="en-US" sz="3500" dirty="0"/>
              <a:t> </a:t>
            </a:r>
          </a:p>
          <a:p>
            <a:pPr marL="914400" lvl="1" indent="-457200">
              <a:spcBef>
                <a:spcPts val="0"/>
              </a:spcBef>
              <a:spcAft>
                <a:spcPts val="0"/>
              </a:spcAft>
            </a:pPr>
            <a:r>
              <a:rPr lang="en-US" sz="3500" dirty="0" err="1"/>
              <a:t>CityMPG</a:t>
            </a:r>
            <a:r>
              <a:rPr lang="en-US" sz="3500" dirty="0"/>
              <a:t> vs. </a:t>
            </a:r>
            <a:r>
              <a:rPr lang="en-US" sz="3500" dirty="0" err="1"/>
              <a:t>QtrMile</a:t>
            </a:r>
            <a:r>
              <a:rPr lang="en-US" sz="3500" dirty="0"/>
              <a:t> </a:t>
            </a:r>
          </a:p>
          <a:p>
            <a:pPr marL="0" indent="-514350">
              <a:spcBef>
                <a:spcPts val="0"/>
              </a:spcBef>
            </a:pPr>
            <a:endParaRPr lang="en-US" sz="3500" dirty="0">
              <a:solidFill>
                <a:schemeClr val="tx2"/>
              </a:solidFill>
            </a:endParaRPr>
          </a:p>
          <a:p>
            <a:pPr marL="0" indent="-514350">
              <a:spcBef>
                <a:spcPts val="0"/>
              </a:spcBef>
            </a:pPr>
            <a:endParaRPr lang="en-US" sz="3500" dirty="0">
              <a:solidFill>
                <a:schemeClr val="tx2"/>
              </a:solidFill>
            </a:endParaRPr>
          </a:p>
          <a:p>
            <a:pPr marL="0" indent="-514350">
              <a:spcBef>
                <a:spcPts val="0"/>
              </a:spcBef>
            </a:pPr>
            <a:endParaRPr lang="en-US" sz="3500" dirty="0">
              <a:solidFill>
                <a:schemeClr val="tx2"/>
              </a:solidFill>
            </a:endParaRPr>
          </a:p>
          <a:p>
            <a:pPr marL="0" indent="-514350">
              <a:spcBef>
                <a:spcPts val="0"/>
              </a:spcBef>
            </a:pPr>
            <a:endParaRPr lang="en-US" sz="3500" dirty="0">
              <a:solidFill>
                <a:schemeClr val="tx2"/>
              </a:solidFill>
            </a:endParaRPr>
          </a:p>
          <a:p>
            <a:pPr marL="0" indent="-514350">
              <a:spcBef>
                <a:spcPts val="0"/>
              </a:spcBef>
              <a:buNone/>
            </a:pPr>
            <a:endParaRPr lang="en-US" dirty="0">
              <a:solidFill>
                <a:schemeClr val="tx2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002564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 idx="4294967295"/>
          </p:nvPr>
        </p:nvSpPr>
        <p:spPr>
          <a:xfrm>
            <a:off x="0" y="0"/>
            <a:ext cx="8991600" cy="1066800"/>
          </a:xfrm>
        </p:spPr>
        <p:txBody>
          <a:bodyPr anchor="ctr">
            <a:normAutofit/>
          </a:bodyPr>
          <a:lstStyle/>
          <a:p>
            <a:r>
              <a:rPr lang="en-US" b="1" dirty="0"/>
              <a:t>Car Associations</a:t>
            </a: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52400" y="1095375"/>
            <a:ext cx="2857500" cy="23336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</p:pic>
      <p:pic>
        <p:nvPicPr>
          <p:cNvPr id="6" name="Picture 8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124200" y="1095375"/>
            <a:ext cx="2857500" cy="23336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</p:pic>
      <p:pic>
        <p:nvPicPr>
          <p:cNvPr id="7" name="Picture 9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6149926" y="1107538"/>
            <a:ext cx="2857500" cy="23336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</p:pic>
      <p:pic>
        <p:nvPicPr>
          <p:cNvPr id="8" name="Picture 10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152400" y="3629903"/>
            <a:ext cx="2857500" cy="23336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</p:pic>
      <p:pic>
        <p:nvPicPr>
          <p:cNvPr id="9" name="Picture 11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3200400" y="3609975"/>
            <a:ext cx="2857500" cy="23336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</p:pic>
      <p:pic>
        <p:nvPicPr>
          <p:cNvPr id="10" name="Picture 12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6172200" y="3609975"/>
            <a:ext cx="2857500" cy="23336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</p:pic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52400" y="1095375"/>
            <a:ext cx="2857500" cy="2333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" name="Picture 8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124200" y="1095375"/>
            <a:ext cx="2857500" cy="2333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6" name="Picture 11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3200400" y="3609975"/>
            <a:ext cx="2857500" cy="2333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7" name="Picture 12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6172200" y="3609975"/>
            <a:ext cx="2857500" cy="2333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34" name="Ink 33"/>
              <p14:cNvContentPartPr/>
              <p14:nvPr/>
            </p14:nvContentPartPr>
            <p14:xfrm>
              <a:off x="7740720" y="2949120"/>
              <a:ext cx="360" cy="360"/>
            </p14:xfrm>
          </p:contentPart>
        </mc:Choice>
        <mc:Fallback xmlns="">
          <p:pic>
            <p:nvPicPr>
              <p:cNvPr id="34" name="Ink 33"/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7731360" y="2939760"/>
                <a:ext cx="19080" cy="1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39" name="Ink 38"/>
              <p14:cNvContentPartPr/>
              <p14:nvPr/>
            </p14:nvContentPartPr>
            <p14:xfrm>
              <a:off x="6788695" y="2729247"/>
              <a:ext cx="1150200" cy="762480"/>
            </p14:xfrm>
          </p:contentPart>
        </mc:Choice>
        <mc:Fallback xmlns="">
          <p:pic>
            <p:nvPicPr>
              <p:cNvPr id="39" name="Ink 38"/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6773575" y="2714127"/>
                <a:ext cx="1180440" cy="792720"/>
              </a:xfrm>
              <a:prstGeom prst="rect">
                <a:avLst/>
              </a:prstGeom>
            </p:spPr>
          </p:pic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776878207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PQuestion"/>
          <p:cNvSpPr>
            <a:spLocks noGrp="1"/>
          </p:cNvSpPr>
          <p:nvPr>
            <p:ph type="title" idx="4294967295"/>
          </p:nvPr>
        </p:nvSpPr>
        <p:spPr>
          <a:xfrm>
            <a:off x="0" y="274638"/>
            <a:ext cx="9144000" cy="1706562"/>
          </a:xfrm>
        </p:spPr>
        <p:txBody>
          <a:bodyPr>
            <a:noAutofit/>
          </a:bodyPr>
          <a:lstStyle/>
          <a:p>
            <a:r>
              <a:rPr lang="en-US" sz="3600" b="1" dirty="0"/>
              <a:t>For the two variables:  number of cigarettes smoked per day and lung capacity, we expect the association to be:</a:t>
            </a:r>
          </a:p>
        </p:txBody>
      </p:sp>
      <p:sp>
        <p:nvSpPr>
          <p:cNvPr id="3" name="TPAnswers"/>
          <p:cNvSpPr>
            <a:spLocks noGrp="1"/>
          </p:cNvSpPr>
          <p:nvPr>
            <p:ph type="body" idx="4294967295"/>
            <p:custDataLst>
              <p:tags r:id="rId2"/>
            </p:custDataLst>
          </p:nvPr>
        </p:nvSpPr>
        <p:spPr>
          <a:xfrm>
            <a:off x="533400" y="2332037"/>
            <a:ext cx="4114800" cy="4525963"/>
          </a:xfrm>
        </p:spPr>
        <p:txBody>
          <a:bodyPr>
            <a:normAutofit/>
          </a:bodyPr>
          <a:lstStyle/>
          <a:p>
            <a:pPr marL="514350" indent="-514350">
              <a:buAutoNum type="alphaUcPeriod"/>
            </a:pPr>
            <a:r>
              <a:rPr lang="en-US" sz="3200" dirty="0"/>
              <a:t>Positive</a:t>
            </a:r>
          </a:p>
          <a:p>
            <a:pPr marL="514350" indent="-514350">
              <a:buAutoNum type="alphaUcPeriod"/>
            </a:pPr>
            <a:r>
              <a:rPr lang="en-US" sz="3200" dirty="0"/>
              <a:t>Negative</a:t>
            </a:r>
          </a:p>
          <a:p>
            <a:pPr marL="514350" indent="-514350">
              <a:buAutoNum type="alphaUcPeriod"/>
            </a:pPr>
            <a:r>
              <a:rPr lang="en-US" sz="3200" dirty="0"/>
              <a:t>No association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685607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PQuestion"/>
          <p:cNvSpPr>
            <a:spLocks noGrp="1"/>
          </p:cNvSpPr>
          <p:nvPr>
            <p:ph type="title" idx="4294967295"/>
          </p:nvPr>
        </p:nvSpPr>
        <p:spPr>
          <a:xfrm>
            <a:off x="0" y="228600"/>
            <a:ext cx="9144000" cy="1905000"/>
          </a:xfrm>
        </p:spPr>
        <p:txBody>
          <a:bodyPr>
            <a:normAutofit/>
          </a:bodyPr>
          <a:lstStyle/>
          <a:p>
            <a:r>
              <a:rPr lang="en-US" sz="3600" b="1" dirty="0"/>
              <a:t>For the two variables:  age of the husband and age of the wife, we expect the association to be:</a:t>
            </a:r>
          </a:p>
        </p:txBody>
      </p:sp>
      <p:sp>
        <p:nvSpPr>
          <p:cNvPr id="3" name="TPAnswers"/>
          <p:cNvSpPr>
            <a:spLocks noGrp="1"/>
          </p:cNvSpPr>
          <p:nvPr>
            <p:ph type="body" idx="4294967295"/>
            <p:custDataLst>
              <p:tags r:id="rId2"/>
            </p:custDataLst>
          </p:nvPr>
        </p:nvSpPr>
        <p:spPr>
          <a:xfrm>
            <a:off x="526473" y="2299855"/>
            <a:ext cx="3962400" cy="2209800"/>
          </a:xfrm>
        </p:spPr>
        <p:txBody>
          <a:bodyPr>
            <a:normAutofit/>
          </a:bodyPr>
          <a:lstStyle/>
          <a:p>
            <a:pPr marL="514350" indent="-514350">
              <a:buAutoNum type="alphaUcPeriod"/>
            </a:pPr>
            <a:r>
              <a:rPr lang="en-US" sz="3200" dirty="0"/>
              <a:t>Positive</a:t>
            </a:r>
          </a:p>
          <a:p>
            <a:pPr marL="514350" indent="-514350">
              <a:buAutoNum type="alphaUcPeriod"/>
            </a:pPr>
            <a:r>
              <a:rPr lang="en-US" sz="3200" dirty="0"/>
              <a:t>Negative</a:t>
            </a:r>
          </a:p>
          <a:p>
            <a:pPr marL="514350" indent="-514350">
              <a:buAutoNum type="alphaUcPeriod"/>
            </a:pPr>
            <a:r>
              <a:rPr lang="en-US" sz="3200" dirty="0"/>
              <a:t>No association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320186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PQuestion"/>
          <p:cNvSpPr>
            <a:spLocks noGrp="1"/>
          </p:cNvSpPr>
          <p:nvPr>
            <p:ph type="title" idx="4294967295"/>
          </p:nvPr>
        </p:nvSpPr>
        <p:spPr>
          <a:xfrm>
            <a:off x="13854" y="304800"/>
            <a:ext cx="9130145" cy="1676400"/>
          </a:xfrm>
        </p:spPr>
        <p:txBody>
          <a:bodyPr>
            <a:noAutofit/>
          </a:bodyPr>
          <a:lstStyle/>
          <a:p>
            <a:r>
              <a:rPr lang="en-US" sz="3600" b="1" dirty="0"/>
              <a:t>For the two variables: depth of tire tread and number of miles driven on the tires, we expect the association to be:</a:t>
            </a:r>
          </a:p>
        </p:txBody>
      </p:sp>
      <p:sp>
        <p:nvSpPr>
          <p:cNvPr id="3" name="TPAnswers"/>
          <p:cNvSpPr>
            <a:spLocks noGrp="1"/>
          </p:cNvSpPr>
          <p:nvPr>
            <p:ph type="body" idx="4294967295"/>
            <p:custDataLst>
              <p:tags r:id="rId2"/>
            </p:custDataLst>
          </p:nvPr>
        </p:nvSpPr>
        <p:spPr>
          <a:xfrm>
            <a:off x="457200" y="2362200"/>
            <a:ext cx="4038600" cy="2514600"/>
          </a:xfrm>
        </p:spPr>
        <p:txBody>
          <a:bodyPr>
            <a:normAutofit/>
          </a:bodyPr>
          <a:lstStyle/>
          <a:p>
            <a:pPr marL="514350" indent="-514350">
              <a:buAutoNum type="alphaUcPeriod"/>
            </a:pPr>
            <a:r>
              <a:rPr lang="en-US" sz="3200" dirty="0"/>
              <a:t>Positive</a:t>
            </a:r>
          </a:p>
          <a:p>
            <a:pPr marL="514350" indent="-514350">
              <a:buAutoNum type="alphaUcPeriod"/>
            </a:pPr>
            <a:r>
              <a:rPr lang="en-US" sz="3200" dirty="0"/>
              <a:t>Negative</a:t>
            </a:r>
          </a:p>
          <a:p>
            <a:pPr marL="514350" indent="-514350">
              <a:buAutoNum type="alphaUcPeriod"/>
            </a:pPr>
            <a:r>
              <a:rPr lang="en-US" sz="3200" dirty="0"/>
              <a:t>No association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068791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152400"/>
            <a:ext cx="8839200" cy="99060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Summary Statistic for Two Quantitative Variables: </a:t>
            </a:r>
            <a:r>
              <a:rPr lang="en-US" b="1" dirty="0">
                <a:solidFill>
                  <a:schemeClr val="accent5">
                    <a:lumMod val="50000"/>
                  </a:schemeClr>
                </a:solidFill>
              </a:rPr>
              <a:t>Correlation Coefficient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1905000"/>
            <a:ext cx="7620000" cy="1905000"/>
          </a:xfrm>
        </p:spPr>
        <p:txBody>
          <a:bodyPr>
            <a:noAutofit/>
          </a:bodyPr>
          <a:lstStyle/>
          <a:p>
            <a:r>
              <a:rPr lang="en-US" dirty="0"/>
              <a:t>The </a:t>
            </a:r>
            <a:r>
              <a:rPr lang="en-US" b="1" i="1" dirty="0">
                <a:solidFill>
                  <a:schemeClr val="accent5">
                    <a:lumMod val="50000"/>
                  </a:schemeClr>
                </a:solidFill>
              </a:rPr>
              <a:t>correlation</a:t>
            </a:r>
            <a:r>
              <a:rPr lang="en-US" dirty="0"/>
              <a:t>, or </a:t>
            </a:r>
            <a:r>
              <a:rPr lang="en-US" b="1" i="1" dirty="0">
                <a:solidFill>
                  <a:schemeClr val="accent5">
                    <a:lumMod val="50000"/>
                  </a:schemeClr>
                </a:solidFill>
              </a:rPr>
              <a:t>correlation coefficient</a:t>
            </a:r>
            <a:r>
              <a:rPr lang="en-US" dirty="0"/>
              <a:t>, is a measure of the strength and direction of linear association between two quantitative variables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3810000"/>
            <a:ext cx="65532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accent1"/>
              </a:buClr>
              <a:buFont typeface="Arial" pitchFamily="34" charset="0"/>
              <a:buChar char="•"/>
            </a:pPr>
            <a:r>
              <a:rPr lang="en-US" sz="3200" dirty="0"/>
              <a:t>Sample correlation: </a:t>
            </a:r>
            <a:r>
              <a:rPr lang="en-US" sz="3200" i="1" dirty="0"/>
              <a:t>r</a:t>
            </a:r>
          </a:p>
          <a:p>
            <a:pPr marL="285750" indent="-285750">
              <a:buClr>
                <a:schemeClr val="accent1"/>
              </a:buClr>
              <a:buFont typeface="Arial" pitchFamily="34" charset="0"/>
              <a:buChar char="•"/>
            </a:pPr>
            <a:r>
              <a:rPr lang="en-US" sz="3200" dirty="0"/>
              <a:t>Population correlation: </a:t>
            </a:r>
            <a:r>
              <a:rPr lang="en-US" sz="3200" i="1" dirty="0">
                <a:sym typeface="Symbol"/>
              </a:rPr>
              <a:t> </a:t>
            </a:r>
            <a:r>
              <a:rPr lang="en-US" sz="3200" dirty="0">
                <a:sym typeface="Symbol"/>
              </a:rPr>
              <a:t>(“rho”)</a:t>
            </a:r>
            <a:endParaRPr lang="en-US" sz="3200" i="1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511526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 idx="4294967295"/>
          </p:nvPr>
        </p:nvSpPr>
        <p:spPr>
          <a:xfrm>
            <a:off x="0" y="0"/>
            <a:ext cx="8991600" cy="1066800"/>
          </a:xfrm>
        </p:spPr>
        <p:txBody>
          <a:bodyPr anchor="ctr">
            <a:normAutofit/>
          </a:bodyPr>
          <a:lstStyle/>
          <a:p>
            <a:r>
              <a:rPr lang="en-US" b="1" dirty="0"/>
              <a:t>Car Correlations</a:t>
            </a: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52400" y="942975"/>
            <a:ext cx="2857500" cy="23336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</p:pic>
      <p:pic>
        <p:nvPicPr>
          <p:cNvPr id="6" name="Picture 8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124200" y="942975"/>
            <a:ext cx="2857500" cy="23336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</p:pic>
      <p:pic>
        <p:nvPicPr>
          <p:cNvPr id="7" name="Picture 9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6165166" y="928175"/>
            <a:ext cx="2857500" cy="23336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</p:pic>
      <p:pic>
        <p:nvPicPr>
          <p:cNvPr id="8" name="Picture 10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266700" y="3457574"/>
            <a:ext cx="2857500" cy="23336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</p:pic>
      <p:pic>
        <p:nvPicPr>
          <p:cNvPr id="9" name="Picture 11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3200400" y="3457575"/>
            <a:ext cx="2857500" cy="23336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</p:pic>
      <p:pic>
        <p:nvPicPr>
          <p:cNvPr id="10" name="Picture 12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6172200" y="3457575"/>
            <a:ext cx="2857500" cy="23336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</p:pic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52400" y="942975"/>
            <a:ext cx="2857500" cy="2333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" name="Picture 8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124200" y="942975"/>
            <a:ext cx="2857500" cy="2333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5" name="Picture 10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322971" y="3457573"/>
            <a:ext cx="2857500" cy="2333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6" name="Picture 11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3233225" y="3457575"/>
            <a:ext cx="2857500" cy="2333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7" name="Picture 12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6172200" y="3457575"/>
            <a:ext cx="2857500" cy="2333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8" name="TextBox 17"/>
          <p:cNvSpPr txBox="1">
            <a:spLocks noChangeArrowheads="1"/>
          </p:cNvSpPr>
          <p:nvPr/>
        </p:nvSpPr>
        <p:spPr bwMode="auto">
          <a:xfrm>
            <a:off x="838200" y="5805658"/>
            <a:ext cx="7543800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3200" b="1" i="1" dirty="0">
                <a:solidFill>
                  <a:schemeClr val="accent5">
                    <a:lumMod val="50000"/>
                  </a:schemeClr>
                </a:solidFill>
              </a:rPr>
              <a:t>What are the properties of correlation?</a:t>
            </a:r>
          </a:p>
        </p:txBody>
      </p:sp>
      <p:sp>
        <p:nvSpPr>
          <p:cNvPr id="19" name="Text Box 11"/>
          <p:cNvSpPr txBox="1">
            <a:spLocks noChangeArrowheads="1"/>
          </p:cNvSpPr>
          <p:nvPr/>
        </p:nvSpPr>
        <p:spPr bwMode="auto">
          <a:xfrm>
            <a:off x="1828800" y="1323975"/>
            <a:ext cx="990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dirty="0">
                <a:solidFill>
                  <a:srgbClr val="FF0000"/>
                </a:solidFill>
              </a:rPr>
              <a:t>(-.91)</a:t>
            </a:r>
          </a:p>
        </p:txBody>
      </p:sp>
      <p:sp>
        <p:nvSpPr>
          <p:cNvPr id="20" name="Text Box 12"/>
          <p:cNvSpPr txBox="1">
            <a:spLocks noChangeArrowheads="1"/>
          </p:cNvSpPr>
          <p:nvPr/>
        </p:nvSpPr>
        <p:spPr bwMode="auto">
          <a:xfrm>
            <a:off x="4800600" y="2238375"/>
            <a:ext cx="914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dirty="0">
                <a:solidFill>
                  <a:srgbClr val="FF0000"/>
                </a:solidFill>
              </a:rPr>
              <a:t>(.89)</a:t>
            </a:r>
          </a:p>
        </p:txBody>
      </p:sp>
      <p:sp>
        <p:nvSpPr>
          <p:cNvPr id="21" name="Text Box 13"/>
          <p:cNvSpPr txBox="1">
            <a:spLocks noChangeArrowheads="1"/>
          </p:cNvSpPr>
          <p:nvPr/>
        </p:nvSpPr>
        <p:spPr bwMode="auto">
          <a:xfrm>
            <a:off x="1981200" y="4905375"/>
            <a:ext cx="990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>
            <a:defPPr>
              <a:defRPr lang="en-US"/>
            </a:defPPr>
            <a:lvl1pPr>
              <a:spcBef>
                <a:spcPct val="50000"/>
              </a:spcBef>
              <a:defRPr sz="2400">
                <a:solidFill>
                  <a:srgbClr val="FF0000"/>
                </a:solidFill>
              </a:defRPr>
            </a:lvl1pPr>
          </a:lstStyle>
          <a:p>
            <a:r>
              <a:rPr lang="en-US" dirty="0"/>
              <a:t>(-.08)</a:t>
            </a:r>
          </a:p>
        </p:txBody>
      </p:sp>
      <p:sp>
        <p:nvSpPr>
          <p:cNvPr id="22" name="Text Box 14"/>
          <p:cNvSpPr txBox="1">
            <a:spLocks noChangeArrowheads="1"/>
          </p:cNvSpPr>
          <p:nvPr/>
        </p:nvSpPr>
        <p:spPr bwMode="auto">
          <a:xfrm>
            <a:off x="6705600" y="2390775"/>
            <a:ext cx="1219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>
            <a:defPPr>
              <a:defRPr lang="en-US"/>
            </a:defPPr>
            <a:lvl1pPr>
              <a:spcBef>
                <a:spcPct val="50000"/>
              </a:spcBef>
              <a:defRPr sz="2400">
                <a:solidFill>
                  <a:srgbClr val="FF0000"/>
                </a:solidFill>
              </a:defRPr>
            </a:lvl1pPr>
          </a:lstStyle>
          <a:p>
            <a:r>
              <a:rPr lang="en-US" dirty="0"/>
              <a:t>(-.45)</a:t>
            </a:r>
          </a:p>
        </p:txBody>
      </p:sp>
      <p:sp>
        <p:nvSpPr>
          <p:cNvPr id="23" name="Text Box 15"/>
          <p:cNvSpPr txBox="1">
            <a:spLocks noChangeArrowheads="1"/>
          </p:cNvSpPr>
          <p:nvPr/>
        </p:nvSpPr>
        <p:spPr bwMode="auto">
          <a:xfrm>
            <a:off x="4800600" y="4752975"/>
            <a:ext cx="990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dirty="0">
                <a:solidFill>
                  <a:srgbClr val="FF0000"/>
                </a:solidFill>
              </a:rPr>
              <a:t>(.99)</a:t>
            </a:r>
          </a:p>
        </p:txBody>
      </p:sp>
      <p:sp>
        <p:nvSpPr>
          <p:cNvPr id="24" name="Text Box 16"/>
          <p:cNvSpPr txBox="1">
            <a:spLocks noChangeArrowheads="1"/>
          </p:cNvSpPr>
          <p:nvPr/>
        </p:nvSpPr>
        <p:spPr bwMode="auto">
          <a:xfrm>
            <a:off x="6705600" y="3990975"/>
            <a:ext cx="914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dirty="0">
                <a:solidFill>
                  <a:srgbClr val="FF0000"/>
                </a:solidFill>
              </a:rPr>
              <a:t>(.51)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1250243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9" grpId="0"/>
      <p:bldP spid="20" grpId="0"/>
      <p:bldP spid="21" grpId="0"/>
      <p:bldP spid="22" grpId="0"/>
      <p:bldP spid="23" grpId="0"/>
      <p:bldP spid="2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6200" y="0"/>
            <a:ext cx="8991600" cy="1295400"/>
          </a:xfrm>
        </p:spPr>
        <p:txBody>
          <a:bodyPr anchor="ctr">
            <a:normAutofit/>
          </a:bodyPr>
          <a:lstStyle/>
          <a:p>
            <a:r>
              <a:rPr lang="en-US" b="1" dirty="0"/>
              <a:t>Properties of Correlation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0" y="1524000"/>
            <a:ext cx="9144000" cy="5334000"/>
          </a:xfrm>
        </p:spPr>
        <p:txBody>
          <a:bodyPr>
            <a:normAutofit lnSpcReduction="10000"/>
          </a:bodyPr>
          <a:lstStyle/>
          <a:p>
            <a:pPr marL="0" indent="-514350">
              <a:spcBef>
                <a:spcPts val="0"/>
              </a:spcBef>
              <a:buFont typeface="+mj-lt"/>
              <a:buAutoNum type="arabicPeriod"/>
            </a:pPr>
            <a:r>
              <a:rPr lang="en-US" dirty="0"/>
              <a:t>-1 ≤ </a:t>
            </a:r>
            <a:r>
              <a:rPr lang="en-US" i="1" dirty="0"/>
              <a:t>r</a:t>
            </a:r>
            <a:r>
              <a:rPr lang="en-US" dirty="0"/>
              <a:t> ≤ 1</a:t>
            </a:r>
          </a:p>
          <a:p>
            <a:pPr marL="0" indent="-51435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dirty="0"/>
              <a:t>The sign indicates the direction of association</a:t>
            </a:r>
          </a:p>
          <a:p>
            <a:pPr marL="914400" lvl="1" indent="-514350">
              <a:spcAft>
                <a:spcPts val="0"/>
              </a:spcAft>
              <a:buFont typeface="+mj-lt"/>
              <a:buAutoNum type="arabicPeriod"/>
            </a:pPr>
            <a:r>
              <a:rPr lang="en-US" dirty="0"/>
              <a:t>positive association: </a:t>
            </a:r>
            <a:r>
              <a:rPr lang="en-US" i="1" dirty="0"/>
              <a:t>r</a:t>
            </a:r>
            <a:r>
              <a:rPr lang="en-US" dirty="0"/>
              <a:t> &gt; 0</a:t>
            </a:r>
          </a:p>
          <a:p>
            <a:pPr marL="914400" lvl="1" indent="-514350">
              <a:spcAft>
                <a:spcPts val="0"/>
              </a:spcAft>
              <a:buFont typeface="+mj-lt"/>
              <a:buAutoNum type="arabicPeriod"/>
            </a:pPr>
            <a:r>
              <a:rPr lang="en-US" dirty="0"/>
              <a:t>negative association: </a:t>
            </a:r>
            <a:r>
              <a:rPr lang="en-US" i="1" dirty="0"/>
              <a:t>r</a:t>
            </a:r>
            <a:r>
              <a:rPr lang="en-US" dirty="0"/>
              <a:t> &lt; 0</a:t>
            </a:r>
          </a:p>
          <a:p>
            <a:pPr marL="914400" lvl="1" indent="-514350">
              <a:buFont typeface="+mj-lt"/>
              <a:buAutoNum type="arabicPeriod"/>
            </a:pPr>
            <a:r>
              <a:rPr lang="en-US" dirty="0"/>
              <a:t>no linear association: </a:t>
            </a:r>
            <a:r>
              <a:rPr lang="en-US" i="1" dirty="0"/>
              <a:t>r</a:t>
            </a:r>
            <a:r>
              <a:rPr lang="en-US" dirty="0"/>
              <a:t> </a:t>
            </a:r>
            <a:r>
              <a:rPr lang="en-US" dirty="0">
                <a:sym typeface="Symbol"/>
              </a:rPr>
              <a:t></a:t>
            </a:r>
            <a:r>
              <a:rPr lang="en-US" dirty="0"/>
              <a:t> 0</a:t>
            </a:r>
          </a:p>
          <a:p>
            <a:pPr marL="0" indent="-514350">
              <a:spcBef>
                <a:spcPts val="0"/>
              </a:spcBef>
              <a:buFont typeface="+mj-lt"/>
              <a:buAutoNum type="arabicPeriod"/>
            </a:pPr>
            <a:r>
              <a:rPr lang="en-US" dirty="0"/>
              <a:t>The closer </a:t>
            </a:r>
            <a:r>
              <a:rPr lang="en-US" i="1" dirty="0"/>
              <a:t>r</a:t>
            </a:r>
            <a:r>
              <a:rPr lang="en-US" dirty="0"/>
              <a:t> is to ±1, the stronger the linear association</a:t>
            </a:r>
          </a:p>
          <a:p>
            <a:pPr marL="0" indent="-514350">
              <a:spcBef>
                <a:spcPts val="0"/>
              </a:spcBef>
              <a:buFont typeface="+mj-lt"/>
              <a:buAutoNum type="arabicPeriod"/>
            </a:pPr>
            <a:r>
              <a:rPr lang="en-US" dirty="0"/>
              <a:t> </a:t>
            </a:r>
            <a:r>
              <a:rPr lang="en-US" i="1" dirty="0"/>
              <a:t>r</a:t>
            </a:r>
            <a:r>
              <a:rPr lang="en-US" dirty="0"/>
              <a:t> has no units and does not depend on the units of measurement</a:t>
            </a:r>
          </a:p>
          <a:p>
            <a:pPr marL="0" indent="-514350">
              <a:spcBef>
                <a:spcPts val="0"/>
              </a:spcBef>
              <a:buFont typeface="+mj-lt"/>
              <a:buAutoNum type="arabicPeriod"/>
            </a:pPr>
            <a:r>
              <a:rPr lang="en-US" dirty="0"/>
              <a:t>The correlation between </a:t>
            </a:r>
            <a:r>
              <a:rPr lang="en-US" i="1" dirty="0"/>
              <a:t>X </a:t>
            </a:r>
            <a:r>
              <a:rPr lang="en-US" dirty="0"/>
              <a:t>and </a:t>
            </a:r>
            <a:r>
              <a:rPr lang="en-US" i="1" dirty="0"/>
              <a:t>Y</a:t>
            </a:r>
            <a:r>
              <a:rPr lang="en-US" dirty="0"/>
              <a:t> is the same as the correlation between </a:t>
            </a:r>
            <a:r>
              <a:rPr lang="en-US" i="1" dirty="0"/>
              <a:t>Y</a:t>
            </a:r>
            <a:r>
              <a:rPr lang="en-US" dirty="0"/>
              <a:t> and </a:t>
            </a:r>
            <a:r>
              <a:rPr lang="en-US" i="1" dirty="0"/>
              <a:t>X</a:t>
            </a:r>
            <a:endParaRPr lang="en-US" dirty="0"/>
          </a:p>
          <a:p>
            <a:pPr marL="0" indent="-514350">
              <a:spcBef>
                <a:spcPts val="0"/>
              </a:spcBef>
            </a:pPr>
            <a:endParaRPr lang="en-US" dirty="0">
              <a:solidFill>
                <a:schemeClr val="tx2"/>
              </a:solidFill>
            </a:endParaRPr>
          </a:p>
          <a:p>
            <a:pPr marL="0" indent="-514350">
              <a:spcBef>
                <a:spcPts val="0"/>
              </a:spcBef>
            </a:pPr>
            <a:endParaRPr lang="en-US" dirty="0">
              <a:solidFill>
                <a:schemeClr val="tx2"/>
              </a:solidFill>
            </a:endParaRPr>
          </a:p>
          <a:p>
            <a:pPr marL="0" indent="-514350">
              <a:spcBef>
                <a:spcPts val="0"/>
              </a:spcBef>
            </a:pPr>
            <a:endParaRPr lang="en-US" dirty="0">
              <a:solidFill>
                <a:schemeClr val="tx2"/>
              </a:solidFill>
            </a:endParaRPr>
          </a:p>
          <a:p>
            <a:pPr marL="0" indent="-514350">
              <a:spcBef>
                <a:spcPts val="0"/>
              </a:spcBef>
            </a:pPr>
            <a:endParaRPr lang="en-US" dirty="0">
              <a:solidFill>
                <a:schemeClr val="tx2"/>
              </a:solidFill>
            </a:endParaRPr>
          </a:p>
          <a:p>
            <a:pPr marL="0" indent="-514350">
              <a:spcBef>
                <a:spcPts val="0"/>
              </a:spcBef>
              <a:buNone/>
            </a:pPr>
            <a:endParaRPr lang="en-US" dirty="0">
              <a:solidFill>
                <a:schemeClr val="tx2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16010283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0" y="0"/>
            <a:ext cx="9144000" cy="838200"/>
          </a:xfrm>
        </p:spPr>
        <p:txBody>
          <a:bodyPr>
            <a:normAutofit/>
          </a:bodyPr>
          <a:lstStyle/>
          <a:p>
            <a:r>
              <a:rPr lang="en-US" sz="4000" b="1" dirty="0"/>
              <a:t>Obtaining the Correlation Coefficient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4294967295"/>
          </p:nvPr>
        </p:nvSpPr>
        <p:spPr>
          <a:xfrm>
            <a:off x="0" y="762000"/>
            <a:ext cx="9144000" cy="6096000"/>
          </a:xfrm>
        </p:spPr>
        <p:txBody>
          <a:bodyPr/>
          <a:lstStyle/>
          <a:p>
            <a:r>
              <a:rPr lang="en-US" dirty="0"/>
              <a:t>On the TI-83/84</a:t>
            </a:r>
          </a:p>
          <a:p>
            <a:pPr marL="365760" lvl="1" indent="0">
              <a:buNone/>
            </a:pPr>
            <a:endParaRPr lang="en-US" dirty="0"/>
          </a:p>
          <a:p>
            <a:r>
              <a:rPr lang="en-US" dirty="0"/>
              <a:t>Using </a:t>
            </a:r>
            <a:r>
              <a:rPr lang="en-US" dirty="0" err="1">
                <a:hlinkClick r:id="rId2"/>
              </a:rPr>
              <a:t>StatKey</a:t>
            </a:r>
            <a:endParaRPr lang="en-US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514600"/>
            <a:ext cx="9144000" cy="41709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Oval 3"/>
          <p:cNvSpPr/>
          <p:nvPr/>
        </p:nvSpPr>
        <p:spPr>
          <a:xfrm>
            <a:off x="6324600" y="3886200"/>
            <a:ext cx="2667000" cy="436418"/>
          </a:xfrm>
          <a:prstGeom prst="ellipse">
            <a:avLst/>
          </a:prstGeom>
          <a:noFill/>
          <a:ln w="317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6438900" y="5181599"/>
            <a:ext cx="2438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  <a:latin typeface="Segoe Print" panose="02000600000000000000" pitchFamily="2" charset="0"/>
              </a:rPr>
              <a:t>r = 0.983</a:t>
            </a:r>
          </a:p>
        </p:txBody>
      </p:sp>
    </p:spTree>
    <p:extLst>
      <p:ext uri="{BB962C8B-B14F-4D97-AF65-F5344CB8AC3E}">
        <p14:creationId xmlns:p14="http://schemas.microsoft.com/office/powerpoint/2010/main" val="31038493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PQuestion"/>
          <p:cNvSpPr>
            <a:spLocks noGrp="1"/>
          </p:cNvSpPr>
          <p:nvPr>
            <p:ph type="title" idx="4294967295"/>
          </p:nvPr>
        </p:nvSpPr>
        <p:spPr>
          <a:xfrm>
            <a:off x="0" y="274638"/>
            <a:ext cx="9144000" cy="1020762"/>
          </a:xfrm>
        </p:spPr>
        <p:txBody>
          <a:bodyPr>
            <a:noAutofit/>
          </a:bodyPr>
          <a:lstStyle/>
          <a:p>
            <a:r>
              <a:rPr lang="en-US" sz="3600" b="1" dirty="0"/>
              <a:t>For the scatterplot below, the correlation is closest to:</a:t>
            </a:r>
          </a:p>
        </p:txBody>
      </p:sp>
      <p:sp>
        <p:nvSpPr>
          <p:cNvPr id="3" name="TPAnswers"/>
          <p:cNvSpPr>
            <a:spLocks noGrp="1"/>
          </p:cNvSpPr>
          <p:nvPr>
            <p:ph type="body" idx="4294967295"/>
            <p:custDataLst>
              <p:tags r:id="rId2"/>
            </p:custDataLst>
          </p:nvPr>
        </p:nvSpPr>
        <p:spPr>
          <a:xfrm>
            <a:off x="5638800" y="762000"/>
            <a:ext cx="1752600" cy="3048000"/>
          </a:xfrm>
        </p:spPr>
        <p:txBody>
          <a:bodyPr>
            <a:normAutofit/>
          </a:bodyPr>
          <a:lstStyle/>
          <a:p>
            <a:pPr marL="514350" indent="-514350">
              <a:buAutoNum type="alphaUcPeriod"/>
            </a:pPr>
            <a:r>
              <a:rPr lang="en-US" sz="3200" dirty="0"/>
              <a:t>- 1</a:t>
            </a:r>
          </a:p>
          <a:p>
            <a:pPr marL="514350" indent="-514350">
              <a:buAutoNum type="alphaUcPeriod"/>
            </a:pPr>
            <a:r>
              <a:rPr lang="en-US" sz="3200" dirty="0"/>
              <a:t>- ½ </a:t>
            </a:r>
          </a:p>
          <a:p>
            <a:pPr marL="514350" indent="-514350">
              <a:buAutoNum type="alphaUcPeriod"/>
            </a:pPr>
            <a:r>
              <a:rPr lang="en-US" sz="3200" dirty="0"/>
              <a:t>0</a:t>
            </a:r>
          </a:p>
          <a:p>
            <a:pPr marL="514350" indent="-514350">
              <a:buAutoNum type="alphaUcPeriod"/>
            </a:pPr>
            <a:r>
              <a:rPr lang="en-US" sz="3200" dirty="0"/>
              <a:t>½</a:t>
            </a:r>
          </a:p>
          <a:p>
            <a:pPr marL="514350" indent="-514350">
              <a:buAutoNum type="alphaUcPeriod"/>
            </a:pPr>
            <a:r>
              <a:rPr lang="en-US" sz="3200" dirty="0"/>
              <a:t>2 </a:t>
            </a:r>
          </a:p>
        </p:txBody>
      </p:sp>
      <p:pic>
        <p:nvPicPr>
          <p:cNvPr id="5" name="Picture 9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04800" y="1828800"/>
            <a:ext cx="4198776" cy="3429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</p:pic>
      <p:sp>
        <p:nvSpPr>
          <p:cNvPr id="6" name="Rectangle 5"/>
          <p:cNvSpPr/>
          <p:nvPr/>
        </p:nvSpPr>
        <p:spPr>
          <a:xfrm>
            <a:off x="304800" y="3048000"/>
            <a:ext cx="304800" cy="914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286000" y="5029200"/>
            <a:ext cx="914400" cy="228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127157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6200" y="0"/>
            <a:ext cx="8991600" cy="1295400"/>
          </a:xfrm>
        </p:spPr>
        <p:txBody>
          <a:bodyPr anchor="ctr">
            <a:normAutofit/>
          </a:bodyPr>
          <a:lstStyle/>
          <a:p>
            <a:r>
              <a:rPr lang="en-US" b="1" dirty="0"/>
              <a:t>Correlation Guessing Game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0" y="1591115"/>
            <a:ext cx="9144000" cy="5266885"/>
          </a:xfrm>
        </p:spPr>
        <p:txBody>
          <a:bodyPr>
            <a:normAutofit/>
          </a:bodyPr>
          <a:lstStyle/>
          <a:p>
            <a:pPr marL="0" indent="-514350">
              <a:spcBef>
                <a:spcPts val="0"/>
              </a:spcBef>
              <a:buNone/>
            </a:pPr>
            <a:r>
              <a:rPr lang="en-US" dirty="0">
                <a:hlinkClick r:id="rId3"/>
              </a:rPr>
              <a:t>http://istics.net/stat/Correlations/</a:t>
            </a:r>
            <a:endParaRPr lang="en-US" dirty="0">
              <a:solidFill>
                <a:schemeClr val="tx2"/>
              </a:solidFill>
            </a:endParaRPr>
          </a:p>
          <a:p>
            <a:pPr marL="800100" lvl="2" indent="-514350">
              <a:spcBef>
                <a:spcPts val="0"/>
              </a:spcBef>
              <a:buNone/>
            </a:pPr>
            <a:endParaRPr lang="en-US" dirty="0">
              <a:solidFill>
                <a:schemeClr val="tx2"/>
              </a:solidFill>
            </a:endParaRPr>
          </a:p>
          <a:p>
            <a:pPr marL="0" indent="-514350">
              <a:spcBef>
                <a:spcPts val="0"/>
              </a:spcBef>
            </a:pPr>
            <a:endParaRPr lang="en-US" dirty="0">
              <a:solidFill>
                <a:schemeClr val="tx2"/>
              </a:solidFill>
            </a:endParaRPr>
          </a:p>
          <a:p>
            <a:pPr marL="400050" lvl="1" indent="-514350">
              <a:spcBef>
                <a:spcPts val="0"/>
              </a:spcBef>
            </a:pPr>
            <a:endParaRPr lang="en-US" dirty="0">
              <a:solidFill>
                <a:schemeClr val="tx2"/>
              </a:solidFill>
            </a:endParaRPr>
          </a:p>
          <a:p>
            <a:pPr marL="0" indent="-514350">
              <a:spcBef>
                <a:spcPts val="0"/>
              </a:spcBef>
              <a:buNone/>
            </a:pPr>
            <a:endParaRPr lang="en-US" dirty="0">
              <a:solidFill>
                <a:schemeClr val="tx2"/>
              </a:solidFill>
            </a:endParaRPr>
          </a:p>
          <a:p>
            <a:pPr marL="0" indent="-514350">
              <a:spcBef>
                <a:spcPts val="0"/>
              </a:spcBef>
            </a:pPr>
            <a:endParaRPr lang="en-US" dirty="0">
              <a:solidFill>
                <a:schemeClr val="tx2"/>
              </a:solidFill>
            </a:endParaRPr>
          </a:p>
          <a:p>
            <a:pPr marL="0" indent="-514350">
              <a:spcBef>
                <a:spcPts val="0"/>
              </a:spcBef>
            </a:pPr>
            <a:endParaRPr lang="en-US" dirty="0">
              <a:solidFill>
                <a:schemeClr val="tx2"/>
              </a:solidFill>
            </a:endParaRPr>
          </a:p>
          <a:p>
            <a:pPr marL="0" indent="-514350">
              <a:spcBef>
                <a:spcPts val="0"/>
              </a:spcBef>
            </a:pPr>
            <a:endParaRPr lang="en-US" dirty="0">
              <a:solidFill>
                <a:schemeClr val="tx2"/>
              </a:solidFill>
            </a:endParaRPr>
          </a:p>
          <a:p>
            <a:pPr marL="0" indent="-514350">
              <a:spcBef>
                <a:spcPts val="0"/>
              </a:spcBef>
            </a:pPr>
            <a:endParaRPr lang="en-US" dirty="0">
              <a:solidFill>
                <a:schemeClr val="tx2"/>
              </a:solidFill>
            </a:endParaRPr>
          </a:p>
          <a:p>
            <a:pPr marL="0" indent="-514350">
              <a:spcBef>
                <a:spcPts val="0"/>
              </a:spcBef>
              <a:buNone/>
            </a:pPr>
            <a:endParaRPr lang="en-US" dirty="0">
              <a:solidFill>
                <a:schemeClr val="tx2"/>
              </a:solidFill>
            </a:endParaRP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0" y="2209800"/>
            <a:ext cx="5077678" cy="44611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0967740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PQuestion"/>
          <p:cNvSpPr>
            <a:spLocks noGrp="1"/>
          </p:cNvSpPr>
          <p:nvPr>
            <p:ph type="title" idx="4294967295"/>
          </p:nvPr>
        </p:nvSpPr>
        <p:spPr>
          <a:xfrm>
            <a:off x="0" y="274638"/>
            <a:ext cx="9144000" cy="944562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For the scatterplot below, the correlation is closest to:</a:t>
            </a:r>
            <a:endParaRPr lang="en-US" dirty="0"/>
          </a:p>
        </p:txBody>
      </p:sp>
      <p:sp>
        <p:nvSpPr>
          <p:cNvPr id="3" name="TPAnswers"/>
          <p:cNvSpPr>
            <a:spLocks noGrp="1"/>
          </p:cNvSpPr>
          <p:nvPr>
            <p:ph type="body" idx="4294967295"/>
            <p:custDataLst>
              <p:tags r:id="rId2"/>
            </p:custDataLst>
          </p:nvPr>
        </p:nvSpPr>
        <p:spPr>
          <a:xfrm>
            <a:off x="124691" y="4157734"/>
            <a:ext cx="2590800" cy="2672557"/>
          </a:xfrm>
        </p:spPr>
        <p:txBody>
          <a:bodyPr>
            <a:normAutofit/>
          </a:bodyPr>
          <a:lstStyle/>
          <a:p>
            <a:pPr marL="514350" indent="-514350">
              <a:spcBef>
                <a:spcPct val="20000"/>
              </a:spcBef>
              <a:buFont typeface="Wingdings"/>
              <a:buAutoNum type="alphaUcPeriod"/>
            </a:pPr>
            <a:r>
              <a:rPr lang="en-US" sz="3200" dirty="0"/>
              <a:t>0.91</a:t>
            </a:r>
          </a:p>
          <a:p>
            <a:pPr marL="514350" indent="-514350">
              <a:spcBef>
                <a:spcPct val="20000"/>
              </a:spcBef>
              <a:buFont typeface="Wingdings"/>
              <a:buAutoNum type="alphaUcPeriod"/>
            </a:pPr>
            <a:r>
              <a:rPr lang="en-US" sz="3200" dirty="0"/>
              <a:t>0.61</a:t>
            </a:r>
          </a:p>
          <a:p>
            <a:pPr marL="514350" indent="-514350">
              <a:spcBef>
                <a:spcPct val="20000"/>
              </a:spcBef>
              <a:buFont typeface="Wingdings"/>
              <a:buAutoNum type="alphaUcPeriod"/>
            </a:pPr>
            <a:r>
              <a:rPr lang="en-US" sz="3200" dirty="0"/>
              <a:t>-0.30</a:t>
            </a:r>
          </a:p>
          <a:p>
            <a:pPr marL="514350" indent="-514350">
              <a:spcBef>
                <a:spcPct val="20000"/>
              </a:spcBef>
              <a:buFont typeface="Wingdings"/>
              <a:buAutoNum type="alphaUcPeriod"/>
            </a:pPr>
            <a:r>
              <a:rPr lang="en-US" sz="3200" dirty="0"/>
              <a:t>-0.46</a:t>
            </a: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346" y="1447800"/>
            <a:ext cx="2667000" cy="26802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9257930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 idx="4294967295"/>
          </p:nvPr>
        </p:nvSpPr>
        <p:spPr>
          <a:xfrm>
            <a:off x="0" y="0"/>
            <a:ext cx="8991600" cy="1066800"/>
          </a:xfrm>
        </p:spPr>
        <p:txBody>
          <a:bodyPr anchor="ctr">
            <a:normAutofit/>
          </a:bodyPr>
          <a:lstStyle/>
          <a:p>
            <a:r>
              <a:rPr lang="en-US" b="1" dirty="0"/>
              <a:t>Correlation</a:t>
            </a:r>
          </a:p>
        </p:txBody>
      </p:sp>
      <p:pic>
        <p:nvPicPr>
          <p:cNvPr id="101382" name="Picture 6" descr="http://www.nflfootballstadiums.com/images/Oakland-Raiders-Logo.gif"/>
          <p:cNvPicPr>
            <a:picLocks noGrp="1" noChangeAspect="1" noChangeArrowheads="1"/>
          </p:cNvPicPr>
          <p:nvPr>
            <p:ph idx="4294967295"/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709163" y="983974"/>
            <a:ext cx="963612" cy="1023938"/>
          </a:xfrm>
          <a:prstGeom prst="rect">
            <a:avLst/>
          </a:prstGeom>
          <a:noFill/>
        </p:spPr>
      </p:pic>
      <p:pic>
        <p:nvPicPr>
          <p:cNvPr id="101378" name="Picture 2"/>
          <p:cNvPicPr>
            <a:picLocks noChangeAspect="1" noChangeArrowheads="1"/>
          </p:cNvPicPr>
          <p:nvPr/>
        </p:nvPicPr>
        <p:blipFill rotWithShape="1">
          <a:blip r:embed="rId4" cstate="print"/>
          <a:srcRect t="12764"/>
          <a:stretch/>
        </p:blipFill>
        <p:spPr bwMode="auto">
          <a:xfrm>
            <a:off x="1447800" y="914400"/>
            <a:ext cx="5943600" cy="55559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1380" name="Picture 4" descr="http://www.dailycomedy.com/images/jokes/b/MiamiDolphins.jpg"/>
          <p:cNvPicPr>
            <a:picLocks noChangeAspect="1" noChangeArrowheads="1"/>
          </p:cNvPicPr>
          <p:nvPr/>
        </p:nvPicPr>
        <p:blipFill>
          <a:blip r:embed="rId5" cstate="print"/>
          <a:srcRect l="19231" r="17308"/>
          <a:stretch>
            <a:fillRect/>
          </a:stretch>
        </p:blipFill>
        <p:spPr bwMode="auto">
          <a:xfrm>
            <a:off x="2590800" y="4412974"/>
            <a:ext cx="762000" cy="900546"/>
          </a:xfrm>
          <a:prstGeom prst="rect">
            <a:avLst/>
          </a:prstGeom>
          <a:noFill/>
        </p:spPr>
      </p:pic>
      <p:sp>
        <p:nvSpPr>
          <p:cNvPr id="10" name="TextBox 9"/>
          <p:cNvSpPr txBox="1"/>
          <p:nvPr/>
        </p:nvSpPr>
        <p:spPr>
          <a:xfrm>
            <a:off x="5181600" y="4336774"/>
            <a:ext cx="152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i="1" dirty="0">
                <a:solidFill>
                  <a:srgbClr val="FF0000"/>
                </a:solidFill>
              </a:rPr>
              <a:t>r </a:t>
            </a:r>
            <a:r>
              <a:rPr lang="en-US" sz="2400" b="1" dirty="0">
                <a:solidFill>
                  <a:srgbClr val="FF0000"/>
                </a:solidFill>
              </a:rPr>
              <a:t> = 0.43</a:t>
            </a:r>
            <a:endParaRPr lang="en-US" sz="2400" b="1" i="1" dirty="0">
              <a:solidFill>
                <a:srgbClr val="FF0000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362200" y="983974"/>
            <a:ext cx="1828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NFL Teams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324986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013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013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13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13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 idx="4294967295"/>
          </p:nvPr>
        </p:nvSpPr>
        <p:spPr>
          <a:xfrm>
            <a:off x="0" y="0"/>
            <a:ext cx="8991600" cy="1203325"/>
          </a:xfrm>
        </p:spPr>
        <p:txBody>
          <a:bodyPr anchor="ctr">
            <a:normAutofit/>
          </a:bodyPr>
          <a:lstStyle/>
          <a:p>
            <a:r>
              <a:rPr lang="en-US" b="1" dirty="0"/>
              <a:t>Correlation</a:t>
            </a:r>
          </a:p>
        </p:txBody>
      </p:sp>
      <p:pic>
        <p:nvPicPr>
          <p:cNvPr id="101383" name="Picture 7"/>
          <p:cNvPicPr>
            <a:picLocks noChangeAspect="1" noChangeArrowheads="1"/>
          </p:cNvPicPr>
          <p:nvPr/>
        </p:nvPicPr>
        <p:blipFill rotWithShape="1">
          <a:blip r:embed="rId3" cstate="print"/>
          <a:srcRect t="11118"/>
          <a:stretch/>
        </p:blipFill>
        <p:spPr bwMode="auto">
          <a:xfrm>
            <a:off x="1828800" y="914400"/>
            <a:ext cx="5057775" cy="48171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6" name="TextBox 15"/>
          <p:cNvSpPr txBox="1"/>
          <p:nvPr/>
        </p:nvSpPr>
        <p:spPr>
          <a:xfrm>
            <a:off x="533400" y="5867400"/>
            <a:ext cx="8305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Same plot, but with Dolphins and Raiders (outliers) removed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76800" y="4131365"/>
            <a:ext cx="152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i="1" dirty="0">
                <a:solidFill>
                  <a:srgbClr val="FF0000"/>
                </a:solidFill>
              </a:rPr>
              <a:t>r </a:t>
            </a:r>
            <a:r>
              <a:rPr lang="en-US" sz="2400" b="1" dirty="0">
                <a:solidFill>
                  <a:srgbClr val="FF0000"/>
                </a:solidFill>
              </a:rPr>
              <a:t> = 0.08</a:t>
            </a:r>
            <a:endParaRPr lang="en-US" sz="2400" b="1" i="1" dirty="0">
              <a:solidFill>
                <a:srgbClr val="FF0000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150967079"/>
      </p:ext>
    </p:extLst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6200" y="0"/>
            <a:ext cx="8991600" cy="1295400"/>
          </a:xfrm>
        </p:spPr>
        <p:txBody>
          <a:bodyPr anchor="ctr">
            <a:normAutofit/>
          </a:bodyPr>
          <a:lstStyle/>
          <a:p>
            <a:r>
              <a:rPr lang="en-US" b="1" dirty="0"/>
              <a:t>Correlation Cautions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0" y="1600200"/>
            <a:ext cx="9144000" cy="5257800"/>
          </a:xfrm>
        </p:spPr>
        <p:txBody>
          <a:bodyPr>
            <a:normAutofit/>
          </a:bodyPr>
          <a:lstStyle/>
          <a:p>
            <a:pPr marL="0" indent="-514350">
              <a:spcBef>
                <a:spcPts val="0"/>
              </a:spcBef>
              <a:buFont typeface="+mj-lt"/>
              <a:buAutoNum type="arabicPeriod"/>
            </a:pPr>
            <a:r>
              <a:rPr lang="en-US" dirty="0"/>
              <a:t>Correlation can be heavily affected by outliers.  Always plot your data!</a:t>
            </a:r>
          </a:p>
          <a:p>
            <a:pPr marL="0" indent="-514350">
              <a:spcBef>
                <a:spcPts val="0"/>
              </a:spcBef>
              <a:buFont typeface="+mj-lt"/>
              <a:buAutoNum type="arabicPeriod"/>
            </a:pPr>
            <a:r>
              <a:rPr lang="en-US" dirty="0"/>
              <a:t> </a:t>
            </a:r>
            <a:r>
              <a:rPr lang="en-US" i="1" dirty="0"/>
              <a:t>r </a:t>
            </a:r>
            <a:r>
              <a:rPr lang="en-US" dirty="0"/>
              <a:t>= 0 means no </a:t>
            </a:r>
            <a:r>
              <a:rPr lang="en-US" i="1" dirty="0"/>
              <a:t>linear</a:t>
            </a:r>
            <a:r>
              <a:rPr lang="en-US" dirty="0"/>
              <a:t> association.  The variables could still be otherwise associated.  Always plot your data!</a:t>
            </a:r>
          </a:p>
          <a:p>
            <a:pPr marL="0" indent="-514350">
              <a:spcBef>
                <a:spcPts val="0"/>
              </a:spcBef>
              <a:buFont typeface="+mj-lt"/>
              <a:buAutoNum type="arabicPeriod"/>
            </a:pPr>
            <a:r>
              <a:rPr lang="en-US" dirty="0"/>
              <a:t>Correlation does not imply causation!</a:t>
            </a:r>
          </a:p>
          <a:p>
            <a:pPr marL="0" indent="-514350">
              <a:spcBef>
                <a:spcPts val="0"/>
              </a:spcBef>
              <a:buNone/>
            </a:pPr>
            <a:endParaRPr lang="en-US" dirty="0">
              <a:solidFill>
                <a:schemeClr val="tx2"/>
              </a:solidFill>
            </a:endParaRPr>
          </a:p>
          <a:p>
            <a:pPr marL="0" indent="-514350">
              <a:spcBef>
                <a:spcPts val="0"/>
              </a:spcBef>
              <a:buFont typeface="+mj-lt"/>
              <a:buAutoNum type="arabicPeriod"/>
            </a:pPr>
            <a:endParaRPr lang="en-US" dirty="0">
              <a:solidFill>
                <a:schemeClr val="tx2"/>
              </a:solidFill>
            </a:endParaRPr>
          </a:p>
          <a:p>
            <a:pPr marL="0" indent="-514350">
              <a:spcBef>
                <a:spcPts val="0"/>
              </a:spcBef>
              <a:buFont typeface="+mj-lt"/>
              <a:buAutoNum type="arabicPeriod"/>
            </a:pPr>
            <a:endParaRPr lang="en-US" dirty="0">
              <a:solidFill>
                <a:schemeClr val="tx2"/>
              </a:solidFill>
            </a:endParaRPr>
          </a:p>
          <a:p>
            <a:pPr marL="0" indent="-514350">
              <a:spcBef>
                <a:spcPts val="0"/>
              </a:spcBef>
            </a:pPr>
            <a:endParaRPr lang="en-US" dirty="0">
              <a:solidFill>
                <a:schemeClr val="tx2"/>
              </a:solidFill>
            </a:endParaRPr>
          </a:p>
          <a:p>
            <a:pPr marL="0" indent="-514350">
              <a:spcBef>
                <a:spcPts val="0"/>
              </a:spcBef>
            </a:pPr>
            <a:endParaRPr lang="en-US" dirty="0">
              <a:solidFill>
                <a:schemeClr val="tx2"/>
              </a:solidFill>
            </a:endParaRPr>
          </a:p>
          <a:p>
            <a:pPr marL="0" indent="-514350">
              <a:spcBef>
                <a:spcPts val="0"/>
              </a:spcBef>
            </a:pPr>
            <a:endParaRPr lang="en-US" dirty="0">
              <a:solidFill>
                <a:schemeClr val="tx2"/>
              </a:solidFill>
            </a:endParaRPr>
          </a:p>
          <a:p>
            <a:pPr marL="0" indent="-514350">
              <a:spcBef>
                <a:spcPts val="0"/>
              </a:spcBef>
            </a:pPr>
            <a:endParaRPr lang="en-US" dirty="0">
              <a:solidFill>
                <a:schemeClr val="tx2"/>
              </a:solidFill>
            </a:endParaRPr>
          </a:p>
          <a:p>
            <a:pPr marL="914400" lvl="1" indent="-514350">
              <a:spcBef>
                <a:spcPts val="0"/>
              </a:spcBef>
              <a:buNone/>
            </a:pPr>
            <a:endParaRPr lang="en-US" dirty="0">
              <a:solidFill>
                <a:schemeClr val="tx2"/>
              </a:solidFill>
            </a:endParaRPr>
          </a:p>
          <a:p>
            <a:pPr marL="800100" lvl="2" indent="-514350">
              <a:spcBef>
                <a:spcPts val="0"/>
              </a:spcBef>
              <a:buNone/>
            </a:pPr>
            <a:endParaRPr lang="en-US" dirty="0">
              <a:solidFill>
                <a:schemeClr val="tx2"/>
              </a:solidFill>
            </a:endParaRPr>
          </a:p>
          <a:p>
            <a:pPr marL="0" indent="-514350">
              <a:spcBef>
                <a:spcPts val="0"/>
              </a:spcBef>
            </a:pPr>
            <a:endParaRPr lang="en-US" dirty="0">
              <a:solidFill>
                <a:schemeClr val="tx2"/>
              </a:solidFill>
            </a:endParaRPr>
          </a:p>
          <a:p>
            <a:pPr marL="400050" lvl="1" indent="-514350">
              <a:spcBef>
                <a:spcPts val="0"/>
              </a:spcBef>
            </a:pPr>
            <a:endParaRPr lang="en-US" dirty="0">
              <a:solidFill>
                <a:schemeClr val="tx2"/>
              </a:solidFill>
            </a:endParaRPr>
          </a:p>
          <a:p>
            <a:pPr marL="0" indent="-514350">
              <a:spcBef>
                <a:spcPts val="0"/>
              </a:spcBef>
              <a:buNone/>
            </a:pPr>
            <a:endParaRPr lang="en-US" dirty="0">
              <a:solidFill>
                <a:schemeClr val="tx2"/>
              </a:solidFill>
            </a:endParaRPr>
          </a:p>
          <a:p>
            <a:pPr marL="0" indent="-514350">
              <a:spcBef>
                <a:spcPts val="0"/>
              </a:spcBef>
            </a:pPr>
            <a:endParaRPr lang="en-US" dirty="0">
              <a:solidFill>
                <a:schemeClr val="tx2"/>
              </a:solidFill>
            </a:endParaRPr>
          </a:p>
          <a:p>
            <a:pPr marL="0" indent="-514350">
              <a:spcBef>
                <a:spcPts val="0"/>
              </a:spcBef>
            </a:pPr>
            <a:endParaRPr lang="en-US" dirty="0">
              <a:solidFill>
                <a:schemeClr val="tx2"/>
              </a:solidFill>
            </a:endParaRPr>
          </a:p>
          <a:p>
            <a:pPr marL="0" indent="-514350">
              <a:spcBef>
                <a:spcPts val="0"/>
              </a:spcBef>
            </a:pPr>
            <a:endParaRPr lang="en-US" dirty="0">
              <a:solidFill>
                <a:schemeClr val="tx2"/>
              </a:solidFill>
            </a:endParaRPr>
          </a:p>
          <a:p>
            <a:pPr marL="0" indent="-514350">
              <a:spcBef>
                <a:spcPts val="0"/>
              </a:spcBef>
            </a:pPr>
            <a:endParaRPr lang="en-US" dirty="0">
              <a:solidFill>
                <a:schemeClr val="tx2"/>
              </a:solidFill>
            </a:endParaRPr>
          </a:p>
          <a:p>
            <a:pPr marL="0" indent="-514350">
              <a:spcBef>
                <a:spcPts val="0"/>
              </a:spcBef>
              <a:buNone/>
            </a:pPr>
            <a:endParaRPr lang="en-US" dirty="0">
              <a:solidFill>
                <a:schemeClr val="tx2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4634233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6200" y="152400"/>
            <a:ext cx="8991600" cy="1295400"/>
          </a:xfrm>
        </p:spPr>
        <p:txBody>
          <a:bodyPr anchor="ctr">
            <a:normAutofit fontScale="90000"/>
          </a:bodyPr>
          <a:lstStyle/>
          <a:p>
            <a:r>
              <a:rPr lang="en-US" b="1" dirty="0"/>
              <a:t>Summary: Two Quantitative Variables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04800" y="1676400"/>
            <a:ext cx="8610600" cy="5181600"/>
          </a:xfrm>
        </p:spPr>
        <p:txBody>
          <a:bodyPr>
            <a:normAutofit/>
          </a:bodyPr>
          <a:lstStyle/>
          <a:p>
            <a:pPr marL="0" indent="-514350"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Summary Statistics: correlation</a:t>
            </a:r>
          </a:p>
          <a:p>
            <a:pPr marL="0" indent="-514350"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Visualization: scatterplot</a:t>
            </a:r>
          </a:p>
          <a:p>
            <a:pPr marL="914400" lvl="1" indent="-514350">
              <a:spcBef>
                <a:spcPts val="0"/>
              </a:spcBef>
              <a:buNone/>
            </a:pPr>
            <a:endParaRPr lang="en-US" dirty="0">
              <a:solidFill>
                <a:schemeClr val="tx2"/>
              </a:solidFill>
            </a:endParaRPr>
          </a:p>
          <a:p>
            <a:pPr marL="800100" lvl="2" indent="-514350">
              <a:spcBef>
                <a:spcPts val="0"/>
              </a:spcBef>
              <a:buNone/>
            </a:pPr>
            <a:endParaRPr lang="en-US" dirty="0">
              <a:solidFill>
                <a:schemeClr val="tx2"/>
              </a:solidFill>
            </a:endParaRPr>
          </a:p>
          <a:p>
            <a:pPr marL="0" indent="-514350">
              <a:spcBef>
                <a:spcPts val="0"/>
              </a:spcBef>
            </a:pPr>
            <a:endParaRPr lang="en-US" dirty="0">
              <a:solidFill>
                <a:schemeClr val="tx2"/>
              </a:solidFill>
            </a:endParaRPr>
          </a:p>
          <a:p>
            <a:pPr marL="400050" lvl="1" indent="-514350">
              <a:spcBef>
                <a:spcPts val="0"/>
              </a:spcBef>
            </a:pPr>
            <a:endParaRPr lang="en-US" dirty="0">
              <a:solidFill>
                <a:schemeClr val="tx2"/>
              </a:solidFill>
            </a:endParaRPr>
          </a:p>
          <a:p>
            <a:pPr marL="0" indent="-514350">
              <a:spcBef>
                <a:spcPts val="0"/>
              </a:spcBef>
              <a:buNone/>
            </a:pPr>
            <a:endParaRPr lang="en-US" dirty="0">
              <a:solidFill>
                <a:schemeClr val="tx2"/>
              </a:solidFill>
            </a:endParaRPr>
          </a:p>
          <a:p>
            <a:pPr marL="0" indent="-514350">
              <a:spcBef>
                <a:spcPts val="0"/>
              </a:spcBef>
            </a:pPr>
            <a:endParaRPr lang="en-US" dirty="0">
              <a:solidFill>
                <a:schemeClr val="tx2"/>
              </a:solidFill>
            </a:endParaRPr>
          </a:p>
          <a:p>
            <a:pPr marL="0" indent="-514350">
              <a:spcBef>
                <a:spcPts val="0"/>
              </a:spcBef>
            </a:pPr>
            <a:endParaRPr lang="en-US" dirty="0">
              <a:solidFill>
                <a:schemeClr val="tx2"/>
              </a:solidFill>
            </a:endParaRPr>
          </a:p>
          <a:p>
            <a:pPr marL="0" indent="-514350">
              <a:spcBef>
                <a:spcPts val="0"/>
              </a:spcBef>
            </a:pPr>
            <a:endParaRPr lang="en-US" dirty="0">
              <a:solidFill>
                <a:schemeClr val="tx2"/>
              </a:solidFill>
            </a:endParaRPr>
          </a:p>
          <a:p>
            <a:pPr marL="0" indent="-514350">
              <a:spcBef>
                <a:spcPts val="0"/>
              </a:spcBef>
            </a:pPr>
            <a:endParaRPr lang="en-US" dirty="0">
              <a:solidFill>
                <a:schemeClr val="tx2"/>
              </a:solidFill>
            </a:endParaRPr>
          </a:p>
          <a:p>
            <a:pPr marL="0" indent="-514350">
              <a:spcBef>
                <a:spcPts val="0"/>
              </a:spcBef>
              <a:buNone/>
            </a:pPr>
            <a:endParaRPr lang="en-US" dirty="0">
              <a:solidFill>
                <a:schemeClr val="tx2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98216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 bldLvl="2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ontent Placeholder 4"/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4153348626"/>
              </p:ext>
            </p:extLst>
          </p:nvPr>
        </p:nvGraphicFramePr>
        <p:xfrm>
          <a:off x="76200" y="54710"/>
          <a:ext cx="8991600" cy="823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2283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62255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404622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524128">
                <a:tc>
                  <a:txBody>
                    <a:bodyPr/>
                    <a:lstStyle/>
                    <a:p>
                      <a:pPr algn="ctr"/>
                      <a:r>
                        <a:rPr lang="en-US" sz="2800" b="0" baseline="0" dirty="0"/>
                        <a:t>Variable(s)</a:t>
                      </a:r>
                      <a:endParaRPr lang="en-US" sz="28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/>
                        <a:t>Visualization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/>
                        <a:t>Summary</a:t>
                      </a:r>
                      <a:r>
                        <a:rPr lang="en-US" sz="2800" b="0" baseline="0" dirty="0"/>
                        <a:t> Statistics</a:t>
                      </a:r>
                      <a:endParaRPr lang="en-US" sz="28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356237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Categorical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bar chart, </a:t>
                      </a:r>
                    </a:p>
                    <a:p>
                      <a:pPr algn="ctr"/>
                      <a:r>
                        <a:rPr lang="en-US" sz="2800" dirty="0"/>
                        <a:t>pie chart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frequency</a:t>
                      </a:r>
                      <a:r>
                        <a:rPr lang="en-US" sz="2800" baseline="0" dirty="0"/>
                        <a:t> table, </a:t>
                      </a:r>
                    </a:p>
                    <a:p>
                      <a:pPr algn="ctr"/>
                      <a:r>
                        <a:rPr lang="en-US" sz="2800" baseline="0" dirty="0"/>
                        <a:t>relative frequency table, </a:t>
                      </a:r>
                      <a:r>
                        <a:rPr lang="en-US" sz="2800" dirty="0"/>
                        <a:t>proportion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1510444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Quantitative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/>
                        <a:t>dotplot</a:t>
                      </a:r>
                      <a:r>
                        <a:rPr lang="en-US" sz="2800" dirty="0"/>
                        <a:t>, histogram, </a:t>
                      </a:r>
                    </a:p>
                    <a:p>
                      <a:pPr algn="ctr"/>
                      <a:r>
                        <a:rPr lang="en-US" sz="2800" dirty="0" err="1"/>
                        <a:t>boxplot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/>
                        <a:t>mean, median, max,</a:t>
                      </a:r>
                      <a:r>
                        <a:rPr lang="en-US" sz="2800" baseline="0" dirty="0"/>
                        <a:t> min, </a:t>
                      </a:r>
                      <a:r>
                        <a:rPr lang="en-US" sz="2800" dirty="0"/>
                        <a:t>standard deviation,</a:t>
                      </a:r>
                      <a:r>
                        <a:rPr lang="en-US" sz="2800" baseline="0" dirty="0"/>
                        <a:t> range, IQR, </a:t>
                      </a:r>
                      <a:r>
                        <a:rPr lang="en-US" sz="2800" dirty="0"/>
                        <a:t>five number summary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1356237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Categorical </a:t>
                      </a:r>
                      <a:r>
                        <a:rPr lang="en-US" sz="2800" dirty="0" err="1"/>
                        <a:t>vs</a:t>
                      </a:r>
                      <a:r>
                        <a:rPr lang="en-US" sz="2800" dirty="0"/>
                        <a:t> Categorical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side-by-side</a:t>
                      </a:r>
                      <a:r>
                        <a:rPr lang="en-US" sz="2800" baseline="0" dirty="0"/>
                        <a:t> </a:t>
                      </a:r>
                      <a:r>
                        <a:rPr lang="en-US" sz="2800" dirty="0"/>
                        <a:t>bar chart,</a:t>
                      </a:r>
                      <a:r>
                        <a:rPr lang="en-US" sz="2800" baseline="0" dirty="0"/>
                        <a:t> segmented bar chart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two-way table,</a:t>
                      </a:r>
                    </a:p>
                    <a:p>
                      <a:pPr algn="ctr"/>
                      <a:r>
                        <a:rPr lang="en-US" sz="2800" dirty="0"/>
                        <a:t>difference</a:t>
                      </a:r>
                      <a:r>
                        <a:rPr lang="en-US" sz="2800" baseline="0" dirty="0"/>
                        <a:t> in </a:t>
                      </a:r>
                      <a:r>
                        <a:rPr lang="en-US" sz="2800" dirty="0"/>
                        <a:t>proportions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990022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Quantitative</a:t>
                      </a:r>
                      <a:r>
                        <a:rPr lang="en-US" sz="2800" baseline="0" dirty="0"/>
                        <a:t> </a:t>
                      </a:r>
                      <a:r>
                        <a:rPr lang="en-US" sz="2800" baseline="0" dirty="0" err="1"/>
                        <a:t>vs</a:t>
                      </a:r>
                      <a:r>
                        <a:rPr lang="en-US" sz="2800" baseline="0" dirty="0"/>
                        <a:t> Categorical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side-by-side </a:t>
                      </a:r>
                      <a:r>
                        <a:rPr lang="en-US" sz="2800" dirty="0" err="1"/>
                        <a:t>boxplots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aseline="0" dirty="0"/>
                        <a:t>statistics by group,</a:t>
                      </a:r>
                    </a:p>
                    <a:p>
                      <a:pPr algn="ctr"/>
                      <a:r>
                        <a:rPr lang="en-US" sz="2800" baseline="0" dirty="0"/>
                        <a:t>difference in means</a:t>
                      </a:r>
                      <a:endParaRPr 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990022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Quantitative </a:t>
                      </a:r>
                      <a:r>
                        <a:rPr lang="en-US" sz="2800" dirty="0" err="1"/>
                        <a:t>vs</a:t>
                      </a:r>
                      <a:r>
                        <a:rPr lang="en-US" sz="2800" dirty="0"/>
                        <a:t> Quantitative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scatterplot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correlation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389272034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OWBARVISIBLE" val="True"/>
  <p:tag name="CSVFORMAT" val="0"/>
  <p:tag name="COUNTDOWNSTYLE" val="-1"/>
  <p:tag name="COUNTDOWNSECONDS" val="10"/>
  <p:tag name="BACKUPSESSIONS" val="True"/>
  <p:tag name="REVIEWONLY" val="False"/>
  <p:tag name="RACEENDPOINTS" val="100"/>
  <p:tag name="PARTICIPANTSINLEADERBOARD" val="5"/>
  <p:tag name="BUBBLESIZEVISIBLE" val="True"/>
  <p:tag name="CUSTOMGRIDBACKCOLOR" val="-2830136"/>
  <p:tag name="CUSTOMCELLBACKCOLOR3" val="-268652"/>
  <p:tag name="DISPLAYDEVICENUMBER" val="True"/>
  <p:tag name="AUTOSIZEGRID" val="True"/>
  <p:tag name="POLLINGCYCLE" val="2"/>
  <p:tag name="INCLUDENONRESPONDERS" val="False"/>
  <p:tag name="CORRECTPOINTVALUE" val="100"/>
  <p:tag name="ZEROBASED" val="False"/>
  <p:tag name="FIBDISPLAYRESULTS" val="True"/>
  <p:tag name="PRRESPONSE1" val="10"/>
  <p:tag name="PRRESPONSE5" val="6"/>
  <p:tag name="PRRESPONSE9" val="2"/>
  <p:tag name="USESECONDARYMONITOR" val="True"/>
  <p:tag name="ANSWERNOWTEXT" val="Answer Now"/>
  <p:tag name="INPUTSOURCE" val="1"/>
  <p:tag name="CHARTVALUEFORMAT" val="0%"/>
  <p:tag name="STDCHART" val="1"/>
  <p:tag name="TEAMSINLEADERBOARD" val="5"/>
  <p:tag name="BUBBLEGROUPING" val="3"/>
  <p:tag name="CUSTOMCELLBACKCOLOR2" val="-13395457"/>
  <p:tag name="DISPLAYDEVICEID" val="True"/>
  <p:tag name="GRIDPOSITION" val="1"/>
  <p:tag name="RESETCHARTS" val="True"/>
  <p:tag name="INCORRECTPOINTVALUE" val="0"/>
  <p:tag name="CHARTSCALE" val="True"/>
  <p:tag name="FIBDISPLAYKEYWORDS" val="True"/>
  <p:tag name="PRRESPONSE6" val="5"/>
  <p:tag name="SHOWFLASHWARNING" val="True"/>
  <p:tag name="RESPCOUNTERSTYLE" val="-1"/>
  <p:tag name="ALLOWDUPLICATES" val="False"/>
  <p:tag name="AUTOUPDATEALIASES" val="True"/>
  <p:tag name="MAXRESPONDERS" val="5"/>
  <p:tag name="CUSTOMCELLFORECOLOR" val="-16777216"/>
  <p:tag name="DISPLAYNAME" val="True"/>
  <p:tag name="GRIDFONTSIZE" val="12"/>
  <p:tag name="INCLUDEPPT" val="True"/>
  <p:tag name="AUTOADJUSTPARTRANGE" val="True"/>
  <p:tag name="PRRESPONSE2" val="9"/>
  <p:tag name="PRRESPONSE8" val="3"/>
  <p:tag name="POWERPOINTVERSION" val="14.0"/>
  <p:tag name="RESPCOUNTERFORMAT" val="0"/>
  <p:tag name="AUTOADVANCE" val="False"/>
  <p:tag name="SKIPREMAININGRACESLIDES" val="True"/>
  <p:tag name="CUSTOMCELLBACKCOLOR1" val="-657956"/>
  <p:tag name="GRIDROTATIONINTERVAL" val="2"/>
  <p:tag name="MULTIRESPDIVISOR" val="1"/>
  <p:tag name="ADVANCEDSETTINGSVIEW" val="False"/>
  <p:tag name="PRRESPONSE4" val="7"/>
  <p:tag name="RESPTABLESTYLE" val="-1"/>
  <p:tag name="RACERSMAXDISPLAYED" val="5"/>
  <p:tag name="DEFAULTNUMTEAMS" val="5"/>
  <p:tag name="GRIDSIZE" val="{Width=800, Height=600}"/>
  <p:tag name="REALTIMEBACKUP" val="False"/>
  <p:tag name="PRRESPONSE3" val="8"/>
  <p:tag name="SAVECSVWITHSESSION" val="True"/>
  <p:tag name="BACKUPMAINTENANCE" val="7"/>
  <p:tag name="BUBBLEVALUEFORMAT" val="0.0"/>
  <p:tag name="CHARTCOLORS" val="0"/>
  <p:tag name="FIBNUMRESULTS" val="5"/>
  <p:tag name="ALWAYSOPENPOLL" val="False"/>
  <p:tag name="ROTATIONINTERVAL" val="2"/>
  <p:tag name="USESCHEMECOLORS" val="True"/>
  <p:tag name="REALTIMEBACKUPPATH" val="(None)"/>
  <p:tag name="BULLETTYPE" val="3"/>
  <p:tag name="BUBBLENAMEVISIBLE" val="True"/>
  <p:tag name="ALLOWUSERFEEDBACK" val="True"/>
  <p:tag name="ANSWERNOWSTYLE" val="-1"/>
  <p:tag name="GRIDOPACITY" val="90"/>
  <p:tag name="PRRESPONSE10" val="1"/>
  <p:tag name="CHARTLABELS" val="0"/>
  <p:tag name="RACEANIMATIONSPEED" val="3"/>
  <p:tag name="NUMRESPONSES" val="1"/>
  <p:tag name="CUSTOMCELLBACKCOLOR4" val="-8355712"/>
  <p:tag name="PRRESPONSE7" val="4"/>
  <p:tag name="FIBINCLUDEOTHER" val="True"/>
  <p:tag name="DELIMITERS" val="3.1"/>
  <p:tag name="TASKPANEKEY" val="a274ab47-1fe9-4c57-b48b-3359ee0ef583"/>
  <p:tag name="LUIDIAENABLED" val="False"/>
  <p:tag name="EXPANDSHOWBAR" val="False"/>
  <p:tag name="TPVERSION" val="5"/>
  <p:tag name="TPFULLVERSION" val="5.3.1.3337"/>
  <p:tag name="PPTVERSION" val="14"/>
  <p:tag name="TPOS" val="2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YPE" val="MultiChoiceSlide"/>
  <p:tag name="TPQUESTIONXML" val="﻿&lt;?xml version=&quot;1.0&quot; encoding=&quot;utf-8&quot;?&gt;&#10;&lt;questionlist&gt;&#10;    &lt;properties&gt;&#10;        &lt;guid&gt;9A967A1167ED4893A7744827D532542D&lt;/guid&gt;&#10;        &lt;description /&gt;&#10;        &lt;date&gt;6/15/2015 5:56:30 PM&lt;/date&gt;&#10;    &lt;/properties&gt;&#10;    &lt;questionlisttemplate&gt;&#10;        &lt;correctvalue&gt;1&lt;/correctvalue&gt;&#10;        &lt;incorrectvalue&gt;0&lt;/incorrectvalue&gt;&#10;        &lt;questiontype&gt;1&lt;/questiontype&gt;&#10;        &lt;numberofchoices&gt;4&lt;/numberofchoices&gt;&#10;        &lt;bulletstyle&gt;2&lt;/bulletstyle&gt;&#10;        &lt;questionfont&gt;Verdana&lt;/questionfont&gt;&#10;        &lt;questionfontsize&gt;12&lt;/questionfontsize&gt;&#10;        &lt;answerfont&gt;Verdana&lt;/answerfont&gt;&#10;        &lt;answerfontsize&gt;12&lt;/answerfontsize&gt;&#10;        &lt;showresults&gt;True&lt;/showresults&gt;&#10;        &lt;countdowntime&gt;30&lt;/countdowntime&gt;&#10;        &lt;responsegrid&gt;0&lt;/responsegrid&gt;&#10;    &lt;/questionlisttemplate&gt;&#10;    &lt;questions&gt;&#10;        &lt;multichoice&gt;&#10;            &lt;guid&gt;0C92E16D36414129A74BC2F2854202B0&lt;/guid&gt;&#10;            &lt;repollguid&gt;50494D343ECF4442A18258DCBC96158A&lt;/repollguid&gt;&#10;            &lt;sourceid&gt;78C2DBC2FE004A22911198AAC7C66904&lt;/sourceid&gt;&#10;            &lt;questiontext&gt;The boxplot below shows the number of hot dogs consumed in a 10 minute hot dog eating contest. What is the approximate median?&lt;/questiontext&gt;&#10;            &lt;showresults&gt;True&lt;/showresults&gt;&#10;            &lt;responsegrid&gt;0&lt;/responsegrid&gt;&#10;            &lt;countdowntimer&gt;False&lt;/countdowntimer&gt;&#10;            &lt;countdowntime&gt;30&lt;/countdowntime&gt;&#10;            &lt;correctvalue&gt;1&lt;/correctvalue&gt;&#10;            &lt;incorrectvalue&gt;0&lt;/incorrectvalue&gt;&#10;            &lt;responselimit&gt;1&lt;/responselimit&gt;&#10;            &lt;bulletstyle&gt;2&lt;/bulletstyle&gt;&#10;            &lt;correctanswerindicator&gt;True&lt;/correctanswerindicator&gt;&#10;            &lt;answers&gt;&#10;                &lt;answer&gt;&#10;                    &lt;guid&gt;6ADE4EA7CA3C4FB5AC7042DC954F5443&lt;/guid&gt;&#10;                    &lt;answertext&gt;45&lt;/answertext&gt;&#10;                    &lt;valuetype&gt;0&lt;/valuetype&gt;&#10;                &lt;/answer&gt;&#10;                &lt;answer&gt;&#10;                    &lt;guid&gt;A8B161CA9734410C9D4D45EB3B4354C1&lt;/guid&gt;&#10;                    &lt;answertext&gt;50&lt;/answertext&gt;&#10;                    &lt;valuetype&gt;0&lt;/valuetype&gt;&#10;                &lt;/answer&gt;&#10;                &lt;answer&gt;&#10;                    &lt;guid&gt;ECB5C684B753438588CB29F062741823&lt;/guid&gt;&#10;                    &lt;answertext&gt;54&lt;/answertext&gt;&#10;                    &lt;valuetype&gt;0&lt;/valuetype&gt;&#10;                &lt;/answer&gt;&#10;                &lt;answer&gt;&#10;                    &lt;guid&gt;0D0E5CB5BF9B41A789BCAF596413B2E4&lt;/guid&gt;&#10;                    &lt;answertext&gt;56&lt;/answertext&gt;&#10;                    &lt;valuetype&gt;0&lt;/valuetype&gt;&#10;                &lt;/answer&gt;&#10;                &lt;answer&gt;&#10;                    &lt;guid&gt;91D676196D6940C187D36443217E9DC0&lt;/guid&gt;&#10;                    &lt;answertext&gt;62&lt;/answertext&gt;&#10;                    &lt;valuetype&gt;0&lt;/valuetype&gt;&#10;                &lt;/answer&gt;&#10;            &lt;/answers&gt;&#10;        &lt;/multichoice&gt;&#10;    &lt;/questions&gt;&#10;&lt;/questionlist&gt;"/>
  <p:tag name="LIVECHARTING" val="False"/>
  <p:tag name="AUTOOPENPOLL" val="True"/>
  <p:tag name="AUTOFORMATCHART" val="True"/>
  <p:tag name="HASRESULTS" val="Fals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ZEROBASED" val="Fals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  <p:tag name="NOPREFERENCE" val="Fals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  <p:tag name="NOPREFERENCE" val="Fals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  <p:tag name="NOPREFERENCE" val="Fals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YPE" val="MultiChoiceSlide"/>
  <p:tag name="TPQUESTIONXML" val="﻿&lt;?xml version=&quot;1.0&quot; encoding=&quot;utf-8&quot;?&gt;&#10;&lt;questionlist&gt;&#10;    &lt;properties&gt;&#10;        &lt;guid&gt;64C43853B4874A999ADD21DC6FAEFA40&lt;/guid&gt;&#10;        &lt;description /&gt;&#10;        &lt;date&gt;6/15/2015 6:04:46 PM&lt;/date&gt;&#10;    &lt;/properties&gt;&#10;    &lt;questionlisttemplate&gt;&#10;        &lt;correctvalue&gt;1&lt;/correctvalue&gt;&#10;        &lt;incorrectvalue&gt;0&lt;/incorrectvalue&gt;&#10;        &lt;questiontype&gt;1&lt;/questiontype&gt;&#10;        &lt;numberofchoices&gt;4&lt;/numberofchoices&gt;&#10;        &lt;bulletstyle&gt;2&lt;/bulletstyle&gt;&#10;        &lt;questionfont&gt;Verdana&lt;/questionfont&gt;&#10;        &lt;questionfontsize&gt;12&lt;/questionfontsize&gt;&#10;        &lt;answerfont&gt;Verdana&lt;/answerfont&gt;&#10;        &lt;answerfontsize&gt;12&lt;/answerfontsize&gt;&#10;        &lt;showresults&gt;True&lt;/showresults&gt;&#10;        &lt;countdowntime&gt;30&lt;/countdowntime&gt;&#10;        &lt;responsegrid&gt;0&lt;/responsegrid&gt;&#10;    &lt;/questionlisttemplate&gt;&#10;    &lt;questions&gt;&#10;        &lt;multichoice&gt;&#10;            &lt;guid&gt;AA5DF28D791042EEBB8798B02D421188&lt;/guid&gt;&#10;            &lt;repollguid&gt;6341D756644D4167A4A5EF4938249EEA&lt;/repollguid&gt;&#10;            &lt;sourceid&gt;2C7E9DBEF8EC42B7BB893191C0871C1D&lt;/sourceid&gt;&#10;            &lt;questiontext&gt;For the two variables:  number of cigarettes smoked per day and lung capacity, we expect the association to be:&lt;/questiontext&gt;&#10;            &lt;showresults&gt;True&lt;/showresults&gt;&#10;            &lt;responsegrid&gt;0&lt;/responsegrid&gt;&#10;            &lt;countdowntimer&gt;False&lt;/countdowntimer&gt;&#10;            &lt;countdowntime&gt;30&lt;/countdowntime&gt;&#10;            &lt;correctvalue&gt;1&lt;/correctvalue&gt;&#10;            &lt;incorrectvalue&gt;0&lt;/incorrectvalue&gt;&#10;            &lt;responselimit&gt;1&lt;/responselimit&gt;&#10;            &lt;bulletstyle&gt;2&lt;/bulletstyle&gt;&#10;            &lt;correctanswerindicator&gt;True&lt;/correctanswerindicator&gt;&#10;            &lt;answers&gt;&#10;                &lt;answer&gt;&#10;                    &lt;guid&gt;C6B219B0FFA5459CA09A3A0CEAEBACAA&lt;/guid&gt;&#10;                    &lt;answertext&gt;Positive&lt;/answertext&gt;&#10;                    &lt;valuetype&gt;0&lt;/valuetype&gt;&#10;                &lt;/answer&gt;&#10;                &lt;answer&gt;&#10;                    &lt;guid&gt;500CF06E1A994C0DAAD67620107FD020&lt;/guid&gt;&#10;                    &lt;answertext&gt;Negative&lt;/answertext&gt;&#10;                    &lt;valuetype&gt;0&lt;/valuetype&gt;&#10;                &lt;/answer&gt;&#10;                &lt;answer&gt;&#10;                    &lt;guid&gt;EDF865B2CCC542DB9A24E59C0B8F68F8&lt;/guid&gt;&#10;                    &lt;answertext&gt;No association&lt;/answertext&gt;&#10;                    &lt;valuetype&gt;0&lt;/valuetype&gt;&#10;                &lt;/answer&gt;&#10;            &lt;/answers&gt;&#10;        &lt;/multichoice&gt;&#10;    &lt;/questions&gt;&#10;&lt;/questionlist&gt;"/>
  <p:tag name="LIVECHARTING" val="False"/>
  <p:tag name="AUTOOPENPOLL" val="True"/>
  <p:tag name="AUTOFORMATCHART" val="True"/>
  <p:tag name="HASRESULTS" val="Fals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ZEROBASED" val="Fals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YPE" val="MultiChoiceSlide"/>
  <p:tag name="TPQUESTIONXML" val="﻿&lt;?xml version=&quot;1.0&quot; encoding=&quot;utf-8&quot;?&gt;&#10;&lt;questionlist&gt;&#10;    &lt;properties&gt;&#10;        &lt;guid&gt;329A4C46964A4693AB8B1606044805DC&lt;/guid&gt;&#10;        &lt;description /&gt;&#10;        &lt;date&gt;6/15/2015 6:07:00 PM&lt;/date&gt;&#10;    &lt;/properties&gt;&#10;    &lt;questionlisttemplate&gt;&#10;        &lt;correctvalue&gt;1&lt;/correctvalue&gt;&#10;        &lt;incorrectvalue&gt;0&lt;/incorrectvalue&gt;&#10;        &lt;questiontype&gt;1&lt;/questiontype&gt;&#10;        &lt;numberofchoices&gt;4&lt;/numberofchoices&gt;&#10;        &lt;bulletstyle&gt;2&lt;/bulletstyle&gt;&#10;        &lt;questionfont&gt;Verdana&lt;/questionfont&gt;&#10;        &lt;questionfontsize&gt;12&lt;/questionfontsize&gt;&#10;        &lt;answerfont&gt;Verdana&lt;/answerfont&gt;&#10;        &lt;answerfontsize&gt;12&lt;/answerfontsize&gt;&#10;        &lt;showresults&gt;True&lt;/showresults&gt;&#10;        &lt;countdowntime&gt;30&lt;/countdowntime&gt;&#10;        &lt;responsegrid&gt;0&lt;/responsegrid&gt;&#10;    &lt;/questionlisttemplate&gt;&#10;    &lt;questions&gt;&#10;        &lt;multichoice&gt;&#10;            &lt;guid&gt;D63C1758E44447B5A55635F6C37CE5A9&lt;/guid&gt;&#10;            &lt;repollguid&gt;12D2503890074544ADAEF572120EE4F9&lt;/repollguid&gt;&#10;            &lt;sourceid&gt;697B4850A28A439F853F44AC5368CC5F&lt;/sourceid&gt;&#10;            &lt;questiontext&gt;For the two variables:  age of the husband and age of the wife, we expect the association to be:&lt;/questiontext&gt;&#10;            &lt;showresults&gt;True&lt;/showresults&gt;&#10;            &lt;responsegrid&gt;0&lt;/responsegrid&gt;&#10;            &lt;countdowntimer&gt;False&lt;/countdowntimer&gt;&#10;            &lt;countdowntime&gt;30&lt;/countdowntime&gt;&#10;            &lt;correctvalue&gt;1&lt;/correctvalue&gt;&#10;            &lt;incorrectvalue&gt;0&lt;/incorrectvalue&gt;&#10;            &lt;responselimit&gt;1&lt;/responselimit&gt;&#10;            &lt;bulletstyle&gt;2&lt;/bulletstyle&gt;&#10;            &lt;correctanswerindicator&gt;True&lt;/correctanswerindicator&gt;&#10;            &lt;answers&gt;&#10;                &lt;answer&gt;&#10;                    &lt;guid&gt;F46A1FDD415243F3AC725561300C4E0A&lt;/guid&gt;&#10;                    &lt;answertext&gt;Positive&lt;/answertext&gt;&#10;                    &lt;valuetype&gt;0&lt;/valuetype&gt;&#10;                &lt;/answer&gt;&#10;                &lt;answer&gt;&#10;                    &lt;guid&gt;88B48B164EB744BD8C53FCB76AC10EA9&lt;/guid&gt;&#10;                    &lt;answertext&gt;Negative&lt;/answertext&gt;&#10;                    &lt;valuetype&gt;0&lt;/valuetype&gt;&#10;                &lt;/answer&gt;&#10;                &lt;answer&gt;&#10;                    &lt;guid&gt;1808CACBB909493EA682C37189168FCD&lt;/guid&gt;&#10;                    &lt;answertext&gt;No association&lt;/answertext&gt;&#10;                    &lt;valuetype&gt;0&lt;/valuetype&gt;&#10;                &lt;/answer&gt;&#10;            &lt;/answers&gt;&#10;        &lt;/multichoice&gt;&#10;    &lt;/questions&gt;&#10;&lt;/questionlist&gt;"/>
  <p:tag name="LIVECHARTING" val="False"/>
  <p:tag name="AUTOOPENPOLL" val="True"/>
  <p:tag name="AUTOFORMATCHART" val="True"/>
  <p:tag name="HASRESULTS" val="Fals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ZEROBASED" val="Fals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YPE" val="MultiChoiceSlide"/>
  <p:tag name="TPQUESTIONXML" val="﻿&lt;?xml version=&quot;1.0&quot; encoding=&quot;utf-8&quot;?&gt;&#10;&lt;questionlist&gt;&#10;    &lt;properties&gt;&#10;        &lt;guid&gt;69C1CF9FC3EA46219BAA2888569E11F2&lt;/guid&gt;&#10;        &lt;description /&gt;&#10;        &lt;date&gt;6/15/2015 6:10:12 PM&lt;/date&gt;&#10;    &lt;/properties&gt;&#10;    &lt;questionlisttemplate&gt;&#10;        &lt;correctvalue&gt;1&lt;/correctvalue&gt;&#10;        &lt;incorrectvalue&gt;0&lt;/incorrectvalue&gt;&#10;        &lt;questiontype&gt;1&lt;/questiontype&gt;&#10;        &lt;numberofchoices&gt;4&lt;/numberofchoices&gt;&#10;        &lt;bulletstyle&gt;2&lt;/bulletstyle&gt;&#10;        &lt;questionfont&gt;Verdana&lt;/questionfont&gt;&#10;        &lt;questionfontsize&gt;12&lt;/questionfontsize&gt;&#10;        &lt;answerfont&gt;Verdana&lt;/answerfont&gt;&#10;        &lt;answerfontsize&gt;12&lt;/answerfontsize&gt;&#10;        &lt;showresults&gt;True&lt;/showresults&gt;&#10;        &lt;countdowntime&gt;30&lt;/countdowntime&gt;&#10;        &lt;responsegrid&gt;0&lt;/responsegrid&gt;&#10;    &lt;/questionlisttemplate&gt;&#10;    &lt;questions&gt;&#10;        &lt;multichoice&gt;&#10;            &lt;guid&gt;E9EDF42B975A4FFFA3404B6ABC1F0F3F&lt;/guid&gt;&#10;            &lt;repollguid&gt;4AB2E76EB9A44ACFA62AD1F7703F887D&lt;/repollguid&gt;&#10;            &lt;sourceid&gt;6DA1DE45ADB74130BDF8A9253AE45A9B&lt;/sourceid&gt;&#10;            &lt;questiontext&gt;For the two variables: depth of tire tread and number of miles driven on the tires, we expect the association to be:&lt;/questiontext&gt;&#10;            &lt;showresults&gt;True&lt;/showresults&gt;&#10;            &lt;responsegrid&gt;0&lt;/responsegrid&gt;&#10;            &lt;countdowntimer&gt;False&lt;/countdowntimer&gt;&#10;            &lt;countdowntime&gt;30&lt;/countdowntime&gt;&#10;            &lt;correctvalue&gt;1&lt;/correctvalue&gt;&#10;            &lt;incorrectvalue&gt;0&lt;/incorrectvalue&gt;&#10;            &lt;responselimit&gt;1&lt;/responselimit&gt;&#10;            &lt;bulletstyle&gt;2&lt;/bulletstyle&gt;&#10;            &lt;correctanswerindicator&gt;True&lt;/correctanswerindicator&gt;&#10;            &lt;answers&gt;&#10;                &lt;answer&gt;&#10;                    &lt;guid&gt;1BDEE36717D2423EAEE9CB1A1C564163&lt;/guid&gt;&#10;                    &lt;answertext&gt;Positive&lt;/answertext&gt;&#10;                    &lt;valuetype&gt;0&lt;/valuetype&gt;&#10;                &lt;/answer&gt;&#10;                &lt;answer&gt;&#10;                    &lt;guid&gt;D097B865CD7A4FDBB5AEEF2FB4A48BBE&lt;/guid&gt;&#10;                    &lt;answertext&gt;Negative&lt;/answertext&gt;&#10;                    &lt;valuetype&gt;0&lt;/valuetype&gt;&#10;                &lt;/answer&gt;&#10;                &lt;answer&gt;&#10;                    &lt;guid&gt;48A2D178EFCA4404B79D30509BF5D159&lt;/guid&gt;&#10;                    &lt;answertext&gt;No association&lt;/answertext&gt;&#10;                    &lt;valuetype&gt;0&lt;/valuetype&gt;&#10;                &lt;/answer&gt;&#10;            &lt;/answers&gt;&#10;        &lt;/multichoice&gt;&#10;    &lt;/questions&gt;&#10;&lt;/questionlist&gt;"/>
  <p:tag name="LIVECHARTING" val="False"/>
  <p:tag name="AUTOOPENPOLL" val="True"/>
  <p:tag name="AUTOFORMATCHART" val="True"/>
  <p:tag name="HASRESULTS" val="Fals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ZEROBASED" val="Fals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  <p:tag name="NOPREFERENCE" val="Fals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  <p:tag name="NOPREFERENCE" val="Fals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YPE" val="MultiChoiceSlide"/>
  <p:tag name="TPQUESTIONXML" val="﻿&lt;?xml version=&quot;1.0&quot; encoding=&quot;utf-8&quot;?&gt;&#10;&lt;questionlist&gt;&#10;    &lt;properties&gt;&#10;        &lt;guid&gt;ED09AF320F7C425FB44041F11F9DAC9B&lt;/guid&gt;&#10;        &lt;description /&gt;&#10;        &lt;date&gt;6/15/2015 6:14:42 PM&lt;/date&gt;&#10;    &lt;/properties&gt;&#10;    &lt;questionlisttemplate&gt;&#10;        &lt;correctvalue&gt;1&lt;/correctvalue&gt;&#10;        &lt;incorrectvalue&gt;0&lt;/incorrectvalue&gt;&#10;        &lt;questiontype&gt;1&lt;/questiontype&gt;&#10;        &lt;numberofchoices&gt;4&lt;/numberofchoices&gt;&#10;        &lt;bulletstyle&gt;2&lt;/bulletstyle&gt;&#10;        &lt;questionfont&gt;Verdana&lt;/questionfont&gt;&#10;        &lt;questionfontsize&gt;12&lt;/questionfontsize&gt;&#10;        &lt;answerfont&gt;Verdana&lt;/answerfont&gt;&#10;        &lt;answerfontsize&gt;12&lt;/answerfontsize&gt;&#10;        &lt;showresults&gt;True&lt;/showresults&gt;&#10;        &lt;countdowntime&gt;30&lt;/countdowntime&gt;&#10;        &lt;responsegrid&gt;0&lt;/responsegrid&gt;&#10;    &lt;/questionlisttemplate&gt;&#10;    &lt;questions&gt;&#10;        &lt;multichoice&gt;&#10;            &lt;guid&gt;8224636E57AA426E8312702E67BB5253&lt;/guid&gt;&#10;            &lt;repollguid&gt;DAEFE96C095A40E188B901EC4DDCBCE3&lt;/repollguid&gt;&#10;            &lt;sourceid&gt;0BDC767F64D04FC68C7E0CB34D59B145&lt;/sourceid&gt;&#10;            &lt;questiontext&gt;For the scatterplot below, the correlation is closest to:&lt;/questiontext&gt;&#10;            &lt;showresults&gt;True&lt;/showresults&gt;&#10;            &lt;responsegrid&gt;0&lt;/responsegrid&gt;&#10;            &lt;countdowntimer&gt;False&lt;/countdowntimer&gt;&#10;            &lt;countdowntime&gt;30&lt;/countdowntime&gt;&#10;            &lt;correctvalue&gt;1&lt;/correctvalue&gt;&#10;            &lt;incorrectvalue&gt;0&lt;/incorrectvalue&gt;&#10;            &lt;responselimit&gt;1&lt;/responselimit&gt;&#10;            &lt;bulletstyle&gt;2&lt;/bulletstyle&gt;&#10;            &lt;correctanswerindicator&gt;True&lt;/correctanswerindicator&gt;&#10;            &lt;answers&gt;&#10;                &lt;answer&gt;&#10;                    &lt;guid&gt;65DCDA2D7620475081499DAE215AFA88&lt;/guid&gt;&#10;                    &lt;answertext&gt;- 1&lt;/answertext&gt;&#10;                    &lt;valuetype&gt;0&lt;/valuetype&gt;&#10;                &lt;/answer&gt;&#10;                &lt;answer&gt;&#10;                    &lt;guid&gt;8D66439A4BCE49049A106708AF347216&lt;/guid&gt;&#10;                    &lt;answertext&gt;- ½ &lt;/answertext&gt;&#10;                    &lt;valuetype&gt;0&lt;/valuetype&gt;&#10;                &lt;/answer&gt;&#10;                &lt;answer&gt;&#10;                    &lt;guid&gt;6AEEDD48FA9B4EF092371B6D07512EE1&lt;/guid&gt;&#10;                    &lt;answertext&gt;0&lt;/answertext&gt;&#10;                    &lt;valuetype&gt;0&lt;/valuetype&gt;&#10;                &lt;/answer&gt;&#10;                &lt;answer&gt;&#10;                    &lt;guid&gt;4B416BF641CD43E8903F2F172705A3A0&lt;/guid&gt;&#10;                    &lt;answertext&gt;½&lt;/answertext&gt;&#10;                    &lt;valuetype&gt;0&lt;/valuetype&gt;&#10;                &lt;/answer&gt;&#10;                &lt;answer&gt;&#10;                    &lt;guid&gt;2988DB85B79B4C1A9D25FA9719E4132C&lt;/guid&gt;&#10;                    &lt;answertext&gt;2 &lt;/answertext&gt;&#10;                    &lt;valuetype&gt;0&lt;/valuetype&gt;&#10;                &lt;/answer&gt;&#10;            &lt;/answers&gt;&#10;        &lt;/multichoice&gt;&#10;    &lt;/questions&gt;&#10;&lt;/questionlist&gt;"/>
  <p:tag name="LIVECHARTING" val="False"/>
  <p:tag name="AUTOOPENPOLL" val="True"/>
  <p:tag name="AUTOFORMATCHART" val="True"/>
  <p:tag name="HASRESULTS" val="Fals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ZEROBASED" val="Fals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  <p:tag name="NOPREFERENCE" val="Fals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YPE" val="MultiChoiceSlide"/>
  <p:tag name="TPQUESTIONXML" val="﻿&lt;?xml version=&quot;1.0&quot; encoding=&quot;utf-8&quot;?&gt;&#10;&lt;questionlist&gt;&#10;    &lt;properties&gt;&#10;        &lt;guid&gt;A5C8BCAD90FC4866A3B232F9CF89BA44&lt;/guid&gt;&#10;        &lt;description /&gt;&#10;        &lt;date&gt;6/15/2015 6:22:20 PM&lt;/date&gt;&#10;    &lt;/properties&gt;&#10;    &lt;questionlisttemplate&gt;&#10;        &lt;correctvalue&gt;1&lt;/correctvalue&gt;&#10;        &lt;incorrectvalue&gt;0&lt;/incorrectvalue&gt;&#10;        &lt;questiontype&gt;1&lt;/questiontype&gt;&#10;        &lt;numberofchoices&gt;4&lt;/numberofchoices&gt;&#10;        &lt;bulletstyle&gt;2&lt;/bulletstyle&gt;&#10;        &lt;questionfont&gt;Verdana&lt;/questionfont&gt;&#10;        &lt;questionfontsize&gt;12&lt;/questionfontsize&gt;&#10;        &lt;answerfont&gt;Verdana&lt;/answerfont&gt;&#10;        &lt;answerfontsize&gt;12&lt;/answerfontsize&gt;&#10;        &lt;showresults&gt;True&lt;/showresults&gt;&#10;        &lt;countdowntime&gt;30&lt;/countdowntime&gt;&#10;        &lt;responsegrid&gt;0&lt;/responsegrid&gt;&#10;    &lt;/questionlisttemplate&gt;&#10;    &lt;questions&gt;&#10;        &lt;multichoice&gt;&#10;            &lt;guid&gt;1EDCF8667F7043AEA18DC2B13B5F3402&lt;/guid&gt;&#10;            &lt;repollguid&gt;828E7A33C82040B9AD72B8488B41E82B&lt;/repollguid&gt;&#10;            &lt;sourceid&gt;6ABB3A7876664EBCB00C1A0C2663755F&lt;/sourceid&gt;&#10;            &lt;questiontext&gt;For the scatterplot below, the correlation is closest to:&lt;/questiontext&gt;&#10;            &lt;showresults&gt;True&lt;/showresults&gt;&#10;            &lt;responsegrid&gt;0&lt;/responsegrid&gt;&#10;            &lt;countdowntimer&gt;False&lt;/countdowntimer&gt;&#10;            &lt;countdowntime&gt;30&lt;/countdowntime&gt;&#10;            &lt;correctvalue&gt;1&lt;/correctvalue&gt;&#10;            &lt;incorrectvalue&gt;0&lt;/incorrectvalue&gt;&#10;            &lt;responselimit&gt;1&lt;/responselimit&gt;&#10;            &lt;bulletstyle&gt;2&lt;/bulletstyle&gt;&#10;            &lt;correctanswerindicator&gt;True&lt;/correctanswerindicator&gt;&#10;            &lt;answers&gt;&#10;                &lt;answer&gt;&#10;                    &lt;guid&gt;8F4F632CF6B14500B496869F0A67AB9F&lt;/guid&gt;&#10;                    &lt;answertext&gt;0.91&lt;/answertext&gt;&#10;                    &lt;valuetype&gt;0&lt;/valuetype&gt;&#10;                &lt;/answer&gt;&#10;                &lt;answer&gt;&#10;                    &lt;guid&gt;888FB1DD1F13434CA64A99F8468AC21C&lt;/guid&gt;&#10;                    &lt;answertext&gt;0.61&lt;/answertext&gt;&#10;                    &lt;valuetype&gt;0&lt;/valuetype&gt;&#10;                &lt;/answer&gt;&#10;                &lt;answer&gt;&#10;                    &lt;guid&gt;F2D7C210EDC74FFE935426552C2118AF&lt;/guid&gt;&#10;                    &lt;answertext&gt;-0.30&lt;/answertext&gt;&#10;                    &lt;valuetype&gt;0&lt;/valuetype&gt;&#10;                &lt;/answer&gt;&#10;                &lt;answer&gt;&#10;                    &lt;guid&gt;D6BE9D22B2E543C48DEF1BC3197F5A45&lt;/guid&gt;&#10;                    &lt;answertext&gt;-0.46&lt;/answertext&gt;&#10;                    &lt;valuetype&gt;0&lt;/valuetype&gt;&#10;                &lt;/answer&gt;&#10;            &lt;/answers&gt;&#10;        &lt;/multichoice&gt;&#10;    &lt;/questions&gt;&#10;&lt;/questionlist&gt;"/>
  <p:tag name="LIVECHARTING" val="False"/>
  <p:tag name="AUTOOPENPOLL" val="True"/>
  <p:tag name="AUTOFORMATCHART" val="True"/>
  <p:tag name="HASRESULTS" val="Fals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ZEROBASED" val="Fals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  <p:tag name="NOPREFERENCE" val="Fals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  <p:tag name="NOPREFERENCE" val="Fals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  <p:tag name="NOPREFERENCE" val="Fals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  <p:tag name="NOPREFERENCE" val="Fals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  <p:tag name="NOPREFERENCE" val="False"/>
</p:tagLst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dian">
  <a:themeElements>
    <a:clrScheme name="Median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Median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Median</Template>
  <TotalTime>1010</TotalTime>
  <Words>626</Words>
  <Application>Microsoft Office PowerPoint</Application>
  <PresentationFormat>On-screen Show (4:3)</PresentationFormat>
  <Paragraphs>162</Paragraphs>
  <Slides>21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2" baseType="lpstr">
      <vt:lpstr>Median</vt:lpstr>
      <vt:lpstr>PowerPoint Presentation</vt:lpstr>
      <vt:lpstr>The boxplot below shows the number of hot dogs consumed in a 10 minute hot dog eating contest. What is the approximate median?</vt:lpstr>
      <vt:lpstr>Visualization for Two Quantitative Variables: Scatterplot</vt:lpstr>
      <vt:lpstr>Direction of Association</vt:lpstr>
      <vt:lpstr>Cars Data</vt:lpstr>
      <vt:lpstr>Car Associations</vt:lpstr>
      <vt:lpstr>For the two variables:  number of cigarettes smoked per day and lung capacity, we expect the association to be:</vt:lpstr>
      <vt:lpstr>For the two variables:  age of the husband and age of the wife, we expect the association to be:</vt:lpstr>
      <vt:lpstr>For the two variables: depth of tire tread and number of miles driven on the tires, we expect the association to be:</vt:lpstr>
      <vt:lpstr>Summary Statistic for Two Quantitative Variables: Correlation Coefficient</vt:lpstr>
      <vt:lpstr>Car Correlations</vt:lpstr>
      <vt:lpstr>Properties of Correlation</vt:lpstr>
      <vt:lpstr>Obtaining the Correlation Coefficient</vt:lpstr>
      <vt:lpstr>For the scatterplot below, the correlation is closest to:</vt:lpstr>
      <vt:lpstr>Correlation Guessing Game</vt:lpstr>
      <vt:lpstr>For the scatterplot below, the correlation is closest to:</vt:lpstr>
      <vt:lpstr>Correlation</vt:lpstr>
      <vt:lpstr>Correlation</vt:lpstr>
      <vt:lpstr>Correlation Cautions</vt:lpstr>
      <vt:lpstr>Summary: Two Quantitative Variables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Kathryn Leed</dc:creator>
  <cp:lastModifiedBy>Nadezhda Berezyuk</cp:lastModifiedBy>
  <cp:revision>67</cp:revision>
  <cp:lastPrinted>2015-06-16T18:53:12Z</cp:lastPrinted>
  <dcterms:created xsi:type="dcterms:W3CDTF">2012-12-11T23:43:05Z</dcterms:created>
  <dcterms:modified xsi:type="dcterms:W3CDTF">2019-09-18T10:43:24Z</dcterms:modified>
</cp:coreProperties>
</file>