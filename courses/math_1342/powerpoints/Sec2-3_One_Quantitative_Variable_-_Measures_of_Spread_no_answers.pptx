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ppt/tags/tag16.xml" ContentType="application/vnd.openxmlformats-officedocument.presentationml.tags+xml"/>
  <Override PartName="/ppt/notesSlides/notesSlide10.xml" ContentType="application/vnd.openxmlformats-officedocument.presentationml.notesSlide+xml"/>
  <Override PartName="/ppt/tags/tag17.xml" ContentType="application/vnd.openxmlformats-officedocument.presentationml.tags+xml"/>
  <Override PartName="/ppt/notesSlides/notesSlide1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2.xml" ContentType="application/vnd.openxmlformats-officedocument.presentationml.notesSlide+xml"/>
  <Override PartName="/ppt/tags/tag20.xml" ContentType="application/vnd.openxmlformats-officedocument.presentationml.tags+xml"/>
  <Override PartName="/ppt/notesSlides/notesSlide13.xml" ContentType="application/vnd.openxmlformats-officedocument.presentationml.notesSlide+xml"/>
  <Override PartName="/ppt/tags/tag21.xml" ContentType="application/vnd.openxmlformats-officedocument.presentationml.tags+xml"/>
  <Override PartName="/ppt/notesSlides/notesSlide14.xml" ContentType="application/vnd.openxmlformats-officedocument.presentationml.notesSlide+xml"/>
  <Override PartName="/ppt/tags/tag22.xml" ContentType="application/vnd.openxmlformats-officedocument.presentationml.tags+xml"/>
  <Override PartName="/ppt/notesSlides/notesSlide15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6.xml" ContentType="application/vnd.openxmlformats-officedocument.presentationml.notesSlide+xml"/>
  <Override PartName="/ppt/tags/tag26.xml" ContentType="application/vnd.openxmlformats-officedocument.presentationml.tags+xml"/>
  <Override PartName="/ppt/notesSlides/notesSlide17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8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9.xml" ContentType="application/vnd.openxmlformats-officedocument.presentationml.notesSlide+xml"/>
  <Override PartName="/ppt/tags/tag31.xml" ContentType="application/vnd.openxmlformats-officedocument.presentationml.tags+xml"/>
  <Override PartName="/ppt/notesSlides/notesSlide20.xml" ContentType="application/vnd.openxmlformats-officedocument.presentationml.notesSlide+xml"/>
  <Override PartName="/ppt/tags/tag32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338" r:id="rId2"/>
    <p:sldId id="342" r:id="rId3"/>
    <p:sldId id="333" r:id="rId4"/>
    <p:sldId id="334" r:id="rId5"/>
    <p:sldId id="290" r:id="rId6"/>
    <p:sldId id="335" r:id="rId7"/>
    <p:sldId id="339" r:id="rId8"/>
    <p:sldId id="336" r:id="rId9"/>
    <p:sldId id="291" r:id="rId10"/>
    <p:sldId id="292" r:id="rId11"/>
    <p:sldId id="318" r:id="rId12"/>
    <p:sldId id="319" r:id="rId13"/>
    <p:sldId id="340" r:id="rId14"/>
    <p:sldId id="293" r:id="rId15"/>
    <p:sldId id="337" r:id="rId16"/>
    <p:sldId id="294" r:id="rId17"/>
    <p:sldId id="295" r:id="rId18"/>
    <p:sldId id="296" r:id="rId19"/>
    <p:sldId id="297" r:id="rId20"/>
    <p:sldId id="298" r:id="rId21"/>
    <p:sldId id="320" r:id="rId22"/>
    <p:sldId id="299" r:id="rId23"/>
    <p:sldId id="300" r:id="rId24"/>
    <p:sldId id="341" r:id="rId25"/>
    <p:sldId id="302" r:id="rId26"/>
    <p:sldId id="303" r:id="rId27"/>
    <p:sldId id="304" r:id="rId28"/>
    <p:sldId id="326" r:id="rId29"/>
    <p:sldId id="305" r:id="rId30"/>
    <p:sldId id="310" r:id="rId31"/>
  </p:sldIdLst>
  <p:sldSz cx="9144000" cy="6858000" type="screen4x3"/>
  <p:notesSz cx="7010400" cy="92964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-678" y="-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1" d="100"/>
          <a:sy n="41" d="100"/>
        </p:scale>
        <p:origin x="-1493" y="-9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5CC-45ED-A8F2-D643664530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5CC-45ED-A8F2-D643664530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D5CC-45ED-A8F2-D643664530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2829568"/>
        <c:axId val="92848128"/>
        <c:axId val="60225728"/>
      </c:bar3DChart>
      <c:catAx>
        <c:axId val="928295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92848128"/>
        <c:crosses val="autoZero"/>
        <c:auto val="1"/>
        <c:lblAlgn val="ctr"/>
        <c:lblOffset val="100"/>
        <c:noMultiLvlLbl val="0"/>
      </c:catAx>
      <c:valAx>
        <c:axId val="928481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92829568"/>
        <c:crosses val="autoZero"/>
        <c:crossBetween val="between"/>
      </c:valAx>
      <c:serAx>
        <c:axId val="60225728"/>
        <c:scaling>
          <c:orientation val="minMax"/>
        </c:scaling>
        <c:delete val="0"/>
        <c:axPos val="b"/>
        <c:majorTickMark val="out"/>
        <c:minorTickMark val="none"/>
        <c:tickLblPos val="nextTo"/>
        <c:crossAx val="92848128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5595A-31C1-46C1-9E1D-11A3B8ECD053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3C552-83BE-491F-8623-733FC4EBF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54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88C8C23-C64E-4DD2-B57D-E8F7AF8A60B9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31C3C3-D59C-4944-8DD8-272620ECF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3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41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18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30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89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06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06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21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45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33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69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09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4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30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26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059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31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418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43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263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219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05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sz="3200"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 kumimoji="0" lang="en-US" sz="3200" kern="1200" dirty="0" smtClean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kumimoji="0" lang="en-US" sz="3200" kern="1200" dirty="0" smtClean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2"/>
          <p:cNvSpPr>
            <a:spLocks noGrp="1"/>
          </p:cNvSpPr>
          <p:nvPr>
            <p:ph idx="1"/>
          </p:nvPr>
        </p:nvSpPr>
        <p:spPr>
          <a:xfrm>
            <a:off x="1257300" y="1676400"/>
            <a:ext cx="6629400" cy="1759458"/>
          </a:xfrm>
          <a:prstGeom prst="rect">
            <a:avLst/>
          </a:prstGeom>
          <a:ln w="76200" cmpd="thickThin">
            <a:solidFill>
              <a:schemeClr val="accent1"/>
            </a:solidFill>
          </a:ln>
        </p:spPr>
        <p:txBody>
          <a:bodyPr vert="horz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0"/>
          </p:nvPr>
        </p:nvSpPr>
        <p:spPr>
          <a:xfrm>
            <a:off x="304800" y="3962400"/>
            <a:ext cx="8534400" cy="12192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/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01861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784" y="152400"/>
            <a:ext cx="7290816" cy="7620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2" descr="http://t3.gstatic.com/images?q=tbn:ANd9GcTYmiLh9B_aVjviHh1xZIewSwIAVBJM6GGUwjQGMknDgt1O3VWWMFpakkXX"/>
          <p:cNvPicPr>
            <a:picLocks noChangeAspect="1" noChangeArrowheads="1"/>
          </p:cNvPicPr>
          <p:nvPr userDrawn="1"/>
        </p:nvPicPr>
        <p:blipFill>
          <a:blip r:embed="rId2" cstate="print"/>
          <a:srcRect t="17160" b="8480"/>
          <a:stretch>
            <a:fillRect/>
          </a:stretch>
        </p:blipFill>
        <p:spPr bwMode="auto">
          <a:xfrm>
            <a:off x="173736" y="173736"/>
            <a:ext cx="1066800" cy="990600"/>
          </a:xfrm>
          <a:prstGeom prst="rect">
            <a:avLst/>
          </a:prstGeom>
          <a:noFill/>
        </p:spPr>
      </p:pic>
      <p:sp>
        <p:nvSpPr>
          <p:cNvPr id="9" name="Text Placeholder 12"/>
          <p:cNvSpPr>
            <a:spLocks noGrp="1"/>
          </p:cNvSpPr>
          <p:nvPr>
            <p:ph idx="1"/>
          </p:nvPr>
        </p:nvSpPr>
        <p:spPr>
          <a:xfrm>
            <a:off x="301752" y="1371600"/>
            <a:ext cx="85344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1800"/>
              </a:spcAft>
              <a:defRPr sz="2800"/>
            </a:lvl2pPr>
            <a:lvl3pPr>
              <a:spcBef>
                <a:spcPts val="0"/>
              </a:spcBef>
              <a:spcAft>
                <a:spcPts val="1800"/>
              </a:spcAft>
              <a:defRPr sz="2400"/>
            </a:lvl3pPr>
            <a:lvl4pPr>
              <a:spcBef>
                <a:spcPts val="0"/>
              </a:spcBef>
              <a:spcAft>
                <a:spcPts val="1800"/>
              </a:spcAft>
              <a:defRPr sz="2000"/>
            </a:lvl4pPr>
            <a:lvl5pPr>
              <a:spcBef>
                <a:spcPts val="0"/>
              </a:spcBef>
              <a:spcAft>
                <a:spcPts val="1800"/>
              </a:spcAft>
              <a:defRPr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idx="13"/>
          </p:nvPr>
        </p:nvSpPr>
        <p:spPr>
          <a:xfrm>
            <a:off x="1143000" y="3886200"/>
            <a:ext cx="7568680" cy="216103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idx="14"/>
          </p:nvPr>
        </p:nvSpPr>
        <p:spPr>
          <a:xfrm>
            <a:off x="5181600" y="4114800"/>
            <a:ext cx="3733800" cy="2057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1pPr>
            <a:lvl2pPr marL="274320" indent="0">
              <a:buNone/>
              <a:defRPr sz="2800">
                <a:solidFill>
                  <a:schemeClr val="accent1"/>
                </a:solidFill>
                <a:latin typeface="Segoe Print" pitchFamily="2" charset="0"/>
              </a:defRPr>
            </a:lvl2pPr>
            <a:lvl3pPr marL="59436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3pPr>
            <a:lvl4pPr marL="868680" indent="0">
              <a:buNone/>
              <a:defRPr sz="2000">
                <a:solidFill>
                  <a:schemeClr val="accent1"/>
                </a:solidFill>
                <a:latin typeface="Segoe Print" pitchFamily="2" charset="0"/>
              </a:defRPr>
            </a:lvl4pPr>
            <a:lvl5pPr marL="1143000" indent="0">
              <a:buNone/>
              <a:defRPr>
                <a:solidFill>
                  <a:schemeClr val="accent1"/>
                </a:solidFill>
                <a:latin typeface="Segoe Print" pitchFamily="2" charset="0"/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2779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52450" y="1797050"/>
            <a:ext cx="4038600" cy="4411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3450" y="1797050"/>
            <a:ext cx="4038600" cy="4411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8BC5E-7749-430A-A7C1-2E0A0B161B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754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4141775674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932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4" Type="http://schemas.openxmlformats.org/officeDocument/2006/relationships/image" Target="../media/image2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wmf"/><Relationship Id="rId2" Type="http://schemas.openxmlformats.org/officeDocument/2006/relationships/tags" Target="../tags/tag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4.emf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5" Type="http://schemas.openxmlformats.org/officeDocument/2006/relationships/hyperlink" Target="http://lock5stat.com/statkey/index.html" TargetMode="Externa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4" Type="http://schemas.openxmlformats.org/officeDocument/2006/relationships/hyperlink" Target="http://lock5stat.com/statkey/theoretical_distribution/theoretical_distribution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wmf"/><Relationship Id="rId2" Type="http://schemas.openxmlformats.org/officeDocument/2006/relationships/tags" Target="../tags/tag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8.emf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1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notesSlide" Target="../notesSlides/notesSlid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notesSlide" Target="../notesSlides/notesSlide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notesSlide" Target="../notesSlides/notesSlide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1489363" y="1752600"/>
            <a:ext cx="7585364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dirty="0">
                <a:solidFill>
                  <a:schemeClr val="tx2"/>
                </a:solidFill>
              </a:rPr>
              <a:t>Section 2.3:</a:t>
            </a:r>
          </a:p>
          <a:p>
            <a:pPr>
              <a:spcBef>
                <a:spcPct val="20000"/>
              </a:spcBef>
              <a:defRPr/>
            </a:pPr>
            <a:r>
              <a:rPr lang="en-US" sz="4000" b="1" dirty="0">
                <a:solidFill>
                  <a:schemeClr val="tx2"/>
                </a:solidFill>
              </a:rPr>
              <a:t>One Quantitative Variable – Measures of Spread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334491" y="6248400"/>
            <a:ext cx="6809508" cy="609600"/>
          </a:xfrm>
        </p:spPr>
        <p:txBody>
          <a:bodyPr/>
          <a:lstStyle/>
          <a:p>
            <a:pPr lvl="0"/>
            <a:r>
              <a:rPr lang="en-US" sz="2700" b="1" u="sng" dirty="0"/>
              <a:t>Statistics: Unlocking the Power of Data</a:t>
            </a:r>
            <a:r>
              <a:rPr lang="en-US" sz="2700" b="1" dirty="0"/>
              <a:t>, Lock</a:t>
            </a:r>
            <a:r>
              <a:rPr lang="en-US" sz="2700" b="1" baseline="30000" dirty="0"/>
              <a:t>5</a:t>
            </a:r>
            <a:endParaRPr lang="en-US" sz="2700" b="1" u="sng" dirty="0"/>
          </a:p>
          <a:p>
            <a:endParaRPr lang="en-US" sz="2700" dirty="0"/>
          </a:p>
        </p:txBody>
      </p:sp>
      <p:sp>
        <p:nvSpPr>
          <p:cNvPr id="3" name="TextBox 2"/>
          <p:cNvSpPr txBox="1"/>
          <p:nvPr/>
        </p:nvSpPr>
        <p:spPr>
          <a:xfrm>
            <a:off x="2514600" y="4267200"/>
            <a:ext cx="5534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Professor Kathryn </a:t>
            </a:r>
            <a:r>
              <a:rPr lang="en-US" sz="280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Dobeck</a:t>
            </a:r>
            <a:endParaRPr lang="en-US" sz="28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41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37964" cy="1219200"/>
          </a:xfrm>
        </p:spPr>
        <p:txBody>
          <a:bodyPr>
            <a:normAutofit/>
          </a:bodyPr>
          <a:lstStyle/>
          <a:p>
            <a:r>
              <a:rPr lang="en-US" sz="3600" b="1" dirty="0"/>
              <a:t>The exam scores shown in the histogram are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4724400"/>
            <a:ext cx="4724400" cy="21313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 Symmetric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 Left-skewed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 Right-skewed</a:t>
            </a:r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1371600"/>
            <a:ext cx="3299298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314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220663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b="1" dirty="0"/>
              <a:t>The Basics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48125" y="1600200"/>
            <a:ext cx="4906963" cy="5030788"/>
          </a:xfrm>
          <a:noFill/>
        </p:spPr>
        <p:txBody>
          <a:bodyPr>
            <a:normAutofit fontScale="92500"/>
          </a:bodyPr>
          <a:lstStyle/>
          <a:p>
            <a:pPr>
              <a:buSzPct val="130000"/>
              <a:buFont typeface="Arial" pitchFamily="34" charset="0"/>
              <a:buChar char="•"/>
            </a:pPr>
            <a:r>
              <a:rPr lang="en-US" sz="3200" dirty="0"/>
              <a:t>a) Consider the following two samples of quiz scores.  What are their means? medians? modes?</a:t>
            </a:r>
          </a:p>
          <a:p>
            <a:pPr>
              <a:buSzPct val="130000"/>
              <a:buFont typeface="Arial" pitchFamily="34" charset="0"/>
              <a:buChar char="•"/>
            </a:pPr>
            <a:endParaRPr lang="en-US" sz="3200" dirty="0"/>
          </a:p>
          <a:p>
            <a:pPr>
              <a:buSzPct val="130000"/>
              <a:buFont typeface="Arial" pitchFamily="34" charset="0"/>
              <a:buChar char="•"/>
            </a:pPr>
            <a:endParaRPr lang="en-US" sz="3200" dirty="0"/>
          </a:p>
          <a:p>
            <a:pPr>
              <a:buSzPct val="130000"/>
              <a:buFont typeface="Arial" pitchFamily="34" charset="0"/>
              <a:buChar char="•"/>
            </a:pPr>
            <a:endParaRPr lang="en-US" sz="3200" dirty="0"/>
          </a:p>
          <a:p>
            <a:pPr>
              <a:buSzPct val="130000"/>
              <a:buFont typeface="Arial" pitchFamily="34" charset="0"/>
              <a:buChar char="•"/>
            </a:pPr>
            <a:r>
              <a:rPr lang="en-US" sz="3200" dirty="0"/>
              <a:t>b) How are the samples different from each other?  </a:t>
            </a:r>
          </a:p>
          <a:p>
            <a:pPr marL="0" indent="0">
              <a:buSzPct val="130000"/>
              <a:buNone/>
            </a:pPr>
            <a:endParaRPr lang="en-US" sz="3200" dirty="0"/>
          </a:p>
        </p:txBody>
      </p:sp>
      <p:graphicFrame>
        <p:nvGraphicFramePr>
          <p:cNvPr id="308276" name="Group 5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57202069"/>
              </p:ext>
            </p:extLst>
          </p:nvPr>
        </p:nvGraphicFramePr>
        <p:xfrm>
          <a:off x="304800" y="1600200"/>
          <a:ext cx="2819400" cy="4744531"/>
        </p:xfrm>
        <a:graphic>
          <a:graphicData uri="http://schemas.openxmlformats.org/drawingml/2006/table">
            <a:tbl>
              <a:tblPr/>
              <a:tblGrid>
                <a:gridCol w="14034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159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1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8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8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8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8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8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8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68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95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7" y="1576466"/>
            <a:ext cx="8867775" cy="433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2684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76400"/>
            <a:ext cx="6629400" cy="175945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standard deviation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for a quantitative variable measures the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spread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of the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381000" y="5486400"/>
            <a:ext cx="8534400" cy="1219200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Sample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 standard deviation: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s</a:t>
            </a:r>
          </a:p>
          <a:p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Population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 standard deviation: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sym typeface="Symbol"/>
              </a:rPr>
              <a:t>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 (“sigma”)</a:t>
            </a:r>
            <a:endParaRPr 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71800" y="3886200"/>
                <a:ext cx="3053015" cy="1547347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𝑠</m:t>
                      </m:r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3200" i="1">
                                  <a:latin typeface="Cambria Math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3200" i="1">
                                      <a:latin typeface="Cambria Math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d>
                                    <m:dPr>
                                      <m:ctrlPr>
                                        <a:rPr lang="en-US" sz="32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32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3200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32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sz="3200" i="1" baseline="30000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nary>
                            </m:num>
                            <m:den>
                              <m:r>
                                <a:rPr lang="en-US" sz="32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886200"/>
                <a:ext cx="3053015" cy="154734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6487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Autofit/>
          </a:bodyPr>
          <a:lstStyle/>
          <a:p>
            <a:r>
              <a:rPr lang="en-US" sz="3400" b="1" dirty="0"/>
              <a:t>Example: Our Only Time We Will Use the Formula</a:t>
            </a:r>
            <a:br>
              <a:rPr lang="en-US" sz="3400" b="1" dirty="0"/>
            </a:br>
            <a:endParaRPr lang="en-US" sz="3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5800" y="2121186"/>
                <a:ext cx="3053015" cy="15473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𝑠</m:t>
                      </m:r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3200" i="1">
                                  <a:latin typeface="Cambria Math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3200" i="1">
                                      <a:latin typeface="Cambria Math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d>
                                    <m:dPr>
                                      <m:ctrlPr>
                                        <a:rPr lang="en-US" sz="32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32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3200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32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sz="3200" i="1" baseline="30000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nary>
                            </m:num>
                            <m:den>
                              <m:r>
                                <a:rPr lang="en-US" sz="32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121186"/>
                <a:ext cx="3053015" cy="154734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636" y="1536412"/>
            <a:ext cx="495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Sample Data: {1, 3, 3, 6, 7}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19600" y="2602471"/>
                <a:ext cx="3866764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For our sample,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3200" dirty="0"/>
                  <a:t> = 4 </a:t>
                </a:r>
              </a:p>
              <a:p>
                <a:r>
                  <a:rPr lang="en-US" sz="3200" dirty="0"/>
                  <a:t>		 and </a:t>
                </a:r>
                <a:r>
                  <a:rPr lang="en-US" sz="3200" i="1" dirty="0"/>
                  <a:t>n</a:t>
                </a:r>
                <a:r>
                  <a:rPr lang="en-US" sz="3200" dirty="0"/>
                  <a:t> = 5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2602471"/>
                <a:ext cx="3866764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3943" t="-6780" r="-2997" b="-18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23855"/>
            <a:ext cx="791704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410199"/>
            <a:ext cx="7917040" cy="1176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722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Autofit/>
          </a:bodyPr>
          <a:lstStyle/>
          <a:p>
            <a:r>
              <a:rPr lang="en-US" sz="3400" b="1" dirty="0"/>
              <a:t>Example: Our Only Time We Will Use the Formula</a:t>
            </a:r>
            <a:br>
              <a:rPr lang="en-US" sz="3400" b="1" dirty="0"/>
            </a:br>
            <a:endParaRPr lang="en-US" sz="3400" b="1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524000"/>
            <a:ext cx="8305801" cy="1234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4571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 What is a Standard Deviation?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751846"/>
              </p:ext>
            </p:extLst>
          </p:nvPr>
        </p:nvGraphicFramePr>
        <p:xfrm>
          <a:off x="304800" y="1676400"/>
          <a:ext cx="865414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7" name="Equation" r:id="rId3" imgW="3365280" imgH="177480" progId="Equation.BREE4">
                  <p:embed/>
                </p:oleObj>
              </mc:Choice>
              <mc:Fallback>
                <p:oleObj name="Equation" r:id="rId3" imgW="3365280" imgH="177480" progId="Equation.BREE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" y="1676400"/>
                        <a:ext cx="8654143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119415"/>
              </p:ext>
            </p:extLst>
          </p:nvPr>
        </p:nvGraphicFramePr>
        <p:xfrm>
          <a:off x="990600" y="2362200"/>
          <a:ext cx="65627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8" name="Equation" r:id="rId5" imgW="2552400" imgH="279360" progId="Equation.BREE4">
                  <p:embed/>
                </p:oleObj>
              </mc:Choice>
              <mc:Fallback>
                <p:oleObj name="Equation" r:id="rId5" imgW="2552400" imgH="279360" progId="Equation.BREE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362200"/>
                        <a:ext cx="656272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254408"/>
              </p:ext>
            </p:extLst>
          </p:nvPr>
        </p:nvGraphicFramePr>
        <p:xfrm>
          <a:off x="609600" y="3048000"/>
          <a:ext cx="7640637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9" name="Equation" r:id="rId7" imgW="2971800" imgH="444240" progId="Equation.BREE4">
                  <p:embed/>
                </p:oleObj>
              </mc:Choice>
              <mc:Fallback>
                <p:oleObj name="Equation" r:id="rId7" imgW="2971800" imgH="444240" progId="Equation.BREE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048000"/>
                        <a:ext cx="7640637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335360"/>
              </p:ext>
            </p:extLst>
          </p:nvPr>
        </p:nvGraphicFramePr>
        <p:xfrm>
          <a:off x="152399" y="4267200"/>
          <a:ext cx="8991601" cy="123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0" name="Equation" r:id="rId9" imgW="3619440" imgH="495000" progId="Equation.BREE4">
                  <p:embed/>
                </p:oleObj>
              </mc:Choice>
              <mc:Fallback>
                <p:oleObj name="Equation" r:id="rId9" imgW="3619440" imgH="495000" progId="Equation.BREE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99" y="4267200"/>
                        <a:ext cx="8991601" cy="1231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781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sz="3400" dirty="0"/>
              <a:t>The standard deviation gives a rough estimate of the typical distance of the data values from the mean</a:t>
            </a:r>
          </a:p>
          <a:p>
            <a:r>
              <a:rPr lang="en-US" sz="3400" dirty="0"/>
              <a:t>The larger the standard deviation, the more variability there is in the data and the more spread out the data are.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232348"/>
            <a:ext cx="8153400" cy="990600"/>
          </a:xfrm>
          <a:prstGeom prst="rect">
            <a:avLst/>
          </a:prstGeom>
        </p:spPr>
        <p:txBody>
          <a:bodyPr vert="horz" anchor="ctr">
            <a:normAutofit fontScale="85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 What is a Standard Deviation?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192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52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8640" y="1425564"/>
            <a:ext cx="7200900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Standard Deviation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370108"/>
              </p:ext>
            </p:extLst>
          </p:nvPr>
        </p:nvGraphicFramePr>
        <p:xfrm>
          <a:off x="6019800" y="1600200"/>
          <a:ext cx="74272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Equation" r:id="rId6" imgW="317087" imgH="177569" progId="Equation.DSMT4">
                  <p:embed/>
                </p:oleObj>
              </mc:Choice>
              <mc:Fallback>
                <p:oleObj name="Equation" r:id="rId6" imgW="317087" imgH="17756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600200"/>
                        <a:ext cx="742723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6056312" y="4191000"/>
          <a:ext cx="8016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Equation" r:id="rId8" imgW="342603" imgH="177646" progId="Equation.DSMT4">
                  <p:embed/>
                </p:oleObj>
              </mc:Choice>
              <mc:Fallback>
                <p:oleObj name="Equation" r:id="rId8" imgW="342603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2" y="4191000"/>
                        <a:ext cx="801688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2400" y="6129010"/>
            <a:ext cx="883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Both of these distributions are </a:t>
            </a:r>
            <a:r>
              <a:rPr lang="en-US" sz="3200" b="1" i="1" dirty="0">
                <a:solidFill>
                  <a:schemeClr val="accent5">
                    <a:lumMod val="50000"/>
                  </a:schemeClr>
                </a:solidFill>
              </a:rPr>
              <a:t>bell-shaped</a:t>
            </a:r>
            <a:endParaRPr 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59430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3: Arsenic in Toenails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r>
              <a:rPr lang="en-US" dirty="0"/>
              <a:t>Arsenic is toxic to humans and people can be exposed to it through contaminated drinking water, food, dust, and soil. Scientists have devised an interesting new way to measure a person’s level of arsenic poisoning: by examining toenail clippings.</a:t>
            </a:r>
          </a:p>
          <a:p>
            <a:r>
              <a:rPr lang="en-US" dirty="0"/>
              <a:t>The table on the next slide gives toenail arsenic concentrations (in ppm) for 19 individuals with private wells in New Hampshire.  (cont’d…)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5943600"/>
            <a:ext cx="9144000" cy="914400"/>
          </a:xfrm>
        </p:spPr>
        <p:txBody>
          <a:bodyPr/>
          <a:lstStyle/>
          <a:p>
            <a:r>
              <a:rPr lang="en-US" sz="2000" dirty="0"/>
              <a:t>Adapted from </a:t>
            </a:r>
            <a:r>
              <a:rPr lang="en-US" sz="2000" dirty="0" err="1"/>
              <a:t>Karagas</a:t>
            </a:r>
            <a:r>
              <a:rPr lang="en-US" sz="2000" dirty="0"/>
              <a:t>, M., et al., "Toenail Samples as an Indicator of Drinking Water Arsenic Exposure," </a:t>
            </a:r>
            <a:r>
              <a:rPr lang="en-US" sz="2000" i="1" dirty="0"/>
              <a:t>Cancer Epidemiology, Biomarkers and Prevention</a:t>
            </a:r>
            <a:r>
              <a:rPr lang="en-US" sz="2000" dirty="0"/>
              <a:t>, 1996; 5: 849-852.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7138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-11317" y="152400"/>
            <a:ext cx="9155317" cy="990600"/>
          </a:xfrm>
        </p:spPr>
        <p:txBody>
          <a:bodyPr>
            <a:normAutofit/>
          </a:bodyPr>
          <a:lstStyle/>
          <a:p>
            <a:r>
              <a:rPr lang="en-US" b="1" dirty="0"/>
              <a:t>Example 3: Arsenic in Toenails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-15844" y="1066800"/>
            <a:ext cx="9159844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0.119     0.118     0.099     0.118     0.275     0.358     0.080     0.158     0.310     0.105     0.073     0.832</a:t>
            </a:r>
          </a:p>
          <a:p>
            <a:pPr marL="0" indent="0">
              <a:buNone/>
            </a:pPr>
            <a:r>
              <a:rPr lang="en-US" sz="3000" dirty="0"/>
              <a:t>0.517     0.851     0.269     0.433     0.141     0.135     0.175</a:t>
            </a:r>
          </a:p>
          <a:p>
            <a:pPr marL="0" indent="0">
              <a:buNone/>
            </a:pPr>
            <a:r>
              <a:rPr lang="en-US" sz="3000" dirty="0"/>
              <a:t>a) Use technology to find the mean, median, max, and standard deviation.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9822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0999" y="161925"/>
            <a:ext cx="8763001" cy="990600"/>
          </a:xfrm>
        </p:spPr>
        <p:txBody>
          <a:bodyPr>
            <a:normAutofit/>
          </a:bodyPr>
          <a:lstStyle/>
          <a:p>
            <a:r>
              <a:rPr lang="en-US" b="1" dirty="0"/>
              <a:t>Example 3: Arsenic in Toenails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067800" cy="5254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57200" y="990600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hlinkClick r:id="rId5"/>
              </a:rPr>
              <a:t>StatKey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6096000" y="4648201"/>
            <a:ext cx="304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Mean =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__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0.272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__</a:t>
            </a:r>
          </a:p>
          <a:p>
            <a:pPr algn="ctr"/>
            <a:r>
              <a:rPr lang="en-US" dirty="0"/>
              <a:t>Median =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__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0.158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__</a:t>
            </a:r>
          </a:p>
          <a:p>
            <a:pPr algn="ctr"/>
            <a:r>
              <a:rPr lang="en-US" dirty="0"/>
              <a:t>Max =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____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0.851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____</a:t>
            </a:r>
          </a:p>
          <a:p>
            <a:pPr algn="ctr"/>
            <a:r>
              <a:rPr lang="en-US" dirty="0"/>
              <a:t>St. Dev =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__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0.237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____</a:t>
            </a:r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324600" y="3020839"/>
            <a:ext cx="2667000" cy="202193"/>
          </a:xfrm>
          <a:prstGeom prst="round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324600" y="3223032"/>
            <a:ext cx="2667000" cy="228600"/>
          </a:xfrm>
          <a:prstGeom prst="round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324600" y="4343400"/>
            <a:ext cx="2667000" cy="228600"/>
          </a:xfrm>
          <a:prstGeom prst="round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324600" y="3886200"/>
            <a:ext cx="2667000" cy="228600"/>
          </a:xfrm>
          <a:prstGeom prst="round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100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95%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277100" cy="2209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If a distribution of data is approximately symmetric and bell-shaped, about 95% of the data should fall within two standard deviations of the mean.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304800" y="4114800"/>
            <a:ext cx="8534400" cy="1905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For a population, 95% of the data will be between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µ – 2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sym typeface="Symbol"/>
              </a:rPr>
              <a:t> and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µ + 2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sym typeface="Symbol"/>
              </a:rPr>
              <a:t></a:t>
            </a:r>
          </a:p>
          <a:p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  <a:hlinkClick r:id="rId4"/>
              </a:rPr>
              <a:t>StatKey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88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95% Rule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08" y="1524000"/>
            <a:ext cx="8658225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027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The 95% Rule</a:t>
            </a:r>
          </a:p>
        </p:txBody>
      </p:sp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47800" y="1524000"/>
            <a:ext cx="6019800" cy="5059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8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479477"/>
              </p:ext>
            </p:extLst>
          </p:nvPr>
        </p:nvGraphicFramePr>
        <p:xfrm>
          <a:off x="5943600" y="1600200"/>
          <a:ext cx="7429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" name="Equation" r:id="rId6" imgW="317087" imgH="177569" progId="Equation.DSMT4">
                  <p:embed/>
                </p:oleObj>
              </mc:Choice>
              <mc:Fallback>
                <p:oleObj name="Equation" r:id="rId6" imgW="317087" imgH="17756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600200"/>
                        <a:ext cx="74295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356761"/>
              </p:ext>
            </p:extLst>
          </p:nvPr>
        </p:nvGraphicFramePr>
        <p:xfrm>
          <a:off x="6056313" y="4191000"/>
          <a:ext cx="8016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" name="Equation" r:id="rId8" imgW="342603" imgH="177646" progId="Equation.DSMT4">
                  <p:embed/>
                </p:oleObj>
              </mc:Choice>
              <mc:Fallback>
                <p:oleObj name="Equation" r:id="rId8" imgW="342603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4191000"/>
                        <a:ext cx="801687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61693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 idx="4294967295"/>
          </p:nvPr>
        </p:nvSpPr>
        <p:spPr>
          <a:xfrm>
            <a:off x="4184650" y="0"/>
            <a:ext cx="4959350" cy="2438400"/>
          </a:xfrm>
        </p:spPr>
        <p:txBody>
          <a:bodyPr>
            <a:normAutofit fontScale="90000"/>
          </a:bodyPr>
          <a:lstStyle/>
          <a:p>
            <a:pPr marL="0" indent="-514350">
              <a:spcBef>
                <a:spcPts val="0"/>
              </a:spcBef>
            </a:pPr>
            <a:r>
              <a:rPr lang="en-US" dirty="0"/>
              <a:t>The standard deviation for hours of sleep per night is closest to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 r="66701"/>
          <a:stretch>
            <a:fillRect/>
          </a:stretch>
        </p:blipFill>
        <p:spPr bwMode="auto">
          <a:xfrm>
            <a:off x="14068" y="12895"/>
            <a:ext cx="4184872" cy="3873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PAnswers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0" y="4038600"/>
            <a:ext cx="4038600" cy="2809875"/>
          </a:xfrm>
        </p:spPr>
        <p:txBody>
          <a:bodyPr>
            <a:noAutofit/>
          </a:bodyPr>
          <a:lstStyle/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½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1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2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4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I have no idea</a:t>
            </a: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7724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Z-score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05000"/>
                <a:ext cx="7848600" cy="198120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The </a:t>
                </a:r>
                <a:r>
                  <a:rPr lang="en-US" b="1" i="1" dirty="0">
                    <a:solidFill>
                      <a:schemeClr val="accent5">
                        <a:lumMod val="50000"/>
                      </a:schemeClr>
                    </a:solidFill>
                  </a:rPr>
                  <a:t>z-score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for a data value, </a:t>
                </a:r>
                <a:r>
                  <a:rPr lang="en-US" i="1" dirty="0">
                    <a:solidFill>
                      <a:schemeClr val="accent6">
                        <a:lumMod val="50000"/>
                      </a:schemeClr>
                    </a:solidFill>
                  </a:rPr>
                  <a:t>x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, is </a:t>
                </a:r>
                <a:endParaRPr lang="en-US" b="0" i="1" dirty="0">
                  <a:solidFill>
                    <a:schemeClr val="accent6">
                      <a:lumMod val="50000"/>
                    </a:schemeClr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05000"/>
                <a:ext cx="7848600" cy="1981200"/>
              </a:xfrm>
              <a:blipFill rotWithShape="1">
                <a:blip r:embed="rId4"/>
                <a:stretch>
                  <a:fillRect t="-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0"/>
              </p:nvPr>
            </p:nvSpPr>
            <p:spPr>
              <a:xfrm>
                <a:off x="304800" y="4191000"/>
                <a:ext cx="8534400" cy="2636520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For a population,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 is replaced with µ and </a:t>
                </a:r>
                <a:r>
                  <a:rPr lang="en-US" sz="3200" i="1" dirty="0">
                    <a:solidFill>
                      <a:schemeClr val="accent6">
                        <a:lumMod val="50000"/>
                      </a:schemeClr>
                    </a:solidFill>
                  </a:rPr>
                  <a:t>s</a:t>
                </a: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 is replaced with </a:t>
                </a: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  <a:sym typeface="Symbol"/>
                  </a:rPr>
                  <a:t></a:t>
                </a:r>
              </a:p>
              <a:p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  <a:sym typeface="Symbol"/>
                  </a:rPr>
                  <a:t>Z-score values farther from 0 in either direction are more extreme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304800" y="4191000"/>
                <a:ext cx="8534400" cy="2636520"/>
              </a:xfrm>
              <a:blipFill rotWithShape="1">
                <a:blip r:embed="rId5"/>
                <a:stretch>
                  <a:fillRect l="-500" t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565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Z</a:t>
            </a:r>
            <a:r>
              <a:rPr lang="en-US" b="1" dirty="0"/>
              <a:t>-score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</a:pPr>
            <a:r>
              <a:rPr lang="en-US" dirty="0"/>
              <a:t>A z-score puts values on a common scale</a:t>
            </a:r>
          </a:p>
          <a:p>
            <a:pPr marL="0" indent="-514350">
              <a:spcBef>
                <a:spcPts val="0"/>
              </a:spcBef>
            </a:pPr>
            <a:r>
              <a:rPr lang="en-US" dirty="0"/>
              <a:t>A z-score is the number of standard deviations a value falls from the mean</a:t>
            </a:r>
          </a:p>
          <a:p>
            <a:pPr marL="0" indent="-514350">
              <a:spcBef>
                <a:spcPts val="0"/>
              </a:spcBef>
            </a:pPr>
            <a:r>
              <a:rPr lang="en-US" dirty="0"/>
              <a:t>95% of all z-scores fall between what two values?</a:t>
            </a: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sz="1400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4" name="Picture 2" descr="http://www.school-clipart.com/school_clipart_images/pencil_touching_lead_to_paper_0515-1007-2718-0955_SMU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98120"/>
            <a:ext cx="838200" cy="8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642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PAnswers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0" y="3048000"/>
            <a:ext cx="4086225" cy="3048000"/>
          </a:xfrm>
        </p:spPr>
        <p:txBody>
          <a:bodyPr>
            <a:noAutofit/>
          </a:bodyPr>
          <a:lstStyle/>
          <a:p>
            <a:pPr marL="124587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ACT score of 28</a:t>
            </a:r>
          </a:p>
          <a:p>
            <a:pPr marL="124587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SAT score of 	2100</a:t>
            </a:r>
          </a:p>
          <a:p>
            <a:pPr marL="124587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I don’t know</a:t>
            </a:r>
          </a:p>
        </p:txBody>
      </p:sp>
      <p:sp>
        <p:nvSpPr>
          <p:cNvPr id="3" name="TPQuestion"/>
          <p:cNvSpPr>
            <a:spLocks noGrp="1"/>
          </p:cNvSpPr>
          <p:nvPr>
            <p:ph type="title" idx="4294967295"/>
          </p:nvPr>
        </p:nvSpPr>
        <p:spPr>
          <a:xfrm>
            <a:off x="20638" y="9525"/>
            <a:ext cx="9123362" cy="3571875"/>
          </a:xfrm>
        </p:spPr>
        <p:txBody>
          <a:bodyPr anchor="ctr">
            <a:normAutofit/>
          </a:bodyPr>
          <a:lstStyle/>
          <a:p>
            <a:pPr marL="0" indent="-514350">
              <a:spcBef>
                <a:spcPts val="0"/>
              </a:spcBef>
            </a:pPr>
            <a:r>
              <a:rPr lang="en-US" sz="3200" b="0" dirty="0">
                <a:solidFill>
                  <a:schemeClr val="tx1"/>
                </a:solidFill>
              </a:rPr>
              <a:t>Which is better, an ACT score of 28 or a combined SAT score of 2100?</a:t>
            </a:r>
            <a:br>
              <a:rPr lang="en-US" sz="3200" b="0" dirty="0">
                <a:solidFill>
                  <a:schemeClr val="tx1"/>
                </a:solidFill>
              </a:rPr>
            </a:br>
            <a:r>
              <a:rPr lang="en-US" sz="3200" b="0" dirty="0">
                <a:solidFill>
                  <a:schemeClr val="tx1"/>
                </a:solidFill>
              </a:rPr>
              <a:t>ACT: </a:t>
            </a:r>
            <a:r>
              <a:rPr lang="en-US" sz="3200" b="0" dirty="0">
                <a:solidFill>
                  <a:schemeClr val="tx1"/>
                </a:solidFill>
                <a:sym typeface="Symbol"/>
              </a:rPr>
              <a:t></a:t>
            </a:r>
            <a:r>
              <a:rPr lang="en-US" sz="3200" b="0" dirty="0">
                <a:solidFill>
                  <a:schemeClr val="tx1"/>
                </a:solidFill>
              </a:rPr>
              <a:t> = 21, </a:t>
            </a:r>
            <a:r>
              <a:rPr lang="en-US" sz="3200" b="0" dirty="0">
                <a:solidFill>
                  <a:schemeClr val="tx1"/>
                </a:solidFill>
                <a:sym typeface="Symbol"/>
              </a:rPr>
              <a:t></a:t>
            </a:r>
            <a:r>
              <a:rPr lang="en-US" sz="3200" b="0" dirty="0">
                <a:solidFill>
                  <a:schemeClr val="tx1"/>
                </a:solidFill>
              </a:rPr>
              <a:t> = 5</a:t>
            </a:r>
            <a:br>
              <a:rPr lang="en-US" sz="3200" b="0" dirty="0">
                <a:solidFill>
                  <a:schemeClr val="tx1"/>
                </a:solidFill>
              </a:rPr>
            </a:br>
            <a:r>
              <a:rPr lang="en-US" sz="3200" b="0" dirty="0">
                <a:solidFill>
                  <a:schemeClr val="tx1"/>
                </a:solidFill>
              </a:rPr>
              <a:t>SAT: </a:t>
            </a:r>
            <a:r>
              <a:rPr lang="en-US" sz="3200" b="0" dirty="0">
                <a:solidFill>
                  <a:schemeClr val="tx1"/>
                </a:solidFill>
                <a:sym typeface="Symbol"/>
              </a:rPr>
              <a:t></a:t>
            </a:r>
            <a:r>
              <a:rPr lang="en-US" sz="3200" b="0" dirty="0">
                <a:solidFill>
                  <a:schemeClr val="tx1"/>
                </a:solidFill>
              </a:rPr>
              <a:t> = 1500, </a:t>
            </a:r>
            <a:r>
              <a:rPr lang="en-US" sz="3200" b="0" dirty="0">
                <a:solidFill>
                  <a:schemeClr val="tx1"/>
                </a:solidFill>
                <a:sym typeface="Symbol"/>
              </a:rPr>
              <a:t></a:t>
            </a:r>
            <a:r>
              <a:rPr lang="en-US" sz="3200" b="0" dirty="0">
                <a:solidFill>
                  <a:schemeClr val="tx1"/>
                </a:solidFill>
              </a:rPr>
              <a:t> = 325</a:t>
            </a:r>
            <a:br>
              <a:rPr lang="en-US" sz="3200" b="0" dirty="0">
                <a:solidFill>
                  <a:schemeClr val="tx1"/>
                </a:solidFill>
              </a:rPr>
            </a:br>
            <a:r>
              <a:rPr lang="en-US" sz="3200" b="0" dirty="0">
                <a:solidFill>
                  <a:schemeClr val="tx1"/>
                </a:solidFill>
              </a:rPr>
              <a:t>Assume ACT and SAT scores have approximately bell-shaped distributions</a:t>
            </a:r>
            <a:br>
              <a:rPr lang="en-US" sz="3200" b="0" dirty="0">
                <a:solidFill>
                  <a:schemeClr val="tx1"/>
                </a:solidFill>
              </a:rPr>
            </a:br>
            <a:endParaRPr lang="en-US" sz="3200" b="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1623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3: Arsenic in Toenails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sz="3000" dirty="0"/>
              <a:t>0.119	0.118	0.099	0.118	0.275	0.358	0.080	0.158	0.310	0.105	0.073	0.832	0.517	0.851	0.269	0.433	0.141	0.135	0.175</a:t>
            </a:r>
          </a:p>
          <a:p>
            <a:pPr marL="0" indent="0">
              <a:buNone/>
            </a:pPr>
            <a:r>
              <a:rPr lang="en-US" dirty="0"/>
              <a:t>b) Compute the z-score for the largest concentration and interpret it.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3078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1295400"/>
          </a:xfrm>
        </p:spPr>
        <p:txBody>
          <a:bodyPr anchor="ctr">
            <a:normAutofit/>
          </a:bodyPr>
          <a:lstStyle/>
          <a:p>
            <a:r>
              <a:rPr lang="en-US" b="1" dirty="0"/>
              <a:t>Other Measures of 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752600"/>
            <a:ext cx="8077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  <a:defRPr/>
            </a:pPr>
            <a:r>
              <a:rPr lang="en-US" sz="3600" b="1" kern="0" dirty="0">
                <a:solidFill>
                  <a:schemeClr val="accent5">
                    <a:lumMod val="50000"/>
                  </a:schemeClr>
                </a:solidFill>
              </a:rPr>
              <a:t>Maximum</a:t>
            </a:r>
            <a:r>
              <a:rPr lang="en-US" sz="3600" kern="0" dirty="0">
                <a:solidFill>
                  <a:srgbClr val="000000"/>
                </a:solidFill>
              </a:rPr>
              <a:t> </a:t>
            </a:r>
            <a:r>
              <a:rPr lang="en-US" sz="3600" kern="0" dirty="0">
                <a:solidFill>
                  <a:schemeClr val="accent6">
                    <a:lumMod val="50000"/>
                  </a:schemeClr>
                </a:solidFill>
              </a:rPr>
              <a:t>= largest data value</a:t>
            </a:r>
          </a:p>
          <a:p>
            <a:pPr lvl="0">
              <a:spcBef>
                <a:spcPct val="50000"/>
              </a:spcBef>
              <a:defRPr/>
            </a:pPr>
            <a:r>
              <a:rPr lang="en-US" sz="3600" b="1" kern="0" dirty="0">
                <a:solidFill>
                  <a:schemeClr val="accent5">
                    <a:lumMod val="50000"/>
                  </a:schemeClr>
                </a:solidFill>
              </a:rPr>
              <a:t>Minimum</a:t>
            </a:r>
            <a:r>
              <a:rPr lang="en-US" sz="3600" kern="0" dirty="0">
                <a:solidFill>
                  <a:srgbClr val="000000"/>
                </a:solidFill>
              </a:rPr>
              <a:t> </a:t>
            </a:r>
            <a:r>
              <a:rPr lang="en-US" sz="3600" kern="0" dirty="0">
                <a:solidFill>
                  <a:schemeClr val="accent6">
                    <a:lumMod val="50000"/>
                  </a:schemeClr>
                </a:solidFill>
              </a:rPr>
              <a:t>= smallest data value</a:t>
            </a:r>
          </a:p>
          <a:p>
            <a:pPr lvl="0">
              <a:spcBef>
                <a:spcPct val="50000"/>
              </a:spcBef>
              <a:defRPr/>
            </a:pPr>
            <a:r>
              <a:rPr lang="en-US" sz="3600" b="1" kern="0" dirty="0">
                <a:solidFill>
                  <a:schemeClr val="accent5">
                    <a:lumMod val="50000"/>
                  </a:schemeClr>
                </a:solidFill>
              </a:rPr>
              <a:t>Quartiles</a:t>
            </a:r>
            <a:r>
              <a:rPr lang="en-US" sz="3600" kern="0" dirty="0">
                <a:solidFill>
                  <a:srgbClr val="000000"/>
                </a:solidFill>
              </a:rPr>
              <a:t>:</a:t>
            </a:r>
          </a:p>
          <a:p>
            <a:pPr lvl="0">
              <a:defRPr/>
            </a:pPr>
            <a:r>
              <a:rPr lang="en-US" sz="3600" kern="0" dirty="0">
                <a:solidFill>
                  <a:srgbClr val="000000"/>
                </a:solidFill>
              </a:rPr>
              <a:t>	</a:t>
            </a:r>
            <a:r>
              <a:rPr lang="en-US" sz="3600" kern="0" dirty="0">
                <a:solidFill>
                  <a:schemeClr val="accent5">
                    <a:lumMod val="50000"/>
                  </a:schemeClr>
                </a:solidFill>
              </a:rPr>
              <a:t>Q</a:t>
            </a:r>
            <a:r>
              <a:rPr lang="en-US" sz="3600" kern="0" baseline="-25000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en-US" sz="3600" kern="0" dirty="0">
                <a:solidFill>
                  <a:srgbClr val="000000"/>
                </a:solidFill>
              </a:rPr>
              <a:t> </a:t>
            </a:r>
            <a:r>
              <a:rPr lang="en-US" sz="3600" kern="0" dirty="0">
                <a:solidFill>
                  <a:schemeClr val="accent6">
                    <a:lumMod val="50000"/>
                  </a:schemeClr>
                </a:solidFill>
              </a:rPr>
              <a:t>= median of the values below m.</a:t>
            </a:r>
          </a:p>
          <a:p>
            <a:pPr lvl="0">
              <a:defRPr/>
            </a:pPr>
            <a:r>
              <a:rPr lang="en-US" sz="3600" kern="0" dirty="0">
                <a:solidFill>
                  <a:srgbClr val="000000"/>
                </a:solidFill>
              </a:rPr>
              <a:t>	</a:t>
            </a:r>
            <a:r>
              <a:rPr lang="en-US" sz="3600" kern="0" dirty="0">
                <a:solidFill>
                  <a:schemeClr val="accent5">
                    <a:lumMod val="50000"/>
                  </a:schemeClr>
                </a:solidFill>
              </a:rPr>
              <a:t>Q</a:t>
            </a:r>
            <a:r>
              <a:rPr lang="en-US" sz="3600" kern="0" baseline="-25000" dirty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en-US" sz="3600" kern="0" dirty="0">
                <a:solidFill>
                  <a:srgbClr val="000000"/>
                </a:solidFill>
              </a:rPr>
              <a:t> </a:t>
            </a:r>
            <a:r>
              <a:rPr lang="en-US" sz="3600" kern="0" dirty="0">
                <a:solidFill>
                  <a:schemeClr val="accent6">
                    <a:lumMod val="50000"/>
                  </a:schemeClr>
                </a:solidFill>
              </a:rPr>
              <a:t>= median of the values above m.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962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1295400"/>
          </a:xfrm>
        </p:spPr>
        <p:txBody>
          <a:bodyPr anchor="ctr">
            <a:normAutofit/>
          </a:bodyPr>
          <a:lstStyle/>
          <a:p>
            <a:r>
              <a:rPr lang="en-US" b="1" dirty="0"/>
              <a:t>Five Number Summary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524000"/>
            <a:ext cx="8610600" cy="5105400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  <a:buNone/>
            </a:pPr>
            <a:endParaRPr lang="en-US" b="1" i="1" dirty="0">
              <a:solidFill>
                <a:schemeClr val="tx2"/>
              </a:solidFill>
            </a:endParaRPr>
          </a:p>
          <a:p>
            <a:pPr marL="800100" lvl="2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400050" lvl="1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533400" y="4267200"/>
            <a:ext cx="807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685800" y="2209800"/>
            <a:ext cx="7848600" cy="1524000"/>
            <a:chOff x="480" y="1728"/>
            <a:chExt cx="4944" cy="960"/>
          </a:xfrm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480" y="1728"/>
              <a:ext cx="576" cy="960"/>
              <a:chOff x="480" y="1728"/>
              <a:chExt cx="576" cy="960"/>
            </a:xfrm>
          </p:grpSpPr>
          <p:sp>
            <p:nvSpPr>
              <p:cNvPr id="10" name="Text Box 5"/>
              <p:cNvSpPr txBox="1">
                <a:spLocks noChangeArrowheads="1"/>
              </p:cNvSpPr>
              <p:nvPr/>
            </p:nvSpPr>
            <p:spPr bwMode="auto">
              <a:xfrm>
                <a:off x="480" y="1728"/>
                <a:ext cx="576" cy="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b="1" i="1" dirty="0">
                    <a:solidFill>
                      <a:schemeClr val="tx1"/>
                    </a:solidFill>
                  </a:rPr>
                  <a:t>Min</a:t>
                </a:r>
                <a:endParaRPr lang="en-US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Line 6"/>
              <p:cNvSpPr>
                <a:spLocks noChangeShapeType="1"/>
              </p:cNvSpPr>
              <p:nvPr/>
            </p:nvSpPr>
            <p:spPr bwMode="auto">
              <a:xfrm flipH="1">
                <a:off x="768" y="2064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>
              <a:grpSpLocks/>
            </p:cNvGrpSpPr>
            <p:nvPr/>
          </p:nvGrpSpPr>
          <p:grpSpPr bwMode="auto">
            <a:xfrm>
              <a:off x="4800" y="1728"/>
              <a:ext cx="624" cy="960"/>
              <a:chOff x="4800" y="1728"/>
              <a:chExt cx="624" cy="960"/>
            </a:xfrm>
          </p:grpSpPr>
          <p:sp>
            <p:nvSpPr>
              <p:cNvPr id="8" name="Text Box 8"/>
              <p:cNvSpPr txBox="1">
                <a:spLocks noChangeArrowheads="1"/>
              </p:cNvSpPr>
              <p:nvPr/>
            </p:nvSpPr>
            <p:spPr bwMode="auto">
              <a:xfrm>
                <a:off x="4800" y="1728"/>
                <a:ext cx="624" cy="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3200" b="1" i="1" dirty="0">
                    <a:solidFill>
                      <a:schemeClr val="tx1"/>
                    </a:solidFill>
                  </a:rPr>
                  <a:t>Max</a:t>
                </a:r>
                <a:endParaRPr lang="en-US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Line 9"/>
              <p:cNvSpPr>
                <a:spLocks noChangeShapeType="1"/>
              </p:cNvSpPr>
              <p:nvPr/>
            </p:nvSpPr>
            <p:spPr bwMode="auto">
              <a:xfrm flipH="1">
                <a:off x="5088" y="2064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2133600" y="2209800"/>
            <a:ext cx="4419600" cy="1524000"/>
            <a:chOff x="1392" y="1728"/>
            <a:chExt cx="2784" cy="960"/>
          </a:xfrm>
        </p:grpSpPr>
        <p:grpSp>
          <p:nvGrpSpPr>
            <p:cNvPr id="13" name="Group 11"/>
            <p:cNvGrpSpPr>
              <a:grpSpLocks/>
            </p:cNvGrpSpPr>
            <p:nvPr/>
          </p:nvGrpSpPr>
          <p:grpSpPr bwMode="auto">
            <a:xfrm>
              <a:off x="1392" y="1728"/>
              <a:ext cx="576" cy="960"/>
              <a:chOff x="1392" y="1728"/>
              <a:chExt cx="576" cy="960"/>
            </a:xfrm>
          </p:grpSpPr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1392" y="1728"/>
                <a:ext cx="576" cy="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b="1" i="1" dirty="0">
                    <a:solidFill>
                      <a:schemeClr val="tx1"/>
                    </a:solidFill>
                  </a:rPr>
                  <a:t>Q</a:t>
                </a:r>
                <a:r>
                  <a:rPr lang="en-US" sz="3200" b="1" i="1" baseline="-25000" dirty="0">
                    <a:solidFill>
                      <a:schemeClr val="tx1"/>
                    </a:solidFill>
                  </a:rPr>
                  <a:t>1</a:t>
                </a:r>
                <a:endParaRPr lang="en-US" b="1" i="1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Line 13"/>
              <p:cNvSpPr>
                <a:spLocks noChangeShapeType="1"/>
              </p:cNvSpPr>
              <p:nvPr/>
            </p:nvSpPr>
            <p:spPr bwMode="auto">
              <a:xfrm flipH="1">
                <a:off x="1680" y="2064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>
              <a:grpSpLocks/>
            </p:cNvGrpSpPr>
            <p:nvPr/>
          </p:nvGrpSpPr>
          <p:grpSpPr bwMode="auto">
            <a:xfrm>
              <a:off x="3600" y="1728"/>
              <a:ext cx="576" cy="960"/>
              <a:chOff x="3600" y="1728"/>
              <a:chExt cx="576" cy="960"/>
            </a:xfrm>
          </p:grpSpPr>
          <p:sp>
            <p:nvSpPr>
              <p:cNvPr id="15" name="Text Box 15"/>
              <p:cNvSpPr txBox="1">
                <a:spLocks noChangeArrowheads="1"/>
              </p:cNvSpPr>
              <p:nvPr/>
            </p:nvSpPr>
            <p:spPr bwMode="auto">
              <a:xfrm>
                <a:off x="3600" y="1728"/>
                <a:ext cx="576" cy="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b="1" i="1" dirty="0">
                    <a:solidFill>
                      <a:schemeClr val="tx1"/>
                    </a:solidFill>
                  </a:rPr>
                  <a:t>Q</a:t>
                </a:r>
                <a:r>
                  <a:rPr lang="en-US" sz="3200" b="1" i="1" baseline="-25000" dirty="0">
                    <a:solidFill>
                      <a:schemeClr val="tx1"/>
                    </a:solidFill>
                  </a:rPr>
                  <a:t>3</a:t>
                </a:r>
                <a:endParaRPr lang="en-US" b="1" i="1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Line 16"/>
              <p:cNvSpPr>
                <a:spLocks noChangeShapeType="1"/>
              </p:cNvSpPr>
              <p:nvPr/>
            </p:nvSpPr>
            <p:spPr bwMode="auto">
              <a:xfrm flipH="1">
                <a:off x="3888" y="2064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3810000" y="2209800"/>
            <a:ext cx="914400" cy="1524000"/>
            <a:chOff x="2400" y="1728"/>
            <a:chExt cx="576" cy="960"/>
          </a:xfrm>
          <a:noFill/>
        </p:grpSpPr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2400" y="1728"/>
              <a:ext cx="576" cy="365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3200" b="1" i="1" dirty="0">
                  <a:solidFill>
                    <a:schemeClr val="tx1"/>
                  </a:solidFill>
                </a:rPr>
                <a:t>m</a:t>
              </a:r>
              <a:endParaRPr lang="en-US" b="1" i="1" dirty="0">
                <a:solidFill>
                  <a:schemeClr val="tx1"/>
                </a:solidFill>
              </a:endParaRP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H="1">
              <a:off x="2688" y="2064"/>
              <a:ext cx="0" cy="62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1066800" y="3048000"/>
            <a:ext cx="6629400" cy="461963"/>
            <a:chOff x="720" y="2256"/>
            <a:chExt cx="4176" cy="291"/>
          </a:xfrm>
        </p:grpSpPr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720" y="2256"/>
              <a:ext cx="100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</a:t>
              </a:r>
              <a:r>
                <a:rPr lang="en-US" sz="2400" b="1" dirty="0">
                  <a:solidFill>
                    <a:schemeClr val="tx1"/>
                  </a:solidFill>
                </a:rPr>
                <a:t>25%</a:t>
              </a: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</a:t>
              </a:r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1728" y="2256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</a:t>
              </a:r>
              <a:r>
                <a:rPr lang="en-US" sz="2400" b="1" dirty="0">
                  <a:solidFill>
                    <a:schemeClr val="tx1"/>
                  </a:solidFill>
                </a:rPr>
                <a:t>25%</a:t>
              </a: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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2832" y="2256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</a:t>
              </a:r>
              <a:r>
                <a:rPr lang="en-US" sz="2400" b="1" dirty="0">
                  <a:solidFill>
                    <a:schemeClr val="tx1"/>
                  </a:solidFill>
                </a:rPr>
                <a:t>25%</a:t>
              </a: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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3984" y="2256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</a:t>
              </a:r>
              <a:r>
                <a:rPr lang="en-US" sz="2400" b="1" dirty="0">
                  <a:solidFill>
                    <a:schemeClr val="tx1"/>
                  </a:solidFill>
                </a:rPr>
                <a:t>25%</a:t>
              </a: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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4066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3124200"/>
          </a:xfrm>
        </p:spPr>
        <p:txBody>
          <a:bodyPr anchor="ctr">
            <a:noAutofit/>
          </a:bodyPr>
          <a:lstStyle/>
          <a:p>
            <a:r>
              <a:rPr lang="en-US" sz="3200" b="1" dirty="0"/>
              <a:t>The five number summary of the number of hours that a sample of students reported studying is:</a:t>
            </a:r>
            <a:br>
              <a:rPr lang="en-US" sz="3200" b="1" dirty="0"/>
            </a:br>
            <a:r>
              <a:rPr lang="en-US" sz="2800" b="1" dirty="0">
                <a:latin typeface="Calibri" pitchFamily="34" charset="0"/>
                <a:cs typeface="Calibri" pitchFamily="34" charset="0"/>
              </a:rPr>
              <a:t>Min. 		1st Qu. 	Median 	3rd Qu. 	Max. </a:t>
            </a:r>
            <a:br>
              <a:rPr lang="en-US" sz="2800" b="1" dirty="0">
                <a:latin typeface="Calibri" pitchFamily="34" charset="0"/>
                <a:cs typeface="Calibri" pitchFamily="34" charset="0"/>
              </a:rPr>
            </a:br>
            <a:r>
              <a:rPr lang="en-US" sz="2800" b="1" dirty="0">
                <a:latin typeface="Calibri" pitchFamily="34" charset="0"/>
                <a:cs typeface="Calibri" pitchFamily="34" charset="0"/>
              </a:rPr>
              <a:t>2.00 		10.00 		15.00 		20.00 		69.00</a:t>
            </a:r>
            <a:br>
              <a:rPr lang="en-US" sz="2800" b="1" dirty="0">
                <a:latin typeface="Calibri" pitchFamily="34" charset="0"/>
                <a:cs typeface="Calibri" pitchFamily="34" charset="0"/>
              </a:rPr>
            </a:br>
            <a:r>
              <a:rPr lang="en-US" sz="2800" b="1" dirty="0">
                <a:latin typeface="Calibri" pitchFamily="34" charset="0"/>
                <a:cs typeface="Calibri" pitchFamily="34" charset="0"/>
              </a:rPr>
              <a:t/>
            </a:r>
            <a:br>
              <a:rPr lang="en-US" sz="2800" b="1" dirty="0">
                <a:latin typeface="Calibri" pitchFamily="34" charset="0"/>
                <a:cs typeface="Calibri" pitchFamily="34" charset="0"/>
              </a:rPr>
            </a:br>
            <a:r>
              <a:rPr lang="en-US" sz="3200" b="1" dirty="0">
                <a:latin typeface="Calibri" pitchFamily="34" charset="0"/>
                <a:cs typeface="Calibri" pitchFamily="34" charset="0"/>
              </a:rPr>
              <a:t>The distribution of number of hours spent studying each week is:</a:t>
            </a:r>
            <a:endParaRPr lang="en-US" sz="3200" b="1" dirty="0"/>
          </a:p>
        </p:txBody>
      </p:sp>
      <p:sp>
        <p:nvSpPr>
          <p:cNvPr id="2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352800"/>
            <a:ext cx="4440238" cy="3505200"/>
          </a:xfrm>
        </p:spPr>
        <p:txBody>
          <a:bodyPr>
            <a:normAutofit/>
          </a:bodyPr>
          <a:lstStyle/>
          <a:p>
            <a:pPr marL="914400" indent="-51435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US" dirty="0"/>
              <a:t>Symmetric</a:t>
            </a:r>
          </a:p>
          <a:p>
            <a:pPr marL="914400" indent="-51435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US" dirty="0"/>
              <a:t>Right-skewed</a:t>
            </a:r>
          </a:p>
          <a:p>
            <a:pPr marL="914400" indent="-51435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US" dirty="0"/>
              <a:t>Left-skewed</a:t>
            </a:r>
          </a:p>
          <a:p>
            <a:pPr marL="914400" indent="-51435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US" dirty="0"/>
              <a:t>Impossible to tell</a:t>
            </a: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6329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Percentile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6629400" cy="1454658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The </a:t>
            </a:r>
            <a:r>
              <a:rPr lang="en-US" b="1" i="1" dirty="0" err="1">
                <a:solidFill>
                  <a:schemeClr val="accent5">
                    <a:lumMod val="50000"/>
                  </a:schemeClr>
                </a:solidFill>
              </a:rPr>
              <a:t>P</a:t>
            </a:r>
            <a:r>
              <a:rPr lang="en-US" b="1" i="1" baseline="30000" dirty="0" err="1">
                <a:solidFill>
                  <a:schemeClr val="accent5">
                    <a:lumMod val="50000"/>
                  </a:schemeClr>
                </a:solidFill>
              </a:rPr>
              <a:t>th</a:t>
            </a:r>
            <a:r>
              <a:rPr lang="en-US" b="1" i="1" baseline="30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percentile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is the value which is greater than </a:t>
            </a:r>
            <a:r>
              <a:rPr lang="en-US" i="1" dirty="0">
                <a:solidFill>
                  <a:schemeClr val="accent6">
                    <a:lumMod val="50000"/>
                  </a:schemeClr>
                </a:solidFill>
              </a:rPr>
              <a:t>P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% of the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304800" y="3505200"/>
            <a:ext cx="8534400" cy="19812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We already used z-scores to determine whether an SAT score of 2100 or an ACT score of 28 is better</a:t>
            </a:r>
          </a:p>
          <a:p>
            <a:pPr>
              <a:spcAft>
                <a:spcPts val="0"/>
              </a:spcAft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We could also have used percentiles: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ACT score of 28: 91st percentile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SAT score of 2100: 97th percentile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157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1295400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Five Number Summary and Corresponding Percentiles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486400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  <a:buNone/>
            </a:pPr>
            <a:endParaRPr lang="en-US" b="1" i="1" dirty="0">
              <a:solidFill>
                <a:schemeClr val="tx2"/>
              </a:solidFill>
            </a:endParaRPr>
          </a:p>
          <a:p>
            <a:pPr marL="800100" lvl="2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400050" lvl="1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533400" y="3810000"/>
            <a:ext cx="807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685800" y="2209800"/>
            <a:ext cx="7848600" cy="1524000"/>
            <a:chOff x="480" y="1728"/>
            <a:chExt cx="4944" cy="960"/>
          </a:xfrm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480" y="1728"/>
              <a:ext cx="576" cy="960"/>
              <a:chOff x="480" y="1728"/>
              <a:chExt cx="576" cy="960"/>
            </a:xfrm>
          </p:grpSpPr>
          <p:sp>
            <p:nvSpPr>
              <p:cNvPr id="10" name="Text Box 5"/>
              <p:cNvSpPr txBox="1">
                <a:spLocks noChangeArrowheads="1"/>
              </p:cNvSpPr>
              <p:nvPr/>
            </p:nvSpPr>
            <p:spPr bwMode="auto">
              <a:xfrm>
                <a:off x="480" y="1728"/>
                <a:ext cx="576" cy="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b="1" i="1" dirty="0">
                    <a:solidFill>
                      <a:schemeClr val="tx1"/>
                    </a:solidFill>
                  </a:rPr>
                  <a:t>Min</a:t>
                </a:r>
                <a:endParaRPr lang="en-US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Line 6"/>
              <p:cNvSpPr>
                <a:spLocks noChangeShapeType="1"/>
              </p:cNvSpPr>
              <p:nvPr/>
            </p:nvSpPr>
            <p:spPr bwMode="auto">
              <a:xfrm flipH="1">
                <a:off x="768" y="2064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>
              <a:grpSpLocks/>
            </p:cNvGrpSpPr>
            <p:nvPr/>
          </p:nvGrpSpPr>
          <p:grpSpPr bwMode="auto">
            <a:xfrm>
              <a:off x="4800" y="1728"/>
              <a:ext cx="624" cy="960"/>
              <a:chOff x="4800" y="1728"/>
              <a:chExt cx="624" cy="960"/>
            </a:xfrm>
          </p:grpSpPr>
          <p:sp>
            <p:nvSpPr>
              <p:cNvPr id="8" name="Text Box 8"/>
              <p:cNvSpPr txBox="1">
                <a:spLocks noChangeArrowheads="1"/>
              </p:cNvSpPr>
              <p:nvPr/>
            </p:nvSpPr>
            <p:spPr bwMode="auto">
              <a:xfrm>
                <a:off x="4800" y="1728"/>
                <a:ext cx="624" cy="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3200" b="1" i="1" dirty="0">
                    <a:solidFill>
                      <a:schemeClr val="tx1"/>
                    </a:solidFill>
                  </a:rPr>
                  <a:t>Max</a:t>
                </a:r>
                <a:endParaRPr lang="en-US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Line 9"/>
              <p:cNvSpPr>
                <a:spLocks noChangeShapeType="1"/>
              </p:cNvSpPr>
              <p:nvPr/>
            </p:nvSpPr>
            <p:spPr bwMode="auto">
              <a:xfrm flipH="1">
                <a:off x="5088" y="2064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2286000" y="2209800"/>
            <a:ext cx="4267200" cy="1524000"/>
            <a:chOff x="1488" y="1728"/>
            <a:chExt cx="2688" cy="960"/>
          </a:xfrm>
        </p:grpSpPr>
        <p:grpSp>
          <p:nvGrpSpPr>
            <p:cNvPr id="13" name="Group 11"/>
            <p:cNvGrpSpPr>
              <a:grpSpLocks/>
            </p:cNvGrpSpPr>
            <p:nvPr/>
          </p:nvGrpSpPr>
          <p:grpSpPr bwMode="auto">
            <a:xfrm>
              <a:off x="1488" y="1728"/>
              <a:ext cx="576" cy="960"/>
              <a:chOff x="1488" y="1728"/>
              <a:chExt cx="576" cy="960"/>
            </a:xfrm>
          </p:grpSpPr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1488" y="1728"/>
                <a:ext cx="576" cy="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b="1" i="1" dirty="0">
                    <a:solidFill>
                      <a:schemeClr val="tx1"/>
                    </a:solidFill>
                  </a:rPr>
                  <a:t>Q</a:t>
                </a:r>
                <a:r>
                  <a:rPr lang="en-US" sz="3200" b="1" i="1" baseline="-25000" dirty="0">
                    <a:solidFill>
                      <a:schemeClr val="tx1"/>
                    </a:solidFill>
                  </a:rPr>
                  <a:t>1</a:t>
                </a:r>
                <a:endParaRPr lang="en-US" b="1" i="1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Line 13"/>
              <p:cNvSpPr>
                <a:spLocks noChangeShapeType="1"/>
              </p:cNvSpPr>
              <p:nvPr/>
            </p:nvSpPr>
            <p:spPr bwMode="auto">
              <a:xfrm flipH="1">
                <a:off x="1776" y="2064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>
              <a:grpSpLocks/>
            </p:cNvGrpSpPr>
            <p:nvPr/>
          </p:nvGrpSpPr>
          <p:grpSpPr bwMode="auto">
            <a:xfrm>
              <a:off x="3600" y="1728"/>
              <a:ext cx="576" cy="960"/>
              <a:chOff x="3600" y="1728"/>
              <a:chExt cx="576" cy="960"/>
            </a:xfrm>
          </p:grpSpPr>
          <p:sp>
            <p:nvSpPr>
              <p:cNvPr id="15" name="Text Box 15"/>
              <p:cNvSpPr txBox="1">
                <a:spLocks noChangeArrowheads="1"/>
              </p:cNvSpPr>
              <p:nvPr/>
            </p:nvSpPr>
            <p:spPr bwMode="auto">
              <a:xfrm>
                <a:off x="3600" y="1728"/>
                <a:ext cx="576" cy="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b="1" i="1" dirty="0">
                    <a:solidFill>
                      <a:schemeClr val="tx1"/>
                    </a:solidFill>
                  </a:rPr>
                  <a:t>Q</a:t>
                </a:r>
                <a:r>
                  <a:rPr lang="en-US" sz="3200" b="1" i="1" baseline="-25000" dirty="0">
                    <a:solidFill>
                      <a:schemeClr val="tx1"/>
                    </a:solidFill>
                  </a:rPr>
                  <a:t>3</a:t>
                </a:r>
                <a:endParaRPr lang="en-US" b="1" i="1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Line 16"/>
              <p:cNvSpPr>
                <a:spLocks noChangeShapeType="1"/>
              </p:cNvSpPr>
              <p:nvPr/>
            </p:nvSpPr>
            <p:spPr bwMode="auto">
              <a:xfrm flipH="1">
                <a:off x="3888" y="2064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3886200" y="2209800"/>
            <a:ext cx="914400" cy="1524000"/>
            <a:chOff x="2400" y="1728"/>
            <a:chExt cx="576" cy="960"/>
          </a:xfrm>
          <a:noFill/>
        </p:grpSpPr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2400" y="1728"/>
              <a:ext cx="576" cy="365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3200" b="1" i="1" dirty="0">
                  <a:solidFill>
                    <a:schemeClr val="tx1"/>
                  </a:solidFill>
                </a:rPr>
                <a:t>m</a:t>
              </a:r>
              <a:endParaRPr lang="en-US" b="1" i="1" dirty="0">
                <a:solidFill>
                  <a:schemeClr val="tx1"/>
                </a:solidFill>
              </a:endParaRP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H="1">
              <a:off x="2688" y="2064"/>
              <a:ext cx="0" cy="62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1066800" y="3048000"/>
            <a:ext cx="6629400" cy="461963"/>
            <a:chOff x="720" y="2256"/>
            <a:chExt cx="4176" cy="291"/>
          </a:xfrm>
        </p:grpSpPr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720" y="2256"/>
              <a:ext cx="100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</a:t>
              </a:r>
              <a:r>
                <a:rPr lang="en-US" sz="2400" b="1" dirty="0">
                  <a:solidFill>
                    <a:schemeClr val="tx1"/>
                  </a:solidFill>
                </a:rPr>
                <a:t>25%</a:t>
              </a: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</a:t>
              </a:r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1824" y="2256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</a:t>
              </a:r>
              <a:r>
                <a:rPr lang="en-US" sz="2400" b="1" dirty="0">
                  <a:solidFill>
                    <a:schemeClr val="tx1"/>
                  </a:solidFill>
                </a:rPr>
                <a:t>25%</a:t>
              </a: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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2832" y="2256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</a:t>
              </a:r>
              <a:r>
                <a:rPr lang="en-US" sz="2400" b="1" dirty="0">
                  <a:solidFill>
                    <a:schemeClr val="tx1"/>
                  </a:solidFill>
                </a:rPr>
                <a:t>25%</a:t>
              </a: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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3984" y="2256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</a:t>
              </a:r>
              <a:r>
                <a:rPr lang="en-US" sz="2400" b="1" dirty="0">
                  <a:solidFill>
                    <a:schemeClr val="tx1"/>
                  </a:solidFill>
                </a:rPr>
                <a:t>25%</a:t>
              </a:r>
              <a:r>
                <a:rPr lang="en-US" sz="2400" b="1" dirty="0">
                  <a:solidFill>
                    <a:schemeClr val="tx1"/>
                  </a:solidFill>
                  <a:sym typeface="Symbol" pitchFamily="18" charset="2"/>
                </a:rPr>
                <a:t>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381000" y="4724400"/>
            <a:ext cx="1524000" cy="707886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0</a:t>
            </a:r>
            <a:r>
              <a:rPr lang="en-US" sz="2000" b="1" baseline="30000" dirty="0"/>
              <a:t>th</a:t>
            </a:r>
            <a:r>
              <a:rPr lang="en-US" sz="2000" b="1" dirty="0"/>
              <a:t> percentile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5400000" flipH="1" flipV="1">
            <a:off x="723900" y="4305300"/>
            <a:ext cx="838200" cy="1588"/>
          </a:xfrm>
          <a:prstGeom prst="straightConnector1">
            <a:avLst/>
          </a:prstGeom>
          <a:ln w="38100">
            <a:solidFill>
              <a:schemeClr val="tx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39000" y="4723606"/>
            <a:ext cx="1524000" cy="707886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100</a:t>
            </a:r>
            <a:r>
              <a:rPr lang="en-US" sz="2000" b="1" baseline="30000" dirty="0"/>
              <a:t>th</a:t>
            </a:r>
            <a:r>
              <a:rPr lang="en-US" sz="2000" b="1" dirty="0"/>
              <a:t> percentile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rot="5400000" flipH="1" flipV="1">
            <a:off x="7581900" y="4304506"/>
            <a:ext cx="838200" cy="1588"/>
          </a:xfrm>
          <a:prstGeom prst="straightConnector1">
            <a:avLst/>
          </a:prstGeom>
          <a:ln w="38100">
            <a:solidFill>
              <a:schemeClr val="tx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81400" y="4723606"/>
            <a:ext cx="1524000" cy="707886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50</a:t>
            </a:r>
            <a:r>
              <a:rPr lang="en-US" sz="2000" b="1" baseline="30000" dirty="0"/>
              <a:t>th</a:t>
            </a:r>
            <a:r>
              <a:rPr lang="en-US" sz="2000" b="1" dirty="0"/>
              <a:t> percentile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rot="5400000" flipH="1" flipV="1">
            <a:off x="3924300" y="4304506"/>
            <a:ext cx="838200" cy="1588"/>
          </a:xfrm>
          <a:prstGeom prst="straightConnector1">
            <a:avLst/>
          </a:prstGeom>
          <a:ln w="38100">
            <a:solidFill>
              <a:schemeClr val="tx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34000" y="4723606"/>
            <a:ext cx="1524000" cy="707886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75</a:t>
            </a:r>
            <a:r>
              <a:rPr lang="en-US" sz="2000" b="1" baseline="30000" dirty="0"/>
              <a:t>th</a:t>
            </a:r>
            <a:r>
              <a:rPr lang="en-US" sz="2000" b="1" dirty="0"/>
              <a:t> percentile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rot="5400000" flipH="1" flipV="1">
            <a:off x="5676900" y="4304506"/>
            <a:ext cx="838200" cy="1588"/>
          </a:xfrm>
          <a:prstGeom prst="straightConnector1">
            <a:avLst/>
          </a:prstGeom>
          <a:ln w="38100">
            <a:solidFill>
              <a:schemeClr val="tx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981200" y="4724400"/>
            <a:ext cx="1524000" cy="707886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25</a:t>
            </a:r>
            <a:r>
              <a:rPr lang="en-US" sz="2000" b="1" baseline="30000" dirty="0"/>
              <a:t>th</a:t>
            </a:r>
            <a:r>
              <a:rPr lang="en-US" sz="2000" b="1" dirty="0"/>
              <a:t> percentile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rot="5400000" flipH="1" flipV="1">
            <a:off x="2323306" y="4304506"/>
            <a:ext cx="838200" cy="1588"/>
          </a:xfrm>
          <a:prstGeom prst="straightConnector1">
            <a:avLst/>
          </a:prstGeom>
          <a:ln w="38100">
            <a:solidFill>
              <a:schemeClr val="tx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1898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4" grpId="0" animBg="1"/>
      <p:bldP spid="36" grpId="0" animBg="1"/>
      <p:bldP spid="3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991600" cy="3352800"/>
          </a:xfrm>
        </p:spPr>
        <p:txBody>
          <a:bodyPr anchor="ctr">
            <a:noAutofit/>
          </a:bodyPr>
          <a:lstStyle/>
          <a:p>
            <a:pPr lvl="0">
              <a:spcAft>
                <a:spcPts val="0"/>
              </a:spcAft>
              <a:defRPr/>
            </a:pPr>
            <a:r>
              <a:rPr lang="en-US" sz="3600" b="1" u="sng" dirty="0">
                <a:solidFill>
                  <a:schemeClr val="tx1"/>
                </a:solidFill>
              </a:rPr>
              <a:t>More Measures of Spread</a:t>
            </a:r>
            <a:r>
              <a:rPr lang="en-US" sz="3600" u="sng" dirty="0">
                <a:solidFill>
                  <a:schemeClr val="tx1"/>
                </a:solidFill>
              </a:rPr>
              <a:t/>
            </a:r>
            <a:br>
              <a:rPr lang="en-US" sz="3600" u="sng" dirty="0">
                <a:solidFill>
                  <a:schemeClr val="tx1"/>
                </a:solidFill>
              </a:rPr>
            </a:br>
            <a:r>
              <a:rPr lang="en-US" sz="3600" b="1" i="1" kern="0" dirty="0">
                <a:solidFill>
                  <a:schemeClr val="tx1"/>
                </a:solidFill>
              </a:rPr>
              <a:t>Range</a:t>
            </a:r>
            <a:r>
              <a:rPr lang="en-US" sz="3600" b="0" kern="0" dirty="0">
                <a:solidFill>
                  <a:schemeClr val="tx1"/>
                </a:solidFill>
              </a:rPr>
              <a:t> = Max – Min</a:t>
            </a:r>
            <a:br>
              <a:rPr lang="en-US" sz="3600" b="0" kern="0" dirty="0">
                <a:solidFill>
                  <a:schemeClr val="tx1"/>
                </a:solidFill>
              </a:rPr>
            </a:br>
            <a:r>
              <a:rPr lang="en-US" sz="3600" b="1" i="1" kern="0" dirty="0">
                <a:solidFill>
                  <a:schemeClr val="tx1"/>
                </a:solidFill>
              </a:rPr>
              <a:t>Interquartile Range (IQR)</a:t>
            </a:r>
            <a:r>
              <a:rPr lang="en-US" sz="3600" b="1" kern="0" dirty="0">
                <a:solidFill>
                  <a:schemeClr val="tx1"/>
                </a:solidFill>
              </a:rPr>
              <a:t> </a:t>
            </a:r>
            <a:r>
              <a:rPr lang="en-US" sz="3600" b="0" kern="0" dirty="0">
                <a:solidFill>
                  <a:schemeClr val="tx1"/>
                </a:solidFill>
              </a:rPr>
              <a:t>= Q</a:t>
            </a:r>
            <a:r>
              <a:rPr lang="en-US" sz="3600" b="0" kern="0" baseline="-25000" dirty="0">
                <a:solidFill>
                  <a:schemeClr val="tx1"/>
                </a:solidFill>
              </a:rPr>
              <a:t>3</a:t>
            </a:r>
            <a:r>
              <a:rPr lang="en-US" sz="3600" b="0" kern="0" dirty="0">
                <a:solidFill>
                  <a:schemeClr val="tx1"/>
                </a:solidFill>
              </a:rPr>
              <a:t> – Q</a:t>
            </a:r>
            <a:r>
              <a:rPr lang="en-US" sz="3600" b="0" kern="0" baseline="-25000" dirty="0">
                <a:solidFill>
                  <a:schemeClr val="tx1"/>
                </a:solidFill>
              </a:rPr>
              <a:t>1</a:t>
            </a:r>
            <a:br>
              <a:rPr lang="en-US" sz="3600" b="0" kern="0" baseline="-25000" dirty="0">
                <a:solidFill>
                  <a:schemeClr val="tx1"/>
                </a:solidFill>
              </a:rPr>
            </a:br>
            <a:r>
              <a:rPr lang="en-US" sz="3600" b="0" kern="0" dirty="0">
                <a:solidFill>
                  <a:schemeClr val="tx1"/>
                </a:solidFill>
              </a:rPr>
              <a:t/>
            </a:r>
            <a:br>
              <a:rPr lang="en-US" sz="3600" b="0" kern="0" dirty="0">
                <a:solidFill>
                  <a:schemeClr val="tx1"/>
                </a:solidFill>
              </a:rPr>
            </a:br>
            <a:r>
              <a:rPr lang="en-US" sz="3600" b="0" dirty="0">
                <a:solidFill>
                  <a:schemeClr val="tx1"/>
                </a:solidFill>
              </a:rPr>
              <a:t>Is the range resistant to outliers?</a:t>
            </a:r>
            <a:br>
              <a:rPr lang="en-US" sz="3600" b="0" dirty="0">
                <a:solidFill>
                  <a:schemeClr val="tx1"/>
                </a:solidFill>
              </a:rPr>
            </a:br>
            <a:endParaRPr lang="en-US" sz="3600" b="0" dirty="0">
              <a:solidFill>
                <a:schemeClr val="tx1"/>
              </a:solidFill>
            </a:endParaRPr>
          </a:p>
        </p:txBody>
      </p:sp>
      <p:sp>
        <p:nvSpPr>
          <p:cNvPr id="2" name="TPAnswers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0" y="2819400"/>
            <a:ext cx="3124200" cy="4014788"/>
          </a:xfrm>
        </p:spPr>
        <p:txBody>
          <a:bodyPr>
            <a:noAutofit/>
          </a:bodyPr>
          <a:lstStyle/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Yes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No</a:t>
            </a: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0968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Is the IQR resistant to outliers?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1568450"/>
            <a:ext cx="2362200" cy="1784350"/>
          </a:xfrm>
        </p:spPr>
        <p:txBody>
          <a:bodyPr>
            <a:noAutofit/>
          </a:bodyPr>
          <a:lstStyle/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Yes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No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3404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lang="en-US" dirty="0"/>
              <a:t>Measures of Center:</a:t>
            </a:r>
          </a:p>
          <a:p>
            <a:pPr lvl="1">
              <a:spcAft>
                <a:spcPts val="0"/>
              </a:spcAft>
            </a:pPr>
            <a:r>
              <a:rPr lang="en-US" dirty="0"/>
              <a:t>Mean (not resistant)</a:t>
            </a:r>
          </a:p>
          <a:p>
            <a:pPr lvl="1"/>
            <a:r>
              <a:rPr lang="en-US" dirty="0"/>
              <a:t>Median (resistant)</a:t>
            </a:r>
          </a:p>
          <a:p>
            <a:pPr>
              <a:spcAft>
                <a:spcPts val="0"/>
              </a:spcAft>
            </a:pPr>
            <a:r>
              <a:rPr lang="en-US" dirty="0"/>
              <a:t>Measures of Spread:</a:t>
            </a:r>
          </a:p>
          <a:p>
            <a:pPr lvl="1">
              <a:spcAft>
                <a:spcPts val="0"/>
              </a:spcAft>
            </a:pPr>
            <a:r>
              <a:rPr lang="en-US" dirty="0"/>
              <a:t>Standard deviation (not resistant)</a:t>
            </a:r>
          </a:p>
          <a:p>
            <a:pPr lvl="1">
              <a:spcAft>
                <a:spcPts val="0"/>
              </a:spcAft>
            </a:pPr>
            <a:r>
              <a:rPr lang="en-US" dirty="0"/>
              <a:t>IQR (resistant)</a:t>
            </a:r>
          </a:p>
          <a:p>
            <a:pPr lvl="1"/>
            <a:r>
              <a:rPr lang="en-US" dirty="0"/>
              <a:t>Range (not resistant)</a:t>
            </a:r>
          </a:p>
          <a:p>
            <a:r>
              <a:rPr lang="en-US" dirty="0"/>
              <a:t>Most often, we use the mean and the standard deviation, because they are calculated based on all the data values, so use all the available information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034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</p:spPr>
        <p:txBody>
          <a:bodyPr anchor="ctr">
            <a:normAutofit/>
          </a:bodyPr>
          <a:lstStyle/>
          <a:p>
            <a:r>
              <a:rPr lang="en-US" b="1" dirty="0"/>
              <a:t>Summary: One Quantitative Variable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5240" y="1524000"/>
            <a:ext cx="9159240" cy="5334000"/>
          </a:xfrm>
        </p:spPr>
        <p:txBody>
          <a:bodyPr>
            <a:normAutofit fontScale="85000" lnSpcReduction="20000"/>
          </a:bodyPr>
          <a:lstStyle/>
          <a:p>
            <a:pPr marL="0" indent="-514350">
              <a:spcBef>
                <a:spcPts val="0"/>
              </a:spcBef>
              <a:spcAft>
                <a:spcPts val="0"/>
              </a:spcAft>
            </a:pPr>
            <a:r>
              <a:rPr lang="en-US" sz="3800" dirty="0"/>
              <a:t>Summary Statistics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800" dirty="0"/>
              <a:t>Center: mean, median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800" dirty="0"/>
              <a:t>Spread: standard deviation, range, IQR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800" dirty="0"/>
              <a:t>Measures of Location: z-scores, Percentiles, Quartiles</a:t>
            </a:r>
          </a:p>
          <a:p>
            <a:pPr marL="914400" lvl="1" indent="-514350">
              <a:spcBef>
                <a:spcPts val="0"/>
              </a:spcBef>
              <a:spcAft>
                <a:spcPts val="0"/>
              </a:spcAft>
              <a:buNone/>
            </a:pPr>
            <a:endParaRPr lang="en-US" sz="3800" dirty="0"/>
          </a:p>
          <a:p>
            <a:pPr marL="514350" indent="-514350">
              <a:spcBef>
                <a:spcPts val="0"/>
              </a:spcBef>
              <a:spcAft>
                <a:spcPts val="0"/>
              </a:spcAft>
            </a:pPr>
            <a:r>
              <a:rPr lang="en-US" sz="3800" dirty="0"/>
              <a:t>Visualization</a:t>
            </a:r>
          </a:p>
          <a:p>
            <a:pPr marL="914400" lvl="1" indent="-514350">
              <a:spcBef>
                <a:spcPts val="0"/>
              </a:spcBef>
              <a:spcAft>
                <a:spcPts val="0"/>
              </a:spcAft>
            </a:pPr>
            <a:r>
              <a:rPr lang="en-US" sz="3800" dirty="0" err="1"/>
              <a:t>Dotplot</a:t>
            </a:r>
            <a:endParaRPr lang="en-US" sz="3800" dirty="0"/>
          </a:p>
          <a:p>
            <a:pPr marL="914400" lvl="1" indent="-514350">
              <a:spcBef>
                <a:spcPts val="0"/>
              </a:spcBef>
              <a:spcAft>
                <a:spcPts val="0"/>
              </a:spcAft>
            </a:pPr>
            <a:r>
              <a:rPr lang="en-US" sz="3800" dirty="0"/>
              <a:t>Histogram</a:t>
            </a:r>
          </a:p>
          <a:p>
            <a:pPr marL="914400" lvl="1" indent="-514350">
              <a:spcBef>
                <a:spcPts val="0"/>
              </a:spcBef>
              <a:spcAft>
                <a:spcPts val="0"/>
              </a:spcAft>
              <a:buNone/>
            </a:pPr>
            <a:endParaRPr lang="en-US" sz="3800" dirty="0"/>
          </a:p>
          <a:p>
            <a:pPr marL="514350" indent="-514350">
              <a:spcBef>
                <a:spcPts val="0"/>
              </a:spcBef>
              <a:spcAft>
                <a:spcPts val="0"/>
              </a:spcAft>
            </a:pPr>
            <a:r>
              <a:rPr lang="en-US" sz="3800" dirty="0"/>
              <a:t>Other concepts</a:t>
            </a:r>
          </a:p>
          <a:p>
            <a:pPr marL="914400" lvl="1" indent="-514350">
              <a:spcBef>
                <a:spcPts val="0"/>
              </a:spcBef>
              <a:spcAft>
                <a:spcPts val="0"/>
              </a:spcAft>
            </a:pPr>
            <a:r>
              <a:rPr lang="en-US" sz="3800" dirty="0"/>
              <a:t>Shape: symmetric, skewed, bell-shaped</a:t>
            </a:r>
          </a:p>
          <a:p>
            <a:pPr marL="914400" lvl="1" indent="-514350">
              <a:spcBef>
                <a:spcPts val="0"/>
              </a:spcBef>
              <a:spcAft>
                <a:spcPts val="0"/>
              </a:spcAft>
            </a:pPr>
            <a:r>
              <a:rPr lang="en-US" sz="3800" dirty="0"/>
              <a:t>Resistance</a:t>
            </a:r>
            <a:endParaRPr lang="en-US" sz="3800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400050" lvl="1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798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00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0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PSTANDARDS" val=""/>
  <p:tag name="TASKPANEKEY" val="c125cd9c-5b16-4258-9672-5336d63a62b9"/>
  <p:tag name="EXPANDSHOWBAR" val="False"/>
  <p:tag name="TPPRESENTATIONGUID" val="c3e7e627-6d3f-4343-b65d-dc4d0bbf7309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8C2607FC29F049B29288A66C2CAD3960&lt;/guid&gt;&#10;        &lt;description /&gt;&#10;        &lt;date&gt;6/7/2017 8:26:06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16A1030309D4A5486D8E017335C22E2&lt;/guid&gt;&#10;            &lt;repollguid&gt;61E5AD1C232B4ECC80593E03E3F83B6B&lt;/repollguid&gt;&#10;            &lt;sourceid&gt;E550ADE63E704420B98706BC0CE1861D&lt;/sourceid&gt;&#10;            &lt;questiontext&gt;The exam scores shown in the histogram are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E4A1561943E94787A32CB61C556C91F1&lt;/guid&gt;&#10;                    &lt;answertext&gt; Symmetric&lt;/answertext&gt;&#10;                    &lt;valuetype&gt;0&lt;/valuetype&gt;&#10;                &lt;/answer&gt;&#10;                &lt;answer&gt;&#10;                    &lt;guid&gt;E2857900847C4668A3B7627DBC9932FD&lt;/guid&gt;&#10;                    &lt;answertext&gt; Left-skewed&lt;/answertext&gt;&#10;                    &lt;valuetype&gt;0&lt;/valuetype&gt;&#10;                &lt;/answer&gt;&#10;                &lt;answer&gt;&#10;                    &lt;guid&gt;7CE195C6C0E64922B30FEAD552205CA3&lt;/guid&gt;&#10;                    &lt;answertext&gt; Right-skewed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  <p:tag name="SLIDEGUID" val="D8B5B72DE9CB4AB28A405FBE90A7DDA0"/>
  <p:tag name="SLIDEID" val="D8B5B72DE9CB4AB28A405FBE90A7DDA0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QUESTIONALIAS" val="The standard deviation for hours of sleep per night is closest to"/>
  <p:tag name="VALUEFORMAT" val="0%"/>
  <p:tag name="ANSWERSALIAS" val="½|smicln|1|smicln|2|smicln|4|smicln|I have no idea"/>
  <p:tag name="RESPONSESGATHERED" val="False"/>
  <p:tag name="VALUES" val="No Value|smicln|No Value|smicln|No Value|smicln|No Value|smicln|No Value"/>
  <p:tag name="TOTALRESPONSES" val="0"/>
  <p:tag name="ANONYMOUSTEMP" val="False"/>
  <p:tag name="TYPE" val="MultiChoiceSlide"/>
  <p:tag name="TPQUESTIONXML" val="﻿&lt;?xml version=&quot;1.0&quot; encoding=&quot;utf-8&quot;?&gt;&#10;&lt;questionlist&gt;&#10;    &lt;properties&gt;&#10;        &lt;guid&gt;62F693F612174444B337FE91F30DDC14&lt;/guid&gt;&#10;        &lt;description /&gt;&#10;        &lt;date&gt;6/7/2017 8:25:42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B51801F37A544291884A886AF44266AE&lt;/guid&gt;&#10;            &lt;repollguid&gt;DC4ADBC5B6084E43B127CE39DB27DBC9&lt;/repollguid&gt;&#10;            &lt;sourceid&gt;5AA31A79372644B5B5005B302DC838EF&lt;/sourceid&gt;&#10;            &lt;questiontext&gt;The standard deviation for hours of sleep per night is closest to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420F7F6053684B32B29A5447D0654510&lt;/guid&gt;&#10;                    &lt;answertext&gt;½ &lt;/answertext&gt;&#10;                    &lt;valuetype&gt;0&lt;/valuetype&gt;&#10;                &lt;/answer&gt;&#10;                &lt;answer&gt;&#10;                    &lt;guid&gt;4E235FBF6AFD44C8BC5F87D62EF6CFBA&lt;/guid&gt;&#10;                    &lt;answertext&gt;1 &lt;/answertext&gt;&#10;                    &lt;valuetype&gt;0&lt;/valuetype&gt;&#10;                &lt;/answer&gt;&#10;                &lt;answer&gt;&#10;                    &lt;guid&gt;E68E4836E26C473AB16FA6F525072906&lt;/guid&gt;&#10;                    &lt;answertext&gt;2 &lt;/answertext&gt;&#10;                    &lt;valuetype&gt;0&lt;/valuetype&gt;&#10;                &lt;/answer&gt;&#10;                &lt;answer&gt;&#10;                    &lt;guid&gt;C9E35252A7B249A6A59E5479BE106F63&lt;/guid&gt;&#10;                    &lt;answertext&gt;4 &lt;/answertext&gt;&#10;                    &lt;valuetype&gt;0&lt;/valuetype&gt;&#10;                &lt;/answer&gt;&#10;                &lt;answer&gt;&#10;                    &lt;guid&gt;06F61451FC904A4EADEEFEEE281430B8&lt;/guid&gt;&#10;                    &lt;answertext&gt;I have no idea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5"/>
  <p:tag name="TEXTLENGTH" val="22"/>
  <p:tag name="FONTSIZE" val="29"/>
  <p:tag name="BULLETTYPE" val="ppBulletArabicPeriod"/>
  <p:tag name="ANSWERTEXT" val="½&#10;1&#10;2&#10;4&#10;I have no ide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  <p:tag name="SLIDEGUID" val="F3859CA06BB74BF4BF6D23F0EEC7190F"/>
  <p:tag name="SLIDEID" val="F3859CA06BB74BF4BF6D23F0EEC7190F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RESPONSECOUNT" val="20"/>
  <p:tag name="SLICED" val="False"/>
  <p:tag name="RESPONSES" val="1;2;2;2;1;1;2;3;2;1;3;2;3;3;1;3;1;2;2;1;"/>
  <p:tag name="CHARTSTRINGSTD" val="7 8 5"/>
  <p:tag name="CHARTSTRINGREV" val="5 8 7"/>
  <p:tag name="CHARTSTRINGSTDPER" val="0.35 0.4 0.25"/>
  <p:tag name="CHARTSTRINGREVPER" val="0.25 0.4 0.35"/>
  <p:tag name="RESPONSESGATHERED" val="False"/>
  <p:tag name="QUESTIONALIAS" val="Which is better, an ACT score of 28 or a combined SAT score of 2100? ACT:  = 21,  = 5 SAT:  = 1500,  = 325 Assume ACT and SAT scores have approximately bell-shaped distributions "/>
  <p:tag name="ANSWERSALIAS" val="ACT score of 28|smicln|SAT score of  2100|smicln|I don’t know"/>
  <p:tag name="VALUES" val="Incorrect|smicln|Correct|smicln|Incorrect"/>
  <p:tag name="TOTALRESPONSES" val="0"/>
  <p:tag name="ANONYMOUSTEMP" val="False"/>
  <p:tag name="TYPE" val="MultiChoiceSlide"/>
  <p:tag name="TPQUESTIONXML" val="﻿&lt;?xml version=&quot;1.0&quot; encoding=&quot;utf-8&quot;?&gt;&#10;&lt;questionlist&gt;&#10;    &lt;properties&gt;&#10;        &lt;guid&gt;D079E21420F644D0A17BB9E48129A53C&lt;/guid&gt;&#10;        &lt;description /&gt;&#10;        &lt;date&gt;6/7/2017 8:25:42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96BF82B5FA57456E912684AD30149584&lt;/guid&gt;&#10;            &lt;repollguid&gt;01BD5BFDFB4749F5BA6DAD23002C6FCA&lt;/repollguid&gt;&#10;            &lt;sourceid&gt;B0AFEA5E3B7C416C89E0CDC2C06E6928&lt;/sourceid&gt;&#10;            &lt;questiontext&gt;Which is better, an ACT score of 28 or a combined SAT score of 2100?ACT:  = 21,  = 5SAT:  = 1500,  = 325Assume ACT and SAT scores have approximately bell-shaped distributions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80DFCB862A044451979EFD5E75B7B883&lt;/guid&gt;&#10;                    &lt;answertext&gt;ACT score of 28 &lt;/answertext&gt;&#10;                    &lt;valuetype&gt;-1&lt;/valuetype&gt;&#10;                &lt;/answer&gt;&#10;                &lt;answer&gt;&#10;                    &lt;guid&gt;CD3B33153D3548F3BBF9308031985722&lt;/guid&gt;&#10;                    &lt;answertext&gt;SAT score of  2100 &lt;/answertext&gt;&#10;                    &lt;valuetype&gt;1&lt;/valuetype&gt;&#10;                &lt;/answer&gt;&#10;                &lt;answer&gt;&#10;                    &lt;guid&gt;26B63B3EE08E445D97E2EE3755CD74E9&lt;/guid&gt;&#10;                    &lt;answertext&gt;I don’t know&lt;/answertext&gt;&#10;                    &lt;valuetype&gt;-1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3"/>
  <p:tag name="TEXTLENGTH" val="47"/>
  <p:tag name="FONTSIZE" val="32"/>
  <p:tag name="BULLETTYPE" val="ppBulletArabicPeriod"/>
  <p:tag name="ANSWERTEXT" val="ACT score of 28&#10;SAT score of  2100&#10;I don’t kno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TYPE" val="MultiChoiceSlide"/>
  <p:tag name="TPQUESTIONXML" val="﻿&lt;?xml version=&quot;1.0&quot; encoding=&quot;utf-8&quot;?&gt;&#10;&lt;questionlist&gt;&#10;    &lt;properties&gt;&#10;        &lt;guid&gt;D74E3DAB7E3345A4A2AE51D79299FAC0&lt;/guid&gt;&#10;        &lt;description /&gt;&#10;        &lt;date&gt;6/7/2017 8:30:42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D157717436BF49E99ADE9B4F51C90B3E&lt;/guid&gt;&#10;            &lt;repollguid&gt;406343F8CA02476381C61CDF12555727&lt;/repollguid&gt;&#10;            &lt;sourceid&gt;067C5DBA4F33463CB3DD635A556BF2F8&lt;/sourceid&gt;&#10;            &lt;questiontext&gt;The five number summary of the number of hours that a sample of students reported studying is:Min.   1st Qu.  Median  3rd Qu.  Max. 2.00   10.00   15.00   20.00   69.00The distribution of number of hours spent studying each week is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3BDDCCBE88594278933AD304C409CAAA&lt;/guid&gt;&#10;                    &lt;answertext&gt;Symmetric&lt;/answertext&gt;&#10;                    &lt;valuetype&gt;0&lt;/valuetype&gt;&#10;                &lt;/answer&gt;&#10;                &lt;answer&gt;&#10;                    &lt;guid&gt;2A11BA6056E84D9CB15081BF3B23984B&lt;/guid&gt;&#10;                    &lt;answertext&gt;Right-skewed&lt;/answertext&gt;&#10;                    &lt;valuetype&gt;0&lt;/valuetype&gt;&#10;                &lt;/answer&gt;&#10;                &lt;answer&gt;&#10;                    &lt;guid&gt;6EC98591AA1F445FBC7710BDAF69AFA4&lt;/guid&gt;&#10;                    &lt;answertext&gt;Left-skewed&lt;/answertext&gt;&#10;                    &lt;valuetype&gt;0&lt;/valuetype&gt;&#10;                &lt;/answer&gt;&#10;                &lt;answer&gt;&#10;                    &lt;guid&gt;F85DC1A01055429987C4E44FC6E0613E&lt;/guid&gt;&#10;                    &lt;answertext&gt;Impossible to tell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  <p:tag name="SLIDEGUID" val="4EB3CA748CF1492D90316DC85843D832"/>
  <p:tag name="SLIDEID" val="4EB3CA748CF1492D90316DC85843D832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ANSWERSALIAS" val="Yes|smicln|No"/>
  <p:tag name="QUESTIONALIAS" val="More Measures of Spread Range = Max – Min Interquartile Range (IQR) = Q3 – Q1  Is the range resistant to outliers? "/>
  <p:tag name="RESPONSECOUNT" val="20"/>
  <p:tag name="SLICED" val="False"/>
  <p:tag name="RESPONSES" val="2;2;2;1;2;2;2;2;2;2;2;2;2;2;2;2;1;-;2;-;2;2;"/>
  <p:tag name="CHARTSTRINGSTD" val="2 18"/>
  <p:tag name="CHARTSTRINGREV" val="18 2"/>
  <p:tag name="CHARTSTRINGSTDPER" val="0.1 0.9"/>
  <p:tag name="CHARTSTRINGREVPER" val="0.9 0.1"/>
  <p:tag name="RESPONSESGATHERED" val="False"/>
  <p:tag name="VALUES" val="Incorrect|smicln|Correct"/>
  <p:tag name="TOTALRESPONSES" val="0"/>
  <p:tag name="ANONYMOUSTEMP" val="False"/>
  <p:tag name="TYPE" val="MultiChoiceSlide"/>
  <p:tag name="TPQUESTIONXML" val="﻿&lt;?xml version=&quot;1.0&quot; encoding=&quot;utf-8&quot;?&gt;&#10;&lt;questionlist&gt;&#10;    &lt;properties&gt;&#10;        &lt;guid&gt;9D602CD5731B49D7BAEA0AA84B428B4B&lt;/guid&gt;&#10;        &lt;description /&gt;&#10;        &lt;date&gt;6/7/2017 8:25:42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640333B954F546A988B59E32DB24507B&lt;/guid&gt;&#10;            &lt;repollguid&gt;0F5CB7B660FE4EA089F1BF073F12F114&lt;/repollguid&gt;&#10;            &lt;sourceid&gt;51F009D5595946B3AE1EBCE58F231DC2&lt;/sourceid&gt;&#10;            &lt;questiontext&gt;More Measures of SpreadRange = Max – MinInterquartile Range (IQR) = Q3 – Q1Is the range resistant to outliers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5905499C77A8489EB8C1809FFEB1952A&lt;/guid&gt;&#10;                    &lt;answertext&gt;Yes &lt;/answertext&gt;&#10;                    &lt;valuetype&gt;-1&lt;/valuetype&gt;&#10;                &lt;/answer&gt;&#10;                &lt;answer&gt;&#10;                    &lt;guid&gt;A2AEDF33883A4A8AB14380F447927CC2&lt;/guid&gt;&#10;                    &lt;answertext&gt;No&lt;/answertext&gt;&#10;                    &lt;valuetype&gt;1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2"/>
  <p:tag name="TEXTLENGTH" val="6"/>
  <p:tag name="FONTSIZE" val="29"/>
  <p:tag name="BULLETTYPE" val="ppBulletArabicPeriod"/>
  <p:tag name="ANSWERTEXT" val="Yes&#10;No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SLIDEGUID" val="34E7DA97BCD4493D95F01BDA48467B9A"/>
  <p:tag name="SLIDEID" val="34E7DA97BCD4493D95F01BDA48467B9A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QUESTIONALIAS" val="Is the IQR resistant to outliers?"/>
  <p:tag name="VALUEFORMAT" val="0%"/>
  <p:tag name="ANSWERSALIAS" val="Yes|smicln|No"/>
  <p:tag name="RESPONSECOUNT" val="21"/>
  <p:tag name="SLICED" val="False"/>
  <p:tag name="RESPONSES" val="1;2;1;1;1;1;1;1;2;-;1;1;1;1;2;1;1;1;1;1;1;1;"/>
  <p:tag name="CHARTSTRINGSTD" val="18 3"/>
  <p:tag name="CHARTSTRINGREV" val="3 18"/>
  <p:tag name="CHARTSTRINGSTDPER" val="0.857142857142857 0.142857142857143"/>
  <p:tag name="CHARTSTRINGREVPER" val="0.142857142857143 0.857142857142857"/>
  <p:tag name="RESPONSESGATHERED" val="False"/>
  <p:tag name="VALUES" val="No Value|smicln|No Value"/>
  <p:tag name="TOTALRESPONSES" val="0"/>
  <p:tag name="ANONYMOUSTEMP" val="False"/>
  <p:tag name="TYPE" val="MultiChoiceSlide"/>
  <p:tag name="TPQUESTIONXML" val="﻿&lt;?xml version=&quot;1.0&quot; encoding=&quot;utf-8&quot;?&gt;&#10;&lt;questionlist&gt;&#10;    &lt;properties&gt;&#10;        &lt;guid&gt;81B218CDED884697824A3A0FF1400732&lt;/guid&gt;&#10;        &lt;description /&gt;&#10;        &lt;date&gt;6/7/2017 8:25:42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3EDBF7000A87485689449FB90438EA0E&lt;/guid&gt;&#10;            &lt;repollguid&gt;F8438520A2A848B69FE2B36B8152B475&lt;/repollguid&gt;&#10;            &lt;sourceid&gt;2D3F0C1564014B839F94AE25165E236E&lt;/sourceid&gt;&#10;            &lt;questiontext&gt;Is the IQR resistant to outliers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63792FB4411046A1805315EB19813B42&lt;/guid&gt;&#10;                    &lt;answertext&gt;Yes &lt;/answertext&gt;&#10;                    &lt;valuetype&gt;0&lt;/valuetype&gt;&#10;                &lt;/answer&gt;&#10;                &lt;answer&gt;&#10;                    &lt;guid&gt;497C6BC6E1164C6C9E03976369F53B55&lt;/guid&gt;&#10;                    &lt;answertext&gt;No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2"/>
  <p:tag name="TEXTLENGTH" val="6"/>
  <p:tag name="FONTSIZE" val="29"/>
  <p:tag name="BULLETTYPE" val="ppBulletArabicPeriod"/>
  <p:tag name="ANSWERTEXT" val="Yes&#10;No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5831</TotalTime>
  <Words>925</Words>
  <Application>Microsoft Office PowerPoint</Application>
  <PresentationFormat>On-screen Show (4:3)</PresentationFormat>
  <Paragraphs>207</Paragraphs>
  <Slides>30</Slides>
  <Notes>21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Median</vt:lpstr>
      <vt:lpstr>Equation</vt:lpstr>
      <vt:lpstr>PowerPoint Presentation</vt:lpstr>
      <vt:lpstr>The exam scores shown in the histogram are</vt:lpstr>
      <vt:lpstr>The Basics</vt:lpstr>
      <vt:lpstr>The Basics</vt:lpstr>
      <vt:lpstr>Standard Deviation</vt:lpstr>
      <vt:lpstr>Example: Our Only Time We Will Use the Formula </vt:lpstr>
      <vt:lpstr>Example: Our Only Time We Will Use the Formula </vt:lpstr>
      <vt:lpstr>So What is a Standard Deviation?</vt:lpstr>
      <vt:lpstr>PowerPoint Presentation</vt:lpstr>
      <vt:lpstr>Standard Deviation</vt:lpstr>
      <vt:lpstr>Example 3: Arsenic in Toenails</vt:lpstr>
      <vt:lpstr>Example 3: Arsenic in Toenails</vt:lpstr>
      <vt:lpstr>Example 3: Arsenic in Toenails</vt:lpstr>
      <vt:lpstr>95% Rule</vt:lpstr>
      <vt:lpstr>Example of 95% Rule</vt:lpstr>
      <vt:lpstr>The 95% Rule</vt:lpstr>
      <vt:lpstr>The standard deviation for hours of sleep per night is closest to</vt:lpstr>
      <vt:lpstr>Z-score</vt:lpstr>
      <vt:lpstr>Z-score</vt:lpstr>
      <vt:lpstr>Which is better, an ACT score of 28 or a combined SAT score of 2100? ACT:  = 21,  = 5 SAT:  = 1500,  = 325 Assume ACT and SAT scores have approximately bell-shaped distributions </vt:lpstr>
      <vt:lpstr>Example 3: Arsenic in Toenails</vt:lpstr>
      <vt:lpstr>Other Measures of Location</vt:lpstr>
      <vt:lpstr>Five Number Summary</vt:lpstr>
      <vt:lpstr>The five number summary of the number of hours that a sample of students reported studying is: Min.   1st Qu.  Median  3rd Qu.  Max.  2.00   10.00   15.00   20.00   69.00  The distribution of number of hours spent studying each week is:</vt:lpstr>
      <vt:lpstr>Percentile</vt:lpstr>
      <vt:lpstr>Five Number Summary and Corresponding Percentiles</vt:lpstr>
      <vt:lpstr>More Measures of Spread Range = Max – Min Interquartile Range (IQR) = Q3 – Q1  Is the range resistant to outliers? </vt:lpstr>
      <vt:lpstr>Is the IQR resistant to outliers?</vt:lpstr>
      <vt:lpstr>Comparing Statistics</vt:lpstr>
      <vt:lpstr>Summary: One Quantitative Variable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Leed</dc:creator>
  <cp:lastModifiedBy>Nadezhda Berezyuk</cp:lastModifiedBy>
  <cp:revision>97</cp:revision>
  <cp:lastPrinted>2012-12-06T18:21:27Z</cp:lastPrinted>
  <dcterms:created xsi:type="dcterms:W3CDTF">2012-11-28T18:46:12Z</dcterms:created>
  <dcterms:modified xsi:type="dcterms:W3CDTF">2019-09-18T10:42:26Z</dcterms:modified>
</cp:coreProperties>
</file>