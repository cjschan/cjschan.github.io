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handoutMasterIdLst>
    <p:handoutMasterId r:id="rId38"/>
  </p:handoutMasterIdLst>
  <p:sldIdLst>
    <p:sldId id="319" r:id="rId2"/>
    <p:sldId id="320" r:id="rId3"/>
    <p:sldId id="321" r:id="rId4"/>
    <p:sldId id="322" r:id="rId5"/>
    <p:sldId id="268" r:id="rId6"/>
    <p:sldId id="316" r:id="rId7"/>
    <p:sldId id="317" r:id="rId8"/>
    <p:sldId id="270" r:id="rId9"/>
    <p:sldId id="271" r:id="rId10"/>
    <p:sldId id="272" r:id="rId11"/>
    <p:sldId id="273" r:id="rId12"/>
    <p:sldId id="274" r:id="rId13"/>
    <p:sldId id="275" r:id="rId14"/>
    <p:sldId id="276" r:id="rId15"/>
    <p:sldId id="279" r:id="rId16"/>
    <p:sldId id="280" r:id="rId17"/>
    <p:sldId id="281" r:id="rId18"/>
    <p:sldId id="282" r:id="rId19"/>
    <p:sldId id="283" r:id="rId20"/>
    <p:sldId id="284"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23" r:id="rId36"/>
  </p:sldIdLst>
  <p:sldSz cx="9144000" cy="6858000" type="screen4x3"/>
  <p:notesSz cx="9144000" cy="6858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9F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714" autoAdjust="0"/>
  </p:normalViewPr>
  <p:slideViewPr>
    <p:cSldViewPr>
      <p:cViewPr>
        <p:scale>
          <a:sx n="70" d="100"/>
          <a:sy n="70" d="100"/>
        </p:scale>
        <p:origin x="-1253" y="-192"/>
      </p:cViewPr>
      <p:guideLst>
        <p:guide orient="horz" pos="2160"/>
        <p:guide pos="2880"/>
      </p:guideLst>
    </p:cSldViewPr>
  </p:slideViewPr>
  <p:notesTextViewPr>
    <p:cViewPr>
      <p:scale>
        <a:sx n="1" d="1"/>
        <a:sy n="1" d="1"/>
      </p:scale>
      <p:origin x="0" y="0"/>
    </p:cViewPr>
  </p:notesTextViewPr>
  <p:notesViewPr>
    <p:cSldViewPr>
      <p:cViewPr varScale="1">
        <p:scale>
          <a:sx n="75" d="100"/>
          <a:sy n="75" d="100"/>
        </p:scale>
        <p:origin x="-900"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57419648"/>
        <c:axId val="57421184"/>
        <c:axId val="55865792"/>
      </c:bar3DChart>
      <c:catAx>
        <c:axId val="57419648"/>
        <c:scaling>
          <c:orientation val="minMax"/>
        </c:scaling>
        <c:delete val="0"/>
        <c:axPos val="b"/>
        <c:majorTickMark val="out"/>
        <c:minorTickMark val="none"/>
        <c:tickLblPos val="nextTo"/>
        <c:crossAx val="57421184"/>
        <c:crosses val="autoZero"/>
        <c:auto val="1"/>
        <c:lblAlgn val="ctr"/>
        <c:lblOffset val="100"/>
        <c:noMultiLvlLbl val="0"/>
      </c:catAx>
      <c:valAx>
        <c:axId val="57421184"/>
        <c:scaling>
          <c:orientation val="minMax"/>
        </c:scaling>
        <c:delete val="0"/>
        <c:axPos val="l"/>
        <c:majorGridlines/>
        <c:numFmt formatCode="General" sourceLinked="1"/>
        <c:majorTickMark val="out"/>
        <c:minorTickMark val="none"/>
        <c:tickLblPos val="nextTo"/>
        <c:crossAx val="57419648"/>
        <c:crosses val="autoZero"/>
        <c:crossBetween val="between"/>
      </c:valAx>
      <c:serAx>
        <c:axId val="55865792"/>
        <c:scaling>
          <c:orientation val="minMax"/>
        </c:scaling>
        <c:delete val="0"/>
        <c:axPos val="b"/>
        <c:majorTickMark val="out"/>
        <c:minorTickMark val="none"/>
        <c:tickLblPos val="nextTo"/>
        <c:crossAx val="57421184"/>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451F76A8-345E-4B56-8AF4-59B77C500B27}" type="slidenum">
              <a:rPr lang="en-US" smtClean="0"/>
              <a:t>‹#›</a:t>
            </a:fld>
            <a:endParaRPr lang="en-US"/>
          </a:p>
        </p:txBody>
      </p:sp>
    </p:spTree>
    <p:extLst>
      <p:ext uri="{BB962C8B-B14F-4D97-AF65-F5344CB8AC3E}">
        <p14:creationId xmlns:p14="http://schemas.microsoft.com/office/powerpoint/2010/main" val="1788194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48514948-7B8E-4E92-B78D-69801BB5AC88}" type="datetimeFigureOut">
              <a:rPr lang="en-US" smtClean="0"/>
              <a:t>7/27/2017</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DA1BBE58-A8DB-453B-A525-FFC1819491BE}" type="slidenum">
              <a:rPr lang="en-US" smtClean="0"/>
              <a:t>‹#›</a:t>
            </a:fld>
            <a:endParaRPr lang="en-US"/>
          </a:p>
        </p:txBody>
      </p:sp>
    </p:spTree>
    <p:extLst>
      <p:ext uri="{BB962C8B-B14F-4D97-AF65-F5344CB8AC3E}">
        <p14:creationId xmlns:p14="http://schemas.microsoft.com/office/powerpoint/2010/main" val="2167203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Ask</a:t>
            </a:r>
            <a:r>
              <a:rPr lang="en-US" baseline="0" dirty="0" smtClean="0"/>
              <a:t> them to share ideas.  There are many possible answers.</a:t>
            </a:r>
          </a:p>
          <a:p>
            <a:r>
              <a:rPr lang="en-US" baseline="0" dirty="0" smtClean="0"/>
              <a:t>If they have computers in class you can also ask them to use </a:t>
            </a:r>
            <a:r>
              <a:rPr lang="en-US" baseline="0" dirty="0" err="1" smtClean="0"/>
              <a:t>StatKey</a:t>
            </a:r>
            <a:r>
              <a:rPr lang="en-US" baseline="0" dirty="0" smtClean="0"/>
              <a:t> to create a randomization distribution, find the p-value, and interpret in context.</a:t>
            </a:r>
            <a:endParaRPr lang="en-US" dirty="0"/>
          </a:p>
        </p:txBody>
      </p:sp>
      <p:sp>
        <p:nvSpPr>
          <p:cNvPr id="4" name="Slide Number Placeholder 3"/>
          <p:cNvSpPr>
            <a:spLocks noGrp="1"/>
          </p:cNvSpPr>
          <p:nvPr>
            <p:ph type="sldNum" sz="quarter" idx="10"/>
          </p:nvPr>
        </p:nvSpPr>
        <p:spPr/>
        <p:txBody>
          <a:bodyPr/>
          <a:lstStyle/>
          <a:p>
            <a:fld id="{AF6AF66F-DB90-4906-843B-2F86E5B3852A}" type="slidenum">
              <a:rPr lang="en-US" smtClean="0"/>
              <a:t>11</a:t>
            </a:fld>
            <a:endParaRPr lang="en-US"/>
          </a:p>
        </p:txBody>
      </p:sp>
    </p:spTree>
    <p:extLst>
      <p:ext uri="{BB962C8B-B14F-4D97-AF65-F5344CB8AC3E}">
        <p14:creationId xmlns:p14="http://schemas.microsoft.com/office/powerpoint/2010/main" val="536137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DC74FF-5D9E-4B66-B80F-3FF5A027F027}" type="slidenum">
              <a:rPr lang="en-US" smtClean="0"/>
              <a:t>22</a:t>
            </a:fld>
            <a:endParaRPr lang="en-US"/>
          </a:p>
        </p:txBody>
      </p:sp>
    </p:spTree>
    <p:extLst>
      <p:ext uri="{BB962C8B-B14F-4D97-AF65-F5344CB8AC3E}">
        <p14:creationId xmlns:p14="http://schemas.microsoft.com/office/powerpoint/2010/main" val="453543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Talk about the fac</a:t>
            </a:r>
            <a:r>
              <a:rPr lang="en-US" baseline="0" dirty="0" smtClean="0"/>
              <a:t>t that the null hypothesized value is in the extremes of the bootstrap distribution, so the sample statistic is in the extremes of the randomization distribution</a:t>
            </a:r>
            <a:endParaRPr lang="en-US" dirty="0"/>
          </a:p>
        </p:txBody>
      </p:sp>
      <p:sp>
        <p:nvSpPr>
          <p:cNvPr id="4" name="Slide Number Placeholder 3"/>
          <p:cNvSpPr>
            <a:spLocks noGrp="1"/>
          </p:cNvSpPr>
          <p:nvPr>
            <p:ph type="sldNum" sz="quarter" idx="10"/>
          </p:nvPr>
        </p:nvSpPr>
        <p:spPr/>
        <p:txBody>
          <a:bodyPr/>
          <a:lstStyle/>
          <a:p>
            <a:fld id="{5EDC74FF-5D9E-4B66-B80F-3FF5A027F027}" type="slidenum">
              <a:rPr lang="en-US" smtClean="0"/>
              <a:t>24</a:t>
            </a:fld>
            <a:endParaRPr lang="en-US"/>
          </a:p>
        </p:txBody>
      </p:sp>
    </p:spTree>
    <p:extLst>
      <p:ext uri="{BB962C8B-B14F-4D97-AF65-F5344CB8AC3E}">
        <p14:creationId xmlns:p14="http://schemas.microsoft.com/office/powerpoint/2010/main" val="250430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Talk about the fac</a:t>
            </a:r>
            <a:r>
              <a:rPr lang="en-US" baseline="0" dirty="0" smtClean="0"/>
              <a:t>t that the null hypothesized value is not in the extremes of the bootstrap distribution, so the sample statistic </a:t>
            </a:r>
            <a:r>
              <a:rPr lang="en-US" baseline="0" smtClean="0"/>
              <a:t>is not in </a:t>
            </a:r>
            <a:r>
              <a:rPr lang="en-US" baseline="0" dirty="0" smtClean="0"/>
              <a:t>the extremes of the randomization distribution</a:t>
            </a:r>
            <a:endParaRPr lang="en-US" dirty="0" smtClean="0"/>
          </a:p>
          <a:p>
            <a:endParaRPr lang="en-US" dirty="0"/>
          </a:p>
        </p:txBody>
      </p:sp>
      <p:sp>
        <p:nvSpPr>
          <p:cNvPr id="4" name="Slide Number Placeholder 3"/>
          <p:cNvSpPr>
            <a:spLocks noGrp="1"/>
          </p:cNvSpPr>
          <p:nvPr>
            <p:ph type="sldNum" sz="quarter" idx="10"/>
          </p:nvPr>
        </p:nvSpPr>
        <p:spPr/>
        <p:txBody>
          <a:bodyPr/>
          <a:lstStyle/>
          <a:p>
            <a:fld id="{5EDC74FF-5D9E-4B66-B80F-3FF5A027F027}" type="slidenum">
              <a:rPr lang="en-US" smtClean="0"/>
              <a:t>25</a:t>
            </a:fld>
            <a:endParaRPr lang="en-US"/>
          </a:p>
        </p:txBody>
      </p:sp>
    </p:spTree>
    <p:extLst>
      <p:ext uri="{BB962C8B-B14F-4D97-AF65-F5344CB8AC3E}">
        <p14:creationId xmlns:p14="http://schemas.microsoft.com/office/powerpoint/2010/main" val="2681604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a:prstGeom prst="rect">
            <a:avLst/>
          </a:prstGeo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7/27/2017</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dirty="0"/>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7/27/2017</a:t>
            </a:fld>
            <a:endParaRPr lang="en-US"/>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7/27/2017</a:t>
            </a:fld>
            <a:endParaRPr lang="en-US"/>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7/27/2017</a:t>
            </a:fld>
            <a:endParaRPr lang="en-US"/>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pPr eaLnBrk="1" latinLnBrk="0" hangingPunct="1"/>
            <a:fld id="{23A271A1-F6D6-438B-A432-4747EE7ECD40}" type="datetimeFigureOut">
              <a:rPr lang="en-US" smtClean="0"/>
              <a:pPr eaLnBrk="1" latinLnBrk="0" hangingPunct="1"/>
              <a:t>7/27/2017</a:t>
            </a:fld>
            <a:endParaRPr lang="en-US" dirty="0"/>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595616" cy="762000"/>
          </a:xfrm>
        </p:spPr>
        <p:txBody>
          <a:bodyPr>
            <a:normAutofit/>
          </a:bodyPr>
          <a:lstStyle>
            <a:lvl1pPr>
              <a:defRPr sz="4000" b="1"/>
            </a:lvl1pPr>
          </a:lstStyle>
          <a:p>
            <a:r>
              <a:rPr lang="en-US" smtClean="0"/>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0" name="Text Placeholder 12"/>
          <p:cNvSpPr>
            <a:spLocks noGrp="1"/>
          </p:cNvSpPr>
          <p:nvPr>
            <p:ph idx="13"/>
          </p:nvPr>
        </p:nvSpPr>
        <p:spPr>
          <a:xfrm>
            <a:off x="177280" y="3886200"/>
            <a:ext cx="8534400" cy="2161032"/>
          </a:xfrm>
          <a:prstGeom prst="rect">
            <a:avLst/>
          </a:prstGeom>
        </p:spPr>
        <p:txBody>
          <a:bodyPr vert="horz">
            <a:normAutofit/>
          </a:bodyPr>
          <a:lstStyle>
            <a:lvl1pPr marL="914400" indent="0">
              <a:spcBef>
                <a:spcPts val="0"/>
              </a:spcBef>
              <a:spcAft>
                <a:spcPts val="600"/>
              </a:spcAft>
              <a:buFont typeface="+mj-lt"/>
              <a:buAutoNum type="alphaLcParenR"/>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198629407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Tree>
    <p:extLst>
      <p:ext uri="{BB962C8B-B14F-4D97-AF65-F5344CB8AC3E}">
        <p14:creationId xmlns:p14="http://schemas.microsoft.com/office/powerpoint/2010/main" val="9140056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graphicFrame>
        <p:nvGraphicFramePr>
          <p:cNvPr id="3" name="TPChart" hidden="1"/>
          <p:cNvGraphicFramePr/>
          <p:nvPr userDrawn="1">
            <p:extLst>
              <p:ext uri="{D42A27DB-BD31-4B8C-83A1-F6EECF244321}">
                <p14:modId xmlns:p14="http://schemas.microsoft.com/office/powerpoint/2010/main" val="2719682559"/>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145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0" y="1508760"/>
            <a:ext cx="9144000" cy="534924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1" r:id="rId13"/>
    <p:sldLayoutId id="2147483682" r:id="rId14"/>
  </p:sldLayoutIdLst>
  <p:timing>
    <p:tnLst>
      <p:par>
        <p:cTn id="1" dur="indefinite" restart="never" nodeType="tmRoot"/>
      </p:par>
    </p:tnLst>
  </p:timing>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accent6">
              <a:lumMod val="50000"/>
            </a:schemeClr>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accent6">
              <a:lumMod val="50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hyperlink" Target="Randomization%20Distribution%20Consistent%20with%20Null%20Hypothesis.xlsx" TargetMode="External"/><Relationship Id="rId2" Type="http://schemas.openxmlformats.org/officeDocument/2006/relationships/slideLayout" Target="../slideLayouts/slideLayout7.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http://www.lock5stat.com/statkey" TargetMode="Externa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gif"/></Relationships>
</file>

<file path=ppt/slides/_rels/slide12.xml.rels><?xml version="1.0" encoding="UTF-8" standalone="yes"?>
<Relationships xmlns="http://schemas.openxmlformats.org/package/2006/relationships"><Relationship Id="rId3" Type="http://schemas.openxmlformats.org/officeDocument/2006/relationships/hyperlink" Target="http://lock5stat.com/statkey/" TargetMode="Externa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0.png"/><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8.xml"/><Relationship Id="rId5" Type="http://schemas.openxmlformats.org/officeDocument/2006/relationships/image" Target="../media/image18.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8.xml.rels><?xml version="1.0" encoding="UTF-8" standalone="yes"?>
<Relationships xmlns="http://schemas.openxmlformats.org/package/2006/relationships"><Relationship Id="rId3" Type="http://schemas.openxmlformats.org/officeDocument/2006/relationships/hyperlink" Target="http://lock5stat.com/statkey/index.html" TargetMode="External"/><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hyperlink" Target="http://www.pewsocialtrends.org/2011/03/09/for-millennials-parenthood-trumps-marriage/" TargetMode="Externa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hyperlink" Target="http://www.pewsocialtrends.org/2011/03/09/for-millennials-parenthood-trumps-marriage/"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xml"/><Relationship Id="rId1" Type="http://schemas.openxmlformats.org/officeDocument/2006/relationships/tags" Target="../tags/tag3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xml"/><Relationship Id="rId1" Type="http://schemas.openxmlformats.org/officeDocument/2006/relationships/tags" Target="../tags/tag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a:bodyPr>
          <a:lstStyle/>
          <a:p>
            <a:pPr>
              <a:spcBef>
                <a:spcPct val="20000"/>
              </a:spcBef>
              <a:defRPr/>
            </a:pPr>
            <a:r>
              <a:rPr lang="en-US" sz="3200" dirty="0">
                <a:solidFill>
                  <a:srgbClr val="EBDDC3"/>
                </a:solidFill>
              </a:rPr>
              <a:t>Section </a:t>
            </a:r>
            <a:r>
              <a:rPr lang="en-US" sz="3200" dirty="0" smtClean="0">
                <a:solidFill>
                  <a:srgbClr val="EBDDC3"/>
                </a:solidFill>
              </a:rPr>
              <a:t>4.5:</a:t>
            </a:r>
            <a:endParaRPr lang="en-US" sz="3200" dirty="0">
              <a:solidFill>
                <a:srgbClr val="EBDDC3"/>
              </a:solidFill>
            </a:endParaRPr>
          </a:p>
          <a:p>
            <a:pPr>
              <a:spcBef>
                <a:spcPct val="20000"/>
              </a:spcBef>
              <a:defRPr/>
            </a:pPr>
            <a:r>
              <a:rPr lang="en-US" sz="4000" b="1" dirty="0" smtClean="0">
                <a:solidFill>
                  <a:srgbClr val="EBDDC3"/>
                </a:solidFill>
              </a:rPr>
              <a:t>Making Connections</a:t>
            </a:r>
            <a:endParaRPr lang="en-US" sz="40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3237462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PAnswers"/>
          <p:cNvSpPr>
            <a:spLocks noGrp="1"/>
          </p:cNvSpPr>
          <p:nvPr>
            <p:ph sz="quarter" idx="4294967295"/>
            <p:custDataLst>
              <p:tags r:id="rId2"/>
            </p:custDataLst>
          </p:nvPr>
        </p:nvSpPr>
        <p:spPr>
          <a:xfrm>
            <a:off x="0" y="2667000"/>
            <a:ext cx="5519738" cy="2938463"/>
          </a:xfrm>
        </p:spPr>
        <p:txBody>
          <a:bodyPr>
            <a:normAutofit/>
          </a:bodyPr>
          <a:lstStyle/>
          <a:p>
            <a:pPr marL="514350" indent="-514350">
              <a:spcAft>
                <a:spcPts val="0"/>
              </a:spcAft>
              <a:buFont typeface="+mj-lt"/>
              <a:buAutoNum type="alphaUcPeriod"/>
            </a:pPr>
            <a:r>
              <a:rPr lang="en-US" dirty="0"/>
              <a:t>None of them</a:t>
            </a:r>
          </a:p>
          <a:p>
            <a:pPr marL="514350" indent="-514350">
              <a:spcAft>
                <a:spcPts val="0"/>
              </a:spcAft>
              <a:buFont typeface="+mj-lt"/>
              <a:buAutoNum type="alphaUcPeriod"/>
            </a:pPr>
            <a:r>
              <a:rPr lang="en-US" dirty="0"/>
              <a:t> About 1</a:t>
            </a:r>
          </a:p>
          <a:p>
            <a:pPr marL="514350" indent="-514350">
              <a:spcAft>
                <a:spcPts val="0"/>
              </a:spcAft>
              <a:buFont typeface="+mj-lt"/>
              <a:buAutoNum type="alphaUcPeriod"/>
            </a:pPr>
            <a:r>
              <a:rPr lang="en-US" dirty="0"/>
              <a:t> About 5</a:t>
            </a:r>
          </a:p>
          <a:p>
            <a:pPr marL="514350" indent="-514350">
              <a:spcAft>
                <a:spcPts val="0"/>
              </a:spcAft>
              <a:buFont typeface="+mj-lt"/>
              <a:buAutoNum type="alphaUcPeriod"/>
            </a:pPr>
            <a:r>
              <a:rPr lang="en-US" dirty="0"/>
              <a:t> About 10</a:t>
            </a:r>
          </a:p>
          <a:p>
            <a:pPr marL="514350" indent="-514350">
              <a:spcAft>
                <a:spcPts val="0"/>
              </a:spcAft>
              <a:buFont typeface="+mj-lt"/>
              <a:buAutoNum type="alphaUcPeriod"/>
            </a:pPr>
            <a:r>
              <a:rPr lang="en-US" dirty="0"/>
              <a:t> All of </a:t>
            </a:r>
            <a:r>
              <a:rPr lang="en-US" dirty="0" smtClean="0"/>
              <a:t>them</a:t>
            </a:r>
            <a:endParaRPr lang="en-US" dirty="0"/>
          </a:p>
        </p:txBody>
      </p:sp>
      <p:sp>
        <p:nvSpPr>
          <p:cNvPr id="2" name="TPQuestion"/>
          <p:cNvSpPr>
            <a:spLocks noGrp="1"/>
          </p:cNvSpPr>
          <p:nvPr>
            <p:ph type="title" idx="4294967295"/>
          </p:nvPr>
        </p:nvSpPr>
        <p:spPr>
          <a:xfrm>
            <a:off x="0" y="76200"/>
            <a:ext cx="9144000" cy="2514600"/>
          </a:xfrm>
        </p:spPr>
        <p:txBody>
          <a:bodyPr>
            <a:noAutofit/>
          </a:bodyPr>
          <a:lstStyle/>
          <a:p>
            <a:r>
              <a:rPr lang="en-US" sz="3200" dirty="0"/>
              <a:t>Suppose a pharmaceutical company is conducting trials for 100 different drugs, but all of them are actually worthless.  </a:t>
            </a:r>
            <a:br>
              <a:rPr lang="en-US" sz="3200" dirty="0"/>
            </a:br>
            <a:r>
              <a:rPr lang="en-US" sz="3200" dirty="0"/>
              <a:t>How many trials do you expect to yield significant results, using ⍺ = 0.05</a:t>
            </a:r>
            <a:r>
              <a:rPr lang="en-US" sz="3200" dirty="0" smtClean="0"/>
              <a:t>?</a:t>
            </a:r>
            <a:endParaRPr lang="en-US" sz="3200" dirty="0"/>
          </a:p>
        </p:txBody>
      </p:sp>
    </p:spTree>
    <p:custDataLst>
      <p:tags r:id="rId1"/>
    </p:custDataLst>
    <p:extLst>
      <p:ext uri="{BB962C8B-B14F-4D97-AF65-F5344CB8AC3E}">
        <p14:creationId xmlns:p14="http://schemas.microsoft.com/office/powerpoint/2010/main" val="2282114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0" y="1524000"/>
            <a:ext cx="9144000" cy="5334000"/>
          </a:xfrm>
        </p:spPr>
        <p:txBody>
          <a:bodyPr>
            <a:normAutofit/>
          </a:bodyPr>
          <a:lstStyle/>
          <a:p>
            <a:pPr>
              <a:spcAft>
                <a:spcPts val="0"/>
              </a:spcAft>
            </a:pPr>
            <a:r>
              <a:rPr lang="en-US" dirty="0" smtClean="0">
                <a:solidFill>
                  <a:srgbClr val="010101"/>
                </a:solidFill>
              </a:rPr>
              <a:t>Today we’ll see more ways to simulate randomization samples for a variety of situations:</a:t>
            </a:r>
          </a:p>
          <a:p>
            <a:pPr>
              <a:spcAft>
                <a:spcPts val="0"/>
              </a:spcAft>
            </a:pPr>
            <a:r>
              <a:rPr lang="en-US" dirty="0" smtClean="0"/>
              <a:t>Along the way </a:t>
            </a:r>
            <a:r>
              <a:rPr lang="en-US" dirty="0"/>
              <a:t>we’ll make connections between…</a:t>
            </a:r>
          </a:p>
          <a:p>
            <a:pPr lvl="1">
              <a:spcAft>
                <a:spcPts val="0"/>
              </a:spcAft>
            </a:pPr>
            <a:r>
              <a:rPr lang="en-US" dirty="0">
                <a:solidFill>
                  <a:srgbClr val="010101"/>
                </a:solidFill>
              </a:rPr>
              <a:t>Data collection and randomization distributions</a:t>
            </a:r>
          </a:p>
          <a:p>
            <a:pPr lvl="1">
              <a:spcAft>
                <a:spcPts val="0"/>
              </a:spcAft>
            </a:pPr>
            <a:r>
              <a:rPr lang="en-US" dirty="0" smtClean="0">
                <a:solidFill>
                  <a:srgbClr val="010101"/>
                </a:solidFill>
              </a:rPr>
              <a:t>Bootstrapping </a:t>
            </a:r>
            <a:r>
              <a:rPr lang="en-US" dirty="0">
                <a:solidFill>
                  <a:srgbClr val="010101"/>
                </a:solidFill>
              </a:rPr>
              <a:t>and randomization </a:t>
            </a:r>
            <a:r>
              <a:rPr lang="en-US" dirty="0" smtClean="0">
                <a:solidFill>
                  <a:srgbClr val="010101"/>
                </a:solidFill>
              </a:rPr>
              <a:t>distributions</a:t>
            </a:r>
          </a:p>
          <a:p>
            <a:pPr lvl="1">
              <a:spcAft>
                <a:spcPts val="0"/>
              </a:spcAft>
            </a:pPr>
            <a:r>
              <a:rPr lang="en-US" dirty="0">
                <a:solidFill>
                  <a:srgbClr val="010101"/>
                </a:solidFill>
              </a:rPr>
              <a:t>Confidence intervals and hypothesis </a:t>
            </a:r>
            <a:r>
              <a:rPr lang="en-US" dirty="0" smtClean="0">
                <a:solidFill>
                  <a:srgbClr val="010101"/>
                </a:solidFill>
              </a:rPr>
              <a:t>tests</a:t>
            </a:r>
            <a:endParaRPr lang="en-US" dirty="0">
              <a:solidFill>
                <a:srgbClr val="010101"/>
              </a:solidFill>
            </a:endParaRPr>
          </a:p>
          <a:p>
            <a:endParaRPr lang="en-US" dirty="0" smtClean="0">
              <a:solidFill>
                <a:srgbClr val="010101"/>
              </a:solidFill>
            </a:endParaRPr>
          </a:p>
        </p:txBody>
      </p:sp>
    </p:spTree>
    <p:extLst>
      <p:ext uri="{BB962C8B-B14F-4D97-AF65-F5344CB8AC3E}">
        <p14:creationId xmlns:p14="http://schemas.microsoft.com/office/powerpoint/2010/main" val="822553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Generating Randomization Samples</a:t>
            </a:r>
            <a:endParaRPr lang="en-US" dirty="0"/>
          </a:p>
        </p:txBody>
      </p:sp>
      <p:sp>
        <p:nvSpPr>
          <p:cNvPr id="3" name="Content Placeholder 2"/>
          <p:cNvSpPr>
            <a:spLocks noGrp="1"/>
          </p:cNvSpPr>
          <p:nvPr>
            <p:ph idx="1"/>
          </p:nvPr>
        </p:nvSpPr>
        <p:spPr>
          <a:xfrm>
            <a:off x="762000" y="1676400"/>
            <a:ext cx="7584948" cy="4114800"/>
          </a:xfrm>
        </p:spPr>
        <p:txBody>
          <a:bodyPr>
            <a:normAutofit lnSpcReduction="10000"/>
          </a:bodyPr>
          <a:lstStyle/>
          <a:p>
            <a:pPr algn="l"/>
            <a:r>
              <a:rPr lang="en-US" dirty="0"/>
              <a:t>The main criteria to consider when creating randomization samples for a statistical test are: </a:t>
            </a:r>
            <a:endParaRPr lang="en-US" dirty="0" smtClean="0"/>
          </a:p>
          <a:p>
            <a:pPr marL="457200" indent="-457200" algn="l">
              <a:buFont typeface="Arial" charset="0"/>
              <a:buChar char="•"/>
            </a:pPr>
            <a:r>
              <a:rPr lang="en-US" dirty="0" smtClean="0"/>
              <a:t>Be consistent with the null hypothesis</a:t>
            </a:r>
          </a:p>
          <a:p>
            <a:pPr marL="457200" indent="-457200" algn="l">
              <a:buFont typeface="Arial" charset="0"/>
              <a:buChar char="•"/>
            </a:pPr>
            <a:r>
              <a:rPr lang="en-US" dirty="0" smtClean="0"/>
              <a:t>Use the data in the original sample.</a:t>
            </a:r>
          </a:p>
          <a:p>
            <a:pPr algn="l"/>
            <a:r>
              <a:rPr lang="en-US" dirty="0"/>
              <a:t>Ideally, we also try to reflect the way the original data were collected. </a:t>
            </a:r>
          </a:p>
        </p:txBody>
      </p:sp>
    </p:spTree>
    <p:extLst>
      <p:ext uri="{BB962C8B-B14F-4D97-AF65-F5344CB8AC3E}">
        <p14:creationId xmlns:p14="http://schemas.microsoft.com/office/powerpoint/2010/main" val="19386945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4400" dirty="0" smtClean="0"/>
              <a:t>Randomization Distribution</a:t>
            </a:r>
            <a:endParaRPr lang="en-US" sz="4400" dirty="0"/>
          </a:p>
        </p:txBody>
      </p:sp>
      <p:sp>
        <p:nvSpPr>
          <p:cNvPr id="3" name="Content Placeholder 2"/>
          <p:cNvSpPr>
            <a:spLocks noGrp="1"/>
          </p:cNvSpPr>
          <p:nvPr>
            <p:ph idx="1"/>
          </p:nvPr>
        </p:nvSpPr>
        <p:spPr>
          <a:xfrm>
            <a:off x="304800" y="1752600"/>
            <a:ext cx="8610600" cy="4419600"/>
          </a:xfrm>
        </p:spPr>
        <p:txBody>
          <a:bodyPr>
            <a:noAutofit/>
          </a:bodyPr>
          <a:lstStyle/>
          <a:p>
            <a:pPr algn="l">
              <a:spcAft>
                <a:spcPts val="0"/>
              </a:spcAft>
            </a:pPr>
            <a:r>
              <a:rPr lang="en-US" dirty="0" smtClean="0"/>
              <a:t>For a randomization distribution, each simulated sample should… </a:t>
            </a:r>
          </a:p>
          <a:p>
            <a:pPr marL="91440" algn="l">
              <a:spcAft>
                <a:spcPts val="0"/>
              </a:spcAft>
            </a:pPr>
            <a:r>
              <a:rPr lang="en-US" dirty="0" smtClean="0"/>
              <a:t>1. Be consistent with the null hypothesis</a:t>
            </a:r>
          </a:p>
          <a:p>
            <a:pPr marL="91440" algn="l">
              <a:spcAft>
                <a:spcPts val="0"/>
              </a:spcAft>
            </a:pPr>
            <a:endParaRPr lang="en-US" dirty="0" smtClean="0"/>
          </a:p>
          <a:p>
            <a:pPr marL="91440">
              <a:spcAft>
                <a:spcPts val="0"/>
              </a:spcAft>
            </a:pPr>
            <a:r>
              <a:rPr lang="en-US" sz="2800" b="1" dirty="0" smtClean="0">
                <a:solidFill>
                  <a:schemeClr val="accent1">
                    <a:lumMod val="50000"/>
                  </a:schemeClr>
                </a:solidFill>
                <a:latin typeface="Segoe Print" pitchFamily="2" charset="0"/>
              </a:rPr>
              <a:t>Randomized Experiment:</a:t>
            </a:r>
          </a:p>
          <a:p>
            <a:pPr marL="91440">
              <a:spcAft>
                <a:spcPts val="0"/>
              </a:spcAft>
            </a:pPr>
            <a:r>
              <a:rPr lang="en-US" sz="2800" b="1" dirty="0" smtClean="0">
                <a:solidFill>
                  <a:schemeClr val="accent1">
                    <a:lumMod val="50000"/>
                  </a:schemeClr>
                </a:solidFill>
                <a:latin typeface="Segoe Print" pitchFamily="2" charset="0"/>
              </a:rPr>
              <a:t>Cocaine </a:t>
            </a:r>
            <a:r>
              <a:rPr lang="en-US" sz="2800" b="1" dirty="0">
                <a:solidFill>
                  <a:schemeClr val="accent1">
                    <a:lumMod val="50000"/>
                  </a:schemeClr>
                </a:solidFill>
                <a:latin typeface="Segoe Print" pitchFamily="2" charset="0"/>
              </a:rPr>
              <a:t>Addiction </a:t>
            </a:r>
            <a:r>
              <a:rPr lang="en-US" sz="2800" b="1" dirty="0" smtClean="0">
                <a:solidFill>
                  <a:schemeClr val="accent1">
                    <a:lumMod val="50000"/>
                  </a:schemeClr>
                </a:solidFill>
                <a:latin typeface="Segoe Print" pitchFamily="2" charset="0"/>
              </a:rPr>
              <a:t>Example </a:t>
            </a:r>
          </a:p>
          <a:p>
            <a:pPr marL="91440">
              <a:spcAft>
                <a:spcPts val="0"/>
              </a:spcAft>
            </a:pPr>
            <a:r>
              <a:rPr lang="en-US" sz="2800" dirty="0" smtClean="0">
                <a:solidFill>
                  <a:schemeClr val="accent1">
                    <a:lumMod val="50000"/>
                  </a:schemeClr>
                </a:solidFill>
                <a:latin typeface="Segoe Print" pitchFamily="2" charset="0"/>
              </a:rPr>
              <a:t>We simulated assuming that </a:t>
            </a:r>
            <a:r>
              <a:rPr lang="en-US" sz="2800" b="1" dirty="0" err="1">
                <a:solidFill>
                  <a:schemeClr val="accent1">
                    <a:lumMod val="50000"/>
                  </a:schemeClr>
                </a:solidFill>
                <a:latin typeface="Segoe Print" pitchFamily="2" charset="0"/>
              </a:rPr>
              <a:t>p</a:t>
            </a:r>
            <a:r>
              <a:rPr lang="en-US" sz="2800" b="1" baseline="-25000" dirty="0" err="1">
                <a:solidFill>
                  <a:schemeClr val="accent1">
                    <a:lumMod val="50000"/>
                  </a:schemeClr>
                </a:solidFill>
                <a:latin typeface="Segoe Print" pitchFamily="2" charset="0"/>
              </a:rPr>
              <a:t>D</a:t>
            </a:r>
            <a:r>
              <a:rPr lang="en-US" sz="2800" b="1" dirty="0">
                <a:solidFill>
                  <a:schemeClr val="accent1">
                    <a:lumMod val="50000"/>
                  </a:schemeClr>
                </a:solidFill>
                <a:latin typeface="Segoe Print" pitchFamily="2" charset="0"/>
              </a:rPr>
              <a:t> = </a:t>
            </a:r>
            <a:r>
              <a:rPr lang="en-US" sz="2800" b="1" dirty="0" err="1" smtClean="0">
                <a:solidFill>
                  <a:schemeClr val="accent1">
                    <a:lumMod val="50000"/>
                  </a:schemeClr>
                </a:solidFill>
                <a:latin typeface="Segoe Print" pitchFamily="2" charset="0"/>
              </a:rPr>
              <a:t>p</a:t>
            </a:r>
            <a:r>
              <a:rPr lang="en-US" sz="2800" b="1" baseline="-25000" dirty="0" err="1" smtClean="0">
                <a:solidFill>
                  <a:schemeClr val="accent1">
                    <a:lumMod val="50000"/>
                  </a:schemeClr>
                </a:solidFill>
                <a:latin typeface="Segoe Print" pitchFamily="2" charset="0"/>
              </a:rPr>
              <a:t>L</a:t>
            </a:r>
            <a:r>
              <a:rPr lang="en-US" sz="2800" b="1" baseline="-25000" dirty="0" smtClean="0">
                <a:solidFill>
                  <a:schemeClr val="accent1">
                    <a:lumMod val="50000"/>
                  </a:schemeClr>
                </a:solidFill>
                <a:latin typeface="Segoe Print" pitchFamily="2" charset="0"/>
              </a:rPr>
              <a:t>;</a:t>
            </a:r>
            <a:r>
              <a:rPr lang="en-US" sz="2800" b="1" dirty="0" smtClean="0">
                <a:solidFill>
                  <a:schemeClr val="accent1">
                    <a:lumMod val="50000"/>
                  </a:schemeClr>
                </a:solidFill>
                <a:latin typeface="Segoe Print" pitchFamily="2" charset="0"/>
              </a:rPr>
              <a:t> </a:t>
            </a:r>
            <a:r>
              <a:rPr lang="en-US" sz="2800" dirty="0" smtClean="0">
                <a:solidFill>
                  <a:schemeClr val="accent1">
                    <a:lumMod val="50000"/>
                  </a:schemeClr>
                </a:solidFill>
                <a:latin typeface="Segoe Print" pitchFamily="2" charset="0"/>
              </a:rPr>
              <a:t>whether </a:t>
            </a:r>
            <a:r>
              <a:rPr lang="en-US" sz="2800" dirty="0">
                <a:solidFill>
                  <a:schemeClr val="accent1">
                    <a:lumMod val="50000"/>
                  </a:schemeClr>
                </a:solidFill>
                <a:latin typeface="Segoe Print" pitchFamily="2" charset="0"/>
              </a:rPr>
              <a:t>a person relapses or not does not depend on which drug is </a:t>
            </a:r>
            <a:r>
              <a:rPr lang="en-US" sz="2800" dirty="0" smtClean="0">
                <a:solidFill>
                  <a:schemeClr val="accent1">
                    <a:lumMod val="50000"/>
                  </a:schemeClr>
                </a:solidFill>
                <a:latin typeface="Segoe Print" pitchFamily="2" charset="0"/>
              </a:rPr>
              <a:t>taken</a:t>
            </a:r>
            <a:endParaRPr lang="en-US" sz="2800" dirty="0">
              <a:solidFill>
                <a:schemeClr val="accent1">
                  <a:lumMod val="50000"/>
                </a:schemeClr>
              </a:solidFill>
              <a:latin typeface="Segoe Print" pitchFamily="2" charset="0"/>
            </a:endParaRPr>
          </a:p>
          <a:p>
            <a:pPr marL="91440" algn="l">
              <a:spcAft>
                <a:spcPts val="0"/>
              </a:spcAft>
            </a:pPr>
            <a:endParaRPr lang="en-US" dirty="0" smtClean="0"/>
          </a:p>
        </p:txBody>
      </p:sp>
    </p:spTree>
    <p:custDataLst>
      <p:tags r:id="rId1"/>
    </p:custDataLst>
    <p:extLst>
      <p:ext uri="{BB962C8B-B14F-4D97-AF65-F5344CB8AC3E}">
        <p14:creationId xmlns:p14="http://schemas.microsoft.com/office/powerpoint/2010/main" val="106053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4400" dirty="0" smtClean="0"/>
              <a:t>Randomization Distribution</a:t>
            </a:r>
            <a:endParaRPr lang="en-US" sz="4400" dirty="0"/>
          </a:p>
        </p:txBody>
      </p:sp>
      <p:sp>
        <p:nvSpPr>
          <p:cNvPr id="3" name="Content Placeholder 2"/>
          <p:cNvSpPr>
            <a:spLocks noGrp="1"/>
          </p:cNvSpPr>
          <p:nvPr>
            <p:ph idx="1"/>
          </p:nvPr>
        </p:nvSpPr>
        <p:spPr>
          <a:xfrm>
            <a:off x="304800" y="1600200"/>
            <a:ext cx="8610600" cy="5105400"/>
          </a:xfrm>
        </p:spPr>
        <p:txBody>
          <a:bodyPr>
            <a:noAutofit/>
          </a:bodyPr>
          <a:lstStyle/>
          <a:p>
            <a:pPr algn="l">
              <a:spcAft>
                <a:spcPts val="0"/>
              </a:spcAft>
            </a:pPr>
            <a:r>
              <a:rPr lang="en-US" dirty="0" smtClean="0"/>
              <a:t>For a randomization distribution, each simulated sample should… </a:t>
            </a:r>
          </a:p>
          <a:p>
            <a:pPr marL="91440" algn="l">
              <a:spcAft>
                <a:spcPts val="0"/>
              </a:spcAft>
            </a:pPr>
            <a:r>
              <a:rPr lang="en-US" dirty="0" smtClean="0"/>
              <a:t>2. Use the data in the observed sample</a:t>
            </a:r>
          </a:p>
          <a:p>
            <a:pPr marL="91440" algn="l">
              <a:spcAft>
                <a:spcPts val="0"/>
              </a:spcAft>
            </a:pPr>
            <a:endParaRPr lang="en-US" dirty="0" smtClean="0"/>
          </a:p>
          <a:p>
            <a:pPr marL="91440">
              <a:spcAft>
                <a:spcPts val="0"/>
              </a:spcAft>
            </a:pPr>
            <a:r>
              <a:rPr lang="en-US" sz="2800" b="1" dirty="0">
                <a:solidFill>
                  <a:schemeClr val="accent1">
                    <a:lumMod val="50000"/>
                  </a:schemeClr>
                </a:solidFill>
                <a:latin typeface="Segoe Print" pitchFamily="2" charset="0"/>
              </a:rPr>
              <a:t>Randomized Experiment:</a:t>
            </a:r>
          </a:p>
          <a:p>
            <a:pPr marL="91440">
              <a:spcAft>
                <a:spcPts val="0"/>
              </a:spcAft>
            </a:pPr>
            <a:r>
              <a:rPr lang="en-US" sz="2800" b="1" dirty="0" smtClean="0">
                <a:solidFill>
                  <a:schemeClr val="accent1">
                    <a:lumMod val="50000"/>
                  </a:schemeClr>
                </a:solidFill>
                <a:latin typeface="Segoe Print" pitchFamily="2" charset="0"/>
              </a:rPr>
              <a:t>Cocaine </a:t>
            </a:r>
            <a:r>
              <a:rPr lang="en-US" sz="2800" b="1" dirty="0">
                <a:solidFill>
                  <a:schemeClr val="accent1">
                    <a:lumMod val="50000"/>
                  </a:schemeClr>
                </a:solidFill>
                <a:latin typeface="Segoe Print" pitchFamily="2" charset="0"/>
              </a:rPr>
              <a:t>Addiction </a:t>
            </a:r>
            <a:r>
              <a:rPr lang="en-US" sz="2800" b="1" dirty="0" smtClean="0">
                <a:solidFill>
                  <a:schemeClr val="accent1">
                    <a:lumMod val="50000"/>
                  </a:schemeClr>
                </a:solidFill>
                <a:latin typeface="Segoe Print" pitchFamily="2" charset="0"/>
              </a:rPr>
              <a:t>Example</a:t>
            </a:r>
          </a:p>
          <a:p>
            <a:pPr marL="91440" algn="l">
              <a:spcAft>
                <a:spcPts val="0"/>
              </a:spcAft>
            </a:pPr>
            <a:endParaRPr lang="en-US" b="1" dirty="0">
              <a:solidFill>
                <a:schemeClr val="accent1">
                  <a:lumMod val="50000"/>
                </a:schemeClr>
              </a:solidFill>
              <a:latin typeface="Segoe Print" pitchFamily="2" charset="0"/>
            </a:endParaRPr>
          </a:p>
          <a:p>
            <a:pPr marL="91440" algn="l">
              <a:spcAft>
                <a:spcPts val="0"/>
              </a:spcAft>
            </a:pPr>
            <a:endParaRPr lang="en-US" b="1" dirty="0" smtClean="0">
              <a:solidFill>
                <a:schemeClr val="accent1">
                  <a:lumMod val="50000"/>
                </a:schemeClr>
              </a:solidFill>
              <a:latin typeface="Segoe Print" pitchFamily="2" charset="0"/>
            </a:endParaRPr>
          </a:p>
          <a:p>
            <a:pPr marL="91440" algn="l">
              <a:spcAft>
                <a:spcPts val="0"/>
              </a:spcAft>
            </a:pPr>
            <a:endParaRPr lang="en-US" b="1" dirty="0">
              <a:solidFill>
                <a:schemeClr val="accent1">
                  <a:lumMod val="50000"/>
                </a:schemeClr>
              </a:solidFill>
              <a:latin typeface="Segoe Print" pitchFamily="2" charset="0"/>
            </a:endParaRPr>
          </a:p>
          <a:p>
            <a:pPr marL="91440" algn="l">
              <a:spcAft>
                <a:spcPts val="0"/>
              </a:spcAft>
            </a:pPr>
            <a:endParaRPr lang="en-US" b="1" dirty="0" smtClean="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563374"/>
            <a:ext cx="589646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2984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4400" dirty="0" smtClean="0"/>
              <a:t>Randomization Distribution</a:t>
            </a:r>
            <a:endParaRPr lang="en-US" sz="4400" dirty="0"/>
          </a:p>
        </p:txBody>
      </p:sp>
      <p:sp>
        <p:nvSpPr>
          <p:cNvPr id="3" name="Content Placeholder 2"/>
          <p:cNvSpPr>
            <a:spLocks noGrp="1"/>
          </p:cNvSpPr>
          <p:nvPr>
            <p:ph idx="1"/>
          </p:nvPr>
        </p:nvSpPr>
        <p:spPr>
          <a:xfrm>
            <a:off x="304800" y="1752600"/>
            <a:ext cx="8610600" cy="4648200"/>
          </a:xfrm>
        </p:spPr>
        <p:txBody>
          <a:bodyPr>
            <a:noAutofit/>
          </a:bodyPr>
          <a:lstStyle/>
          <a:p>
            <a:pPr algn="l">
              <a:spcAft>
                <a:spcPts val="0"/>
              </a:spcAft>
            </a:pPr>
            <a:r>
              <a:rPr lang="en-US" dirty="0" smtClean="0"/>
              <a:t>For a randomization distribution, each simulated sample should… </a:t>
            </a:r>
          </a:p>
          <a:p>
            <a:pPr marL="91440" algn="l">
              <a:spcAft>
                <a:spcPts val="0"/>
              </a:spcAft>
            </a:pPr>
            <a:r>
              <a:rPr lang="en-US" dirty="0" smtClean="0"/>
              <a:t>3. reflect the way the data were collected</a:t>
            </a:r>
          </a:p>
          <a:p>
            <a:pPr marL="91440" algn="l">
              <a:spcAft>
                <a:spcPts val="0"/>
              </a:spcAft>
            </a:pPr>
            <a:endParaRPr lang="en-US" dirty="0"/>
          </a:p>
          <a:p>
            <a:pPr marL="91440">
              <a:spcAft>
                <a:spcPts val="0"/>
              </a:spcAft>
            </a:pPr>
            <a:r>
              <a:rPr lang="en-US" sz="2800" b="1" dirty="0">
                <a:solidFill>
                  <a:schemeClr val="accent1">
                    <a:lumMod val="50000"/>
                  </a:schemeClr>
                </a:solidFill>
                <a:latin typeface="Segoe Print" pitchFamily="2" charset="0"/>
              </a:rPr>
              <a:t>Randomized Experiment:</a:t>
            </a:r>
          </a:p>
          <a:p>
            <a:pPr marL="91440">
              <a:spcAft>
                <a:spcPts val="0"/>
              </a:spcAft>
            </a:pPr>
            <a:r>
              <a:rPr lang="en-US" sz="2800" b="1" dirty="0" smtClean="0">
                <a:solidFill>
                  <a:schemeClr val="accent1">
                    <a:lumMod val="50000"/>
                  </a:schemeClr>
                </a:solidFill>
                <a:latin typeface="Segoe Print" pitchFamily="2" charset="0"/>
              </a:rPr>
              <a:t>Cocaine </a:t>
            </a:r>
            <a:r>
              <a:rPr lang="en-US" sz="2800" b="1" dirty="0">
                <a:solidFill>
                  <a:schemeClr val="accent1">
                    <a:lumMod val="50000"/>
                  </a:schemeClr>
                </a:solidFill>
                <a:latin typeface="Segoe Print" pitchFamily="2" charset="0"/>
              </a:rPr>
              <a:t>Addiction Example</a:t>
            </a:r>
          </a:p>
          <a:p>
            <a:pPr marL="0" lvl="1" indent="0" algn="ctr">
              <a:spcAft>
                <a:spcPts val="1800"/>
              </a:spcAft>
              <a:buClr>
                <a:schemeClr val="accent1"/>
              </a:buClr>
              <a:buNone/>
            </a:pPr>
            <a:r>
              <a:rPr lang="en-US" dirty="0">
                <a:solidFill>
                  <a:schemeClr val="accent1">
                    <a:lumMod val="50000"/>
                  </a:schemeClr>
                </a:solidFill>
                <a:latin typeface="Segoe Print" pitchFamily="2" charset="0"/>
                <a:cs typeface="Times New Roman" pitchFamily="18" charset="0"/>
              </a:rPr>
              <a:t>the “randomness” is the random allocation to treatment groups</a:t>
            </a:r>
          </a:p>
          <a:p>
            <a:pPr marL="91440">
              <a:spcAft>
                <a:spcPts val="0"/>
              </a:spcAft>
            </a:pPr>
            <a:endParaRPr lang="en-US" dirty="0"/>
          </a:p>
        </p:txBody>
      </p:sp>
    </p:spTree>
    <p:custDataLst>
      <p:tags r:id="rId1"/>
    </p:custDataLst>
    <p:extLst>
      <p:ext uri="{BB962C8B-B14F-4D97-AF65-F5344CB8AC3E}">
        <p14:creationId xmlns:p14="http://schemas.microsoft.com/office/powerpoint/2010/main" val="352984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Observational Studies</a:t>
            </a:r>
            <a:endParaRPr lang="en-US" dirty="0"/>
          </a:p>
        </p:txBody>
      </p:sp>
      <p:sp>
        <p:nvSpPr>
          <p:cNvPr id="3" name="Content Placeholder 2"/>
          <p:cNvSpPr>
            <a:spLocks noGrp="1"/>
          </p:cNvSpPr>
          <p:nvPr>
            <p:ph sz="quarter" idx="1"/>
          </p:nvPr>
        </p:nvSpPr>
        <p:spPr>
          <a:xfrm>
            <a:off x="0" y="1524000"/>
            <a:ext cx="9144000" cy="5334000"/>
          </a:xfrm>
        </p:spPr>
        <p:txBody>
          <a:bodyPr>
            <a:normAutofit fontScale="92500" lnSpcReduction="20000"/>
          </a:bodyPr>
          <a:lstStyle/>
          <a:p>
            <a:r>
              <a:rPr lang="en-US" dirty="0" smtClean="0"/>
              <a:t>In </a:t>
            </a:r>
            <a:r>
              <a:rPr lang="en-US" b="1" i="1" dirty="0" smtClean="0">
                <a:solidFill>
                  <a:schemeClr val="accent5">
                    <a:lumMod val="50000"/>
                  </a:schemeClr>
                </a:solidFill>
              </a:rPr>
              <a:t>observational studies</a:t>
            </a:r>
            <a:r>
              <a:rPr lang="en-US" dirty="0" smtClean="0"/>
              <a:t>, the “randomness” is random sampling from the population</a:t>
            </a:r>
          </a:p>
          <a:p>
            <a:pPr>
              <a:spcAft>
                <a:spcPts val="600"/>
              </a:spcAft>
            </a:pPr>
            <a:r>
              <a:rPr lang="en-US" dirty="0" smtClean="0"/>
              <a:t>To simulate what would happen, just by random chance, if H</a:t>
            </a:r>
            <a:r>
              <a:rPr lang="en-US" baseline="-25000" dirty="0" smtClean="0"/>
              <a:t>0</a:t>
            </a:r>
            <a:r>
              <a:rPr lang="en-US" dirty="0" smtClean="0"/>
              <a:t> were true:</a:t>
            </a:r>
          </a:p>
          <a:p>
            <a:pPr lvl="1"/>
            <a:r>
              <a:rPr lang="en-US" i="1" dirty="0" smtClean="0"/>
              <a:t>Simulate resampling from a population in which H</a:t>
            </a:r>
            <a:r>
              <a:rPr lang="en-US" i="1" baseline="-25000" dirty="0" smtClean="0"/>
              <a:t>0</a:t>
            </a:r>
            <a:r>
              <a:rPr lang="en-US" i="1" dirty="0" smtClean="0"/>
              <a:t> is true</a:t>
            </a:r>
          </a:p>
          <a:p>
            <a:pPr>
              <a:spcAft>
                <a:spcPts val="600"/>
              </a:spcAft>
            </a:pPr>
            <a:r>
              <a:rPr lang="en-US" dirty="0" smtClean="0"/>
              <a:t>How do we simulate resampling from a population when we only have sample data?</a:t>
            </a:r>
          </a:p>
          <a:p>
            <a:pPr lvl="1"/>
            <a:r>
              <a:rPr lang="en-US" i="1" dirty="0" smtClean="0"/>
              <a:t>Bootstrap!</a:t>
            </a:r>
          </a:p>
          <a:p>
            <a:pPr>
              <a:spcAft>
                <a:spcPts val="600"/>
              </a:spcAft>
            </a:pPr>
            <a:r>
              <a:rPr lang="en-US" dirty="0" smtClean="0"/>
              <a:t>How can we generate randomization samples for observational studies?</a:t>
            </a:r>
          </a:p>
          <a:p>
            <a:pPr lvl="1"/>
            <a:r>
              <a:rPr lang="en-US" i="1" dirty="0" smtClean="0"/>
              <a:t>Make H</a:t>
            </a:r>
            <a:r>
              <a:rPr lang="en-US" i="1" baseline="-25000" dirty="0" smtClean="0"/>
              <a:t>0</a:t>
            </a:r>
            <a:r>
              <a:rPr lang="en-US" i="1" dirty="0" smtClean="0"/>
              <a:t> true, then bootstrap!</a:t>
            </a:r>
            <a:endParaRPr lang="en-US" i="1" dirty="0"/>
          </a:p>
        </p:txBody>
      </p:sp>
    </p:spTree>
    <p:custDataLst>
      <p:tags r:id="rId1"/>
    </p:custDataLst>
    <p:extLst>
      <p:ext uri="{BB962C8B-B14F-4D97-AF65-F5344CB8AC3E}">
        <p14:creationId xmlns:p14="http://schemas.microsoft.com/office/powerpoint/2010/main" val="277587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0" y="990600"/>
                <a:ext cx="9144000" cy="5216813"/>
              </a:xfrm>
              <a:prstGeom prst="rect">
                <a:avLst/>
              </a:prstGeom>
              <a:noFill/>
            </p:spPr>
            <p:txBody>
              <a:bodyPr wrap="square" rtlCol="0">
                <a:spAutoFit/>
              </a:bodyPr>
              <a:lstStyle/>
              <a:p>
                <a:pPr>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  = average human body temperate</a:t>
                </a:r>
              </a:p>
              <a:p>
                <a:pPr lvl="1"/>
                <a:r>
                  <a:rPr lang="en-US" sz="3200" dirty="0" smtClean="0">
                    <a:solidFill>
                      <a:schemeClr val="accent6">
                        <a:lumMod val="50000"/>
                      </a:schemeClr>
                    </a:solidFill>
                    <a:cs typeface="Times New Roman" pitchFamily="18" charset="0"/>
                    <a:sym typeface="Symbol"/>
                  </a:rPr>
                  <a:t>	H</a:t>
                </a:r>
                <a:r>
                  <a:rPr lang="en-US" sz="3200" baseline="-25000" dirty="0" smtClean="0">
                    <a:solidFill>
                      <a:schemeClr val="accent6">
                        <a:lumMod val="50000"/>
                      </a:schemeClr>
                    </a:solidFill>
                    <a:cs typeface="Times New Roman" pitchFamily="18" charset="0"/>
                    <a:sym typeface="Symbol"/>
                  </a:rPr>
                  <a:t>0</a:t>
                </a:r>
                <a:r>
                  <a:rPr lang="en-US" sz="3200" dirty="0" smtClean="0">
                    <a:solidFill>
                      <a:schemeClr val="accent6">
                        <a:lumMod val="50000"/>
                      </a:schemeClr>
                    </a:solidFill>
                    <a:cs typeface="Times New Roman" pitchFamily="18" charset="0"/>
                    <a:sym typeface="Symbol"/>
                  </a:rPr>
                  <a:t> :  = 98.6</a:t>
                </a:r>
              </a:p>
              <a:p>
                <a:pPr lvl="1">
                  <a:spcAft>
                    <a:spcPts val="1800"/>
                  </a:spcAft>
                </a:pPr>
                <a:r>
                  <a:rPr lang="en-US" sz="3200" dirty="0" smtClean="0">
                    <a:solidFill>
                      <a:schemeClr val="accent6">
                        <a:lumMod val="50000"/>
                      </a:schemeClr>
                    </a:solidFill>
                    <a:cs typeface="Times New Roman" pitchFamily="18" charset="0"/>
                    <a:sym typeface="Symbol"/>
                  </a:rPr>
                  <a:t>	H</a:t>
                </a:r>
                <a:r>
                  <a:rPr lang="en-US" sz="3200" baseline="-25000" dirty="0" smtClean="0">
                    <a:solidFill>
                      <a:schemeClr val="accent6">
                        <a:lumMod val="50000"/>
                      </a:schemeClr>
                    </a:solidFill>
                    <a:cs typeface="Times New Roman" pitchFamily="18" charset="0"/>
                    <a:sym typeface="Symbol"/>
                  </a:rPr>
                  <a:t>a</a:t>
                </a:r>
                <a:r>
                  <a:rPr lang="en-US" sz="3200" dirty="0" smtClean="0">
                    <a:solidFill>
                      <a:schemeClr val="accent6">
                        <a:lumMod val="50000"/>
                      </a:schemeClr>
                    </a:solidFill>
                    <a:cs typeface="Times New Roman" pitchFamily="18" charset="0"/>
                    <a:sym typeface="Symbol"/>
                  </a:rPr>
                  <a:t> :  ≠ 98.6	</a:t>
                </a:r>
              </a:p>
              <a:p>
                <a:pPr marL="457200" indent="-457200">
                  <a:spcAft>
                    <a:spcPts val="1800"/>
                  </a:spcAft>
                  <a:buClr>
                    <a:schemeClr val="accent1"/>
                  </a:buClr>
                  <a:buFont typeface="Arial" pitchFamily="34" charset="0"/>
                  <a:buChar char="•"/>
                </a:pPr>
                <a14:m>
                  <m:oMath xmlns:m="http://schemas.openxmlformats.org/officeDocument/2006/math">
                    <m:acc>
                      <m:accPr>
                        <m:chr m:val="̅"/>
                        <m:ctrlPr>
                          <a:rPr lang="en-US" sz="3200" i="1" dirty="0" smtClean="0">
                            <a:solidFill>
                              <a:schemeClr val="accent6">
                                <a:lumMod val="50000"/>
                              </a:schemeClr>
                            </a:solidFill>
                            <a:latin typeface="Cambria Math"/>
                            <a:cs typeface="Times New Roman" pitchFamily="18" charset="0"/>
                            <a:sym typeface="Symbol"/>
                          </a:rPr>
                        </m:ctrlPr>
                      </m:accPr>
                      <m:e>
                        <m:r>
                          <a:rPr lang="en-US" sz="3200" b="0" i="1" dirty="0" smtClean="0">
                            <a:solidFill>
                              <a:schemeClr val="accent6">
                                <a:lumMod val="50000"/>
                              </a:schemeClr>
                            </a:solidFill>
                            <a:latin typeface="Cambria Math"/>
                            <a:cs typeface="Times New Roman" pitchFamily="18" charset="0"/>
                            <a:sym typeface="Symbol"/>
                          </a:rPr>
                          <m:t>𝑥</m:t>
                        </m:r>
                      </m:e>
                    </m:acc>
                    <m:r>
                      <a:rPr lang="en-US" sz="3200" b="0" i="1" dirty="0" smtClean="0">
                        <a:solidFill>
                          <a:schemeClr val="accent6">
                            <a:lumMod val="50000"/>
                          </a:schemeClr>
                        </a:solidFill>
                        <a:latin typeface="Cambria Math"/>
                        <a:cs typeface="Times New Roman" pitchFamily="18" charset="0"/>
                        <a:sym typeface="Symbol"/>
                      </a:rPr>
                      <m:t>=98.26</m:t>
                    </m:r>
                  </m:oMath>
                </a14:m>
                <a:endParaRPr lang="en-US" sz="3200" dirty="0" smtClean="0">
                  <a:solidFill>
                    <a:schemeClr val="accent6">
                      <a:lumMod val="50000"/>
                    </a:schemeClr>
                  </a:solidFill>
                  <a:cs typeface="Times New Roman" pitchFamily="18" charset="0"/>
                  <a:sym typeface="Symbol"/>
                </a:endParaRPr>
              </a:p>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We can make the null hypothesis true just by adding 98.6 – 98.26 = </a:t>
                </a:r>
                <a:r>
                  <a:rPr lang="en-US" sz="3200" b="1" dirty="0" smtClean="0">
                    <a:solidFill>
                      <a:schemeClr val="accent6">
                        <a:lumMod val="50000"/>
                      </a:schemeClr>
                    </a:solidFill>
                    <a:cs typeface="Times New Roman" pitchFamily="18" charset="0"/>
                    <a:sym typeface="Symbol"/>
                    <a:hlinkClick r:id="rId3" action="ppaction://hlinkfile"/>
                  </a:rPr>
                  <a:t>0.34</a:t>
                </a:r>
                <a:r>
                  <a:rPr lang="en-US" sz="3200" dirty="0" smtClean="0">
                    <a:solidFill>
                      <a:schemeClr val="accent6">
                        <a:lumMod val="50000"/>
                      </a:schemeClr>
                    </a:solidFill>
                    <a:cs typeface="Times New Roman" pitchFamily="18" charset="0"/>
                    <a:sym typeface="Symbol"/>
                  </a:rPr>
                  <a:t> to each value, to make the mean be 98.6</a:t>
                </a:r>
              </a:p>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Bootstrapping from this revised sample lets us simulate samples, assuming H</a:t>
                </a:r>
                <a:r>
                  <a:rPr lang="en-US" sz="3200" baseline="-25000" dirty="0" smtClean="0">
                    <a:solidFill>
                      <a:schemeClr val="accent6">
                        <a:lumMod val="50000"/>
                      </a:schemeClr>
                    </a:solidFill>
                    <a:cs typeface="Times New Roman" pitchFamily="18" charset="0"/>
                    <a:sym typeface="Symbol"/>
                  </a:rPr>
                  <a:t>0</a:t>
                </a:r>
                <a:r>
                  <a:rPr lang="en-US" sz="3200" dirty="0" smtClean="0">
                    <a:solidFill>
                      <a:schemeClr val="accent6">
                        <a:lumMod val="50000"/>
                      </a:schemeClr>
                    </a:solidFill>
                    <a:cs typeface="Times New Roman" pitchFamily="18" charset="0"/>
                    <a:sym typeface="Symbol"/>
                  </a:rPr>
                  <a:t> is true!</a:t>
                </a:r>
              </a:p>
            </p:txBody>
          </p:sp>
        </mc:Choice>
        <mc:Fallback xmlns="">
          <p:sp>
            <p:nvSpPr>
              <p:cNvPr id="4" name="TextBox 3"/>
              <p:cNvSpPr txBox="1">
                <a:spLocks noRot="1" noChangeAspect="1" noMove="1" noResize="1" noEditPoints="1" noAdjustHandles="1" noChangeArrowheads="1" noChangeShapeType="1" noTextEdit="1"/>
              </p:cNvSpPr>
              <p:nvPr/>
            </p:nvSpPr>
            <p:spPr>
              <a:xfrm>
                <a:off x="0" y="990600"/>
                <a:ext cx="9144000" cy="5216813"/>
              </a:xfrm>
              <a:prstGeom prst="rect">
                <a:avLst/>
              </a:prstGeom>
              <a:blipFill rotWithShape="1">
                <a:blip r:embed="rId4"/>
                <a:stretch>
                  <a:fillRect l="-1467" t="-1754" r="-1800" b="-2924"/>
                </a:stretch>
              </a:blipFill>
            </p:spPr>
            <p:txBody>
              <a:bodyPr/>
              <a:lstStyle/>
              <a:p>
                <a:r>
                  <a:rPr lang="en-US">
                    <a:noFill/>
                  </a:rPr>
                  <a:t> </a:t>
                </a:r>
              </a:p>
            </p:txBody>
          </p:sp>
        </mc:Fallback>
      </mc:AlternateContent>
      <p:sp>
        <p:nvSpPr>
          <p:cNvPr id="3" name="Title 1"/>
          <p:cNvSpPr txBox="1">
            <a:spLocks/>
          </p:cNvSpPr>
          <p:nvPr/>
        </p:nvSpPr>
        <p:spPr>
          <a:xfrm>
            <a:off x="457200" y="228600"/>
            <a:ext cx="8153400" cy="914400"/>
          </a:xfrm>
          <a:prstGeom prst="rect">
            <a:avLst/>
          </a:prstGeom>
        </p:spPr>
        <p:txBody>
          <a:bodyPr/>
          <a:lstStyle/>
          <a:p>
            <a:pPr lvl="0" algn="ctr">
              <a:spcBef>
                <a:spcPct val="0"/>
              </a:spcBef>
              <a:defRPr/>
            </a:pPr>
            <a:r>
              <a:rPr lang="en-US" sz="4400" b="1" dirty="0" smtClean="0">
                <a:solidFill>
                  <a:schemeClr val="tx2"/>
                </a:solidFill>
              </a:rPr>
              <a:t>Body Temperatures</a:t>
            </a:r>
            <a:endParaRPr lang="en-US" sz="4000" b="1" dirty="0">
              <a:solidFill>
                <a:schemeClr val="tx2"/>
              </a:solidFill>
            </a:endParaRPr>
          </a:p>
        </p:txBody>
      </p:sp>
      <p:pic>
        <p:nvPicPr>
          <p:cNvPr id="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1859" y="1987926"/>
            <a:ext cx="4741141" cy="136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7972171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06" y="990600"/>
            <a:ext cx="9152206" cy="3277820"/>
          </a:xfrm>
          <a:prstGeom prst="rect">
            <a:avLst/>
          </a:prstGeom>
          <a:noFill/>
        </p:spPr>
        <p:txBody>
          <a:bodyPr wrap="square" rtlCol="0">
            <a:spAutoFit/>
          </a:bodyPr>
          <a:lstStyle/>
          <a:p>
            <a:pPr>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 In </a:t>
            </a:r>
            <a:r>
              <a:rPr lang="en-US" sz="3200" dirty="0" err="1" smtClean="0">
                <a:solidFill>
                  <a:schemeClr val="accent6">
                    <a:lumMod val="50000"/>
                  </a:schemeClr>
                </a:solidFill>
                <a:cs typeface="Times New Roman" pitchFamily="18" charset="0"/>
                <a:sym typeface="Symbol"/>
              </a:rPr>
              <a:t>StatKey</a:t>
            </a:r>
            <a:r>
              <a:rPr lang="en-US" sz="3200" dirty="0" smtClean="0">
                <a:solidFill>
                  <a:schemeClr val="accent6">
                    <a:lumMod val="50000"/>
                  </a:schemeClr>
                </a:solidFill>
                <a:cs typeface="Times New Roman" pitchFamily="18" charset="0"/>
                <a:sym typeface="Symbol"/>
              </a:rPr>
              <a:t>, when we enter the null hypothesis, this shifting is automatically done for us</a:t>
            </a:r>
          </a:p>
          <a:p>
            <a:pPr>
              <a:buClr>
                <a:schemeClr val="accent1"/>
              </a:buClr>
            </a:pPr>
            <a:endParaRPr lang="en-US" sz="3200" dirty="0" smtClean="0">
              <a:solidFill>
                <a:schemeClr val="accent6">
                  <a:lumMod val="50000"/>
                </a:schemeClr>
              </a:solidFill>
              <a:cs typeface="Times New Roman" pitchFamily="18" charset="0"/>
              <a:sym typeface="Symbol"/>
            </a:endParaRPr>
          </a:p>
          <a:p>
            <a:pPr algn="ctr">
              <a:buClr>
                <a:schemeClr val="accent1"/>
              </a:buClr>
            </a:pPr>
            <a:r>
              <a:rPr lang="en-US" sz="3200" dirty="0" err="1" smtClean="0">
                <a:solidFill>
                  <a:schemeClr val="accent6">
                    <a:lumMod val="50000"/>
                  </a:schemeClr>
                </a:solidFill>
                <a:cs typeface="Times New Roman" pitchFamily="18" charset="0"/>
                <a:sym typeface="Symbol"/>
                <a:hlinkClick r:id="rId3"/>
              </a:rPr>
              <a:t>StatKey</a:t>
            </a:r>
            <a:endParaRPr lang="en-US" sz="3200" dirty="0" smtClean="0">
              <a:solidFill>
                <a:schemeClr val="accent6">
                  <a:lumMod val="50000"/>
                </a:schemeClr>
              </a:solidFill>
              <a:cs typeface="Times New Roman" pitchFamily="18" charset="0"/>
              <a:sym typeface="Symbol"/>
            </a:endParaRPr>
          </a:p>
          <a:p>
            <a:pPr marL="457200" indent="-457200">
              <a:spcAft>
                <a:spcPts val="1800"/>
              </a:spcAft>
              <a:buClr>
                <a:schemeClr val="accent1"/>
              </a:buClr>
              <a:buFont typeface="Arial" pitchFamily="34" charset="0"/>
              <a:buChar char="•"/>
            </a:pPr>
            <a:endParaRPr lang="en-US" sz="3200" dirty="0">
              <a:solidFill>
                <a:schemeClr val="accent6">
                  <a:lumMod val="50000"/>
                </a:schemeClr>
              </a:solidFill>
              <a:cs typeface="Times New Roman" pitchFamily="18" charset="0"/>
              <a:sym typeface="Symbol"/>
            </a:endParaRPr>
          </a:p>
          <a:p>
            <a:pPr marL="457200" indent="-457200">
              <a:spcAft>
                <a:spcPts val="1800"/>
              </a:spcAft>
              <a:buClr>
                <a:schemeClr val="accent1"/>
              </a:buClr>
              <a:buFont typeface="Arial" pitchFamily="34" charset="0"/>
              <a:buChar char="•"/>
            </a:pPr>
            <a:endParaRPr lang="en-US" sz="3200" dirty="0" smtClean="0">
              <a:solidFill>
                <a:schemeClr val="accent6">
                  <a:lumMod val="50000"/>
                </a:schemeClr>
              </a:solidFill>
              <a:cs typeface="Times New Roman" pitchFamily="18" charset="0"/>
              <a:sym typeface="Symbol"/>
            </a:endParaRPr>
          </a:p>
        </p:txBody>
      </p:sp>
      <p:sp>
        <p:nvSpPr>
          <p:cNvPr id="3" name="Title 1"/>
          <p:cNvSpPr txBox="1">
            <a:spLocks/>
          </p:cNvSpPr>
          <p:nvPr/>
        </p:nvSpPr>
        <p:spPr>
          <a:xfrm>
            <a:off x="457200" y="228600"/>
            <a:ext cx="8153400" cy="914400"/>
          </a:xfrm>
          <a:prstGeom prst="rect">
            <a:avLst/>
          </a:prstGeom>
        </p:spPr>
        <p:txBody>
          <a:bodyPr/>
          <a:lstStyle/>
          <a:p>
            <a:pPr lvl="0" algn="ctr">
              <a:spcBef>
                <a:spcPct val="0"/>
              </a:spcBef>
              <a:defRPr/>
            </a:pPr>
            <a:r>
              <a:rPr lang="en-US" sz="4400" b="1" dirty="0" smtClean="0">
                <a:solidFill>
                  <a:schemeClr val="tx2"/>
                </a:solidFill>
              </a:rPr>
              <a:t>Body Temperatures</a:t>
            </a:r>
            <a:endParaRPr lang="en-US" sz="4000" b="1" dirty="0">
              <a:solidFill>
                <a:schemeClr val="tx2"/>
              </a:solidFill>
            </a:endParaRPr>
          </a:p>
        </p:txBody>
      </p:sp>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086707"/>
            <a:ext cx="7772400" cy="475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828800" y="3200400"/>
            <a:ext cx="1524000" cy="954107"/>
          </a:xfrm>
          <a:prstGeom prst="rect">
            <a:avLst/>
          </a:prstGeom>
          <a:noFill/>
        </p:spPr>
        <p:txBody>
          <a:bodyPr wrap="square" rtlCol="0">
            <a:spAutoFit/>
          </a:bodyPr>
          <a:lstStyle/>
          <a:p>
            <a:r>
              <a:rPr lang="en-US" sz="2800" b="1" dirty="0" smtClean="0">
                <a:solidFill>
                  <a:schemeClr val="accent2"/>
                </a:solidFill>
              </a:rPr>
              <a:t>p-value = 0.002</a:t>
            </a:r>
            <a:endParaRPr lang="en-US" sz="2800" b="1" dirty="0">
              <a:solidFill>
                <a:schemeClr val="accent2"/>
              </a:solidFill>
            </a:endParaRPr>
          </a:p>
        </p:txBody>
      </p:sp>
    </p:spTree>
    <p:custDataLst>
      <p:tags r:id="rId1"/>
    </p:custDataLst>
    <p:extLst>
      <p:ext uri="{BB962C8B-B14F-4D97-AF65-F5344CB8AC3E}">
        <p14:creationId xmlns:p14="http://schemas.microsoft.com/office/powerpoint/2010/main" val="1094102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1020" y="152400"/>
            <a:ext cx="7440579" cy="647701"/>
          </a:xfrm>
        </p:spPr>
        <p:txBody>
          <a:bodyPr>
            <a:normAutofit fontScale="90000"/>
          </a:bodyPr>
          <a:lstStyle/>
          <a:p>
            <a:r>
              <a:rPr lang="en-US" dirty="0" smtClean="0"/>
              <a:t>Creating Randomization Samples</a:t>
            </a:r>
            <a:endParaRPr lang="en-US" dirty="0"/>
          </a:p>
        </p:txBody>
      </p:sp>
      <p:sp>
        <p:nvSpPr>
          <p:cNvPr id="3" name="Content Placeholder 2"/>
          <p:cNvSpPr>
            <a:spLocks noGrp="1"/>
          </p:cNvSpPr>
          <p:nvPr>
            <p:ph sz="quarter" idx="1"/>
          </p:nvPr>
        </p:nvSpPr>
        <p:spPr>
          <a:xfrm>
            <a:off x="0" y="3276600"/>
            <a:ext cx="9144000" cy="3200400"/>
          </a:xfrm>
        </p:spPr>
        <p:txBody>
          <a:bodyPr>
            <a:noAutofit/>
          </a:bodyPr>
          <a:lstStyle/>
          <a:p>
            <a:pPr>
              <a:spcAft>
                <a:spcPts val="0"/>
              </a:spcAft>
            </a:pPr>
            <a:r>
              <a:rPr lang="en-US" sz="2800" dirty="0" smtClean="0"/>
              <a:t>State </a:t>
            </a:r>
            <a:r>
              <a:rPr lang="en-US" sz="2800" dirty="0"/>
              <a:t>null and alternative hypotheses</a:t>
            </a:r>
          </a:p>
          <a:p>
            <a:pPr>
              <a:spcAft>
                <a:spcPts val="0"/>
              </a:spcAft>
            </a:pPr>
            <a:r>
              <a:rPr lang="en-US" sz="2800" dirty="0"/>
              <a:t>Devise a way to generate a randomization sample that</a:t>
            </a:r>
          </a:p>
          <a:p>
            <a:pPr lvl="1">
              <a:spcAft>
                <a:spcPts val="0"/>
              </a:spcAft>
            </a:pPr>
            <a:r>
              <a:rPr lang="en-US" sz="2800" dirty="0">
                <a:solidFill>
                  <a:schemeClr val="tx1"/>
                </a:solidFill>
              </a:rPr>
              <a:t>Uses the observed sample data</a:t>
            </a:r>
          </a:p>
          <a:p>
            <a:pPr lvl="1">
              <a:spcAft>
                <a:spcPts val="0"/>
              </a:spcAft>
            </a:pPr>
            <a:r>
              <a:rPr lang="en-US" sz="2800" dirty="0">
                <a:solidFill>
                  <a:schemeClr val="tx1"/>
                </a:solidFill>
              </a:rPr>
              <a:t>Makes the null hypothesis true</a:t>
            </a:r>
          </a:p>
          <a:p>
            <a:pPr lvl="1"/>
            <a:r>
              <a:rPr lang="en-US" sz="2800" dirty="0">
                <a:solidFill>
                  <a:schemeClr val="tx1"/>
                </a:solidFill>
              </a:rPr>
              <a:t>Reflects the way the data were collected </a:t>
            </a:r>
            <a:endParaRPr lang="en-US" sz="2800" dirty="0" smtClean="0">
              <a:solidFill>
                <a:schemeClr val="tx1"/>
              </a:solidFill>
            </a:endParaRPr>
          </a:p>
          <a:p>
            <a:pPr marL="0" indent="0">
              <a:spcAft>
                <a:spcPts val="1200"/>
              </a:spcAft>
              <a:buNone/>
            </a:pPr>
            <a:endParaRPr lang="en-US" sz="2800" dirty="0">
              <a:sym typeface="Symbol"/>
            </a:endParaRPr>
          </a:p>
          <a:p>
            <a:pPr>
              <a:spcAft>
                <a:spcPts val="1200"/>
              </a:spcAft>
            </a:pPr>
            <a:endParaRPr lang="en-US" sz="2800" dirty="0"/>
          </a:p>
        </p:txBody>
      </p:sp>
      <p:pic>
        <p:nvPicPr>
          <p:cNvPr id="4" name="Picture 2" descr="http://www.isaac-online.org/cgi-bin/symbol.cgi/committeediscuss"/>
          <p:cNvPicPr>
            <a:picLocks noChangeAspect="1" noChangeArrowheads="1"/>
          </p:cNvPicPr>
          <p:nvPr/>
        </p:nvPicPr>
        <p:blipFill>
          <a:blip r:embed="rId4" cstate="print"/>
          <a:srcRect/>
          <a:stretch>
            <a:fillRect/>
          </a:stretch>
        </p:blipFill>
        <p:spPr bwMode="auto">
          <a:xfrm>
            <a:off x="175026" y="228600"/>
            <a:ext cx="891774" cy="486423"/>
          </a:xfrm>
          <a:prstGeom prst="rect">
            <a:avLst/>
          </a:prstGeom>
          <a:noFill/>
        </p:spPr>
      </p:pic>
      <p:pic>
        <p:nvPicPr>
          <p:cNvPr id="5" name="Picture 2" descr="http://www.school-clipart.com/school_clipart_images/pencil_touching_lead_to_paper_0515-1007-2718-0955_SMU.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6800" y="273582"/>
            <a:ext cx="484221" cy="4414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1783607"/>
            <a:ext cx="2228850" cy="1260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0" y="1578619"/>
            <a:ext cx="5105400" cy="1538883"/>
          </a:xfrm>
          <a:prstGeom prst="rect">
            <a:avLst/>
          </a:prstGeom>
          <a:noFill/>
        </p:spPr>
        <p:txBody>
          <a:bodyPr wrap="square" rtlCol="0">
            <a:spAutoFit/>
          </a:bodyPr>
          <a:lstStyle/>
          <a:p>
            <a:pPr lvl="0">
              <a:spcAft>
                <a:spcPts val="1200"/>
              </a:spcAft>
              <a:buClr>
                <a:srgbClr val="0000BF"/>
              </a:buClr>
              <a:buSzPct val="85000"/>
            </a:pPr>
            <a:r>
              <a:rPr lang="en-US" sz="2800" i="1" dirty="0">
                <a:solidFill>
                  <a:schemeClr val="accent6">
                    <a:lumMod val="50000"/>
                  </a:schemeClr>
                </a:solidFill>
                <a:sym typeface="Symbol"/>
              </a:rPr>
              <a:t>Do males exercise more hours per week than females? </a:t>
            </a:r>
            <a:endParaRPr lang="en-US" sz="2800" i="1" dirty="0" smtClean="0">
              <a:solidFill>
                <a:schemeClr val="accent6">
                  <a:lumMod val="50000"/>
                </a:schemeClr>
              </a:solidFill>
              <a:sym typeface="Symbol"/>
            </a:endParaRPr>
          </a:p>
          <a:p>
            <a:pPr lvl="0">
              <a:spcAft>
                <a:spcPts val="1200"/>
              </a:spcAft>
              <a:buClr>
                <a:srgbClr val="0000BF"/>
              </a:buClr>
              <a:buSzPct val="85000"/>
            </a:pPr>
            <a:endParaRPr lang="en-US" sz="2800" i="1" dirty="0">
              <a:solidFill>
                <a:schemeClr val="accent6">
                  <a:lumMod val="50000"/>
                </a:schemeClr>
              </a:solidFill>
              <a:sym typeface="Symbol"/>
            </a:endParaRPr>
          </a:p>
        </p:txBody>
      </p:sp>
      <mc:AlternateContent xmlns:mc="http://schemas.openxmlformats.org/markup-compatibility/2006" xmlns:a14="http://schemas.microsoft.com/office/drawing/2010/main">
        <mc:Choice Requires="a14">
          <p:sp>
            <p:nvSpPr>
              <p:cNvPr id="9" name="Rectangle 8"/>
              <p:cNvSpPr/>
              <p:nvPr/>
            </p:nvSpPr>
            <p:spPr>
              <a:xfrm>
                <a:off x="4343400" y="2057400"/>
                <a:ext cx="2332177" cy="491288"/>
              </a:xfrm>
              <a:prstGeom prst="rect">
                <a:avLst/>
              </a:prstGeom>
            </p:spPr>
            <p:txBody>
              <a:bodyPr wrap="none">
                <a:spAutoFit/>
              </a:bodyPr>
              <a:lstStyle/>
              <a:p>
                <a:pPr lvl="1"/>
                <a14:m>
                  <m:oMathPara xmlns:m="http://schemas.openxmlformats.org/officeDocument/2006/math">
                    <m:oMathParaPr>
                      <m:jc m:val="centerGroup"/>
                    </m:oMathParaPr>
                    <m:oMath xmlns:m="http://schemas.openxmlformats.org/officeDocument/2006/math">
                      <m:sSub>
                        <m:sSubPr>
                          <m:ctrlPr>
                            <a:rPr lang="en-US" sz="2400" i="1">
                              <a:latin typeface="Cambria Math"/>
                            </a:rPr>
                          </m:ctrlPr>
                        </m:sSubPr>
                        <m:e>
                          <m:acc>
                            <m:accPr>
                              <m:chr m:val="̅"/>
                              <m:ctrlPr>
                                <a:rPr lang="en-US" sz="2400" i="1">
                                  <a:latin typeface="Cambria Math"/>
                                </a:rPr>
                              </m:ctrlPr>
                            </m:accPr>
                            <m:e>
                              <m:r>
                                <a:rPr lang="en-US" sz="2400" i="1">
                                  <a:latin typeface="Cambria Math"/>
                                </a:rPr>
                                <m:t>𝑥</m:t>
                              </m:r>
                            </m:e>
                          </m:acc>
                        </m:e>
                        <m:sub>
                          <m:r>
                            <a:rPr lang="en-US" sz="2400" i="1">
                              <a:latin typeface="Cambria Math"/>
                            </a:rPr>
                            <m:t>𝑚</m:t>
                          </m:r>
                        </m:sub>
                      </m:sSub>
                      <m:r>
                        <a:rPr lang="en-US" sz="2400" i="1">
                          <a:latin typeface="Cambria Math"/>
                        </a:rPr>
                        <m:t>−</m:t>
                      </m:r>
                      <m:sSub>
                        <m:sSubPr>
                          <m:ctrlPr>
                            <a:rPr lang="en-US" sz="2400" i="1">
                              <a:latin typeface="Cambria Math"/>
                            </a:rPr>
                          </m:ctrlPr>
                        </m:sSubPr>
                        <m:e>
                          <m:acc>
                            <m:accPr>
                              <m:chr m:val="̅"/>
                              <m:ctrlPr>
                                <a:rPr lang="en-US" sz="2400" i="1">
                                  <a:latin typeface="Cambria Math"/>
                                </a:rPr>
                              </m:ctrlPr>
                            </m:accPr>
                            <m:e>
                              <m:r>
                                <a:rPr lang="en-US" sz="2400" i="1">
                                  <a:latin typeface="Cambria Math"/>
                                </a:rPr>
                                <m:t>𝑥</m:t>
                              </m:r>
                            </m:e>
                          </m:acc>
                        </m:e>
                        <m:sub>
                          <m:r>
                            <a:rPr lang="en-US" sz="2400" i="1">
                              <a:latin typeface="Cambria Math"/>
                            </a:rPr>
                            <m:t>𝑓</m:t>
                          </m:r>
                        </m:sub>
                      </m:sSub>
                      <m:r>
                        <a:rPr lang="en-US" sz="2400" i="1">
                          <a:latin typeface="Cambria Math"/>
                        </a:rPr>
                        <m:t>=</m:t>
                      </m:r>
                      <m:r>
                        <a:rPr lang="en-US" sz="2400">
                          <a:latin typeface="Cambria Math"/>
                        </a:rPr>
                        <m:t>3</m:t>
                      </m:r>
                    </m:oMath>
                  </m:oMathPara>
                </a14:m>
                <a:endParaRPr lang="en-US" sz="2400" dirty="0"/>
              </a:p>
            </p:txBody>
          </p:sp>
        </mc:Choice>
        <mc:Fallback xmlns="">
          <p:sp>
            <p:nvSpPr>
              <p:cNvPr id="9" name="Rectangle 8"/>
              <p:cNvSpPr>
                <a:spLocks noRot="1" noChangeAspect="1" noMove="1" noResize="1" noEditPoints="1" noAdjustHandles="1" noChangeArrowheads="1" noChangeShapeType="1" noTextEdit="1"/>
              </p:cNvSpPr>
              <p:nvPr/>
            </p:nvSpPr>
            <p:spPr>
              <a:xfrm>
                <a:off x="4343400" y="2057400"/>
                <a:ext cx="2332177" cy="491288"/>
              </a:xfrm>
              <a:prstGeom prst="rect">
                <a:avLst/>
              </a:prstGeom>
              <a:blipFill rotWithShape="1">
                <a:blip r:embed="rId8"/>
                <a:stretch>
                  <a:fillRect b="-1125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3904648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533400" y="152400"/>
            <a:ext cx="8153400" cy="914400"/>
          </a:xfrm>
          <a:prstGeom prst="rect">
            <a:avLst/>
          </a:prstGeom>
        </p:spPr>
        <p:txBody>
          <a:bodyPr/>
          <a:lstStyle/>
          <a:p>
            <a:pPr lvl="0" algn="ctr">
              <a:spcBef>
                <a:spcPct val="0"/>
              </a:spcBef>
              <a:defRPr/>
            </a:pPr>
            <a:r>
              <a:rPr lang="en-US" sz="4400" b="1" dirty="0" smtClean="0">
                <a:solidFill>
                  <a:schemeClr val="tx2"/>
                </a:solidFill>
              </a:rPr>
              <a:t>Exercise and Gender</a:t>
            </a:r>
            <a:endParaRPr lang="en-US" sz="4000" b="1" dirty="0">
              <a:solidFill>
                <a:schemeClr val="tx2"/>
              </a:solidFill>
            </a:endParaRPr>
          </a:p>
        </p:txBody>
      </p:sp>
      <p:sp>
        <p:nvSpPr>
          <p:cNvPr id="4" name="TextBox 3"/>
          <p:cNvSpPr txBox="1"/>
          <p:nvPr/>
        </p:nvSpPr>
        <p:spPr>
          <a:xfrm>
            <a:off x="0" y="922319"/>
            <a:ext cx="9144000" cy="5447645"/>
          </a:xfrm>
          <a:prstGeom prst="rect">
            <a:avLst/>
          </a:prstGeom>
          <a:noFill/>
        </p:spPr>
        <p:txBody>
          <a:bodyPr wrap="square" rtlCol="0">
            <a:spAutoFit/>
          </a:bodyPr>
          <a:lstStyle/>
          <a:p>
            <a:pPr marL="457200" indent="-457200">
              <a:spcAft>
                <a:spcPts val="1800"/>
              </a:spcAft>
              <a:buClr>
                <a:schemeClr val="accent1"/>
              </a:buClr>
              <a:buFont typeface="Arial" pitchFamily="34" charset="0"/>
              <a:buChar char="•"/>
            </a:pPr>
            <a:r>
              <a:rPr lang="en-US" sz="3200" dirty="0">
                <a:solidFill>
                  <a:schemeClr val="accent6">
                    <a:lumMod val="50000"/>
                  </a:schemeClr>
                </a:solidFill>
                <a:cs typeface="Times New Roman" pitchFamily="18" charset="0"/>
              </a:rPr>
              <a:t>H</a:t>
            </a:r>
            <a:r>
              <a:rPr lang="en-US" sz="3200" baseline="-25000" dirty="0">
                <a:solidFill>
                  <a:schemeClr val="accent6">
                    <a:lumMod val="50000"/>
                  </a:schemeClr>
                </a:solidFill>
                <a:cs typeface="Times New Roman" pitchFamily="18" charset="0"/>
              </a:rPr>
              <a:t>0</a:t>
            </a:r>
            <a:r>
              <a:rPr lang="en-US" sz="3200" dirty="0">
                <a:solidFill>
                  <a:schemeClr val="accent6">
                    <a:lumMod val="50000"/>
                  </a:schemeClr>
                </a:solidFill>
                <a:cs typeface="Times New Roman" pitchFamily="18" charset="0"/>
              </a:rPr>
              <a:t>: </a:t>
            </a:r>
            <a:r>
              <a:rPr lang="en-US" sz="3200" dirty="0">
                <a:solidFill>
                  <a:schemeClr val="accent6">
                    <a:lumMod val="50000"/>
                  </a:schemeClr>
                </a:solidFill>
                <a:cs typeface="Times New Roman" pitchFamily="18" charset="0"/>
                <a:sym typeface="Symbol"/>
              </a:rPr>
              <a:t></a:t>
            </a:r>
            <a:r>
              <a:rPr lang="en-US" sz="3200" baseline="-25000" dirty="0">
                <a:solidFill>
                  <a:schemeClr val="accent6">
                    <a:lumMod val="50000"/>
                  </a:schemeClr>
                </a:solidFill>
                <a:cs typeface="Times New Roman" pitchFamily="18" charset="0"/>
                <a:sym typeface="Symbol"/>
              </a:rPr>
              <a:t>m</a:t>
            </a:r>
            <a:r>
              <a:rPr lang="en-US" sz="3200" dirty="0">
                <a:solidFill>
                  <a:schemeClr val="accent6">
                    <a:lumMod val="50000"/>
                  </a:schemeClr>
                </a:solidFill>
                <a:cs typeface="Times New Roman" pitchFamily="18" charset="0"/>
                <a:sym typeface="Symbol"/>
              </a:rPr>
              <a:t> = </a:t>
            </a:r>
            <a:r>
              <a:rPr lang="en-US" sz="3200" baseline="-25000" dirty="0">
                <a:solidFill>
                  <a:schemeClr val="accent6">
                    <a:lumMod val="50000"/>
                  </a:schemeClr>
                </a:solidFill>
                <a:cs typeface="Times New Roman" pitchFamily="18" charset="0"/>
                <a:sym typeface="Symbol"/>
              </a:rPr>
              <a:t>f</a:t>
            </a:r>
            <a:r>
              <a:rPr lang="en-US" sz="3200" dirty="0">
                <a:solidFill>
                  <a:schemeClr val="accent6">
                    <a:lumMod val="50000"/>
                  </a:schemeClr>
                </a:solidFill>
                <a:cs typeface="Times New Roman" pitchFamily="18" charset="0"/>
                <a:sym typeface="Symbol"/>
              </a:rPr>
              <a:t> , </a:t>
            </a:r>
            <a:r>
              <a:rPr lang="en-US" sz="3200" dirty="0" smtClean="0">
                <a:solidFill>
                  <a:schemeClr val="accent6">
                    <a:lumMod val="50000"/>
                  </a:schemeClr>
                </a:solidFill>
                <a:cs typeface="Times New Roman" pitchFamily="18" charset="0"/>
              </a:rPr>
              <a:t>H</a:t>
            </a:r>
            <a:r>
              <a:rPr lang="en-US" sz="3200" baseline="-25000" dirty="0" smtClean="0">
                <a:solidFill>
                  <a:schemeClr val="accent6">
                    <a:lumMod val="50000"/>
                  </a:schemeClr>
                </a:solidFill>
                <a:cs typeface="Times New Roman" pitchFamily="18" charset="0"/>
              </a:rPr>
              <a:t>a</a:t>
            </a:r>
            <a:r>
              <a:rPr lang="en-US" sz="3200" dirty="0" smtClean="0">
                <a:solidFill>
                  <a:schemeClr val="accent6">
                    <a:lumMod val="50000"/>
                  </a:schemeClr>
                </a:solidFill>
                <a:cs typeface="Times New Roman" pitchFamily="18" charset="0"/>
              </a:rPr>
              <a:t>: </a:t>
            </a:r>
            <a:r>
              <a:rPr lang="en-US" sz="3200" dirty="0">
                <a:solidFill>
                  <a:schemeClr val="accent6">
                    <a:lumMod val="50000"/>
                  </a:schemeClr>
                </a:solidFill>
                <a:cs typeface="Times New Roman" pitchFamily="18" charset="0"/>
                <a:sym typeface="Symbol"/>
              </a:rPr>
              <a:t></a:t>
            </a:r>
            <a:r>
              <a:rPr lang="en-US" sz="3200" baseline="-25000" dirty="0">
                <a:solidFill>
                  <a:schemeClr val="accent6">
                    <a:lumMod val="50000"/>
                  </a:schemeClr>
                </a:solidFill>
                <a:cs typeface="Times New Roman" pitchFamily="18" charset="0"/>
                <a:sym typeface="Symbol"/>
              </a:rPr>
              <a:t>m</a:t>
            </a:r>
            <a:r>
              <a:rPr lang="en-US" sz="3200" dirty="0">
                <a:solidFill>
                  <a:schemeClr val="accent6">
                    <a:lumMod val="50000"/>
                  </a:schemeClr>
                </a:solidFill>
                <a:cs typeface="Times New Roman" pitchFamily="18" charset="0"/>
                <a:sym typeface="Symbol"/>
              </a:rPr>
              <a:t> </a:t>
            </a:r>
            <a:r>
              <a:rPr lang="en-US" sz="3200" dirty="0" smtClean="0">
                <a:solidFill>
                  <a:schemeClr val="accent6">
                    <a:lumMod val="50000"/>
                  </a:schemeClr>
                </a:solidFill>
                <a:cs typeface="Times New Roman" pitchFamily="18" charset="0"/>
                <a:sym typeface="Symbol"/>
              </a:rPr>
              <a:t>&gt; </a:t>
            </a:r>
            <a:r>
              <a:rPr lang="en-US" sz="3200" dirty="0">
                <a:solidFill>
                  <a:schemeClr val="accent6">
                    <a:lumMod val="50000"/>
                  </a:schemeClr>
                </a:solidFill>
                <a:cs typeface="Times New Roman" pitchFamily="18" charset="0"/>
                <a:sym typeface="Symbol"/>
              </a:rPr>
              <a:t></a:t>
            </a:r>
            <a:r>
              <a:rPr lang="en-US" sz="3200" baseline="-25000" dirty="0">
                <a:solidFill>
                  <a:schemeClr val="accent6">
                    <a:lumMod val="50000"/>
                  </a:schemeClr>
                </a:solidFill>
                <a:cs typeface="Times New Roman" pitchFamily="18" charset="0"/>
                <a:sym typeface="Symbol"/>
              </a:rPr>
              <a:t>f</a:t>
            </a:r>
            <a:r>
              <a:rPr lang="en-US" sz="3200" dirty="0">
                <a:solidFill>
                  <a:schemeClr val="accent6">
                    <a:lumMod val="50000"/>
                  </a:schemeClr>
                </a:solidFill>
                <a:cs typeface="Times New Roman" pitchFamily="18" charset="0"/>
                <a:sym typeface="Symbol"/>
              </a:rPr>
              <a:t> </a:t>
            </a:r>
            <a:endParaRPr lang="en-US" sz="3200" dirty="0" smtClean="0">
              <a:solidFill>
                <a:schemeClr val="accent6">
                  <a:lumMod val="50000"/>
                </a:schemeClr>
              </a:solidFill>
              <a:cs typeface="Times New Roman" pitchFamily="18" charset="0"/>
              <a:sym typeface="Symbol"/>
            </a:endParaRPr>
          </a:p>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To make H</a:t>
            </a:r>
            <a:r>
              <a:rPr lang="en-US" sz="3200" baseline="-25000" dirty="0" smtClean="0">
                <a:solidFill>
                  <a:schemeClr val="accent6">
                    <a:lumMod val="50000"/>
                  </a:schemeClr>
                </a:solidFill>
                <a:cs typeface="Times New Roman" pitchFamily="18" charset="0"/>
                <a:sym typeface="Symbol"/>
              </a:rPr>
              <a:t>0</a:t>
            </a:r>
            <a:r>
              <a:rPr lang="en-US" sz="3200" dirty="0" smtClean="0">
                <a:solidFill>
                  <a:schemeClr val="accent6">
                    <a:lumMod val="50000"/>
                  </a:schemeClr>
                </a:solidFill>
                <a:cs typeface="Times New Roman" pitchFamily="18" charset="0"/>
                <a:sym typeface="Symbol"/>
              </a:rPr>
              <a:t> true, we must make the means equal.  One way to do this is to add 3 to every female value.</a:t>
            </a:r>
          </a:p>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Although the default randomization method in StatKey is “reallocate groups”, we can accomplish this by selecting the “Shift Groups” option</a:t>
            </a:r>
            <a:r>
              <a:rPr lang="en-US" sz="3200" dirty="0">
                <a:solidFill>
                  <a:schemeClr val="accent6">
                    <a:lumMod val="50000"/>
                  </a:schemeClr>
                </a:solidFill>
                <a:cs typeface="Times New Roman" pitchFamily="18" charset="0"/>
                <a:sym typeface="Symbol"/>
              </a:rPr>
              <a:t>.</a:t>
            </a:r>
            <a:r>
              <a:rPr lang="en-US" sz="3200" dirty="0" smtClean="0">
                <a:solidFill>
                  <a:schemeClr val="accent6">
                    <a:lumMod val="50000"/>
                  </a:schemeClr>
                </a:solidFill>
                <a:cs typeface="Times New Roman" pitchFamily="18" charset="0"/>
                <a:sym typeface="Symbol"/>
              </a:rPr>
              <a:t> </a:t>
            </a:r>
          </a:p>
          <a:p>
            <a:pPr marL="457200" indent="-457200">
              <a:spcAft>
                <a:spcPts val="1800"/>
              </a:spcAft>
              <a:buClr>
                <a:schemeClr val="accent1"/>
              </a:buClr>
              <a:buFont typeface="Arial" pitchFamily="34" charset="0"/>
              <a:buChar char="•"/>
            </a:pPr>
            <a:r>
              <a:rPr lang="en-US" sz="3200" dirty="0">
                <a:solidFill>
                  <a:schemeClr val="accent6">
                    <a:lumMod val="50000"/>
                  </a:schemeClr>
                </a:solidFill>
                <a:cs typeface="Times New Roman" pitchFamily="18" charset="0"/>
                <a:sym typeface="Symbol"/>
              </a:rPr>
              <a:t>Bootstrap from this modified sample</a:t>
            </a:r>
          </a:p>
          <a:p>
            <a:pPr>
              <a:spcAft>
                <a:spcPts val="1800"/>
              </a:spcAft>
              <a:buClr>
                <a:schemeClr val="accent1"/>
              </a:buClr>
            </a:pPr>
            <a:r>
              <a:rPr lang="en-US" sz="3200" dirty="0" smtClean="0">
                <a:solidFill>
                  <a:schemeClr val="accent6">
                    <a:lumMod val="50000"/>
                  </a:schemeClr>
                </a:solidFill>
                <a:cs typeface="Times New Roman" pitchFamily="18" charset="0"/>
                <a:hlinkClick r:id="rId3"/>
              </a:rPr>
              <a:t>StatKey</a:t>
            </a:r>
            <a:endParaRPr lang="en-US" sz="3200" dirty="0">
              <a:solidFill>
                <a:schemeClr val="accent6">
                  <a:lumMod val="50000"/>
                </a:schemeClr>
              </a:solidFill>
              <a:cs typeface="Times New Roman" pitchFamily="18" charset="0"/>
            </a:endParaRPr>
          </a:p>
        </p:txBody>
      </p:sp>
    </p:spTree>
    <p:custDataLst>
      <p:tags r:id="rId1"/>
    </p:custDataLst>
    <p:extLst>
      <p:ext uri="{BB962C8B-B14F-4D97-AF65-F5344CB8AC3E}">
        <p14:creationId xmlns:p14="http://schemas.microsoft.com/office/powerpoint/2010/main" val="209057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533400" y="152400"/>
            <a:ext cx="8153400" cy="914400"/>
          </a:xfrm>
          <a:prstGeom prst="rect">
            <a:avLst/>
          </a:prstGeom>
        </p:spPr>
        <p:txBody>
          <a:bodyPr/>
          <a:lstStyle/>
          <a:p>
            <a:pPr lvl="0" algn="ctr">
              <a:spcBef>
                <a:spcPct val="0"/>
              </a:spcBef>
              <a:defRPr/>
            </a:pPr>
            <a:r>
              <a:rPr lang="en-US" sz="4400" b="1" dirty="0" smtClean="0">
                <a:solidFill>
                  <a:schemeClr val="tx2"/>
                </a:solidFill>
              </a:rPr>
              <a:t>Exercise and Gender</a:t>
            </a:r>
            <a:endParaRPr lang="en-US" sz="4000" b="1" dirty="0">
              <a:solidFill>
                <a:schemeClr val="tx2"/>
              </a:solidFill>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9" y="982536"/>
            <a:ext cx="7977051" cy="5871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Oval 1"/>
          <p:cNvSpPr/>
          <p:nvPr/>
        </p:nvSpPr>
        <p:spPr>
          <a:xfrm>
            <a:off x="2643051" y="945525"/>
            <a:ext cx="1676400" cy="533400"/>
          </a:xfrm>
          <a:prstGeom prst="ellipse">
            <a:avLst/>
          </a:prstGeom>
          <a:noFill/>
          <a:ln w="254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867400" y="3048000"/>
            <a:ext cx="2286000" cy="954107"/>
          </a:xfrm>
          <a:prstGeom prst="rect">
            <a:avLst/>
          </a:prstGeom>
          <a:noFill/>
        </p:spPr>
        <p:txBody>
          <a:bodyPr wrap="square" rtlCol="0">
            <a:spAutoFit/>
          </a:bodyPr>
          <a:lstStyle/>
          <a:p>
            <a:r>
              <a:rPr lang="en-US" sz="2800" b="1" dirty="0" smtClean="0">
                <a:solidFill>
                  <a:schemeClr val="accent2"/>
                </a:solidFill>
              </a:rPr>
              <a:t>p-value = 0.095</a:t>
            </a:r>
            <a:endParaRPr lang="en-US" sz="2800" b="1" dirty="0">
              <a:solidFill>
                <a:schemeClr val="accent2"/>
              </a:solidFill>
            </a:endParaRPr>
          </a:p>
        </p:txBody>
      </p:sp>
    </p:spTree>
    <p:custDataLst>
      <p:tags r:id="rId1"/>
    </p:custDataLst>
    <p:extLst>
      <p:ext uri="{BB962C8B-B14F-4D97-AF65-F5344CB8AC3E}">
        <p14:creationId xmlns:p14="http://schemas.microsoft.com/office/powerpoint/2010/main" val="250061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2875" y="381000"/>
            <a:ext cx="9141125" cy="1295400"/>
          </a:xfrm>
        </p:spPr>
        <p:txBody>
          <a:bodyPr>
            <a:normAutofit fontScale="90000"/>
          </a:bodyPr>
          <a:lstStyle/>
          <a:p>
            <a:r>
              <a:rPr lang="en-US" dirty="0"/>
              <a:t>The p-value is 0.095.  Using </a:t>
            </a:r>
            <a:r>
              <a:rPr lang="el-GR" dirty="0"/>
              <a:t>α</a:t>
            </a:r>
            <a:r>
              <a:rPr lang="en-US" dirty="0"/>
              <a:t> = 0.05, we conclude….</a:t>
            </a:r>
          </a:p>
        </p:txBody>
      </p:sp>
      <p:sp>
        <p:nvSpPr>
          <p:cNvPr id="4" name="TPAnswers"/>
          <p:cNvSpPr>
            <a:spLocks noGrp="1"/>
          </p:cNvSpPr>
          <p:nvPr>
            <p:ph idx="4294967295"/>
            <p:custDataLst>
              <p:tags r:id="rId2"/>
            </p:custDataLst>
          </p:nvPr>
        </p:nvSpPr>
        <p:spPr>
          <a:xfrm>
            <a:off x="0" y="1676400"/>
            <a:ext cx="5105400" cy="3543300"/>
          </a:xfrm>
        </p:spPr>
        <p:txBody>
          <a:bodyPr>
            <a:noAutofit/>
          </a:bodyPr>
          <a:lstStyle/>
          <a:p>
            <a:pPr marL="1428750" indent="-514350">
              <a:spcBef>
                <a:spcPct val="20000"/>
              </a:spcBef>
              <a:buFont typeface="+mj-lt"/>
              <a:buAutoNum type="arabicPeriod"/>
            </a:pPr>
            <a:r>
              <a:rPr lang="en-US" dirty="0" smtClean="0"/>
              <a:t> Males exercise more than females, on average</a:t>
            </a:r>
          </a:p>
          <a:p>
            <a:pPr marL="1428750" indent="-514350">
              <a:spcBef>
                <a:spcPct val="20000"/>
              </a:spcBef>
              <a:buFont typeface="+mj-lt"/>
              <a:buAutoNum type="arabicPeriod"/>
            </a:pPr>
            <a:r>
              <a:rPr lang="en-US" dirty="0"/>
              <a:t> </a:t>
            </a:r>
            <a:r>
              <a:rPr lang="en-US" dirty="0" smtClean="0"/>
              <a:t>Males do not exercise more than females, on average</a:t>
            </a:r>
          </a:p>
          <a:p>
            <a:pPr marL="1428750" indent="-514350">
              <a:spcBef>
                <a:spcPct val="20000"/>
              </a:spcBef>
              <a:buFont typeface="+mj-lt"/>
              <a:buAutoNum type="arabicPeriod"/>
            </a:pPr>
            <a:r>
              <a:rPr lang="en-US" dirty="0" smtClean="0"/>
              <a:t> Nothing</a:t>
            </a:r>
            <a:endParaRPr lang="en-US" dirty="0"/>
          </a:p>
        </p:txBody>
      </p:sp>
    </p:spTree>
    <p:custDataLst>
      <p:tags r:id="rId1"/>
    </p:custDataLst>
    <p:extLst>
      <p:ext uri="{BB962C8B-B14F-4D97-AF65-F5344CB8AC3E}">
        <p14:creationId xmlns:p14="http://schemas.microsoft.com/office/powerpoint/2010/main" val="25425471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Randomization Distribution</a:t>
            </a:r>
            <a:endParaRPr lang="en-US" dirty="0">
              <a:solidFill>
                <a:schemeClr val="tx2"/>
              </a:solidFill>
            </a:endParaRPr>
          </a:p>
        </p:txBody>
      </p:sp>
      <p:sp>
        <p:nvSpPr>
          <p:cNvPr id="3" name="Content Placeholder 2"/>
          <p:cNvSpPr>
            <a:spLocks noGrp="1"/>
          </p:cNvSpPr>
          <p:nvPr>
            <p:ph sz="quarter" idx="1"/>
          </p:nvPr>
        </p:nvSpPr>
        <p:spPr>
          <a:xfrm>
            <a:off x="0" y="1524000"/>
            <a:ext cx="9144000" cy="5181600"/>
          </a:xfrm>
        </p:spPr>
        <p:txBody>
          <a:bodyPr>
            <a:noAutofit/>
          </a:bodyPr>
          <a:lstStyle/>
          <a:p>
            <a:pPr>
              <a:spcAft>
                <a:spcPts val="0"/>
              </a:spcAft>
            </a:pPr>
            <a:r>
              <a:rPr lang="en-US" dirty="0" smtClean="0"/>
              <a:t>Paul the Octopus (single proportion):</a:t>
            </a:r>
          </a:p>
          <a:p>
            <a:pPr lvl="1"/>
            <a:r>
              <a:rPr lang="en-US" dirty="0" smtClean="0"/>
              <a:t>Flip a coin 8 times </a:t>
            </a:r>
          </a:p>
          <a:p>
            <a:pPr>
              <a:spcAft>
                <a:spcPts val="0"/>
              </a:spcAft>
            </a:pPr>
            <a:r>
              <a:rPr lang="en-US" dirty="0" smtClean="0"/>
              <a:t>Cocaine Addiction (randomized experiment):</a:t>
            </a:r>
          </a:p>
          <a:p>
            <a:pPr lvl="1"/>
            <a:r>
              <a:rPr lang="en-US" dirty="0" smtClean="0"/>
              <a:t>Rerandomize cases to treatment groups, keeping response values fixed</a:t>
            </a:r>
          </a:p>
          <a:p>
            <a:pPr>
              <a:spcAft>
                <a:spcPts val="0"/>
              </a:spcAft>
            </a:pPr>
            <a:r>
              <a:rPr lang="en-US" dirty="0" smtClean="0"/>
              <a:t>Body Temperature (single mean):</a:t>
            </a:r>
          </a:p>
          <a:p>
            <a:pPr lvl="1"/>
            <a:r>
              <a:rPr lang="en-US" dirty="0" smtClean="0"/>
              <a:t>Shift to make H</a:t>
            </a:r>
            <a:r>
              <a:rPr lang="en-US" baseline="-25000" dirty="0" smtClean="0"/>
              <a:t>0</a:t>
            </a:r>
            <a:r>
              <a:rPr lang="en-US" dirty="0" smtClean="0"/>
              <a:t> true, then bootstrap </a:t>
            </a:r>
          </a:p>
          <a:p>
            <a:pPr>
              <a:spcAft>
                <a:spcPts val="0"/>
              </a:spcAft>
            </a:pPr>
            <a:r>
              <a:rPr lang="en-US" dirty="0"/>
              <a:t>Exercise and Gender (observational study):</a:t>
            </a:r>
          </a:p>
          <a:p>
            <a:pPr lvl="1"/>
            <a:r>
              <a:rPr lang="en-US" dirty="0"/>
              <a:t>Shift to make H</a:t>
            </a:r>
            <a:r>
              <a:rPr lang="en-US" baseline="-25000" dirty="0"/>
              <a:t>0</a:t>
            </a:r>
            <a:r>
              <a:rPr lang="en-US" dirty="0"/>
              <a:t> true, then bootstrap</a:t>
            </a:r>
          </a:p>
          <a:p>
            <a:pPr marL="365760" lvl="1" indent="0">
              <a:buNone/>
            </a:pPr>
            <a:endParaRPr lang="en-US" dirty="0" smtClean="0"/>
          </a:p>
          <a:p>
            <a:pPr lvl="1"/>
            <a:endParaRPr lang="en-US" dirty="0"/>
          </a:p>
        </p:txBody>
      </p:sp>
    </p:spTree>
    <p:custDataLst>
      <p:tags r:id="rId1"/>
    </p:custDataLst>
    <p:extLst>
      <p:ext uri="{BB962C8B-B14F-4D97-AF65-F5344CB8AC3E}">
        <p14:creationId xmlns:p14="http://schemas.microsoft.com/office/powerpoint/2010/main" val="408509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Randomization Distributions: </a:t>
            </a:r>
            <a:br>
              <a:rPr lang="en-US" dirty="0" smtClean="0"/>
            </a:br>
            <a:r>
              <a:rPr lang="en-US" dirty="0" smtClean="0"/>
              <a:t>The Common Thread…</a:t>
            </a:r>
            <a:endParaRPr lang="en-US" dirty="0"/>
          </a:p>
        </p:txBody>
      </p:sp>
      <p:sp>
        <p:nvSpPr>
          <p:cNvPr id="3" name="Content Placeholder 2"/>
          <p:cNvSpPr>
            <a:spLocks noGrp="1"/>
          </p:cNvSpPr>
          <p:nvPr>
            <p:ph sz="quarter" idx="1"/>
          </p:nvPr>
        </p:nvSpPr>
        <p:spPr>
          <a:xfrm>
            <a:off x="0" y="1524000"/>
            <a:ext cx="9144000" cy="5334000"/>
          </a:xfrm>
        </p:spPr>
        <p:txBody>
          <a:bodyPr>
            <a:normAutofit lnSpcReduction="10000"/>
          </a:bodyPr>
          <a:lstStyle/>
          <a:p>
            <a:pPr marL="0" indent="0">
              <a:buNone/>
            </a:pPr>
            <a:r>
              <a:rPr lang="en-US" dirty="0" smtClean="0"/>
              <a:t>	</a:t>
            </a:r>
          </a:p>
          <a:p>
            <a:pPr marL="0" indent="0" algn="ctr">
              <a:buNone/>
            </a:pPr>
            <a:r>
              <a:rPr lang="en-US" b="1" dirty="0" smtClean="0"/>
              <a:t>Randomization samples should be generated in a such a way that they:</a:t>
            </a:r>
          </a:p>
          <a:p>
            <a:pPr marL="880110" lvl="1" indent="-514350">
              <a:spcAft>
                <a:spcPts val="0"/>
              </a:spcAft>
              <a:buFont typeface="+mj-lt"/>
              <a:buAutoNum type="arabicParenR"/>
            </a:pPr>
            <a:r>
              <a:rPr lang="en-US" dirty="0"/>
              <a:t>A</a:t>
            </a:r>
            <a:r>
              <a:rPr lang="en-US" dirty="0" smtClean="0"/>
              <a:t>re c</a:t>
            </a:r>
            <a:r>
              <a:rPr lang="en-US" sz="3200" dirty="0" smtClean="0"/>
              <a:t>onsistent with the null hypothesis</a:t>
            </a:r>
          </a:p>
          <a:p>
            <a:pPr marL="880110" lvl="1" indent="-514350">
              <a:spcAft>
                <a:spcPts val="0"/>
              </a:spcAft>
              <a:buFont typeface="+mj-lt"/>
              <a:buAutoNum type="arabicParenR"/>
            </a:pPr>
            <a:r>
              <a:rPr lang="en-US" sz="3200" dirty="0" smtClean="0"/>
              <a:t>Use the observed data</a:t>
            </a:r>
          </a:p>
          <a:p>
            <a:pPr marL="880110" lvl="1" indent="-514350">
              <a:buFont typeface="+mj-lt"/>
              <a:buAutoNum type="arabicParenR"/>
            </a:pPr>
            <a:r>
              <a:rPr lang="en-US" sz="3200" dirty="0" smtClean="0"/>
              <a:t>Reflect the way the data were collected</a:t>
            </a:r>
          </a:p>
          <a:p>
            <a:pPr lvl="1"/>
            <a:endParaRPr lang="en-US" dirty="0"/>
          </a:p>
          <a:p>
            <a:pPr lvl="1"/>
            <a:endParaRPr lang="en-US" sz="3200" dirty="0" smtClean="0"/>
          </a:p>
          <a:p>
            <a:r>
              <a:rPr lang="en-US" dirty="0" smtClean="0"/>
              <a:t>The specific method varies with the situation, but the general idea is always the same</a:t>
            </a:r>
          </a:p>
          <a:p>
            <a:endParaRPr lang="en-US" dirty="0"/>
          </a:p>
        </p:txBody>
      </p:sp>
      <p:sp>
        <p:nvSpPr>
          <p:cNvPr id="4" name="Rounded Rectangle 3"/>
          <p:cNvSpPr/>
          <p:nvPr/>
        </p:nvSpPr>
        <p:spPr>
          <a:xfrm>
            <a:off x="192741" y="1828800"/>
            <a:ext cx="8763000" cy="3200400"/>
          </a:xfrm>
          <a:prstGeom prst="roundRect">
            <a:avLst/>
          </a:prstGeom>
          <a:solidFill>
            <a:srgbClr val="FFC000">
              <a:alpha val="29000"/>
            </a:srgbClr>
          </a:solidFill>
          <a:ln w="31750" cmpd="thickThi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4242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0"/>
            <a:ext cx="9144000" cy="2062103"/>
          </a:xfrm>
          <a:prstGeom prst="rect">
            <a:avLst/>
          </a:prstGeom>
          <a:noFill/>
        </p:spPr>
        <p:txBody>
          <a:bodyPr wrap="square" rtlCol="0">
            <a:spAutoFit/>
          </a:bodyPr>
          <a:lstStyle/>
          <a:p>
            <a:pPr>
              <a:spcAft>
                <a:spcPts val="1800"/>
              </a:spcAft>
              <a:buClr>
                <a:schemeClr val="accent1"/>
              </a:buClr>
              <a:buFont typeface="Arial" pitchFamily="34" charset="0"/>
              <a:buChar char="•"/>
            </a:pPr>
            <a:r>
              <a:rPr lang="en-US" sz="3200" dirty="0" smtClean="0">
                <a:solidFill>
                  <a:prstClr val="black"/>
                </a:solidFill>
                <a:cs typeface="Times New Roman" pitchFamily="18" charset="0"/>
              </a:rPr>
              <a:t>StatKey generates the randomizations for you, so although it is important to understand </a:t>
            </a:r>
            <a:r>
              <a:rPr lang="en-US" sz="3200" b="1" i="1" dirty="0" smtClean="0">
                <a:solidFill>
                  <a:schemeClr val="accent5">
                    <a:lumMod val="50000"/>
                  </a:schemeClr>
                </a:solidFill>
                <a:cs typeface="Times New Roman" pitchFamily="18" charset="0"/>
              </a:rPr>
              <a:t>how</a:t>
            </a:r>
            <a:r>
              <a:rPr lang="en-US" sz="3200" dirty="0" smtClean="0">
                <a:solidFill>
                  <a:schemeClr val="accent5">
                    <a:lumMod val="50000"/>
                  </a:schemeClr>
                </a:solidFill>
                <a:cs typeface="Times New Roman" pitchFamily="18" charset="0"/>
              </a:rPr>
              <a:t> </a:t>
            </a:r>
            <a:r>
              <a:rPr lang="en-US" sz="3200" dirty="0" smtClean="0">
                <a:solidFill>
                  <a:prstClr val="black"/>
                </a:solidFill>
                <a:cs typeface="Times New Roman" pitchFamily="18" charset="0"/>
              </a:rPr>
              <a:t>to generate randomization samples, it is </a:t>
            </a:r>
            <a:r>
              <a:rPr lang="en-US" sz="3200" b="1" i="1" dirty="0" smtClean="0">
                <a:solidFill>
                  <a:schemeClr val="accent5">
                    <a:lumMod val="50000"/>
                  </a:schemeClr>
                </a:solidFill>
                <a:cs typeface="Times New Roman" pitchFamily="18" charset="0"/>
              </a:rPr>
              <a:t>more important</a:t>
            </a:r>
            <a:r>
              <a:rPr lang="en-US" sz="3200" dirty="0" smtClean="0">
                <a:solidFill>
                  <a:prstClr val="black"/>
                </a:solidFill>
                <a:cs typeface="Times New Roman" pitchFamily="18" charset="0"/>
              </a:rPr>
              <a:t> to understand </a:t>
            </a:r>
            <a:r>
              <a:rPr lang="en-US" sz="3200" b="1" i="1" dirty="0" smtClean="0">
                <a:solidFill>
                  <a:schemeClr val="accent5">
                    <a:lumMod val="50000"/>
                  </a:schemeClr>
                </a:solidFill>
                <a:cs typeface="Times New Roman" pitchFamily="18" charset="0"/>
              </a:rPr>
              <a:t>why they are generated that way.</a:t>
            </a:r>
            <a:endParaRPr lang="en-US" sz="2400" b="1" dirty="0">
              <a:solidFill>
                <a:schemeClr val="accent5">
                  <a:lumMod val="50000"/>
                </a:schemeClr>
              </a:solidFill>
              <a:cs typeface="Times New Roman" pitchFamily="18" charset="0"/>
            </a:endParaRPr>
          </a:p>
        </p:txBody>
      </p:sp>
      <p:sp>
        <p:nvSpPr>
          <p:cNvPr id="5" name="Title 1"/>
          <p:cNvSpPr txBox="1">
            <a:spLocks/>
          </p:cNvSpPr>
          <p:nvPr/>
        </p:nvSpPr>
        <p:spPr>
          <a:xfrm>
            <a:off x="0" y="152400"/>
            <a:ext cx="9144000" cy="758952"/>
          </a:xfrm>
          <a:prstGeom prst="rect">
            <a:avLst/>
          </a:prstGeom>
        </p:spPr>
        <p:txBody>
          <a:bodyPr/>
          <a:lstStyle>
            <a:lvl1pPr algn="ctr" rtl="0" eaLnBrk="1" latinLnBrk="0" hangingPunct="1">
              <a:spcBef>
                <a:spcPct val="0"/>
              </a:spcBef>
              <a:buNone/>
              <a:defRPr kumimoji="0" sz="4000" b="1" kern="1200">
                <a:solidFill>
                  <a:schemeClr val="tx2"/>
                </a:solidFill>
                <a:latin typeface="+mj-lt"/>
                <a:ea typeface="+mj-ea"/>
                <a:cs typeface="+mj-cs"/>
              </a:defRPr>
            </a:lvl1pPr>
          </a:lstStyle>
          <a:p>
            <a:r>
              <a:rPr lang="en-US" sz="4400" dirty="0" smtClean="0"/>
              <a:t>Generating Randomization Samples</a:t>
            </a:r>
            <a:endParaRPr lang="en-US" sz="4400" dirty="0"/>
          </a:p>
        </p:txBody>
      </p:sp>
    </p:spTree>
    <p:custDataLst>
      <p:tags r:id="rId1"/>
    </p:custDataLst>
    <p:extLst>
      <p:ext uri="{BB962C8B-B14F-4D97-AF65-F5344CB8AC3E}">
        <p14:creationId xmlns:p14="http://schemas.microsoft.com/office/powerpoint/2010/main" val="1684840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04800"/>
            <a:ext cx="8839200" cy="609600"/>
          </a:xfrm>
        </p:spPr>
        <p:txBody>
          <a:bodyPr>
            <a:noAutofit/>
          </a:bodyPr>
          <a:lstStyle/>
          <a:p>
            <a:pPr algn="ctr"/>
            <a:r>
              <a:rPr lang="en-US" sz="4000" dirty="0" smtClean="0">
                <a:solidFill>
                  <a:schemeClr val="tx2"/>
                </a:solidFill>
              </a:rPr>
              <a:t>Bootstrap and Randomization Distributions</a:t>
            </a:r>
            <a:endParaRPr lang="en-US" sz="4000" dirty="0">
              <a:solidFill>
                <a:schemeClr val="tx2"/>
              </a:solidFill>
            </a:endParaRPr>
          </a:p>
        </p:txBody>
      </p:sp>
      <p:sp>
        <p:nvSpPr>
          <p:cNvPr id="6" name="Content Placeholder 2"/>
          <p:cNvSpPr>
            <a:spLocks noGrp="1"/>
          </p:cNvSpPr>
          <p:nvPr>
            <p:ph sz="quarter" idx="4294967295"/>
          </p:nvPr>
        </p:nvSpPr>
        <p:spPr>
          <a:xfrm>
            <a:off x="457200" y="5257800"/>
            <a:ext cx="8686800" cy="1066800"/>
          </a:xfrm>
        </p:spPr>
        <p:txBody>
          <a:bodyPr>
            <a:normAutofit fontScale="92500"/>
          </a:bodyPr>
          <a:lstStyle/>
          <a:p>
            <a:r>
              <a:rPr lang="en-US" dirty="0" smtClean="0"/>
              <a:t>Big difference: a randomization distribution assumes H</a:t>
            </a:r>
            <a:r>
              <a:rPr lang="en-US" baseline="-25000" dirty="0" smtClean="0"/>
              <a:t>0</a:t>
            </a:r>
            <a:r>
              <a:rPr lang="en-US" dirty="0" smtClean="0"/>
              <a:t> is true, while a bootstrap distribution does not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51305163"/>
              </p:ext>
            </p:extLst>
          </p:nvPr>
        </p:nvGraphicFramePr>
        <p:xfrm>
          <a:off x="304800" y="1219200"/>
          <a:ext cx="8534400" cy="3810000"/>
        </p:xfrm>
        <a:graphic>
          <a:graphicData uri="http://schemas.openxmlformats.org/drawingml/2006/table">
            <a:tbl>
              <a:tblPr firstRow="1" bandRow="1">
                <a:tableStyleId>{5C22544A-7EE6-4342-B048-85BDC9FD1C3A}</a:tableStyleId>
              </a:tblPr>
              <a:tblGrid>
                <a:gridCol w="4267200"/>
                <a:gridCol w="4267200"/>
              </a:tblGrid>
              <a:tr h="609600">
                <a:tc>
                  <a:txBody>
                    <a:bodyPr/>
                    <a:lstStyle/>
                    <a:p>
                      <a:r>
                        <a:rPr lang="en-US" sz="2400" dirty="0" smtClean="0"/>
                        <a:t>Bootstrap Distribution</a:t>
                      </a:r>
                      <a:endParaRPr lang="en-US" sz="2400" dirty="0"/>
                    </a:p>
                  </a:txBody>
                  <a:tcPr/>
                </a:tc>
                <a:tc>
                  <a:txBody>
                    <a:bodyPr/>
                    <a:lstStyle/>
                    <a:p>
                      <a:r>
                        <a:rPr lang="en-US" sz="2400" dirty="0" smtClean="0"/>
                        <a:t>Randomization Distribution</a:t>
                      </a:r>
                      <a:endParaRPr lang="en-US" sz="2400" dirty="0"/>
                    </a:p>
                  </a:txBody>
                  <a:tcPr/>
                </a:tc>
              </a:tr>
              <a:tr h="370840">
                <a:tc>
                  <a:txBody>
                    <a:bodyPr/>
                    <a:lstStyle/>
                    <a:p>
                      <a:r>
                        <a:rPr lang="en-US" sz="2400" dirty="0" smtClean="0"/>
                        <a:t>Our best guess at the distribution of sample statistics</a:t>
                      </a:r>
                      <a:endParaRPr lang="en-US" sz="2400" dirty="0"/>
                    </a:p>
                  </a:txBody>
                  <a:tcPr/>
                </a:tc>
                <a:tc>
                  <a:txBody>
                    <a:bodyPr/>
                    <a:lstStyle/>
                    <a:p>
                      <a:r>
                        <a:rPr lang="en-US" sz="2400" dirty="0" smtClean="0"/>
                        <a:t>Our best guess at the distribution of sample statistics</a:t>
                      </a:r>
                      <a:r>
                        <a:rPr lang="en-US" sz="2400" baseline="0" dirty="0" smtClean="0"/>
                        <a:t>, if H</a:t>
                      </a:r>
                      <a:r>
                        <a:rPr lang="en-US" sz="2400" baseline="-25000" dirty="0" smtClean="0"/>
                        <a:t>0</a:t>
                      </a:r>
                      <a:r>
                        <a:rPr lang="en-US" sz="2400" baseline="0" dirty="0" smtClean="0"/>
                        <a:t> were true</a:t>
                      </a:r>
                      <a:endParaRPr lang="en-US" sz="2400" dirty="0"/>
                    </a:p>
                  </a:txBody>
                  <a:tcPr/>
                </a:tc>
              </a:tr>
              <a:tr h="370840">
                <a:tc>
                  <a:txBody>
                    <a:bodyPr/>
                    <a:lstStyle/>
                    <a:p>
                      <a:r>
                        <a:rPr lang="en-US" sz="2400" dirty="0" smtClean="0"/>
                        <a:t>Centered</a:t>
                      </a:r>
                      <a:r>
                        <a:rPr lang="en-US" sz="2400" baseline="0" dirty="0" smtClean="0"/>
                        <a:t> around the observed sample statistic</a:t>
                      </a:r>
                      <a:endParaRPr lang="en-US" sz="2400" dirty="0"/>
                    </a:p>
                  </a:txBody>
                  <a:tcPr/>
                </a:tc>
                <a:tc>
                  <a:txBody>
                    <a:bodyPr/>
                    <a:lstStyle/>
                    <a:p>
                      <a:r>
                        <a:rPr lang="en-US" sz="2400" dirty="0" smtClean="0"/>
                        <a:t>Centered around the null</a:t>
                      </a:r>
                      <a:r>
                        <a:rPr lang="en-US" sz="2400" baseline="0" dirty="0" smtClean="0"/>
                        <a:t> hypothesized value</a:t>
                      </a:r>
                      <a:endParaRPr lang="en-US" sz="2400" dirty="0"/>
                    </a:p>
                  </a:txBody>
                  <a:tcPr/>
                </a:tc>
              </a:tr>
              <a:tr h="121919">
                <a:tc>
                  <a:txBody>
                    <a:bodyPr/>
                    <a:lstStyle/>
                    <a:p>
                      <a:r>
                        <a:rPr lang="en-US" sz="2400" dirty="0" smtClean="0"/>
                        <a:t>Simulate</a:t>
                      </a:r>
                      <a:r>
                        <a:rPr lang="en-US" sz="2400" baseline="0" dirty="0" smtClean="0"/>
                        <a:t> sampling from the population by resampling from the original sample</a:t>
                      </a:r>
                      <a:endParaRPr lang="en-US" sz="2400" dirty="0"/>
                    </a:p>
                  </a:txBody>
                  <a:tcPr/>
                </a:tc>
                <a:tc>
                  <a:txBody>
                    <a:bodyPr/>
                    <a:lstStyle/>
                    <a:p>
                      <a:r>
                        <a:rPr lang="en-US" sz="2400" dirty="0" smtClean="0"/>
                        <a:t>Simulate samples assuming H</a:t>
                      </a:r>
                      <a:r>
                        <a:rPr lang="en-US" sz="2400" baseline="-25000" dirty="0" smtClean="0"/>
                        <a:t>0</a:t>
                      </a:r>
                      <a:r>
                        <a:rPr lang="en-US" sz="2400" baseline="0" dirty="0" smtClean="0"/>
                        <a:t> were true</a:t>
                      </a:r>
                      <a:endParaRPr lang="en-US" sz="2400" dirty="0"/>
                    </a:p>
                  </a:txBody>
                  <a:tcPr/>
                </a:tc>
              </a:tr>
            </a:tbl>
          </a:graphicData>
        </a:graphic>
      </p:graphicFrame>
    </p:spTree>
    <p:custDataLst>
      <p:tags r:id="rId1"/>
    </p:custDataLst>
    <p:extLst>
      <p:ext uri="{BB962C8B-B14F-4D97-AF65-F5344CB8AC3E}">
        <p14:creationId xmlns:p14="http://schemas.microsoft.com/office/powerpoint/2010/main" val="4268140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99" y="3940021"/>
            <a:ext cx="7440336" cy="1927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TPQuestion"/>
              <p:cNvSpPr>
                <a:spLocks noGrp="1"/>
              </p:cNvSpPr>
              <p:nvPr>
                <p:ph type="title" idx="4294967295"/>
              </p:nvPr>
            </p:nvSpPr>
            <p:spPr>
              <a:xfrm>
                <a:off x="0" y="1438"/>
                <a:ext cx="9135374" cy="4114800"/>
              </a:xfrm>
            </p:spPr>
            <p:txBody>
              <a:bodyPr>
                <a:noAutofit/>
              </a:bodyPr>
              <a:lstStyle/>
              <a:p>
                <a:pPr marL="182880" indent="-182880">
                  <a:spcAft>
                    <a:spcPts val="1200"/>
                  </a:spcAft>
                </a:pPr>
                <a:r>
                  <a:rPr lang="en-US" sz="3000" dirty="0"/>
                  <a:t>Let </a:t>
                </a:r>
                <a:r>
                  <a:rPr lang="en-US" sz="3000" dirty="0">
                    <a:sym typeface="Symbol"/>
                  </a:rPr>
                  <a:t> be the average amount of sleep college students get per night.  Data was collected on a sample of students, and for this sample </a:t>
                </a:r>
                <a14:m>
                  <m:oMath xmlns:m="http://schemas.openxmlformats.org/officeDocument/2006/math">
                    <m:acc>
                      <m:accPr>
                        <m:chr m:val="̅"/>
                        <m:ctrlPr>
                          <a:rPr lang="en-US" sz="3000" i="1">
                            <a:latin typeface="Cambria Math"/>
                          </a:rPr>
                        </m:ctrlPr>
                      </m:accPr>
                      <m:e>
                        <m:r>
                          <a:rPr lang="en-US" sz="3000" i="1">
                            <a:latin typeface="Cambria Math"/>
                          </a:rPr>
                          <m:t>𝑥</m:t>
                        </m:r>
                      </m:e>
                    </m:acc>
                    <m:r>
                      <a:rPr lang="en-US" sz="3000" i="1">
                        <a:latin typeface="Cambria Math"/>
                      </a:rPr>
                      <m:t>=6.7</m:t>
                    </m:r>
                  </m:oMath>
                </a14:m>
                <a:r>
                  <a:rPr lang="en-US" sz="3000" dirty="0"/>
                  <a:t> hours. </a:t>
                </a:r>
                <a:br>
                  <a:rPr lang="en-US" sz="3000" dirty="0"/>
                </a:br>
                <a:r>
                  <a:rPr lang="en-US" sz="3000" dirty="0"/>
                  <a:t>A bootstrap distribution is generated to create a confidence interval for </a:t>
                </a:r>
                <a:r>
                  <a:rPr lang="en-US" sz="3000" dirty="0">
                    <a:sym typeface="Symbol"/>
                  </a:rPr>
                  <a:t></a:t>
                </a:r>
                <a:r>
                  <a:rPr lang="en-US" sz="3000" dirty="0"/>
                  <a:t>, and a randomization distribution is generated to see if the data provide evidence that </a:t>
                </a:r>
                <a:r>
                  <a:rPr lang="en-US" sz="3000" dirty="0">
                    <a:sym typeface="Symbol"/>
                  </a:rPr>
                  <a:t> &gt; 7</a:t>
                </a:r>
                <a:r>
                  <a:rPr lang="en-US" sz="3000" dirty="0"/>
                  <a:t>. </a:t>
                </a:r>
                <a:br>
                  <a:rPr lang="en-US" sz="3000" dirty="0"/>
                </a:br>
                <a:r>
                  <a:rPr lang="en-US" sz="3000" dirty="0"/>
                  <a:t>Which distribution below is the </a:t>
                </a:r>
                <a:r>
                  <a:rPr lang="en-US" sz="3000" i="1" dirty="0"/>
                  <a:t>bootstrap distribution</a:t>
                </a:r>
                <a:r>
                  <a:rPr lang="en-US" sz="3000" dirty="0"/>
                  <a:t>?</a:t>
                </a:r>
              </a:p>
            </p:txBody>
          </p:sp>
        </mc:Choice>
        <mc:Fallback xmlns="">
          <p:sp>
            <p:nvSpPr>
              <p:cNvPr id="2" name="TPQuestion"/>
              <p:cNvSpPr>
                <a:spLocks noGrp="1" noRot="1" noChangeAspect="1" noMove="1" noResize="1" noEditPoints="1" noAdjustHandles="1" noChangeArrowheads="1" noChangeShapeType="1" noTextEdit="1"/>
              </p:cNvSpPr>
              <p:nvPr>
                <p:ph type="title" idx="4294967295"/>
              </p:nvPr>
            </p:nvSpPr>
            <p:spPr>
              <a:xfrm>
                <a:off x="0" y="1438"/>
                <a:ext cx="9135374" cy="4114800"/>
              </a:xfrm>
              <a:blipFill rotWithShape="1">
                <a:blip r:embed="rId7"/>
                <a:stretch>
                  <a:fillRect l="-1534" b="-296"/>
                </a:stretch>
              </a:blipFill>
            </p:spPr>
            <p:txBody>
              <a:bodyPr/>
              <a:lstStyle/>
              <a:p>
                <a:r>
                  <a:rPr lang="en-US">
                    <a:noFill/>
                  </a:rPr>
                  <a:t> </a:t>
                </a:r>
              </a:p>
            </p:txBody>
          </p:sp>
        </mc:Fallback>
      </mc:AlternateContent>
      <p:sp>
        <p:nvSpPr>
          <p:cNvPr id="3" name="TPAnswers"/>
          <p:cNvSpPr>
            <a:spLocks noGrp="1"/>
          </p:cNvSpPr>
          <p:nvPr>
            <p:ph sz="quarter" idx="4294967295"/>
            <p:custDataLst>
              <p:tags r:id="rId2"/>
            </p:custDataLst>
          </p:nvPr>
        </p:nvSpPr>
        <p:spPr>
          <a:xfrm>
            <a:off x="23004" y="4343401"/>
            <a:ext cx="1348596" cy="1142999"/>
          </a:xfrm>
        </p:spPr>
        <p:txBody>
          <a:bodyPr>
            <a:noAutofit/>
          </a:bodyPr>
          <a:lstStyle/>
          <a:p>
            <a:pPr marL="228600" indent="-228600">
              <a:spcBef>
                <a:spcPct val="20000"/>
              </a:spcBef>
              <a:buAutoNum type="arabicPeriod"/>
            </a:pPr>
            <a:r>
              <a:rPr lang="en-US" sz="300" dirty="0" smtClean="0"/>
              <a:t>a. </a:t>
            </a:r>
          </a:p>
          <a:p>
            <a:pPr marL="228600" indent="-228600">
              <a:spcBef>
                <a:spcPct val="20000"/>
              </a:spcBef>
              <a:buAutoNum type="arabicPeriod"/>
            </a:pPr>
            <a:r>
              <a:rPr lang="en-US" sz="300" dirty="0" smtClean="0"/>
              <a:t>b.</a:t>
            </a:r>
            <a:endParaRPr lang="en-US" sz="300" dirty="0"/>
          </a:p>
        </p:txBody>
      </p:sp>
    </p:spTree>
    <p:custDataLst>
      <p:tags r:id="rId1"/>
    </p:custDataLst>
    <p:extLst>
      <p:ext uri="{BB962C8B-B14F-4D97-AF65-F5344CB8AC3E}">
        <p14:creationId xmlns:p14="http://schemas.microsoft.com/office/powerpoint/2010/main" val="11897893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821502"/>
            <a:ext cx="7620000" cy="2191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PQuestion"/>
          <p:cNvSpPr>
            <a:spLocks noGrp="1"/>
          </p:cNvSpPr>
          <p:nvPr>
            <p:ph type="title" idx="4294967295"/>
          </p:nvPr>
        </p:nvSpPr>
        <p:spPr>
          <a:xfrm>
            <a:off x="0" y="228600"/>
            <a:ext cx="9144000" cy="3657600"/>
          </a:xfrm>
        </p:spPr>
        <p:txBody>
          <a:bodyPr>
            <a:noAutofit/>
          </a:bodyPr>
          <a:lstStyle/>
          <a:p>
            <a:pPr marL="182880" indent="-182880">
              <a:spcAft>
                <a:spcPts val="1200"/>
              </a:spcAft>
            </a:pPr>
            <a:r>
              <a:rPr lang="en-US" sz="3000" dirty="0"/>
              <a:t>Intro stat students are surveyed, and we find that 152 out of 218 are female.  Let </a:t>
            </a:r>
            <a:r>
              <a:rPr lang="en-US" sz="3000" i="1" dirty="0">
                <a:sym typeface="Symbol"/>
              </a:rPr>
              <a:t>p</a:t>
            </a:r>
            <a:r>
              <a:rPr lang="en-US" sz="3000" dirty="0">
                <a:sym typeface="Symbol"/>
              </a:rPr>
              <a:t> be the proportion of intro stat students at LCCC who are female. </a:t>
            </a:r>
            <a:r>
              <a:rPr lang="en-US" sz="3000" dirty="0"/>
              <a:t> </a:t>
            </a:r>
            <a:br>
              <a:rPr lang="en-US" sz="3000" dirty="0"/>
            </a:br>
            <a:r>
              <a:rPr lang="en-US" sz="3000" dirty="0"/>
              <a:t>A bootstrap distribution is generated for a confidence interval for </a:t>
            </a:r>
            <a:r>
              <a:rPr lang="en-US" sz="3000" i="1" dirty="0">
                <a:sym typeface="Symbol"/>
              </a:rPr>
              <a:t>p</a:t>
            </a:r>
            <a:r>
              <a:rPr lang="en-US" sz="3000" dirty="0"/>
              <a:t>, and a randomization distribution is generated to see if the data provide evidence that </a:t>
            </a:r>
            <a:r>
              <a:rPr lang="en-US" sz="3000" dirty="0" smtClean="0"/>
              <a:t/>
            </a:r>
            <a:br>
              <a:rPr lang="en-US" sz="3000" dirty="0" smtClean="0"/>
            </a:br>
            <a:r>
              <a:rPr lang="en-US" sz="3000" i="1" dirty="0" smtClean="0">
                <a:sym typeface="Symbol"/>
              </a:rPr>
              <a:t>p</a:t>
            </a:r>
            <a:r>
              <a:rPr lang="en-US" sz="3000" dirty="0" smtClean="0">
                <a:sym typeface="Symbol"/>
              </a:rPr>
              <a:t> </a:t>
            </a:r>
            <a:r>
              <a:rPr lang="en-US" sz="3000" dirty="0">
                <a:sym typeface="Symbol"/>
              </a:rPr>
              <a:t>&gt; 1/2</a:t>
            </a:r>
            <a:r>
              <a:rPr lang="en-US" sz="3000" dirty="0"/>
              <a:t>. </a:t>
            </a:r>
            <a:br>
              <a:rPr lang="en-US" sz="3000" dirty="0"/>
            </a:br>
            <a:r>
              <a:rPr lang="en-US" sz="3000" dirty="0"/>
              <a:t>Which distribution is the </a:t>
            </a:r>
            <a:r>
              <a:rPr lang="en-US" sz="3000" i="1" dirty="0"/>
              <a:t>randomization distribution</a:t>
            </a:r>
            <a:r>
              <a:rPr lang="en-US" sz="3000" dirty="0"/>
              <a:t>?</a:t>
            </a:r>
          </a:p>
        </p:txBody>
      </p:sp>
      <p:sp>
        <p:nvSpPr>
          <p:cNvPr id="3" name="TPAnswers"/>
          <p:cNvSpPr>
            <a:spLocks noGrp="1"/>
          </p:cNvSpPr>
          <p:nvPr>
            <p:ph sz="quarter" idx="4294967295"/>
            <p:custDataLst>
              <p:tags r:id="rId2"/>
            </p:custDataLst>
          </p:nvPr>
        </p:nvSpPr>
        <p:spPr>
          <a:xfrm>
            <a:off x="0" y="4495800"/>
            <a:ext cx="530225" cy="1295400"/>
          </a:xfrm>
        </p:spPr>
        <p:txBody>
          <a:bodyPr>
            <a:noAutofit/>
          </a:bodyPr>
          <a:lstStyle/>
          <a:p>
            <a:pPr marL="228600" indent="-228600">
              <a:spcBef>
                <a:spcPct val="20000"/>
              </a:spcBef>
              <a:buAutoNum type="arabicPeriod"/>
            </a:pPr>
            <a:r>
              <a:rPr lang="en-US" sz="300" dirty="0" smtClean="0"/>
              <a:t>a.</a:t>
            </a:r>
          </a:p>
          <a:p>
            <a:pPr marL="228600" indent="-228600">
              <a:spcBef>
                <a:spcPct val="20000"/>
              </a:spcBef>
              <a:buAutoNum type="arabicPeriod"/>
            </a:pPr>
            <a:r>
              <a:rPr lang="en-US" sz="300" dirty="0" smtClean="0"/>
              <a:t>b.</a:t>
            </a:r>
          </a:p>
        </p:txBody>
      </p:sp>
    </p:spTree>
    <p:custDataLst>
      <p:tags r:id="rId1"/>
    </p:custDataLst>
    <p:extLst>
      <p:ext uri="{BB962C8B-B14F-4D97-AF65-F5344CB8AC3E}">
        <p14:creationId xmlns:p14="http://schemas.microsoft.com/office/powerpoint/2010/main" val="24428527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763000" cy="990600"/>
          </a:xfrm>
        </p:spPr>
        <p:txBody>
          <a:bodyPr>
            <a:normAutofit fontScale="90000"/>
          </a:bodyPr>
          <a:lstStyle/>
          <a:p>
            <a:r>
              <a:rPr lang="en-US" dirty="0" smtClean="0">
                <a:solidFill>
                  <a:schemeClr val="tx2"/>
                </a:solidFill>
              </a:rPr>
              <a:t>Body Temperature Confidence Interval</a:t>
            </a:r>
            <a:endParaRPr lang="en-US" dirty="0">
              <a:solidFill>
                <a:schemeClr val="tx2"/>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962" y="1461868"/>
                <a:ext cx="9117037" cy="4938932"/>
              </a:xfrm>
            </p:spPr>
            <p:txBody>
              <a:bodyPr/>
              <a:lstStyle/>
              <a:p>
                <a:r>
                  <a:rPr lang="en-US" dirty="0" smtClean="0">
                    <a:solidFill>
                      <a:schemeClr val="accent6">
                        <a:lumMod val="50000"/>
                      </a:schemeClr>
                    </a:solidFill>
                  </a:rPr>
                  <a:t>We created a </a:t>
                </a:r>
                <a:r>
                  <a:rPr lang="en-US" b="1" dirty="0" smtClean="0">
                    <a:solidFill>
                      <a:schemeClr val="accent5">
                        <a:lumMod val="50000"/>
                      </a:schemeClr>
                    </a:solidFill>
                  </a:rPr>
                  <a:t>bootstrap distribution </a:t>
                </a:r>
                <a:r>
                  <a:rPr lang="en-US" dirty="0" smtClean="0">
                    <a:solidFill>
                      <a:schemeClr val="accent6">
                        <a:lumMod val="50000"/>
                      </a:schemeClr>
                    </a:solidFill>
                  </a:rPr>
                  <a:t>for average body temperature by resampling with replacement from the original sample (</a:t>
                </a:r>
                <a14:m>
                  <m:oMath xmlns:m="http://schemas.openxmlformats.org/officeDocument/2006/math">
                    <m:acc>
                      <m:accPr>
                        <m:chr m:val="̅"/>
                        <m:ctrlPr>
                          <a:rPr lang="en-US" i="1" smtClean="0">
                            <a:solidFill>
                              <a:schemeClr val="accent6">
                                <a:lumMod val="50000"/>
                              </a:schemeClr>
                            </a:solidFill>
                            <a:latin typeface="Cambria Math"/>
                          </a:rPr>
                        </m:ctrlPr>
                      </m:accPr>
                      <m:e>
                        <m:r>
                          <a:rPr lang="en-US" b="0" i="1" smtClean="0">
                            <a:solidFill>
                              <a:schemeClr val="accent6">
                                <a:lumMod val="50000"/>
                              </a:schemeClr>
                            </a:solidFill>
                            <a:latin typeface="Cambria Math"/>
                          </a:rPr>
                          <m:t>𝑥</m:t>
                        </m:r>
                      </m:e>
                    </m:acc>
                    <m:r>
                      <a:rPr lang="en-US" b="0" i="1" smtClean="0">
                        <a:solidFill>
                          <a:schemeClr val="accent6">
                            <a:lumMod val="50000"/>
                          </a:schemeClr>
                        </a:solidFill>
                        <a:latin typeface="Cambria Math"/>
                      </a:rPr>
                      <m:t>=98.26):</m:t>
                    </m:r>
                  </m:oMath>
                </a14:m>
                <a:endParaRPr lang="en-US" dirty="0">
                  <a:solidFill>
                    <a:schemeClr val="accent6">
                      <a:lumMod val="50000"/>
                    </a:schemeClr>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962" y="1461868"/>
                <a:ext cx="9117037" cy="4938932"/>
              </a:xfrm>
              <a:blipFill rotWithShape="1">
                <a:blip r:embed="rId3"/>
                <a:stretch>
                  <a:fillRect l="-468" t="-1481"/>
                </a:stretch>
              </a:blipFill>
            </p:spPr>
            <p:txBody>
              <a:bodyPr/>
              <a:lstStyle/>
              <a:p>
                <a:r>
                  <a:rPr lang="en-US">
                    <a:noFill/>
                  </a:rPr>
                  <a:t> </a:t>
                </a:r>
              </a:p>
            </p:txBody>
          </p:sp>
        </mc:Fallback>
      </mc:AlternateContent>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00400"/>
            <a:ext cx="7086600" cy="3483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8928307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78952" cy="990600"/>
          </a:xfrm>
        </p:spPr>
        <p:txBody>
          <a:bodyPr>
            <a:normAutofit/>
          </a:bodyPr>
          <a:lstStyle/>
          <a:p>
            <a:r>
              <a:rPr lang="en-US" dirty="0" smtClean="0">
                <a:solidFill>
                  <a:schemeClr val="tx2"/>
                </a:solidFill>
              </a:rPr>
              <a:t>Body Temperature Hypothesis Test</a:t>
            </a:r>
            <a:endParaRPr lang="en-US" dirty="0">
              <a:solidFill>
                <a:schemeClr val="tx2"/>
              </a:solidFill>
            </a:endParaRPr>
          </a:p>
        </p:txBody>
      </p:sp>
      <p:sp>
        <p:nvSpPr>
          <p:cNvPr id="3" name="Content Placeholder 2"/>
          <p:cNvSpPr>
            <a:spLocks noGrp="1"/>
          </p:cNvSpPr>
          <p:nvPr>
            <p:ph idx="1"/>
          </p:nvPr>
        </p:nvSpPr>
        <p:spPr>
          <a:xfrm>
            <a:off x="0" y="1524000"/>
            <a:ext cx="9144000" cy="4953000"/>
          </a:xfrm>
        </p:spPr>
        <p:txBody>
          <a:bodyPr>
            <a:normAutofit/>
          </a:bodyPr>
          <a:lstStyle/>
          <a:p>
            <a:r>
              <a:rPr lang="en-US" sz="3000" dirty="0" smtClean="0">
                <a:solidFill>
                  <a:schemeClr val="accent6">
                    <a:lumMod val="50000"/>
                  </a:schemeClr>
                </a:solidFill>
              </a:rPr>
              <a:t>We also created a </a:t>
            </a:r>
            <a:r>
              <a:rPr lang="en-US" sz="3000" b="1" dirty="0" smtClean="0">
                <a:solidFill>
                  <a:schemeClr val="accent5">
                    <a:lumMod val="50000"/>
                  </a:schemeClr>
                </a:solidFill>
              </a:rPr>
              <a:t>randomization distribution </a:t>
            </a:r>
            <a:r>
              <a:rPr lang="en-US" sz="3000" dirty="0" smtClean="0">
                <a:solidFill>
                  <a:schemeClr val="accent6">
                    <a:lumMod val="50000"/>
                  </a:schemeClr>
                </a:solidFill>
              </a:rPr>
              <a:t>to see if average body temperature differs from 98.6</a:t>
            </a:r>
            <a:r>
              <a:rPr lang="en-US" sz="3000" dirty="0" smtClean="0">
                <a:solidFill>
                  <a:schemeClr val="accent6">
                    <a:lumMod val="50000"/>
                  </a:schemeClr>
                </a:solidFill>
                <a:sym typeface="Symbol"/>
              </a:rPr>
              <a:t>F by adding 0.34 to every value to make the null true, and then resampling with replacement from this modified sample:</a:t>
            </a:r>
            <a:endParaRPr lang="en-US" sz="3000" dirty="0">
              <a:solidFill>
                <a:schemeClr val="accent6">
                  <a:lumMod val="50000"/>
                </a:schemeClr>
              </a:solidFill>
            </a:endParaRP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568505"/>
            <a:ext cx="6763238"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007805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Body Temperature</a:t>
            </a:r>
            <a:endParaRPr lang="en-US" dirty="0">
              <a:solidFill>
                <a:schemeClr val="tx2"/>
              </a:solidFill>
            </a:endParaRPr>
          </a:p>
        </p:txBody>
      </p:sp>
      <p:sp>
        <p:nvSpPr>
          <p:cNvPr id="3" name="Content Placeholder 2"/>
          <p:cNvSpPr>
            <a:spLocks noGrp="1"/>
          </p:cNvSpPr>
          <p:nvPr>
            <p:ph idx="1"/>
          </p:nvPr>
        </p:nvSpPr>
        <p:spPr>
          <a:xfrm>
            <a:off x="17584" y="1524000"/>
            <a:ext cx="9126415" cy="5334000"/>
          </a:xfrm>
        </p:spPr>
        <p:txBody>
          <a:bodyPr>
            <a:normAutofit/>
          </a:bodyPr>
          <a:lstStyle/>
          <a:p>
            <a:r>
              <a:rPr lang="en-US" dirty="0" smtClean="0">
                <a:solidFill>
                  <a:schemeClr val="accent6">
                    <a:lumMod val="50000"/>
                  </a:schemeClr>
                </a:solidFill>
              </a:rPr>
              <a:t>These two distributions are identical (up to random variation from simulation to simulation) </a:t>
            </a:r>
            <a:r>
              <a:rPr lang="en-US" i="1" dirty="0" smtClean="0">
                <a:solidFill>
                  <a:schemeClr val="accent6">
                    <a:lumMod val="50000"/>
                  </a:schemeClr>
                </a:solidFill>
              </a:rPr>
              <a:t>except for the center</a:t>
            </a:r>
            <a:endParaRPr lang="en-US" b="1" dirty="0" smtClean="0">
              <a:solidFill>
                <a:schemeClr val="accent6">
                  <a:lumMod val="50000"/>
                </a:schemeClr>
              </a:solidFill>
            </a:endParaRPr>
          </a:p>
          <a:p>
            <a:r>
              <a:rPr lang="en-US" dirty="0" smtClean="0">
                <a:solidFill>
                  <a:schemeClr val="accent6">
                    <a:lumMod val="50000"/>
                  </a:schemeClr>
                </a:solidFill>
              </a:rPr>
              <a:t>The bootstrap distribution is centered around the sample statistic, 98.26, while the randomization distribution is centered around the null hypothesized value, 98.6</a:t>
            </a:r>
          </a:p>
          <a:p>
            <a:r>
              <a:rPr lang="en-US" dirty="0" smtClean="0">
                <a:solidFill>
                  <a:schemeClr val="accent6">
                    <a:lumMod val="50000"/>
                  </a:schemeClr>
                </a:solidFill>
              </a:rPr>
              <a:t>The randomization distribution is equivalent to the bootstrap distribution in shape and spread, but is shifted over</a:t>
            </a:r>
            <a:endParaRPr lang="en-US" dirty="0">
              <a:solidFill>
                <a:schemeClr val="accent6">
                  <a:lumMod val="50000"/>
                </a:schemeClr>
              </a:solidFill>
            </a:endParaRPr>
          </a:p>
        </p:txBody>
      </p:sp>
    </p:spTree>
    <p:custDataLst>
      <p:tags r:id="rId1"/>
    </p:custDataLst>
    <p:extLst>
      <p:ext uri="{BB962C8B-B14F-4D97-AF65-F5344CB8AC3E}">
        <p14:creationId xmlns:p14="http://schemas.microsoft.com/office/powerpoint/2010/main" val="29026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243088"/>
            <a:ext cx="6629400" cy="315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idx="4294967295"/>
          </p:nvPr>
        </p:nvSpPr>
        <p:spPr>
          <a:xfrm>
            <a:off x="990600" y="228600"/>
            <a:ext cx="8153400" cy="990600"/>
          </a:xfrm>
        </p:spPr>
        <p:txBody>
          <a:bodyPr/>
          <a:lstStyle/>
          <a:p>
            <a:r>
              <a:rPr lang="en-US" dirty="0" smtClean="0">
                <a:solidFill>
                  <a:schemeClr val="tx2"/>
                </a:solidFill>
              </a:rPr>
              <a:t>Body Temperature</a:t>
            </a:r>
            <a:endParaRPr lang="en-US" dirty="0">
              <a:solidFill>
                <a:schemeClr val="tx2"/>
              </a:solidFill>
            </a:endParaRPr>
          </a:p>
        </p:txBody>
      </p:sp>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1" y="1066800"/>
            <a:ext cx="5715000" cy="244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387905" y="969498"/>
            <a:ext cx="2285999" cy="954107"/>
          </a:xfrm>
          <a:prstGeom prst="rect">
            <a:avLst/>
          </a:prstGeom>
          <a:noFill/>
        </p:spPr>
        <p:txBody>
          <a:bodyPr wrap="square" rtlCol="0">
            <a:spAutoFit/>
          </a:bodyPr>
          <a:lstStyle/>
          <a:p>
            <a:r>
              <a:rPr lang="en-US" sz="2800" b="1" dirty="0" smtClean="0">
                <a:solidFill>
                  <a:schemeClr val="accent1">
                    <a:lumMod val="50000"/>
                  </a:schemeClr>
                </a:solidFill>
              </a:rPr>
              <a:t>Bootstrap Distribution</a:t>
            </a:r>
            <a:endParaRPr lang="en-US" sz="2800" b="1" dirty="0">
              <a:solidFill>
                <a:schemeClr val="accent1">
                  <a:lumMod val="50000"/>
                </a:schemeClr>
              </a:solidFill>
            </a:endParaRPr>
          </a:p>
        </p:txBody>
      </p:sp>
      <p:sp>
        <p:nvSpPr>
          <p:cNvPr id="8" name="TextBox 7"/>
          <p:cNvSpPr txBox="1"/>
          <p:nvPr/>
        </p:nvSpPr>
        <p:spPr>
          <a:xfrm>
            <a:off x="76200" y="3962400"/>
            <a:ext cx="2438400" cy="2246769"/>
          </a:xfrm>
          <a:prstGeom prst="rect">
            <a:avLst/>
          </a:prstGeom>
          <a:noFill/>
        </p:spPr>
        <p:txBody>
          <a:bodyPr wrap="square" rtlCol="0">
            <a:spAutoFit/>
          </a:bodyPr>
          <a:lstStyle/>
          <a:p>
            <a:r>
              <a:rPr lang="en-US" sz="2800" b="1" dirty="0" smtClean="0">
                <a:solidFill>
                  <a:schemeClr val="accent1">
                    <a:lumMod val="50000"/>
                  </a:schemeClr>
                </a:solidFill>
              </a:rPr>
              <a:t>Randomization Distribution</a:t>
            </a:r>
          </a:p>
          <a:p>
            <a:r>
              <a:rPr lang="en-US" sz="2800" b="1" dirty="0" smtClean="0">
                <a:solidFill>
                  <a:schemeClr val="accent1">
                    <a:lumMod val="50000"/>
                  </a:schemeClr>
                </a:solidFill>
              </a:rPr>
              <a:t>H</a:t>
            </a:r>
            <a:r>
              <a:rPr lang="en-US" sz="2800" b="1" baseline="-25000" dirty="0" smtClean="0">
                <a:solidFill>
                  <a:schemeClr val="accent1">
                    <a:lumMod val="50000"/>
                  </a:schemeClr>
                </a:solidFill>
              </a:rPr>
              <a:t>0</a:t>
            </a:r>
            <a:r>
              <a:rPr lang="en-US" sz="2800" b="1" dirty="0" smtClean="0">
                <a:solidFill>
                  <a:schemeClr val="accent1">
                    <a:lumMod val="50000"/>
                  </a:schemeClr>
                </a:solidFill>
              </a:rPr>
              <a:t>: </a:t>
            </a:r>
            <a:r>
              <a:rPr lang="en-US" sz="2800" b="1" dirty="0" smtClean="0">
                <a:solidFill>
                  <a:schemeClr val="accent1">
                    <a:lumMod val="50000"/>
                  </a:schemeClr>
                </a:solidFill>
                <a:sym typeface="Symbol"/>
              </a:rPr>
              <a:t> = 98.6</a:t>
            </a:r>
          </a:p>
          <a:p>
            <a:r>
              <a:rPr lang="en-US" sz="2800" b="1" dirty="0" smtClean="0">
                <a:solidFill>
                  <a:schemeClr val="accent1">
                    <a:lumMod val="50000"/>
                  </a:schemeClr>
                </a:solidFill>
                <a:sym typeface="Symbol"/>
              </a:rPr>
              <a:t>H</a:t>
            </a:r>
            <a:r>
              <a:rPr lang="en-US" sz="2800" b="1" baseline="-25000" dirty="0" smtClean="0">
                <a:solidFill>
                  <a:schemeClr val="accent1">
                    <a:lumMod val="50000"/>
                  </a:schemeClr>
                </a:solidFill>
                <a:sym typeface="Symbol"/>
              </a:rPr>
              <a:t>a</a:t>
            </a:r>
            <a:r>
              <a:rPr lang="en-US" sz="2800" b="1" dirty="0" smtClean="0">
                <a:solidFill>
                  <a:schemeClr val="accent1">
                    <a:lumMod val="50000"/>
                  </a:schemeClr>
                </a:solidFill>
                <a:sym typeface="Symbol"/>
              </a:rPr>
              <a:t>: </a:t>
            </a:r>
            <a:r>
              <a:rPr lang="en-US" sz="2800" b="1" dirty="0">
                <a:solidFill>
                  <a:schemeClr val="accent1">
                    <a:lumMod val="50000"/>
                  </a:schemeClr>
                </a:solidFill>
                <a:sym typeface="Symbol"/>
              </a:rPr>
              <a:t> </a:t>
            </a:r>
            <a:r>
              <a:rPr lang="en-US" sz="2800" b="1" dirty="0" smtClean="0">
                <a:solidFill>
                  <a:schemeClr val="accent1">
                    <a:lumMod val="50000"/>
                  </a:schemeClr>
                </a:solidFill>
                <a:sym typeface="Symbol"/>
              </a:rPr>
              <a:t>≠ </a:t>
            </a:r>
            <a:r>
              <a:rPr lang="en-US" sz="2800" b="1" dirty="0">
                <a:solidFill>
                  <a:schemeClr val="accent1">
                    <a:lumMod val="50000"/>
                  </a:schemeClr>
                </a:solidFill>
                <a:sym typeface="Symbol"/>
              </a:rPr>
              <a:t>98.6</a:t>
            </a:r>
          </a:p>
          <a:p>
            <a:endParaRPr lang="en-US" sz="2800" b="1" dirty="0">
              <a:solidFill>
                <a:schemeClr val="accent1">
                  <a:lumMod val="50000"/>
                </a:schemeClr>
              </a:solidFill>
            </a:endParaRPr>
          </a:p>
        </p:txBody>
      </p:sp>
      <p:cxnSp>
        <p:nvCxnSpPr>
          <p:cNvPr id="6" name="Straight Connector 5"/>
          <p:cNvCxnSpPr/>
          <p:nvPr/>
        </p:nvCxnSpPr>
        <p:spPr>
          <a:xfrm>
            <a:off x="3419856" y="990600"/>
            <a:ext cx="0" cy="4876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960568" y="990600"/>
            <a:ext cx="0" cy="48768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124200" y="3440668"/>
            <a:ext cx="762000" cy="369332"/>
          </a:xfrm>
          <a:prstGeom prst="rect">
            <a:avLst/>
          </a:prstGeom>
          <a:solidFill>
            <a:schemeClr val="bg1"/>
          </a:solidFill>
        </p:spPr>
        <p:txBody>
          <a:bodyPr wrap="square" rtlCol="0">
            <a:spAutoFit/>
          </a:bodyPr>
          <a:lstStyle/>
          <a:p>
            <a:r>
              <a:rPr lang="en-US" dirty="0" smtClean="0">
                <a:solidFill>
                  <a:schemeClr val="accent1"/>
                </a:solidFill>
              </a:rPr>
              <a:t>98.26</a:t>
            </a:r>
            <a:endParaRPr lang="en-US" dirty="0">
              <a:solidFill>
                <a:schemeClr val="accent1"/>
              </a:solidFill>
            </a:endParaRPr>
          </a:p>
        </p:txBody>
      </p:sp>
      <p:sp>
        <p:nvSpPr>
          <p:cNvPr id="16" name="TextBox 15"/>
          <p:cNvSpPr txBox="1"/>
          <p:nvPr/>
        </p:nvSpPr>
        <p:spPr>
          <a:xfrm>
            <a:off x="5638800" y="3429000"/>
            <a:ext cx="762000" cy="369332"/>
          </a:xfrm>
          <a:prstGeom prst="rect">
            <a:avLst/>
          </a:prstGeom>
          <a:solidFill>
            <a:schemeClr val="bg1"/>
          </a:solidFill>
        </p:spPr>
        <p:txBody>
          <a:bodyPr wrap="square" rtlCol="0">
            <a:spAutoFit/>
          </a:bodyPr>
          <a:lstStyle/>
          <a:p>
            <a:r>
              <a:rPr lang="en-US" dirty="0" smtClean="0">
                <a:solidFill>
                  <a:schemeClr val="accent1"/>
                </a:solidFill>
              </a:rPr>
              <a:t>98.6</a:t>
            </a:r>
            <a:endParaRPr lang="en-US" dirty="0">
              <a:solidFill>
                <a:schemeClr val="accent1"/>
              </a:solidFill>
            </a:endParaRPr>
          </a:p>
        </p:txBody>
      </p:sp>
    </p:spTree>
    <p:custDataLst>
      <p:tags r:id="rId1"/>
    </p:custDataLst>
    <p:extLst>
      <p:ext uri="{BB962C8B-B14F-4D97-AF65-F5344CB8AC3E}">
        <p14:creationId xmlns:p14="http://schemas.microsoft.com/office/powerpoint/2010/main" val="352954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495675"/>
            <a:ext cx="622935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idx="4294967295"/>
          </p:nvPr>
        </p:nvSpPr>
        <p:spPr>
          <a:xfrm>
            <a:off x="990600" y="228600"/>
            <a:ext cx="8153400" cy="990600"/>
          </a:xfrm>
        </p:spPr>
        <p:txBody>
          <a:bodyPr/>
          <a:lstStyle/>
          <a:p>
            <a:r>
              <a:rPr lang="en-US" dirty="0" smtClean="0">
                <a:solidFill>
                  <a:schemeClr val="tx2"/>
                </a:solidFill>
              </a:rPr>
              <a:t>Body Temperature</a:t>
            </a:r>
            <a:endParaRPr lang="en-US" dirty="0">
              <a:solidFill>
                <a:schemeClr val="tx2"/>
              </a:solidFill>
            </a:endParaRPr>
          </a:p>
        </p:txBody>
      </p:sp>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1" y="1066800"/>
            <a:ext cx="5715000" cy="244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381750" y="990600"/>
            <a:ext cx="2285999" cy="954107"/>
          </a:xfrm>
          <a:prstGeom prst="rect">
            <a:avLst/>
          </a:prstGeom>
          <a:noFill/>
        </p:spPr>
        <p:txBody>
          <a:bodyPr wrap="square" rtlCol="0">
            <a:spAutoFit/>
          </a:bodyPr>
          <a:lstStyle/>
          <a:p>
            <a:r>
              <a:rPr lang="en-US" sz="2800" b="1" dirty="0" smtClean="0">
                <a:solidFill>
                  <a:schemeClr val="accent1">
                    <a:lumMod val="50000"/>
                  </a:schemeClr>
                </a:solidFill>
              </a:rPr>
              <a:t>Bootstrap Distribution</a:t>
            </a:r>
            <a:endParaRPr lang="en-US" sz="2800" b="1" dirty="0">
              <a:solidFill>
                <a:schemeClr val="accent1">
                  <a:lumMod val="50000"/>
                </a:schemeClr>
              </a:solidFill>
            </a:endParaRPr>
          </a:p>
        </p:txBody>
      </p:sp>
      <p:cxnSp>
        <p:nvCxnSpPr>
          <p:cNvPr id="6" name="Straight Connector 5"/>
          <p:cNvCxnSpPr/>
          <p:nvPr/>
        </p:nvCxnSpPr>
        <p:spPr>
          <a:xfrm>
            <a:off x="3419856" y="990600"/>
            <a:ext cx="0" cy="4876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436568" y="990600"/>
            <a:ext cx="0" cy="48768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124200" y="3440668"/>
            <a:ext cx="762000" cy="369332"/>
          </a:xfrm>
          <a:prstGeom prst="rect">
            <a:avLst/>
          </a:prstGeom>
          <a:solidFill>
            <a:schemeClr val="bg1"/>
          </a:solidFill>
        </p:spPr>
        <p:txBody>
          <a:bodyPr wrap="square" rtlCol="0">
            <a:spAutoFit/>
          </a:bodyPr>
          <a:lstStyle/>
          <a:p>
            <a:r>
              <a:rPr lang="en-US" dirty="0" smtClean="0">
                <a:solidFill>
                  <a:schemeClr val="accent1"/>
                </a:solidFill>
              </a:rPr>
              <a:t>98.26</a:t>
            </a:r>
            <a:endParaRPr lang="en-US" dirty="0">
              <a:solidFill>
                <a:schemeClr val="accent1"/>
              </a:solidFill>
            </a:endParaRPr>
          </a:p>
        </p:txBody>
      </p:sp>
      <p:sp>
        <p:nvSpPr>
          <p:cNvPr id="16" name="TextBox 15"/>
          <p:cNvSpPr txBox="1"/>
          <p:nvPr/>
        </p:nvSpPr>
        <p:spPr>
          <a:xfrm>
            <a:off x="4114800" y="3429000"/>
            <a:ext cx="762000" cy="369332"/>
          </a:xfrm>
          <a:prstGeom prst="rect">
            <a:avLst/>
          </a:prstGeom>
          <a:solidFill>
            <a:schemeClr val="bg1"/>
          </a:solidFill>
        </p:spPr>
        <p:txBody>
          <a:bodyPr wrap="square" rtlCol="0">
            <a:spAutoFit/>
          </a:bodyPr>
          <a:lstStyle/>
          <a:p>
            <a:r>
              <a:rPr lang="en-US" dirty="0" smtClean="0">
                <a:solidFill>
                  <a:schemeClr val="accent1"/>
                </a:solidFill>
              </a:rPr>
              <a:t>98.4</a:t>
            </a:r>
            <a:endParaRPr lang="en-US" dirty="0">
              <a:solidFill>
                <a:schemeClr val="accent1"/>
              </a:solidFill>
            </a:endParaRPr>
          </a:p>
        </p:txBody>
      </p:sp>
      <p:sp>
        <p:nvSpPr>
          <p:cNvPr id="13" name="TextBox 12"/>
          <p:cNvSpPr txBox="1"/>
          <p:nvPr/>
        </p:nvSpPr>
        <p:spPr>
          <a:xfrm>
            <a:off x="22274" y="3810000"/>
            <a:ext cx="2455333" cy="1815882"/>
          </a:xfrm>
          <a:prstGeom prst="rect">
            <a:avLst/>
          </a:prstGeom>
          <a:solidFill>
            <a:schemeClr val="bg1"/>
          </a:solidFill>
        </p:spPr>
        <p:txBody>
          <a:bodyPr wrap="square" rtlCol="0">
            <a:spAutoFit/>
          </a:bodyPr>
          <a:lstStyle/>
          <a:p>
            <a:r>
              <a:rPr lang="en-US" sz="2800" b="1" dirty="0" smtClean="0">
                <a:solidFill>
                  <a:schemeClr val="accent1">
                    <a:lumMod val="50000"/>
                  </a:schemeClr>
                </a:solidFill>
              </a:rPr>
              <a:t>Randomization Distribution</a:t>
            </a:r>
          </a:p>
          <a:p>
            <a:r>
              <a:rPr lang="en-US" sz="2800" b="1" dirty="0" smtClean="0">
                <a:solidFill>
                  <a:schemeClr val="accent1">
                    <a:lumMod val="50000"/>
                  </a:schemeClr>
                </a:solidFill>
              </a:rPr>
              <a:t>H</a:t>
            </a:r>
            <a:r>
              <a:rPr lang="en-US" sz="2800" b="1" baseline="-25000" dirty="0" smtClean="0">
                <a:solidFill>
                  <a:schemeClr val="accent1">
                    <a:lumMod val="50000"/>
                  </a:schemeClr>
                </a:solidFill>
              </a:rPr>
              <a:t>0</a:t>
            </a:r>
            <a:r>
              <a:rPr lang="en-US" sz="2800" b="1" dirty="0" smtClean="0">
                <a:solidFill>
                  <a:schemeClr val="accent1">
                    <a:lumMod val="50000"/>
                  </a:schemeClr>
                </a:solidFill>
              </a:rPr>
              <a:t>: </a:t>
            </a:r>
            <a:r>
              <a:rPr lang="en-US" sz="2800" b="1" dirty="0" smtClean="0">
                <a:solidFill>
                  <a:schemeClr val="accent1">
                    <a:lumMod val="50000"/>
                  </a:schemeClr>
                </a:solidFill>
                <a:sym typeface="Symbol"/>
              </a:rPr>
              <a:t> = 98.4</a:t>
            </a:r>
          </a:p>
          <a:p>
            <a:r>
              <a:rPr lang="en-US" sz="2800" b="1" dirty="0" smtClean="0">
                <a:solidFill>
                  <a:schemeClr val="accent1">
                    <a:lumMod val="50000"/>
                  </a:schemeClr>
                </a:solidFill>
                <a:sym typeface="Symbol"/>
              </a:rPr>
              <a:t>H</a:t>
            </a:r>
            <a:r>
              <a:rPr lang="en-US" sz="2800" b="1" baseline="-25000" dirty="0" smtClean="0">
                <a:solidFill>
                  <a:schemeClr val="accent1">
                    <a:lumMod val="50000"/>
                  </a:schemeClr>
                </a:solidFill>
                <a:sym typeface="Symbol"/>
              </a:rPr>
              <a:t>a</a:t>
            </a:r>
            <a:r>
              <a:rPr lang="en-US" sz="2800" b="1" dirty="0" smtClean="0">
                <a:solidFill>
                  <a:schemeClr val="accent1">
                    <a:lumMod val="50000"/>
                  </a:schemeClr>
                </a:solidFill>
                <a:sym typeface="Symbol"/>
              </a:rPr>
              <a:t>: </a:t>
            </a:r>
            <a:r>
              <a:rPr lang="en-US" sz="2800" b="1" dirty="0">
                <a:solidFill>
                  <a:schemeClr val="accent1">
                    <a:lumMod val="50000"/>
                  </a:schemeClr>
                </a:solidFill>
                <a:sym typeface="Symbol"/>
              </a:rPr>
              <a:t> </a:t>
            </a:r>
            <a:r>
              <a:rPr lang="en-US" sz="2800" b="1" dirty="0" smtClean="0">
                <a:solidFill>
                  <a:schemeClr val="accent1">
                    <a:lumMod val="50000"/>
                  </a:schemeClr>
                </a:solidFill>
                <a:sym typeface="Symbol"/>
              </a:rPr>
              <a:t>≠ 98.4</a:t>
            </a:r>
            <a:endParaRPr lang="en-US" sz="2800" b="1" dirty="0">
              <a:solidFill>
                <a:schemeClr val="accent1">
                  <a:lumMod val="50000"/>
                </a:schemeClr>
              </a:solidFill>
            </a:endParaRPr>
          </a:p>
        </p:txBody>
      </p:sp>
    </p:spTree>
    <p:custDataLst>
      <p:tags r:id="rId1"/>
    </p:custDataLst>
    <p:extLst>
      <p:ext uri="{BB962C8B-B14F-4D97-AF65-F5344CB8AC3E}">
        <p14:creationId xmlns:p14="http://schemas.microsoft.com/office/powerpoint/2010/main" val="196176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Intervals and Tests</a:t>
            </a:r>
            <a:endParaRPr lang="en-US" dirty="0"/>
          </a:p>
        </p:txBody>
      </p:sp>
      <p:sp>
        <p:nvSpPr>
          <p:cNvPr id="3" name="Content Placeholder 2"/>
          <p:cNvSpPr>
            <a:spLocks noGrp="1"/>
          </p:cNvSpPr>
          <p:nvPr>
            <p:ph idx="1"/>
          </p:nvPr>
        </p:nvSpPr>
        <p:spPr>
          <a:xfrm>
            <a:off x="838200" y="4267200"/>
            <a:ext cx="7467600" cy="1981200"/>
          </a:xfrm>
        </p:spPr>
        <p:txBody>
          <a:bodyPr>
            <a:normAutofit/>
          </a:bodyPr>
          <a:lstStyle/>
          <a:p>
            <a:r>
              <a:rPr lang="en-US" dirty="0"/>
              <a:t>If a 95% CI </a:t>
            </a:r>
            <a:r>
              <a:rPr lang="en-US" i="1" dirty="0">
                <a:solidFill>
                  <a:schemeClr val="accent2">
                    <a:lumMod val="75000"/>
                  </a:schemeClr>
                </a:solidFill>
              </a:rPr>
              <a:t>misses</a:t>
            </a:r>
            <a:r>
              <a:rPr lang="en-US" dirty="0">
                <a:solidFill>
                  <a:schemeClr val="accent2">
                    <a:lumMod val="75000"/>
                  </a:schemeClr>
                </a:solidFill>
              </a:rPr>
              <a:t> </a:t>
            </a:r>
            <a:r>
              <a:rPr lang="en-US" dirty="0"/>
              <a:t>the parameter in H</a:t>
            </a:r>
            <a:r>
              <a:rPr lang="en-US" baseline="-25000" dirty="0"/>
              <a:t>0</a:t>
            </a:r>
            <a:r>
              <a:rPr lang="en-US" dirty="0"/>
              <a:t>, then a </a:t>
            </a:r>
            <a:r>
              <a:rPr lang="en-US" dirty="0">
                <a:solidFill>
                  <a:schemeClr val="accent2">
                    <a:lumMod val="75000"/>
                  </a:schemeClr>
                </a:solidFill>
              </a:rPr>
              <a:t>two-tailed</a:t>
            </a:r>
            <a:r>
              <a:rPr lang="en-US" dirty="0"/>
              <a:t> test should </a:t>
            </a:r>
            <a:r>
              <a:rPr lang="en-US" b="1" i="1" dirty="0">
                <a:solidFill>
                  <a:schemeClr val="accent2">
                    <a:lumMod val="75000"/>
                  </a:schemeClr>
                </a:solidFill>
              </a:rPr>
              <a:t>reject</a:t>
            </a:r>
            <a:r>
              <a:rPr lang="en-US" dirty="0">
                <a:solidFill>
                  <a:schemeClr val="accent2">
                    <a:lumMod val="75000"/>
                  </a:schemeClr>
                </a:solidFill>
              </a:rPr>
              <a:t> </a:t>
            </a:r>
            <a:r>
              <a:rPr lang="en-US" dirty="0"/>
              <a:t>H</a:t>
            </a:r>
            <a:r>
              <a:rPr lang="en-US" baseline="-25000" dirty="0"/>
              <a:t>0</a:t>
            </a:r>
            <a:r>
              <a:rPr lang="en-US" dirty="0"/>
              <a:t> at a 5% significance level. </a:t>
            </a:r>
          </a:p>
        </p:txBody>
      </p:sp>
      <p:sp>
        <p:nvSpPr>
          <p:cNvPr id="5" name="Content Placeholder 2"/>
          <p:cNvSpPr>
            <a:spLocks noGrp="1"/>
          </p:cNvSpPr>
          <p:nvPr>
            <p:ph idx="1"/>
          </p:nvPr>
        </p:nvSpPr>
        <p:spPr>
          <a:xfrm>
            <a:off x="838200" y="1905000"/>
            <a:ext cx="7429500" cy="1905000"/>
          </a:xfrm>
        </p:spPr>
        <p:txBody>
          <a:bodyPr>
            <a:normAutofit/>
          </a:bodyPr>
          <a:lstStyle/>
          <a:p>
            <a:r>
              <a:rPr lang="en-US" dirty="0"/>
              <a:t>If a 95% CI </a:t>
            </a:r>
            <a:r>
              <a:rPr lang="en-US" i="1" dirty="0">
                <a:solidFill>
                  <a:schemeClr val="accent2">
                    <a:lumMod val="75000"/>
                  </a:schemeClr>
                </a:solidFill>
              </a:rPr>
              <a:t>contains</a:t>
            </a:r>
            <a:r>
              <a:rPr lang="en-US" dirty="0">
                <a:solidFill>
                  <a:schemeClr val="accent2">
                    <a:lumMod val="75000"/>
                  </a:schemeClr>
                </a:solidFill>
              </a:rPr>
              <a:t> </a:t>
            </a:r>
            <a:r>
              <a:rPr lang="en-US" dirty="0"/>
              <a:t>the parameter in H</a:t>
            </a:r>
            <a:r>
              <a:rPr lang="en-US" baseline="-25000" dirty="0"/>
              <a:t>0</a:t>
            </a:r>
            <a:r>
              <a:rPr lang="en-US" dirty="0"/>
              <a:t>, then a </a:t>
            </a:r>
            <a:r>
              <a:rPr lang="en-US" dirty="0">
                <a:solidFill>
                  <a:schemeClr val="accent2">
                    <a:lumMod val="75000"/>
                  </a:schemeClr>
                </a:solidFill>
              </a:rPr>
              <a:t>two-tailed</a:t>
            </a:r>
            <a:r>
              <a:rPr lang="en-US" dirty="0"/>
              <a:t> test should </a:t>
            </a:r>
            <a:r>
              <a:rPr lang="en-US" b="1" i="1" dirty="0">
                <a:solidFill>
                  <a:schemeClr val="accent2">
                    <a:lumMod val="75000"/>
                  </a:schemeClr>
                </a:solidFill>
              </a:rPr>
              <a:t>not</a:t>
            </a:r>
            <a:r>
              <a:rPr lang="en-US" i="1" dirty="0"/>
              <a:t> reject </a:t>
            </a:r>
            <a:r>
              <a:rPr lang="en-US" dirty="0"/>
              <a:t>H</a:t>
            </a:r>
            <a:r>
              <a:rPr lang="en-US" baseline="-25000" dirty="0"/>
              <a:t>0</a:t>
            </a:r>
            <a:r>
              <a:rPr lang="en-US" dirty="0"/>
              <a:t> at a 5% significance level. </a:t>
            </a:r>
          </a:p>
        </p:txBody>
      </p:sp>
    </p:spTree>
    <p:custDataLst>
      <p:tags r:id="rId1"/>
    </p:custDataLst>
    <p:extLst>
      <p:ext uri="{BB962C8B-B14F-4D97-AF65-F5344CB8AC3E}">
        <p14:creationId xmlns:p14="http://schemas.microsoft.com/office/powerpoint/2010/main" val="36410456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Intervals and Tests</a:t>
            </a:r>
            <a:endParaRPr lang="en-US" dirty="0">
              <a:solidFill>
                <a:schemeClr val="tx2"/>
              </a:solidFill>
            </a:endParaRPr>
          </a:p>
        </p:txBody>
      </p:sp>
      <p:sp>
        <p:nvSpPr>
          <p:cNvPr id="3" name="Content Placeholder 2"/>
          <p:cNvSpPr>
            <a:spLocks noGrp="1"/>
          </p:cNvSpPr>
          <p:nvPr>
            <p:ph idx="1"/>
          </p:nvPr>
        </p:nvSpPr>
        <p:spPr>
          <a:xfrm>
            <a:off x="22274" y="1600200"/>
            <a:ext cx="9121726" cy="5257800"/>
          </a:xfrm>
        </p:spPr>
        <p:txBody>
          <a:bodyPr>
            <a:normAutofit/>
          </a:bodyPr>
          <a:lstStyle/>
          <a:p>
            <a:r>
              <a:rPr lang="en-US" dirty="0" smtClean="0">
                <a:solidFill>
                  <a:schemeClr val="accent6">
                    <a:lumMod val="50000"/>
                  </a:schemeClr>
                </a:solidFill>
              </a:rPr>
              <a:t>A confidence interval represents the range of </a:t>
            </a:r>
            <a:r>
              <a:rPr lang="en-US" b="1" i="1" dirty="0" smtClean="0">
                <a:solidFill>
                  <a:schemeClr val="accent5">
                    <a:lumMod val="50000"/>
                  </a:schemeClr>
                </a:solidFill>
              </a:rPr>
              <a:t>plausible values</a:t>
            </a:r>
            <a:r>
              <a:rPr lang="en-US" b="1" dirty="0" smtClean="0">
                <a:solidFill>
                  <a:schemeClr val="accent5">
                    <a:lumMod val="50000"/>
                  </a:schemeClr>
                </a:solidFill>
              </a:rPr>
              <a:t> </a:t>
            </a:r>
            <a:r>
              <a:rPr lang="en-US" dirty="0" smtClean="0">
                <a:solidFill>
                  <a:schemeClr val="accent6">
                    <a:lumMod val="50000"/>
                  </a:schemeClr>
                </a:solidFill>
              </a:rPr>
              <a:t>for the population parameter</a:t>
            </a:r>
          </a:p>
          <a:p>
            <a:r>
              <a:rPr lang="en-US" dirty="0">
                <a:solidFill>
                  <a:schemeClr val="accent6">
                    <a:lumMod val="50000"/>
                  </a:schemeClr>
                </a:solidFill>
              </a:rPr>
              <a:t> </a:t>
            </a:r>
            <a:r>
              <a:rPr lang="en-US" dirty="0" smtClean="0">
                <a:solidFill>
                  <a:schemeClr val="accent6">
                    <a:lumMod val="50000"/>
                  </a:schemeClr>
                </a:solidFill>
              </a:rPr>
              <a:t>If the null hypothesized value </a:t>
            </a:r>
            <a:r>
              <a:rPr lang="en-US" b="1" i="1" dirty="0">
                <a:solidFill>
                  <a:schemeClr val="accent5">
                    <a:lumMod val="50000"/>
                  </a:schemeClr>
                </a:solidFill>
              </a:rPr>
              <a:t>IS NOT</a:t>
            </a:r>
            <a:r>
              <a:rPr lang="en-US" dirty="0" smtClean="0">
                <a:solidFill>
                  <a:schemeClr val="accent6">
                    <a:lumMod val="50000"/>
                  </a:schemeClr>
                </a:solidFill>
              </a:rPr>
              <a:t> within the CI, it is not a plausible value and </a:t>
            </a:r>
            <a:r>
              <a:rPr lang="en-US" b="1" i="1" dirty="0">
                <a:solidFill>
                  <a:schemeClr val="accent5">
                    <a:lumMod val="50000"/>
                  </a:schemeClr>
                </a:solidFill>
              </a:rPr>
              <a:t>should be</a:t>
            </a:r>
            <a:r>
              <a:rPr lang="en-US" dirty="0" smtClean="0">
                <a:solidFill>
                  <a:schemeClr val="accent6">
                    <a:lumMod val="50000"/>
                  </a:schemeClr>
                </a:solidFill>
              </a:rPr>
              <a:t> rejected</a:t>
            </a:r>
          </a:p>
          <a:p>
            <a:r>
              <a:rPr lang="en-US" dirty="0" smtClean="0">
                <a:solidFill>
                  <a:schemeClr val="accent6">
                    <a:lumMod val="50000"/>
                  </a:schemeClr>
                </a:solidFill>
              </a:rPr>
              <a:t>If the null hypothesized value </a:t>
            </a:r>
            <a:r>
              <a:rPr lang="en-US" b="1" i="1" dirty="0">
                <a:solidFill>
                  <a:schemeClr val="accent5">
                    <a:lumMod val="50000"/>
                  </a:schemeClr>
                </a:solidFill>
              </a:rPr>
              <a:t>IS</a:t>
            </a:r>
            <a:r>
              <a:rPr lang="en-US" dirty="0" smtClean="0">
                <a:solidFill>
                  <a:schemeClr val="accent6">
                    <a:lumMod val="50000"/>
                  </a:schemeClr>
                </a:solidFill>
              </a:rPr>
              <a:t> within the CI, it is a plausible value and </a:t>
            </a:r>
            <a:r>
              <a:rPr lang="en-US" b="1" i="1" dirty="0">
                <a:solidFill>
                  <a:schemeClr val="accent5">
                    <a:lumMod val="50000"/>
                  </a:schemeClr>
                </a:solidFill>
              </a:rPr>
              <a:t>should not</a:t>
            </a:r>
            <a:r>
              <a:rPr lang="en-US" dirty="0" smtClean="0">
                <a:solidFill>
                  <a:schemeClr val="accent6">
                    <a:lumMod val="50000"/>
                  </a:schemeClr>
                </a:solidFill>
              </a:rPr>
              <a:t> be rejected</a:t>
            </a:r>
          </a:p>
        </p:txBody>
      </p:sp>
    </p:spTree>
    <p:custDataLst>
      <p:tags r:id="rId1"/>
    </p:custDataLst>
    <p:extLst>
      <p:ext uri="{BB962C8B-B14F-4D97-AF65-F5344CB8AC3E}">
        <p14:creationId xmlns:p14="http://schemas.microsoft.com/office/powerpoint/2010/main" val="354572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0"/>
            <a:ext cx="9129932" cy="5447645"/>
          </a:xfrm>
          <a:prstGeom prst="rect">
            <a:avLst/>
          </a:prstGeom>
          <a:noFill/>
        </p:spPr>
        <p:txBody>
          <a:bodyPr wrap="square" rtlCol="0">
            <a:spAutoFit/>
          </a:bodyPr>
          <a:lstStyle/>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rPr>
              <a:t> Using bootstrapping, we found a 95% confidence interval for the mean body temperature to be (98.05</a:t>
            </a:r>
            <a:r>
              <a:rPr lang="en-US" sz="3200" dirty="0" smtClean="0">
                <a:solidFill>
                  <a:schemeClr val="accent6">
                    <a:lumMod val="50000"/>
                  </a:schemeClr>
                </a:solidFill>
                <a:cs typeface="Times New Roman" pitchFamily="18" charset="0"/>
                <a:sym typeface="Symbol"/>
              </a:rPr>
              <a:t>, 98.47)</a:t>
            </a:r>
          </a:p>
          <a:p>
            <a:pPr marL="457200" indent="-457200">
              <a:spcAft>
                <a:spcPts val="1800"/>
              </a:spcAft>
              <a:buClr>
                <a:schemeClr val="accent1"/>
              </a:buClr>
              <a:buFont typeface="Arial" pitchFamily="34" charset="0"/>
              <a:buChar char="•"/>
            </a:pPr>
            <a:r>
              <a:rPr lang="en-US" sz="3200" dirty="0" smtClean="0">
                <a:solidFill>
                  <a:schemeClr val="accent6">
                    <a:lumMod val="50000"/>
                  </a:schemeClr>
                </a:solidFill>
                <a:cs typeface="Times New Roman" pitchFamily="18" charset="0"/>
                <a:sym typeface="Symbol"/>
              </a:rPr>
              <a:t>This does not contain 98.6, so at </a:t>
            </a:r>
            <a:r>
              <a:rPr lang="el-GR" sz="3200" dirty="0">
                <a:solidFill>
                  <a:schemeClr val="accent6">
                    <a:lumMod val="50000"/>
                  </a:schemeClr>
                </a:solidFill>
                <a:cs typeface="Times New Roman" pitchFamily="18" charset="0"/>
              </a:rPr>
              <a:t>α </a:t>
            </a:r>
            <a:r>
              <a:rPr lang="en-US" sz="3200" dirty="0">
                <a:solidFill>
                  <a:schemeClr val="accent6">
                    <a:lumMod val="50000"/>
                  </a:schemeClr>
                </a:solidFill>
                <a:cs typeface="Times New Roman" pitchFamily="18" charset="0"/>
              </a:rPr>
              <a:t>= </a:t>
            </a:r>
            <a:r>
              <a:rPr lang="en-US" sz="3200" dirty="0" smtClean="0">
                <a:solidFill>
                  <a:schemeClr val="accent6">
                    <a:lumMod val="50000"/>
                  </a:schemeClr>
                </a:solidFill>
                <a:cs typeface="Times New Roman" pitchFamily="18" charset="0"/>
              </a:rPr>
              <a:t>0.05 we would reject H</a:t>
            </a:r>
            <a:r>
              <a:rPr lang="en-US" sz="3200" baseline="-25000" dirty="0" smtClean="0">
                <a:solidFill>
                  <a:schemeClr val="accent6">
                    <a:lumMod val="50000"/>
                  </a:schemeClr>
                </a:solidFill>
                <a:cs typeface="Times New Roman" pitchFamily="18" charset="0"/>
              </a:rPr>
              <a:t>0</a:t>
            </a:r>
            <a:r>
              <a:rPr lang="en-US" sz="3200" dirty="0" smtClean="0">
                <a:solidFill>
                  <a:schemeClr val="accent6">
                    <a:lumMod val="50000"/>
                  </a:schemeClr>
                </a:solidFill>
                <a:cs typeface="Times New Roman" pitchFamily="18" charset="0"/>
              </a:rPr>
              <a:t> for the hypotheses</a:t>
            </a:r>
            <a:endParaRPr lang="en-US" sz="3200" dirty="0" smtClean="0">
              <a:solidFill>
                <a:schemeClr val="accent6">
                  <a:lumMod val="50000"/>
                </a:schemeClr>
              </a:solidFill>
              <a:cs typeface="Times New Roman" pitchFamily="18" charset="0"/>
              <a:sym typeface="Symbol"/>
            </a:endParaRPr>
          </a:p>
          <a:p>
            <a:pPr lvl="1">
              <a:buClr>
                <a:schemeClr val="accent1"/>
              </a:buClr>
            </a:pPr>
            <a:r>
              <a:rPr lang="en-US" sz="3200" dirty="0">
                <a:solidFill>
                  <a:schemeClr val="accent6">
                    <a:lumMod val="50000"/>
                  </a:schemeClr>
                </a:solidFill>
                <a:cs typeface="Times New Roman" pitchFamily="18" charset="0"/>
                <a:sym typeface="Symbol"/>
              </a:rPr>
              <a:t>	</a:t>
            </a:r>
            <a:r>
              <a:rPr lang="en-US" sz="3200" dirty="0" smtClean="0">
                <a:solidFill>
                  <a:schemeClr val="accent6">
                    <a:lumMod val="50000"/>
                  </a:schemeClr>
                </a:solidFill>
                <a:cs typeface="Times New Roman" pitchFamily="18" charset="0"/>
                <a:sym typeface="Symbol"/>
              </a:rPr>
              <a:t>H</a:t>
            </a:r>
            <a:r>
              <a:rPr lang="en-US" sz="3200" baseline="-25000" dirty="0" smtClean="0">
                <a:solidFill>
                  <a:schemeClr val="accent6">
                    <a:lumMod val="50000"/>
                  </a:schemeClr>
                </a:solidFill>
                <a:cs typeface="Times New Roman" pitchFamily="18" charset="0"/>
                <a:sym typeface="Symbol"/>
              </a:rPr>
              <a:t>0</a:t>
            </a:r>
            <a:r>
              <a:rPr lang="en-US" sz="3200" dirty="0" smtClean="0">
                <a:solidFill>
                  <a:schemeClr val="accent6">
                    <a:lumMod val="50000"/>
                  </a:schemeClr>
                </a:solidFill>
                <a:cs typeface="Times New Roman" pitchFamily="18" charset="0"/>
                <a:sym typeface="Symbol"/>
              </a:rPr>
              <a:t> :  = 98.6</a:t>
            </a:r>
          </a:p>
          <a:p>
            <a:pPr lvl="1">
              <a:spcAft>
                <a:spcPts val="1800"/>
              </a:spcAft>
              <a:buClr>
                <a:schemeClr val="accent1"/>
              </a:buClr>
            </a:pPr>
            <a:r>
              <a:rPr lang="en-US" sz="3200" dirty="0" smtClean="0">
                <a:solidFill>
                  <a:schemeClr val="accent6">
                    <a:lumMod val="50000"/>
                  </a:schemeClr>
                </a:solidFill>
                <a:cs typeface="Times New Roman" pitchFamily="18" charset="0"/>
                <a:sym typeface="Symbol"/>
              </a:rPr>
              <a:t>	H</a:t>
            </a:r>
            <a:r>
              <a:rPr lang="en-US" sz="3200" baseline="-25000" dirty="0" smtClean="0">
                <a:solidFill>
                  <a:schemeClr val="accent6">
                    <a:lumMod val="50000"/>
                  </a:schemeClr>
                </a:solidFill>
                <a:cs typeface="Times New Roman" pitchFamily="18" charset="0"/>
                <a:sym typeface="Symbol"/>
              </a:rPr>
              <a:t>a</a:t>
            </a:r>
            <a:r>
              <a:rPr lang="en-US" sz="3200" dirty="0" smtClean="0">
                <a:solidFill>
                  <a:schemeClr val="accent6">
                    <a:lumMod val="50000"/>
                  </a:schemeClr>
                </a:solidFill>
                <a:cs typeface="Times New Roman" pitchFamily="18" charset="0"/>
                <a:sym typeface="Symbol"/>
              </a:rPr>
              <a:t> :  ≠ 98.6 </a:t>
            </a:r>
          </a:p>
          <a:p>
            <a:pPr lvl="1">
              <a:spcAft>
                <a:spcPts val="1800"/>
              </a:spcAft>
              <a:buClr>
                <a:schemeClr val="accent1"/>
              </a:buClr>
            </a:pPr>
            <a:r>
              <a:rPr lang="en-US" sz="3200" dirty="0" smtClean="0">
                <a:solidFill>
                  <a:prstClr val="black"/>
                </a:solidFill>
                <a:cs typeface="Times New Roman" pitchFamily="18" charset="0"/>
                <a:sym typeface="Symbol"/>
                <a:hlinkClick r:id="rId3"/>
              </a:rPr>
              <a:t>StatKey</a:t>
            </a:r>
            <a:endParaRPr lang="en-US" sz="3200" dirty="0" smtClean="0">
              <a:solidFill>
                <a:prstClr val="black"/>
              </a:solidFill>
              <a:cs typeface="Times New Roman" pitchFamily="18" charset="0"/>
              <a:sym typeface="Symbol"/>
            </a:endParaRPr>
          </a:p>
          <a:p>
            <a:pPr marL="0" lvl="1">
              <a:spcAft>
                <a:spcPts val="1800"/>
              </a:spcAft>
              <a:buClr>
                <a:schemeClr val="accent1"/>
              </a:buClr>
            </a:pPr>
            <a:endParaRPr lang="en-US" sz="3200" dirty="0" smtClean="0">
              <a:solidFill>
                <a:prstClr val="black"/>
              </a:solidFill>
              <a:cs typeface="Times New Roman" pitchFamily="18" charset="0"/>
            </a:endParaRPr>
          </a:p>
        </p:txBody>
      </p:sp>
      <p:sp>
        <p:nvSpPr>
          <p:cNvPr id="3" name="Title 1"/>
          <p:cNvSpPr txBox="1">
            <a:spLocks/>
          </p:cNvSpPr>
          <p:nvPr/>
        </p:nvSpPr>
        <p:spPr>
          <a:xfrm>
            <a:off x="457200" y="152400"/>
            <a:ext cx="8153400" cy="914400"/>
          </a:xfrm>
          <a:prstGeom prst="rect">
            <a:avLst/>
          </a:prstGeom>
        </p:spPr>
        <p:txBody>
          <a:bodyPr/>
          <a:lstStyle/>
          <a:p>
            <a:pPr lvl="0" algn="ctr">
              <a:spcBef>
                <a:spcPct val="0"/>
              </a:spcBef>
              <a:defRPr/>
            </a:pPr>
            <a:r>
              <a:rPr lang="en-US" sz="4400" b="1" dirty="0" smtClean="0">
                <a:solidFill>
                  <a:schemeClr val="tx2"/>
                </a:solidFill>
              </a:rPr>
              <a:t>Body Temperatures</a:t>
            </a:r>
            <a:endParaRPr lang="en-US" sz="4000" b="1" dirty="0">
              <a:solidFill>
                <a:schemeClr val="tx2"/>
              </a:solidFill>
            </a:endParaRPr>
          </a:p>
        </p:txBody>
      </p:sp>
    </p:spTree>
    <p:custDataLst>
      <p:tags r:id="rId1"/>
    </p:custDataLst>
    <p:extLst>
      <p:ext uri="{BB962C8B-B14F-4D97-AF65-F5344CB8AC3E}">
        <p14:creationId xmlns:p14="http://schemas.microsoft.com/office/powerpoint/2010/main" val="1006493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25831" y="228600"/>
            <a:ext cx="9132376" cy="3657600"/>
          </a:xfrm>
        </p:spPr>
        <p:txBody>
          <a:bodyPr>
            <a:noAutofit/>
          </a:bodyPr>
          <a:lstStyle/>
          <a:p>
            <a:r>
              <a:rPr lang="en-US" sz="3400" i="1" dirty="0">
                <a:solidFill>
                  <a:schemeClr val="accent1">
                    <a:lumMod val="50000"/>
                  </a:schemeClr>
                </a:solidFill>
              </a:rPr>
              <a:t>“Does a child need both a father and a mother to grow up happily?”</a:t>
            </a:r>
            <a:br>
              <a:rPr lang="en-US" sz="3400" i="1" dirty="0">
                <a:solidFill>
                  <a:schemeClr val="accent1">
                    <a:lumMod val="50000"/>
                  </a:schemeClr>
                </a:solidFill>
              </a:rPr>
            </a:br>
            <a:r>
              <a:rPr lang="en-US" sz="3400" dirty="0"/>
              <a:t>Let </a:t>
            </a:r>
            <a:r>
              <a:rPr lang="en-US" sz="3400" i="1" dirty="0"/>
              <a:t>p</a:t>
            </a:r>
            <a:r>
              <a:rPr lang="en-US" sz="3400" dirty="0"/>
              <a:t> be the proportion of adults aged 18-29 in </a:t>
            </a:r>
            <a:r>
              <a:rPr lang="en-US" sz="3400" dirty="0">
                <a:solidFill>
                  <a:schemeClr val="accent2"/>
                </a:solidFill>
              </a:rPr>
              <a:t>2010</a:t>
            </a:r>
            <a:r>
              <a:rPr lang="en-US" sz="3400" dirty="0"/>
              <a:t> who say yes.  A 95% CI for </a:t>
            </a:r>
            <a:r>
              <a:rPr lang="en-US" sz="3400" i="1" dirty="0"/>
              <a:t>p</a:t>
            </a:r>
            <a:r>
              <a:rPr lang="en-US" sz="3400" dirty="0"/>
              <a:t> is (0.487, 0.573).   </a:t>
            </a:r>
            <a:br>
              <a:rPr lang="en-US" sz="3400" dirty="0"/>
            </a:br>
            <a:r>
              <a:rPr lang="en-US" sz="3400" dirty="0"/>
              <a:t>Testing H</a:t>
            </a:r>
            <a:r>
              <a:rPr lang="en-US" sz="3400" baseline="-25000" dirty="0"/>
              <a:t>0</a:t>
            </a:r>
            <a:r>
              <a:rPr lang="en-US" sz="3400" dirty="0"/>
              <a:t>: </a:t>
            </a:r>
            <a:r>
              <a:rPr lang="en-US" sz="3400" i="1" dirty="0"/>
              <a:t>p</a:t>
            </a:r>
            <a:r>
              <a:rPr lang="en-US" sz="3400" dirty="0"/>
              <a:t> = 0.5 </a:t>
            </a:r>
            <a:r>
              <a:rPr lang="en-US" sz="3400" dirty="0" err="1"/>
              <a:t>vs</a:t>
            </a:r>
            <a:r>
              <a:rPr lang="en-US" sz="3400" dirty="0"/>
              <a:t> H</a:t>
            </a:r>
            <a:r>
              <a:rPr lang="en-US" sz="3400" baseline="-25000" dirty="0"/>
              <a:t>a</a:t>
            </a:r>
            <a:r>
              <a:rPr lang="en-US" sz="3400" dirty="0"/>
              <a:t>: </a:t>
            </a:r>
            <a:r>
              <a:rPr lang="en-US" sz="3400" i="1" dirty="0"/>
              <a:t>p</a:t>
            </a:r>
            <a:r>
              <a:rPr lang="en-US" sz="3400" dirty="0"/>
              <a:t> ≠ 0.5 with </a:t>
            </a:r>
            <a:r>
              <a:rPr lang="el-GR" sz="3400" dirty="0"/>
              <a:t>α</a:t>
            </a:r>
            <a:r>
              <a:rPr lang="en-US" sz="3400" dirty="0"/>
              <a:t> = 0.05, we</a:t>
            </a:r>
          </a:p>
        </p:txBody>
      </p:sp>
      <p:sp>
        <p:nvSpPr>
          <p:cNvPr id="6" name="Rectangle 5"/>
          <p:cNvSpPr/>
          <p:nvPr/>
        </p:nvSpPr>
        <p:spPr>
          <a:xfrm>
            <a:off x="-7035" y="6111039"/>
            <a:ext cx="7121331" cy="707886"/>
          </a:xfrm>
          <a:prstGeom prst="rect">
            <a:avLst/>
          </a:prstGeom>
        </p:spPr>
        <p:txBody>
          <a:bodyPr wrap="square">
            <a:spAutoFit/>
          </a:bodyPr>
          <a:lstStyle/>
          <a:p>
            <a:r>
              <a:rPr lang="en-US" sz="2000" dirty="0">
                <a:hlinkClick r:id="rId4"/>
              </a:rPr>
              <a:t>http://www.pewsocialtrends.org/2011/03/09/for-millennials-parenthood-trumps-marriage/#fn-7199-1</a:t>
            </a:r>
            <a:endParaRPr lang="en-US" sz="2000" dirty="0"/>
          </a:p>
        </p:txBody>
      </p:sp>
      <p:sp>
        <p:nvSpPr>
          <p:cNvPr id="4" name="TPAnswers"/>
          <p:cNvSpPr>
            <a:spLocks noGrp="1"/>
          </p:cNvSpPr>
          <p:nvPr>
            <p:ph idx="4294967295"/>
            <p:custDataLst>
              <p:tags r:id="rId2"/>
            </p:custDataLst>
          </p:nvPr>
        </p:nvSpPr>
        <p:spPr>
          <a:xfrm>
            <a:off x="152400" y="3352800"/>
            <a:ext cx="4267201" cy="2085975"/>
          </a:xfrm>
        </p:spPr>
        <p:txBody>
          <a:bodyPr>
            <a:noAutofit/>
          </a:bodyPr>
          <a:lstStyle/>
          <a:p>
            <a:pPr marL="1428750" indent="-514350">
              <a:spcBef>
                <a:spcPct val="20000"/>
              </a:spcBef>
              <a:buFont typeface="+mj-lt"/>
              <a:buAutoNum type="arabicPeriod"/>
            </a:pPr>
            <a:r>
              <a:rPr lang="en-US" dirty="0"/>
              <a:t> </a:t>
            </a:r>
            <a:r>
              <a:rPr lang="en-US" sz="2800" dirty="0" smtClean="0"/>
              <a:t>Reject H</a:t>
            </a:r>
            <a:r>
              <a:rPr lang="en-US" sz="2800" baseline="-25000" dirty="0" smtClean="0"/>
              <a:t>0</a:t>
            </a:r>
            <a:endParaRPr lang="en-US" sz="2800" dirty="0" smtClean="0"/>
          </a:p>
          <a:p>
            <a:pPr marL="1428750" indent="-514350">
              <a:spcBef>
                <a:spcPct val="20000"/>
              </a:spcBef>
              <a:buFont typeface="+mj-lt"/>
              <a:buAutoNum type="arabicPeriod"/>
            </a:pPr>
            <a:r>
              <a:rPr lang="en-US" sz="2800" dirty="0"/>
              <a:t> </a:t>
            </a:r>
            <a:r>
              <a:rPr lang="en-US" sz="2800" dirty="0" smtClean="0"/>
              <a:t>Do not reject H</a:t>
            </a:r>
            <a:r>
              <a:rPr lang="en-US" sz="2800" baseline="-25000" dirty="0" smtClean="0"/>
              <a:t>0</a:t>
            </a:r>
            <a:endParaRPr lang="en-US" sz="2800" dirty="0" smtClean="0"/>
          </a:p>
          <a:p>
            <a:pPr marL="1428750" indent="-514350">
              <a:spcBef>
                <a:spcPct val="20000"/>
              </a:spcBef>
              <a:buFont typeface="+mj-lt"/>
              <a:buAutoNum type="arabicPeriod"/>
            </a:pPr>
            <a:r>
              <a:rPr lang="en-US" sz="2800" dirty="0"/>
              <a:t> </a:t>
            </a:r>
            <a:r>
              <a:rPr lang="en-US" sz="2800" dirty="0" smtClean="0"/>
              <a:t>Reject H</a:t>
            </a:r>
            <a:r>
              <a:rPr lang="en-US" sz="2800" baseline="-25000" dirty="0" smtClean="0"/>
              <a:t>a</a:t>
            </a:r>
            <a:endParaRPr lang="en-US" sz="2800" dirty="0" smtClean="0"/>
          </a:p>
          <a:p>
            <a:pPr marL="1428750" indent="-514350">
              <a:spcBef>
                <a:spcPct val="20000"/>
              </a:spcBef>
              <a:buFont typeface="+mj-lt"/>
              <a:buAutoNum type="arabicPeriod"/>
            </a:pPr>
            <a:r>
              <a:rPr lang="en-US" sz="2800" dirty="0"/>
              <a:t> </a:t>
            </a:r>
            <a:r>
              <a:rPr lang="en-US" sz="2800" dirty="0" smtClean="0"/>
              <a:t>Do not reject H</a:t>
            </a:r>
            <a:r>
              <a:rPr lang="en-US" sz="2800" baseline="-25000" dirty="0" smtClean="0"/>
              <a:t>a</a:t>
            </a:r>
          </a:p>
        </p:txBody>
      </p:sp>
    </p:spTree>
    <p:custDataLst>
      <p:tags r:id="rId1"/>
    </p:custDataLst>
    <p:extLst>
      <p:ext uri="{BB962C8B-B14F-4D97-AF65-F5344CB8AC3E}">
        <p14:creationId xmlns:p14="http://schemas.microsoft.com/office/powerpoint/2010/main" val="32006596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38687" y="3269799"/>
            <a:ext cx="3237914" cy="3061602"/>
          </a:xfrm>
        </p:spPr>
        <p:txBody>
          <a:bodyPr>
            <a:noAutofit/>
          </a:bodyPr>
          <a:lstStyle/>
          <a:p>
            <a:pPr marL="514350" indent="-514350">
              <a:spcBef>
                <a:spcPct val="20000"/>
              </a:spcBef>
              <a:buFont typeface="Wingdings"/>
              <a:buAutoNum type="arabicPeriod"/>
            </a:pPr>
            <a:r>
              <a:rPr lang="en-US" dirty="0"/>
              <a:t> </a:t>
            </a:r>
            <a:r>
              <a:rPr lang="en-US" sz="2800" dirty="0" smtClean="0"/>
              <a:t>Reject H</a:t>
            </a:r>
            <a:r>
              <a:rPr lang="en-US" sz="2800" baseline="-25000" dirty="0" smtClean="0"/>
              <a:t>0</a:t>
            </a:r>
            <a:endParaRPr lang="en-US" sz="2800" dirty="0" smtClean="0"/>
          </a:p>
          <a:p>
            <a:pPr marL="514350" indent="-514350">
              <a:spcBef>
                <a:spcPct val="20000"/>
              </a:spcBef>
              <a:buFont typeface="Wingdings"/>
              <a:buAutoNum type="arabicPeriod"/>
            </a:pPr>
            <a:r>
              <a:rPr lang="en-US" sz="2800" dirty="0"/>
              <a:t> </a:t>
            </a:r>
            <a:r>
              <a:rPr lang="en-US" sz="2800" dirty="0" smtClean="0"/>
              <a:t>Do not reject H</a:t>
            </a:r>
            <a:r>
              <a:rPr lang="en-US" sz="2800" baseline="-25000" dirty="0" smtClean="0"/>
              <a:t>0</a:t>
            </a:r>
            <a:endParaRPr lang="en-US" sz="2800" dirty="0" smtClean="0"/>
          </a:p>
          <a:p>
            <a:pPr marL="514350" indent="-514350">
              <a:spcBef>
                <a:spcPct val="20000"/>
              </a:spcBef>
              <a:buFont typeface="Wingdings"/>
              <a:buAutoNum type="arabicPeriod"/>
            </a:pPr>
            <a:r>
              <a:rPr lang="en-US" sz="2800" dirty="0"/>
              <a:t> </a:t>
            </a:r>
            <a:r>
              <a:rPr lang="en-US" sz="2800" dirty="0" smtClean="0"/>
              <a:t>Reject H</a:t>
            </a:r>
            <a:r>
              <a:rPr lang="en-US" sz="2800" baseline="-25000" dirty="0" smtClean="0"/>
              <a:t>a</a:t>
            </a:r>
            <a:endParaRPr lang="en-US" sz="2800" dirty="0" smtClean="0"/>
          </a:p>
          <a:p>
            <a:pPr marL="514350" indent="-514350">
              <a:spcBef>
                <a:spcPct val="20000"/>
              </a:spcBef>
              <a:buFont typeface="Wingdings"/>
              <a:buAutoNum type="arabicPeriod"/>
            </a:pPr>
            <a:r>
              <a:rPr lang="en-US" sz="2800" dirty="0"/>
              <a:t> </a:t>
            </a:r>
            <a:r>
              <a:rPr lang="en-US" sz="2800" dirty="0" smtClean="0"/>
              <a:t>Do not reject H</a:t>
            </a:r>
            <a:r>
              <a:rPr lang="en-US" sz="2800" baseline="-25000" dirty="0" smtClean="0"/>
              <a:t>a</a:t>
            </a:r>
          </a:p>
        </p:txBody>
      </p:sp>
      <p:sp>
        <p:nvSpPr>
          <p:cNvPr id="2" name="TPQuestion"/>
          <p:cNvSpPr>
            <a:spLocks noGrp="1"/>
          </p:cNvSpPr>
          <p:nvPr>
            <p:ph type="title" idx="4294967295"/>
          </p:nvPr>
        </p:nvSpPr>
        <p:spPr>
          <a:xfrm>
            <a:off x="16790" y="228600"/>
            <a:ext cx="9127210" cy="2667000"/>
          </a:xfrm>
        </p:spPr>
        <p:txBody>
          <a:bodyPr>
            <a:noAutofit/>
          </a:bodyPr>
          <a:lstStyle/>
          <a:p>
            <a:r>
              <a:rPr lang="en-US" sz="3200" i="1" dirty="0">
                <a:solidFill>
                  <a:schemeClr val="accent1">
                    <a:lumMod val="50000"/>
                  </a:schemeClr>
                </a:solidFill>
              </a:rPr>
              <a:t>“Does a child need both a father and a mother to grow up happily?”</a:t>
            </a:r>
            <a:br>
              <a:rPr lang="en-US" sz="3200" i="1" dirty="0">
                <a:solidFill>
                  <a:schemeClr val="accent1">
                    <a:lumMod val="50000"/>
                  </a:schemeClr>
                </a:solidFill>
              </a:rPr>
            </a:br>
            <a:r>
              <a:rPr lang="en-US" sz="3200" dirty="0"/>
              <a:t>Let </a:t>
            </a:r>
            <a:r>
              <a:rPr lang="en-US" sz="3200" i="1" dirty="0"/>
              <a:t>p</a:t>
            </a:r>
            <a:r>
              <a:rPr lang="en-US" sz="3200" dirty="0"/>
              <a:t> be the proportion of adults aged 18-29 in </a:t>
            </a:r>
            <a:r>
              <a:rPr lang="en-US" sz="3200" dirty="0">
                <a:solidFill>
                  <a:schemeClr val="accent2"/>
                </a:solidFill>
              </a:rPr>
              <a:t>1997</a:t>
            </a:r>
            <a:r>
              <a:rPr lang="en-US" sz="3200" dirty="0"/>
              <a:t> who say yes.  A 95% CI for </a:t>
            </a:r>
            <a:r>
              <a:rPr lang="en-US" sz="3200" i="1" dirty="0"/>
              <a:t>p</a:t>
            </a:r>
            <a:r>
              <a:rPr lang="en-US" sz="3200" dirty="0"/>
              <a:t> is (0.533, 0.607).   </a:t>
            </a:r>
            <a:br>
              <a:rPr lang="en-US" sz="3200" dirty="0"/>
            </a:br>
            <a:r>
              <a:rPr lang="en-US" sz="3200" dirty="0"/>
              <a:t>Testing H</a:t>
            </a:r>
            <a:r>
              <a:rPr lang="en-US" sz="3200" baseline="-25000" dirty="0"/>
              <a:t>0</a:t>
            </a:r>
            <a:r>
              <a:rPr lang="en-US" sz="3200" dirty="0"/>
              <a:t>: </a:t>
            </a:r>
            <a:r>
              <a:rPr lang="en-US" sz="3200" i="1" dirty="0"/>
              <a:t>p</a:t>
            </a:r>
            <a:r>
              <a:rPr lang="en-US" sz="3200" dirty="0"/>
              <a:t> = 0.5 </a:t>
            </a:r>
            <a:r>
              <a:rPr lang="en-US" sz="3200" dirty="0" err="1"/>
              <a:t>vs</a:t>
            </a:r>
            <a:r>
              <a:rPr lang="en-US" sz="3200" dirty="0"/>
              <a:t> H</a:t>
            </a:r>
            <a:r>
              <a:rPr lang="en-US" sz="3200" baseline="-25000" dirty="0"/>
              <a:t>a</a:t>
            </a:r>
            <a:r>
              <a:rPr lang="en-US" sz="3200" dirty="0"/>
              <a:t>: </a:t>
            </a:r>
            <a:r>
              <a:rPr lang="en-US" sz="3200" i="1" dirty="0"/>
              <a:t>p</a:t>
            </a:r>
            <a:r>
              <a:rPr lang="en-US" sz="3200" dirty="0"/>
              <a:t> ≠ 0.5 with </a:t>
            </a:r>
            <a:r>
              <a:rPr lang="el-GR" sz="3200" dirty="0"/>
              <a:t>α</a:t>
            </a:r>
            <a:r>
              <a:rPr lang="en-US" sz="3200" dirty="0"/>
              <a:t> = 0.05, </a:t>
            </a:r>
            <a:r>
              <a:rPr lang="en-US" sz="3200" dirty="0" smtClean="0"/>
              <a:t>we</a:t>
            </a:r>
            <a:br>
              <a:rPr lang="en-US" sz="3200" dirty="0" smtClean="0"/>
            </a:br>
            <a:endParaRPr lang="en-US" sz="3200" dirty="0"/>
          </a:p>
        </p:txBody>
      </p:sp>
      <p:sp>
        <p:nvSpPr>
          <p:cNvPr id="6" name="Rectangle 5"/>
          <p:cNvSpPr/>
          <p:nvPr/>
        </p:nvSpPr>
        <p:spPr>
          <a:xfrm>
            <a:off x="38686" y="6087516"/>
            <a:ext cx="7101401" cy="707886"/>
          </a:xfrm>
          <a:prstGeom prst="rect">
            <a:avLst/>
          </a:prstGeom>
        </p:spPr>
        <p:txBody>
          <a:bodyPr wrap="square">
            <a:spAutoFit/>
          </a:bodyPr>
          <a:lstStyle/>
          <a:p>
            <a:r>
              <a:rPr lang="en-US" sz="2000" dirty="0">
                <a:hlinkClick r:id="rId4"/>
              </a:rPr>
              <a:t>http://www.pewsocialtrends.org/2011/03/09/for-millennials-parenthood-trumps-marriage/#fn-7199-1</a:t>
            </a:r>
            <a:endParaRPr lang="en-US" sz="2000" dirty="0"/>
          </a:p>
        </p:txBody>
      </p:sp>
    </p:spTree>
    <p:custDataLst>
      <p:tags r:id="rId1"/>
    </p:custDataLst>
    <p:extLst>
      <p:ext uri="{BB962C8B-B14F-4D97-AF65-F5344CB8AC3E}">
        <p14:creationId xmlns:p14="http://schemas.microsoft.com/office/powerpoint/2010/main" val="36635900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Intervals and Tests</a:t>
            </a:r>
            <a:endParaRPr lang="en-US" dirty="0">
              <a:solidFill>
                <a:schemeClr val="tx2"/>
              </a:solidFill>
            </a:endParaRPr>
          </a:p>
        </p:txBody>
      </p:sp>
      <p:sp>
        <p:nvSpPr>
          <p:cNvPr id="3" name="Content Placeholder 2"/>
          <p:cNvSpPr>
            <a:spLocks noGrp="1"/>
          </p:cNvSpPr>
          <p:nvPr>
            <p:ph idx="1"/>
          </p:nvPr>
        </p:nvSpPr>
        <p:spPr>
          <a:xfrm>
            <a:off x="0" y="1524000"/>
            <a:ext cx="9144000" cy="5334000"/>
          </a:xfrm>
        </p:spPr>
        <p:txBody>
          <a:bodyPr/>
          <a:lstStyle/>
          <a:p>
            <a:r>
              <a:rPr lang="en-US" dirty="0" smtClean="0">
                <a:solidFill>
                  <a:schemeClr val="accent6">
                    <a:lumMod val="50000"/>
                  </a:schemeClr>
                </a:solidFill>
              </a:rPr>
              <a:t>Confidence intervals are most useful when you want to </a:t>
            </a:r>
            <a:r>
              <a:rPr lang="en-US" b="1" i="1" dirty="0" smtClean="0">
                <a:solidFill>
                  <a:schemeClr val="accent5">
                    <a:lumMod val="50000"/>
                  </a:schemeClr>
                </a:solidFill>
              </a:rPr>
              <a:t>estimate</a:t>
            </a:r>
            <a:r>
              <a:rPr lang="en-US" dirty="0" smtClean="0">
                <a:solidFill>
                  <a:schemeClr val="accent5">
                    <a:lumMod val="50000"/>
                  </a:schemeClr>
                </a:solidFill>
              </a:rPr>
              <a:t> </a:t>
            </a:r>
            <a:r>
              <a:rPr lang="en-US" dirty="0" smtClean="0">
                <a:solidFill>
                  <a:schemeClr val="accent6">
                    <a:lumMod val="50000"/>
                  </a:schemeClr>
                </a:solidFill>
              </a:rPr>
              <a:t>population parameters</a:t>
            </a:r>
          </a:p>
          <a:p>
            <a:r>
              <a:rPr lang="en-US" dirty="0" smtClean="0">
                <a:solidFill>
                  <a:schemeClr val="accent6">
                    <a:lumMod val="50000"/>
                  </a:schemeClr>
                </a:solidFill>
              </a:rPr>
              <a:t>Hypothesis tests and p-values are most useful when you want to </a:t>
            </a:r>
            <a:r>
              <a:rPr lang="en-US" b="1" i="1" dirty="0" smtClean="0">
                <a:solidFill>
                  <a:schemeClr val="accent5">
                    <a:lumMod val="50000"/>
                  </a:schemeClr>
                </a:solidFill>
              </a:rPr>
              <a:t>test hypotheses</a:t>
            </a:r>
            <a:r>
              <a:rPr lang="en-US" dirty="0" smtClean="0">
                <a:solidFill>
                  <a:schemeClr val="accent5">
                    <a:lumMod val="50000"/>
                  </a:schemeClr>
                </a:solidFill>
              </a:rPr>
              <a:t> </a:t>
            </a:r>
            <a:r>
              <a:rPr lang="en-US" dirty="0" smtClean="0">
                <a:solidFill>
                  <a:schemeClr val="accent6">
                    <a:lumMod val="50000"/>
                  </a:schemeClr>
                </a:solidFill>
              </a:rPr>
              <a:t>about population parameters</a:t>
            </a:r>
          </a:p>
          <a:p>
            <a:r>
              <a:rPr lang="en-US" dirty="0" smtClean="0">
                <a:solidFill>
                  <a:schemeClr val="accent6">
                    <a:lumMod val="50000"/>
                  </a:schemeClr>
                </a:solidFill>
              </a:rPr>
              <a:t>Confidence intervals give you a </a:t>
            </a:r>
            <a:r>
              <a:rPr lang="en-US" b="1" dirty="0" smtClean="0">
                <a:solidFill>
                  <a:schemeClr val="accent5">
                    <a:lumMod val="50000"/>
                  </a:schemeClr>
                </a:solidFill>
              </a:rPr>
              <a:t>range of plausible values</a:t>
            </a:r>
            <a:r>
              <a:rPr lang="en-US" dirty="0" smtClean="0">
                <a:solidFill>
                  <a:schemeClr val="accent6">
                    <a:lumMod val="50000"/>
                  </a:schemeClr>
                </a:solidFill>
              </a:rPr>
              <a:t>; p-values quantify the </a:t>
            </a:r>
            <a:r>
              <a:rPr lang="en-US" b="1" dirty="0" smtClean="0">
                <a:solidFill>
                  <a:schemeClr val="accent5">
                    <a:lumMod val="50000"/>
                  </a:schemeClr>
                </a:solidFill>
              </a:rPr>
              <a:t>strength of evidence against the null hypothesis</a:t>
            </a:r>
            <a:endParaRPr lang="en-US" b="1" dirty="0">
              <a:solidFill>
                <a:schemeClr val="accent5">
                  <a:lumMod val="50000"/>
                </a:schemeClr>
              </a:solidFill>
            </a:endParaRPr>
          </a:p>
        </p:txBody>
      </p:sp>
    </p:spTree>
    <p:custDataLst>
      <p:tags r:id="rId1"/>
    </p:custDataLst>
    <p:extLst>
      <p:ext uri="{BB962C8B-B14F-4D97-AF65-F5344CB8AC3E}">
        <p14:creationId xmlns:p14="http://schemas.microsoft.com/office/powerpoint/2010/main" val="7868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228600"/>
            <a:ext cx="9144000" cy="3581400"/>
          </a:xfrm>
        </p:spPr>
        <p:txBody>
          <a:bodyPr>
            <a:normAutofit/>
          </a:bodyPr>
          <a:lstStyle/>
          <a:p>
            <a:r>
              <a:rPr lang="en-US" sz="3600" dirty="0"/>
              <a:t>Is the following question best assessed using a confidence interval, a hypothesis test, or is statistical inference not relevant?</a:t>
            </a:r>
            <a:br>
              <a:rPr lang="en-US" sz="3600" dirty="0"/>
            </a:br>
            <a:r>
              <a:rPr lang="en-US" sz="3600" i="1" dirty="0">
                <a:solidFill>
                  <a:schemeClr val="accent1">
                    <a:lumMod val="50000"/>
                  </a:schemeClr>
                </a:solidFill>
              </a:rPr>
              <a:t>On average, how much more do adults who played sports in high school exercise than adults who did not play sports in high school?</a:t>
            </a:r>
          </a:p>
        </p:txBody>
      </p:sp>
      <p:sp>
        <p:nvSpPr>
          <p:cNvPr id="4" name="TPAnswers"/>
          <p:cNvSpPr>
            <a:spLocks noGrp="1"/>
          </p:cNvSpPr>
          <p:nvPr>
            <p:ph idx="4294967295"/>
            <p:custDataLst>
              <p:tags r:id="rId2"/>
            </p:custDataLst>
          </p:nvPr>
        </p:nvSpPr>
        <p:spPr>
          <a:xfrm>
            <a:off x="0" y="3733800"/>
            <a:ext cx="5029200" cy="2895600"/>
          </a:xfrm>
        </p:spPr>
        <p:txBody>
          <a:bodyPr>
            <a:noAutofit/>
          </a:bodyPr>
          <a:lstStyle/>
          <a:p>
            <a:pPr marL="1428750" indent="-514350">
              <a:spcBef>
                <a:spcPct val="20000"/>
              </a:spcBef>
              <a:buFont typeface="+mj-lt"/>
              <a:buAutoNum type="arabicPeriod"/>
            </a:pPr>
            <a:r>
              <a:rPr lang="en-US" dirty="0" smtClean="0"/>
              <a:t> Confidence interval</a:t>
            </a:r>
          </a:p>
          <a:p>
            <a:pPr marL="1428750" indent="-514350">
              <a:spcBef>
                <a:spcPct val="20000"/>
              </a:spcBef>
              <a:buFont typeface="+mj-lt"/>
              <a:buAutoNum type="arabicPeriod"/>
            </a:pPr>
            <a:r>
              <a:rPr lang="en-US" dirty="0"/>
              <a:t> </a:t>
            </a:r>
            <a:r>
              <a:rPr lang="en-US" dirty="0" smtClean="0"/>
              <a:t>Hypothesis test</a:t>
            </a:r>
          </a:p>
          <a:p>
            <a:pPr marL="1428750" indent="-514350">
              <a:spcBef>
                <a:spcPct val="20000"/>
              </a:spcBef>
              <a:buFont typeface="+mj-lt"/>
              <a:buAutoNum type="arabicPeriod"/>
            </a:pPr>
            <a:r>
              <a:rPr lang="en-US" dirty="0"/>
              <a:t> </a:t>
            </a:r>
            <a:r>
              <a:rPr lang="en-US" dirty="0" smtClean="0"/>
              <a:t>Statistical inference not relevant</a:t>
            </a:r>
            <a:endParaRPr lang="en-US" dirty="0"/>
          </a:p>
        </p:txBody>
      </p:sp>
    </p:spTree>
    <p:custDataLst>
      <p:tags r:id="rId1"/>
    </p:custDataLst>
    <p:extLst>
      <p:ext uri="{BB962C8B-B14F-4D97-AF65-F5344CB8AC3E}">
        <p14:creationId xmlns:p14="http://schemas.microsoft.com/office/powerpoint/2010/main" val="24121929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228600"/>
            <a:ext cx="9144000" cy="3429000"/>
          </a:xfrm>
        </p:spPr>
        <p:txBody>
          <a:bodyPr>
            <a:normAutofit/>
          </a:bodyPr>
          <a:lstStyle/>
          <a:p>
            <a:r>
              <a:rPr lang="en-US" sz="3400" dirty="0"/>
              <a:t>Is the following question best assessed using a confidence interval, a hypothesis test, or is statistical inference not relevant?</a:t>
            </a:r>
            <a:br>
              <a:rPr lang="en-US" sz="3400" dirty="0"/>
            </a:br>
            <a:r>
              <a:rPr lang="en-US" sz="3400" i="1" dirty="0">
                <a:solidFill>
                  <a:schemeClr val="accent1">
                    <a:lumMod val="50000"/>
                  </a:schemeClr>
                </a:solidFill>
              </a:rPr>
              <a:t>On average, were the 23 players on the 2010 Canadian Olympic hockey team older than the 23 players on the 2010 US Olympic hockey team?</a:t>
            </a:r>
          </a:p>
        </p:txBody>
      </p:sp>
      <p:sp>
        <p:nvSpPr>
          <p:cNvPr id="4" name="TPAnswers"/>
          <p:cNvSpPr>
            <a:spLocks noGrp="1"/>
          </p:cNvSpPr>
          <p:nvPr>
            <p:ph idx="4294967295"/>
            <p:custDataLst>
              <p:tags r:id="rId2"/>
            </p:custDataLst>
          </p:nvPr>
        </p:nvSpPr>
        <p:spPr>
          <a:xfrm>
            <a:off x="76200" y="3592513"/>
            <a:ext cx="5029200" cy="2884487"/>
          </a:xfrm>
        </p:spPr>
        <p:txBody>
          <a:bodyPr>
            <a:noAutofit/>
          </a:bodyPr>
          <a:lstStyle/>
          <a:p>
            <a:pPr marL="1428750" indent="-514350">
              <a:spcBef>
                <a:spcPct val="20000"/>
              </a:spcBef>
              <a:buFont typeface="+mj-lt"/>
              <a:buAutoNum type="arabicPeriod"/>
            </a:pPr>
            <a:r>
              <a:rPr lang="en-US" dirty="0" smtClean="0"/>
              <a:t> Confidence interval</a:t>
            </a:r>
          </a:p>
          <a:p>
            <a:pPr marL="1428750" indent="-514350">
              <a:spcBef>
                <a:spcPct val="20000"/>
              </a:spcBef>
              <a:buFont typeface="+mj-lt"/>
              <a:buAutoNum type="arabicPeriod"/>
            </a:pPr>
            <a:r>
              <a:rPr lang="en-US" dirty="0"/>
              <a:t> </a:t>
            </a:r>
            <a:r>
              <a:rPr lang="en-US" dirty="0" smtClean="0"/>
              <a:t>Hypothesis test</a:t>
            </a:r>
          </a:p>
          <a:p>
            <a:pPr marL="1428750" indent="-514350">
              <a:spcBef>
                <a:spcPct val="20000"/>
              </a:spcBef>
              <a:buFont typeface="+mj-lt"/>
              <a:buAutoNum type="arabicPeriod"/>
            </a:pPr>
            <a:r>
              <a:rPr lang="en-US" dirty="0"/>
              <a:t> </a:t>
            </a:r>
            <a:r>
              <a:rPr lang="en-US" dirty="0" smtClean="0"/>
              <a:t>Statistical inference not relevant</a:t>
            </a:r>
            <a:endParaRPr lang="en-US" dirty="0"/>
          </a:p>
        </p:txBody>
      </p:sp>
    </p:spTree>
    <p:custDataLst>
      <p:tags r:id="rId1"/>
    </p:custDataLst>
    <p:extLst>
      <p:ext uri="{BB962C8B-B14F-4D97-AF65-F5344CB8AC3E}">
        <p14:creationId xmlns:p14="http://schemas.microsoft.com/office/powerpoint/2010/main" val="22300941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idx="4294967295"/>
            <p:custDataLst>
              <p:tags r:id="rId2"/>
            </p:custDataLst>
          </p:nvPr>
        </p:nvSpPr>
        <p:spPr>
          <a:xfrm>
            <a:off x="0" y="3505200"/>
            <a:ext cx="5867400" cy="2895599"/>
          </a:xfrm>
        </p:spPr>
        <p:txBody>
          <a:bodyPr>
            <a:noAutofit/>
          </a:bodyPr>
          <a:lstStyle/>
          <a:p>
            <a:pPr marL="1428750" indent="-514350">
              <a:spcBef>
                <a:spcPct val="20000"/>
              </a:spcBef>
              <a:buFont typeface="+mj-lt"/>
              <a:buAutoNum type="arabicPeriod"/>
            </a:pPr>
            <a:r>
              <a:rPr lang="en-US" dirty="0" smtClean="0"/>
              <a:t> Confidence interval</a:t>
            </a:r>
          </a:p>
          <a:p>
            <a:pPr marL="1428750" indent="-514350">
              <a:spcBef>
                <a:spcPct val="20000"/>
              </a:spcBef>
              <a:buFont typeface="+mj-lt"/>
              <a:buAutoNum type="arabicPeriod"/>
            </a:pPr>
            <a:r>
              <a:rPr lang="en-US" dirty="0"/>
              <a:t> </a:t>
            </a:r>
            <a:r>
              <a:rPr lang="en-US" dirty="0" smtClean="0"/>
              <a:t>Hypothesis test</a:t>
            </a:r>
          </a:p>
          <a:p>
            <a:pPr marL="1428750" indent="-514350">
              <a:spcBef>
                <a:spcPct val="20000"/>
              </a:spcBef>
              <a:buFont typeface="+mj-lt"/>
              <a:buAutoNum type="arabicPeriod"/>
            </a:pPr>
            <a:r>
              <a:rPr lang="en-US" dirty="0"/>
              <a:t> </a:t>
            </a:r>
            <a:r>
              <a:rPr lang="en-US" dirty="0" smtClean="0"/>
              <a:t>Statistical inference not relevant</a:t>
            </a:r>
            <a:endParaRPr lang="en-US" dirty="0"/>
          </a:p>
        </p:txBody>
      </p:sp>
      <p:sp>
        <p:nvSpPr>
          <p:cNvPr id="2" name="TPQuestion"/>
          <p:cNvSpPr>
            <a:spLocks noGrp="1"/>
          </p:cNvSpPr>
          <p:nvPr>
            <p:ph type="title" idx="4294967295"/>
          </p:nvPr>
        </p:nvSpPr>
        <p:spPr>
          <a:xfrm>
            <a:off x="0" y="304800"/>
            <a:ext cx="9144000" cy="3581400"/>
          </a:xfrm>
        </p:spPr>
        <p:txBody>
          <a:bodyPr>
            <a:normAutofit/>
          </a:bodyPr>
          <a:lstStyle/>
          <a:p>
            <a:r>
              <a:rPr lang="en-US" sz="3600" dirty="0"/>
              <a:t>Is the following question best assessed using a confidence interval, a hypothesis test, or is statistical inference not relevant?</a:t>
            </a:r>
            <a:br>
              <a:rPr lang="en-US" sz="3600" dirty="0"/>
            </a:br>
            <a:r>
              <a:rPr lang="en-US" sz="3600" i="1" dirty="0">
                <a:solidFill>
                  <a:schemeClr val="accent1">
                    <a:lumMod val="50000"/>
                  </a:schemeClr>
                </a:solidFill>
              </a:rPr>
              <a:t>Do a majority of adults riding a bicycle wear a helmet?</a:t>
            </a:r>
          </a:p>
        </p:txBody>
      </p:sp>
    </p:spTree>
    <p:custDataLst>
      <p:tags r:id="rId1"/>
    </p:custDataLst>
    <p:extLst>
      <p:ext uri="{BB962C8B-B14F-4D97-AF65-F5344CB8AC3E}">
        <p14:creationId xmlns:p14="http://schemas.microsoft.com/office/powerpoint/2010/main" val="33758865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Summary</a:t>
            </a:r>
            <a:endParaRPr lang="en-US" dirty="0">
              <a:solidFill>
                <a:schemeClr val="tx2"/>
              </a:solidFill>
            </a:endParaRPr>
          </a:p>
        </p:txBody>
      </p:sp>
      <p:sp>
        <p:nvSpPr>
          <p:cNvPr id="3" name="Content Placeholder 2"/>
          <p:cNvSpPr>
            <a:spLocks noGrp="1"/>
          </p:cNvSpPr>
          <p:nvPr>
            <p:ph idx="1"/>
          </p:nvPr>
        </p:nvSpPr>
        <p:spPr>
          <a:xfrm>
            <a:off x="0" y="1524000"/>
            <a:ext cx="9144000" cy="5334000"/>
          </a:xfrm>
        </p:spPr>
        <p:txBody>
          <a:bodyPr>
            <a:normAutofit/>
          </a:bodyPr>
          <a:lstStyle/>
          <a:p>
            <a:pPr lvl="0">
              <a:spcAft>
                <a:spcPts val="0"/>
              </a:spcAft>
            </a:pPr>
            <a:r>
              <a:rPr lang="en-US" sz="3100" dirty="0"/>
              <a:t>Randomization samples should be generated</a:t>
            </a:r>
          </a:p>
          <a:p>
            <a:pPr lvl="1">
              <a:spcAft>
                <a:spcPts val="0"/>
              </a:spcAft>
            </a:pPr>
            <a:r>
              <a:rPr lang="en-US" dirty="0">
                <a:solidFill>
                  <a:prstClr val="black"/>
                </a:solidFill>
              </a:rPr>
              <a:t>Consistent with the null hypothesis</a:t>
            </a:r>
          </a:p>
          <a:p>
            <a:pPr lvl="1">
              <a:spcAft>
                <a:spcPts val="0"/>
              </a:spcAft>
            </a:pPr>
            <a:r>
              <a:rPr lang="en-US" dirty="0">
                <a:solidFill>
                  <a:prstClr val="black"/>
                </a:solidFill>
              </a:rPr>
              <a:t>Using the observed data</a:t>
            </a:r>
          </a:p>
          <a:p>
            <a:pPr lvl="1"/>
            <a:r>
              <a:rPr lang="en-US" dirty="0">
                <a:solidFill>
                  <a:prstClr val="black"/>
                </a:solidFill>
              </a:rPr>
              <a:t>Reflecting the way the data were collected</a:t>
            </a:r>
          </a:p>
          <a:p>
            <a:r>
              <a:rPr lang="en-US" sz="3100" dirty="0" smtClean="0"/>
              <a:t>If a null hypothesized value lies inside a 95% CI, a two-tailed test using </a:t>
            </a:r>
            <a:r>
              <a:rPr lang="el-GR" sz="3100" dirty="0" smtClean="0">
                <a:latin typeface="Cambria"/>
              </a:rPr>
              <a:t>α</a:t>
            </a:r>
            <a:r>
              <a:rPr lang="en-US" sz="3100" dirty="0" smtClean="0">
                <a:latin typeface="Cambria"/>
              </a:rPr>
              <a:t> = 0.05 would not reject H</a:t>
            </a:r>
            <a:r>
              <a:rPr lang="en-US" sz="3100" baseline="-25000" dirty="0" smtClean="0">
                <a:latin typeface="Cambria"/>
              </a:rPr>
              <a:t>0</a:t>
            </a:r>
            <a:endParaRPr lang="en-US" sz="3100" dirty="0" smtClean="0">
              <a:latin typeface="Cambria"/>
            </a:endParaRPr>
          </a:p>
          <a:p>
            <a:r>
              <a:rPr lang="en-US" sz="3100" dirty="0" smtClean="0"/>
              <a:t>If </a:t>
            </a:r>
            <a:r>
              <a:rPr lang="en-US" sz="3100" dirty="0"/>
              <a:t>a null hypothesized value lies </a:t>
            </a:r>
            <a:r>
              <a:rPr lang="en-US" sz="3100" dirty="0" smtClean="0"/>
              <a:t>outside </a:t>
            </a:r>
            <a:r>
              <a:rPr lang="en-US" sz="3100" dirty="0"/>
              <a:t>a 95% CI, a two-tailed test using </a:t>
            </a:r>
            <a:r>
              <a:rPr lang="el-GR" sz="3100" dirty="0"/>
              <a:t>α</a:t>
            </a:r>
            <a:r>
              <a:rPr lang="en-US" sz="3100" dirty="0"/>
              <a:t> = 0.05 would </a:t>
            </a:r>
            <a:r>
              <a:rPr lang="en-US" sz="3100" dirty="0" smtClean="0"/>
              <a:t>reject H</a:t>
            </a:r>
            <a:r>
              <a:rPr lang="en-US" sz="3100" baseline="-25000" dirty="0" smtClean="0"/>
              <a:t>0</a:t>
            </a:r>
          </a:p>
          <a:p>
            <a:endParaRPr lang="en-US" sz="3100" dirty="0" smtClean="0"/>
          </a:p>
          <a:p>
            <a:endParaRPr lang="en-US" dirty="0" smtClean="0">
              <a:latin typeface="Cambria"/>
            </a:endParaRPr>
          </a:p>
          <a:p>
            <a:endParaRPr lang="en-US" dirty="0"/>
          </a:p>
        </p:txBody>
      </p:sp>
    </p:spTree>
    <p:extLst>
      <p:ext uri="{BB962C8B-B14F-4D97-AF65-F5344CB8AC3E}">
        <p14:creationId xmlns:p14="http://schemas.microsoft.com/office/powerpoint/2010/main" val="123488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INCLUDESESSION" val="True"/>
  <p:tag name="TASKPANEKEY" val="4002fc44-54fe-421e-8370-43d15eb1f29b"/>
  <p:tag name="EXPANDSHOWBAR" val="True"/>
  <p:tag name="TPPRESENTATIONGUID" val="dac53406-5799-48c2-b18b-00b0286f8d8d"/>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A1D7972C6D6F449BAF08BE526BA5DF62&lt;/guid&gt;&#10;        &lt;description /&gt;&#10;        &lt;date&gt;7/26/2017 3:09:45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A61DCD4CC5B348E1A548C36FF55CCE4A&lt;/guid&gt;&#10;            &lt;repollguid&gt;28B929DABEA3407FA4C8ED84BD2EF5AE&lt;/repollguid&gt;&#10;            &lt;sourceid&gt;FFFE0BAF331343048CC9345E664E7D30&lt;/sourceid&gt;&#10;            &lt;questiontext&gt;Suppose a pharmaceutical company is conducting trials for 100 different drugs, but all of them are actually worthless.  How many trials do you expect to yield significant results, using ⍺ = 0.05?&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72F7808D496451C954DB7702BB570E0&lt;/guid&gt;&#10;                    &lt;answertext&gt;None of them&lt;/answertext&gt;&#10;                    &lt;valuetype&gt;0&lt;/valuetype&gt;&#10;                &lt;/answer&gt;&#10;                &lt;answer&gt;&#10;                    &lt;guid&gt;4C26E89746844C2C87D7F69EFB3F4215&lt;/guid&gt;&#10;                    &lt;answertext&gt; About 1&lt;/answertext&gt;&#10;                    &lt;valuetype&gt;0&lt;/valuetype&gt;&#10;                &lt;/answer&gt;&#10;                &lt;answer&gt;&#10;                    &lt;guid&gt;FB7FD0960F0546EE88F9EB828FBB4D58&lt;/guid&gt;&#10;                    &lt;answertext&gt; About 5&lt;/answertext&gt;&#10;                    &lt;valuetype&gt;0&lt;/valuetype&gt;&#10;                &lt;/answer&gt;&#10;                &lt;answer&gt;&#10;                    &lt;guid&gt;2B5B8115AC5C4AC4A044EE62713856F6&lt;/guid&gt;&#10;                    &lt;answertext&gt; About 10&lt;/answertext&gt;&#10;                    &lt;valuetype&gt;0&lt;/valuetype&gt;&#10;                &lt;/answer&gt;&#10;                &lt;answer&gt;&#10;                    &lt;guid&gt;52F795520F7C4606A24B1A1B93C9A21D&lt;/guid&gt;&#10;                    &lt;answertext&gt; All of them&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xml><?xml version="1.0" encoding="utf-8"?>
<p:tagLst xmlns:a="http://schemas.openxmlformats.org/drawingml/2006/main" xmlns:r="http://schemas.openxmlformats.org/officeDocument/2006/relationships" xmlns:p="http://schemas.openxmlformats.org/presentationml/2006/main">
  <p:tag name="ZEROBASED"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SLIDEGUID" val="46F31AD9E5B344F480E5B230179FD778"/>
  <p:tag name="SLIDEID" val="46F31AD9E5B344F480E5B230179FD778"/>
  <p:tag name="SLIDEORDER" val="1"/>
  <p:tag name="SLIDETYPE" val="Q"/>
  <p:tag name="DEMOGRAPHIC" val="False"/>
  <p:tag name="SPEEDSCORING" val="False"/>
  <p:tag name="CORRECTPOINTVALUE" val="100"/>
  <p:tag name="INCORRECTPOINTVALUE" val="0"/>
  <p:tag name="ZEROBASED" val="False"/>
  <p:tag name="QUESTIONALIAS" val="The p-value is 0.095.  Using α = 0.05, we conclude…."/>
  <p:tag name="VALUEFORMAT" val="0%"/>
  <p:tag name="VALUES" val="No Value|smicln|No Value|smicln|No Value"/>
  <p:tag name="ANSWERSALIAS" val=" Males exercise more than females, on average|smicln| Males do not exercise more than females, on average|smicln| Nothing"/>
  <p:tag name="DELIMITERS" val="3.1"/>
  <p:tag name="TOTALRESPONSES" val="0"/>
  <p:tag name="RESPONSESGATHERED" val="False"/>
  <p:tag name="ANONYMOUSTEMP" val="False"/>
  <p:tag name="TYPE" val="MultiChoiceSlide"/>
  <p:tag name="TPQUESTIONXML" val="﻿&lt;?xml version=&quot;1.0&quot; encoding=&quot;utf-8&quot;?&gt;&#10;&lt;questionlist&gt;&#10;    &lt;properties&gt;&#10;        &lt;guid&gt;E4B9F8245E1E41BABDADE7A5E02ABEC8&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EE096C246054F559D42306865784026&lt;/guid&gt;&#10;            &lt;repollguid&gt;02DE434DEDB24DBAA438A13DBDC3ED2D&lt;/repollguid&gt;&#10;            &lt;sourceid&gt;217B4DBBA5ED4344BC8472224A895F8E&lt;/sourceid&gt;&#10;            &lt;questiontext&gt;The p-value is 0.095.  Using α = 0.05, we conclud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A1D82F8AFBDA4C75A30EFD7109684AD3&lt;/guid&gt;&#10;                    &lt;answertext&gt; Males exercise more than females, on average &lt;/answertext&gt;&#10;                    &lt;valuetype&gt;0&lt;/valuetype&gt;&#10;                &lt;/answer&gt;&#10;                &lt;answer&gt;&#10;                    &lt;guid&gt;0B777ABCA42F48F88DABC590B21C4BD5&lt;/guid&gt;&#10;                    &lt;answertext&gt; Males do not exercise more than females, on average &lt;/answertext&gt;&#10;                    &lt;valuetype&gt;0&lt;/valuetype&gt;&#10;                &lt;/answer&gt;&#10;                &lt;answer&gt;&#10;                    &lt;guid&gt;9C76BBAA9252416C8E861D52ACB8E307&lt;/guid&gt;&#10;                    &lt;answertext&gt; Nothing&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5.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107"/>
  <p:tag name="FONTSIZE" val="32"/>
  <p:tag name="BULLETTYPE" val="ppBulletArabicPeriod"/>
  <p:tag name="ANSWERTEXT" val=" Males exercise more than females, on average&#10; Males do not exercise more than females, on average&#10; Nothing"/>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SLIDEGUID" val="C58C22133544418E8259E15290F5C5E5"/>
  <p:tag name="SLIDEID" val="C58C22133544418E8259E15290F5C5E5"/>
  <p:tag name="SLIDEORDER" val="1"/>
  <p:tag name="SLIDETYPE" val="Q"/>
  <p:tag name="DEMOGRAPHIC" val="False"/>
  <p:tag name="SPEEDSCORING" val="False"/>
  <p:tag name="CORRECTPOINTVALUE" val="100"/>
  <p:tag name="INCORRECTPOINTVALUE" val="0"/>
  <p:tag name="ZEROBASED" val="False"/>
  <p:tag name="VALUEFORMAT" val="0%"/>
  <p:tag name="QUESTIONALIAS" val="Let  be the average amount of sleep college students get per night.  Data was collected on a sample of students, and for this sample  𝑥 =6.7 hours.  A bootstrap distribution is generated to create a confidence interval for , and a randomization distribution is generated to see if the data provide evidence that  &gt; 7.  Which distribution below is the bootstrap distribution?"/>
  <p:tag name="VALUES" val="No Value|smicln|No Value"/>
  <p:tag name="ANSWERSALIAS" val="a. |smicln|b."/>
  <p:tag name="DELIMITERS" val="3.1"/>
  <p:tag name="TOTALRESPONSES" val="0"/>
  <p:tag name="RESPONSESGATHERED" val="False"/>
  <p:tag name="ANONYMOUSTEMP" val="False"/>
  <p:tag name="TYPE" val="MultiChoiceSlide"/>
  <p:tag name="TPQUESTIONXML" val="﻿&lt;?xml version=&quot;1.0&quot; encoding=&quot;utf-8&quot;?&gt;&#10;&lt;questionlist&gt;&#10;    &lt;properties&gt;&#10;        &lt;guid&gt;44535CF1723F46C898163D45094D646D&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0DCADB71F1FD4E09B894EAA3D2FBD9AD&lt;/guid&gt;&#10;            &lt;repollguid&gt;B15E06AF72D44B2E8F7780F5EEA253E4&lt;/repollguid&gt;&#10;            &lt;sourceid&gt;705D296A44CC4D34BB859EAC0295DED4&lt;/sourceid&gt;&#10;            &lt;questiontext&gt;Let  be the average amount of sleep college students get per night.  Data was collected on a sample of students, and for this sample  $$ =6.7 hours. A bootstrap distribution is generated to create a confidence interval for , and a randomization distribution is generated to see if the data provide evidence that  &amp;gt; 7. Which distribution below is the bootstrap distribution?&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40E8D2A6CEF14364A5374EF507401FD8&lt;/guid&gt;&#10;                    &lt;answertext&gt;a.  &lt;/answertext&gt;&#10;                    &lt;valuetype&gt;0&lt;/valuetype&gt;&#10;                &lt;/answer&gt;&#10;                &lt;answer&gt;&#10;                    &lt;guid&gt;D06908C689304F6B8950094FFFEFBC2E&lt;/guid&gt;&#10;                    &lt;answertext&gt;b.&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1.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
  <p:tag name="BULLETTYPE" val="ppBulletArabicPeriod"/>
  <p:tag name="ANSWERTEXT" val="a. &#10;b."/>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SLIDEGUID" val="829F7940B52C41E58A3EBE15A848CFBE"/>
  <p:tag name="SLIDEID" val="829F7940B52C41E58A3EBE15A848CFBE"/>
  <p:tag name="SLIDEORDER" val="1"/>
  <p:tag name="SLIDETYPE" val="Q"/>
  <p:tag name="DEMOGRAPHIC" val="False"/>
  <p:tag name="SPEEDSCORING" val="False"/>
  <p:tag name="CORRECTPOINTVALUE" val="100"/>
  <p:tag name="INCORRECTPOINTVALUE" val="0"/>
  <p:tag name="ZEROBASED" val="False"/>
  <p:tag name="VALUEFORMAT" val="0%"/>
  <p:tag name="QUESTIONALIAS" val="Intro stat students are surveyed, and we find that 152 out of 218 are female.  Let p be the proportion of intro stat students at LCCC who are female.   A bootstrap distribution is generated for a confidence interval for p, and a randomization distribution is generated to see if the data provide evidence that p &gt; 1/2.  Which distribution is the randomization distribution?"/>
  <p:tag name="VALUES" val="No Value|smicln|No Value"/>
  <p:tag name="ANSWERSALIAS" val="a.|smicln|b."/>
  <p:tag name="DELIMITERS" val="3.1"/>
  <p:tag name="TOTALRESPONSES" val="0"/>
  <p:tag name="RESPONSESGATHERED" val="False"/>
  <p:tag name="ANONYMOUSTEMP" val="False"/>
  <p:tag name="TYPE" val="MultiChoiceSlide"/>
  <p:tag name="TPQUESTIONXML" val="﻿&lt;?xml version=&quot;1.0&quot; encoding=&quot;utf-8&quot;?&gt;&#10;&lt;questionlist&gt;&#10;    &lt;properties&gt;&#10;        &lt;guid&gt;B44DDCDFC3724ED193B3ED3F8EC7567F&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850CC376DB34C11968E25C8058B711E&lt;/guid&gt;&#10;            &lt;repollguid&gt;F26A5DE6C0EC404F9FB8C1A8A125879A&lt;/repollguid&gt;&#10;            &lt;sourceid&gt;FC9EC6C0EA7643E9924FB7BDAA738656&lt;/sourceid&gt;&#10;            &lt;questiontext&gt;Intro stat students are surveyed, and we find that 152 out of 218 are female.  Let p be the proportion of intro stat students at LCCC who are female.  A bootstrap distribution is generated for a confidence interval for p, and a randomization distribution is generated to see if the data provide evidence that p &amp;gt; 1/2. Which distribution is the randomization distribution?&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D404A254C9804C56ACE8B9D2D87C65DC&lt;/guid&gt;&#10;                    &lt;answertext&gt;a. &lt;/answertext&gt;&#10;                    &lt;valuetype&gt;0&lt;/valuetype&gt;&#10;                &lt;/answer&gt;&#10;                &lt;answer&gt;&#10;                    &lt;guid&gt;CDBD509D33754B728F4FE8DA43A164C7&lt;/guid&gt;&#10;                    &lt;answertext&gt;b.&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3.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5"/>
  <p:tag name="FONTSIZE" val="3"/>
  <p:tag name="BULLETTYPE" val="ppBulletArabicPeriod"/>
  <p:tag name="ANSWERTEXT" val="a.&#10;b."/>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 name="SLIDEGUID" val="D59DC184498142F1B063720CEBD0234B"/>
  <p:tag name="SLIDEID" val="D59DC184498142F1B063720CEBD0234B"/>
  <p:tag name="SLIDEORDER" val="1"/>
  <p:tag name="SLIDETYPE" val="Q"/>
  <p:tag name="DEMOGRAPHIC" val="False"/>
  <p:tag name="SPEEDSCORING" val="False"/>
  <p:tag name="CORRECTPOINTVALUE" val="100"/>
  <p:tag name="INCORRECTPOINTVALUE" val="0"/>
  <p:tag name="ZEROBASED" val="False"/>
  <p:tag name="VALUEFORMAT" val="0%"/>
  <p:tag name="QUESTIONALIAS" val="“Does a child need both a father and a mother to grow up happily?” Let p be the proportion of adults aged 18-29 in 2010 who say yes.  A 95% CI for p is (0.487, 0.573).    Testing H0: p = 0.5 vs Ha: p ≠ 0.5 with α = 0.05, we"/>
  <p:tag name="ANSWERSALIAS" val=" Reject H0|smicln| Do not reject H0|smicln| Reject Ha|smicln| Do not reject Ha"/>
  <p:tag name="VALUES" val="No Value|smicln|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6530C6E1CBC0445AB8E360466699C8CF&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731B0A0ED794362BADE2816F005E6A6&lt;/guid&gt;&#10;            &lt;repollguid&gt;FD7A73D5CAC74BD6AFB575B8A01ECE0F&lt;/repollguid&gt;&#10;            &lt;sourceid&gt;1470C58F7C344A35952DD4D3A28C4CD7&lt;/sourceid&gt;&#10;            &lt;questiontext&gt;“Does a child need both a father and a mother to grow up happily?”Let p be the proportion of adults aged 18-29 in 2010 who say yes.  A 95% CI for p is (0.487, 0.573).   Testing H0: p = 0.5 vs Ha: p ≠ 0.5 with α = 0.05, w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3195DAD2D77248B1B64BF2AA4E6D0137&lt;/guid&gt;&#10;                    &lt;answertext&gt; Reject H0 &lt;/answertext&gt;&#10;                    &lt;valuetype&gt;0&lt;/valuetype&gt;&#10;                &lt;/answer&gt;&#10;                &lt;answer&gt;&#10;                    &lt;guid&gt;D9AD653848D24C07AF355B81C2EB1FD7&lt;/guid&gt;&#10;                    &lt;answertext&gt; Do not reject H0 &lt;/answertext&gt;&#10;                    &lt;valuetype&gt;0&lt;/valuetype&gt;&#10;                &lt;/answer&gt;&#10;                &lt;answer&gt;&#10;                    &lt;guid&gt;506BDF2954F14B898E26B33FCD073C04&lt;/guid&gt;&#10;                    &lt;answertext&gt; Reject Ha &lt;/answertext&gt;&#10;                    &lt;valuetype&gt;0&lt;/valuetype&gt;&#10;                &lt;/answer&gt;&#10;                &lt;answer&gt;&#10;                    &lt;guid&gt;FB05581E143E4DF2BCCE13C916C0197A&lt;/guid&gt;&#10;                    &lt;answertext&gt; Do not reject Ha&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3.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7"/>
  <p:tag name="FONTSIZE" val="32"/>
  <p:tag name="BULLETTYPE" val="ppBulletArabicPeriod"/>
  <p:tag name="ANSWERTEXT" val=" Reject H0&#10; Do not reject H0&#10; Reject Ha&#10; Do not reject Ha"/>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 name="SLIDEGUID" val="DC9075E5E1D1447D94852ADD504F0003"/>
  <p:tag name="SLIDEID" val="DC9075E5E1D1447D94852ADD504F0003"/>
  <p:tag name="SLIDEORDER" val="1"/>
  <p:tag name="SLIDETYPE" val="Q"/>
  <p:tag name="DEMOGRAPHIC" val="False"/>
  <p:tag name="SPEEDSCORING" val="False"/>
  <p:tag name="CORRECTPOINTVALUE" val="100"/>
  <p:tag name="INCORRECTPOINTVALUE" val="0"/>
  <p:tag name="ZEROBASED" val="False"/>
  <p:tag name="VALUEFORMAT" val="0%"/>
  <p:tag name="ANSWERSALIAS" val=" Reject H0|smicln| Do not reject H0|smicln| Reject Ha|smicln| Do not reject Ha"/>
  <p:tag name="QUESTIONALIAS" val="“Does a child need both a father and a mother to grow up happily?” Let p be the proportion of adults aged 18-29 in 1997 who say yes.  A 95% CI for p is (0.533, 0.607).    Testing H0: p = 0.5 vs Ha: p ≠ 0.5 with α = 0.05, we "/>
  <p:tag name="VALUES" val="No Value|smicln|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37945F53F55F48718EB9152E80286F8C&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73A4D923C164B67916EECD961043945&lt;/guid&gt;&#10;            &lt;repollguid&gt;1D5DEBCE93AD46D593E8186D0C764A51&lt;/repollguid&gt;&#10;            &lt;sourceid&gt;49768CF5A2584B46878FE6C44FB2A2CA&lt;/sourceid&gt;&#10;            &lt;questiontext&gt;“Does a child need both a father and a mother to grow up happily?”Let p be the proportion of adults aged 18-29 in 1997 who say yes.  A 95% CI for p is (0.533, 0.607).   Testing H0: p = 0.5 vs Ha: p ≠ 0.5 with α = 0.05, w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2B5FB6B4B4E417B96703F7B148A4AC2&lt;/guid&gt;&#10;                    &lt;answertext&gt; Reject H0 &lt;/answertext&gt;&#10;                    &lt;valuetype&gt;0&lt;/valuetype&gt;&#10;                &lt;/answer&gt;&#10;                &lt;answer&gt;&#10;                    &lt;guid&gt;0084B1DA3F774773A5D1B70152B10ED8&lt;/guid&gt;&#10;                    &lt;answertext&gt; Do not reject H0 &lt;/answertext&gt;&#10;                    &lt;valuetype&gt;0&lt;/valuetype&gt;&#10;                &lt;/answer&gt;&#10;                &lt;answer&gt;&#10;                    &lt;guid&gt;60E01839418A4AA29F8F70992D29F6A1&lt;/guid&gt;&#10;                    &lt;answertext&gt; Reject Ha &lt;/answertext&gt;&#10;                    &lt;valuetype&gt;0&lt;/valuetype&gt;&#10;                &lt;/answer&gt;&#10;                &lt;answer&gt;&#10;                    &lt;guid&gt;6DA8AABEAE9D4C349B762F93C7C89F5B&lt;/guid&gt;&#10;                    &lt;answertext&gt; Do not reject Ha&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57"/>
  <p:tag name="FONTSIZE" val="32"/>
  <p:tag name="BULLETTYPE" val="ppBulletArabicPeriod"/>
  <p:tag name="ANSWERTEXT" val=" Reject H0&#10; Do not reject H0&#10; Reject Ha&#10; Do not reject Ha"/>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 name="SLIDEGUID" val="8FFD5D8AE84B4A138616D36B34E6C1B4"/>
  <p:tag name="SLIDEID" val="8FFD5D8AE84B4A138616D36B34E6C1B4"/>
  <p:tag name="SLIDEORDER" val="1"/>
  <p:tag name="SLIDETYPE" val="Q"/>
  <p:tag name="DEMOGRAPHIC" val="False"/>
  <p:tag name="SPEEDSCORING" val="False"/>
  <p:tag name="CORRECTPOINTVALUE" val="100"/>
  <p:tag name="INCORRECTPOINTVALUE" val="0"/>
  <p:tag name="ZEROBASED" val="False"/>
  <p:tag name="VALUEFORMAT" val="0%"/>
  <p:tag name="QUESTIONALIAS" val="Is the following question best assessed using a confidence interval, a hypothesis test, or is statistical inference not relevant? On average, how much more do adults who played sports in high school exercise than adults who did not play sports in high school?"/>
  <p:tag name="ANSWERSALIAS" val=" Confidence interval|smicln| Hypothesis test|smicln| Statistical inference not relevant"/>
  <p:tag name="VALUES" val="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BB01C9B280DC4124951199AD8F29B256&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184A76F568F6463A902D1C13B3F2F873&lt;/guid&gt;&#10;            &lt;repollguid&gt;AB062580BEC441ADB054223BD3DF2CE2&lt;/repollguid&gt;&#10;            &lt;sourceid&gt;E067FE62DB574A3DAE4FF942EE0A3D43&lt;/sourceid&gt;&#10;            &lt;questiontext&gt;Is the following question best assessed using a confidence interval, a hypothesis test, or is statistical inference not relevant?On average, how much more do adults who played sports in high school exercise than adults who did not play sports in high school?&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4C233747461F49E8B308730E220CE81F&lt;/guid&gt;&#10;                    &lt;answertext&gt; Confidence interval &lt;/answertext&gt;&#10;                    &lt;valuetype&gt;0&lt;/valuetype&gt;&#10;                &lt;/answer&gt;&#10;                &lt;answer&gt;&#10;                    &lt;guid&gt;09DF9A35A48B47B5BFC6331B140DCDAD&lt;/guid&gt;&#10;                    &lt;answertext&gt; Hypothesis test &lt;/answertext&gt;&#10;                    &lt;valuetype&gt;0&lt;/valuetype&gt;&#10;                &lt;/answer&gt;&#10;                &lt;answer&gt;&#10;                    &lt;guid&gt;73521DF004484ECFA09F4968D72A7EFF&lt;/guid&gt;&#10;                    &lt;answertext&gt; Statistical inference not relevan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8.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73"/>
  <p:tag name="FONTSIZE" val="32"/>
  <p:tag name="BULLETTYPE" val="ppBulletArabicPeriod"/>
  <p:tag name="ANSWERTEXT" val=" Confidence interval&#10; Hypothesis test&#10; Statistical inference not relevant"/>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 name="SLIDEGUID" val="DF8FEAC061384619A59B46027C40C462"/>
  <p:tag name="SLIDEID" val="DF8FEAC061384619A59B46027C40C462"/>
  <p:tag name="SLIDEORDER" val="1"/>
  <p:tag name="SLIDETYPE" val="Q"/>
  <p:tag name="DEMOGRAPHIC" val="False"/>
  <p:tag name="SPEEDSCORING" val="False"/>
  <p:tag name="CORRECTPOINTVALUE" val="100"/>
  <p:tag name="INCORRECTPOINTVALUE" val="0"/>
  <p:tag name="ZEROBASED" val="False"/>
  <p:tag name="VALUEFORMAT" val="0%"/>
  <p:tag name="QUESTIONALIAS" val="Is the following question best assessed using a confidence interval, a hypothesis test, or is statistical inference not relevant? On average, were the 23 players on the 2010 Canadian Olympic hockey team older than the 23 players on the 2010 US Olympic hockey team?"/>
  <p:tag name="ANSWERSALIAS" val=" Confidence interval|smicln| Hypothesis test|smicln| Statistical inference not relevant"/>
  <p:tag name="VALUES" val="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F37D94796B7A449EBB6B68A5881475CA&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4AA8EB5AA70463EA89B84453A6D2DE3&lt;/guid&gt;&#10;            &lt;repollguid&gt;73C573E973EA47258A11289BF8046C66&lt;/repollguid&gt;&#10;            &lt;sourceid&gt;B460F16584AA4D04A1CCFE4C46A0DD44&lt;/sourceid&gt;&#10;            &lt;questiontext&gt;Is the following question best assessed using a confidence interval, a hypothesis test, or is statistical inference not relevant?On average, were the 23 players on the 2010 Canadian Olympic hockey team older than the 23 players on the 2010 US Olympic hockey team?&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8CC49235F9734940B7F4DEA3BF13399B&lt;/guid&gt;&#10;                    &lt;answertext&gt; Confidence interval &lt;/answertext&gt;&#10;                    &lt;valuetype&gt;0&lt;/valuetype&gt;&#10;                &lt;/answer&gt;&#10;                &lt;answer&gt;&#10;                    &lt;guid&gt;4860CBA438224A028CD81DCA4323E671&lt;/guid&gt;&#10;                    &lt;answertext&gt; Hypothesis test &lt;/answertext&gt;&#10;                    &lt;valuetype&gt;0&lt;/valuetype&gt;&#10;                &lt;/answer&gt;&#10;                &lt;answer&gt;&#10;                    &lt;guid&gt;889B65F9B66A4AEBBE878F9412CC0680&lt;/guid&gt;&#10;                    &lt;answertext&gt; Statistical inference not relevan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0.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73"/>
  <p:tag name="FONTSIZE" val="32"/>
  <p:tag name="BULLETTYPE" val="ppBulletArabicPeriod"/>
  <p:tag name="ANSWERTEXT" val=" Confidence interval&#10; Hypothesis test&#10; Statistical inference not relevant"/>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 name="SLIDEGUID" val="1E801A506A2B4B379CE19CC6B9A2BE54"/>
  <p:tag name="SLIDEID" val="1E801A506A2B4B379CE19CC6B9A2BE54"/>
  <p:tag name="SLIDEORDER" val="1"/>
  <p:tag name="SLIDETYPE" val="Q"/>
  <p:tag name="DEMOGRAPHIC" val="False"/>
  <p:tag name="SPEEDSCORING" val="False"/>
  <p:tag name="CORRECTPOINTVALUE" val="100"/>
  <p:tag name="INCORRECTPOINTVALUE" val="0"/>
  <p:tag name="ZEROBASED" val="False"/>
  <p:tag name="VALUEFORMAT" val="0%"/>
  <p:tag name="QUESTIONALIAS" val="Is the following question best assessed using a confidence interval, a hypothesis test, or is statistical inference not relevant? Do a majority of adults riding a bicycle wear a helmet?"/>
  <p:tag name="ANSWERSALIAS" val=" Confidence interval|smicln| Hypothesis test|smicln| Statistical inference not relevant"/>
  <p:tag name="VALUES" val="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2BE4F081CDFE4071A16AF3591211F4D4&lt;/guid&gt;&#10;        &lt;description /&gt;&#10;        &lt;date&gt;7/26/2017 11:43:4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8017BD803CC4A44B466D5F8F291FEB4&lt;/guid&gt;&#10;            &lt;repollguid&gt;7DE79F232BD54A199A67E99A57539902&lt;/repollguid&gt;&#10;            &lt;sourceid&gt;13C96EE4C0184D70960F5113EE458AC7&lt;/sourceid&gt;&#10;            &lt;questiontext&gt;Is the following question best assessed using a confidence interval, a hypothesis test, or is statistical inference not relevant?Do a majority of adults riding a bicycle wear a helmet?&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4816BA3B75C4050902091AD7DF84268&lt;/guid&gt;&#10;                    &lt;answertext&gt; Confidence interval &lt;/answertext&gt;&#10;                    &lt;valuetype&gt;0&lt;/valuetype&gt;&#10;                &lt;/answer&gt;&#10;                &lt;answer&gt;&#10;                    &lt;guid&gt;93623DD0122E48758F99EE669BFAB088&lt;/guid&gt;&#10;                    &lt;answertext&gt; Hypothesis test &lt;/answertext&gt;&#10;                    &lt;valuetype&gt;0&lt;/valuetype&gt;&#10;                &lt;/answer&gt;&#10;                &lt;answer&gt;&#10;                    &lt;guid&gt;548F23352E9E43A1AD04134BEBD063E7&lt;/guid&gt;&#10;                    &lt;answertext&gt; Statistical inference not relevan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2.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73"/>
  <p:tag name="FONTSIZE" val="32"/>
  <p:tag name="BULLETTYPE" val="ppBulletArabicPeriod"/>
  <p:tag name="ANSWERTEXT" val=" Confidence interval&#10; Hypothesis test&#10; Statistical inference not relevant"/>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2174</TotalTime>
  <Words>1519</Words>
  <Application>Microsoft Office PowerPoint</Application>
  <PresentationFormat>On-screen Show (4:3)</PresentationFormat>
  <Paragraphs>200</Paragraphs>
  <Slides>35</Slides>
  <Notes>4</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Median</vt:lpstr>
      <vt:lpstr>PowerPoint Presentation</vt:lpstr>
      <vt:lpstr>Suppose a pharmaceutical company is conducting trials for 100 different drugs, but all of them are actually worthless.   How many trials do you expect to yield significant results, using ⍺ = 0.05?</vt:lpstr>
      <vt:lpstr>Outline</vt:lpstr>
      <vt:lpstr>Generating Randomization Samples</vt:lpstr>
      <vt:lpstr>Randomization Distribution</vt:lpstr>
      <vt:lpstr>Randomization Distribution</vt:lpstr>
      <vt:lpstr>Randomization Distribution</vt:lpstr>
      <vt:lpstr>Observational Studies</vt:lpstr>
      <vt:lpstr>PowerPoint Presentation</vt:lpstr>
      <vt:lpstr>PowerPoint Presentation</vt:lpstr>
      <vt:lpstr>Creating Randomization Samples</vt:lpstr>
      <vt:lpstr>PowerPoint Presentation</vt:lpstr>
      <vt:lpstr>PowerPoint Presentation</vt:lpstr>
      <vt:lpstr>The p-value is 0.095.  Using α = 0.05, we conclude….</vt:lpstr>
      <vt:lpstr>Randomization Distribution</vt:lpstr>
      <vt:lpstr>Randomization Distributions:  The Common Thread…</vt:lpstr>
      <vt:lpstr>PowerPoint Presentation</vt:lpstr>
      <vt:lpstr>Bootstrap and Randomization Distributions</vt:lpstr>
      <vt:lpstr>Let  be the average amount of sleep college students get per night.  Data was collected on a sample of students, and for this sample x ̅=6.7 hours.  A bootstrap distribution is generated to create a confidence interval for , and a randomization distribution is generated to see if the data provide evidence that  &gt; 7.  Which distribution below is the bootstrap distribution?</vt:lpstr>
      <vt:lpstr>Intro stat students are surveyed, and we find that 152 out of 218 are female.  Let p be the proportion of intro stat students at LCCC who are female.   A bootstrap distribution is generated for a confidence interval for p, and a randomization distribution is generated to see if the data provide evidence that  p &gt; 1/2.  Which distribution is the randomization distribution?</vt:lpstr>
      <vt:lpstr>Body Temperature Confidence Interval</vt:lpstr>
      <vt:lpstr>Body Temperature Hypothesis Test</vt:lpstr>
      <vt:lpstr>Body Temperature</vt:lpstr>
      <vt:lpstr>Body Temperature</vt:lpstr>
      <vt:lpstr>Body Temperature</vt:lpstr>
      <vt:lpstr>Intervals and Tests</vt:lpstr>
      <vt:lpstr>Intervals and Tests</vt:lpstr>
      <vt:lpstr>PowerPoint Presentation</vt:lpstr>
      <vt:lpstr>“Does a child need both a father and a mother to grow up happily?” Let p be the proportion of adults aged 18-29 in 2010 who say yes.  A 95% CI for p is (0.487, 0.573).    Testing H0: p = 0.5 vs Ha: p ≠ 0.5 with α = 0.05, we</vt:lpstr>
      <vt:lpstr>“Does a child need both a father and a mother to grow up happily?” Let p be the proportion of adults aged 18-29 in 1997 who say yes.  A 95% CI for p is (0.533, 0.607).    Testing H0: p = 0.5 vs Ha: p ≠ 0.5 with α = 0.05, we </vt:lpstr>
      <vt:lpstr>Intervals and Tests</vt:lpstr>
      <vt:lpstr>Is the following question best assessed using a confidence interval, a hypothesis test, or is statistical inference not relevant? On average, how much more do adults who played sports in high school exercise than adults who did not play sports in high school?</vt:lpstr>
      <vt:lpstr>Is the following question best assessed using a confidence interval, a hypothesis test, or is statistical inference not relevant? On average, were the 23 players on the 2010 Canadian Olympic hockey team older than the 23 players on the 2010 US Olympic hockey team?</vt:lpstr>
      <vt:lpstr>Is the following question best assessed using a confidence interval, a hypothesis test, or is statistical inference not relevant? Do a majority of adults riding a bicycle wear a helmet?</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Kathryn Dobeck</cp:lastModifiedBy>
  <cp:revision>44</cp:revision>
  <dcterms:created xsi:type="dcterms:W3CDTF">2013-01-14T16:45:39Z</dcterms:created>
  <dcterms:modified xsi:type="dcterms:W3CDTF">2017-07-27T15:25:33Z</dcterms:modified>
</cp:coreProperties>
</file>