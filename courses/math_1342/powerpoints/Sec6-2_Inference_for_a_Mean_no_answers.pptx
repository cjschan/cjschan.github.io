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2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3.xml" ContentType="application/vnd.openxmlformats-officedocument.presentationml.notesSlide+xml"/>
  <Override PartName="/ppt/tags/tag3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handoutMasterIdLst>
    <p:handoutMasterId r:id="rId35"/>
  </p:handoutMasterIdLst>
  <p:sldIdLst>
    <p:sldId id="333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318" r:id="rId14"/>
    <p:sldId id="272" r:id="rId15"/>
    <p:sldId id="273" r:id="rId16"/>
    <p:sldId id="274" r:id="rId17"/>
    <p:sldId id="275" r:id="rId18"/>
    <p:sldId id="322" r:id="rId19"/>
    <p:sldId id="324" r:id="rId20"/>
    <p:sldId id="325" r:id="rId21"/>
    <p:sldId id="334" r:id="rId22"/>
    <p:sldId id="335" r:id="rId23"/>
    <p:sldId id="328" r:id="rId24"/>
    <p:sldId id="330" r:id="rId25"/>
    <p:sldId id="331" r:id="rId26"/>
    <p:sldId id="332" r:id="rId27"/>
    <p:sldId id="276" r:id="rId28"/>
    <p:sldId id="277" r:id="rId29"/>
    <p:sldId id="282" r:id="rId30"/>
    <p:sldId id="283" r:id="rId31"/>
    <p:sldId id="284" r:id="rId32"/>
    <p:sldId id="336" r:id="rId33"/>
  </p:sldIdLst>
  <p:sldSz cx="9144000" cy="6858000" type="screen4x3"/>
  <p:notesSz cx="9144000" cy="6858000"/>
  <p:custDataLst>
    <p:tags r:id="rId3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366" autoAdjust="0"/>
  </p:normalViewPr>
  <p:slideViewPr>
    <p:cSldViewPr>
      <p:cViewPr varScale="1">
        <p:scale>
          <a:sx n="82" d="100"/>
          <a:sy n="82" d="100"/>
        </p:scale>
        <p:origin x="-917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5" d="100"/>
          <a:sy n="75" d="100"/>
        </p:scale>
        <p:origin x="-1668" y="-84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83618944"/>
        <c:axId val="183633024"/>
        <c:axId val="146278592"/>
      </c:bar3DChart>
      <c:catAx>
        <c:axId val="183618944"/>
        <c:scaling>
          <c:orientation val="minMax"/>
        </c:scaling>
        <c:delete val="0"/>
        <c:axPos val="b"/>
        <c:majorTickMark val="out"/>
        <c:minorTickMark val="none"/>
        <c:tickLblPos val="nextTo"/>
        <c:crossAx val="183633024"/>
        <c:crosses val="autoZero"/>
        <c:auto val="1"/>
        <c:lblAlgn val="ctr"/>
        <c:lblOffset val="100"/>
        <c:noMultiLvlLbl val="0"/>
      </c:catAx>
      <c:valAx>
        <c:axId val="18363302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83618944"/>
        <c:crosses val="autoZero"/>
        <c:crossBetween val="between"/>
      </c:valAx>
      <c:serAx>
        <c:axId val="146278592"/>
        <c:scaling>
          <c:orientation val="minMax"/>
        </c:scaling>
        <c:delete val="0"/>
        <c:axPos val="b"/>
        <c:majorTickMark val="out"/>
        <c:minorTickMark val="none"/>
        <c:tickLblPos val="nextTo"/>
        <c:crossAx val="183633024"/>
        <c:crosses val="autoZero"/>
      </c:ser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4" Type="http://schemas.openxmlformats.org/officeDocument/2006/relationships/image" Target="../media/image36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6.wmf"/><Relationship Id="rId1" Type="http://schemas.openxmlformats.org/officeDocument/2006/relationships/image" Target="../media/image39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BCBE5A-2243-4056-912B-D9BB6B5A9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0561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591C6-0106-474F-B03F-910FAAE04774}" type="datetimeFigureOut">
              <a:rPr lang="en-US" smtClean="0"/>
              <a:t>8/1/2017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9EB2C-2DDE-4E6B-B56E-02857871D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54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them through finding</a:t>
            </a:r>
            <a:r>
              <a:rPr lang="en-US" baseline="0" dirty="0"/>
              <a:t> t* with technology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881A71-1E8A-43E8-B5C2-524F1D0E2AC7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636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may</a:t>
            </a:r>
            <a:r>
              <a:rPr lang="en-US" baseline="0" dirty="0"/>
              <a:t> have other estimates of s, which will lead to slightly different answers.  This is only to get a rough estimate.</a:t>
            </a:r>
          </a:p>
          <a:p>
            <a:r>
              <a:rPr lang="en-US" baseline="0" dirty="0"/>
              <a:t>Also, GPA probably left skewed so 95% rule doesn’t apply so estimate of s may be bad… probably better to estimate with other data if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881A71-1E8A-43E8-B5C2-524F1D0E2AC7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814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E4A0B3-D59B-4A0C-B834-D1F990153E5F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FD42205D-F84C-4948-93E6-33F20884206B}" type="datetimeFigureOut">
              <a:rPr lang="en-US" smtClean="0"/>
              <a:t>8/1/2017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65E0641-45FD-468B-B8BE-11E90AD7A446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D-F84C-4948-93E6-33F20884206B}" type="datetimeFigureOut">
              <a:rPr lang="en-US" smtClean="0"/>
              <a:t>8/1/2017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65E0641-45FD-468B-B8BE-11E90AD7A44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D-F84C-4948-93E6-33F20884206B}" type="datetimeFigureOut">
              <a:rPr lang="en-US" smtClean="0"/>
              <a:t>8/1/2017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F65E0641-45FD-468B-B8BE-11E90AD7A44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FD42205D-F84C-4948-93E6-33F20884206B}" type="datetimeFigureOut">
              <a:rPr lang="en-US" smtClean="0"/>
              <a:t>8/1/2017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F65E0641-45FD-468B-B8BE-11E90AD7A44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FD42205D-F84C-4948-93E6-33F20884206B}" type="datetimeFigureOut">
              <a:rPr lang="en-US" smtClean="0"/>
              <a:t>8/1/2017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F65E0641-45FD-468B-B8BE-11E90AD7A44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D-F84C-4948-93E6-33F20884206B}" type="datetimeFigureOut">
              <a:rPr lang="en-US" smtClean="0"/>
              <a:t>8/1/2017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65E0641-45FD-468B-B8BE-11E90AD7A44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D-F84C-4948-93E6-33F20884206B}" type="datetimeFigureOut">
              <a:rPr lang="en-US" smtClean="0"/>
              <a:t>8/1/2017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65E0641-45FD-468B-B8BE-11E90AD7A44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D-F84C-4948-93E6-33F20884206B}" type="datetimeFigureOut">
              <a:rPr lang="en-US" smtClean="0"/>
              <a:t>8/1/2017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65E0641-45FD-468B-B8BE-11E90AD7A44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FD42205D-F84C-4948-93E6-33F20884206B}" type="datetimeFigureOut">
              <a:rPr lang="en-US" smtClean="0"/>
              <a:t>8/1/2017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F65E0641-45FD-468B-B8BE-11E90AD7A44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D-F84C-4948-93E6-33F20884206B}" type="datetimeFigureOut">
              <a:rPr lang="en-US" smtClean="0"/>
              <a:t>8/1/2017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E0641-45FD-468B-B8BE-11E90AD7A44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FD42205D-F84C-4948-93E6-33F20884206B}" type="datetimeFigureOut">
              <a:rPr lang="en-US" smtClean="0"/>
              <a:t>8/1/2017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F65E0641-45FD-468B-B8BE-11E90AD7A446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POnTheFly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D-F84C-4948-93E6-33F20884206B}" type="datetimeFigureOut">
              <a:rPr lang="en-US" smtClean="0"/>
              <a:t>8/1/2017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E0641-45FD-468B-B8BE-11E90AD7A446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6" name="TPChart" hidden="1"/>
          <p:cNvGraphicFramePr/>
          <p:nvPr userDrawn="1">
            <p:extLst>
              <p:ext uri="{D42A27DB-BD31-4B8C-83A1-F6EECF244321}">
                <p14:modId xmlns:p14="http://schemas.microsoft.com/office/powerpoint/2010/main" val="3979909322"/>
              </p:ext>
            </p:extLst>
          </p:nvPr>
        </p:nvGraphicFramePr>
        <p:xfrm>
          <a:off x="6350000" y="1600200"/>
          <a:ext cx="25400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16256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D42205D-F84C-4948-93E6-33F20884206B}" type="datetimeFigureOut">
              <a:rPr lang="en-US" smtClean="0"/>
              <a:t>8/1/2017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F65E0641-45FD-468B-B8BE-11E90AD7A44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5.wmf"/><Relationship Id="rId2" Type="http://schemas.openxmlformats.org/officeDocument/2006/relationships/tags" Target="../tags/tag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4.bin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5.bin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6.bin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14.wmf"/><Relationship Id="rId2" Type="http://schemas.openxmlformats.org/officeDocument/2006/relationships/tags" Target="../tags/tag13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8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9.emf"/><Relationship Id="rId7" Type="http://schemas.openxmlformats.org/officeDocument/2006/relationships/image" Target="../media/image19.e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10" Type="http://schemas.openxmlformats.org/officeDocument/2006/relationships/image" Target="../media/image22.emf"/><Relationship Id="rId4" Type="http://schemas.openxmlformats.org/officeDocument/2006/relationships/image" Target="../media/image16.emf"/><Relationship Id="rId9" Type="http://schemas.openxmlformats.org/officeDocument/2006/relationships/image" Target="../media/image21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24.wmf"/><Relationship Id="rId2" Type="http://schemas.openxmlformats.org/officeDocument/2006/relationships/tags" Target="../tags/tag20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0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5" Type="http://schemas.openxmlformats.org/officeDocument/2006/relationships/hyperlink" Target="http://www.lock5stat.com/StatKey/index.html" TargetMode="External"/><Relationship Id="rId4" Type="http://schemas.openxmlformats.org/officeDocument/2006/relationships/image" Target="../media/image2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image" Target="../media/image14.wmf"/><Relationship Id="rId2" Type="http://schemas.openxmlformats.org/officeDocument/2006/relationships/tags" Target="../tags/tag23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26.jpeg"/><Relationship Id="rId4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image" Target="../media/image2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.xml"/><Relationship Id="rId4" Type="http://schemas.openxmlformats.org/officeDocument/2006/relationships/image" Target="../media/image2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notesSlide" Target="../notesSlides/notesSlide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29.wmf"/><Relationship Id="rId2" Type="http://schemas.openxmlformats.org/officeDocument/2006/relationships/tags" Target="../tags/tag30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30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31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3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4.wmf"/><Relationship Id="rId12" Type="http://schemas.openxmlformats.org/officeDocument/2006/relationships/image" Target="../media/image37.png"/><Relationship Id="rId2" Type="http://schemas.openxmlformats.org/officeDocument/2006/relationships/tags" Target="../tags/tag3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35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6.wmf"/><Relationship Id="rId2" Type="http://schemas.openxmlformats.org/officeDocument/2006/relationships/tags" Target="../tags/tag33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41.png"/><Relationship Id="rId5" Type="http://schemas.openxmlformats.org/officeDocument/2006/relationships/image" Target="../media/image39.wmf"/><Relationship Id="rId10" Type="http://schemas.openxmlformats.org/officeDocument/2006/relationships/image" Target="../media/image40.wmf"/><Relationship Id="rId4" Type="http://schemas.openxmlformats.org/officeDocument/2006/relationships/oleObject" Target="../embeddings/oleObject21.bin"/><Relationship Id="rId9" Type="http://schemas.openxmlformats.org/officeDocument/2006/relationships/oleObject" Target="../embeddings/oleObject23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7" Type="http://schemas.openxmlformats.org/officeDocument/2006/relationships/image" Target="../media/image42.wmf"/><Relationship Id="rId2" Type="http://schemas.openxmlformats.org/officeDocument/2006/relationships/tags" Target="../tags/tag34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4.bin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/>
          <p:cNvSpPr txBox="1">
            <a:spLocks/>
          </p:cNvSpPr>
          <p:nvPr/>
        </p:nvSpPr>
        <p:spPr>
          <a:xfrm>
            <a:off x="2102427" y="1981200"/>
            <a:ext cx="7010400" cy="190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3200" dirty="0">
                <a:solidFill>
                  <a:srgbClr val="EBDDC3"/>
                </a:solidFill>
              </a:rPr>
              <a:t>Section </a:t>
            </a:r>
            <a:r>
              <a:rPr lang="en-US" sz="3200" dirty="0" smtClean="0">
                <a:solidFill>
                  <a:srgbClr val="EBDDC3"/>
                </a:solidFill>
              </a:rPr>
              <a:t>6.2:</a:t>
            </a:r>
            <a:endParaRPr lang="en-US" sz="3200" dirty="0">
              <a:solidFill>
                <a:srgbClr val="EBDDC3"/>
              </a:solidFill>
            </a:endParaRPr>
          </a:p>
          <a:p>
            <a:pPr>
              <a:spcBef>
                <a:spcPct val="20000"/>
              </a:spcBef>
              <a:defRPr/>
            </a:pPr>
            <a:r>
              <a:rPr lang="en-US" sz="4000" b="1" dirty="0" smtClean="0">
                <a:solidFill>
                  <a:srgbClr val="EBDDC3"/>
                </a:solidFill>
              </a:rPr>
              <a:t>Inference for a Mean</a:t>
            </a:r>
            <a:endParaRPr lang="en-US" sz="4000" b="1" dirty="0">
              <a:solidFill>
                <a:srgbClr val="EBDDC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62086" y="4137434"/>
            <a:ext cx="65264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EBDDC3"/>
                </a:solidFill>
              </a:rPr>
              <a:t>To accompany</a:t>
            </a:r>
          </a:p>
          <a:p>
            <a:r>
              <a:rPr lang="en-US" sz="3200" b="1" i="1" u="sng" dirty="0">
                <a:solidFill>
                  <a:srgbClr val="EBDDC3"/>
                </a:solidFill>
              </a:rPr>
              <a:t>Statistics: Unlocking the Power of Data</a:t>
            </a:r>
            <a:r>
              <a:rPr lang="en-US" sz="3200" b="1" dirty="0">
                <a:solidFill>
                  <a:srgbClr val="EBDDC3"/>
                </a:solidFill>
              </a:rPr>
              <a:t> </a:t>
            </a:r>
          </a:p>
          <a:p>
            <a:r>
              <a:rPr lang="en-US" sz="2800" dirty="0">
                <a:solidFill>
                  <a:srgbClr val="EBDDC3"/>
                </a:solidFill>
              </a:rPr>
              <a:t>by Lock, Lock, Lock, Lock, and 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62200" y="6159819"/>
            <a:ext cx="649085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Video by: Professor Kathryn Dobeck</a:t>
            </a:r>
          </a:p>
        </p:txBody>
      </p:sp>
      <p:pic>
        <p:nvPicPr>
          <p:cNvPr id="5" name="Picture 4" descr="WILEY_LOGO_2012.eps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6286513"/>
            <a:ext cx="1143000" cy="2390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32121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1579419"/>
            <a:ext cx="9144000" cy="367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If the distribution of the sample statistic is normal:</a:t>
            </a:r>
          </a:p>
          <a:p>
            <a:endParaRPr lang="en-US" dirty="0" smtClean="0"/>
          </a:p>
          <a:p>
            <a:r>
              <a:rPr lang="en-US" sz="2800" dirty="0" smtClean="0"/>
              <a:t>A confidence interval can be calculated by</a:t>
            </a:r>
          </a:p>
          <a:p>
            <a:endParaRPr lang="en-US" sz="1100" dirty="0" smtClean="0"/>
          </a:p>
          <a:p>
            <a:endParaRPr lang="en-US" dirty="0" smtClean="0"/>
          </a:p>
          <a:p>
            <a:endParaRPr lang="en-US" sz="2800" dirty="0" smtClean="0"/>
          </a:p>
          <a:p>
            <a:r>
              <a:rPr lang="en-US" sz="2800" dirty="0" smtClean="0"/>
              <a:t>where </a:t>
            </a:r>
            <a:r>
              <a:rPr lang="en-US" sz="2800" i="1" dirty="0" smtClean="0"/>
              <a:t>z</a:t>
            </a:r>
            <a:r>
              <a:rPr lang="en-US" sz="2800" i="1" baseline="30000" dirty="0" smtClean="0"/>
              <a:t>*</a:t>
            </a:r>
            <a:r>
              <a:rPr lang="en-US" sz="2800" i="1" dirty="0" smtClean="0"/>
              <a:t> </a:t>
            </a:r>
            <a:r>
              <a:rPr lang="en-US" sz="2800" dirty="0" smtClean="0"/>
              <a:t>is a N(0,1) percentile depending on the level of confidence. </a:t>
            </a:r>
          </a:p>
          <a:p>
            <a:endParaRPr lang="en-US" dirty="0" smtClean="0"/>
          </a:p>
          <a:p>
            <a:r>
              <a:rPr lang="en-US" sz="2800" dirty="0" smtClean="0"/>
              <a:t>A p-value is the area in the tail(s) of a N(0,1) beyond</a:t>
            </a:r>
            <a:endParaRPr lang="en-US" sz="2800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95300" y="3810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Inference Using N(0,1)</a:t>
            </a:r>
            <a:endParaRPr lang="en-US" sz="4000" b="1" dirty="0">
              <a:solidFill>
                <a:schemeClr val="tx2"/>
              </a:solidFill>
            </a:endParaRPr>
          </a:p>
        </p:txBody>
      </p:sp>
      <p:graphicFrame>
        <p:nvGraphicFramePr>
          <p:cNvPr id="1966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7313671"/>
              </p:ext>
            </p:extLst>
          </p:nvPr>
        </p:nvGraphicFramePr>
        <p:xfrm>
          <a:off x="1371600" y="2743200"/>
          <a:ext cx="6019799" cy="807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" name="Equation" r:id="rId4" imgW="1701720" imgH="228600" progId="Equation.DSMT4">
                  <p:embed/>
                </p:oleObj>
              </mc:Choice>
              <mc:Fallback>
                <p:oleObj name="Equation" r:id="rId4" imgW="1701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743200"/>
                        <a:ext cx="6019799" cy="807959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4966853"/>
              </p:ext>
            </p:extLst>
          </p:nvPr>
        </p:nvGraphicFramePr>
        <p:xfrm>
          <a:off x="1371600" y="5257349"/>
          <a:ext cx="6108700" cy="1206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" name="Equation" r:id="rId6" imgW="1993680" imgH="393480" progId="Equation.DSMT4">
                  <p:embed/>
                </p:oleObj>
              </mc:Choice>
              <mc:Fallback>
                <p:oleObj name="Equation" r:id="rId6" imgW="19936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257349"/>
                        <a:ext cx="6108700" cy="120610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16541396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95300" y="2286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CLT for a Mean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1950" y="1528465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Population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41590" y="1528464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Distribution of Sample Means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90800" y="22098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n = 10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90800" y="3593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n = 30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90800" y="5117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n = 50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867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2202418"/>
            <a:ext cx="3091295" cy="139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6725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5172" y="3593068"/>
            <a:ext cx="1972214" cy="139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6727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6542" y="4983718"/>
            <a:ext cx="1193848" cy="1556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6728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61950" y="1876425"/>
            <a:ext cx="201930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220784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3400" y="1371600"/>
            <a:ext cx="81534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3600" dirty="0" smtClean="0">
                <a:solidFill>
                  <a:prstClr val="black"/>
                </a:solidFill>
                <a:cs typeface="Times New Roman" pitchFamily="18" charset="0"/>
              </a:rPr>
              <a:t>The standard error for a sample mean can be calculated by</a:t>
            </a:r>
            <a:endParaRPr lang="en-US" sz="3200" dirty="0" smtClean="0">
              <a:solidFill>
                <a:prstClr val="black"/>
              </a:solidFill>
              <a:cs typeface="Times New Roman" pitchFamily="18" charset="0"/>
            </a:endParaRPr>
          </a:p>
          <a:p>
            <a:pPr>
              <a:spcAft>
                <a:spcPts val="1800"/>
              </a:spcAft>
              <a:buFont typeface="Arial" pitchFamily="34" charset="0"/>
              <a:buChar char="•"/>
            </a:pPr>
            <a:endParaRPr lang="en-US" sz="3200" b="1" i="1" dirty="0" smtClean="0">
              <a:solidFill>
                <a:srgbClr val="C00000"/>
              </a:solidFill>
              <a:cs typeface="Times New Roman" pitchFamily="18" charset="0"/>
            </a:endParaRPr>
          </a:p>
          <a:p>
            <a:pPr>
              <a:spcAft>
                <a:spcPts val="1800"/>
              </a:spcAft>
            </a:pPr>
            <a:endParaRPr lang="en-US" sz="3200" dirty="0" smtClean="0">
              <a:solidFill>
                <a:srgbClr val="C00000"/>
              </a:solidFill>
              <a:cs typeface="Times New Roman" pitchFamily="18" charset="0"/>
            </a:endParaRPr>
          </a:p>
          <a:p>
            <a:pPr>
              <a:spcAft>
                <a:spcPts val="1800"/>
              </a:spcAft>
              <a:buFont typeface="Arial" pitchFamily="34" charset="0"/>
              <a:buChar char="•"/>
            </a:pPr>
            <a:endParaRPr lang="en-US" sz="3200" dirty="0" smtClean="0">
              <a:solidFill>
                <a:prstClr val="black"/>
              </a:solidFill>
              <a:cs typeface="Times New Roman" pitchFamily="18" charset="0"/>
            </a:endParaRPr>
          </a:p>
          <a:p>
            <a:pPr>
              <a:spcAft>
                <a:spcPts val="1800"/>
              </a:spcAft>
            </a:pPr>
            <a:endParaRPr lang="en-US" sz="2800" dirty="0">
              <a:solidFill>
                <a:prstClr val="black"/>
              </a:solidFill>
              <a:cs typeface="Times New Roman" pitchFamily="18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95300" y="3810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SE of a Mean</a:t>
            </a:r>
            <a:endParaRPr lang="en-US" sz="4000" b="1" dirty="0">
              <a:solidFill>
                <a:schemeClr val="tx2"/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138488" y="2876550"/>
          <a:ext cx="2660650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" name="Equation" r:id="rId4" imgW="596880" imgH="419040" progId="Equation.DSMT4">
                  <p:embed/>
                </p:oleObj>
              </mc:Choice>
              <mc:Fallback>
                <p:oleObj name="Equation" r:id="rId4" imgW="5968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488" y="2876550"/>
                        <a:ext cx="2660650" cy="18669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4194736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87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6307263"/>
              </p:ext>
            </p:extLst>
          </p:nvPr>
        </p:nvGraphicFramePr>
        <p:xfrm>
          <a:off x="838200" y="3200400"/>
          <a:ext cx="698500" cy="1096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Equation" r:id="rId5" imgW="266400" imgH="419040" progId="Equation.DSMT4">
                  <p:embed/>
                </p:oleObj>
              </mc:Choice>
              <mc:Fallback>
                <p:oleObj name="Equation" r:id="rId5" imgW="2664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200400"/>
                        <a:ext cx="698500" cy="10967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PQuestion"/>
          <p:cNvSpPr>
            <a:spLocks noGrp="1"/>
          </p:cNvSpPr>
          <p:nvPr>
            <p:ph type="title"/>
          </p:nvPr>
        </p:nvSpPr>
        <p:spPr>
          <a:xfrm>
            <a:off x="152400" y="228600"/>
            <a:ext cx="8915400" cy="9906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prstClr val="black"/>
                </a:solidFill>
                <a:cs typeface="Times New Roman" pitchFamily="18" charset="0"/>
              </a:rPr>
              <a:t>The standard deviation of the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Times New Roman" pitchFamily="18" charset="0"/>
              </a:rPr>
              <a:t>population </a:t>
            </a:r>
            <a:r>
              <a:rPr lang="en-US" dirty="0" smtClean="0">
                <a:solidFill>
                  <a:prstClr val="black"/>
                </a:solidFill>
                <a:cs typeface="Times New Roman" pitchFamily="18" charset="0"/>
              </a:rPr>
              <a:t>is</a:t>
            </a:r>
            <a:endParaRPr lang="en-US" dirty="0"/>
          </a:p>
        </p:txBody>
      </p:sp>
      <p:sp>
        <p:nvSpPr>
          <p:cNvPr id="5" name="TPAnswers"/>
          <p:cNvSpPr>
            <a:spLocks noGrp="1"/>
          </p:cNvSpPr>
          <p:nvPr>
            <p:ph sz="quarter" idx="1"/>
            <p:custDataLst>
              <p:tags r:id="rId3"/>
            </p:custDataLst>
          </p:nvPr>
        </p:nvSpPr>
        <p:spPr>
          <a:xfrm>
            <a:off x="152400" y="1600200"/>
            <a:ext cx="2590800" cy="2362200"/>
          </a:xfrm>
        </p:spPr>
        <p:txBody>
          <a:bodyPr>
            <a:noAutofit/>
          </a:bodyPr>
          <a:lstStyle/>
          <a:p>
            <a:pPr marL="742950" indent="-742950">
              <a:spcBef>
                <a:spcPct val="20000"/>
              </a:spcBef>
              <a:buFont typeface="+mj-lt"/>
              <a:buAutoNum type="arabicPeriod"/>
            </a:pPr>
            <a:r>
              <a:rPr lang="en-US" sz="3200" dirty="0">
                <a:solidFill>
                  <a:prstClr val="black"/>
                </a:solidFill>
                <a:cs typeface="Times New Roman" pitchFamily="18" charset="0"/>
                <a:sym typeface="Symbol"/>
              </a:rPr>
              <a:t> </a:t>
            </a:r>
            <a:r>
              <a:rPr lang="en-US" sz="3200" i="1" dirty="0">
                <a:solidFill>
                  <a:prstClr val="black"/>
                </a:solidFill>
                <a:cs typeface="Times New Roman" pitchFamily="18" charset="0"/>
                <a:sym typeface="Symbol"/>
              </a:rPr>
              <a:t></a:t>
            </a:r>
          </a:p>
          <a:p>
            <a:pPr marL="742950" indent="-742950">
              <a:spcBef>
                <a:spcPct val="20000"/>
              </a:spcBef>
              <a:buFont typeface="+mj-lt"/>
              <a:buAutoNum type="arabicPeriod"/>
            </a:pPr>
            <a:r>
              <a:rPr lang="en-US" sz="3200" dirty="0">
                <a:solidFill>
                  <a:prstClr val="black"/>
                </a:solidFill>
                <a:cs typeface="Times New Roman" pitchFamily="18" charset="0"/>
                <a:sym typeface="Symbol"/>
              </a:rPr>
              <a:t> </a:t>
            </a:r>
            <a:r>
              <a:rPr lang="en-US" sz="3200" i="1" dirty="0" smtClean="0">
                <a:solidFill>
                  <a:prstClr val="black"/>
                </a:solidFill>
                <a:cs typeface="Times New Roman" pitchFamily="18" charset="0"/>
                <a:sym typeface="Symbol"/>
              </a:rPr>
              <a:t>s</a:t>
            </a:r>
            <a:endParaRPr lang="en-US" dirty="0" smtClean="0">
              <a:sym typeface="Symbol"/>
            </a:endParaRPr>
          </a:p>
          <a:p>
            <a:pPr marL="742950" indent="-742950">
              <a:spcBef>
                <a:spcPct val="20000"/>
              </a:spcBef>
              <a:buFont typeface="+mj-lt"/>
              <a:buAutoNum type="arabicPeriod"/>
            </a:pPr>
            <a:r>
              <a:rPr lang="en-US" sz="3200" i="1" dirty="0" smtClean="0">
                <a:solidFill>
                  <a:prstClr val="black"/>
                </a:solidFill>
                <a:cs typeface="Times New Roman" pitchFamily="18" charset="0"/>
                <a:sym typeface="Symbol"/>
              </a:rPr>
              <a:t>  </a:t>
            </a:r>
            <a:endParaRPr lang="en-US" sz="3200" i="1" dirty="0">
              <a:solidFill>
                <a:prstClr val="black"/>
              </a:solidFill>
              <a:cs typeface="Times New Roman" pitchFamily="18" charset="0"/>
              <a:sym typeface="Symbol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5125209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87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901850"/>
              </p:ext>
            </p:extLst>
          </p:nvPr>
        </p:nvGraphicFramePr>
        <p:xfrm>
          <a:off x="685800" y="3033045"/>
          <a:ext cx="698500" cy="1096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4" name="Equation" r:id="rId5" imgW="266400" imgH="419040" progId="Equation.DSMT4">
                  <p:embed/>
                </p:oleObj>
              </mc:Choice>
              <mc:Fallback>
                <p:oleObj name="Equation" r:id="rId5" imgW="2664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033045"/>
                        <a:ext cx="698500" cy="10967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PQuestion"/>
          <p:cNvSpPr>
            <a:spLocks noGrp="1"/>
          </p:cNvSpPr>
          <p:nvPr>
            <p:ph type="title"/>
          </p:nvPr>
        </p:nvSpPr>
        <p:spPr>
          <a:xfrm>
            <a:off x="34636" y="152400"/>
            <a:ext cx="9033164" cy="9906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prstClr val="black"/>
                </a:solidFill>
                <a:cs typeface="Times New Roman" pitchFamily="18" charset="0"/>
              </a:rPr>
              <a:t>The standard deviation of the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cs typeface="Times New Roman" pitchFamily="18" charset="0"/>
              </a:rPr>
              <a:t>sample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cs typeface="Times New Roman" pitchFamily="18" charset="0"/>
              </a:rPr>
              <a:t> </a:t>
            </a:r>
            <a:r>
              <a:rPr lang="en-US" dirty="0" smtClean="0">
                <a:solidFill>
                  <a:prstClr val="black"/>
                </a:solidFill>
                <a:cs typeface="Times New Roman" pitchFamily="18" charset="0"/>
              </a:rPr>
              <a:t>is</a:t>
            </a:r>
            <a:endParaRPr lang="en-US" dirty="0"/>
          </a:p>
        </p:txBody>
      </p:sp>
      <p:sp>
        <p:nvSpPr>
          <p:cNvPr id="5" name="TPAnswers"/>
          <p:cNvSpPr>
            <a:spLocks noGrp="1"/>
          </p:cNvSpPr>
          <p:nvPr>
            <p:ph sz="quarter" idx="1"/>
            <p:custDataLst>
              <p:tags r:id="rId3"/>
            </p:custDataLst>
          </p:nvPr>
        </p:nvSpPr>
        <p:spPr>
          <a:xfrm>
            <a:off x="228600" y="1600200"/>
            <a:ext cx="2057400" cy="3200400"/>
          </a:xfrm>
        </p:spPr>
        <p:txBody>
          <a:bodyPr>
            <a:noAutofit/>
          </a:bodyPr>
          <a:lstStyle/>
          <a:p>
            <a:pPr marL="514350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3200" i="1" dirty="0">
                <a:solidFill>
                  <a:prstClr val="black"/>
                </a:solidFill>
                <a:cs typeface="Times New Roman" pitchFamily="18" charset="0"/>
                <a:sym typeface="Symbol"/>
              </a:rPr>
              <a:t></a:t>
            </a:r>
          </a:p>
          <a:p>
            <a:pPr marL="514350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3200" dirty="0">
                <a:solidFill>
                  <a:prstClr val="black"/>
                </a:solidFill>
                <a:cs typeface="Times New Roman" pitchFamily="18" charset="0"/>
                <a:sym typeface="Symbol"/>
              </a:rPr>
              <a:t> </a:t>
            </a:r>
            <a:r>
              <a:rPr lang="en-US" sz="3200" i="1" dirty="0" smtClean="0">
                <a:solidFill>
                  <a:prstClr val="black"/>
                </a:solidFill>
                <a:cs typeface="Times New Roman" pitchFamily="18" charset="0"/>
                <a:sym typeface="Symbol"/>
              </a:rPr>
              <a:t>s</a:t>
            </a:r>
            <a:endParaRPr lang="en-US" dirty="0" smtClean="0">
              <a:sym typeface="Symbol"/>
            </a:endParaRPr>
          </a:p>
          <a:p>
            <a:pPr marL="514350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3200" i="1" dirty="0">
                <a:solidFill>
                  <a:prstClr val="black"/>
                </a:solidFill>
                <a:cs typeface="Times New Roman" pitchFamily="18" charset="0"/>
                <a:sym typeface="Symbol"/>
              </a:rPr>
              <a:t> </a:t>
            </a:r>
            <a:endParaRPr lang="en-US" sz="3200" i="1" dirty="0" smtClean="0">
              <a:solidFill>
                <a:prstClr val="black"/>
              </a:solidFill>
              <a:cs typeface="Times New Roman" pitchFamily="18" charset="0"/>
              <a:sym typeface="Symbol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7481321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87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844438"/>
              </p:ext>
            </p:extLst>
          </p:nvPr>
        </p:nvGraphicFramePr>
        <p:xfrm>
          <a:off x="990600" y="2772848"/>
          <a:ext cx="698500" cy="1096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7" name="Equation" r:id="rId5" imgW="266400" imgH="419040" progId="Equation.DSMT4">
                  <p:embed/>
                </p:oleObj>
              </mc:Choice>
              <mc:Fallback>
                <p:oleObj name="Equation" r:id="rId5" imgW="2664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772848"/>
                        <a:ext cx="698500" cy="10967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PQuestion"/>
          <p:cNvSpPr>
            <a:spLocks noGrp="1"/>
          </p:cNvSpPr>
          <p:nvPr>
            <p:ph type="title"/>
          </p:nvPr>
        </p:nvSpPr>
        <p:spPr>
          <a:xfrm>
            <a:off x="34636" y="27708"/>
            <a:ext cx="9109364" cy="119149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cs typeface="Times New Roman" pitchFamily="18" charset="0"/>
              </a:rPr>
              <a:t>The standard deviation of the </a:t>
            </a:r>
            <a:r>
              <a:rPr lang="en-US" dirty="0" smtClean="0">
                <a:solidFill>
                  <a:prstClr val="black"/>
                </a:solidFill>
                <a:cs typeface="Times New Roman" pitchFamily="18" charset="0"/>
              </a:rPr>
              <a:t/>
            </a:r>
            <a:br>
              <a:rPr lang="en-US" dirty="0" smtClean="0">
                <a:solidFill>
                  <a:prstClr val="black"/>
                </a:solidFill>
                <a:cs typeface="Times New Roman" pitchFamily="18" charset="0"/>
              </a:rPr>
            </a:b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  <a:cs typeface="Times New Roman" pitchFamily="18" charset="0"/>
              </a:rPr>
              <a:t>sample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cs typeface="Times New Roman" pitchFamily="18" charset="0"/>
              </a:rPr>
              <a:t>mean </a:t>
            </a:r>
            <a:r>
              <a:rPr lang="en-US" dirty="0">
                <a:solidFill>
                  <a:prstClr val="black"/>
                </a:solidFill>
                <a:cs typeface="Times New Roman" pitchFamily="18" charset="0"/>
              </a:rPr>
              <a:t>is</a:t>
            </a:r>
            <a:endParaRPr lang="en-US" dirty="0"/>
          </a:p>
        </p:txBody>
      </p:sp>
      <p:sp>
        <p:nvSpPr>
          <p:cNvPr id="5" name="TPAnswers"/>
          <p:cNvSpPr>
            <a:spLocks noGrp="1"/>
          </p:cNvSpPr>
          <p:nvPr>
            <p:ph sz="quarter" idx="1"/>
            <p:custDataLst>
              <p:tags r:id="rId3"/>
            </p:custDataLst>
          </p:nvPr>
        </p:nvSpPr>
        <p:spPr>
          <a:xfrm>
            <a:off x="304800" y="1524000"/>
            <a:ext cx="3200400" cy="3124200"/>
          </a:xfrm>
        </p:spPr>
        <p:txBody>
          <a:bodyPr>
            <a:noAutofit/>
          </a:bodyPr>
          <a:lstStyle/>
          <a:p>
            <a:pPr marL="742950" indent="-742950">
              <a:spcBef>
                <a:spcPct val="20000"/>
              </a:spcBef>
              <a:buFont typeface="+mj-lt"/>
              <a:buAutoNum type="arabicPeriod"/>
            </a:pPr>
            <a:r>
              <a:rPr lang="en-US" sz="3200" dirty="0">
                <a:solidFill>
                  <a:prstClr val="black"/>
                </a:solidFill>
                <a:cs typeface="Times New Roman" pitchFamily="18" charset="0"/>
                <a:sym typeface="Symbol"/>
              </a:rPr>
              <a:t> </a:t>
            </a:r>
            <a:r>
              <a:rPr lang="en-US" sz="3200" i="1" dirty="0">
                <a:solidFill>
                  <a:prstClr val="black"/>
                </a:solidFill>
                <a:cs typeface="Times New Roman" pitchFamily="18" charset="0"/>
                <a:sym typeface="Symbol"/>
              </a:rPr>
              <a:t></a:t>
            </a:r>
          </a:p>
          <a:p>
            <a:pPr marL="742950" indent="-742950">
              <a:spcBef>
                <a:spcPct val="20000"/>
              </a:spcBef>
              <a:buFont typeface="+mj-lt"/>
              <a:buAutoNum type="arabicPeriod"/>
            </a:pPr>
            <a:r>
              <a:rPr lang="en-US" sz="3200" dirty="0">
                <a:solidFill>
                  <a:prstClr val="black"/>
                </a:solidFill>
                <a:cs typeface="Times New Roman" pitchFamily="18" charset="0"/>
                <a:sym typeface="Symbol"/>
              </a:rPr>
              <a:t> </a:t>
            </a:r>
            <a:r>
              <a:rPr lang="en-US" sz="3200" i="1" dirty="0">
                <a:solidFill>
                  <a:prstClr val="black"/>
                </a:solidFill>
                <a:cs typeface="Times New Roman" pitchFamily="18" charset="0"/>
                <a:sym typeface="Symbol"/>
              </a:rPr>
              <a:t>s</a:t>
            </a:r>
          </a:p>
          <a:p>
            <a:pPr marL="742950" indent="-742950">
              <a:spcBef>
                <a:spcPct val="20000"/>
              </a:spcBef>
              <a:buFont typeface="+mj-lt"/>
              <a:buAutoNum type="arabicPeriod"/>
            </a:pPr>
            <a:r>
              <a:rPr lang="en-US" sz="3200" dirty="0">
                <a:solidFill>
                  <a:prstClr val="black"/>
                </a:solidFill>
                <a:cs typeface="Times New Roman" pitchFamily="18" charset="0"/>
                <a:sym typeface="Symbol"/>
              </a:rPr>
              <a:t> </a:t>
            </a:r>
            <a:endParaRPr lang="en-US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1444103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0890" y="1600200"/>
            <a:ext cx="8638309" cy="2816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4000" dirty="0" smtClean="0">
                <a:solidFill>
                  <a:prstClr val="black"/>
                </a:solidFill>
                <a:cs typeface="Times New Roman" pitchFamily="18" charset="0"/>
              </a:rPr>
              <a:t>If </a:t>
            </a:r>
            <a:r>
              <a:rPr lang="en-US" sz="4000" i="1" dirty="0" smtClean="0">
                <a:solidFill>
                  <a:prstClr val="black"/>
                </a:solidFill>
                <a:cs typeface="Times New Roman" pitchFamily="18" charset="0"/>
              </a:rPr>
              <a:t>n</a:t>
            </a:r>
            <a:r>
              <a:rPr lang="en-US" sz="4000" dirty="0" smtClean="0">
                <a:solidFill>
                  <a:prstClr val="black"/>
                </a:solidFill>
                <a:cs typeface="Times New Roman" pitchFamily="18" charset="0"/>
              </a:rPr>
              <a:t> ≥ 30*, then</a:t>
            </a:r>
            <a:endParaRPr lang="en-US" sz="3200" b="1" i="1" dirty="0" smtClean="0">
              <a:solidFill>
                <a:srgbClr val="C00000"/>
              </a:solidFill>
              <a:cs typeface="Times New Roman" pitchFamily="18" charset="0"/>
            </a:endParaRPr>
          </a:p>
          <a:p>
            <a:pPr>
              <a:spcAft>
                <a:spcPts val="1800"/>
              </a:spcAft>
            </a:pPr>
            <a:endParaRPr lang="en-US" sz="3200" dirty="0" smtClean="0">
              <a:solidFill>
                <a:srgbClr val="C00000"/>
              </a:solidFill>
              <a:cs typeface="Times New Roman" pitchFamily="18" charset="0"/>
            </a:endParaRPr>
          </a:p>
          <a:p>
            <a:pPr>
              <a:spcAft>
                <a:spcPts val="1800"/>
              </a:spcAft>
              <a:buFont typeface="Arial" pitchFamily="34" charset="0"/>
              <a:buChar char="•"/>
            </a:pPr>
            <a:endParaRPr lang="en-US" sz="3200" dirty="0" smtClean="0">
              <a:solidFill>
                <a:prstClr val="black"/>
              </a:solidFill>
              <a:cs typeface="Times New Roman" pitchFamily="18" charset="0"/>
            </a:endParaRPr>
          </a:p>
          <a:p>
            <a:pPr>
              <a:spcAft>
                <a:spcPts val="1800"/>
              </a:spcAft>
            </a:pPr>
            <a:endParaRPr lang="en-US" sz="2800" dirty="0">
              <a:solidFill>
                <a:prstClr val="black"/>
              </a:solidFill>
              <a:cs typeface="Times New Roman" pitchFamily="18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95300" y="3810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CLT for a Mean</a:t>
            </a:r>
            <a:endParaRPr lang="en-US" sz="4000" b="1" dirty="0">
              <a:solidFill>
                <a:schemeClr val="tx2"/>
              </a:solidFill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209800" y="2438400"/>
          <a:ext cx="4626477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1" name="Equation" r:id="rId4" imgW="1002960" imgH="457200" progId="Equation.DSMT4">
                  <p:embed/>
                </p:oleObj>
              </mc:Choice>
              <mc:Fallback>
                <p:oleObj name="Equation" r:id="rId4" imgW="10029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438400"/>
                        <a:ext cx="4626477" cy="210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38544" y="4572000"/>
            <a:ext cx="89292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2800" dirty="0" smtClean="0">
                <a:solidFill>
                  <a:prstClr val="black"/>
                </a:solidFill>
                <a:cs typeface="Times New Roman" pitchFamily="18" charset="0"/>
              </a:rPr>
              <a:t>*Smaller sample sizes may be sufficient for symmetric distributions, and 30 may not be sufficient for very skewed distributions or distributions with high outliers</a:t>
            </a:r>
            <a:endParaRPr lang="en-US" dirty="0">
              <a:solidFill>
                <a:prstClr val="black"/>
              </a:solidFill>
              <a:cs typeface="Times New Roman" pitchFamily="18" charset="0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9192712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3009067"/>
            <a:ext cx="8305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  <a:buFont typeface="Arial" pitchFamily="34" charset="0"/>
              <a:buChar char="•"/>
            </a:pPr>
            <a:r>
              <a:rPr lang="en-US" sz="3600" dirty="0" smtClean="0">
                <a:solidFill>
                  <a:prstClr val="black"/>
                </a:solidFill>
                <a:cs typeface="Times New Roman" pitchFamily="18" charset="0"/>
              </a:rPr>
              <a:t> We don’t know the population standard deviation </a:t>
            </a:r>
            <a:r>
              <a:rPr lang="en-US" sz="3600" i="1" dirty="0" smtClean="0">
                <a:solidFill>
                  <a:prstClr val="black"/>
                </a:solidFill>
                <a:cs typeface="Times New Roman" pitchFamily="18" charset="0"/>
                <a:sym typeface="Symbol"/>
              </a:rPr>
              <a:t></a:t>
            </a:r>
            <a:r>
              <a:rPr lang="en-US" sz="3600" dirty="0" smtClean="0">
                <a:solidFill>
                  <a:prstClr val="black"/>
                </a:solidFill>
                <a:cs typeface="Times New Roman" pitchFamily="18" charset="0"/>
                <a:sym typeface="Symbol"/>
              </a:rPr>
              <a:t>, so estimate it with the sample standard deviation, </a:t>
            </a:r>
            <a:r>
              <a:rPr lang="en-US" sz="3600" i="1" dirty="0" smtClean="0">
                <a:solidFill>
                  <a:prstClr val="black"/>
                </a:solidFill>
                <a:cs typeface="Times New Roman" pitchFamily="18" charset="0"/>
                <a:sym typeface="Symbol"/>
              </a:rPr>
              <a:t>s</a:t>
            </a:r>
            <a:endParaRPr lang="en-US" sz="3600" dirty="0" smtClean="0">
              <a:solidFill>
                <a:prstClr val="black"/>
              </a:solidFill>
              <a:cs typeface="Times New Roman" pitchFamily="18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95300" y="3048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Standard Error</a:t>
            </a:r>
            <a:endParaRPr lang="en-US" sz="4000" b="1" dirty="0">
              <a:solidFill>
                <a:schemeClr val="tx2"/>
              </a:solidFill>
            </a:endParaRPr>
          </a:p>
        </p:txBody>
      </p:sp>
      <p:graphicFrame>
        <p:nvGraphicFramePr>
          <p:cNvPr id="2283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0929151"/>
              </p:ext>
            </p:extLst>
          </p:nvPr>
        </p:nvGraphicFramePr>
        <p:xfrm>
          <a:off x="3810000" y="1558636"/>
          <a:ext cx="1981200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1" name="Equation" r:id="rId4" imgW="596880" imgH="419040" progId="Equation.DSMT4">
                  <p:embed/>
                </p:oleObj>
              </mc:Choice>
              <mc:Fallback>
                <p:oleObj name="Equation" r:id="rId4" imgW="5968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558636"/>
                        <a:ext cx="1981200" cy="13906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57" name="Object 5"/>
          <p:cNvGraphicFramePr>
            <a:graphicFrameLocks noChangeAspect="1"/>
          </p:cNvGraphicFramePr>
          <p:nvPr/>
        </p:nvGraphicFramePr>
        <p:xfrm>
          <a:off x="3886200" y="4800600"/>
          <a:ext cx="1981200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2" name="Equation" r:id="rId6" imgW="596880" imgH="419040" progId="Equation.DSMT4">
                  <p:embed/>
                </p:oleObj>
              </mc:Choice>
              <mc:Fallback>
                <p:oleObj name="Equation" r:id="rId6" imgW="5968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800600"/>
                        <a:ext cx="1981200" cy="13906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32548583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28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1600200"/>
            <a:ext cx="8763000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  <a:buFont typeface="Arial" pitchFamily="34" charset="0"/>
              <a:buChar char="•"/>
            </a:pPr>
            <a:r>
              <a:rPr lang="en-US" sz="3600" dirty="0" smtClean="0">
                <a:solidFill>
                  <a:prstClr val="black"/>
                </a:solidFill>
                <a:cs typeface="Times New Roman" pitchFamily="18" charset="0"/>
              </a:rPr>
              <a:t> Replacing </a:t>
            </a:r>
            <a:r>
              <a:rPr lang="en-US" sz="3600" dirty="0" smtClean="0">
                <a:solidFill>
                  <a:prstClr val="black"/>
                </a:solidFill>
                <a:cs typeface="Times New Roman" pitchFamily="18" charset="0"/>
                <a:sym typeface="Symbol"/>
              </a:rPr>
              <a:t> with </a:t>
            </a:r>
            <a:r>
              <a:rPr lang="en-US" sz="3600" i="1" dirty="0" smtClean="0">
                <a:solidFill>
                  <a:prstClr val="black"/>
                </a:solidFill>
                <a:cs typeface="Times New Roman" pitchFamily="18" charset="0"/>
                <a:sym typeface="Symbol"/>
              </a:rPr>
              <a:t>s</a:t>
            </a:r>
            <a:r>
              <a:rPr lang="en-US" sz="3600" dirty="0" smtClean="0">
                <a:solidFill>
                  <a:prstClr val="black"/>
                </a:solidFill>
                <a:cs typeface="Times New Roman" pitchFamily="18" charset="0"/>
                <a:sym typeface="Symbol"/>
              </a:rPr>
              <a:t> changes the distribution of the z-statistic from a </a:t>
            </a:r>
            <a:r>
              <a:rPr lang="en-US" sz="3600" b="1" dirty="0" smtClean="0">
                <a:solidFill>
                  <a:prstClr val="black"/>
                </a:solidFill>
                <a:cs typeface="Times New Roman" pitchFamily="18" charset="0"/>
                <a:sym typeface="Symbol"/>
              </a:rPr>
              <a:t>normal distribution</a:t>
            </a:r>
            <a:r>
              <a:rPr lang="en-US" sz="3600" dirty="0" smtClean="0">
                <a:solidFill>
                  <a:prstClr val="black"/>
                </a:solidFill>
                <a:cs typeface="Times New Roman" pitchFamily="18" charset="0"/>
                <a:sym typeface="Symbol"/>
              </a:rPr>
              <a:t> to a </a:t>
            </a:r>
            <a:r>
              <a:rPr lang="en-US" sz="3600" b="1" i="1" dirty="0" smtClean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t-distribution</a:t>
            </a:r>
          </a:p>
          <a:p>
            <a:pPr>
              <a:spcAft>
                <a:spcPts val="1800"/>
              </a:spcAft>
              <a:buFont typeface="Arial" pitchFamily="34" charset="0"/>
              <a:buChar char="•"/>
            </a:pPr>
            <a:r>
              <a:rPr lang="en-US" sz="3600" i="1" dirty="0" smtClean="0">
                <a:solidFill>
                  <a:prstClr val="black"/>
                </a:solidFill>
                <a:cs typeface="Times New Roman" pitchFamily="18" charset="0"/>
                <a:sym typeface="Symbol"/>
              </a:rPr>
              <a:t> </a:t>
            </a:r>
            <a:r>
              <a:rPr lang="en-US" sz="3600" dirty="0" smtClean="0">
                <a:solidFill>
                  <a:prstClr val="black"/>
                </a:solidFill>
                <a:cs typeface="Times New Roman" pitchFamily="18" charset="0"/>
                <a:sym typeface="Symbol"/>
              </a:rPr>
              <a:t>The </a:t>
            </a:r>
            <a:r>
              <a:rPr lang="en-US" sz="3600" i="1" dirty="0" smtClean="0">
                <a:solidFill>
                  <a:prstClr val="black"/>
                </a:solidFill>
                <a:cs typeface="Times New Roman" pitchFamily="18" charset="0"/>
                <a:sym typeface="Symbol"/>
              </a:rPr>
              <a:t>t</a:t>
            </a:r>
            <a:r>
              <a:rPr lang="en-US" sz="3600" dirty="0" smtClean="0">
                <a:solidFill>
                  <a:prstClr val="black"/>
                </a:solidFill>
                <a:cs typeface="Times New Roman" pitchFamily="18" charset="0"/>
                <a:sym typeface="Symbol"/>
              </a:rPr>
              <a:t> distribution is very similar to the standard normal, but with slightly fatter tails to reflect this added uncertainty</a:t>
            </a:r>
            <a:endParaRPr lang="en-US" sz="2800" dirty="0">
              <a:solidFill>
                <a:prstClr val="black"/>
              </a:solidFill>
              <a:cs typeface="Times New Roman" pitchFamily="18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95300" y="3810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t-distribution</a:t>
            </a:r>
            <a:endParaRPr lang="en-US" sz="4000" b="1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26903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1524000"/>
            <a:ext cx="8839200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  <a:buFont typeface="Arial" pitchFamily="34" charset="0"/>
              <a:buChar char="•"/>
            </a:pPr>
            <a:r>
              <a:rPr lang="en-US" sz="3600" dirty="0" smtClean="0">
                <a:solidFill>
                  <a:prstClr val="black"/>
                </a:solidFill>
                <a:cs typeface="Times New Roman" pitchFamily="18" charset="0"/>
                <a:sym typeface="Symbol"/>
              </a:rPr>
              <a:t> The </a:t>
            </a:r>
            <a:r>
              <a:rPr lang="en-US" sz="3600" i="1" dirty="0" smtClean="0">
                <a:solidFill>
                  <a:prstClr val="black"/>
                </a:solidFill>
                <a:cs typeface="Times New Roman" pitchFamily="18" charset="0"/>
                <a:sym typeface="Symbol"/>
              </a:rPr>
              <a:t>t-</a:t>
            </a:r>
            <a:r>
              <a:rPr lang="en-US" sz="3600" dirty="0" smtClean="0">
                <a:solidFill>
                  <a:prstClr val="black"/>
                </a:solidFill>
                <a:cs typeface="Times New Roman" pitchFamily="18" charset="0"/>
                <a:sym typeface="Symbol"/>
              </a:rPr>
              <a:t>distribution is characterized by its</a:t>
            </a:r>
            <a:r>
              <a:rPr lang="en-US" sz="3600" b="1" dirty="0" smtClean="0">
                <a:solidFill>
                  <a:prstClr val="black"/>
                </a:solidFill>
                <a:cs typeface="Times New Roman" pitchFamily="18" charset="0"/>
                <a:sym typeface="Symbol"/>
              </a:rPr>
              <a:t> </a:t>
            </a:r>
            <a:r>
              <a:rPr lang="en-US" sz="3600" b="1" i="1" dirty="0" smtClean="0">
                <a:solidFill>
                  <a:srgbClr val="C00000"/>
                </a:solidFill>
                <a:cs typeface="Times New Roman" pitchFamily="18" charset="0"/>
                <a:sym typeface="Symbol"/>
              </a:rPr>
              <a:t>degrees of freedom (</a:t>
            </a:r>
            <a:r>
              <a:rPr lang="en-US" sz="3600" b="1" i="1" dirty="0" err="1" smtClean="0">
                <a:solidFill>
                  <a:srgbClr val="C00000"/>
                </a:solidFill>
                <a:cs typeface="Times New Roman" pitchFamily="18" charset="0"/>
                <a:sym typeface="Symbol"/>
              </a:rPr>
              <a:t>df</a:t>
            </a:r>
            <a:r>
              <a:rPr lang="en-US" sz="3600" b="1" i="1" dirty="0" smtClean="0">
                <a:solidFill>
                  <a:srgbClr val="C00000"/>
                </a:solidFill>
                <a:cs typeface="Times New Roman" pitchFamily="18" charset="0"/>
                <a:sym typeface="Symbol"/>
              </a:rPr>
              <a:t>) </a:t>
            </a:r>
          </a:p>
          <a:p>
            <a:pPr>
              <a:spcAft>
                <a:spcPts val="1800"/>
              </a:spcAft>
              <a:buFont typeface="Arial" pitchFamily="34" charset="0"/>
              <a:buChar char="•"/>
            </a:pPr>
            <a:r>
              <a:rPr lang="en-US" sz="3600" b="1" i="1" dirty="0" smtClean="0">
                <a:cs typeface="Times New Roman" pitchFamily="18" charset="0"/>
                <a:sym typeface="Symbol"/>
              </a:rPr>
              <a:t> </a:t>
            </a:r>
            <a:r>
              <a:rPr lang="en-US" sz="3600" dirty="0" smtClean="0">
                <a:cs typeface="Times New Roman" pitchFamily="18" charset="0"/>
                <a:sym typeface="Symbol"/>
              </a:rPr>
              <a:t>Degrees of freedom are calculated based on the sample size</a:t>
            </a:r>
          </a:p>
          <a:p>
            <a:pPr>
              <a:spcAft>
                <a:spcPts val="1800"/>
              </a:spcAft>
              <a:buFont typeface="Arial" pitchFamily="34" charset="0"/>
              <a:buChar char="•"/>
            </a:pPr>
            <a:r>
              <a:rPr lang="en-US" sz="3600" dirty="0" smtClean="0">
                <a:cs typeface="Times New Roman" pitchFamily="18" charset="0"/>
                <a:sym typeface="Symbol"/>
              </a:rPr>
              <a:t> The higher the degrees of freedom, the closer the </a:t>
            </a:r>
            <a:r>
              <a:rPr lang="en-US" sz="3600" i="1" dirty="0" smtClean="0">
                <a:cs typeface="Times New Roman" pitchFamily="18" charset="0"/>
                <a:sym typeface="Symbol"/>
              </a:rPr>
              <a:t>t</a:t>
            </a:r>
            <a:r>
              <a:rPr lang="en-US" sz="3600" dirty="0" smtClean="0">
                <a:cs typeface="Times New Roman" pitchFamily="18" charset="0"/>
                <a:sym typeface="Symbol"/>
              </a:rPr>
              <a:t>-distribution is to the standard normal</a:t>
            </a:r>
            <a:endParaRPr lang="en-US" sz="2800" dirty="0">
              <a:solidFill>
                <a:prstClr val="black"/>
              </a:solidFill>
              <a:cs typeface="Times New Roman" pitchFamily="18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95300" y="3810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Degrees of Freedom</a:t>
            </a:r>
            <a:endParaRPr lang="en-US" sz="4000" b="1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359769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95300" y="3810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t-distribution</a:t>
            </a:r>
            <a:endParaRPr lang="en-US" sz="4000" b="1" dirty="0">
              <a:solidFill>
                <a:schemeClr val="tx2"/>
              </a:solidFill>
            </a:endParaRPr>
          </a:p>
        </p:txBody>
      </p:sp>
      <p:pic>
        <p:nvPicPr>
          <p:cNvPr id="6" name="Picture 5" descr="Fig6-3tplots.eps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3399" y="1014249"/>
            <a:ext cx="8077201" cy="538655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753985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…But What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Are</a:t>
            </a:r>
            <a:r>
              <a:rPr lang="en-US" b="1" dirty="0" smtClean="0"/>
              <a:t> Degrees of Freedom?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524000"/>
            <a:ext cx="9144000" cy="5334000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In statistics, the number of 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degrees of freedom</a:t>
            </a:r>
            <a:r>
              <a:rPr lang="en-US" sz="3200" dirty="0"/>
              <a:t> is the number of values in the final calculation of a statistic that are free to vary</a:t>
            </a:r>
            <a:r>
              <a:rPr lang="en-US" sz="3200" dirty="0" smtClean="0"/>
              <a:t>.</a:t>
            </a:r>
          </a:p>
          <a:p>
            <a:r>
              <a:rPr lang="en-US" sz="3200" dirty="0" smtClean="0"/>
              <a:t>Example: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There are 4 values in </a:t>
            </a:r>
            <a:r>
              <a:rPr lang="en-US" sz="3200" smtClean="0"/>
              <a:t>a particular sample</a:t>
            </a:r>
            <a:r>
              <a:rPr lang="en-US" sz="3200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The sample mean is 5.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Three of the values in the sample are 3, 4, and 6.</a:t>
            </a:r>
            <a:endParaRPr lang="en-US" sz="3200" dirty="0"/>
          </a:p>
          <a:p>
            <a:pPr marL="0" indent="0">
              <a:buNone/>
            </a:pPr>
            <a:r>
              <a:rPr lang="en-US" sz="3200" dirty="0" smtClean="0"/>
              <a:t>…Then the fourth value must be 7. Only </a:t>
            </a:r>
            <a:r>
              <a:rPr lang="en-US" sz="3200" b="1" dirty="0" smtClean="0">
                <a:solidFill>
                  <a:schemeClr val="accent5">
                    <a:lumMod val="75000"/>
                  </a:schemeClr>
                </a:solidFill>
              </a:rPr>
              <a:t>three</a:t>
            </a:r>
            <a:r>
              <a:rPr lang="en-US" sz="32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3200" dirty="0" smtClean="0"/>
              <a:t>of the values </a:t>
            </a:r>
            <a:r>
              <a:rPr lang="en-US" sz="3200" b="1" dirty="0" smtClean="0">
                <a:solidFill>
                  <a:schemeClr val="accent5">
                    <a:lumMod val="75000"/>
                  </a:schemeClr>
                </a:solidFill>
              </a:rPr>
              <a:t>(4 – 1)</a:t>
            </a:r>
            <a:r>
              <a:rPr lang="en-US" sz="3200" dirty="0" smtClean="0"/>
              <a:t> are free to vary before the fourth is determined!</a:t>
            </a:r>
          </a:p>
        </p:txBody>
      </p:sp>
    </p:spTree>
    <p:extLst>
      <p:ext uri="{BB962C8B-B14F-4D97-AF65-F5344CB8AC3E}">
        <p14:creationId xmlns:p14="http://schemas.microsoft.com/office/powerpoint/2010/main" val="288472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95300" y="3810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Normality Assumption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1" y="1456521"/>
            <a:ext cx="9143999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  <a:buFont typeface="Arial" pitchFamily="34" charset="0"/>
              <a:buChar char="•"/>
            </a:pPr>
            <a:r>
              <a:rPr lang="en-US" sz="3000" dirty="0" smtClean="0"/>
              <a:t> Using the </a:t>
            </a:r>
            <a:r>
              <a:rPr lang="en-US" sz="3000" i="1" dirty="0" smtClean="0"/>
              <a:t>t</a:t>
            </a:r>
            <a:r>
              <a:rPr lang="en-US" sz="3000" dirty="0" smtClean="0"/>
              <a:t>-distribution requires an extra assumption: the </a:t>
            </a:r>
            <a:r>
              <a:rPr lang="en-US" sz="3000" b="1" dirty="0" smtClean="0">
                <a:solidFill>
                  <a:schemeClr val="accent1">
                    <a:lumMod val="50000"/>
                  </a:schemeClr>
                </a:solidFill>
              </a:rPr>
              <a:t>data</a:t>
            </a:r>
            <a:r>
              <a:rPr lang="en-US" sz="3000" dirty="0" smtClean="0"/>
              <a:t> </a:t>
            </a:r>
            <a:r>
              <a:rPr lang="en-US" sz="3000" b="1" dirty="0" smtClean="0">
                <a:solidFill>
                  <a:schemeClr val="accent1">
                    <a:lumMod val="50000"/>
                  </a:schemeClr>
                </a:solidFill>
              </a:rPr>
              <a:t>comes from a </a:t>
            </a:r>
            <a:r>
              <a:rPr lang="en-US" sz="3000" b="1" i="1" dirty="0" smtClean="0">
                <a:solidFill>
                  <a:schemeClr val="accent1">
                    <a:lumMod val="50000"/>
                  </a:schemeClr>
                </a:solidFill>
              </a:rPr>
              <a:t>normal distribution</a:t>
            </a:r>
            <a:r>
              <a:rPr lang="en-US" sz="3000" i="1" dirty="0" smtClean="0"/>
              <a:t> </a:t>
            </a:r>
          </a:p>
          <a:p>
            <a:pPr>
              <a:spcAft>
                <a:spcPts val="1800"/>
              </a:spcAft>
              <a:buFont typeface="Arial" pitchFamily="34" charset="0"/>
              <a:buChar char="•"/>
            </a:pPr>
            <a:r>
              <a:rPr lang="en-US" sz="3000" i="1" dirty="0" smtClean="0"/>
              <a:t> </a:t>
            </a:r>
            <a:r>
              <a:rPr lang="en-US" sz="3000" dirty="0" smtClean="0"/>
              <a:t>Note: this assumption is about the original data, not the distribution of the statistic</a:t>
            </a:r>
          </a:p>
          <a:p>
            <a:pPr>
              <a:spcAft>
                <a:spcPts val="1800"/>
              </a:spcAft>
              <a:buFont typeface="Arial" pitchFamily="34" charset="0"/>
              <a:buChar char="•"/>
            </a:pPr>
            <a:r>
              <a:rPr lang="en-US" sz="3000" dirty="0" smtClean="0"/>
              <a:t> For large sample sizes we do not need to worry about this, because </a:t>
            </a:r>
            <a:r>
              <a:rPr lang="en-US" sz="3000" i="1" dirty="0" smtClean="0"/>
              <a:t>s</a:t>
            </a:r>
            <a:r>
              <a:rPr lang="en-US" sz="3000" dirty="0" smtClean="0"/>
              <a:t> will be a very good estimate of </a:t>
            </a:r>
            <a:r>
              <a:rPr lang="en-US" sz="3000" i="1" dirty="0" smtClean="0">
                <a:sym typeface="Symbol"/>
              </a:rPr>
              <a:t></a:t>
            </a:r>
            <a:r>
              <a:rPr lang="en-US" sz="3000" dirty="0" smtClean="0">
                <a:sym typeface="Symbol"/>
              </a:rPr>
              <a:t>, and </a:t>
            </a:r>
            <a:r>
              <a:rPr lang="en-US" sz="3000" i="1" dirty="0" smtClean="0">
                <a:sym typeface="Symbol"/>
              </a:rPr>
              <a:t>t </a:t>
            </a:r>
            <a:r>
              <a:rPr lang="en-US" sz="3000" dirty="0" smtClean="0">
                <a:sym typeface="Symbol"/>
              </a:rPr>
              <a:t>will be very close to N(0,1)</a:t>
            </a:r>
          </a:p>
          <a:p>
            <a:pPr>
              <a:spcAft>
                <a:spcPts val="1800"/>
              </a:spcAft>
              <a:buFont typeface="Arial" pitchFamily="34" charset="0"/>
              <a:buChar char="•"/>
            </a:pPr>
            <a:r>
              <a:rPr lang="en-US" sz="3000" i="1" dirty="0" smtClean="0">
                <a:sym typeface="Symbol"/>
              </a:rPr>
              <a:t> </a:t>
            </a:r>
            <a:r>
              <a:rPr lang="en-US" sz="3000" dirty="0" smtClean="0">
                <a:sym typeface="Symbol"/>
              </a:rPr>
              <a:t>For small sample sizes (</a:t>
            </a:r>
            <a:r>
              <a:rPr lang="en-US" sz="3000" i="1" dirty="0" smtClean="0">
                <a:sym typeface="Symbol"/>
              </a:rPr>
              <a:t>n</a:t>
            </a:r>
            <a:r>
              <a:rPr lang="en-US" sz="3000" dirty="0" smtClean="0">
                <a:sym typeface="Symbol"/>
              </a:rPr>
              <a:t> &lt; 30), we can only use the </a:t>
            </a:r>
            <a:r>
              <a:rPr lang="en-US" sz="3000" i="1" dirty="0" smtClean="0">
                <a:sym typeface="Symbol"/>
              </a:rPr>
              <a:t>t-</a:t>
            </a:r>
            <a:r>
              <a:rPr lang="en-US" sz="3000" dirty="0" smtClean="0">
                <a:sym typeface="Symbol"/>
              </a:rPr>
              <a:t>distribution if the distribution of the data is approximately normal</a:t>
            </a:r>
            <a:endParaRPr lang="en-US" sz="3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26968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95300" y="2286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Normality Assumption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1000" y="990600"/>
            <a:ext cx="8458200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  <a:buFont typeface="Arial" pitchFamily="34" charset="0"/>
              <a:buChar char="•"/>
            </a:pPr>
            <a:r>
              <a:rPr lang="en-US" sz="2800" dirty="0" smtClean="0"/>
              <a:t> One small problem: for small sample sizes, it is very hard to tell if the data actually comes from a normal distribution!</a:t>
            </a:r>
          </a:p>
          <a:p>
            <a:pPr>
              <a:spcAft>
                <a:spcPts val="1800"/>
              </a:spcAft>
              <a:buFont typeface="Arial" pitchFamily="34" charset="0"/>
              <a:buChar char="•"/>
            </a:pPr>
            <a:endParaRPr lang="en-US" sz="2800" i="1" dirty="0" smtClean="0"/>
          </a:p>
          <a:p>
            <a:pPr>
              <a:spcAft>
                <a:spcPts val="1800"/>
              </a:spcAft>
              <a:buFont typeface="Arial" pitchFamily="34" charset="0"/>
              <a:buChar char="•"/>
            </a:pPr>
            <a:endParaRPr lang="en-US" sz="2800" i="1" dirty="0" smtClean="0"/>
          </a:p>
          <a:p>
            <a:pPr>
              <a:spcAft>
                <a:spcPts val="1800"/>
              </a:spcAft>
              <a:buFont typeface="Arial" pitchFamily="34" charset="0"/>
              <a:buChar char="•"/>
            </a:pPr>
            <a:endParaRPr lang="en-US" sz="2800" i="1" dirty="0" smtClean="0"/>
          </a:p>
          <a:p>
            <a:pPr>
              <a:spcAft>
                <a:spcPts val="1800"/>
              </a:spcAft>
              <a:buFont typeface="Arial" pitchFamily="34" charset="0"/>
              <a:buChar char="•"/>
            </a:pPr>
            <a:endParaRPr lang="en-US" sz="2800" i="1" dirty="0" smtClean="0"/>
          </a:p>
          <a:p>
            <a:pPr>
              <a:spcAft>
                <a:spcPts val="1800"/>
              </a:spcAft>
            </a:pP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762000" y="2362199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Population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3" cstate="print"/>
          <a:srcRect b="8772"/>
          <a:stretch>
            <a:fillRect/>
          </a:stretch>
        </p:blipFill>
        <p:spPr bwMode="auto">
          <a:xfrm>
            <a:off x="609600" y="2743199"/>
            <a:ext cx="20193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4572000" y="2438399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Sample Data, n = 10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1949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43200" y="2743199"/>
            <a:ext cx="2047875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949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48200" y="2743199"/>
            <a:ext cx="2047875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9494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53200" y="2771774"/>
            <a:ext cx="2047875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9495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743200" y="4419599"/>
            <a:ext cx="2047875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9496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648200" y="4676774"/>
            <a:ext cx="2047875" cy="164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9497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638925" y="4676774"/>
            <a:ext cx="2047875" cy="164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9498" name="Picture 10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57200" y="4495799"/>
            <a:ext cx="2047875" cy="164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953563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94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194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9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9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9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94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194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9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9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19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194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9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4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95300" y="3810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Small Samples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400" y="1474578"/>
            <a:ext cx="8915400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  <a:buFont typeface="Arial" pitchFamily="34" charset="0"/>
              <a:buChar char="•"/>
            </a:pPr>
            <a:r>
              <a:rPr lang="en-US" sz="3200" dirty="0" smtClean="0"/>
              <a:t> If sample sizes are small, only use the </a:t>
            </a:r>
            <a:r>
              <a:rPr lang="en-US" sz="3200" i="1" dirty="0" smtClean="0"/>
              <a:t>t-</a:t>
            </a:r>
            <a:r>
              <a:rPr lang="en-US" sz="3200" dirty="0" smtClean="0"/>
              <a:t>distribution if the data looks reasonably symmetric and does not have any extreme outliers.</a:t>
            </a:r>
          </a:p>
          <a:p>
            <a:pPr>
              <a:spcAft>
                <a:spcPts val="1800"/>
              </a:spcAft>
              <a:buFont typeface="Arial" pitchFamily="34" charset="0"/>
              <a:buChar char="•"/>
            </a:pPr>
            <a:r>
              <a:rPr lang="en-US" sz="3200" dirty="0" smtClean="0"/>
              <a:t> Even then, remember that it is just an approximation! </a:t>
            </a:r>
          </a:p>
          <a:p>
            <a:pPr>
              <a:spcAft>
                <a:spcPts val="1800"/>
              </a:spcAft>
              <a:buFont typeface="Arial" pitchFamily="34" charset="0"/>
              <a:buChar char="•"/>
            </a:pPr>
            <a:r>
              <a:rPr lang="en-US" sz="3200" dirty="0" smtClean="0"/>
              <a:t> In practice/life, if sample sizes are small, you should just use simulation methods (bootstrapping and randomization)</a:t>
            </a:r>
            <a:endParaRPr lang="en-US" sz="3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94303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95300" y="3810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Confidence Intervals</a:t>
            </a:r>
            <a:endParaRPr lang="en-US" sz="4000" b="1" dirty="0">
              <a:solidFill>
                <a:schemeClr val="tx2"/>
              </a:solidFill>
            </a:endParaRPr>
          </a:p>
        </p:txBody>
      </p:sp>
      <p:graphicFrame>
        <p:nvGraphicFramePr>
          <p:cNvPr id="227331" name="Object 3"/>
          <p:cNvGraphicFramePr>
            <a:graphicFrameLocks noChangeAspect="1"/>
          </p:cNvGraphicFramePr>
          <p:nvPr/>
        </p:nvGraphicFramePr>
        <p:xfrm>
          <a:off x="1546225" y="1782763"/>
          <a:ext cx="5975350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4" name="Equation" r:id="rId4" imgW="1688760" imgH="228600" progId="Equation.DSMT4">
                  <p:embed/>
                </p:oleObj>
              </mc:Choice>
              <mc:Fallback>
                <p:oleObj name="Equation" r:id="rId4" imgW="1688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225" y="1782763"/>
                        <a:ext cx="5975350" cy="80803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2" name="Object 4"/>
          <p:cNvGraphicFramePr>
            <a:graphicFrameLocks noChangeAspect="1"/>
          </p:cNvGraphicFramePr>
          <p:nvPr/>
        </p:nvGraphicFramePr>
        <p:xfrm>
          <a:off x="1535112" y="3048000"/>
          <a:ext cx="3189288" cy="1481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5" name="Equation" r:id="rId6" imgW="901440" imgH="419040" progId="Equation.DSMT4">
                  <p:embed/>
                </p:oleObj>
              </mc:Choice>
              <mc:Fallback>
                <p:oleObj name="Equation" r:id="rId6" imgW="9014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5112" y="3048000"/>
                        <a:ext cx="3189288" cy="148113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181600" y="3276600"/>
            <a:ext cx="228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 smtClean="0">
                <a:solidFill>
                  <a:srgbClr val="0040C0"/>
                </a:solidFill>
              </a:rPr>
              <a:t>df</a:t>
            </a:r>
            <a:r>
              <a:rPr lang="en-US" sz="3600" b="1" dirty="0" smtClean="0">
                <a:solidFill>
                  <a:srgbClr val="0040C0"/>
                </a:solidFill>
              </a:rPr>
              <a:t> = </a:t>
            </a:r>
            <a:r>
              <a:rPr lang="en-US" sz="3600" b="1" i="1" dirty="0" smtClean="0">
                <a:solidFill>
                  <a:srgbClr val="0040C0"/>
                </a:solidFill>
              </a:rPr>
              <a:t>n</a:t>
            </a:r>
            <a:r>
              <a:rPr lang="en-US" sz="3600" b="1" dirty="0" smtClean="0">
                <a:solidFill>
                  <a:srgbClr val="0040C0"/>
                </a:solidFill>
              </a:rPr>
              <a:t> – 1 </a:t>
            </a:r>
            <a:endParaRPr lang="en-US" sz="3600" b="1" dirty="0">
              <a:solidFill>
                <a:srgbClr val="004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38974" y="6019800"/>
            <a:ext cx="57294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/>
              <a:t>IF </a:t>
            </a:r>
            <a:r>
              <a:rPr lang="en-US" sz="3200" i="1" dirty="0" smtClean="0"/>
              <a:t>n </a:t>
            </a:r>
            <a:r>
              <a:rPr lang="en-US" sz="3200" dirty="0" smtClean="0"/>
              <a:t>is large or the data is normal </a:t>
            </a:r>
            <a:endParaRPr lang="en-US" sz="3200" dirty="0"/>
          </a:p>
        </p:txBody>
      </p:sp>
      <p:sp>
        <p:nvSpPr>
          <p:cNvPr id="7" name="Rectangle 6"/>
          <p:cNvSpPr/>
          <p:nvPr/>
        </p:nvSpPr>
        <p:spPr>
          <a:xfrm>
            <a:off x="228601" y="4837092"/>
            <a:ext cx="85343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i="1" dirty="0" smtClean="0"/>
              <a:t>t</a:t>
            </a:r>
            <a:r>
              <a:rPr lang="en-US" sz="3200" baseline="30000" dirty="0" smtClean="0"/>
              <a:t>*</a:t>
            </a:r>
            <a:r>
              <a:rPr lang="en-US" sz="3200" dirty="0" smtClean="0"/>
              <a:t> is found as the appropriate percentile on a </a:t>
            </a:r>
            <a:r>
              <a:rPr lang="en-US" sz="3200" i="1" dirty="0" smtClean="0"/>
              <a:t>t</a:t>
            </a:r>
            <a:r>
              <a:rPr lang="en-US" sz="3200" dirty="0" smtClean="0"/>
              <a:t>-distribution with n – 1 degrees of freedom</a:t>
            </a:r>
            <a:endParaRPr lang="en-US" sz="3200" i="1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1148530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7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7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7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73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73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7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How to Obtain t*</a:t>
            </a:r>
            <a:endParaRPr lang="en-US" b="1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0"/>
            <a:ext cx="9144000" cy="4745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Oval 4"/>
          <p:cNvSpPr/>
          <p:nvPr/>
        </p:nvSpPr>
        <p:spPr>
          <a:xfrm>
            <a:off x="4800600" y="5923356"/>
            <a:ext cx="914400" cy="381000"/>
          </a:xfrm>
          <a:prstGeom prst="ellipse">
            <a:avLst/>
          </a:prstGeom>
          <a:noFill/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775854" y="5888720"/>
            <a:ext cx="914400" cy="381000"/>
          </a:xfrm>
          <a:prstGeom prst="ellipse">
            <a:avLst/>
          </a:prstGeom>
          <a:noFill/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921326" y="6325676"/>
            <a:ext cx="768927" cy="52322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</a:rPr>
              <a:t>- t*</a:t>
            </a:r>
            <a:endParaRPr lang="en-US" sz="2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73336" y="6342783"/>
            <a:ext cx="768927" cy="52322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</a:rPr>
              <a:t>t*</a:t>
            </a:r>
            <a:endParaRPr lang="en-US" sz="2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79416" y="3505200"/>
            <a:ext cx="3643747" cy="523220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</a:rPr>
              <a:t>Confidence Level: 99%</a:t>
            </a:r>
            <a:endParaRPr lang="en-US" sz="28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736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Gribbles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3352800"/>
            <a:ext cx="7285822" cy="35052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prstClr val="black"/>
                </a:solidFill>
                <a:cs typeface="Times New Roman" pitchFamily="18" charset="0"/>
              </a:rPr>
              <a:t>A sample of 50 gribbles finds an average length of 3.1 mm with a standard deviation of 0.72 mm.  </a:t>
            </a:r>
          </a:p>
          <a:p>
            <a:r>
              <a:rPr lang="en-US" sz="3200" dirty="0">
                <a:solidFill>
                  <a:prstClr val="black"/>
                </a:solidFill>
                <a:cs typeface="Times New Roman" pitchFamily="18" charset="0"/>
              </a:rPr>
              <a:t>Give a 90% confidence interval for the average length of gribbles</a:t>
            </a: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.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  <a:p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  <a:p>
            <a:endParaRPr lang="en-US" sz="3200" dirty="0"/>
          </a:p>
        </p:txBody>
      </p:sp>
      <p:pic>
        <p:nvPicPr>
          <p:cNvPr id="6146" name="Picture 2" descr="http://www.greendiary.com/wp-content/uploads/2012/07/gribble_Otoeh_11446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12" t="4614" r="10962" b="-1"/>
          <a:stretch/>
        </p:blipFill>
        <p:spPr bwMode="auto">
          <a:xfrm>
            <a:off x="7045419" y="4038600"/>
            <a:ext cx="1869981" cy="2294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0" y="1524000"/>
            <a:ext cx="9144000" cy="1676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0"/>
              </a:spcBef>
              <a:spcAft>
                <a:spcPts val="1800"/>
              </a:spcAft>
              <a:buClr>
                <a:schemeClr val="accent1"/>
              </a:buClr>
              <a:buSzPct val="85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0"/>
              </a:spcBef>
              <a:spcAft>
                <a:spcPts val="1800"/>
              </a:spcAft>
              <a:buClr>
                <a:schemeClr val="accent2"/>
              </a:buClr>
              <a:buSzPct val="70000"/>
              <a:buFont typeface="Wingdings"/>
              <a:buChar char="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0"/>
              </a:spcBef>
              <a:spcAft>
                <a:spcPts val="1800"/>
              </a:spcAft>
              <a:buClr>
                <a:schemeClr val="accent3"/>
              </a:buClr>
              <a:buSzPct val="75000"/>
              <a:buFont typeface="Wingdings 2"/>
              <a:buChar char="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0"/>
              </a:spcBef>
              <a:spcAft>
                <a:spcPts val="1800"/>
              </a:spcAft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0"/>
              </a:spcBef>
              <a:spcAft>
                <a:spcPts val="1800"/>
              </a:spcAft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prstClr val="black"/>
                </a:solidFill>
                <a:cs typeface="Times New Roman" pitchFamily="18" charset="0"/>
              </a:rPr>
              <a:t>Gribbles are small marine worms that bore through wood, and the enzyme they secrete may allow us to turn inedible wood and plant waste into biofuel</a:t>
            </a:r>
          </a:p>
        </p:txBody>
      </p:sp>
    </p:spTree>
    <p:extLst>
      <p:ext uri="{BB962C8B-B14F-4D97-AF65-F5344CB8AC3E}">
        <p14:creationId xmlns:p14="http://schemas.microsoft.com/office/powerpoint/2010/main" val="595646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8001000" cy="1981200"/>
          </a:xfrm>
        </p:spPr>
        <p:txBody>
          <a:bodyPr>
            <a:noAutofit/>
          </a:bodyPr>
          <a:lstStyle/>
          <a:p>
            <a:r>
              <a:rPr lang="en-US" sz="3200" b="1" dirty="0">
                <a:cs typeface="Times New Roman" pitchFamily="18" charset="0"/>
              </a:rPr>
              <a:t>A sample of 50 gribbles finds an average length of 3.1 mm with a standard deviation of 0.72 mm.  For  a 90% confidence interval for the average length of gribbles, what is t</a:t>
            </a:r>
            <a:r>
              <a:rPr lang="en-US" sz="3200" b="1" dirty="0" smtClean="0">
                <a:cs typeface="Times New Roman" pitchFamily="18" charset="0"/>
              </a:rPr>
              <a:t>*?</a:t>
            </a:r>
            <a:endParaRPr lang="en-US" sz="3200" b="1" dirty="0"/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2354263"/>
            <a:ext cx="3416300" cy="229393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 smtClean="0">
                <a:solidFill>
                  <a:prstClr val="black"/>
                </a:solidFill>
                <a:cs typeface="Times New Roman" pitchFamily="18" charset="0"/>
              </a:rPr>
              <a:t>1.645</a:t>
            </a:r>
            <a:endParaRPr lang="en-US" dirty="0">
              <a:solidFill>
                <a:prstClr val="black"/>
              </a:solidFill>
              <a:cs typeface="Times New Roman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dirty="0" smtClean="0">
                <a:solidFill>
                  <a:prstClr val="black"/>
                </a:solidFill>
                <a:cs typeface="Times New Roman" pitchFamily="18" charset="0"/>
              </a:rPr>
              <a:t>1.677</a:t>
            </a:r>
            <a:endParaRPr lang="en-US" dirty="0">
              <a:solidFill>
                <a:prstClr val="black"/>
              </a:solidFill>
              <a:cs typeface="Times New Roman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dirty="0" smtClean="0">
                <a:solidFill>
                  <a:prstClr val="black"/>
                </a:solidFill>
                <a:cs typeface="Times New Roman" pitchFamily="18" charset="0"/>
              </a:rPr>
              <a:t>1.960</a:t>
            </a:r>
            <a:endParaRPr lang="en-US" dirty="0">
              <a:solidFill>
                <a:prstClr val="black"/>
              </a:solidFill>
              <a:cs typeface="Times New Roman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dirty="0" smtClean="0">
                <a:solidFill>
                  <a:prstClr val="black"/>
                </a:solidFill>
                <a:cs typeface="Times New Roman" pitchFamily="18" charset="0"/>
              </a:rPr>
              <a:t>1.690</a:t>
            </a:r>
            <a:endParaRPr lang="en-US" dirty="0"/>
          </a:p>
        </p:txBody>
      </p:sp>
      <p:pic>
        <p:nvPicPr>
          <p:cNvPr id="6146" name="Picture 2" descr="http://www.greendiary.com/wp-content/uploads/2012/07/gribble_Otoeh_11446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12" t="4614" r="10962" b="-1"/>
          <a:stretch/>
        </p:blipFill>
        <p:spPr bwMode="auto">
          <a:xfrm>
            <a:off x="8001000" y="2264"/>
            <a:ext cx="1143000" cy="1402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185056" y="1991380"/>
            <a:ext cx="137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>
                <a:hlinkClick r:id="rId5"/>
              </a:rPr>
              <a:t>StatKey</a:t>
            </a:r>
            <a:endParaRPr 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520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76200"/>
            <a:ext cx="8001000" cy="2362200"/>
          </a:xfrm>
        </p:spPr>
        <p:txBody>
          <a:bodyPr>
            <a:noAutofit/>
          </a:bodyPr>
          <a:lstStyle/>
          <a:p>
            <a:r>
              <a:rPr lang="en-US" sz="3200" b="1" dirty="0">
                <a:cs typeface="Times New Roman" pitchFamily="18" charset="0"/>
              </a:rPr>
              <a:t>A sample of 50 gribbles finds an average length of 3.1 mm with a standard deviation of 0.72 mm. For  a 90% confidence interval for the average length of gribbles, what is the standard </a:t>
            </a:r>
            <a:r>
              <a:rPr lang="en-US" sz="3200" b="1" dirty="0" smtClean="0">
                <a:cs typeface="Times New Roman" pitchFamily="18" charset="0"/>
              </a:rPr>
              <a:t>error.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3"/>
            </p:custDataLst>
          </p:nvPr>
        </p:nvSpPr>
        <p:spPr>
          <a:xfrm>
            <a:off x="0" y="2354263"/>
            <a:ext cx="3416300" cy="229393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>
                <a:solidFill>
                  <a:prstClr val="black"/>
                </a:solidFill>
                <a:cs typeface="Times New Roman" pitchFamily="18" charset="0"/>
              </a:rPr>
              <a:t>0.171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>
                <a:solidFill>
                  <a:prstClr val="black"/>
                </a:solidFill>
                <a:cs typeface="Times New Roman" pitchFamily="18" charset="0"/>
              </a:rPr>
              <a:t>0.720</a:t>
            </a:r>
            <a:endParaRPr lang="en-US" dirty="0">
              <a:solidFill>
                <a:prstClr val="black"/>
              </a:solidFill>
              <a:cs typeface="Times New Roman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dirty="0" smtClean="0">
                <a:solidFill>
                  <a:prstClr val="black"/>
                </a:solidFill>
                <a:cs typeface="Times New Roman" pitchFamily="18" charset="0"/>
              </a:rPr>
              <a:t>1.960</a:t>
            </a:r>
            <a:endParaRPr lang="en-US" dirty="0">
              <a:solidFill>
                <a:prstClr val="black"/>
              </a:solidFill>
              <a:cs typeface="Times New Roman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dirty="0" smtClean="0">
                <a:solidFill>
                  <a:prstClr val="black"/>
                </a:solidFill>
                <a:cs typeface="Times New Roman" pitchFamily="18" charset="0"/>
              </a:rPr>
              <a:t>0.102</a:t>
            </a:r>
            <a:endParaRPr lang="en-US" dirty="0">
              <a:solidFill>
                <a:prstClr val="black"/>
              </a:solidFill>
              <a:cs typeface="Times New Roman" pitchFamily="18" charset="0"/>
            </a:endParaRPr>
          </a:p>
        </p:txBody>
      </p:sp>
      <p:pic>
        <p:nvPicPr>
          <p:cNvPr id="6146" name="Picture 2" descr="http://www.greendiary.com/wp-content/uploads/2012/07/gribble_Otoeh_11446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12" t="4614" r="10962" b="-1"/>
          <a:stretch/>
        </p:blipFill>
        <p:spPr bwMode="auto">
          <a:xfrm>
            <a:off x="8001000" y="2264"/>
            <a:ext cx="1143000" cy="1402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4238004"/>
              </p:ext>
            </p:extLst>
          </p:nvPr>
        </p:nvGraphicFramePr>
        <p:xfrm>
          <a:off x="3276600" y="2286000"/>
          <a:ext cx="1625697" cy="1141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3" name="Equation" r:id="rId6" imgW="596900" imgH="419100" progId="Equation.DSMT4">
                  <p:embed/>
                </p:oleObj>
              </mc:Choice>
              <mc:Fallback>
                <p:oleObj name="Equation" r:id="rId6" imgW="596900" imgH="419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286000"/>
                        <a:ext cx="1625697" cy="1141114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accent2">
                            <a:lumMod val="75000"/>
                          </a:schemeClr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3324669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76200"/>
            <a:ext cx="8001000" cy="2362200"/>
          </a:xfrm>
        </p:spPr>
        <p:txBody>
          <a:bodyPr>
            <a:noAutofit/>
          </a:bodyPr>
          <a:lstStyle/>
          <a:p>
            <a:r>
              <a:rPr lang="en-US" sz="3200" b="1" dirty="0">
                <a:cs typeface="Times New Roman" pitchFamily="18" charset="0"/>
              </a:rPr>
              <a:t>A sample of 50 gribbles finds an average length of 3.1 mm with a standard deviation of 0.72 mm. For  a 90% confidence interval for the average length of gribbles, what is the margin of  error?</a:t>
            </a: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2590800"/>
            <a:ext cx="3416300" cy="229393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>
                <a:solidFill>
                  <a:prstClr val="black"/>
                </a:solidFill>
                <a:cs typeface="Times New Roman" pitchFamily="18" charset="0"/>
              </a:rPr>
              <a:t>0.171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>
                <a:solidFill>
                  <a:prstClr val="black"/>
                </a:solidFill>
                <a:cs typeface="Times New Roman" pitchFamily="18" charset="0"/>
              </a:rPr>
              <a:t>0.720</a:t>
            </a:r>
            <a:endParaRPr lang="en-US" dirty="0">
              <a:solidFill>
                <a:prstClr val="black"/>
              </a:solidFill>
              <a:cs typeface="Times New Roman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dirty="0" smtClean="0">
                <a:solidFill>
                  <a:prstClr val="black"/>
                </a:solidFill>
                <a:cs typeface="Times New Roman" pitchFamily="18" charset="0"/>
              </a:rPr>
              <a:t>1.960</a:t>
            </a:r>
            <a:endParaRPr lang="en-US" dirty="0">
              <a:solidFill>
                <a:prstClr val="black"/>
              </a:solidFill>
              <a:cs typeface="Times New Roman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dirty="0" smtClean="0">
                <a:solidFill>
                  <a:prstClr val="black"/>
                </a:solidFill>
                <a:cs typeface="Times New Roman" pitchFamily="18" charset="0"/>
              </a:rPr>
              <a:t>0.102</a:t>
            </a:r>
            <a:endParaRPr lang="en-US" dirty="0">
              <a:solidFill>
                <a:prstClr val="black"/>
              </a:solidFill>
              <a:cs typeface="Times New Roman" pitchFamily="18" charset="0"/>
            </a:endParaRPr>
          </a:p>
        </p:txBody>
      </p:sp>
      <p:pic>
        <p:nvPicPr>
          <p:cNvPr id="6146" name="Picture 2" descr="http://www.greendiary.com/wp-content/uploads/2012/07/gribble_Otoeh_11446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12" t="4614" r="10962" b="-1"/>
          <a:stretch/>
        </p:blipFill>
        <p:spPr bwMode="auto">
          <a:xfrm>
            <a:off x="8001000" y="2264"/>
            <a:ext cx="1143000" cy="1402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23004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90600" y="228600"/>
            <a:ext cx="8153400" cy="990600"/>
          </a:xfrm>
        </p:spPr>
        <p:txBody>
          <a:bodyPr/>
          <a:lstStyle/>
          <a:p>
            <a:r>
              <a:rPr lang="en-US" b="1" dirty="0"/>
              <a:t>Gribbles</a:t>
            </a:r>
          </a:p>
        </p:txBody>
      </p:sp>
      <p:pic>
        <p:nvPicPr>
          <p:cNvPr id="6146" name="Picture 2" descr="http://www.greendiary.com/wp-content/uploads/2012/07/gribble_Otoeh_11446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12" t="4614" r="10962" b="-1"/>
          <a:stretch/>
        </p:blipFill>
        <p:spPr bwMode="auto">
          <a:xfrm>
            <a:off x="7045419" y="4038600"/>
            <a:ext cx="1869981" cy="2294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28601" y="1066800"/>
            <a:ext cx="3787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solidFill>
                  <a:schemeClr val="accent1">
                    <a:lumMod val="50000"/>
                  </a:schemeClr>
                </a:solidFill>
              </a:rPr>
              <a:t>statistic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</a:t>
            </a:r>
            <a:r>
              <a:rPr lang="en-US" sz="2800" i="1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 t* SE</a:t>
            </a:r>
            <a:endParaRPr lang="en-US" i="1" dirty="0">
              <a:solidFill>
                <a:schemeClr val="accent1">
                  <a:lumMod val="50000"/>
                </a:schemeClr>
              </a:solidFill>
              <a:sym typeface="Symbo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6200" y="1667219"/>
                <a:ext cx="3787966" cy="711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2800" i="1">
                    <a:solidFill>
                      <a:schemeClr val="accent1">
                        <a:lumMod val="50000"/>
                      </a:schemeClr>
                    </a:solidFill>
                  </a:defRPr>
                </a:lvl1pPr>
              </a:lstStyle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en-US">
                        <a:latin typeface="Cambria Math"/>
                      </a:rPr>
                      <m:t>±</m:t>
                    </m:r>
                    <m:r>
                      <a:rPr lang="en-US">
                        <a:latin typeface="Cambria Math"/>
                      </a:rPr>
                      <m:t>𝑡</m:t>
                    </m:r>
                  </m:oMath>
                </a14:m>
                <a:r>
                  <a:rPr lang="en-US" dirty="0"/>
                  <a:t>* </a:t>
                </a:r>
                <a:r>
                  <a:rPr lang="en-US" dirty="0">
                    <a:sym typeface="Symbol"/>
                  </a:rPr>
                  <a:t>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/>
                            <a:sym typeface="Symbol"/>
                          </a:rPr>
                        </m:ctrlPr>
                      </m:fPr>
                      <m:num>
                        <m:r>
                          <a:rPr lang="en-US">
                            <a:latin typeface="Cambria Math"/>
                            <a:sym typeface="Symbol"/>
                          </a:rPr>
                          <m:t>𝑠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/>
                                <a:sym typeface="Symbol"/>
                              </a:rPr>
                            </m:ctrlPr>
                          </m:radPr>
                          <m:deg/>
                          <m:e>
                            <m:r>
                              <a:rPr lang="en-US">
                                <a:latin typeface="Cambria Math"/>
                                <a:sym typeface="Symbol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US" dirty="0">
                  <a:sym typeface="Symbol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1667219"/>
                <a:ext cx="3787966" cy="711477"/>
              </a:xfrm>
              <a:prstGeom prst="rect">
                <a:avLst/>
              </a:prstGeom>
              <a:blipFill rotWithShape="1">
                <a:blip r:embed="rId4"/>
                <a:stretch>
                  <a:fillRect t="-3419" b="-3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623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95300" y="3810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>
                <a:solidFill>
                  <a:schemeClr val="tx2"/>
                </a:solidFill>
              </a:rPr>
              <a:t>Margin of Error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100" y="2044424"/>
            <a:ext cx="9067799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3200" dirty="0">
                <a:solidFill>
                  <a:prstClr val="black"/>
                </a:solidFill>
                <a:cs typeface="Times New Roman" pitchFamily="18" charset="0"/>
              </a:rPr>
              <a:t>You can choose your sample size in advance, depending on your desired margin of error!</a:t>
            </a:r>
          </a:p>
          <a:p>
            <a:pPr>
              <a:spcAft>
                <a:spcPts val="1800"/>
              </a:spcAft>
            </a:pPr>
            <a:r>
              <a:rPr lang="en-US" sz="3200" dirty="0">
                <a:solidFill>
                  <a:prstClr val="black"/>
                </a:solidFill>
                <a:cs typeface="Times New Roman" pitchFamily="18" charset="0"/>
              </a:rPr>
              <a:t>Given this formula for margin of error, solve for </a:t>
            </a:r>
            <a:r>
              <a:rPr lang="en-US" sz="3200" i="1" dirty="0">
                <a:solidFill>
                  <a:prstClr val="black"/>
                </a:solidFill>
                <a:cs typeface="Times New Roman" pitchFamily="18" charset="0"/>
              </a:rPr>
              <a:t>n</a:t>
            </a:r>
            <a:r>
              <a:rPr lang="en-US" sz="3200" i="1" dirty="0" smtClean="0">
                <a:solidFill>
                  <a:prstClr val="black"/>
                </a:solidFill>
                <a:cs typeface="Times New Roman" pitchFamily="18" charset="0"/>
              </a:rPr>
              <a:t>.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819400" y="1155976"/>
                <a:ext cx="2439642" cy="8884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3600" dirty="0"/>
                  <a:t>ME = 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/>
                        <a:ea typeface="Cambria Math"/>
                      </a:rPr>
                      <m:t>𝑡</m:t>
                    </m:r>
                  </m:oMath>
                </a14:m>
                <a:r>
                  <a:rPr lang="en-US" sz="3600" dirty="0"/>
                  <a:t>* </a:t>
                </a:r>
                <a:r>
                  <a:rPr lang="en-US" sz="3600" dirty="0">
                    <a:sym typeface="Symbol"/>
                  </a:rPr>
                  <a:t>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>
                            <a:latin typeface="Cambria Math"/>
                            <a:sym typeface="Symbol"/>
                          </a:rPr>
                        </m:ctrlPr>
                      </m:fPr>
                      <m:num>
                        <m:r>
                          <a:rPr lang="en-US" sz="3600" i="1">
                            <a:latin typeface="Cambria Math"/>
                            <a:sym typeface="Symbol"/>
                          </a:rPr>
                          <m:t>𝑠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3600" i="1">
                                <a:latin typeface="Cambria Math"/>
                                <a:sym typeface="Symbol"/>
                              </a:rPr>
                            </m:ctrlPr>
                          </m:radPr>
                          <m:deg/>
                          <m:e>
                            <m:r>
                              <a:rPr lang="en-US" sz="3600" i="1">
                                <a:latin typeface="Cambria Math"/>
                                <a:sym typeface="Symbol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1155976"/>
                <a:ext cx="2439642" cy="888448"/>
              </a:xfrm>
              <a:prstGeom prst="rect">
                <a:avLst/>
              </a:prstGeom>
              <a:blipFill rotWithShape="1">
                <a:blip r:embed="rId3"/>
                <a:stretch>
                  <a:fillRect l="-7750" t="-4828" b="-4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 descr="http://www.school-clipart.com/school_clipart_images/pencil_touching_lead_to_paper_0515-1007-2718-0955_SMU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1" y="228600"/>
            <a:ext cx="838200" cy="81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287383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90600" y="11113"/>
            <a:ext cx="8153400" cy="990600"/>
          </a:xfrm>
        </p:spPr>
        <p:txBody>
          <a:bodyPr/>
          <a:lstStyle/>
          <a:p>
            <a:r>
              <a:rPr lang="en-US" b="1" dirty="0"/>
              <a:t>Margin of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1000" y="2209800"/>
            <a:ext cx="8763000" cy="4343400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en-US" dirty="0"/>
              <a:t>Problem 1: For </a:t>
            </a:r>
            <a:r>
              <a:rPr lang="en-US" i="1" dirty="0"/>
              <a:t>t</a:t>
            </a:r>
            <a:r>
              <a:rPr lang="en-US" dirty="0"/>
              <a:t>*, need to know </a:t>
            </a:r>
            <a:r>
              <a:rPr lang="en-US" i="1" dirty="0"/>
              <a:t>n.  </a:t>
            </a:r>
          </a:p>
          <a:p>
            <a:pPr lvl="1"/>
            <a:r>
              <a:rPr lang="en-US" dirty="0"/>
              <a:t>Solution: Use </a:t>
            </a:r>
            <a:r>
              <a:rPr lang="en-US" i="1" dirty="0"/>
              <a:t>z* </a:t>
            </a:r>
            <a:r>
              <a:rPr lang="en-US" dirty="0"/>
              <a:t>instead of </a:t>
            </a:r>
            <a:r>
              <a:rPr lang="en-US" i="1" dirty="0"/>
              <a:t>t</a:t>
            </a:r>
            <a:r>
              <a:rPr lang="en-US" dirty="0"/>
              <a:t>* (they are usually close)</a:t>
            </a: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US" sz="2900" dirty="0"/>
              <a:t>Problem 2: For s, need data.</a:t>
            </a:r>
          </a:p>
          <a:p>
            <a:pPr lvl="1">
              <a:spcAft>
                <a:spcPts val="0"/>
              </a:spcAft>
            </a:pPr>
            <a:r>
              <a:rPr lang="en-US" dirty="0"/>
              <a:t>Solution: estimate s.</a:t>
            </a:r>
          </a:p>
          <a:p>
            <a:pPr marL="1051560" lvl="3" indent="-457200">
              <a:spcAft>
                <a:spcPts val="0"/>
              </a:spcAft>
              <a:buClr>
                <a:schemeClr val="accent2"/>
              </a:buClr>
              <a:buSzPct val="100000"/>
              <a:buFont typeface="+mj-lt"/>
              <a:buAutoNum type="arabicPeriod"/>
            </a:pPr>
            <a:r>
              <a:rPr lang="en-US" sz="2400" dirty="0"/>
              <a:t>Use data from a previous study or similar population</a:t>
            </a:r>
          </a:p>
          <a:p>
            <a:pPr marL="1051560" lvl="3" indent="-457200">
              <a:spcAft>
                <a:spcPts val="0"/>
              </a:spcAft>
              <a:buClr>
                <a:schemeClr val="accent2"/>
              </a:buClr>
              <a:buSzPct val="100000"/>
              <a:buFont typeface="+mj-lt"/>
              <a:buAutoNum type="arabicPeriod"/>
            </a:pPr>
            <a:r>
              <a:rPr lang="en-US" sz="2400" dirty="0"/>
              <a:t>Take a small pre-sample to estimate </a:t>
            </a:r>
            <a:r>
              <a:rPr lang="en-US" sz="2400" i="1" dirty="0"/>
              <a:t>s</a:t>
            </a:r>
            <a:endParaRPr lang="en-US" sz="2400" dirty="0"/>
          </a:p>
          <a:p>
            <a:pPr marL="1051560" lvl="3" indent="-457200">
              <a:spcAft>
                <a:spcPts val="0"/>
              </a:spcAft>
              <a:buClr>
                <a:schemeClr val="accent2"/>
              </a:buClr>
              <a:buSzPct val="100000"/>
              <a:buFont typeface="+mj-lt"/>
              <a:buAutoNum type="arabicPeriod"/>
            </a:pPr>
            <a:r>
              <a:rPr lang="en-US" sz="2400" dirty="0"/>
              <a:t>Estimate the range (max – min) and use </a:t>
            </a:r>
            <a:r>
              <a:rPr lang="en-US" sz="2400" i="1" dirty="0"/>
              <a:t>s</a:t>
            </a:r>
            <a:r>
              <a:rPr lang="en-US" sz="2400" dirty="0"/>
              <a:t> </a:t>
            </a:r>
            <a:r>
              <a:rPr lang="en-US" sz="2400" dirty="0">
                <a:sym typeface="Symbol"/>
              </a:rPr>
              <a:t> range/4</a:t>
            </a:r>
          </a:p>
          <a:p>
            <a:pPr marL="1051560" lvl="3" indent="-457200">
              <a:spcAft>
                <a:spcPts val="0"/>
              </a:spcAft>
              <a:buClr>
                <a:schemeClr val="accent2"/>
              </a:buClr>
              <a:buSzPct val="100000"/>
              <a:buFont typeface="+mj-lt"/>
              <a:buAutoNum type="arabicPeriod"/>
            </a:pPr>
            <a:r>
              <a:rPr lang="en-US" sz="2400" dirty="0">
                <a:sym typeface="Symbol"/>
              </a:rPr>
              <a:t>Make a </a:t>
            </a:r>
            <a:r>
              <a:rPr lang="en-US" sz="2400" dirty="0" smtClean="0">
                <a:sym typeface="Symbol"/>
              </a:rPr>
              <a:t>reasonable guess</a:t>
            </a:r>
            <a:r>
              <a:rPr lang="en-US" sz="2400" dirty="0">
                <a:sym typeface="Symbol"/>
              </a:rPr>
              <a:t>.  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048000" y="870793"/>
                <a:ext cx="2503955" cy="11866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3600" i="1" dirty="0"/>
                  <a:t>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sz="3600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US" sz="3600" i="1" dirty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600" i="1" dirty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36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36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t</m:t>
                                </m:r>
                                <m:r>
                                  <m:rPr>
                                    <m:nor/>
                                  </m:rPr>
                                  <a:rPr lang="en-US" sz="3600" b="0" i="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∗</m:t>
                                </m:r>
                                <m:r>
                                  <m:rPr>
                                    <m:nor/>
                                  </m:rPr>
                                  <a:rPr lang="en-US" sz="3600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 </m:t>
                                </m:r>
                                <m:r>
                                  <a:rPr lang="en-US" sz="36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en-US" sz="36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𝑀𝐸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3600" i="1" dirty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870793"/>
                <a:ext cx="2503955" cy="118660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058645" y="870793"/>
                <a:ext cx="2580515" cy="103086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r>
                  <a:rPr lang="en-US" sz="3600" i="1" dirty="0"/>
                  <a:t>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sz="3600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US" sz="3600" i="1" dirty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600" i="1" dirty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36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36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z</m:t>
                                </m:r>
                                <m:r>
                                  <m:rPr>
                                    <m:nor/>
                                  </m:rPr>
                                  <a:rPr lang="en-US" sz="3600" b="0" i="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∗</m:t>
                                </m:r>
                                <m:r>
                                  <m:rPr>
                                    <m:nor/>
                                  </m:rPr>
                                  <a:rPr lang="en-US" sz="3600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 </m:t>
                                </m:r>
                                <m:r>
                                  <a:rPr lang="en-US" sz="36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en-US" sz="36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𝑀𝐸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3600" i="1" dirty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645" y="870793"/>
                <a:ext cx="2580515" cy="103086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4178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4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28600" y="2286000"/>
                <a:ext cx="2283189" cy="9265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3600" i="1" dirty="0"/>
                  <a:t>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sz="3200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US" sz="3200" i="1" dirty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200" i="1" dirty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32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z</m:t>
                                </m:r>
                                <m:r>
                                  <m:rPr>
                                    <m:nor/>
                                  </m:rPr>
                                  <a:rPr lang="en-US" sz="3200" b="0" i="0" baseline="30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∗</m:t>
                                </m:r>
                                <m:r>
                                  <m:rPr>
                                    <m:nor/>
                                  </m:rPr>
                                  <a:rPr lang="en-US" sz="3200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 </m:t>
                                </m:r>
                                <m:r>
                                  <a:rPr lang="en-US" sz="32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en-US" sz="3200" i="1" dirty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𝑀𝐸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3200" i="1" dirty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286000"/>
                <a:ext cx="2283189" cy="92653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76200"/>
            <a:ext cx="8153400" cy="2286000"/>
          </a:xfrm>
        </p:spPr>
        <p:txBody>
          <a:bodyPr>
            <a:noAutofit/>
          </a:bodyPr>
          <a:lstStyle/>
          <a:p>
            <a:r>
              <a:rPr lang="en-US" sz="3200" b="1" dirty="0">
                <a:cs typeface="Times New Roman" pitchFamily="18" charset="0"/>
              </a:rPr>
              <a:t>Suppose we want to estimate average GPA at a college (where GPA’s go from 0 to 4.0), with a margin of error of 0.1 with 95% confidence.</a:t>
            </a:r>
            <a:br>
              <a:rPr lang="en-US" sz="3200" b="1" dirty="0">
                <a:cs typeface="Times New Roman" pitchFamily="18" charset="0"/>
              </a:rPr>
            </a:br>
            <a:r>
              <a:rPr lang="en-US" sz="3200" b="1" dirty="0">
                <a:cs typeface="Times New Roman" pitchFamily="18" charset="0"/>
              </a:rPr>
              <a:t>How large a sample size do we need</a:t>
            </a:r>
            <a:r>
              <a:rPr lang="en-US" sz="3200" b="1" dirty="0" smtClean="0">
                <a:cs typeface="Times New Roman" pitchFamily="18" charset="0"/>
              </a:rPr>
              <a:t>?</a:t>
            </a:r>
            <a:endParaRPr lang="en-US" sz="3200" b="1" dirty="0"/>
          </a:p>
        </p:txBody>
      </p:sp>
      <p:sp>
        <p:nvSpPr>
          <p:cNvPr id="4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3232150"/>
            <a:ext cx="3581400" cy="2711450"/>
          </a:xfrm>
        </p:spPr>
        <p:txBody>
          <a:bodyPr/>
          <a:lstStyle/>
          <a:p>
            <a:pPr marL="742950" indent="-742950">
              <a:buFont typeface="+mj-lt"/>
              <a:buAutoNum type="alphaUcPeriod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About 100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  <a:p>
            <a:pPr marL="742950" indent="-742950">
              <a:buFont typeface="+mj-lt"/>
              <a:buAutoNum type="alphaUcPeriod"/>
            </a:pPr>
            <a:r>
              <a:rPr lang="en-US" sz="3200" dirty="0">
                <a:solidFill>
                  <a:prstClr val="black"/>
                </a:solidFill>
                <a:cs typeface="Times New Roman" pitchFamily="18" charset="0"/>
              </a:rPr>
              <a:t>About  400</a:t>
            </a:r>
          </a:p>
          <a:p>
            <a:pPr marL="742950" indent="-742950">
              <a:buFont typeface="+mj-lt"/>
              <a:buAutoNum type="alphaUcPeriod"/>
            </a:pPr>
            <a:r>
              <a:rPr lang="en-US" sz="3200" dirty="0">
                <a:solidFill>
                  <a:prstClr val="black"/>
                </a:solidFill>
                <a:cs typeface="Times New Roman" pitchFamily="18" charset="0"/>
              </a:rPr>
              <a:t>About </a:t>
            </a: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800</a:t>
            </a:r>
          </a:p>
          <a:p>
            <a:pPr marL="742950" indent="-742950">
              <a:buFont typeface="+mj-lt"/>
              <a:buAutoNum type="alphaUcPeriod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About 1000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94784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95300" y="3810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Hypothesis Testing</a:t>
            </a:r>
            <a:endParaRPr lang="en-US" sz="4000" b="1" dirty="0">
              <a:solidFill>
                <a:schemeClr val="tx2"/>
              </a:solidFill>
            </a:endParaRPr>
          </a:p>
        </p:txBody>
      </p:sp>
      <p:graphicFrame>
        <p:nvGraphicFramePr>
          <p:cNvPr id="2508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5578141"/>
              </p:ext>
            </p:extLst>
          </p:nvPr>
        </p:nvGraphicFramePr>
        <p:xfrm>
          <a:off x="1556543" y="1600200"/>
          <a:ext cx="6030913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3" name="Equation" r:id="rId4" imgW="1968480" imgH="393480" progId="Equation.DSMT4">
                  <p:embed/>
                </p:oleObj>
              </mc:Choice>
              <mc:Fallback>
                <p:oleObj name="Equation" r:id="rId4" imgW="19684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6543" y="1600200"/>
                        <a:ext cx="6030913" cy="12065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9390387"/>
              </p:ext>
            </p:extLst>
          </p:nvPr>
        </p:nvGraphicFramePr>
        <p:xfrm>
          <a:off x="3200400" y="3352800"/>
          <a:ext cx="2100262" cy="167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4" name="Equation" r:id="rId6" imgW="685800" imgH="545760" progId="Equation.DSMT4">
                  <p:embed/>
                </p:oleObj>
              </mc:Choice>
              <mc:Fallback>
                <p:oleObj name="Equation" r:id="rId6" imgW="68580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352800"/>
                        <a:ext cx="2100262" cy="167163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52400" y="5105400"/>
            <a:ext cx="8839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The p-value is the area in the tail(s) beyond </a:t>
            </a:r>
            <a:r>
              <a:rPr lang="en-US" sz="3200" i="1" dirty="0" smtClean="0"/>
              <a:t>t</a:t>
            </a:r>
            <a:r>
              <a:rPr lang="en-US" sz="3200" dirty="0" smtClean="0"/>
              <a:t> in a </a:t>
            </a:r>
            <a:r>
              <a:rPr lang="en-US" sz="3200" i="1" dirty="0" smtClean="0"/>
              <a:t>t-</a:t>
            </a:r>
            <a:r>
              <a:rPr lang="en-US" sz="3200" dirty="0" smtClean="0"/>
              <a:t>distribution with </a:t>
            </a:r>
            <a:r>
              <a:rPr lang="en-US" sz="3200" i="1" dirty="0" smtClean="0"/>
              <a:t>n</a:t>
            </a:r>
            <a:r>
              <a:rPr lang="en-US" sz="3200" dirty="0" smtClean="0"/>
              <a:t> – 1 degrees of freedom,</a:t>
            </a:r>
          </a:p>
          <a:p>
            <a:pPr algn="ctr"/>
            <a:r>
              <a:rPr lang="en-US" sz="3200" dirty="0" smtClean="0"/>
              <a:t>IF </a:t>
            </a:r>
            <a:r>
              <a:rPr lang="en-US" sz="3200" i="1" dirty="0" smtClean="0"/>
              <a:t>n </a:t>
            </a:r>
            <a:r>
              <a:rPr lang="en-US" sz="3200" dirty="0" smtClean="0"/>
              <a:t>is large or the data is normal 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5867400" y="3352800"/>
            <a:ext cx="228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 smtClean="0">
                <a:solidFill>
                  <a:srgbClr val="0040C0"/>
                </a:solidFill>
              </a:rPr>
              <a:t>df</a:t>
            </a:r>
            <a:r>
              <a:rPr lang="en-US" sz="3600" b="1" dirty="0" smtClean="0">
                <a:solidFill>
                  <a:srgbClr val="0040C0"/>
                </a:solidFill>
              </a:rPr>
              <a:t> = </a:t>
            </a:r>
            <a:r>
              <a:rPr lang="en-US" sz="3600" b="1" i="1" dirty="0" smtClean="0">
                <a:solidFill>
                  <a:srgbClr val="0040C0"/>
                </a:solidFill>
              </a:rPr>
              <a:t>n</a:t>
            </a:r>
            <a:r>
              <a:rPr lang="en-US" sz="3600" b="1" dirty="0" smtClean="0">
                <a:solidFill>
                  <a:srgbClr val="0040C0"/>
                </a:solidFill>
              </a:rPr>
              <a:t> – 1 </a:t>
            </a:r>
            <a:endParaRPr lang="en-US" sz="3600" b="1" dirty="0">
              <a:solidFill>
                <a:srgbClr val="0040C0"/>
              </a:solidFill>
            </a:endParaRPr>
          </a:p>
        </p:txBody>
      </p:sp>
      <p:graphicFrame>
        <p:nvGraphicFramePr>
          <p:cNvPr id="2508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0515918"/>
              </p:ext>
            </p:extLst>
          </p:nvPr>
        </p:nvGraphicFramePr>
        <p:xfrm>
          <a:off x="609600" y="3385452"/>
          <a:ext cx="181174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5" name="Equation" r:id="rId8" imgW="711000" imgH="228600" progId="Equation.DSMT4">
                  <p:embed/>
                </p:oleObj>
              </mc:Choice>
              <mc:Fallback>
                <p:oleObj name="Equation" r:id="rId8" imgW="711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385452"/>
                        <a:ext cx="181174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10708918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0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08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08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0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0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252" name="Picture 4" descr="http://fas.hollandhall.org/~kluitwieler/Home/Blog/Entries/2010/12/7_REALLY_I_MEAN,_REALLY_files/shapeimage_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05000" y="1503732"/>
            <a:ext cx="5410200" cy="3498990"/>
          </a:xfrm>
          <a:prstGeom prst="rect">
            <a:avLst/>
          </a:prstGeom>
          <a:noFill/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95300" y="3810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Chips Ahoy!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3214255" y="2209800"/>
            <a:ext cx="2667000" cy="533400"/>
          </a:xfrm>
          <a:prstGeom prst="ellipse">
            <a:avLst/>
          </a:prstGeom>
          <a:noFill/>
          <a:ln w="635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888182" y="2091779"/>
            <a:ext cx="60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rgbClr val="FFFF00"/>
                </a:solidFill>
              </a:rPr>
              <a:t>?</a:t>
            </a:r>
            <a:endParaRPr lang="en-US" sz="4400" b="1" dirty="0">
              <a:solidFill>
                <a:srgbClr val="FFFF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2400" y="4495800"/>
            <a:ext cx="8839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A group of Air Force cadets bought bags of Chips Ahoy! cookies from all over the country to verify this claim.  They hand counted the number of chips in 42 bags.  </a:t>
            </a:r>
            <a:endParaRPr lang="en-US" sz="2800" dirty="0"/>
          </a:p>
        </p:txBody>
      </p:sp>
      <p:graphicFrame>
        <p:nvGraphicFramePr>
          <p:cNvPr id="3092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2184300"/>
              </p:ext>
            </p:extLst>
          </p:nvPr>
        </p:nvGraphicFramePr>
        <p:xfrm>
          <a:off x="2705100" y="5828667"/>
          <a:ext cx="3657600" cy="572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7" name="Equation" r:id="rId5" imgW="1460160" imgH="228600" progId="Equation.DSMT4">
                  <p:embed/>
                </p:oleObj>
              </mc:Choice>
              <mc:Fallback>
                <p:oleObj name="Equation" r:id="rId5" imgW="1460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100" y="5828667"/>
                        <a:ext cx="3657600" cy="5721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9100" y="6400800"/>
            <a:ext cx="8305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Source: Warner, B. &amp; Rutledge, J. (1999). “Checking the Chips Ahoy! Guarantee,” </a:t>
            </a:r>
            <a:r>
              <a:rPr lang="en-US" sz="1600" i="1" dirty="0" smtClean="0"/>
              <a:t>Chance</a:t>
            </a:r>
            <a:r>
              <a:rPr lang="en-US" sz="1600" dirty="0" smtClean="0"/>
              <a:t>, </a:t>
            </a:r>
            <a:r>
              <a:rPr lang="en-US" sz="1600" b="1" dirty="0" smtClean="0"/>
              <a:t>12</a:t>
            </a:r>
            <a:r>
              <a:rPr lang="en-US" sz="1600" dirty="0" smtClean="0"/>
              <a:t>(1).</a:t>
            </a:r>
            <a:endParaRPr lang="en-US" sz="1600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4201808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0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33400" y="3048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Chips Ahoy! Hypothesis Test</a:t>
            </a:r>
            <a:endParaRPr lang="en-US" sz="4000" b="1" dirty="0">
              <a:solidFill>
                <a:schemeClr val="tx2"/>
              </a:solidFill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2656217"/>
              </p:ext>
            </p:extLst>
          </p:nvPr>
        </p:nvGraphicFramePr>
        <p:xfrm>
          <a:off x="3629817" y="1066800"/>
          <a:ext cx="1727201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4" name="Equation" r:id="rId4" imgW="863280" imgH="457200" progId="Equation.DSMT4">
                  <p:embed/>
                </p:oleObj>
              </mc:Choice>
              <mc:Fallback>
                <p:oleObj name="Equation" r:id="rId4" imgW="8632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9817" y="1066800"/>
                        <a:ext cx="1727201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3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413709"/>
              </p:ext>
            </p:extLst>
          </p:nvPr>
        </p:nvGraphicFramePr>
        <p:xfrm>
          <a:off x="3862375" y="2709565"/>
          <a:ext cx="4391049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5" name="Equation" r:id="rId6" imgW="2095200" imgH="545760" progId="Equation.DSMT4">
                  <p:embed/>
                </p:oleObj>
              </mc:Choice>
              <mc:Fallback>
                <p:oleObj name="Equation" r:id="rId6" imgW="209520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2375" y="2709565"/>
                        <a:ext cx="4391049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3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5857806"/>
              </p:ext>
            </p:extLst>
          </p:nvPr>
        </p:nvGraphicFramePr>
        <p:xfrm>
          <a:off x="6481763" y="4101194"/>
          <a:ext cx="1524000" cy="36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6" name="Equation" r:id="rId8" imgW="838080" imgH="203040" progId="Equation.DSMT4">
                  <p:embed/>
                </p:oleObj>
              </mc:Choice>
              <mc:Fallback>
                <p:oleObj name="Equation" r:id="rId8" imgW="838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1763" y="4101194"/>
                        <a:ext cx="1524000" cy="368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09600" y="5638800"/>
            <a:ext cx="838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  <a:latin typeface="Bradley Hand ITC" pitchFamily="66" charset="0"/>
                <a:cs typeface="Courier New" pitchFamily="49" charset="0"/>
              </a:rPr>
              <a:t>This provides extremely strong evidence that the average number of chips per bag of Chips Ahoy! cookies is significantly greater than 1000.</a:t>
            </a:r>
            <a:endParaRPr lang="en-US" sz="2400" b="1" dirty="0">
              <a:solidFill>
                <a:schemeClr val="accent1">
                  <a:lumMod val="50000"/>
                </a:schemeClr>
              </a:solidFill>
              <a:latin typeface="Bradley Hand ITC" pitchFamily="66" charset="0"/>
            </a:endParaRPr>
          </a:p>
        </p:txBody>
      </p:sp>
      <p:graphicFrame>
        <p:nvGraphicFramePr>
          <p:cNvPr id="3133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3026307"/>
              </p:ext>
            </p:extLst>
          </p:nvPr>
        </p:nvGraphicFramePr>
        <p:xfrm>
          <a:off x="3693318" y="2125433"/>
          <a:ext cx="1600200" cy="393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7" name="Equation" r:id="rId10" imgW="723600" imgH="177480" progId="Equation.DSMT4">
                  <p:embed/>
                </p:oleObj>
              </mc:Choice>
              <mc:Fallback>
                <p:oleObj name="Equation" r:id="rId10" imgW="7236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3318" y="2125433"/>
                        <a:ext cx="1600200" cy="3936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4" descr="C:\Users\Kari\AppData\Local\Microsoft\Windows\Temporary Internet Files\Content.IE5\8Y1BLIC5\MC900432601[1].pn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721927" y="2138065"/>
            <a:ext cx="381000" cy="381000"/>
          </a:xfrm>
          <a:prstGeom prst="rect">
            <a:avLst/>
          </a:prstGeom>
          <a:noFill/>
        </p:spPr>
      </p:pic>
      <p:sp>
        <p:nvSpPr>
          <p:cNvPr id="16" name="TextBox 15"/>
          <p:cNvSpPr txBox="1"/>
          <p:nvPr/>
        </p:nvSpPr>
        <p:spPr>
          <a:xfrm>
            <a:off x="609600" y="1219200"/>
            <a:ext cx="289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1. State hypotheses: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9600" y="2057400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2. Check conditions: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9600" y="2819400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3. Calculate test statistic: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9600" y="3962400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4. Compute p-value: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9600" y="5223301"/>
            <a:ext cx="3352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5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. Interpret in context:</a:t>
            </a:r>
          </a:p>
          <a:p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69639" name="Picture 7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962400"/>
            <a:ext cx="3128963" cy="1596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661110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7" grpId="0"/>
      <p:bldP spid="18" grpId="0"/>
      <p:bldP spid="19" grpId="0"/>
      <p:bldP spid="2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98" y="0"/>
            <a:ext cx="9141502" cy="1257300"/>
          </a:xfrm>
          <a:prstGeom prst="rect">
            <a:avLst/>
          </a:prstGeom>
        </p:spPr>
        <p:txBody>
          <a:bodyPr/>
          <a:lstStyle/>
          <a:p>
            <a:pPr algn="ctr">
              <a:spcBef>
                <a:spcPct val="0"/>
              </a:spcBef>
              <a:defRPr/>
            </a:pPr>
            <a:r>
              <a:rPr lang="en-US" sz="3400" b="1" dirty="0" smtClean="0">
                <a:solidFill>
                  <a:schemeClr val="tx2"/>
                </a:solidFill>
              </a:rPr>
              <a:t>Chips Ahoy! </a:t>
            </a:r>
            <a:r>
              <a:rPr lang="en-US" sz="3400" b="1" dirty="0">
                <a:solidFill>
                  <a:schemeClr val="tx2"/>
                </a:solidFill>
              </a:rPr>
              <a:t>Give a 99% confidence interval for the average number of chips in each bag.</a:t>
            </a:r>
          </a:p>
          <a:p>
            <a:pPr lvl="0" algn="ctr">
              <a:spcBef>
                <a:spcPct val="0"/>
              </a:spcBef>
              <a:defRPr/>
            </a:pPr>
            <a:endParaRPr lang="en-US" sz="3400" b="1" dirty="0">
              <a:solidFill>
                <a:schemeClr val="tx2"/>
              </a:solidFill>
            </a:endParaRPr>
          </a:p>
        </p:txBody>
      </p:sp>
      <p:graphicFrame>
        <p:nvGraphicFramePr>
          <p:cNvPr id="3133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2940125"/>
              </p:ext>
            </p:extLst>
          </p:nvPr>
        </p:nvGraphicFramePr>
        <p:xfrm>
          <a:off x="4876800" y="3773143"/>
          <a:ext cx="2133600" cy="1892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5" name="Equation" r:id="rId4" imgW="1244520" imgH="1104840" progId="Equation.DSMT4">
                  <p:embed/>
                </p:oleObj>
              </mc:Choice>
              <mc:Fallback>
                <p:oleObj name="Equation" r:id="rId4" imgW="1244520" imgH="1104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773143"/>
                        <a:ext cx="2133600" cy="1892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14300" y="5795664"/>
            <a:ext cx="8877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  <a:latin typeface="Bradley Hand ITC" pitchFamily="66" charset="0"/>
                <a:cs typeface="Courier New" pitchFamily="49" charset="0"/>
              </a:rPr>
              <a:t>We are 99% confident that the average number of chips per bag of Chips Ahoy! cookies is between 1212.6 and 1310.6 chips.</a:t>
            </a:r>
            <a:endParaRPr lang="en-US" sz="2400" b="1" dirty="0">
              <a:solidFill>
                <a:schemeClr val="accent1">
                  <a:lumMod val="50000"/>
                </a:schemeClr>
              </a:solidFill>
              <a:latin typeface="Bradley Hand ITC" pitchFamily="66" charset="0"/>
            </a:endParaRPr>
          </a:p>
        </p:txBody>
      </p:sp>
      <p:graphicFrame>
        <p:nvGraphicFramePr>
          <p:cNvPr id="3133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3491017"/>
              </p:ext>
            </p:extLst>
          </p:nvPr>
        </p:nvGraphicFramePr>
        <p:xfrm>
          <a:off x="3117273" y="1066800"/>
          <a:ext cx="1600200" cy="393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6" name="Equation" r:id="rId6" imgW="723600" imgH="177480" progId="Equation.DSMT4">
                  <p:embed/>
                </p:oleObj>
              </mc:Choice>
              <mc:Fallback>
                <p:oleObj name="Equation" r:id="rId6" imgW="7236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273" y="1066800"/>
                        <a:ext cx="1600200" cy="3936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4" descr="C:\Users\Kari\AppData\Local\Microsoft\Windows\Temporary Internet Files\Content.IE5\8Y1BLIC5\MC900432601[1]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876800" y="1066800"/>
            <a:ext cx="381000" cy="381000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533400" y="1066800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1. Check conditions: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9600" y="1600200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2. Find t*: 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9600" y="3810000"/>
            <a:ext cx="411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4. Compute confidence interval: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9600" y="5334000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5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. Interpret in context: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3727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0189195"/>
              </p:ext>
            </p:extLst>
          </p:nvPr>
        </p:nvGraphicFramePr>
        <p:xfrm>
          <a:off x="6858000" y="1714202"/>
          <a:ext cx="849313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7" name="Equation" r:id="rId9" imgW="495000" imgH="203040" progId="Equation.DSMT4">
                  <p:embed/>
                </p:oleObj>
              </mc:Choice>
              <mc:Fallback>
                <p:oleObj name="Equation" r:id="rId9" imgW="495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1714202"/>
                        <a:ext cx="849313" cy="347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528465"/>
            <a:ext cx="4546316" cy="234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353384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8" grpId="0"/>
      <p:bldP spid="19" grpId="0"/>
      <p:bldP spid="2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PAnswers"/>
          <p:cNvSpPr>
            <a:spLocks noGrp="1"/>
          </p:cNvSpPr>
          <p:nvPr>
            <p:ph sz="quarter" idx="4294967295"/>
            <p:custDataLst>
              <p:tags r:id="rId3"/>
            </p:custDataLst>
          </p:nvPr>
        </p:nvSpPr>
        <p:spPr>
          <a:xfrm>
            <a:off x="0" y="1551708"/>
            <a:ext cx="4724400" cy="2258292"/>
          </a:xfrm>
        </p:spPr>
        <p:txBody>
          <a:bodyPr>
            <a:noAutofit/>
          </a:bodyPr>
          <a:lstStyle/>
          <a:p>
            <a:pPr marL="514350" indent="-514350">
              <a:spcBef>
                <a:spcPct val="20000"/>
              </a:spcBef>
              <a:buFont typeface="+mj-lt"/>
              <a:buAutoNum type="alphaLcParenR"/>
            </a:pPr>
            <a:r>
              <a:rPr lang="en-US" sz="2800" dirty="0"/>
              <a:t>the data is normal</a:t>
            </a:r>
          </a:p>
          <a:p>
            <a:pPr marL="514350" indent="-514350">
              <a:spcBef>
                <a:spcPct val="20000"/>
              </a:spcBef>
              <a:buFont typeface="+mj-lt"/>
              <a:buAutoNum type="alphaLcParenR"/>
            </a:pPr>
            <a:r>
              <a:rPr lang="en-US" sz="2800" dirty="0"/>
              <a:t>the sample size is large</a:t>
            </a:r>
          </a:p>
          <a:p>
            <a:pPr marL="514350" indent="-514350">
              <a:spcBef>
                <a:spcPct val="20000"/>
              </a:spcBef>
              <a:buFont typeface="+mj-lt"/>
              <a:buAutoNum type="alphaLcParenR"/>
            </a:pPr>
            <a:r>
              <a:rPr lang="en-US" sz="2800" dirty="0"/>
              <a:t>the null hypothesis is true</a:t>
            </a:r>
          </a:p>
          <a:p>
            <a:pPr marL="514350" indent="-514350">
              <a:spcBef>
                <a:spcPct val="20000"/>
              </a:spcBef>
              <a:buFont typeface="+mj-lt"/>
              <a:buAutoNum type="alphaLcParenR"/>
            </a:pPr>
            <a:r>
              <a:rPr lang="en-US" sz="2800" dirty="0"/>
              <a:t>a or b</a:t>
            </a:r>
          </a:p>
          <a:p>
            <a:pPr marL="514350" indent="-514350">
              <a:spcBef>
                <a:spcPct val="20000"/>
              </a:spcBef>
              <a:buFont typeface="+mj-lt"/>
              <a:buAutoNum type="alphaLcParenR"/>
            </a:pPr>
            <a:r>
              <a:rPr lang="en-US" sz="2800" dirty="0"/>
              <a:t>d and </a:t>
            </a:r>
            <a:r>
              <a:rPr lang="en-US" sz="2800" dirty="0" smtClean="0"/>
              <a:t>c</a:t>
            </a:r>
            <a:endParaRPr lang="en-US" sz="2800" dirty="0"/>
          </a:p>
        </p:txBody>
      </p:sp>
      <p:graphicFrame>
        <p:nvGraphicFramePr>
          <p:cNvPr id="3215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9059487"/>
              </p:ext>
            </p:extLst>
          </p:nvPr>
        </p:nvGraphicFramePr>
        <p:xfrm>
          <a:off x="152400" y="685800"/>
          <a:ext cx="1143000" cy="909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3" name="Equation" r:id="rId6" imgW="685800" imgH="545760" progId="Equation.DSMT4">
                  <p:embed/>
                </p:oleObj>
              </mc:Choice>
              <mc:Fallback>
                <p:oleObj name="Equation" r:id="rId6" imgW="68580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685800"/>
                        <a:ext cx="1143000" cy="90934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PQuestion"/>
          <p:cNvSpPr>
            <a:spLocks noGrp="1"/>
          </p:cNvSpPr>
          <p:nvPr>
            <p:ph type="title" idx="4294967295"/>
          </p:nvPr>
        </p:nvSpPr>
        <p:spPr>
          <a:xfrm>
            <a:off x="-34636" y="0"/>
            <a:ext cx="9144000" cy="1295400"/>
          </a:xfrm>
        </p:spPr>
        <p:txBody>
          <a:bodyPr>
            <a:normAutofit/>
          </a:bodyPr>
          <a:lstStyle/>
          <a:p>
            <a:r>
              <a:rPr lang="en-US" sz="3200" dirty="0"/>
              <a:t>Which of the following properties is/are necessary for </a:t>
            </a:r>
            <a:r>
              <a:rPr lang="en-US" sz="3200" dirty="0" smtClean="0"/>
              <a:t>                    </a:t>
            </a:r>
            <a:br>
              <a:rPr lang="en-US" sz="3200" dirty="0" smtClean="0"/>
            </a:br>
            <a:r>
              <a:rPr lang="en-US" sz="3200" dirty="0"/>
              <a:t> </a:t>
            </a:r>
            <a:r>
              <a:rPr lang="en-US" sz="3200" dirty="0" smtClean="0"/>
              <a:t>           to </a:t>
            </a:r>
            <a:r>
              <a:rPr lang="en-US" sz="3200" dirty="0"/>
              <a:t>have a </a:t>
            </a:r>
            <a:r>
              <a:rPr lang="en-US" sz="3200" i="1" dirty="0"/>
              <a:t>t</a:t>
            </a:r>
            <a:r>
              <a:rPr lang="en-US" sz="3200" dirty="0"/>
              <a:t>-distribution</a:t>
            </a:r>
            <a:r>
              <a:rPr lang="en-US" sz="3200" dirty="0" smtClean="0"/>
              <a:t>?</a:t>
            </a:r>
            <a:endParaRPr lang="en-US" sz="3200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5600835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0" y="1524000"/>
                <a:ext cx="9144000" cy="5334000"/>
              </a:xfrm>
            </p:spPr>
            <p:txBody>
              <a:bodyPr/>
              <a:lstStyle/>
              <a:p>
                <a:r>
                  <a:rPr lang="en-US" sz="2800" b="1" dirty="0" smtClean="0">
                    <a:solidFill>
                      <a:schemeClr val="accent5">
                        <a:lumMod val="75000"/>
                      </a:schemeClr>
                    </a:solidFill>
                  </a:rPr>
                  <a:t>Standard error </a:t>
                </a:r>
                <a:r>
                  <a:rPr lang="en-US" sz="2800" dirty="0" smtClean="0"/>
                  <a:t>for a sample </a:t>
                </a:r>
                <a:r>
                  <a:rPr lang="en-US" sz="2800" dirty="0" smtClean="0"/>
                  <a:t>mean: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/>
                          </a:rPr>
                          <m:t>𝑠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 smtClean="0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b="0" i="1" smtClean="0">
                                <a:latin typeface="Cambria Math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US" sz="2800" dirty="0" smtClean="0"/>
              </a:p>
              <a:p>
                <a:r>
                  <a:rPr lang="en-US" sz="2800" b="1" dirty="0" smtClean="0">
                    <a:solidFill>
                      <a:schemeClr val="accent5">
                        <a:lumMod val="75000"/>
                      </a:schemeClr>
                    </a:solidFill>
                  </a:rPr>
                  <a:t>Central </a:t>
                </a:r>
                <a:r>
                  <a:rPr lang="en-US" sz="2800" b="1" dirty="0">
                    <a:solidFill>
                      <a:schemeClr val="accent5">
                        <a:lumMod val="75000"/>
                      </a:schemeClr>
                    </a:solidFill>
                  </a:rPr>
                  <a:t>Limit Theorem for </a:t>
                </a:r>
                <a:r>
                  <a:rPr lang="en-US" sz="2800" b="1" dirty="0" smtClean="0">
                    <a:solidFill>
                      <a:schemeClr val="accent5">
                        <a:lumMod val="75000"/>
                      </a:schemeClr>
                    </a:solidFill>
                  </a:rPr>
                  <a:t>a </a:t>
                </a:r>
                <a:r>
                  <a:rPr lang="en-US" sz="2800" b="1" dirty="0" smtClean="0">
                    <a:solidFill>
                      <a:schemeClr val="accent5">
                        <a:lumMod val="75000"/>
                      </a:schemeClr>
                    </a:solidFill>
                  </a:rPr>
                  <a:t>mean:</a:t>
                </a:r>
                <a:r>
                  <a:rPr lang="en-US" sz="2800" dirty="0" smtClean="0"/>
                  <a:t>  If the sample size is large (</a:t>
                </a:r>
                <a:r>
                  <a:rPr lang="en-US" sz="2800" i="1" dirty="0" smtClean="0">
                    <a:solidFill>
                      <a:prstClr val="black"/>
                    </a:solidFill>
                    <a:cs typeface="Times New Roman" pitchFamily="18" charset="0"/>
                  </a:rPr>
                  <a:t>n</a:t>
                </a:r>
                <a:r>
                  <a:rPr lang="en-US" sz="2800" dirty="0" smtClean="0">
                    <a:solidFill>
                      <a:prstClr val="black"/>
                    </a:solidFill>
                    <a:cs typeface="Times New Roman" pitchFamily="18" charset="0"/>
                  </a:rPr>
                  <a:t> </a:t>
                </a:r>
                <a:r>
                  <a:rPr lang="en-US" sz="2800" dirty="0">
                    <a:solidFill>
                      <a:prstClr val="black"/>
                    </a:solidFill>
                    <a:cs typeface="Times New Roman" pitchFamily="18" charset="0"/>
                  </a:rPr>
                  <a:t>≥ </a:t>
                </a:r>
                <a:r>
                  <a:rPr lang="en-US" sz="2800" dirty="0" smtClean="0">
                    <a:solidFill>
                      <a:prstClr val="black"/>
                    </a:solidFill>
                    <a:cs typeface="Times New Roman" pitchFamily="18" charset="0"/>
                  </a:rPr>
                  <a:t>30)</a:t>
                </a:r>
                <a:r>
                  <a:rPr lang="en-US" sz="2800" dirty="0" smtClean="0"/>
                  <a:t>, then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en-US" sz="2800" i="1" smtClean="0">
                        <a:latin typeface="Cambria Math"/>
                        <a:ea typeface="Cambria Math"/>
                      </a:rPr>
                      <m:t>≈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𝑁</m:t>
                    </m:r>
                    <m:d>
                      <m:dPr>
                        <m:ctrlPr>
                          <a:rPr lang="en-US" sz="28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𝜇</m:t>
                        </m:r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f>
                          <m:fPr>
                            <m:ctrlPr>
                              <a:rPr lang="en-US" sz="2800" b="0" i="1" smtClean="0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800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800" b="0" i="1" smtClean="0">
                                    <a:latin typeface="Cambria Math"/>
                                    <a:ea typeface="Cambria Math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US" sz="2800" dirty="0" smtClean="0"/>
                  <a:t>.  However, using </a:t>
                </a:r>
                <a:r>
                  <a:rPr lang="en-US" sz="2800" i="1" dirty="0" smtClean="0"/>
                  <a:t>s</a:t>
                </a:r>
                <a:r>
                  <a:rPr lang="en-US" sz="2800" dirty="0" smtClean="0"/>
                  <a:t> </a:t>
                </a:r>
                <a:r>
                  <a:rPr lang="en-US" sz="2800" dirty="0" smtClean="0"/>
                  <a:t>in place of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/>
                        <a:ea typeface="Cambria Math"/>
                      </a:rPr>
                      <m:t>𝜎</m:t>
                    </m:r>
                  </m:oMath>
                </a14:m>
                <a:r>
                  <a:rPr lang="en-US" sz="2800" dirty="0" smtClean="0"/>
                  <a:t>, </a:t>
                </a:r>
                <a:r>
                  <a:rPr lang="en-US" sz="2800" b="1" i="1" dirty="0" smtClean="0">
                    <a:solidFill>
                      <a:schemeClr val="accent2">
                        <a:lumMod val="75000"/>
                      </a:schemeClr>
                    </a:solidFill>
                  </a:rPr>
                  <a:t>changes</a:t>
                </a:r>
                <a:r>
                  <a:rPr lang="en-US" sz="2800" dirty="0" smtClean="0"/>
                  <a:t> the distribution of the sample means </a:t>
                </a:r>
                <a:r>
                  <a:rPr lang="en-US" sz="2800" b="1" i="1" dirty="0" smtClean="0">
                    <a:solidFill>
                      <a:schemeClr val="accent2">
                        <a:lumMod val="75000"/>
                      </a:schemeClr>
                    </a:solidFill>
                  </a:rPr>
                  <a:t>to a t-distribution</a:t>
                </a:r>
                <a:r>
                  <a:rPr lang="en-US" sz="2800" dirty="0" smtClean="0"/>
                  <a:t>.</a:t>
                </a:r>
              </a:p>
              <a:p>
                <a:pPr lvl="1"/>
                <a:r>
                  <a:rPr lang="en-US" sz="2500" dirty="0" smtClean="0"/>
                  <a:t>The t-distribution is characterized by its </a:t>
                </a:r>
                <a:r>
                  <a:rPr lang="en-US" sz="2500" b="1" i="1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degrees of freedom= n-1</a:t>
                </a:r>
                <a:endParaRPr lang="en-US" dirty="0"/>
              </a:p>
              <a:p>
                <a:pPr lvl="1"/>
                <a:r>
                  <a:rPr lang="en-US" sz="2500" dirty="0"/>
                  <a:t>Conditions for the t-distribution: </a:t>
                </a:r>
                <a:r>
                  <a:rPr lang="en-US" sz="2400" i="1" dirty="0">
                    <a:solidFill>
                      <a:prstClr val="black"/>
                    </a:solidFill>
                    <a:cs typeface="Times New Roman" pitchFamily="18" charset="0"/>
                  </a:rPr>
                  <a:t>n</a:t>
                </a:r>
                <a:r>
                  <a:rPr lang="en-US" sz="2400" dirty="0">
                    <a:solidFill>
                      <a:prstClr val="black"/>
                    </a:solidFill>
                    <a:cs typeface="Times New Roman" pitchFamily="18" charset="0"/>
                  </a:rPr>
                  <a:t> ≥ </a:t>
                </a:r>
                <a:r>
                  <a:rPr lang="en-US" sz="2400" dirty="0" smtClean="0">
                    <a:solidFill>
                      <a:prstClr val="black"/>
                    </a:solidFill>
                    <a:cs typeface="Times New Roman" pitchFamily="18" charset="0"/>
                  </a:rPr>
                  <a:t>30 </a:t>
                </a:r>
                <a:r>
                  <a:rPr lang="en-US" sz="2500" dirty="0"/>
                  <a:t>or the data comes from a population that has an approximately normal distribution.</a:t>
                </a:r>
                <a:endParaRPr lang="en-US" sz="2500" dirty="0"/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0" y="1524000"/>
                <a:ext cx="9144000" cy="5334000"/>
              </a:xfrm>
              <a:blipFill rotWithShape="1">
                <a:blip r:embed="rId3"/>
                <a:stretch>
                  <a:fillRect l="-267" t="-114" r="-1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86693"/>
            <a:ext cx="8153400" cy="990600"/>
          </a:xfrm>
        </p:spPr>
        <p:txBody>
          <a:bodyPr>
            <a:normAutofit/>
          </a:bodyPr>
          <a:lstStyle/>
          <a:p>
            <a:pPr lvl="0"/>
            <a:r>
              <a:rPr lang="en-US" b="1" dirty="0" smtClean="0"/>
              <a:t>Summary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0080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POINTVERSION" val="14.0"/>
  <p:tag name="PPVERSION" val="14.0"/>
  <p:tag name="DELIMITERS" val="3.1"/>
  <p:tag name="SHOWBARVISIBLE" val="True"/>
  <p:tag name="EXPANDSHOWBAR" val="True"/>
  <p:tag name="USESECONDARYMONITOR" val="True"/>
  <p:tag name="SAVECSVWITHSESSION" val="True"/>
  <p:tag name="CSVFORMAT" val="0"/>
  <p:tag name="BULLETTYPE" val="3"/>
  <p:tag name="ANSWERNOWSTYLE" val="-1"/>
  <p:tag name="ANSWERNOWTEXT" val="Answer Now"/>
  <p:tag name="COUNTDOWNSTYLE" val="-1"/>
  <p:tag name="RESPCOUNTERSTYLE" val="-1"/>
  <p:tag name="RESPCOUNTERFORMAT" val="0"/>
  <p:tag name="RESPTABLESTYLE" val="-1"/>
  <p:tag name="COUNTDOWNSECONDS" val="10"/>
  <p:tag name="INPUTSOURCE" val="1"/>
  <p:tag name="NUMRESPONSES" val="1"/>
  <p:tag name="ALLOWDUPLICATES" val="False"/>
  <p:tag name="BACKUPSESSIONS" val="True"/>
  <p:tag name="BACKUPMAINTENANCE" val="7"/>
  <p:tag name="CHARTVALUEFORMAT" val="0%"/>
  <p:tag name="AUTOADVANCE" val="False"/>
  <p:tag name="REVIEWONLY" val="False"/>
  <p:tag name="ROTATIONINTERVAL" val="2"/>
  <p:tag name="AUTOUPDATEALIASES" val="True"/>
  <p:tag name="STDCHART" val="1"/>
  <p:tag name="RACEENDPOINTS" val="100"/>
  <p:tag name="RACERSMAXDISPLAYED" val="5"/>
  <p:tag name="RACEANIMATIONSPEED" val="3"/>
  <p:tag name="SKIPREMAININGRACESLIDES" val="True"/>
  <p:tag name="PARTICIPANTSINLEADERBOARD" val="5"/>
  <p:tag name="TEAMSINLEADERBOARD" val="5"/>
  <p:tag name="MAXRESPONDERS" val="5"/>
  <p:tag name="BUBBLENAMEVISIBLE" val="True"/>
  <p:tag name="BUBBLESIZEVISIBLE" val="True"/>
  <p:tag name="BUBBLEVALUEFORMAT" val="0.0"/>
  <p:tag name="BUBBLEGROUPING" val="3"/>
  <p:tag name="DEFAULTNUMTEAMS" val="5"/>
  <p:tag name="CUSTOMGRIDBACKCOLOR" val="-2830136"/>
  <p:tag name="CUSTOMCELLFORECOLOR" val="-16777216"/>
  <p:tag name="CUSTOMCELLBACKCOLOR1" val="-657956"/>
  <p:tag name="CUSTOMCELLBACKCOLOR2" val="-13395457"/>
  <p:tag name="CUSTOMCELLBACKCOLOR3" val="-268652"/>
  <p:tag name="CUSTOMCELLBACKCOLOR4" val="-8355712"/>
  <p:tag name="USESCHEMECOLORS" val="True"/>
  <p:tag name="DISPLAYNAME" val="True"/>
  <p:tag name="DISPLAYDEVICENUMBER" val="True"/>
  <p:tag name="DISPLAYDEVICEID" val="True"/>
  <p:tag name="GRIDOPACITY" val="90"/>
  <p:tag name="GRIDROTATIONINTERVAL" val="2"/>
  <p:tag name="AUTOSIZEGRID" val="True"/>
  <p:tag name="GRIDSIZE" val="{Width=800, Height=600}"/>
  <p:tag name="GRIDPOSITION" val="1"/>
  <p:tag name="GRIDFONTSIZE" val="12"/>
  <p:tag name="POLLINGCYCLE" val="2"/>
  <p:tag name="CHARTCOLORS" val="0"/>
  <p:tag name="CHARTLABELS" val="0"/>
  <p:tag name="RESETCHARTS" val="True"/>
  <p:tag name="INCLUDENONRESPONDERS" val="False"/>
  <p:tag name="MULTIRESPDIVISOR" val="1"/>
  <p:tag name="INCLUDEPPT" val="True"/>
  <p:tag name="ALLOWUSERFEEDBACK" val="True"/>
  <p:tag name="CORRECTPOINTVALUE" val="100"/>
  <p:tag name="INCORRECTPOINTVALUE" val="0"/>
  <p:tag name="REALTIMEBACKUP" val="False"/>
  <p:tag name="REALTIMEBACKUPPATH" val="(None)"/>
  <p:tag name="ZEROBASED" val="False"/>
  <p:tag name="AUTOADJUSTPARTRANGE" val="True"/>
  <p:tag name="CHARTSCALE" val="True"/>
  <p:tag name="ADVANCEDSETTINGSVIEW" val="False"/>
  <p:tag name="FIBDISPLAYRESULTS" val="True"/>
  <p:tag name="FIBNUMRESULTS" val="5"/>
  <p:tag name="FIBINCLUDEOTHER" val="True"/>
  <p:tag name="FIBDISPLAYKEYWORDS" val="True"/>
  <p:tag name="PRRESPONSE1" val="10"/>
  <p:tag name="PRRESPONSE2" val="9"/>
  <p:tag name="PRRESPONSE3" val="8"/>
  <p:tag name="PRRESPONSE4" val="7"/>
  <p:tag name="PRRESPONSE5" val="6"/>
  <p:tag name="PRRESPONSE6" val="5"/>
  <p:tag name="PRRESPONSE7" val="4"/>
  <p:tag name="PRRESPONSE8" val="3"/>
  <p:tag name="PRRESPONSE9" val="2"/>
  <p:tag name="PRRESPONSE10" val="1"/>
  <p:tag name="SHOWFLASHWARNING" val="True"/>
  <p:tag name="ALWAYSOPENPOLL" val="False"/>
  <p:tag name="TASKPANEKEY" val="c040f88a-ea20-4ce7-a948-e36e98e78bd7"/>
  <p:tag name="TPPRESENTATIONGUID" val="113959b8-8adc-4d53-9e53-661179ff596d"/>
  <p:tag name="WASPOLLED" val="8CFAA9B1AECF4E7B97DE7C95B75FE178"/>
  <p:tag name="TPVERSION" val="6"/>
  <p:tag name="TPFULLVERSION" val="7.4.0.111"/>
  <p:tag name="PPTVERSION" val="14"/>
  <p:tag name="TPOS" val="2"/>
  <p:tag name="TPLASTSAVEVERSION" val="6.2 P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  <p:tag name="SLIDEGUID" val="66EDF7CAE94A46F989BA8D4674B0F3BA"/>
  <p:tag name="SLIDEID" val="66EDF7CAE94A46F989BA8D4674B0F3BA"/>
  <p:tag name="SLIDEORDER" val="1"/>
  <p:tag name="SLIDETYPE" val="Q"/>
  <p:tag name="DEMOGRAPHIC" val="False"/>
  <p:tag name="SPEEDSCORING" val="False"/>
  <p:tag name="CORRECTPOINTVALUE" val="100"/>
  <p:tag name="INCORRECTPOINTVALUE" val="0"/>
  <p:tag name="ZEROBASED" val="False"/>
  <p:tag name="QUESTIONALIAS" val="The standard deviation of the population is"/>
  <p:tag name="VALUEFORMAT" val="0%"/>
  <p:tag name="ANSWERSALIAS" val=" |smicln| s|smicln|  "/>
  <p:tag name="RESPONSESGATHERED" val="False"/>
  <p:tag name="ANONYMOUSTEMP" val="False"/>
  <p:tag name="VALUES" val="No Value|smicln|No Value|smicln|No Value"/>
  <p:tag name="TYPE" val="MultiChoiceSlide"/>
  <p:tag name="TPQUESTIONXML" val="﻿&lt;?xml version=&quot;1.0&quot; encoding=&quot;utf-8&quot;?&gt;&#10;&lt;questionlist&gt;&#10;    &lt;properties&gt;&#10;        &lt;guid&gt;B5ACE920279445F3B57D313A165AD4F9&lt;/guid&gt;&#10;        &lt;description /&gt;&#10;        &lt;date&gt;8/1/2017 8:57:51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D9654286EA3045AEA29BA5B3CB57590C&lt;/guid&gt;&#10;            &lt;repollguid&gt;9387CDB25F614118B480747BF1FD8A64&lt;/repollguid&gt;&#10;            &lt;sourceid&gt;9019A222D2B54C82BE5C9EA24AC211FB&lt;/sourceid&gt;&#10;            &lt;questiontext&gt;The standard deviation of the population is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0&lt;/bulletstyle&gt;&#10;            &lt;answers&gt;&#10;                &lt;answer&gt;&#10;                    &lt;guid&gt;6E5791FDA3764133A34E18B091A4B536&lt;/guid&gt;&#10;                    &lt;answertext&gt;  &lt;/answertext&gt;&#10;                    &lt;valuetype&gt;0&lt;/valuetype&gt;&#10;                &lt;/answer&gt;&#10;                &lt;answer&gt;&#10;                    &lt;guid&gt;4F126CB5DDB148D6922FD641D1D7FCAD&lt;/guid&gt;&#10;                    &lt;answertext&gt; s &lt;/answertext&gt;&#10;                    &lt;valuetype&gt;0&lt;/valuetype&gt;&#10;                &lt;/answer&gt;&#10;                &lt;answer&gt;&#10;                    &lt;guid&gt;139FEA5C93C746D4978E1FCD39015ABF&lt;/guid&gt;&#10;                    &lt;answertext&gt;  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3"/>
  <p:tag name="OLDNUMANSWERS" val="3"/>
  <p:tag name="TEXTLENGTH" val="8"/>
  <p:tag name="FONTSIZE" val="32"/>
  <p:tag name="BULLETTYPE" val="ppBulletArabicPeriod"/>
  <p:tag name="ANSWERTEXT" val=" &#10; s&#10;  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  <p:tag name="SLIDEGUID" val="F93DAC1DE583412799AEAEAC4427F76D"/>
  <p:tag name="SLIDEID" val="F93DAC1DE583412799AEAEAC4427F76D"/>
  <p:tag name="SLIDEORDER" val="1"/>
  <p:tag name="SLIDETYPE" val="Q"/>
  <p:tag name="DEMOGRAPHIC" val="False"/>
  <p:tag name="SPEEDSCORING" val="False"/>
  <p:tag name="CORRECTPOINTVALUE" val="100"/>
  <p:tag name="INCORRECTPOINTVALUE" val="0"/>
  <p:tag name="ZEROBASED" val="False"/>
  <p:tag name="QUESTIONALIAS" val="The standard deviation of the sample is"/>
  <p:tag name="VALUEFORMAT" val="0%"/>
  <p:tag name="ANSWERSALIAS" val="|smicln| s|smicln| "/>
  <p:tag name="RESPONSESGATHERED" val="False"/>
  <p:tag name="ANONYMOUSTEMP" val="False"/>
  <p:tag name="VALUES" val="No Value|smicln|No Value|smicln|No Value"/>
  <p:tag name="TYPE" val="MultiChoiceSlide"/>
  <p:tag name="TPQUESTIONXML" val="﻿&lt;?xml version=&quot;1.0&quot; encoding=&quot;utf-8&quot;?&gt;&#10;&lt;questionlist&gt;&#10;    &lt;properties&gt;&#10;        &lt;guid&gt;17701CB65FF5403B902E3B7067596404&lt;/guid&gt;&#10;        &lt;description /&gt;&#10;        &lt;date&gt;8/1/2017 8:57:51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174B3A2A624B4EE2945CF36E97763444&lt;/guid&gt;&#10;            &lt;repollguid&gt;1EB04F8B6F364ACBAC4CE49F2E024D24&lt;/repollguid&gt;&#10;            &lt;sourceid&gt;BE2E7FA7C7D042CDAABF8BAEB951092D&lt;/sourceid&gt;&#10;            &lt;questiontext&gt;The standard deviation of the sample is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0&lt;/bulletstyle&gt;&#10;            &lt;answers&gt;&#10;                &lt;answer&gt;&#10;                    &lt;guid&gt;59259154B3C94DB89797E3132346CE2A&lt;/guid&gt;&#10;                    &lt;answertext&gt; &lt;/answertext&gt;&#10;                    &lt;valuetype&gt;0&lt;/valuetype&gt;&#10;                &lt;/answer&gt;&#10;                &lt;answer&gt;&#10;                    &lt;guid&gt;097300B532754F4DB03ED3086E3DC4B7&lt;/guid&gt;&#10;                    &lt;answertext&gt; s &lt;/answertext&gt;&#10;                    &lt;valuetype&gt;0&lt;/valuetype&gt;&#10;                &lt;/answer&gt;&#10;                &lt;answer&gt;&#10;                    &lt;guid&gt;DB142EDE8BAE491E921597C8F4CA54D9&lt;/guid&gt;&#10;                    &lt;answertext&gt; 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3"/>
  <p:tag name="OLDNUMANSWERS" val="3"/>
  <p:tag name="TEXTLENGTH" val="6"/>
  <p:tag name="FONTSIZE" val="32"/>
  <p:tag name="BULLETTYPE" val="ppBulletArabicPeriod"/>
  <p:tag name="ANSWERTEXT" val="&#10; s&#10; 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  <p:tag name="SLIDEGUID" val="D0E8500126E0494DBCA52BD9E6CAB502"/>
  <p:tag name="SLIDEID" val="D0E8500126E0494DBCA52BD9E6CAB502"/>
  <p:tag name="SLIDEORDER" val="1"/>
  <p:tag name="SLIDETYPE" val="Q"/>
  <p:tag name="DEMOGRAPHIC" val="False"/>
  <p:tag name="SPEEDSCORING" val="False"/>
  <p:tag name="CORRECTPOINTVALUE" val="100"/>
  <p:tag name="INCORRECTPOINTVALUE" val="0"/>
  <p:tag name="ZEROBASED" val="False"/>
  <p:tag name="VALUEFORMAT" val="0%"/>
  <p:tag name="QUESTIONALIAS" val="The standard deviation of the  sample mean is"/>
  <p:tag name="ANSWERSALIAS" val=" |smicln| s|smicln| "/>
  <p:tag name="RESPONSESGATHERED" val="False"/>
  <p:tag name="ANONYMOUSTEMP" val="False"/>
  <p:tag name="VALUES" val="No Value|smicln|No Value|smicln|No Value"/>
  <p:tag name="TYPE" val="MultiChoiceSlide"/>
  <p:tag name="TPQUESTIONXML" val="﻿&lt;?xml version=&quot;1.0&quot; encoding=&quot;utf-8&quot;?&gt;&#10;&lt;questionlist&gt;&#10;    &lt;properties&gt;&#10;        &lt;guid&gt;92AFCF9F339344ABAE48870712D420BC&lt;/guid&gt;&#10;        &lt;description /&gt;&#10;        &lt;date&gt;8/1/2017 8:57:51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39E1D464892149D3BCA02798F47E6DBD&lt;/guid&gt;&#10;            &lt;repollguid&gt;4892F37451A54AF5BEA07E3328BC36A1&lt;/repollguid&gt;&#10;            &lt;sourceid&gt;EA8EFC3893BB4D309196C8F744308021&lt;/sourceid&gt;&#10;            &lt;questiontext&gt;The standard deviation of the sample mean is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0&lt;/bulletstyle&gt;&#10;            &lt;answers&gt;&#10;                &lt;answer&gt;&#10;                    &lt;guid&gt;38E5A77771DD4A02B1EED8BCC5B32BE1&lt;/guid&gt;&#10;                    &lt;answertext&gt;  &lt;/answertext&gt;&#10;                    &lt;valuetype&gt;0&lt;/valuetype&gt;&#10;                &lt;/answer&gt;&#10;                &lt;answer&gt;&#10;                    &lt;guid&gt;D7C4B4EEED774F0CABB64E2DCED0D0E8&lt;/guid&gt;&#10;                    &lt;answertext&gt; s &lt;/answertext&gt;&#10;                    &lt;valuetype&gt;0&lt;/valuetype&gt;&#10;                &lt;/answer&gt;&#10;                &lt;answer&gt;&#10;                    &lt;guid&gt;E3F5701741DA4CBCBE139A26680F22AD&lt;/guid&gt;&#10;                    &lt;answertext&gt; 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3"/>
  <p:tag name="OLDNUMANSWERS" val="3"/>
  <p:tag name="TEXTLENGTH" val="7"/>
  <p:tag name="FONTSIZE" val="32"/>
  <p:tag name="BULLETTYPE" val="ppBulletArabicPeriod"/>
  <p:tag name="ANSWERTEXT" val=" &#10; s&#10; 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DFA10280F39B43C1B9469DF5AA8C5A0D&lt;/guid&gt;&#10;        &lt;description /&gt;&#10;        &lt;date&gt;8/1/2017 9:43:11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A8B8DFBB3B0E4B24898D41832EDA77D5&lt;/guid&gt;&#10;            &lt;repollguid&gt;4FD3249B275144DC8CE7BB5B6F534988&lt;/repollguid&gt;&#10;            &lt;sourceid&gt;94D46CF862D744ADBB36F92F346B2E29&lt;/sourceid&gt;&#10;            &lt;questiontext&gt;A sample of 50 gribbles finds an average length of 3.1 mm with a standard deviation of 0.72 mm.  For  a 90% confidence interval for the average length of gribbles, what is t*?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CABDBF8F1A0F40EC8FAC2BD435478033&lt;/guid&gt;&#10;                    &lt;answertext&gt;1.645&lt;/answertext&gt;&#10;                    &lt;valuetype&gt;0&lt;/valuetype&gt;&#10;                &lt;/answer&gt;&#10;                &lt;answer&gt;&#10;                    &lt;guid&gt;7D1B51F95EE24FC49026ED48A14E9BA6&lt;/guid&gt;&#10;                    &lt;answertext&gt;1.677&lt;/answertext&gt;&#10;                    &lt;valuetype&gt;0&lt;/valuetype&gt;&#10;                &lt;/answer&gt;&#10;                &lt;answer&gt;&#10;                    &lt;guid&gt;BD4F4F3825E844D2AFB5E32AB5963CCE&lt;/guid&gt;&#10;                    &lt;answertext&gt;1.960&lt;/answertext&gt;&#10;                    &lt;valuetype&gt;0&lt;/valuetype&gt;&#10;                &lt;/answer&gt;&#10;                &lt;answer&gt;&#10;                    &lt;guid&gt;66B5781478764BBAB77DAA0D97DEAE5D&lt;/guid&gt;&#10;                    &lt;answertext&gt;1.690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DFA10280F39B43C1B9469DF5AA8C5A0D&lt;/guid&gt;&#10;        &lt;description /&gt;&#10;        &lt;date&gt;8/1/2017 9:43:11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0CCF2EEE819B4F83B1341BD794B5065F&lt;/guid&gt;&#10;            &lt;repollguid&gt;4FD3249B275144DC8CE7BB5B6F534988&lt;/repollguid&gt;&#10;            &lt;sourceid&gt;94D46CF862D744ADBB36F92F346B2E29&lt;/sourceid&gt;&#10;            &lt;questiontext&gt;A sample of 50 gribbles finds an average length of 3.1 mm with a standard deviation of 0.72 mm. For  a 90% confidence interval for the average length of gribbles, what is the standard error.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CABDBF8F1A0F40EC8FAC2BD435478033&lt;/guid&gt;&#10;                    &lt;answertext&gt;0.171&lt;/answertext&gt;&#10;                    &lt;valuetype&gt;0&lt;/valuetype&gt;&#10;                &lt;/answer&gt;&#10;                &lt;answer&gt;&#10;                    &lt;guid&gt;7D1B51F95EE24FC49026ED48A14E9BA6&lt;/guid&gt;&#10;                    &lt;answertext&gt;0.720&lt;/answertext&gt;&#10;                    &lt;valuetype&gt;0&lt;/valuetype&gt;&#10;                &lt;/answer&gt;&#10;                &lt;answer&gt;&#10;                    &lt;guid&gt;BD4F4F3825E844D2AFB5E32AB5963CCE&lt;/guid&gt;&#10;                    &lt;answertext&gt;1.960&lt;/answertext&gt;&#10;                    &lt;valuetype&gt;0&lt;/valuetype&gt;&#10;                &lt;/answer&gt;&#10;                &lt;answer&gt;&#10;                    &lt;guid&gt;66B5781478764BBAB77DAA0D97DEAE5D&lt;/guid&gt;&#10;                    &lt;answertext&gt;0.102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DFA10280F39B43C1B9469DF5AA8C5A0D&lt;/guid&gt;&#10;        &lt;description /&gt;&#10;        &lt;date&gt;8/1/2017 9:43:11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51D8175E9E4345FFA7063721F5A10C4E&lt;/guid&gt;&#10;            &lt;repollguid&gt;4FD3249B275144DC8CE7BB5B6F534988&lt;/repollguid&gt;&#10;            &lt;sourceid&gt;94D46CF862D744ADBB36F92F346B2E29&lt;/sourceid&gt;&#10;            &lt;questiontext&gt;A sample of 50 gribbles finds an average length of 3.1 mm with a standard deviation of 0.72 mm. For  a 90% confidence interval for the average length of gribbles, what is the margin of  error?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CABDBF8F1A0F40EC8FAC2BD435478033&lt;/guid&gt;&#10;                    &lt;answertext&gt;0.171&lt;/answertext&gt;&#10;                    &lt;valuetype&gt;0&lt;/valuetype&gt;&#10;                &lt;/answer&gt;&#10;                &lt;answer&gt;&#10;                    &lt;guid&gt;7D1B51F95EE24FC49026ED48A14E9BA6&lt;/guid&gt;&#10;                    &lt;answertext&gt;0.720&lt;/answertext&gt;&#10;                    &lt;valuetype&gt;0&lt;/valuetype&gt;&#10;                &lt;/answer&gt;&#10;                &lt;answer&gt;&#10;                    &lt;guid&gt;BD4F4F3825E844D2AFB5E32AB5963CCE&lt;/guid&gt;&#10;                    &lt;answertext&gt;1.960&lt;/answertext&gt;&#10;                    &lt;valuetype&gt;0&lt;/valuetype&gt;&#10;                &lt;/answer&gt;&#10;                &lt;answer&gt;&#10;                    &lt;guid&gt;66B5781478764BBAB77DAA0D97DEAE5D&lt;/guid&gt;&#10;                    &lt;answertext&gt;0.102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  <p:tag name="TYPE" val="MultiChoiceSlide"/>
  <p:tag name="TPQUESTIONXML" val="﻿&lt;?xml version=&quot;1.0&quot; encoding=&quot;utf-8&quot;?&gt;&#10;&lt;questionlist&gt;&#10;    &lt;properties&gt;&#10;        &lt;guid&gt;2E688ADB46B84134B4917580CDE1B0D0&lt;/guid&gt;&#10;        &lt;description /&gt;&#10;        &lt;date&gt;8/1/2017 10:25:44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1BAC11F493B64FF994A79BB656C63F48&lt;/guid&gt;&#10;            &lt;repollguid&gt;FA2AA41DB1CA441186E093EADA3ECF4C&lt;/repollguid&gt;&#10;            &lt;sourceid&gt;7C3FC2D9E16C4985B4137FF82BA9F39E&lt;/sourceid&gt;&#10;            &lt;questiontext&gt;Suppose we want to estimate average GPA at a college (where GPA’s go from 0 to 4.0), with a margin of error of 0.1 with 95% confidence. How large a sample size do we need?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80E66F914B5845DA96D33E0A580EFC3C&lt;/guid&gt;&#10;                    &lt;answertext&gt;About 100 &lt;/answertext&gt;&#10;                    &lt;valuetype&gt;0&lt;/valuetype&gt;&#10;                &lt;/answer&gt;&#10;                &lt;answer&gt;&#10;                    &lt;guid&gt;E295F958CC5D4D3182764A42462E5A53&lt;/guid&gt;&#10;                    &lt;answertext&gt;About  400 &lt;/answertext&gt;&#10;                    &lt;valuetype&gt;0&lt;/valuetype&gt;&#10;                &lt;/answer&gt;&#10;                &lt;answer&gt;&#10;                    &lt;guid&gt;52F9FFC147694A7EB0CB9756A9EE6756&lt;/guid&gt;&#10;                    &lt;answertext&gt;About 800 &lt;/answertext&gt;&#10;                    &lt;valuetype&gt;0&lt;/valuetype&gt;&#10;                &lt;/answer&gt;&#10;                &lt;answer&gt;&#10;                    &lt;guid&gt;82C43878A97047EEA88F6562EE86346E&lt;/guid&gt;&#10;                    &lt;answertext&gt;About 1000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  <p:tag name="SLIDEGUID" val="85170CB2B048418B9639A27D53DD6650"/>
  <p:tag name="SLIDEID" val="85170CB2B048418B9639A27D53DD6650"/>
  <p:tag name="SLIDEORDER" val="1"/>
  <p:tag name="SLIDETYPE" val="Q"/>
  <p:tag name="DEMOGRAPHIC" val="False"/>
  <p:tag name="SPEEDSCORING" val="False"/>
  <p:tag name="CORRECTPOINTVALUE" val="100"/>
  <p:tag name="INCORRECTPOINTVALUE" val="0"/>
  <p:tag name="ZEROBASED" val="False"/>
  <p:tag name="VALUEFORMAT" val="0%"/>
  <p:tag name="ANSWERSALIAS" val="the data is normal|smicln|the sample size is large|smicln|the null hypothesis is true|smicln|a or b|smicln|d and c"/>
  <p:tag name="QUESTIONALIAS" val="Which of the following properties is/are necessary for                 to have a t-distribution?"/>
  <p:tag name="RESPONSESGATHERED" val="False"/>
  <p:tag name="ANONYMOUSTEMP" val="False"/>
  <p:tag name="VALUES" val="No Value|smicln|No Value|smicln|No Value|smicln|No Value|smicln|No Value"/>
  <p:tag name="TYPE" val="MultiChoiceSlide"/>
  <p:tag name="TPQUESTIONXML" val="﻿&lt;?xml version=&quot;1.0&quot; encoding=&quot;utf-8&quot;?&gt;&#10;&lt;questionlist&gt;&#10;    &lt;properties&gt;&#10;        &lt;guid&gt;18323FD0900C486C969F1BB33CF61BF0&lt;/guid&gt;&#10;        &lt;description /&gt;&#10;        &lt;date&gt;8/1/2017 8:57:51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C44E8F4E215F451AABB846DF23DAC72C&lt;/guid&gt;&#10;            &lt;repollguid&gt;377EA6739F52427194596159B0191FFF&lt;/repollguid&gt;&#10;            &lt;sourceid&gt;6808ED2CE5C74031B357E5085FC194B5&lt;/sourceid&gt;&#10;            &lt;questiontext&gt;Which of the following properties is/are necessary for                                 to have a t-distribution?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0&lt;/bulletstyle&gt;&#10;            &lt;answers&gt;&#10;                &lt;answer&gt;&#10;                    &lt;guid&gt;092C54298984452DA54E2ADA54506D46&lt;/guid&gt;&#10;                    &lt;answertext&gt;the data is normal &lt;/answertext&gt;&#10;                    &lt;valuetype&gt;0&lt;/valuetype&gt;&#10;                &lt;/answer&gt;&#10;                &lt;answer&gt;&#10;                    &lt;guid&gt;6DD3C72A177D47FEB5BCC75E678AC20F&lt;/guid&gt;&#10;                    &lt;answertext&gt;the sample size is large &lt;/answertext&gt;&#10;                    &lt;valuetype&gt;0&lt;/valuetype&gt;&#10;                &lt;/answer&gt;&#10;                &lt;answer&gt;&#10;                    &lt;guid&gt;FC8C26396FF74032A06E36AABC983A4E&lt;/guid&gt;&#10;                    &lt;answertext&gt;the null hypothesis is true &lt;/answertext&gt;&#10;                    &lt;valuetype&gt;0&lt;/valuetype&gt;&#10;                &lt;/answer&gt;&#10;                &lt;answer&gt;&#10;                    &lt;guid&gt;31E83736927348EDAD24A6C6414D8468&lt;/guid&gt;&#10;                    &lt;answertext&gt;a or b &lt;/answertext&gt;&#10;                    &lt;valuetype&gt;0&lt;/valuetype&gt;&#10;                &lt;/answer&gt;&#10;                &lt;answer&gt;&#10;                    &lt;guid&gt;1CDD6657AA0741F089CCF092EDD98962&lt;/guid&gt;&#10;                    &lt;answertext&gt;d and c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3"/>
  <p:tag name="OLDNUMANSWERS" val="5"/>
  <p:tag name="TEXTLENGTH" val="86"/>
  <p:tag name="FONTSIZE" val="28"/>
  <p:tag name="BULLETTYPE" val="ppBulletArabicPeriod"/>
  <p:tag name="ANSWERTEXT" val="the data is normal&#10;the sample size is large&#10;the null hypothesis is true&#10;a or b&#10;d and c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474</TotalTime>
  <Words>1354</Words>
  <Application>Microsoft Office PowerPoint</Application>
  <PresentationFormat>On-screen Show (4:3)</PresentationFormat>
  <Paragraphs>165</Paragraphs>
  <Slides>32</Slides>
  <Notes>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Median</vt:lpstr>
      <vt:lpstr>Equation</vt:lpstr>
      <vt:lpstr>MathType 6.0 Equation</vt:lpstr>
      <vt:lpstr>PowerPoint Presentation</vt:lpstr>
      <vt:lpstr>PowerPoint Presentation</vt:lpstr>
      <vt:lpstr>PowerPoint Presentation</vt:lpstr>
      <vt:lpstr>PowerPoint Presentation</vt:lpstr>
      <vt:lpstr>The standard deviation of the population is</vt:lpstr>
      <vt:lpstr>The standard deviation of the sample is</vt:lpstr>
      <vt:lpstr>The standard deviation of the  sample mean 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…But What Are Degrees of Freedom?</vt:lpstr>
      <vt:lpstr>PowerPoint Presentation</vt:lpstr>
      <vt:lpstr>PowerPoint Presentation</vt:lpstr>
      <vt:lpstr>PowerPoint Presentation</vt:lpstr>
      <vt:lpstr>PowerPoint Presentation</vt:lpstr>
      <vt:lpstr>How to Obtain t*</vt:lpstr>
      <vt:lpstr>Gribbles</vt:lpstr>
      <vt:lpstr>A sample of 50 gribbles finds an average length of 3.1 mm with a standard deviation of 0.72 mm.  For  a 90% confidence interval for the average length of gribbles, what is t*?</vt:lpstr>
      <vt:lpstr>A sample of 50 gribbles finds an average length of 3.1 mm with a standard deviation of 0.72 mm. For  a 90% confidence interval for the average length of gribbles, what is the standard error.</vt:lpstr>
      <vt:lpstr>A sample of 50 gribbles finds an average length of 3.1 mm with a standard deviation of 0.72 mm. For  a 90% confidence interval for the average length of gribbles, what is the margin of  error?</vt:lpstr>
      <vt:lpstr>Gribbles</vt:lpstr>
      <vt:lpstr>PowerPoint Presentation</vt:lpstr>
      <vt:lpstr>Margin of Error</vt:lpstr>
      <vt:lpstr>Suppose we want to estimate average GPA at a college (where GPA’s go from 0 to 4.0), with a margin of error of 0.1 with 95% confidence. How large a sample size do we need?</vt:lpstr>
      <vt:lpstr>PowerPoint Presentation</vt:lpstr>
      <vt:lpstr>PowerPoint Presentation</vt:lpstr>
      <vt:lpstr>PowerPoint Presentation</vt:lpstr>
      <vt:lpstr>PowerPoint Presentation</vt:lpstr>
      <vt:lpstr>Which of the following properties is/are necessary for                                  to have a t-distribution?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Kathryn Dobeck</dc:creator>
  <cp:lastModifiedBy>Kathryn Dobeck</cp:lastModifiedBy>
  <cp:revision>43</cp:revision>
  <dcterms:created xsi:type="dcterms:W3CDTF">2013-04-21T13:26:14Z</dcterms:created>
  <dcterms:modified xsi:type="dcterms:W3CDTF">2017-08-02T04:57:49Z</dcterms:modified>
</cp:coreProperties>
</file>